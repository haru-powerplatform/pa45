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9" r:id="rId2"/>
    <p:sldId id="285" r:id="rId3"/>
    <p:sldId id="259" r:id="rId4"/>
    <p:sldId id="257" r:id="rId5"/>
    <p:sldId id="256" r:id="rId6"/>
    <p:sldId id="271" r:id="rId7"/>
    <p:sldId id="261" r:id="rId8"/>
    <p:sldId id="280" r:id="rId9"/>
    <p:sldId id="291" r:id="rId10"/>
    <p:sldId id="289" r:id="rId11"/>
    <p:sldId id="290" r:id="rId12"/>
    <p:sldId id="286" r:id="rId13"/>
    <p:sldId id="287" r:id="rId14"/>
    <p:sldId id="288" r:id="rId15"/>
    <p:sldId id="284" r:id="rId16"/>
    <p:sldId id="272" r:id="rId17"/>
    <p:sldId id="268" r:id="rId18"/>
    <p:sldId id="269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F58AFA-D1AA-4A9A-9800-8FBA641FEB0E}" v="1" dt="2026-04-28T05:42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28T05:44:53.299" v="713" actId="14100"/>
      <pc:docMkLst>
        <pc:docMk/>
      </pc:docMkLst>
      <pc:sldChg chg="modSp mod">
        <pc:chgData name="Ueda Isamu" userId="35289799e0376f2e" providerId="LiveId" clId="{DD31E282-B62B-4911-91B6-43B1B98908F9}" dt="2026-04-28T05:44:19.288" v="709" actId="1076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28T05:43:48.753" v="697" actId="14100"/>
          <ac:spMkLst>
            <pc:docMk/>
            <pc:sldMk cId="0" sldId="268"/>
            <ac:spMk id="8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23.458" v="686" actId="14100"/>
          <ac:spMkLst>
            <pc:docMk/>
            <pc:sldMk cId="0" sldId="268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0.382" v="705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41.371" v="694" actId="1076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7.038" v="708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9.288" v="709" actId="1076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3.850" v="707" actId="1076"/>
          <ac:spMkLst>
            <pc:docMk/>
            <pc:sldMk cId="0" sldId="268"/>
            <ac:spMk id="27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7.940" v="702" actId="14100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3:51.722" v="698" actId="1076"/>
          <ac:spMkLst>
            <pc:docMk/>
            <pc:sldMk cId="0" sldId="268"/>
            <ac:spMk id="31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06.656" v="704" actId="404"/>
          <ac:spMkLst>
            <pc:docMk/>
            <pc:sldMk cId="0" sldId="268"/>
            <ac:spMk id="32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12.771" v="706" actId="1076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3:41.371" v="694" actId="1076"/>
          <ac:picMkLst>
            <pc:docMk/>
            <pc:sldMk cId="0" sldId="268"/>
            <ac:picMk id="18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29.094" v="711" actId="1076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28T05:44:29.094" v="711" actId="1076"/>
          <ac:spMkLst>
            <pc:docMk/>
            <pc:sldMk cId="0" sldId="269"/>
            <ac:spMk id="15" creationId="{59D5E270-E6AD-E457-0DD1-D6D69BCDC2F3}"/>
          </ac:spMkLst>
        </pc:spChg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  <pc:picChg chg="mod">
          <ac:chgData name="Ueda Isamu" userId="35289799e0376f2e" providerId="LiveId" clId="{DD31E282-B62B-4911-91B6-43B1B98908F9}" dt="2026-04-28T05:44:26.522" v="710" actId="14100"/>
          <ac:picMkLst>
            <pc:docMk/>
            <pc:sldMk cId="0" sldId="269"/>
            <ac:picMk id="11" creationId="{00000000-0000-0000-0000-000000000000}"/>
          </ac:picMkLst>
        </pc:picChg>
      </pc:sldChg>
      <pc:sldChg chg="modSp mod">
        <pc:chgData name="Ueda Isamu" userId="35289799e0376f2e" providerId="LiveId" clId="{DD31E282-B62B-4911-91B6-43B1B98908F9}" dt="2026-04-28T05:44:40.569" v="712" actId="2057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28T05:44:40.569" v="712" actId="2057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mod">
        <pc:chgData name="Ueda Isamu" userId="35289799e0376f2e" providerId="LiveId" clId="{DD31E282-B62B-4911-91B6-43B1B98908F9}" dt="2026-04-28T05:44:53.299" v="713" actId="14100"/>
        <pc:sldMkLst>
          <pc:docMk/>
          <pc:sldMk cId="0" sldId="280"/>
        </pc:sldMkLst>
        <pc:spChg chg="mod">
          <ac:chgData name="Ueda Isamu" userId="35289799e0376f2e" providerId="LiveId" clId="{DD31E282-B62B-4911-91B6-43B1B98908F9}" dt="2026-04-28T05:41:40.549" v="656" actId="962"/>
          <ac:spMkLst>
            <pc:docMk/>
            <pc:sldMk cId="0" sldId="280"/>
            <ac:spMk id="13" creationId="{00000000-0000-0000-0000-000000000000}"/>
          </ac:spMkLst>
        </pc:spChg>
        <pc:spChg chg="mod">
          <ac:chgData name="Ueda Isamu" userId="35289799e0376f2e" providerId="LiveId" clId="{DD31E282-B62B-4911-91B6-43B1B98908F9}" dt="2026-04-28T05:44:53.299" v="713" actId="14100"/>
          <ac:spMkLst>
            <pc:docMk/>
            <pc:sldMk cId="0" sldId="280"/>
            <ac:spMk id="44" creationId="{F9B91B76-7920-EE96-CB51-D8B32827C982}"/>
          </ac:spMkLst>
        </pc:spChg>
        <pc:spChg chg="mod">
          <ac:chgData name="Ueda Isamu" userId="35289799e0376f2e" providerId="LiveId" clId="{DD31E282-B62B-4911-91B6-43B1B98908F9}" dt="2026-04-28T05:40:39.439" v="649" actId="20577"/>
          <ac:spMkLst>
            <pc:docMk/>
            <pc:sldMk cId="0" sldId="280"/>
            <ac:spMk id="51" creationId="{F34FF253-528E-97DF-BF89-4A55B2E7EBC4}"/>
          </ac:spMkLst>
        </pc:spChg>
        <pc:picChg chg="del">
          <ac:chgData name="Ueda Isamu" userId="35289799e0376f2e" providerId="LiveId" clId="{DD31E282-B62B-4911-91B6-43B1B98908F9}" dt="2026-04-28T05:40:34.040" v="647" actId="478"/>
          <ac:picMkLst>
            <pc:docMk/>
            <pc:sldMk cId="0" sldId="280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28T05:41:40.549" v="655" actId="27614"/>
          <ac:picMkLst>
            <pc:docMk/>
            <pc:sldMk cId="0" sldId="280"/>
            <ac:picMk id="12" creationId="{3E6630DE-036E-A137-BB8D-3B6889FA8E99}"/>
          </ac:picMkLst>
        </pc:picChg>
        <pc:picChg chg="add mod">
          <ac:chgData name="Ueda Isamu" userId="35289799e0376f2e" providerId="LiveId" clId="{DD31E282-B62B-4911-91B6-43B1B98908F9}" dt="2026-04-28T05:42:04.299" v="664" actId="14100"/>
          <ac:picMkLst>
            <pc:docMk/>
            <pc:sldMk cId="0" sldId="280"/>
            <ac:picMk id="15" creationId="{0A496CAA-10CA-2625-8307-AD86EA5E849F}"/>
          </ac:picMkLst>
        </pc:picChg>
        <pc:picChg chg="del">
          <ac:chgData name="Ueda Isamu" userId="35289799e0376f2e" providerId="LiveId" clId="{DD31E282-B62B-4911-91B6-43B1B98908F9}" dt="2026-04-28T05:40:34.591" v="648" actId="478"/>
          <ac:picMkLst>
            <pc:docMk/>
            <pc:sldMk cId="0" sldId="280"/>
            <ac:picMk id="43" creationId="{C2A29B6F-3C93-A1C3-76A2-A2F9DE2BAF70}"/>
          </ac:picMkLst>
        </pc:picChg>
      </pc:sldChg>
      <pc:sldChg chg="addSp delSp modSp add del mod">
        <pc:chgData name="Ueda Isamu" userId="35289799e0376f2e" providerId="LiveId" clId="{DD31E282-B62B-4911-91B6-43B1B98908F9}" dt="2026-04-28T05:43:04.861" v="683" actId="47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</pc:sldChg>
      <pc:sldChg chg="addSp delSp modSp add mod ord">
        <pc:chgData name="Ueda Isamu" userId="35289799e0376f2e" providerId="LiveId" clId="{DD31E282-B62B-4911-91B6-43B1B98908F9}" dt="2026-04-28T05:43:02.947" v="682" actId="27614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 ord">
          <ac:chgData name="Ueda Isamu" userId="35289799e0376f2e" providerId="LiveId" clId="{DD31E282-B62B-4911-91B6-43B1B98908F9}" dt="2026-04-28T05:42:28.090" v="672" actId="14100"/>
          <ac:spMkLst>
            <pc:docMk/>
            <pc:sldMk cId="3861659691" sldId="282"/>
            <ac:spMk id="10" creationId="{5E06D86B-F8D9-20E7-3D67-0EF3882034F2}"/>
          </ac:spMkLst>
        </pc:spChg>
        <pc:spChg chg="add del mod">
          <ac:chgData name="Ueda Isamu" userId="35289799e0376f2e" providerId="LiveId" clId="{DD31E282-B62B-4911-91B6-43B1B98908F9}" dt="2026-04-28T05:42:30.118" v="675" actId="478"/>
          <ac:spMkLst>
            <pc:docMk/>
            <pc:sldMk cId="3861659691" sldId="282"/>
            <ac:spMk id="12" creationId="{B61745D9-8D46-A514-CF17-682EE8BDCFC1}"/>
          </ac:spMkLst>
        </pc:spChg>
        <pc:picChg chg="del">
          <ac:chgData name="Ueda Isamu" userId="35289799e0376f2e" providerId="LiveId" clId="{DD31E282-B62B-4911-91B6-43B1B98908F9}" dt="2026-04-28T05:40:48.240" v="650" actId="478"/>
          <ac:picMkLst>
            <pc:docMk/>
            <pc:sldMk cId="3861659691" sldId="282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28T05:40:48.724" v="651" actId="478"/>
          <ac:picMkLst>
            <pc:docMk/>
            <pc:sldMk cId="3861659691" sldId="282"/>
            <ac:picMk id="14" creationId="{A872EEC3-0079-B857-A352-13B0525469F2}"/>
          </ac:picMkLst>
        </pc:picChg>
        <pc:picChg chg="add mod">
          <ac:chgData name="Ueda Isamu" userId="35289799e0376f2e" providerId="LiveId" clId="{DD31E282-B62B-4911-91B6-43B1B98908F9}" dt="2026-04-28T05:42:18.290" v="668" actId="1076"/>
          <ac:picMkLst>
            <pc:docMk/>
            <pc:sldMk cId="3861659691" sldId="282"/>
            <ac:picMk id="15" creationId="{35AE861C-8197-5C83-2921-F09023E68B00}"/>
          </ac:picMkLst>
        </pc:picChg>
        <pc:picChg chg="del mod">
          <ac:chgData name="Ueda Isamu" userId="35289799e0376f2e" providerId="LiveId" clId="{DD31E282-B62B-4911-91B6-43B1B98908F9}" dt="2026-04-28T05:42:29.623" v="673" actId="478"/>
          <ac:picMkLst>
            <pc:docMk/>
            <pc:sldMk cId="3861659691" sldId="282"/>
            <ac:picMk id="16" creationId="{7B3B07E8-D558-44C5-F536-149592DC9066}"/>
          </ac:picMkLst>
        </pc:picChg>
        <pc:picChg chg="del mod">
          <ac:chgData name="Ueda Isamu" userId="35289799e0376f2e" providerId="LiveId" clId="{DD31E282-B62B-4911-91B6-43B1B98908F9}" dt="2026-04-28T05:42:30.626" v="676" actId="478"/>
          <ac:picMkLst>
            <pc:docMk/>
            <pc:sldMk cId="3861659691" sldId="282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28T05:43:02.947" v="682" actId="27614"/>
          <ac:picMkLst>
            <pc:docMk/>
            <pc:sldMk cId="3861659691" sldId="282"/>
            <ac:picMk id="19" creationId="{80851CBC-6CCA-A916-ED75-20FD89A52C05}"/>
          </ac:picMkLst>
        </pc:picChg>
      </pc:sldChg>
      <pc:sldChg chg="addSp delSp modSp add del mod">
        <pc:chgData name="Ueda Isamu" userId="35289799e0376f2e" providerId="LiveId" clId="{DD31E282-B62B-4911-91B6-43B1B98908F9}" dt="2026-04-28T05:43:06.594" v="684" actId="47"/>
        <pc:sldMkLst>
          <pc:docMk/>
          <pc:sldMk cId="2686875315" sldId="283"/>
        </pc:sldMkLst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</pc:sldChg>
      <pc:sldChg chg="addSp delSp modSp add mod">
        <pc:chgData name="Ueda Isamu" userId="35289799e0376f2e" providerId="LiveId" clId="{DD31E282-B62B-4911-91B6-43B1B98908F9}" dt="2026-04-28T05:43:12.100" v="685" actId="478"/>
        <pc:sldMkLst>
          <pc:docMk/>
          <pc:sldMk cId="1541831861" sldId="284"/>
        </pc:sldMkLst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picChg chg="del">
          <ac:chgData name="Ueda Isamu" userId="35289799e0376f2e" providerId="LiveId" clId="{DD31E282-B62B-4911-91B6-43B1B98908F9}" dt="2026-04-28T05:43:12.100" v="685" actId="478"/>
          <ac:picMkLst>
            <pc:docMk/>
            <pc:sldMk cId="1541831861" sldId="284"/>
            <ac:picMk id="50" creationId="{003A3C3D-15E3-1F1A-D918-AB2472E8059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>  Initialize variable・Set variable・Condition・Apply to each、</a:t>
            </a:r>
          </a:p>
          <a:p>
            <a:r>
              <a:rPr sz="1300"/>
              <a:t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>  変数・繰り返し・条件分岐、それぞれ単体でも使えますが、</a:t>
            </a:r>
          </a:p>
          <a:p>
            <a:r>
              <a:rPr sz="1300"/>
              <a:t>  組み合わさったとき、複雑な業務を1本のフローで自動化できます。</a:t>
            </a:r>
          </a:p>
          <a:p>
            <a:r>
              <a:rPr sz="1300"/>
              <a:t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>  Apply to eachのループの中でも外でも使えます。</a:t>
            </a:r>
          </a:p>
          <a:p>
            <a:r>
              <a:rPr sz="1300"/>
              <a:t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>  リストを1件ずつ見ながら、条件に合うものだけ処理する、</a:t>
            </a:r>
          </a:p>
          <a:p>
            <a:r>
              <a:rPr sz="1300"/>
              <a:t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>  出勤リストをループして、Conditionで出勤判定、Set variableでカウント。</a:t>
            </a:r>
          </a:p>
          <a:p>
            <a:r>
              <a:rPr sz="1300"/>
              <a:t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0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Relationship Id="rId21" Type="http://schemas.openxmlformats.org/officeDocument/2006/relationships/image" Target="../media/image34.png"/><Relationship Id="rId22" Type="http://schemas.openxmlformats.org/officeDocument/2006/relationships/image" Target="../media/image35.png"/><Relationship Id="rId23" Type="http://schemas.openxmlformats.org/officeDocument/2006/relationships/image" Target="../media/image36.png"/><Relationship Id="rId24" Type="http://schemas.openxmlformats.org/officeDocument/2006/relationships/image" Target="../media/image37.png"/><Relationship Id="rId25" Type="http://schemas.openxmlformats.org/officeDocument/2006/relationships/image" Target="../media/image38.png"/><Relationship Id="rId26" Type="http://schemas.openxmlformats.org/officeDocument/2006/relationships/image" Target="../media/image39.png"/><Relationship Id="rId27" Type="http://schemas.openxmlformats.org/officeDocument/2006/relationships/image" Target="../media/image40.png"/><Relationship Id="rId28" Type="http://schemas.openxmlformats.org/officeDocument/2006/relationships/image" Target="../media/image41.png"/><Relationship Id="rId29" Type="http://schemas.openxmlformats.org/officeDocument/2006/relationships/image" Target="../media/image42.png"/><Relationship Id="rId30" Type="http://schemas.openxmlformats.org/officeDocument/2006/relationships/image" Target="../media/image43.png"/><Relationship Id="rId31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image" Target="../media/image59.png"/><Relationship Id="rId19" Type="http://schemas.openxmlformats.org/officeDocument/2006/relationships/image" Target="../media/image60.png"/><Relationship Id="rId20" Type="http://schemas.microsoft.com/office/2007/relationships/hdphoto" Target="../media/hdphoto1.wdp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cloud.microsoft/r/RpevgiKG2v" TargetMode="External"/><Relationship Id="rId3" Type="http://schemas.openxmlformats.org/officeDocument/2006/relationships/image" Target="../media/image7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3.png"/><Relationship Id="rId7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 UI"/>
              </a:rPr>
              <a:t>PA45 — Power Automate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34800" y="0"/>
            <a:ext cx="3500000" cy="38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r"/>
            <a:r>
              <a:rPr sz="1400" b="0">
                <a:solidFill>
                  <a:srgbClr val="C7D8FF"/>
                </a:solidFill>
                <a:latin typeface="Yu Gothic UI"/>
              </a:rPr>
              <a:t>第11回 / Vol.11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100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475569"/>
                </a:solidFill>
                <a:latin typeface="Yu Gothic UI"/>
              </a:rPr>
              <a:t>まもなく開始します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00000"/>
            <a:ext cx="12192000" cy="17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9600" b="1">
                <a:solidFill>
                  <a:srgbClr val="1E3A8A"/>
                </a:solidFill>
                <a:latin typeface="Yu Gothic UI"/>
              </a:rPr>
              <a:t>20:15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700000"/>
            <a:ext cx="12192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Yu Gothic UI"/>
              </a:rPr>
              <a:t>第11回｜実行履歴を読めると自動化が楽しくなる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50000"/>
            <a:ext cx="12192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Yu Gothic UI"/>
              </a:rPr>
              <a:t>失敗しないフロー設計｜メールの重要度で振り分け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Power Automate と Outlook を</a:t>
            </a:r>
          </a:p>
          <a:p>
            <a:r>
              <a:rPr sz="1100" b="1">
                <a:solidFill>
                  <a:srgbClr val="0F172A"/>
                </a:solidFill>
                <a:latin typeface="Yu Gothic UI"/>
              </a:rPr>
              <a:t>事前に起動しておくとスムーズ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後日YouTubeで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Yu Gothic UI"/>
              </a:rPr>
              <a:t>アーカイブ動画を公開予定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6000" y="5300000"/>
            <a:ext cx="3400000" cy="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000" y="5300000"/>
            <a:ext cx="55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2200" b="0">
                <a:solidFill>
                  <a:srgbClr val="1E3A8A"/>
                </a:solidFill>
                <a:latin typeface="Yu Gothic UI"/>
              </a:rPr>
              <a:t>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5300000"/>
            <a:ext cx="2700000" cy="6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Yu Gothic UI"/>
              </a:rPr>
              <a:t>Teams表示名がNGの方は</a:t>
            </a:r>
          </a:p>
          <a:p>
            <a:pPr algn="l"/>
            <a:r>
              <a:rPr sz="1000" b="0">
                <a:solidFill>
                  <a:srgbClr val="475569"/>
                </a:solidFill>
                <a:latin typeface="Yu Gothic UI"/>
              </a:rPr>
              <a:t>匿名参加でOKです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478000"/>
            <a:ext cx="1219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20000" rIns="20000" tIns="0" bIns="0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Yu Gothic UI"/>
              </a:rPr>
              <a:t>Power Automate 45  |  Copyright © PA45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A7D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0" tIns="228600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事前準備（今回はほぼ不要です）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96600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+mj-ea"/>
                <a:ea typeface="+mj-ea"/>
              </a:rPr>
              <a:t>今回のハンズオンは特別な準備が要りません。下の2つだけ確認しておきましょう。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72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1   Power Automate にサインインできる</a:t>
            </a:r>
          </a:p>
          <a:p>
            <a:r>
              <a:rPr sz="2000" b="1">
                <a:solidFill>
                  <a:srgbClr val="2A7DD4"/>
                </a:solidFill>
                <a:latin typeface="+mj-ea"/>
              </a:rPr>
              <a:t>👉 make.powerautomate.com を開いて、サインインできる状態にしておきます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49039"/>
            <a:ext cx="1109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/>
            <a:r>
              <a:rPr sz="2000" b="1">
                <a:solidFill>
                  <a:srgbClr val="2A7DD4"/>
                </a:solidFill>
                <a:latin typeface="+mj-ea"/>
                <a:ea typeface="+mj-ea"/>
              </a:rPr>
              <a:t>STEP 2   自分のメール（Outlook）が使える</a:t>
            </a:r>
          </a:p>
          <a:p>
            <a:r>
              <a:rPr sz="2000" b="1">
                <a:solidFill>
                  <a:srgbClr val="2A7DD4"/>
                </a:solidFill>
                <a:latin typeface="+mj-ea"/>
              </a:rPr>
              <a:t>👉 ハンズオン中、自分から自分へ1通メールを送ってフローを動かします。それだけです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入門講座</a:t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269842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PA45【メール受信 × 条件分岐 × 実行履歴】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151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第11回： </a:t>
            </a:r>
          </a:p>
          <a:p>
            <a:r>
              <a:rPr sz="3200" b="1">
                <a:solidFill>
                  <a:srgbClr val="1F2937"/>
                </a:solidFill>
                <a:latin typeface="Noto Sans JP"/>
              </a:rPr>
              <a:t>失敗しないフロー設計</a:t>
            </a:r>
          </a:p>
          <a:p>
            <a:r>
              <a:rPr sz="3200" b="1">
                <a:solidFill>
                  <a:srgbClr val="1F2937"/>
                </a:solidFill>
                <a:latin typeface="Noto Sans JP"/>
              </a:rPr>
              <a:t>実行履歴を読めるようになろう</a:t>
            </a:r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メールの重要度で条件分岐｜実行履歴の出力を読む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2999" y="5273596"/>
            <a:ext cx="779502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条件分岐（Vol.3）を触った方／はじめての方も、見るだけでOK</a:t>
            </a:r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</a:t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約</a:t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10分ハンズオン </a:t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7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9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</a:t>
            </a:r>
            <a:r>
              <a:rPr lang="en-US" sz="1600" b="1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Automate 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メール受信でフローを作る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「新しいメールが届いたとき」をトリガーに、</a:t>
            </a:r>
          </a:p>
          <a:p>
            <a:r>
              <a:rPr sz="1600">
                <a:solidFill>
                  <a:srgbClr val="6B7280"/>
                </a:solidFill>
                <a:latin typeface="Noto Sans JP"/>
              </a:rPr>
              <a:t>届いたメールで動くフローを作ります。</a:t>
            </a: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重要度で条件分岐させる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「条件」アクションで、メールの重要度が</a:t>
            </a:r>
          </a:p>
          <a:p>
            <a:r>
              <a:rPr sz="1600">
                <a:solidFill>
                  <a:srgbClr val="6B7280"/>
                </a:solidFill>
                <a:latin typeface="Noto Sans JP"/>
              </a:rPr>
              <a:t>「高」かどうかで処理を分けます。</a:t>
            </a:r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実行履歴の出力を読む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わざと失敗させて、実行履歴の出力から</a:t>
            </a:r>
            <a:endParaRPr lang="en-US" sz="1400" dirty="0"/>
          </a:p>
          <a:p>
            <a:r>
              <a:rPr sz="1600">
                <a:solidFill>
                  <a:srgbClr val="6B7280"/>
                </a:solidFill>
                <a:latin typeface="Noto Sans JP"/>
              </a:rPr>
              <a:t>原因を見つけ、直します。</a:t>
            </a:r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52951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(1/2)：実行履歴って何？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80" y="2195490"/>
            <a:ext cx="5598507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①「実行履歴」は、フローを動かした記録です。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いつ・どのアクションが・成功（緑）か失敗（赤）か が残ります。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1F2937"/>
                </a:solidFill>
                <a:latin typeface="Noto Sans JP"/>
              </a:rPr>
              <a:t>②各アクションを開くと「入力」と「出力」が見られます。</a:t>
            </a: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入力＝受け取った値、出力＝次に渡す値。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1F2937"/>
                </a:solidFill>
                <a:latin typeface="Noto Sans JP"/>
              </a:rPr>
              <a:t>③うまく動かないときは、実行履歴の入力・出力を見れば</a:t>
            </a: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「どこで・何が起きたか」が分かります。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実行履歴の一覧画面
（緑＝成功・赤＝失敗が見える画面）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1527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 (2/2)：画面の「表示」と「値」は違う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65579" y="2229307"/>
            <a:ext cx="6248431" cy="391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④画面に見える「表示」と、フローに実際に渡る「値」は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違うことがあります。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1F2937"/>
                </a:solidFill>
                <a:latin typeface="Noto Sans JP"/>
              </a:rPr>
              <a:t>⑤例：メールの重要度。画面の表示は「高」でも、</a:t>
            </a: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出力に渡る値は英語の "High" です。</a:t>
            </a:r>
          </a:p>
          <a:p>
            <a:pPr>
              <a:spcBef>
                <a:spcPts val="1000"/>
              </a:spcBef>
            </a:pPr>
            <a:r>
              <a:rPr sz="2000" b="1">
                <a:solidFill>
                  <a:srgbClr val="1F2937"/>
                </a:solidFill>
                <a:latin typeface="Noto Sans JP"/>
              </a:rPr>
              <a:t>⑥条件に「高」と書くと一致せず、フローは赤くならないまま</a:t>
            </a:r>
          </a:p>
          <a:p>
            <a:r>
              <a:rPr sz="2000" b="1">
                <a:solidFill>
                  <a:srgbClr val="1F2937"/>
                </a:solidFill>
                <a:latin typeface="Noto Sans JP"/>
              </a:rPr>
              <a:t>　間違った方へ進みます。出力を見ないと気づけません。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メールの重要度を「高」にしている画面
または 条件アクションの設定画面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305" y="-9144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2110" y="628650"/>
            <a:ext cx="96012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入力と出力って何？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4620" y="1781251"/>
            <a:ext cx="654452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アクションには「入力」と「出力」があります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・入力：そのアクションが受け取った値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　例）条件アクションの入力 ＝「重要度」と「高」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・出力：そのアクションが次に渡す値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　例）トリガーの出力 ＝ 届いたメールの件名・差出人・重要度 など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・前のアクションの「出力」が、次のアクションの「入力」に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　なります。この受け渡しでフローは動いています。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アクションを開いて
「入力」「出力」が見えている画面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71551" y="636536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実行履歴で入力・出力を見る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37948" y="1494313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371551" y="1664075"/>
            <a:ext cx="6971243" cy="442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+mn-ea"/>
                <a:cs typeface="Noto Sans JP" pitchFamily="34" charset="-120"/>
              </a:rPr>
              <a:t>🎯 実行履歴を開くと、入力・出力が全部見えます</a:t>
            </a:r>
            <a:endParaRPr lang="en-US" altLang="ja-JP" sz="2000" b="1">
              <a:solidFill>
                <a:srgbClr val="1F2937"/>
              </a:solidFill>
              <a:latin typeface="+mn-ea"/>
              <a:cs typeface="Noto Sans JP" pitchFamily="34" charset="-120"/>
            </a:endParaRP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・フローを実行 →  左メニューの「実行履歴」を開く</a:t>
            </a: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・見たい実行をクリック →  各アクションをクリック</a:t>
            </a: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・そのアクションの「入力」と「出力」が表示される</a:t>
            </a: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　例）トリガーの出力に、重要度の値 "High" が入っている</a:t>
            </a: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・思ったとおりに動かないときは、まずここを見る。</a:t>
            </a:r>
          </a:p>
          <a:p>
            <a:r>
              <a:rPr sz="2000" b="1">
                <a:solidFill>
                  <a:srgbClr val="1F2937"/>
                </a:solidFill>
                <a:latin typeface="+mn-ea"/>
              </a:rPr>
              <a:t>　食い違っている値が、必ずここに写っています。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実行履歴で トリガーの出力
が見えている画面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①  トリガーと条件を置く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243" y="1705357"/>
            <a:ext cx="7058328" cy="4260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目的：メールが届いたら重要度で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>
                <a:solidFill>
                  <a:srgbClr val="1F2937"/>
                </a:solidFill>
                <a:latin typeface="Noto Sans JP"/>
              </a:rPr>
              <a:t>　仕分けるフローの形を作る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・トリガー「新しいメールが届いたとき」を置く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・「条件」アクションを追加する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・条件：メールの重要度 が次の値に等しい「高」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　（まずは、わざと日本語の「高」と書きます）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・はい／いいえ それぞれに「作成」でメッセージを置く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完成したフロー全体
（トリガー＋条件＋作成）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1103811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②  わざと失敗させてみる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207159" y="1948175"/>
            <a:ext cx="7380546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目的：思いどおりに動かない場面を体験する</a:t>
            </a:r>
            <a:endParaRPr lang="en-US" altLang="ja-JP" sz="200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・フローを保存して、自分宛に「重要度＝高」の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　メールを1通送ります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・フローは成功（緑）します。でも結果は「通常メール」！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・「重要にして送ったのに、なぜ？」</a:t>
            </a:r>
          </a:p>
          <a:p>
            <a:r>
              <a:rPr sz="2000">
                <a:solidFill>
                  <a:srgbClr val="1F2937"/>
                </a:solidFill>
                <a:latin typeface="Noto Sans JP"/>
              </a:rPr>
              <a:t>　→ ここで実行履歴の出番です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実行結果：成功（緑）なのに
「通常メール」になっている画面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83781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フロー解説 ③  出力で原因を見つけて直す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0" y="1523390"/>
            <a:ext cx="11975897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94417" y="2164046"/>
            <a:ext cx="6915983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🎯 目的：実行履歴の出力から原因を突き止める</a:t>
            </a:r>
            <a:endParaRPr lang="en-US" altLang="ja-JP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r>
              <a:rPr>
                <a:solidFill>
                  <a:srgbClr val="1F2937"/>
                </a:solidFill>
                <a:latin typeface="Noto Sans JP"/>
              </a:rPr>
              <a:t>・実行履歴を開き、トリガーの「出力」を見る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・重要度（Importance）の値が "High"（英語）だと分かる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・条件の「高」を "High" に直す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・もう一度、重要度＝高のメールを送る</a:t>
            </a:r>
          </a:p>
          <a:p>
            <a:r>
              <a:rPr>
                <a:solidFill>
                  <a:srgbClr val="1F2937"/>
                </a:solidFill>
                <a:latin typeface="Noto Sans JP"/>
              </a:rPr>
              <a:t>　→ 今度こそ「⚠️ 重要メールです」に進む。直った！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40880" y="1737360"/>
            <a:ext cx="4572000" cy="4114800"/>
          </a:xfrm>
          <a:prstGeom prst="roundRect">
            <a:avLst/>
          </a:prstGeom>
          <a:solidFill>
            <a:srgbClr val="F1F5FB"/>
          </a:solidFill>
          <a:ln w="19050">
            <a:solidFill>
              <a:srgbClr val="9CB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A5E9E"/>
                </a:solidFill>
              </a:rPr>
              <a:t>📷 ここにスクショを貼る</a:t>
            </a:r>
          </a:p>
          <a:p>
            <a:pPr algn="ctr"/>
            <a:r>
              <a:rPr sz="1400">
                <a:solidFill>
                  <a:srgbClr val="556677"/>
                </a:solidFill>
              </a:rPr>
              <a:t>トリガーの出力で 重要度が
"High" になっている箇所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814990" y="6322778"/>
            <a:ext cx="7139243" cy="405006"/>
            <a:chOff x="6034969" y="604238"/>
            <a:chExt cx="5862289" cy="405006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フローが成功（緑）でも、結果が正しいとは限らない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544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赤いエラーが出なくても、間違った方へ静かに進むことがあります。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Noto Sans JP"/>
              </a:rPr>
              <a:t>結果を信じる前に、実行履歴の出力で「本当に合っているか」を確かめましょう。</a:t>
            </a:r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71953" y="3163346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後続に値を渡すアクションは、まず出力で「本当の値」を確認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444844" y="3742639"/>
            <a:ext cx="101720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条件に書く前に、実行履歴でそのアクションの出力を見る。</a:t>
            </a:r>
          </a:p>
          <a:p>
            <a:r>
              <a:rPr sz="1800">
                <a:solidFill>
                  <a:srgbClr val="4B5563"/>
                </a:solidFill>
                <a:latin typeface="Noto Sans JP"/>
              </a:rPr>
              <a:t>「画面の表示」と「渡る値」は違うことがある、と知っておく。</a:t>
            </a: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表示と値は違う ── 同じ罠があちこちに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重要度＝High/Normal/Low、承認結果＝Approve/Reject、はい・いいえ列＝true/false。</a:t>
            </a:r>
            <a:endParaRPr lang="en-US" sz="1800" dirty="0"/>
          </a:p>
          <a:p>
            <a:r>
              <a:rPr sz="1800">
                <a:solidFill>
                  <a:srgbClr val="4B5563"/>
                </a:solidFill>
                <a:latin typeface="Noto Sans JP"/>
              </a:rPr>
              <a:t>どれも英語や真偽値。出力を見れば「本当の値」が分かります。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17320" y="2066544"/>
            <a:ext cx="2468880" cy="637793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17320" y="2181647"/>
            <a:ext cx="2468880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重要メール通知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重要度が高いメールを</a:t>
            </a:r>
          </a:p>
          <a:p>
            <a:r>
              <a:rPr sz="2000" b="1">
                <a:solidFill>
                  <a:srgbClr val="1F2937"/>
                </a:solidFill>
              </a:rPr>
              <a:t>Teams等へすぐ通知</a:t>
            </a:r>
          </a:p>
        </p:txBody>
      </p:sp>
      <p:sp>
        <p:nvSpPr>
          <p:cNvPr id="11" name="Text 8"/>
          <p:cNvSpPr txBox="1"/>
          <p:nvPr/>
        </p:nvSpPr>
        <p:spPr>
          <a:xfrm>
            <a:off x="619049" y="3858372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/>
              <a:t>→ 条件（重要度）</a:t>
            </a:r>
          </a:p>
          <a:p>
            <a:r>
              <a:rPr sz="1600" b="1"/>
              <a:t>→ Teamsで通知</a:t>
            </a:r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メール → 条件 → 通知</a:t>
            </a:r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479687" y="1917917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9882" y="2109027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440680" y="1998232"/>
            <a:ext cx="2468880" cy="588606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440680" y="2125428"/>
            <a:ext cx="2468880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差出人で振分け</a:t>
            </a:r>
          </a:p>
        </p:txBody>
      </p:sp>
      <p:sp>
        <p:nvSpPr>
          <p:cNvPr id="21" name="Text 16"/>
          <p:cNvSpPr txBox="1"/>
          <p:nvPr/>
        </p:nvSpPr>
        <p:spPr>
          <a:xfrm>
            <a:off x="4416094" y="3038477"/>
            <a:ext cx="3829965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上司・取引先のメールを</a:t>
            </a:r>
            <a:endParaRPr lang="en-US" sz="3600" dirty="0"/>
          </a:p>
          <a:p>
            <a:r>
              <a:rPr sz="2000" b="1">
                <a:solidFill>
                  <a:srgbClr val="1F2937"/>
                </a:solidFill>
              </a:rPr>
              <a:t>別フォルダへ自動仕分け</a:t>
            </a:r>
          </a:p>
        </p:txBody>
      </p:sp>
      <p:sp>
        <p:nvSpPr>
          <p:cNvPr id="22" name="Text 17"/>
          <p:cNvSpPr txBox="1"/>
          <p:nvPr/>
        </p:nvSpPr>
        <p:spPr>
          <a:xfrm>
            <a:off x="4509813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/>
              <a:t>→ 条件（差出人）</a:t>
            </a:r>
          </a:p>
          <a:p>
            <a:r>
              <a:rPr sz="1600" b="1"/>
              <a:t>→ フォルダへ移動</a:t>
            </a:r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4714569" y="5398054"/>
            <a:ext cx="3301062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メール → 条件 → 仕分け</a:t>
            </a:r>
          </a:p>
        </p:txBody>
      </p:sp>
      <p:sp>
        <p:nvSpPr>
          <p:cNvPr id="27" name="Shape 21"/>
          <p:cNvSpPr/>
          <p:nvPr/>
        </p:nvSpPr>
        <p:spPr>
          <a:xfrm>
            <a:off x="8246059" y="1790914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372600" y="1952181"/>
            <a:ext cx="2468880" cy="775966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372600" y="2215734"/>
            <a:ext cx="2468880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件名で仕分け</a:t>
            </a:r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件名に特定の語を含む</a:t>
            </a:r>
          </a:p>
          <a:p>
            <a:r>
              <a:rPr sz="2000" b="1">
                <a:solidFill>
                  <a:srgbClr val="1F2937"/>
                </a:solidFill>
              </a:rPr>
              <a:t>メールを自動で記録</a:t>
            </a:r>
          </a:p>
        </p:txBody>
      </p:sp>
      <p:sp>
        <p:nvSpPr>
          <p:cNvPr id="33" name="Text 26"/>
          <p:cNvSpPr txBox="1"/>
          <p:nvPr/>
        </p:nvSpPr>
        <p:spPr>
          <a:xfrm>
            <a:off x="8516611" y="3885659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新しいメールが届いたとき</a:t>
            </a:r>
          </a:p>
          <a:p>
            <a:r>
              <a:rPr sz="1600" b="1"/>
              <a:t>→ 条件（件名）</a:t>
            </a:r>
          </a:p>
          <a:p>
            <a:r>
              <a:rPr sz="1600" b="1"/>
              <a:t>→ リストに記録</a:t>
            </a:r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メールの仕分けは応用がきく</a:t>
            </a:r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1113609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575082" y="5283885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2070</Words>
  <Application>Microsoft Office PowerPoint</Application>
  <PresentationFormat>ワイド画面</PresentationFormat>
  <Paragraphs>434</Paragraphs>
  <Slides>18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3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27</cp:revision>
  <dcterms:created xsi:type="dcterms:W3CDTF">2026-03-02T01:22:39Z</dcterms:created>
  <dcterms:modified xsi:type="dcterms:W3CDTF">2026-05-14T05:09:02Z</dcterms:modified>
</cp:coreProperties>
</file>