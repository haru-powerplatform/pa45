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Shape 39">
            <a:extLst>
              <a:ext uri="{FF2B5EF4-FFF2-40B4-BE49-F238E27FC236}">
                <a16:creationId xmlns:a16="http://schemas.microsoft.com/office/drawing/2014/main" id="{8E3CAA30-78D6-6472-8410-128957CAF173}"/>
              </a:ext>
            </a:extLst>
          </p:cNvPr>
          <p:cNvSpPr/>
          <p:nvPr/>
        </p:nvSpPr>
        <p:spPr>
          <a:xfrm>
            <a:off x="6095999" y="1771650"/>
            <a:ext cx="5886398" cy="4931536"/>
          </a:xfrm>
          <a:prstGeom prst="roundRect">
            <a:avLst>
              <a:gd name="adj" fmla="val 3861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3A386AD-6B22-85BB-94CA-B4E453B97937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F672F87-47D9-4DBC-3382-95FC0962CECF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A18239D-B031-A30C-4B3D-B4C5A1BBFD3D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Vol.22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CB45D70-00D2-522A-B438-77212416C6B6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(Condition)】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の勘違い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871215C-1A4E-9FD1-61A5-038F4C43B4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461" y="709333"/>
            <a:ext cx="8314039" cy="84973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287C6E12-CF10-75C4-4D65-DBBA18AF97C7}"/>
              </a:ext>
            </a:extLst>
          </p:cNvPr>
          <p:cNvSpPr txBox="1"/>
          <p:nvPr/>
        </p:nvSpPr>
        <p:spPr>
          <a:xfrm>
            <a:off x="867634" y="831144"/>
            <a:ext cx="7835495" cy="67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 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、なんとなくで選んでいませんか？ 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条件が合わない</a:t>
            </a:r>
            <a:r>
              <a:rPr lang="en-US" altLang="ja-JP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…</a:t>
            </a: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その原因、比較の“勘違い”かも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BADC54AD-0819-ADED-714E-16A3CF3DE7BA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D2BD3532-2ABF-592A-030F-4B887BBF5653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EDDBFA7E-269B-2445-5178-6BDAD8549F24}"/>
              </a:ext>
            </a:extLst>
          </p:cNvPr>
          <p:cNvSpPr/>
          <p:nvPr/>
        </p:nvSpPr>
        <p:spPr>
          <a:xfrm>
            <a:off x="58783" y="-50800"/>
            <a:ext cx="12077233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43E6AF19-11D1-4D5D-9BFE-D8EEA1F7C0C8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CCF72A65-275E-D8C7-31B1-A43170DEA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6" y="746053"/>
            <a:ext cx="784945" cy="784945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88F718A-C4C6-15A2-4318-33120CB612F6}"/>
              </a:ext>
            </a:extLst>
          </p:cNvPr>
          <p:cNvSpPr/>
          <p:nvPr/>
        </p:nvSpPr>
        <p:spPr>
          <a:xfrm>
            <a:off x="157823" y="1698465"/>
            <a:ext cx="5811764" cy="5004721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5ECCC529-AA59-E134-99B8-B5D760E85ADB}"/>
              </a:ext>
            </a:extLst>
          </p:cNvPr>
          <p:cNvSpPr/>
          <p:nvPr/>
        </p:nvSpPr>
        <p:spPr>
          <a:xfrm>
            <a:off x="346433" y="1625360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B7523F34-D718-30BE-FC2F-9E0491EC1A56}"/>
              </a:ext>
            </a:extLst>
          </p:cNvPr>
          <p:cNvSpPr txBox="1"/>
          <p:nvPr/>
        </p:nvSpPr>
        <p:spPr>
          <a:xfrm>
            <a:off x="587622" y="1712072"/>
            <a:ext cx="2981048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よくある勘違い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C6BD620F-2A80-44B5-953D-3C785E9A2470}"/>
              </a:ext>
            </a:extLst>
          </p:cNvPr>
          <p:cNvGrpSpPr/>
          <p:nvPr/>
        </p:nvGrpSpPr>
        <p:grpSpPr>
          <a:xfrm>
            <a:off x="6061279" y="1582770"/>
            <a:ext cx="3079891" cy="513892"/>
            <a:chOff x="3873773" y="1873957"/>
            <a:chExt cx="3485106" cy="513892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717E99E5-D787-97E3-341D-61AEF31379FD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32ECACC3-7625-119C-448A-D8C665D686B1}"/>
                </a:ext>
              </a:extLst>
            </p:cNvPr>
            <p:cNvSpPr txBox="1"/>
            <p:nvPr/>
          </p:nvSpPr>
          <p:spPr>
            <a:xfrm>
              <a:off x="4304719" y="1880414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正しい理解</a:t>
              </a:r>
              <a:endParaRPr lang="en-US" sz="3600" dirty="0"/>
            </a:p>
          </p:txBody>
        </p:sp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180182AD-E589-2ECD-78BC-8B22A7AE24CA}"/>
              </a:ext>
            </a:extLst>
          </p:cNvPr>
          <p:cNvSpPr/>
          <p:nvPr/>
        </p:nvSpPr>
        <p:spPr>
          <a:xfrm>
            <a:off x="8731428" y="779156"/>
            <a:ext cx="3227113" cy="685800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2052F82-21FA-5864-A5BA-3B782CF9F882}"/>
              </a:ext>
            </a:extLst>
          </p:cNvPr>
          <p:cNvSpPr txBox="1"/>
          <p:nvPr/>
        </p:nvSpPr>
        <p:spPr>
          <a:xfrm>
            <a:off x="9207830" y="855966"/>
            <a:ext cx="277456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equals は“</a:t>
            </a: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完全一致”、</a:t>
            </a:r>
          </a:p>
          <a:p>
            <a:pPr marL="0" indent="0" algn="l">
              <a:buNone/>
            </a:pP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は“含まれるか” </a:t>
            </a:r>
            <a:endParaRPr lang="en-US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DDD9FA5D-572D-BECB-4E22-19212094DF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21623" y="915402"/>
            <a:ext cx="171907" cy="171907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836648DF-8F91-5781-9746-7B44F168A7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66529" y="2371954"/>
            <a:ext cx="352520" cy="470967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0D05267F-197A-271A-8B7D-6141EE153B93}"/>
              </a:ext>
            </a:extLst>
          </p:cNvPr>
          <p:cNvSpPr txBox="1"/>
          <p:nvPr/>
        </p:nvSpPr>
        <p:spPr>
          <a:xfrm>
            <a:off x="694944" y="2314345"/>
            <a:ext cx="4962906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</a:t>
            </a: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部分一致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81DC494-F5C5-1A7A-CB8F-F7A877659CD5}"/>
              </a:ext>
            </a:extLst>
          </p:cNvPr>
          <p:cNvSpPr txBox="1"/>
          <p:nvPr/>
        </p:nvSpPr>
        <p:spPr>
          <a:xfrm>
            <a:off x="684491" y="3043593"/>
            <a:ext cx="5380800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文字に空白があると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判定できない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7A54526E-4935-7F94-55DB-04C9330A0874}"/>
              </a:ext>
            </a:extLst>
          </p:cNvPr>
          <p:cNvSpPr txBox="1"/>
          <p:nvPr/>
        </p:nvSpPr>
        <p:spPr>
          <a:xfrm>
            <a:off x="580293" y="3749033"/>
            <a:ext cx="5330652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を使えば全部解決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78A32A47-A336-89E9-245D-C4EEE06AA4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0388" y="3076699"/>
            <a:ext cx="352520" cy="470967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1A42B148-C378-58E1-05D4-1C92EAF3BF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9515" y="3805728"/>
            <a:ext cx="352520" cy="470967"/>
          </a:xfrm>
          <a:prstGeom prst="rect">
            <a:avLst/>
          </a:prstGeom>
        </p:spPr>
      </p:pic>
      <p:pic>
        <p:nvPicPr>
          <p:cNvPr id="36" name="Image 9" descr="preencoded.png">
            <a:extLst>
              <a:ext uri="{FF2B5EF4-FFF2-40B4-BE49-F238E27FC236}">
                <a16:creationId xmlns:a16="http://schemas.microsoft.com/office/drawing/2014/main" id="{3FD10172-D251-D611-2EF4-A0732E8C48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296985" y="4567078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EF91C8E1-6ABA-612E-138A-1D7EB2828D58}"/>
              </a:ext>
            </a:extLst>
          </p:cNvPr>
          <p:cNvSpPr txBox="1"/>
          <p:nvPr/>
        </p:nvSpPr>
        <p:spPr>
          <a:xfrm>
            <a:off x="521303" y="4664155"/>
            <a:ext cx="4926498" cy="21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NG例：</a:t>
            </a:r>
            <a:r>
              <a:rPr lang="en-US" sz="3200" b="1" dirty="0">
                <a:solidFill>
                  <a:srgbClr val="FF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1470A11F-435C-F2F0-5B96-6B85D263DC23}"/>
              </a:ext>
            </a:extLst>
          </p:cNvPr>
          <p:cNvGrpSpPr/>
          <p:nvPr/>
        </p:nvGrpSpPr>
        <p:grpSpPr>
          <a:xfrm>
            <a:off x="394803" y="5004358"/>
            <a:ext cx="2699444" cy="891980"/>
            <a:chOff x="394803" y="5004358"/>
            <a:chExt cx="1454017" cy="891980"/>
          </a:xfrm>
        </p:grpSpPr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25BB17A6-EDA3-0B41-7AA5-BACE47C9BCFB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1ADBA605-C57B-B817-74CB-9DA3B17C4223}"/>
                </a:ext>
              </a:extLst>
            </p:cNvPr>
            <p:cNvSpPr txBox="1"/>
            <p:nvPr/>
          </p:nvSpPr>
          <p:spPr>
            <a:xfrm>
              <a:off x="405839" y="5095896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25743D66-D736-5D0C-05A7-28CE4E5BC3F6}"/>
                </a:ext>
              </a:extLst>
            </p:cNvPr>
            <p:cNvSpPr txBox="1"/>
            <p:nvPr/>
          </p:nvSpPr>
          <p:spPr>
            <a:xfrm>
              <a:off x="422705" y="5388293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42" name="Text 19">
            <a:extLst>
              <a:ext uri="{FF2B5EF4-FFF2-40B4-BE49-F238E27FC236}">
                <a16:creationId xmlns:a16="http://schemas.microsoft.com/office/drawing/2014/main" id="{5047176E-2372-4F74-CB1B-AA0575343761}"/>
              </a:ext>
            </a:extLst>
          </p:cNvPr>
          <p:cNvSpPr txBox="1"/>
          <p:nvPr/>
        </p:nvSpPr>
        <p:spPr>
          <a:xfrm>
            <a:off x="3209622" y="5264768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0BF69269-F29B-FCDB-95E4-C86AC00BD4E7}"/>
              </a:ext>
            </a:extLst>
          </p:cNvPr>
          <p:cNvGrpSpPr/>
          <p:nvPr/>
        </p:nvGrpSpPr>
        <p:grpSpPr>
          <a:xfrm>
            <a:off x="3740362" y="4994443"/>
            <a:ext cx="2063538" cy="949993"/>
            <a:chOff x="3175782" y="5113327"/>
            <a:chExt cx="1446303" cy="744785"/>
          </a:xfrm>
        </p:grpSpPr>
        <p:sp>
          <p:nvSpPr>
            <p:cNvPr id="43" name="Shape 20">
              <a:extLst>
                <a:ext uri="{FF2B5EF4-FFF2-40B4-BE49-F238E27FC236}">
                  <a16:creationId xmlns:a16="http://schemas.microsoft.com/office/drawing/2014/main" id="{8C81BD76-8D9C-559F-B395-5C5DB5D35988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4" name="Text 21">
              <a:extLst>
                <a:ext uri="{FF2B5EF4-FFF2-40B4-BE49-F238E27FC236}">
                  <a16:creationId xmlns:a16="http://schemas.microsoft.com/office/drawing/2014/main" id="{A5BA85C9-BB33-1C16-AF1D-716C0DFA5EE7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62F4C3EE-157D-DAE6-FFE9-B5EE7CE9F8B9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46" name="Shape 23">
            <a:extLst>
              <a:ext uri="{FF2B5EF4-FFF2-40B4-BE49-F238E27FC236}">
                <a16:creationId xmlns:a16="http://schemas.microsoft.com/office/drawing/2014/main" id="{E0FCBB3A-FB3F-4ED8-B9EC-DFAC8578189B}"/>
              </a:ext>
            </a:extLst>
          </p:cNvPr>
          <p:cNvSpPr/>
          <p:nvPr/>
        </p:nvSpPr>
        <p:spPr>
          <a:xfrm>
            <a:off x="382270" y="6076778"/>
            <a:ext cx="5179498" cy="410618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7ABCD3A4-763F-2620-0E3D-E9D18F80EA8A}"/>
              </a:ext>
            </a:extLst>
          </p:cNvPr>
          <p:cNvSpPr txBox="1"/>
          <p:nvPr/>
        </p:nvSpPr>
        <p:spPr>
          <a:xfrm>
            <a:off x="1314694" y="6133714"/>
            <a:ext cx="4001441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結果：false 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（想定と違う！）</a:t>
            </a:r>
            <a:endParaRPr lang="en-US" sz="2800" dirty="0"/>
          </a:p>
        </p:txBody>
      </p:sp>
      <p:pic>
        <p:nvPicPr>
          <p:cNvPr id="48" name="Image 10" descr="preencoded.png">
            <a:extLst>
              <a:ext uri="{FF2B5EF4-FFF2-40B4-BE49-F238E27FC236}">
                <a16:creationId xmlns:a16="http://schemas.microsoft.com/office/drawing/2014/main" id="{2851D060-AB85-E179-3097-F904E114192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8177" y="6084047"/>
            <a:ext cx="365490" cy="396080"/>
          </a:xfrm>
          <a:prstGeom prst="rect">
            <a:avLst/>
          </a:prstGeom>
        </p:spPr>
      </p:pic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DBD14689-27EB-51A0-F602-CAB33E21BD29}"/>
              </a:ext>
            </a:extLst>
          </p:cNvPr>
          <p:cNvGrpSpPr/>
          <p:nvPr/>
        </p:nvGrpSpPr>
        <p:grpSpPr>
          <a:xfrm>
            <a:off x="6147034" y="2275586"/>
            <a:ext cx="5770477" cy="2115112"/>
            <a:chOff x="6533259" y="2307911"/>
            <a:chExt cx="3781347" cy="973296"/>
          </a:xfrm>
        </p:grpSpPr>
        <p:pic>
          <p:nvPicPr>
            <p:cNvPr id="66" name="Image 14" descr="preencoded.png">
              <a:extLst>
                <a:ext uri="{FF2B5EF4-FFF2-40B4-BE49-F238E27FC236}">
                  <a16:creationId xmlns:a16="http://schemas.microsoft.com/office/drawing/2014/main" id="{8C0476AD-B6C1-8155-2355-F89F84147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533259" y="3009750"/>
              <a:ext cx="228600" cy="152705"/>
            </a:xfrm>
            <a:prstGeom prst="rect">
              <a:avLst/>
            </a:prstGeom>
          </p:spPr>
        </p:pic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9E198BDA-9B7C-E277-37C4-9D86DD62EA7D}"/>
                </a:ext>
              </a:extLst>
            </p:cNvPr>
            <p:cNvGrpSpPr/>
            <p:nvPr/>
          </p:nvGrpSpPr>
          <p:grpSpPr>
            <a:xfrm>
              <a:off x="6581658" y="2307911"/>
              <a:ext cx="3732948" cy="973296"/>
              <a:chOff x="6581658" y="2307911"/>
              <a:chExt cx="3732948" cy="973296"/>
            </a:xfrm>
          </p:grpSpPr>
          <p:pic>
            <p:nvPicPr>
              <p:cNvPr id="68" name="Image 12" descr="preencoded.png">
                <a:extLst>
                  <a:ext uri="{FF2B5EF4-FFF2-40B4-BE49-F238E27FC236}">
                    <a16:creationId xmlns:a16="http://schemas.microsoft.com/office/drawing/2014/main" id="{9EE99807-AA17-3DF2-ADA0-0294119773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1658" y="2307911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4" name="Text 28">
                <a:extLst>
                  <a:ext uri="{FF2B5EF4-FFF2-40B4-BE49-F238E27FC236}">
                    <a16:creationId xmlns:a16="http://schemas.microsoft.com/office/drawing/2014/main" id="{817E1C33-6021-BAA9-82E4-81E0237D03D1}"/>
                  </a:ext>
                </a:extLst>
              </p:cNvPr>
              <p:cNvSpPr txBox="1"/>
              <p:nvPr/>
            </p:nvSpPr>
            <p:spPr>
              <a:xfrm>
                <a:off x="6810451" y="2314346"/>
                <a:ext cx="32415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equals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完全一致”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</a:t>
                </a:r>
                <a:r>
                  <a:rPr lang="en-US" sz="2400" b="1" dirty="0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1文字でも違えばNG）</a:t>
                </a:r>
                <a:endParaRPr lang="en-US" sz="2400" b="1" dirty="0"/>
              </a:p>
            </p:txBody>
          </p:sp>
          <p:pic>
            <p:nvPicPr>
              <p:cNvPr id="75" name="Image 13" descr="preencoded.png">
                <a:extLst>
                  <a:ext uri="{FF2B5EF4-FFF2-40B4-BE49-F238E27FC236}">
                    <a16:creationId xmlns:a16="http://schemas.microsoft.com/office/drawing/2014/main" id="{C8D51979-9D90-B5AC-1170-BEB92DA7F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8641" y="2700999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6" name="Text 29">
                <a:extLst>
                  <a:ext uri="{FF2B5EF4-FFF2-40B4-BE49-F238E27FC236}">
                    <a16:creationId xmlns:a16="http://schemas.microsoft.com/office/drawing/2014/main" id="{F568CD71-7804-8F28-A130-74C4836D1E1F}"/>
                  </a:ext>
                </a:extLst>
              </p:cNvPr>
              <p:cNvSpPr txBox="1"/>
              <p:nvPr/>
            </p:nvSpPr>
            <p:spPr>
              <a:xfrm>
                <a:off x="6806457" y="2686814"/>
                <a:ext cx="350814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contains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は“含まれるか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”を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判定する</a:t>
                </a:r>
                <a:endParaRPr lang="en-US" sz="2400" b="1" dirty="0"/>
              </a:p>
            </p:txBody>
          </p:sp>
          <p:sp>
            <p:nvSpPr>
              <p:cNvPr id="77" name="Text 30">
                <a:extLst>
                  <a:ext uri="{FF2B5EF4-FFF2-40B4-BE49-F238E27FC236}">
                    <a16:creationId xmlns:a16="http://schemas.microsoft.com/office/drawing/2014/main" id="{E944F64B-5049-64DC-748C-26D6EBE1C661}"/>
                  </a:ext>
                </a:extLst>
              </p:cNvPr>
              <p:cNvSpPr txBox="1"/>
              <p:nvPr/>
            </p:nvSpPr>
            <p:spPr>
              <a:xfrm>
                <a:off x="6821821" y="3052607"/>
                <a:ext cx="340065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数値・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日付は、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型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（データの種類）に特に注意</a:t>
                </a:r>
                <a:endParaRPr lang="en-US" sz="2400" b="1" dirty="0"/>
              </a:p>
            </p:txBody>
          </p:sp>
        </p:grpSp>
      </p:grpSp>
      <p:pic>
        <p:nvPicPr>
          <p:cNvPr id="80" name="Image 9" descr="preencoded.png">
            <a:extLst>
              <a:ext uri="{FF2B5EF4-FFF2-40B4-BE49-F238E27FC236}">
                <a16:creationId xmlns:a16="http://schemas.microsoft.com/office/drawing/2014/main" id="{46FB3416-570E-95F7-FE1F-96715B22EA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6241811" y="4564685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81" name="Text 15">
            <a:extLst>
              <a:ext uri="{FF2B5EF4-FFF2-40B4-BE49-F238E27FC236}">
                <a16:creationId xmlns:a16="http://schemas.microsoft.com/office/drawing/2014/main" id="{27B8C5CB-21E8-4AAA-F6C7-6CCCD6849190}"/>
              </a:ext>
            </a:extLst>
          </p:cNvPr>
          <p:cNvSpPr txBox="1"/>
          <p:nvPr/>
        </p:nvSpPr>
        <p:spPr>
          <a:xfrm>
            <a:off x="6315475" y="4592809"/>
            <a:ext cx="6819009" cy="35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OK例：</a:t>
            </a:r>
            <a:r>
              <a:rPr lang="en-US" sz="32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62A69A13-426C-18A5-27B2-AD14E5DF7035}"/>
              </a:ext>
            </a:extLst>
          </p:cNvPr>
          <p:cNvGrpSpPr/>
          <p:nvPr/>
        </p:nvGrpSpPr>
        <p:grpSpPr>
          <a:xfrm>
            <a:off x="6185781" y="5086353"/>
            <a:ext cx="2814819" cy="891980"/>
            <a:chOff x="324944" y="5004358"/>
            <a:chExt cx="1516162" cy="891980"/>
          </a:xfrm>
        </p:grpSpPr>
        <p:sp>
          <p:nvSpPr>
            <p:cNvPr id="88" name="Shape 16">
              <a:extLst>
                <a:ext uri="{FF2B5EF4-FFF2-40B4-BE49-F238E27FC236}">
                  <a16:creationId xmlns:a16="http://schemas.microsoft.com/office/drawing/2014/main" id="{B40AE11A-DCA3-0C46-55C6-5661F9B389F7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5D894E81-956E-B302-01BF-1CB51281ACC7}"/>
                </a:ext>
              </a:extLst>
            </p:cNvPr>
            <p:cNvSpPr txBox="1"/>
            <p:nvPr/>
          </p:nvSpPr>
          <p:spPr>
            <a:xfrm>
              <a:off x="324944" y="5087927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92" name="Text 18">
              <a:extLst>
                <a:ext uri="{FF2B5EF4-FFF2-40B4-BE49-F238E27FC236}">
                  <a16:creationId xmlns:a16="http://schemas.microsoft.com/office/drawing/2014/main" id="{A0D9FCA2-D72A-ACCE-A437-C6F43E666E0C}"/>
                </a:ext>
              </a:extLst>
            </p:cNvPr>
            <p:cNvSpPr txBox="1"/>
            <p:nvPr/>
          </p:nvSpPr>
          <p:spPr>
            <a:xfrm>
              <a:off x="434856" y="5406251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95" name="Text 19">
            <a:extLst>
              <a:ext uri="{FF2B5EF4-FFF2-40B4-BE49-F238E27FC236}">
                <a16:creationId xmlns:a16="http://schemas.microsoft.com/office/drawing/2014/main" id="{56C5415C-C446-4F61-A78A-075A570D9BA0}"/>
              </a:ext>
            </a:extLst>
          </p:cNvPr>
          <p:cNvSpPr txBox="1"/>
          <p:nvPr/>
        </p:nvSpPr>
        <p:spPr>
          <a:xfrm>
            <a:off x="9130296" y="5346763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BCCBC428-41EC-BFFE-F009-D87F6920A11B}"/>
              </a:ext>
            </a:extLst>
          </p:cNvPr>
          <p:cNvGrpSpPr/>
          <p:nvPr/>
        </p:nvGrpSpPr>
        <p:grpSpPr>
          <a:xfrm>
            <a:off x="9661035" y="5076438"/>
            <a:ext cx="2045113" cy="901895"/>
            <a:chOff x="3175782" y="5113327"/>
            <a:chExt cx="1446303" cy="744785"/>
          </a:xfrm>
        </p:grpSpPr>
        <p:sp>
          <p:nvSpPr>
            <p:cNvPr id="97" name="Shape 20">
              <a:extLst>
                <a:ext uri="{FF2B5EF4-FFF2-40B4-BE49-F238E27FC236}">
                  <a16:creationId xmlns:a16="http://schemas.microsoft.com/office/drawing/2014/main" id="{34670AEF-5A2B-E927-3F2E-C789F1A8C2C1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100" name="Text 21">
              <a:extLst>
                <a:ext uri="{FF2B5EF4-FFF2-40B4-BE49-F238E27FC236}">
                  <a16:creationId xmlns:a16="http://schemas.microsoft.com/office/drawing/2014/main" id="{F6342F00-ADAA-2B83-6265-6860C90A330E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101" name="Text 22">
              <a:extLst>
                <a:ext uri="{FF2B5EF4-FFF2-40B4-BE49-F238E27FC236}">
                  <a16:creationId xmlns:a16="http://schemas.microsoft.com/office/drawing/2014/main" id="{7727F400-CD4D-B41B-454B-02B3EF405151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117" name="Shape 23">
            <a:extLst>
              <a:ext uri="{FF2B5EF4-FFF2-40B4-BE49-F238E27FC236}">
                <a16:creationId xmlns:a16="http://schemas.microsoft.com/office/drawing/2014/main" id="{EC374974-AB0D-EE48-9700-480FE7A00F5E}"/>
              </a:ext>
            </a:extLst>
          </p:cNvPr>
          <p:cNvSpPr/>
          <p:nvPr/>
        </p:nvSpPr>
        <p:spPr>
          <a:xfrm>
            <a:off x="6314603" y="6083263"/>
            <a:ext cx="5179498" cy="410618"/>
          </a:xfrm>
          <a:prstGeom prst="roundRect">
            <a:avLst>
              <a:gd name="adj" fmla="val 7507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B7B8134F-B930-8F11-72A6-441CEA277388}"/>
              </a:ext>
            </a:extLst>
          </p:cNvPr>
          <p:cNvSpPr txBox="1"/>
          <p:nvPr/>
        </p:nvSpPr>
        <p:spPr>
          <a:xfrm>
            <a:off x="7415834" y="6133714"/>
            <a:ext cx="4290315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結果：True 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狙い通り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！）</a:t>
            </a:r>
            <a:endParaRPr lang="en-US" sz="2800" dirty="0">
              <a:solidFill>
                <a:srgbClr val="0000CC"/>
              </a:solidFill>
            </a:endParaRPr>
          </a:p>
        </p:txBody>
      </p:sp>
      <p:pic>
        <p:nvPicPr>
          <p:cNvPr id="119" name="Image 19" descr="preencoded.png">
            <a:extLst>
              <a:ext uri="{FF2B5EF4-FFF2-40B4-BE49-F238E27FC236}">
                <a16:creationId xmlns:a16="http://schemas.microsoft.com/office/drawing/2014/main" id="{33E1C32A-8EA2-130F-EB89-E7B671BE36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6591430" y="6094089"/>
            <a:ext cx="358519" cy="410088"/>
          </a:xfrm>
          <a:prstGeom prst="rect">
            <a:avLst/>
          </a:prstGeom>
        </p:spPr>
      </p:pic>
      <p:pic>
        <p:nvPicPr>
          <p:cNvPr id="125" name="図 124" descr="The image depicts a cartoon character with a pale blue shirt and a blue collar, standing in a thoughtful pose with an open mouth and a question mark.&#10;&#10;AI 生成コンテンツは誤りを含む可能性があります。">
            <a:extLst>
              <a:ext uri="{FF2B5EF4-FFF2-40B4-BE49-F238E27FC236}">
                <a16:creationId xmlns:a16="http://schemas.microsoft.com/office/drawing/2014/main" id="{8681A6E9-BAED-71C7-B7B1-53568FBEEB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7589" y="2139252"/>
            <a:ext cx="1485545" cy="1701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8" name="図 127" descr="The image depicts a cartoon character with a blue shirt, yellow hair, and a heart symbol above its eyes.&#10;&#10;AI 生成コンテンツは誤りを含む可能性があります。">
            <a:extLst>
              <a:ext uri="{FF2B5EF4-FFF2-40B4-BE49-F238E27FC236}">
                <a16:creationId xmlns:a16="http://schemas.microsoft.com/office/drawing/2014/main" id="{27E40364-BF31-327F-1439-2B57E823E0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6506" y="2138419"/>
            <a:ext cx="1634298" cy="1871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D111469A-17D3-9589-0F06-A6D40AD6BF3E}"/>
              </a:ext>
            </a:extLst>
          </p:cNvPr>
          <p:cNvCxnSpPr>
            <a:cxnSpLocks/>
          </p:cNvCxnSpPr>
          <p:nvPr/>
        </p:nvCxnSpPr>
        <p:spPr>
          <a:xfrm>
            <a:off x="4110210" y="1712072"/>
            <a:ext cx="1875058" cy="28253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