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58" r:id="rId6"/>
    <p:sldId id="263" r:id="rId7"/>
    <p:sldId id="264" r:id="rId8"/>
    <p:sldId id="276" r:id="rId9"/>
    <p:sldId id="266" r:id="rId10"/>
    <p:sldId id="282" r:id="rId11"/>
    <p:sldId id="283" r:id="rId12"/>
    <p:sldId id="286" r:id="rId13"/>
    <p:sldId id="285" r:id="rId14"/>
    <p:sldId id="288" r:id="rId15"/>
    <p:sldId id="290" r:id="rId16"/>
    <p:sldId id="292" r:id="rId17"/>
    <p:sldId id="294" r:id="rId18"/>
    <p:sldId id="296" r:id="rId19"/>
    <p:sldId id="299" r:id="rId20"/>
    <p:sldId id="297" r:id="rId21"/>
    <p:sldId id="298" r:id="rId22"/>
    <p:sldId id="300" r:id="rId23"/>
    <p:sldId id="257" r:id="rId24"/>
    <p:sldId id="301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0000CC"/>
    <a:srgbClr val="008000"/>
    <a:srgbClr val="166534"/>
    <a:srgbClr val="FF9900"/>
    <a:srgbClr val="003366"/>
    <a:srgbClr val="DCFCE7"/>
    <a:srgbClr val="F3FE51"/>
    <a:srgbClr val="ADD315"/>
    <a:srgbClr val="AEC9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26" autoAdjust="0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33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delSld modSld">
      <pc:chgData name="Ueda Isamu" userId="35289799e0376f2e" providerId="LiveId" clId="{DD31E282-B62B-4911-91B6-43B1B98908F9}" dt="2026-03-25T06:59:04.296" v="3" actId="47"/>
      <pc:docMkLst>
        <pc:docMk/>
      </pc:docMkLst>
      <pc:sldChg chg="del">
        <pc:chgData name="Ueda Isamu" userId="35289799e0376f2e" providerId="LiveId" clId="{DD31E282-B62B-4911-91B6-43B1B98908F9}" dt="2026-03-25T06:59:04.296" v="3" actId="47"/>
        <pc:sldMkLst>
          <pc:docMk/>
          <pc:sldMk cId="0" sldId="259"/>
        </pc:sldMkLst>
      </pc:sldChg>
      <pc:sldChg chg="del">
        <pc:chgData name="Ueda Isamu" userId="35289799e0376f2e" providerId="LiveId" clId="{DD31E282-B62B-4911-91B6-43B1B98908F9}" dt="2026-03-25T06:59:04.296" v="3" actId="47"/>
        <pc:sldMkLst>
          <pc:docMk/>
          <pc:sldMk cId="0" sldId="261"/>
        </pc:sldMkLst>
      </pc:sldChg>
      <pc:sldChg chg="del">
        <pc:chgData name="Ueda Isamu" userId="35289799e0376f2e" providerId="LiveId" clId="{DD31E282-B62B-4911-91B6-43B1B98908F9}" dt="2026-03-25T06:59:04.296" v="3" actId="47"/>
        <pc:sldMkLst>
          <pc:docMk/>
          <pc:sldMk cId="1378683735" sldId="262"/>
        </pc:sldMkLst>
      </pc:sldChg>
      <pc:sldChg chg="del">
        <pc:chgData name="Ueda Isamu" userId="35289799e0376f2e" providerId="LiveId" clId="{DD31E282-B62B-4911-91B6-43B1B98908F9}" dt="2026-03-25T06:59:04.296" v="3" actId="47"/>
        <pc:sldMkLst>
          <pc:docMk/>
          <pc:sldMk cId="0" sldId="265"/>
        </pc:sldMkLst>
      </pc:sldChg>
      <pc:sldChg chg="del">
        <pc:chgData name="Ueda Isamu" userId="35289799e0376f2e" providerId="LiveId" clId="{DD31E282-B62B-4911-91B6-43B1B98908F9}" dt="2026-03-25T06:59:04.296" v="3" actId="47"/>
        <pc:sldMkLst>
          <pc:docMk/>
          <pc:sldMk cId="3625493651" sldId="274"/>
        </pc:sldMkLst>
      </pc:sldChg>
      <pc:sldChg chg="del">
        <pc:chgData name="Ueda Isamu" userId="35289799e0376f2e" providerId="LiveId" clId="{DD31E282-B62B-4911-91B6-43B1B98908F9}" dt="2026-03-25T06:59:04.296" v="3" actId="47"/>
        <pc:sldMkLst>
          <pc:docMk/>
          <pc:sldMk cId="0" sldId="275"/>
        </pc:sldMkLst>
      </pc:sldChg>
      <pc:sldChg chg="del">
        <pc:chgData name="Ueda Isamu" userId="35289799e0376f2e" providerId="LiveId" clId="{DD31E282-B62B-4911-91B6-43B1B98908F9}" dt="2026-03-25T06:59:04.296" v="3" actId="47"/>
        <pc:sldMkLst>
          <pc:docMk/>
          <pc:sldMk cId="3441299124" sldId="277"/>
        </pc:sldMkLst>
      </pc:sldChg>
      <pc:sldChg chg="del">
        <pc:chgData name="Ueda Isamu" userId="35289799e0376f2e" providerId="LiveId" clId="{DD31E282-B62B-4911-91B6-43B1B98908F9}" dt="2026-03-25T06:59:04.296" v="3" actId="47"/>
        <pc:sldMkLst>
          <pc:docMk/>
          <pc:sldMk cId="0" sldId="278"/>
        </pc:sldMkLst>
      </pc:sldChg>
      <pc:sldChg chg="del">
        <pc:chgData name="Ueda Isamu" userId="35289799e0376f2e" providerId="LiveId" clId="{DD31E282-B62B-4911-91B6-43B1B98908F9}" dt="2026-03-25T06:59:04.296" v="3" actId="47"/>
        <pc:sldMkLst>
          <pc:docMk/>
          <pc:sldMk cId="494576463" sldId="279"/>
        </pc:sldMkLst>
      </pc:sldChg>
      <pc:sldChg chg="del">
        <pc:chgData name="Ueda Isamu" userId="35289799e0376f2e" providerId="LiveId" clId="{DD31E282-B62B-4911-91B6-43B1B98908F9}" dt="2026-03-25T06:59:04.296" v="3" actId="47"/>
        <pc:sldMkLst>
          <pc:docMk/>
          <pc:sldMk cId="3399571998" sldId="280"/>
        </pc:sldMkLst>
      </pc:sldChg>
      <pc:sldChg chg="del">
        <pc:chgData name="Ueda Isamu" userId="35289799e0376f2e" providerId="LiveId" clId="{DD31E282-B62B-4911-91B6-43B1B98908F9}" dt="2026-03-25T06:59:04.296" v="3" actId="47"/>
        <pc:sldMkLst>
          <pc:docMk/>
          <pc:sldMk cId="0" sldId="281"/>
        </pc:sldMkLst>
      </pc:sldChg>
      <pc:sldChg chg="del">
        <pc:chgData name="Ueda Isamu" userId="35289799e0376f2e" providerId="LiveId" clId="{DD31E282-B62B-4911-91B6-43B1B98908F9}" dt="2026-03-25T06:59:04.296" v="3" actId="47"/>
        <pc:sldMkLst>
          <pc:docMk/>
          <pc:sldMk cId="0" sldId="284"/>
        </pc:sldMkLst>
      </pc:sldChg>
      <pc:sldChg chg="del">
        <pc:chgData name="Ueda Isamu" userId="35289799e0376f2e" providerId="LiveId" clId="{DD31E282-B62B-4911-91B6-43B1B98908F9}" dt="2026-03-25T06:59:04.296" v="3" actId="47"/>
        <pc:sldMkLst>
          <pc:docMk/>
          <pc:sldMk cId="0" sldId="287"/>
        </pc:sldMkLst>
      </pc:sldChg>
      <pc:sldChg chg="del">
        <pc:chgData name="Ueda Isamu" userId="35289799e0376f2e" providerId="LiveId" clId="{DD31E282-B62B-4911-91B6-43B1B98908F9}" dt="2026-03-25T06:59:04.296" v="3" actId="47"/>
        <pc:sldMkLst>
          <pc:docMk/>
          <pc:sldMk cId="0" sldId="289"/>
        </pc:sldMkLst>
      </pc:sldChg>
      <pc:sldChg chg="del">
        <pc:chgData name="Ueda Isamu" userId="35289799e0376f2e" providerId="LiveId" clId="{DD31E282-B62B-4911-91B6-43B1B98908F9}" dt="2026-03-25T06:59:04.296" v="3" actId="47"/>
        <pc:sldMkLst>
          <pc:docMk/>
          <pc:sldMk cId="0" sldId="293"/>
        </pc:sldMkLst>
      </pc:sldChg>
      <pc:sldChg chg="del">
        <pc:chgData name="Ueda Isamu" userId="35289799e0376f2e" providerId="LiveId" clId="{DD31E282-B62B-4911-91B6-43B1B98908F9}" dt="2026-03-25T06:59:04.296" v="3" actId="47"/>
        <pc:sldMkLst>
          <pc:docMk/>
          <pc:sldMk cId="0" sldId="295"/>
        </pc:sldMkLst>
      </pc:sldChg>
      <pc:sldChg chg="modSp mod">
        <pc:chgData name="Ueda Isamu" userId="35289799e0376f2e" providerId="LiveId" clId="{DD31E282-B62B-4911-91B6-43B1B98908F9}" dt="2026-03-25T06:58:34.768" v="2" actId="1076"/>
        <pc:sldMkLst>
          <pc:docMk/>
          <pc:sldMk cId="2957507202" sldId="296"/>
        </pc:sldMkLst>
        <pc:spChg chg="mod">
          <ac:chgData name="Ueda Isamu" userId="35289799e0376f2e" providerId="LiveId" clId="{DD31E282-B62B-4911-91B6-43B1B98908F9}" dt="2026-03-25T06:58:31.441" v="1" actId="14100"/>
          <ac:spMkLst>
            <pc:docMk/>
            <pc:sldMk cId="2957507202" sldId="296"/>
            <ac:spMk id="5" creationId="{48FD9B31-404F-C67B-4627-CF7F68535426}"/>
          </ac:spMkLst>
        </pc:spChg>
        <pc:spChg chg="mod">
          <ac:chgData name="Ueda Isamu" userId="35289799e0376f2e" providerId="LiveId" clId="{DD31E282-B62B-4911-91B6-43B1B98908F9}" dt="2026-03-25T06:58:34.768" v="2" actId="1076"/>
          <ac:spMkLst>
            <pc:docMk/>
            <pc:sldMk cId="2957507202" sldId="296"/>
            <ac:spMk id="8" creationId="{D314F2E2-5DCC-2BFD-4D02-B613BAD27983}"/>
          </ac:spMkLst>
        </pc:spChg>
      </pc:sldChg>
      <pc:sldMasterChg chg="delSldLayout">
        <pc:chgData name="Ueda Isamu" userId="35289799e0376f2e" providerId="LiveId" clId="{DD31E282-B62B-4911-91B6-43B1B98908F9}" dt="2026-03-25T06:59:04.296" v="3" actId="47"/>
        <pc:sldMasterMkLst>
          <pc:docMk/>
          <pc:sldMasterMk cId="0" sldId="2147483648"/>
        </pc:sldMasterMkLst>
        <pc:sldLayoutChg chg="del">
          <pc:chgData name="Ueda Isamu" userId="35289799e0376f2e" providerId="LiveId" clId="{DD31E282-B62B-4911-91B6-43B1B98908F9}" dt="2026-03-25T06:59:04.296" v="3" actId="47"/>
          <pc:sldLayoutMkLst>
            <pc:docMk/>
            <pc:sldMasterMk cId="0" sldId="2147483648"/>
            <pc:sldLayoutMk cId="1559495707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577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13C20-53E3-828D-E75A-B93079234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CA3D3-9A90-D095-61D9-1AB516698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E5BA1-C7CB-B966-C9EA-85AC9D3C0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AEA23-9DC1-CC39-5047-7BFCB4941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5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13C20-53E3-828D-E75A-B93079234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CA3D3-9A90-D095-61D9-1AB516698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E5BA1-C7CB-B966-C9EA-85AC9D3C0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AEA23-9DC1-CC39-5047-7BFCB4941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02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B70E4-01D1-06CA-362A-BB4867CF4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9B749-530C-D528-37BA-B40D5713B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3369D-C079-A163-16D2-11E6FE482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0EC39-78DD-19B9-1DF2-F85493C41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01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EBC10-E51A-EEE8-BD48-779DCA209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53A96-2647-920C-A87A-082C6BABA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E706A-205B-9AA0-EF16-E869B26C3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62342-D3E1-E08E-9BDF-C6B977CB19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10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1FA30-87ED-A01D-F8B9-C9DC92C86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CECFA-BCE4-BF9E-F3FF-742D55913A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7A737-19C4-C9B6-CAAC-420546D5E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68CE0-0839-65ED-6B6A-31A0DBEE7E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33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86944-A176-EA87-86C6-E97C00243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375AB-245A-DD1C-32C1-07E355381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B2759-E6A5-E28C-040C-1D352B02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B305F-BD00-B6B2-14EA-A928C9AB45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67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D082-6826-ACB9-525A-60C8EF4F7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858AF-56A0-54FA-F54C-A027C711E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CFA30-57F0-4C32-A5E9-45E2C447B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0C61C-FEA6-ACFD-C977-EA609C4C14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53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2C2F8-20F8-C571-E834-184818E64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B240E-F1E0-5C6E-FAE2-1B6726296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A8623-F4E6-910F-4B10-F4DE10521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0AEAB-959D-C004-B69C-94343E658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01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2C2F8-20F8-C571-E834-184818E64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B240E-F1E0-5C6E-FAE2-1B6726296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A8623-F4E6-910F-4B10-F4DE10521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0AEAB-959D-C004-B69C-94343E658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10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17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12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24.png"/><Relationship Id="rId10" Type="http://schemas.openxmlformats.org/officeDocument/2006/relationships/image" Target="../media/image6.png"/><Relationship Id="rId4" Type="http://schemas.openxmlformats.org/officeDocument/2006/relationships/image" Target="../media/image16.png"/><Relationship Id="rId9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3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6.png"/><Relationship Id="rId10" Type="http://schemas.openxmlformats.org/officeDocument/2006/relationships/image" Target="../media/image32.png"/><Relationship Id="rId4" Type="http://schemas.openxmlformats.org/officeDocument/2006/relationships/image" Target="../media/image24.png"/><Relationship Id="rId9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8.png"/><Relationship Id="rId3" Type="http://schemas.openxmlformats.org/officeDocument/2006/relationships/image" Target="../media/image23.png"/><Relationship Id="rId7" Type="http://schemas.openxmlformats.org/officeDocument/2006/relationships/image" Target="../media/image34.png"/><Relationship Id="rId12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microsoft.com/office/2007/relationships/hdphoto" Target="../media/hdphoto1.wdp"/><Relationship Id="rId5" Type="http://schemas.openxmlformats.org/officeDocument/2006/relationships/image" Target="../media/image6.png"/><Relationship Id="rId10" Type="http://schemas.openxmlformats.org/officeDocument/2006/relationships/image" Target="../media/image26.png"/><Relationship Id="rId4" Type="http://schemas.openxmlformats.org/officeDocument/2006/relationships/image" Target="../media/image16.png"/><Relationship Id="rId9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0.png"/><Relationship Id="rId5" Type="http://schemas.openxmlformats.org/officeDocument/2006/relationships/image" Target="../media/image3.png"/><Relationship Id="rId15" Type="http://schemas.openxmlformats.org/officeDocument/2006/relationships/image" Target="../media/image43.png"/><Relationship Id="rId10" Type="http://schemas.openxmlformats.org/officeDocument/2006/relationships/image" Target="../media/image39.png"/><Relationship Id="rId4" Type="http://schemas.openxmlformats.org/officeDocument/2006/relationships/image" Target="../media/image2.png"/><Relationship Id="rId9" Type="http://schemas.openxmlformats.org/officeDocument/2006/relationships/image" Target="../media/image23.png"/><Relationship Id="rId14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47.png"/><Relationship Id="rId10" Type="http://schemas.openxmlformats.org/officeDocument/2006/relationships/image" Target="../media/image40.png"/><Relationship Id="rId4" Type="http://schemas.openxmlformats.org/officeDocument/2006/relationships/image" Target="../media/image2.png"/><Relationship Id="rId9" Type="http://schemas.openxmlformats.org/officeDocument/2006/relationships/image" Target="../media/image23.png"/><Relationship Id="rId14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3.png"/><Relationship Id="rId7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1.png"/><Relationship Id="rId21" Type="http://schemas.microsoft.com/office/2007/relationships/hdphoto" Target="../media/hdphoto2.wdp"/><Relationship Id="rId7" Type="http://schemas.openxmlformats.org/officeDocument/2006/relationships/image" Target="../media/image8.png"/><Relationship Id="rId12" Type="http://schemas.openxmlformats.org/officeDocument/2006/relationships/image" Target="../media/image4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54.png"/><Relationship Id="rId5" Type="http://schemas.openxmlformats.org/officeDocument/2006/relationships/image" Target="../media/image3.png"/><Relationship Id="rId15" Type="http://schemas.openxmlformats.org/officeDocument/2006/relationships/image" Target="../media/image57.png"/><Relationship Id="rId10" Type="http://schemas.openxmlformats.org/officeDocument/2006/relationships/image" Target="../media/image23.png"/><Relationship Id="rId19" Type="http://schemas.openxmlformats.org/officeDocument/2006/relationships/image" Target="../media/image61.png"/><Relationship Id="rId4" Type="http://schemas.openxmlformats.org/officeDocument/2006/relationships/image" Target="../media/image2.png"/><Relationship Id="rId9" Type="http://schemas.openxmlformats.org/officeDocument/2006/relationships/image" Target="../media/image20.png"/><Relationship Id="rId14" Type="http://schemas.openxmlformats.org/officeDocument/2006/relationships/image" Target="../media/image5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1.png"/><Relationship Id="rId21" Type="http://schemas.openxmlformats.org/officeDocument/2006/relationships/image" Target="../media/image6.png"/><Relationship Id="rId7" Type="http://schemas.openxmlformats.org/officeDocument/2006/relationships/image" Target="../media/image23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39.png"/><Relationship Id="rId5" Type="http://schemas.openxmlformats.org/officeDocument/2006/relationships/image" Target="../media/image3.png"/><Relationship Id="rId15" Type="http://schemas.openxmlformats.org/officeDocument/2006/relationships/image" Target="../media/image68.png"/><Relationship Id="rId10" Type="http://schemas.openxmlformats.org/officeDocument/2006/relationships/image" Target="../media/image64.png"/><Relationship Id="rId19" Type="http://schemas.openxmlformats.org/officeDocument/2006/relationships/image" Target="../media/image72.png"/><Relationship Id="rId4" Type="http://schemas.openxmlformats.org/officeDocument/2006/relationships/image" Target="../media/image2.png"/><Relationship Id="rId9" Type="http://schemas.openxmlformats.org/officeDocument/2006/relationships/image" Target="../media/image63.png"/><Relationship Id="rId14" Type="http://schemas.openxmlformats.org/officeDocument/2006/relationships/image" Target="../media/image6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79.png"/><Relationship Id="rId18" Type="http://schemas.openxmlformats.org/officeDocument/2006/relationships/image" Target="../media/image83.png"/><Relationship Id="rId3" Type="http://schemas.openxmlformats.org/officeDocument/2006/relationships/image" Target="../media/image66.png"/><Relationship Id="rId21" Type="http://schemas.openxmlformats.org/officeDocument/2006/relationships/image" Target="../media/image70.png"/><Relationship Id="rId7" Type="http://schemas.openxmlformats.org/officeDocument/2006/relationships/image" Target="../media/image63.png"/><Relationship Id="rId12" Type="http://schemas.openxmlformats.org/officeDocument/2006/relationships/image" Target="../media/image78.png"/><Relationship Id="rId17" Type="http://schemas.openxmlformats.org/officeDocument/2006/relationships/image" Target="../media/image8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9.png"/><Relationship Id="rId20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64.png"/><Relationship Id="rId5" Type="http://schemas.openxmlformats.org/officeDocument/2006/relationships/image" Target="../media/image68.png"/><Relationship Id="rId15" Type="http://schemas.openxmlformats.org/officeDocument/2006/relationships/image" Target="../media/image81.png"/><Relationship Id="rId10" Type="http://schemas.openxmlformats.org/officeDocument/2006/relationships/image" Target="../media/image77.png"/><Relationship Id="rId19" Type="http://schemas.openxmlformats.org/officeDocument/2006/relationships/image" Target="../media/image84.png"/><Relationship Id="rId4" Type="http://schemas.openxmlformats.org/officeDocument/2006/relationships/image" Target="../media/image67.png"/><Relationship Id="rId9" Type="http://schemas.openxmlformats.org/officeDocument/2006/relationships/image" Target="../media/image76.png"/><Relationship Id="rId14" Type="http://schemas.openxmlformats.org/officeDocument/2006/relationships/image" Target="../media/image80.png"/><Relationship Id="rId22" Type="http://schemas.openxmlformats.org/officeDocument/2006/relationships/image" Target="../media/image7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1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4" Type="http://schemas.openxmlformats.org/officeDocument/2006/relationships/image" Target="../media/image23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5.png"/><Relationship Id="rId3" Type="http://schemas.openxmlformats.org/officeDocument/2006/relationships/image" Target="../media/image1.png"/><Relationship Id="rId7" Type="http://schemas.openxmlformats.org/officeDocument/2006/relationships/image" Target="../media/image100.png"/><Relationship Id="rId12" Type="http://schemas.openxmlformats.org/officeDocument/2006/relationships/image" Target="../media/image10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8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23.png"/><Relationship Id="rId9" Type="http://schemas.openxmlformats.org/officeDocument/2006/relationships/image" Target="../media/image10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5.png"/><Relationship Id="rId3" Type="http://schemas.openxmlformats.org/officeDocument/2006/relationships/image" Target="../media/image1.png"/><Relationship Id="rId7" Type="http://schemas.openxmlformats.org/officeDocument/2006/relationships/image" Target="../media/image100.png"/><Relationship Id="rId12" Type="http://schemas.openxmlformats.org/officeDocument/2006/relationships/image" Target="../media/image10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8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23.png"/><Relationship Id="rId9" Type="http://schemas.openxmlformats.org/officeDocument/2006/relationships/image" Target="../media/image10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18" Type="http://schemas.openxmlformats.org/officeDocument/2006/relationships/image" Target="../media/image49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17" Type="http://schemas.microsoft.com/office/2007/relationships/hdphoto" Target="../media/hdphoto1.wdp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19" Type="http://schemas.openxmlformats.org/officeDocument/2006/relationships/image" Target="../media/image59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96.png"/><Relationship Id="rId3" Type="http://schemas.openxmlformats.org/officeDocument/2006/relationships/image" Target="../media/image23.png"/><Relationship Id="rId7" Type="http://schemas.openxmlformats.org/officeDocument/2006/relationships/image" Target="../media/image123.png"/><Relationship Id="rId12" Type="http://schemas.openxmlformats.org/officeDocument/2006/relationships/image" Target="../media/image9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5" Type="http://schemas.openxmlformats.org/officeDocument/2006/relationships/image" Target="../media/image129.png"/><Relationship Id="rId10" Type="http://schemas.openxmlformats.org/officeDocument/2006/relationships/image" Target="../media/image126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Relationship Id="rId14" Type="http://schemas.openxmlformats.org/officeDocument/2006/relationships/image" Target="../media/image1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40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39.png"/><Relationship Id="rId17" Type="http://schemas.openxmlformats.org/officeDocument/2006/relationships/image" Target="../media/image14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5" Type="http://schemas.openxmlformats.org/officeDocument/2006/relationships/image" Target="../media/image132.png"/><Relationship Id="rId15" Type="http://schemas.openxmlformats.org/officeDocument/2006/relationships/image" Target="../media/image23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Relationship Id="rId14" Type="http://schemas.openxmlformats.org/officeDocument/2006/relationships/image" Target="../media/image14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4.png"/><Relationship Id="rId18" Type="http://schemas.openxmlformats.org/officeDocument/2006/relationships/image" Target="../media/image137.png"/><Relationship Id="rId26" Type="http://schemas.openxmlformats.org/officeDocument/2006/relationships/image" Target="../media/image142.png"/><Relationship Id="rId3" Type="http://schemas.openxmlformats.org/officeDocument/2006/relationships/image" Target="../media/image144.png"/><Relationship Id="rId21" Type="http://schemas.openxmlformats.org/officeDocument/2006/relationships/image" Target="../media/image159.png"/><Relationship Id="rId7" Type="http://schemas.openxmlformats.org/officeDocument/2006/relationships/image" Target="../media/image148.png"/><Relationship Id="rId12" Type="http://schemas.openxmlformats.org/officeDocument/2006/relationships/image" Target="../media/image153.png"/><Relationship Id="rId17" Type="http://schemas.openxmlformats.org/officeDocument/2006/relationships/image" Target="../media/image136.png"/><Relationship Id="rId25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35.png"/><Relationship Id="rId20" Type="http://schemas.openxmlformats.org/officeDocument/2006/relationships/image" Target="../media/image1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11" Type="http://schemas.openxmlformats.org/officeDocument/2006/relationships/image" Target="../media/image152.png"/><Relationship Id="rId24" Type="http://schemas.openxmlformats.org/officeDocument/2006/relationships/image" Target="../media/image23.png"/><Relationship Id="rId5" Type="http://schemas.openxmlformats.org/officeDocument/2006/relationships/image" Target="../media/image146.png"/><Relationship Id="rId15" Type="http://schemas.openxmlformats.org/officeDocument/2006/relationships/image" Target="../media/image156.png"/><Relationship Id="rId23" Type="http://schemas.openxmlformats.org/officeDocument/2006/relationships/image" Target="../media/image161.png"/><Relationship Id="rId28" Type="http://schemas.openxmlformats.org/officeDocument/2006/relationships/image" Target="../media/image163.png"/><Relationship Id="rId10" Type="http://schemas.openxmlformats.org/officeDocument/2006/relationships/image" Target="../media/image151.png"/><Relationship Id="rId19" Type="http://schemas.openxmlformats.org/officeDocument/2006/relationships/image" Target="../media/image157.png"/><Relationship Id="rId4" Type="http://schemas.openxmlformats.org/officeDocument/2006/relationships/image" Target="../media/image145.png"/><Relationship Id="rId9" Type="http://schemas.openxmlformats.org/officeDocument/2006/relationships/image" Target="../media/image150.png"/><Relationship Id="rId14" Type="http://schemas.openxmlformats.org/officeDocument/2006/relationships/image" Target="../media/image155.png"/><Relationship Id="rId22" Type="http://schemas.openxmlformats.org/officeDocument/2006/relationships/image" Target="../media/image160.png"/><Relationship Id="rId27" Type="http://schemas.openxmlformats.org/officeDocument/2006/relationships/image" Target="../media/image16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23.png"/><Relationship Id="rId18" Type="http://schemas.openxmlformats.org/officeDocument/2006/relationships/image" Target="../media/image178.png"/><Relationship Id="rId3" Type="http://schemas.openxmlformats.org/officeDocument/2006/relationships/image" Target="../media/image164.png"/><Relationship Id="rId21" Type="http://schemas.openxmlformats.org/officeDocument/2006/relationships/image" Target="../media/image180.png"/><Relationship Id="rId7" Type="http://schemas.openxmlformats.org/officeDocument/2006/relationships/image" Target="../media/image168.png"/><Relationship Id="rId12" Type="http://schemas.openxmlformats.org/officeDocument/2006/relationships/image" Target="../media/image173.png"/><Relationship Id="rId17" Type="http://schemas.openxmlformats.org/officeDocument/2006/relationships/image" Target="../media/image177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76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7.png"/><Relationship Id="rId11" Type="http://schemas.openxmlformats.org/officeDocument/2006/relationships/image" Target="../media/image172.png"/><Relationship Id="rId5" Type="http://schemas.openxmlformats.org/officeDocument/2006/relationships/image" Target="../media/image166.png"/><Relationship Id="rId15" Type="http://schemas.openxmlformats.org/officeDocument/2006/relationships/image" Target="../media/image175.png"/><Relationship Id="rId10" Type="http://schemas.openxmlformats.org/officeDocument/2006/relationships/image" Target="../media/image171.png"/><Relationship Id="rId19" Type="http://schemas.openxmlformats.org/officeDocument/2006/relationships/image" Target="../media/image179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Relationship Id="rId14" Type="http://schemas.openxmlformats.org/officeDocument/2006/relationships/image" Target="../media/image174.png"/><Relationship Id="rId22" Type="http://schemas.openxmlformats.org/officeDocument/2006/relationships/image" Target="../media/image16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13" Type="http://schemas.openxmlformats.org/officeDocument/2006/relationships/image" Target="../media/image191.png"/><Relationship Id="rId18" Type="http://schemas.openxmlformats.org/officeDocument/2006/relationships/image" Target="../media/image196.png"/><Relationship Id="rId3" Type="http://schemas.openxmlformats.org/officeDocument/2006/relationships/image" Target="../media/image181.png"/><Relationship Id="rId21" Type="http://schemas.openxmlformats.org/officeDocument/2006/relationships/image" Target="../media/image23.png"/><Relationship Id="rId7" Type="http://schemas.openxmlformats.org/officeDocument/2006/relationships/image" Target="../media/image185.png"/><Relationship Id="rId12" Type="http://schemas.openxmlformats.org/officeDocument/2006/relationships/image" Target="../media/image190.png"/><Relationship Id="rId17" Type="http://schemas.openxmlformats.org/officeDocument/2006/relationships/image" Target="../media/image195.png"/><Relationship Id="rId25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94.png"/><Relationship Id="rId20" Type="http://schemas.openxmlformats.org/officeDocument/2006/relationships/image" Target="../media/image1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4.png"/><Relationship Id="rId11" Type="http://schemas.openxmlformats.org/officeDocument/2006/relationships/image" Target="../media/image189.png"/><Relationship Id="rId24" Type="http://schemas.openxmlformats.org/officeDocument/2006/relationships/image" Target="../media/image142.png"/><Relationship Id="rId5" Type="http://schemas.openxmlformats.org/officeDocument/2006/relationships/image" Target="../media/image183.png"/><Relationship Id="rId15" Type="http://schemas.openxmlformats.org/officeDocument/2006/relationships/image" Target="../media/image193.png"/><Relationship Id="rId23" Type="http://schemas.openxmlformats.org/officeDocument/2006/relationships/image" Target="../media/image179.png"/><Relationship Id="rId10" Type="http://schemas.openxmlformats.org/officeDocument/2006/relationships/image" Target="../media/image188.png"/><Relationship Id="rId19" Type="http://schemas.openxmlformats.org/officeDocument/2006/relationships/image" Target="../media/image197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Relationship Id="rId14" Type="http://schemas.openxmlformats.org/officeDocument/2006/relationships/image" Target="../media/image192.png"/><Relationship Id="rId22" Type="http://schemas.openxmlformats.org/officeDocument/2006/relationships/image" Target="../media/image19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09.png"/><Relationship Id="rId18" Type="http://schemas.openxmlformats.org/officeDocument/2006/relationships/image" Target="../media/image214.png"/><Relationship Id="rId26" Type="http://schemas.openxmlformats.org/officeDocument/2006/relationships/image" Target="../media/image221.png"/><Relationship Id="rId3" Type="http://schemas.openxmlformats.org/officeDocument/2006/relationships/image" Target="../media/image200.png"/><Relationship Id="rId21" Type="http://schemas.openxmlformats.org/officeDocument/2006/relationships/image" Target="../media/image217.png"/><Relationship Id="rId7" Type="http://schemas.openxmlformats.org/officeDocument/2006/relationships/image" Target="../media/image203.png"/><Relationship Id="rId12" Type="http://schemas.openxmlformats.org/officeDocument/2006/relationships/image" Target="../media/image208.png"/><Relationship Id="rId17" Type="http://schemas.openxmlformats.org/officeDocument/2006/relationships/image" Target="../media/image213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12.png"/><Relationship Id="rId20" Type="http://schemas.openxmlformats.org/officeDocument/2006/relationships/image" Target="../media/image216.png"/><Relationship Id="rId29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9.png"/><Relationship Id="rId11" Type="http://schemas.openxmlformats.org/officeDocument/2006/relationships/image" Target="../media/image207.png"/><Relationship Id="rId24" Type="http://schemas.openxmlformats.org/officeDocument/2006/relationships/image" Target="../media/image220.png"/><Relationship Id="rId5" Type="http://schemas.openxmlformats.org/officeDocument/2006/relationships/image" Target="../media/image202.png"/><Relationship Id="rId15" Type="http://schemas.openxmlformats.org/officeDocument/2006/relationships/image" Target="../media/image211.png"/><Relationship Id="rId23" Type="http://schemas.openxmlformats.org/officeDocument/2006/relationships/image" Target="../media/image219.png"/><Relationship Id="rId28" Type="http://schemas.openxmlformats.org/officeDocument/2006/relationships/image" Target="../media/image223.png"/><Relationship Id="rId10" Type="http://schemas.openxmlformats.org/officeDocument/2006/relationships/image" Target="../media/image206.png"/><Relationship Id="rId19" Type="http://schemas.openxmlformats.org/officeDocument/2006/relationships/image" Target="../media/image215.png"/><Relationship Id="rId4" Type="http://schemas.openxmlformats.org/officeDocument/2006/relationships/image" Target="../media/image201.png"/><Relationship Id="rId9" Type="http://schemas.openxmlformats.org/officeDocument/2006/relationships/image" Target="../media/image205.png"/><Relationship Id="rId14" Type="http://schemas.openxmlformats.org/officeDocument/2006/relationships/image" Target="../media/image210.png"/><Relationship Id="rId22" Type="http://schemas.openxmlformats.org/officeDocument/2006/relationships/image" Target="../media/image218.png"/><Relationship Id="rId27" Type="http://schemas.openxmlformats.org/officeDocument/2006/relationships/image" Target="../media/image22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13" Type="http://schemas.openxmlformats.org/officeDocument/2006/relationships/image" Target="../media/image233.png"/><Relationship Id="rId18" Type="http://schemas.openxmlformats.org/officeDocument/2006/relationships/image" Target="../media/image237.png"/><Relationship Id="rId3" Type="http://schemas.openxmlformats.org/officeDocument/2006/relationships/image" Target="../media/image224.png"/><Relationship Id="rId7" Type="http://schemas.openxmlformats.org/officeDocument/2006/relationships/image" Target="../media/image228.png"/><Relationship Id="rId12" Type="http://schemas.openxmlformats.org/officeDocument/2006/relationships/image" Target="../media/image232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7.png"/><Relationship Id="rId11" Type="http://schemas.openxmlformats.org/officeDocument/2006/relationships/image" Target="../media/image219.png"/><Relationship Id="rId5" Type="http://schemas.openxmlformats.org/officeDocument/2006/relationships/image" Target="../media/image226.png"/><Relationship Id="rId15" Type="http://schemas.openxmlformats.org/officeDocument/2006/relationships/image" Target="../media/image235.png"/><Relationship Id="rId10" Type="http://schemas.openxmlformats.org/officeDocument/2006/relationships/image" Target="../media/image231.png"/><Relationship Id="rId19" Type="http://schemas.openxmlformats.org/officeDocument/2006/relationships/image" Target="../media/image221.png"/><Relationship Id="rId4" Type="http://schemas.openxmlformats.org/officeDocument/2006/relationships/image" Target="../media/image225.png"/><Relationship Id="rId9" Type="http://schemas.openxmlformats.org/officeDocument/2006/relationships/image" Target="../media/image230.png"/><Relationship Id="rId14" Type="http://schemas.openxmlformats.org/officeDocument/2006/relationships/image" Target="../media/image2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25">
            <a:extLst>
              <a:ext uri="{FF2B5EF4-FFF2-40B4-BE49-F238E27FC236}">
                <a16:creationId xmlns:a16="http://schemas.microsoft.com/office/drawing/2014/main" id="{22AADCF0-5B22-D2A1-2857-CDBA4A9A455D}"/>
              </a:ext>
            </a:extLst>
          </p:cNvPr>
          <p:cNvSpPr/>
          <p:nvPr/>
        </p:nvSpPr>
        <p:spPr>
          <a:xfrm>
            <a:off x="362331" y="2432073"/>
            <a:ext cx="11598351" cy="1460277"/>
          </a:xfrm>
          <a:prstGeom prst="roundRect">
            <a:avLst>
              <a:gd name="adj" fmla="val 1175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1"/>
          <p:cNvSpPr/>
          <p:nvPr/>
        </p:nvSpPr>
        <p:spPr>
          <a:xfrm>
            <a:off x="6858" y="-69952"/>
            <a:ext cx="12191695" cy="76169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/>
          <p:cNvSpPr/>
          <p:nvPr/>
        </p:nvSpPr>
        <p:spPr>
          <a:xfrm>
            <a:off x="188332" y="78173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/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Vol.12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826709" y="148227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PowerAutomate:結合(JOIN)で配列を</a:t>
            </a:r>
            <a:r>
              <a:rPr lang="en-US" sz="2700" b="1" kern="0" spc="68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1本の文字列にまとめる</a:t>
            </a:r>
            <a:endParaRPr lang="en-US" sz="2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2978" y="838683"/>
            <a:ext cx="11430000" cy="91440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t="-31" b="-31"/>
          <a:stretch/>
        </p:blipFill>
        <p:spPr>
          <a:xfrm>
            <a:off x="541578" y="1048995"/>
            <a:ext cx="342900" cy="49560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rcRect t="-16423" b="-16423"/>
          <a:stretch/>
        </p:blipFill>
        <p:spPr>
          <a:xfrm>
            <a:off x="626617" y="1134034"/>
            <a:ext cx="171907" cy="304495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14317" y="909427"/>
            <a:ext cx="69723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結合（</a:t>
            </a:r>
            <a:r>
              <a:rPr lang="en-US" altLang="ja-JP" sz="28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JOIN</a:t>
            </a:r>
            <a:r>
              <a:rPr lang="ja-JP" altLang="en-US" sz="28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）アクションの役割</a:t>
            </a:r>
            <a:endParaRPr lang="en-US" sz="2800" dirty="0"/>
          </a:p>
        </p:txBody>
      </p:sp>
      <p:sp>
        <p:nvSpPr>
          <p:cNvPr id="13" name="Text 6"/>
          <p:cNvSpPr txBox="1"/>
          <p:nvPr/>
        </p:nvSpPr>
        <p:spPr>
          <a:xfrm>
            <a:off x="1310261" y="1309141"/>
            <a:ext cx="102632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複数の箱（</a:t>
            </a: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配列）        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</a:t>
            </a:r>
            <a:r>
              <a:rPr lang="en-US" sz="2000" b="1" u="sng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ひと続きの文字列</a:t>
            </a: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に構造を変化させる </a:t>
            </a:r>
            <a:endParaRPr lang="en-US" sz="20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3748347" y="1196413"/>
            <a:ext cx="465039" cy="530865"/>
          </a:xfrm>
          <a:prstGeom prst="rect">
            <a:avLst/>
          </a:prstGeom>
          <a:ln>
            <a:noFill/>
          </a:ln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/>
          <a:srcRect l="-5" r="-5"/>
          <a:stretch/>
        </p:blipFill>
        <p:spPr>
          <a:xfrm>
            <a:off x="394004" y="1989207"/>
            <a:ext cx="2970811" cy="1966612"/>
          </a:xfrm>
          <a:prstGeom prst="rect">
            <a:avLst/>
          </a:prstGeom>
        </p:spPr>
      </p:pic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3714677" y="2511163"/>
            <a:ext cx="520848" cy="1040033"/>
          </a:xfrm>
          <a:prstGeom prst="rect">
            <a:avLst/>
          </a:prstGeom>
        </p:spPr>
      </p:pic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9"/>
          <a:srcRect l="-17" r="-17"/>
          <a:stretch/>
        </p:blipFill>
        <p:spPr>
          <a:xfrm>
            <a:off x="419371" y="4118686"/>
            <a:ext cx="3657600" cy="1329736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1075792" y="4262933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改行コードの罠 </a:t>
            </a:r>
            <a:endParaRPr lang="en-US" sz="2000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552298" y="4156644"/>
            <a:ext cx="407636" cy="362103"/>
          </a:xfrm>
          <a:prstGeom prst="rect">
            <a:avLst/>
          </a:prstGeom>
        </p:spPr>
      </p:pic>
      <p:sp>
        <p:nvSpPr>
          <p:cNvPr id="38" name="Text 20"/>
          <p:cNvSpPr txBox="1"/>
          <p:nvPr/>
        </p:nvSpPr>
        <p:spPr>
          <a:xfrm>
            <a:off x="543155" y="4633362"/>
            <a:ext cx="3431946" cy="70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区切り文字に「\n</a:t>
            </a:r>
            <a:r>
              <a:rPr lang="en-US" sz="16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」と書いても</a:t>
            </a:r>
          </a:p>
          <a:p>
            <a:pPr marL="0" indent="0" algn="l">
              <a:buNone/>
            </a:pPr>
            <a:r>
              <a:rPr lang="en-US" sz="16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文字として扱われる</a:t>
            </a: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実際の </a:t>
            </a:r>
            <a:r>
              <a:rPr lang="en-US" sz="1600" b="1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Enter キー</a:t>
            </a:r>
            <a:r>
              <a:rPr lang="en-US" sz="16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で改行を入力する </a:t>
            </a:r>
            <a:endParaRPr lang="en-US" sz="1600" dirty="0"/>
          </a:p>
        </p:txBody>
      </p:sp>
      <p:pic>
        <p:nvPicPr>
          <p:cNvPr id="39" name="Image 16" descr="preencoded.png"/>
          <p:cNvPicPr>
            <a:picLocks noChangeAspect="1"/>
          </p:cNvPicPr>
          <p:nvPr/>
        </p:nvPicPr>
        <p:blipFill>
          <a:blip r:embed="rId9"/>
          <a:srcRect l="-17" r="-17"/>
          <a:stretch/>
        </p:blipFill>
        <p:spPr>
          <a:xfrm>
            <a:off x="4264356" y="4164937"/>
            <a:ext cx="3885692" cy="1305594"/>
          </a:xfrm>
          <a:prstGeom prst="rect">
            <a:avLst/>
          </a:prstGeom>
        </p:spPr>
      </p:pic>
      <p:sp>
        <p:nvSpPr>
          <p:cNvPr id="40" name="Text 21"/>
          <p:cNvSpPr txBox="1"/>
          <p:nvPr/>
        </p:nvSpPr>
        <p:spPr>
          <a:xfrm>
            <a:off x="5085310" y="4268591"/>
            <a:ext cx="3258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オブジェクトはNG </a:t>
            </a:r>
            <a:endParaRPr lang="en-US" sz="2000" dirty="0"/>
          </a:p>
        </p:txBody>
      </p:sp>
      <p:pic>
        <p:nvPicPr>
          <p:cNvPr id="41" name="Image 17" descr="preencoded.png"/>
          <p:cNvPicPr>
            <a:picLocks noChangeAspect="1"/>
          </p:cNvPicPr>
          <p:nvPr/>
        </p:nvPicPr>
        <p:blipFill>
          <a:blip r:embed="rId11"/>
          <a:srcRect l="-33" r="-33"/>
          <a:stretch/>
        </p:blipFill>
        <p:spPr>
          <a:xfrm>
            <a:off x="4496105" y="4176744"/>
            <a:ext cx="407636" cy="362103"/>
          </a:xfrm>
          <a:prstGeom prst="rect">
            <a:avLst/>
          </a:prstGeom>
        </p:spPr>
      </p:pic>
      <p:sp>
        <p:nvSpPr>
          <p:cNvPr id="42" name="Text 22"/>
          <p:cNvSpPr txBox="1"/>
          <p:nvPr/>
        </p:nvSpPr>
        <p:spPr>
          <a:xfrm>
            <a:off x="4343061" y="4654319"/>
            <a:ext cx="3734409" cy="730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オブジェクト配列は直接結合できない。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先に</a:t>
            </a:r>
            <a:r>
              <a:rPr lang="en-US" sz="1600" b="1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「選択（Select</a:t>
            </a:r>
            <a:r>
              <a:rPr lang="en-US" sz="1600" b="1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）」</a:t>
            </a:r>
            <a:r>
              <a:rPr lang="en-US" sz="16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</a:p>
          <a:p>
            <a:pPr marL="0" indent="0" algn="l">
              <a:buNone/>
            </a:pPr>
            <a:r>
              <a:rPr lang="en-US" sz="16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単純な配列に変換が必要</a:t>
            </a: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 </a:t>
            </a:r>
            <a:endParaRPr lang="en-US" sz="1600" dirty="0"/>
          </a:p>
        </p:txBody>
      </p:sp>
      <p:pic>
        <p:nvPicPr>
          <p:cNvPr id="43" name="Image 18" descr="preencoded.png"/>
          <p:cNvPicPr>
            <a:picLocks noChangeAspect="1"/>
          </p:cNvPicPr>
          <p:nvPr/>
        </p:nvPicPr>
        <p:blipFill>
          <a:blip r:embed="rId9"/>
          <a:srcRect l="-17" r="-17"/>
          <a:stretch/>
        </p:blipFill>
        <p:spPr>
          <a:xfrm>
            <a:off x="8459113" y="4129087"/>
            <a:ext cx="3576625" cy="1334528"/>
          </a:xfrm>
          <a:prstGeom prst="rect">
            <a:avLst/>
          </a:prstGeom>
        </p:spPr>
      </p:pic>
      <p:sp>
        <p:nvSpPr>
          <p:cNvPr id="44" name="Text 23"/>
          <p:cNvSpPr txBox="1"/>
          <p:nvPr/>
        </p:nvSpPr>
        <p:spPr>
          <a:xfrm>
            <a:off x="9366985" y="4199728"/>
            <a:ext cx="1538173" cy="309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型が変わる </a:t>
            </a:r>
            <a:endParaRPr lang="en-US" sz="2000" dirty="0"/>
          </a:p>
        </p:txBody>
      </p:sp>
      <p:pic>
        <p:nvPicPr>
          <p:cNvPr id="45" name="Image 1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798976" y="4178829"/>
            <a:ext cx="339918" cy="339918"/>
          </a:xfrm>
          <a:prstGeom prst="rect">
            <a:avLst/>
          </a:prstGeom>
        </p:spPr>
      </p:pic>
      <p:sp>
        <p:nvSpPr>
          <p:cNvPr id="46" name="Text 24"/>
          <p:cNvSpPr txBox="1"/>
          <p:nvPr/>
        </p:nvSpPr>
        <p:spPr>
          <a:xfrm>
            <a:off x="8644229" y="4519768"/>
            <a:ext cx="3391510" cy="950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出力は「配列</a:t>
            </a:r>
            <a:r>
              <a:rPr lang="en-US" sz="16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」ではなく</a:t>
            </a:r>
          </a:p>
          <a:p>
            <a:pPr marL="0" indent="0" algn="l">
              <a:buNone/>
            </a:pPr>
            <a:r>
              <a:rPr lang="en-US" sz="1600" b="1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lang="en-US" sz="1600" b="1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文字列」</a:t>
            </a: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になる。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後続処理での扱いに注意！ </a:t>
            </a:r>
            <a:endParaRPr lang="en-US" sz="1600" dirty="0"/>
          </a:p>
        </p:txBody>
      </p:sp>
      <p:sp>
        <p:nvSpPr>
          <p:cNvPr id="47" name="Shape 25"/>
          <p:cNvSpPr/>
          <p:nvPr/>
        </p:nvSpPr>
        <p:spPr>
          <a:xfrm>
            <a:off x="390448" y="5568525"/>
            <a:ext cx="11598351" cy="1161069"/>
          </a:xfrm>
          <a:prstGeom prst="roundRect">
            <a:avLst>
              <a:gd name="adj" fmla="val 11758"/>
            </a:avLst>
          </a:prstGeom>
          <a:solidFill>
            <a:srgbClr val="F9FAFB"/>
          </a:solidFill>
          <a:ln w="12700">
            <a:solidFill>
              <a:srgbClr val="E5E7EB">
                <a:alpha val="99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26"/>
          <p:cNvSpPr txBox="1"/>
          <p:nvPr/>
        </p:nvSpPr>
        <p:spPr>
          <a:xfrm>
            <a:off x="520851" y="5688183"/>
            <a:ext cx="9091455" cy="327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これで解決！（</a:t>
            </a: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Benefits）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～こんな時に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Join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（結合アクション）が使えます！</a:t>
            </a:r>
            <a:endParaRPr lang="en-US" sz="2000" dirty="0"/>
          </a:p>
        </p:txBody>
      </p:sp>
      <p:pic>
        <p:nvPicPr>
          <p:cNvPr id="49" name="Image 20" descr="preencoded.png"/>
          <p:cNvPicPr>
            <a:picLocks noChangeAspect="1"/>
          </p:cNvPicPr>
          <p:nvPr/>
        </p:nvPicPr>
        <p:blipFill>
          <a:blip r:embed="rId13"/>
          <a:srcRect t="-30" b="-30"/>
          <a:stretch/>
        </p:blipFill>
        <p:spPr>
          <a:xfrm>
            <a:off x="543155" y="6080371"/>
            <a:ext cx="3145012" cy="495740"/>
          </a:xfrm>
          <a:prstGeom prst="rect">
            <a:avLst/>
          </a:prstGeom>
        </p:spPr>
      </p:pic>
      <p:sp>
        <p:nvSpPr>
          <p:cNvPr id="50" name="Shape 27"/>
          <p:cNvSpPr/>
          <p:nvPr/>
        </p:nvSpPr>
        <p:spPr>
          <a:xfrm>
            <a:off x="666598" y="6177646"/>
            <a:ext cx="304495" cy="300471"/>
          </a:xfrm>
          <a:prstGeom prst="roundRect">
            <a:avLst>
              <a:gd name="adj" fmla="val 300300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pic>
        <p:nvPicPr>
          <p:cNvPr id="51" name="Image 2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47091" y="6226365"/>
            <a:ext cx="332385" cy="261920"/>
          </a:xfrm>
          <a:prstGeom prst="rect">
            <a:avLst/>
          </a:prstGeom>
        </p:spPr>
      </p:pic>
      <p:sp>
        <p:nvSpPr>
          <p:cNvPr id="52" name="Text 28"/>
          <p:cNvSpPr txBox="1"/>
          <p:nvPr/>
        </p:nvSpPr>
        <p:spPr>
          <a:xfrm>
            <a:off x="1086307" y="6252583"/>
            <a:ext cx="2403958" cy="225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メール本文の整形</a:t>
            </a:r>
            <a:endParaRPr lang="en-US" sz="2000" dirty="0"/>
          </a:p>
        </p:txBody>
      </p:sp>
      <p:pic>
        <p:nvPicPr>
          <p:cNvPr id="53" name="Image 22" descr="preencoded.png"/>
          <p:cNvPicPr>
            <a:picLocks noChangeAspect="1"/>
          </p:cNvPicPr>
          <p:nvPr/>
        </p:nvPicPr>
        <p:blipFill>
          <a:blip r:embed="rId13"/>
          <a:srcRect t="-30" b="-30"/>
          <a:stretch/>
        </p:blipFill>
        <p:spPr>
          <a:xfrm>
            <a:off x="3879801" y="6080371"/>
            <a:ext cx="4016958" cy="495740"/>
          </a:xfrm>
          <a:prstGeom prst="rect">
            <a:avLst/>
          </a:prstGeom>
        </p:spPr>
      </p:pic>
      <p:sp>
        <p:nvSpPr>
          <p:cNvPr id="54" name="Shape 29"/>
          <p:cNvSpPr/>
          <p:nvPr/>
        </p:nvSpPr>
        <p:spPr>
          <a:xfrm>
            <a:off x="3954321" y="6190487"/>
            <a:ext cx="304495" cy="300471"/>
          </a:xfrm>
          <a:prstGeom prst="roundRect">
            <a:avLst>
              <a:gd name="adj" fmla="val 300300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pic>
        <p:nvPicPr>
          <p:cNvPr id="55" name="Image 2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3948855" y="6193137"/>
            <a:ext cx="362102" cy="285337"/>
          </a:xfrm>
          <a:prstGeom prst="rect">
            <a:avLst/>
          </a:prstGeom>
        </p:spPr>
      </p:pic>
      <p:sp>
        <p:nvSpPr>
          <p:cNvPr id="56" name="Text 30"/>
          <p:cNvSpPr txBox="1"/>
          <p:nvPr/>
        </p:nvSpPr>
        <p:spPr>
          <a:xfrm>
            <a:off x="4544359" y="6260507"/>
            <a:ext cx="3171139" cy="150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SP複数選択列を自然に表示</a:t>
            </a:r>
            <a:endParaRPr lang="en-US" sz="2000" dirty="0"/>
          </a:p>
        </p:txBody>
      </p:sp>
      <p:pic>
        <p:nvPicPr>
          <p:cNvPr id="57" name="Image 24" descr="preencoded.png"/>
          <p:cNvPicPr>
            <a:picLocks noChangeAspect="1"/>
          </p:cNvPicPr>
          <p:nvPr/>
        </p:nvPicPr>
        <p:blipFill>
          <a:blip r:embed="rId13"/>
          <a:srcRect t="-30" b="-30"/>
          <a:stretch/>
        </p:blipFill>
        <p:spPr>
          <a:xfrm>
            <a:off x="8048549" y="6080371"/>
            <a:ext cx="3753002" cy="495740"/>
          </a:xfrm>
          <a:prstGeom prst="rect">
            <a:avLst/>
          </a:prstGeom>
        </p:spPr>
      </p:pic>
      <p:sp>
        <p:nvSpPr>
          <p:cNvPr id="58" name="Shape 31"/>
          <p:cNvSpPr/>
          <p:nvPr/>
        </p:nvSpPr>
        <p:spPr>
          <a:xfrm>
            <a:off x="8172907" y="6177646"/>
            <a:ext cx="286207" cy="300471"/>
          </a:xfrm>
          <a:prstGeom prst="roundRect">
            <a:avLst>
              <a:gd name="adj" fmla="val 319489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pic>
        <p:nvPicPr>
          <p:cNvPr id="59" name="Image 25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8172907" y="6171999"/>
            <a:ext cx="334670" cy="301655"/>
          </a:xfrm>
          <a:prstGeom prst="rect">
            <a:avLst/>
          </a:prstGeom>
        </p:spPr>
      </p:pic>
      <p:sp>
        <p:nvSpPr>
          <p:cNvPr id="60" name="Text 32"/>
          <p:cNvSpPr txBox="1"/>
          <p:nvPr/>
        </p:nvSpPr>
        <p:spPr>
          <a:xfrm>
            <a:off x="8572500" y="6252582"/>
            <a:ext cx="3143708" cy="16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エラー通知の箇条書き生成</a:t>
            </a:r>
            <a:endParaRPr lang="en-US" sz="2000" dirty="0"/>
          </a:p>
        </p:txBody>
      </p:sp>
      <p:sp>
        <p:nvSpPr>
          <p:cNvPr id="61" name="Text 33"/>
          <p:cNvSpPr txBox="1"/>
          <p:nvPr/>
        </p:nvSpPr>
        <p:spPr>
          <a:xfrm>
            <a:off x="11367821" y="6514472"/>
            <a:ext cx="676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#PA45</a:t>
            </a:r>
            <a:endParaRPr lang="en-US" sz="1300" dirty="0"/>
          </a:p>
        </p:txBody>
      </p:sp>
      <p:pic>
        <p:nvPicPr>
          <p:cNvPr id="62" name="Image 26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4737038" y="2596916"/>
            <a:ext cx="1943671" cy="1334010"/>
          </a:xfrm>
          <a:prstGeom prst="rect">
            <a:avLst/>
          </a:prstGeom>
        </p:spPr>
      </p:pic>
      <p:sp>
        <p:nvSpPr>
          <p:cNvPr id="64" name="Text 34"/>
          <p:cNvSpPr txBox="1"/>
          <p:nvPr/>
        </p:nvSpPr>
        <p:spPr>
          <a:xfrm>
            <a:off x="5637379" y="2749166"/>
            <a:ext cx="5018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  <a:endParaRPr lang="en-US" sz="5400" dirty="0"/>
          </a:p>
        </p:txBody>
      </p:sp>
      <p:sp>
        <p:nvSpPr>
          <p:cNvPr id="65" name="Text 35"/>
          <p:cNvSpPr txBox="1"/>
          <p:nvPr/>
        </p:nvSpPr>
        <p:spPr>
          <a:xfrm>
            <a:off x="5108018" y="3392058"/>
            <a:ext cx="1333856" cy="303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区切り文字</a:t>
            </a:r>
            <a:endParaRPr lang="en-US" dirty="0"/>
          </a:p>
        </p:txBody>
      </p:sp>
      <p:sp>
        <p:nvSpPr>
          <p:cNvPr id="66" name="Text 36"/>
          <p:cNvSpPr txBox="1"/>
          <p:nvPr/>
        </p:nvSpPr>
        <p:spPr>
          <a:xfrm>
            <a:off x="4392372" y="1929706"/>
            <a:ext cx="3401567" cy="507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Join（結合）</a:t>
            </a:r>
            <a:endParaRPr lang="en-US" sz="3600" dirty="0"/>
          </a:p>
        </p:txBody>
      </p: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9BB7DB0D-71EB-1A31-9983-8EA20CF00882}"/>
              </a:ext>
            </a:extLst>
          </p:cNvPr>
          <p:cNvGrpSpPr/>
          <p:nvPr/>
        </p:nvGrpSpPr>
        <p:grpSpPr>
          <a:xfrm>
            <a:off x="114758" y="3808535"/>
            <a:ext cx="495147" cy="474885"/>
            <a:chOff x="267005" y="4036906"/>
            <a:chExt cx="304495" cy="304495"/>
          </a:xfrm>
        </p:grpSpPr>
        <p:pic>
          <p:nvPicPr>
            <p:cNvPr id="67" name="Image 28" descr="preencoded.png"/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267005" y="4036906"/>
              <a:ext cx="304495" cy="304495"/>
            </a:xfrm>
            <a:prstGeom prst="rect">
              <a:avLst/>
            </a:prstGeom>
          </p:spPr>
        </p:pic>
        <p:sp>
          <p:nvSpPr>
            <p:cNvPr id="68" name="Text 37"/>
            <p:cNvSpPr txBox="1"/>
            <p:nvPr/>
          </p:nvSpPr>
          <p:spPr>
            <a:xfrm>
              <a:off x="390449" y="4079835"/>
              <a:ext cx="1335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!</a:t>
              </a:r>
              <a:endParaRPr lang="en-US" sz="2400" dirty="0"/>
            </a:p>
          </p:txBody>
        </p:sp>
      </p:grpSp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B41D2685-19E7-9595-3A18-58227EF428A5}"/>
              </a:ext>
            </a:extLst>
          </p:cNvPr>
          <p:cNvGrpSpPr/>
          <p:nvPr/>
        </p:nvGrpSpPr>
        <p:grpSpPr>
          <a:xfrm>
            <a:off x="4001677" y="3808534"/>
            <a:ext cx="495147" cy="474885"/>
            <a:chOff x="267005" y="4036906"/>
            <a:chExt cx="304495" cy="304495"/>
          </a:xfrm>
        </p:grpSpPr>
        <p:pic>
          <p:nvPicPr>
            <p:cNvPr id="76" name="Image 28" descr="preencoded.png">
              <a:extLst>
                <a:ext uri="{FF2B5EF4-FFF2-40B4-BE49-F238E27FC236}">
                  <a16:creationId xmlns:a16="http://schemas.microsoft.com/office/drawing/2014/main" id="{A89153E0-C7D6-2B66-B2B7-08543E1F9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267005" y="4036906"/>
              <a:ext cx="304495" cy="304495"/>
            </a:xfrm>
            <a:prstGeom prst="rect">
              <a:avLst/>
            </a:prstGeom>
          </p:spPr>
        </p:pic>
        <p:sp>
          <p:nvSpPr>
            <p:cNvPr id="77" name="Text 37">
              <a:extLst>
                <a:ext uri="{FF2B5EF4-FFF2-40B4-BE49-F238E27FC236}">
                  <a16:creationId xmlns:a16="http://schemas.microsoft.com/office/drawing/2014/main" id="{39152955-E98D-D4F9-3598-8887AA2028E5}"/>
                </a:ext>
              </a:extLst>
            </p:cNvPr>
            <p:cNvSpPr txBox="1"/>
            <p:nvPr/>
          </p:nvSpPr>
          <p:spPr>
            <a:xfrm>
              <a:off x="390449" y="4079835"/>
              <a:ext cx="1335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!</a:t>
              </a:r>
              <a:endParaRPr lang="en-US" sz="2400" dirty="0"/>
            </a:p>
          </p:txBody>
        </p:sp>
      </p:grp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1E604ECE-A204-A005-4AFA-668B1D44E812}"/>
              </a:ext>
            </a:extLst>
          </p:cNvPr>
          <p:cNvGrpSpPr/>
          <p:nvPr/>
        </p:nvGrpSpPr>
        <p:grpSpPr>
          <a:xfrm>
            <a:off x="8160817" y="3864324"/>
            <a:ext cx="495147" cy="474885"/>
            <a:chOff x="267005" y="4036906"/>
            <a:chExt cx="304495" cy="304495"/>
          </a:xfrm>
        </p:grpSpPr>
        <p:pic>
          <p:nvPicPr>
            <p:cNvPr id="79" name="Image 28" descr="preencoded.png">
              <a:extLst>
                <a:ext uri="{FF2B5EF4-FFF2-40B4-BE49-F238E27FC236}">
                  <a16:creationId xmlns:a16="http://schemas.microsoft.com/office/drawing/2014/main" id="{DA06435B-5FB2-7801-0548-E921487A0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267005" y="4036906"/>
              <a:ext cx="304495" cy="304495"/>
            </a:xfrm>
            <a:prstGeom prst="rect">
              <a:avLst/>
            </a:prstGeom>
          </p:spPr>
        </p:pic>
        <p:sp>
          <p:nvSpPr>
            <p:cNvPr id="80" name="Text 37">
              <a:extLst>
                <a:ext uri="{FF2B5EF4-FFF2-40B4-BE49-F238E27FC236}">
                  <a16:creationId xmlns:a16="http://schemas.microsoft.com/office/drawing/2014/main" id="{7B1C3875-3EFD-19A3-13E4-DB86520FB22A}"/>
                </a:ext>
              </a:extLst>
            </p:cNvPr>
            <p:cNvSpPr txBox="1"/>
            <p:nvPr/>
          </p:nvSpPr>
          <p:spPr>
            <a:xfrm>
              <a:off x="390449" y="4079835"/>
              <a:ext cx="1335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!</a:t>
              </a:r>
              <a:endParaRPr lang="en-US" sz="2400" dirty="0"/>
            </a:p>
          </p:txBody>
        </p:sp>
      </p:grpSp>
      <p:sp>
        <p:nvSpPr>
          <p:cNvPr id="86" name="Text 6">
            <a:extLst>
              <a:ext uri="{FF2B5EF4-FFF2-40B4-BE49-F238E27FC236}">
                <a16:creationId xmlns:a16="http://schemas.microsoft.com/office/drawing/2014/main" id="{832B6377-865A-352B-4C15-25F5794FC720}"/>
              </a:ext>
            </a:extLst>
          </p:cNvPr>
          <p:cNvSpPr txBox="1"/>
          <p:nvPr/>
        </p:nvSpPr>
        <p:spPr>
          <a:xfrm>
            <a:off x="4627957" y="2498922"/>
            <a:ext cx="2509184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chemeClr val="bg1"/>
                </a:solidFill>
                <a:effectLst>
                  <a:glow rad="63500">
                    <a:srgbClr val="0000CC"/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中身をつなぐ！</a:t>
            </a:r>
            <a:endParaRPr lang="en-US" sz="2400" dirty="0">
              <a:solidFill>
                <a:schemeClr val="bg1"/>
              </a:solidFill>
              <a:effectLst>
                <a:glow rad="63500">
                  <a:srgbClr val="0000CC"/>
                </a:glow>
              </a:effectLst>
            </a:endParaRPr>
          </a:p>
        </p:txBody>
      </p:sp>
      <p:pic>
        <p:nvPicPr>
          <p:cNvPr id="88" name="図 87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1B38B240-838B-E172-7197-292314B1A3FD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r="47409" b="10789"/>
          <a:stretch>
            <a:fillRect/>
          </a:stretch>
        </p:blipFill>
        <p:spPr>
          <a:xfrm>
            <a:off x="4533523" y="2998698"/>
            <a:ext cx="2081779" cy="7789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2" name="図 91" descr="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1DE65CB-880F-A721-8B07-3ED97053E1F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29772" y="2181796"/>
            <a:ext cx="728331" cy="16855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4" name="Text 6">
            <a:extLst>
              <a:ext uri="{FF2B5EF4-FFF2-40B4-BE49-F238E27FC236}">
                <a16:creationId xmlns:a16="http://schemas.microsoft.com/office/drawing/2014/main" id="{E9F5375A-8099-C9BB-08FB-BF2FE43D0307}"/>
              </a:ext>
            </a:extLst>
          </p:cNvPr>
          <p:cNvSpPr txBox="1"/>
          <p:nvPr/>
        </p:nvSpPr>
        <p:spPr>
          <a:xfrm>
            <a:off x="666598" y="2708659"/>
            <a:ext cx="2509184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400" dirty="0">
              <a:solidFill>
                <a:schemeClr val="bg1"/>
              </a:solidFill>
              <a:effectLst>
                <a:glow rad="63500">
                  <a:srgbClr val="0000CC"/>
                </a:glow>
              </a:effectLst>
            </a:endParaRPr>
          </a:p>
        </p:txBody>
      </p:sp>
      <p:sp>
        <p:nvSpPr>
          <p:cNvPr id="95" name="Text 6">
            <a:extLst>
              <a:ext uri="{FF2B5EF4-FFF2-40B4-BE49-F238E27FC236}">
                <a16:creationId xmlns:a16="http://schemas.microsoft.com/office/drawing/2014/main" id="{519AD5CF-7CA9-4A53-BE0C-A64267B0F590}"/>
              </a:ext>
            </a:extLst>
          </p:cNvPr>
          <p:cNvSpPr txBox="1"/>
          <p:nvPr/>
        </p:nvSpPr>
        <p:spPr>
          <a:xfrm>
            <a:off x="520852" y="2765416"/>
            <a:ext cx="2987396" cy="747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2000" b="1">
                <a:solidFill>
                  <a:srgbClr val="0000CC"/>
                </a:solidFill>
                <a:effectLst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</a:t>
            </a:r>
            <a:r>
              <a:rPr lang="ja-JP" altLang="en-US" sz="2000" b="1">
                <a:solidFill>
                  <a:srgbClr val="0000CC"/>
                </a:solidFill>
                <a:effectLst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配列は</a:t>
            </a:r>
            <a:endParaRPr lang="en-US" altLang="ja-JP" sz="2000" b="1">
              <a:solidFill>
                <a:srgbClr val="0000CC"/>
              </a:solidFill>
              <a:effectLst/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r>
              <a:rPr lang="ja-JP" altLang="en-US" sz="2000" b="1">
                <a:solidFill>
                  <a:srgbClr val="0000CC"/>
                </a:solidFill>
                <a:effectLst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「複数の値が</a:t>
            </a:r>
            <a:endParaRPr lang="en-US" altLang="ja-JP" sz="2000" b="1">
              <a:solidFill>
                <a:srgbClr val="0000CC"/>
              </a:solidFill>
              <a:effectLst/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r>
              <a:rPr lang="ja-JP" altLang="en-US" sz="2000" b="1">
                <a:solidFill>
                  <a:srgbClr val="0000CC"/>
                </a:solidFill>
                <a:effectLst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入った箱」の</a:t>
            </a:r>
            <a:endParaRPr lang="en-US" altLang="ja-JP" sz="2000" b="1">
              <a:solidFill>
                <a:srgbClr val="0000CC"/>
              </a:solidFill>
              <a:effectLst/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r>
              <a:rPr lang="ja-JP" altLang="en-US" sz="2000" b="1">
                <a:solidFill>
                  <a:srgbClr val="0000CC"/>
                </a:solidFill>
                <a:effectLst/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イメージ</a:t>
            </a:r>
            <a:endParaRPr lang="en-US" sz="2000" dirty="0">
              <a:solidFill>
                <a:srgbClr val="0000CC"/>
              </a:solidFill>
              <a:effectLst/>
            </a:endParaRPr>
          </a:p>
        </p:txBody>
      </p: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BADCD41C-D835-EA7C-8248-C9B95A7A71CB}"/>
              </a:ext>
            </a:extLst>
          </p:cNvPr>
          <p:cNvGrpSpPr/>
          <p:nvPr/>
        </p:nvGrpSpPr>
        <p:grpSpPr>
          <a:xfrm>
            <a:off x="261721" y="1874437"/>
            <a:ext cx="2840433" cy="513892"/>
            <a:chOff x="1376172" y="1969618"/>
            <a:chExt cx="1095451" cy="286207"/>
          </a:xfrm>
        </p:grpSpPr>
        <p:sp>
          <p:nvSpPr>
            <p:cNvPr id="16" name="Shape 7"/>
            <p:cNvSpPr/>
            <p:nvPr/>
          </p:nvSpPr>
          <p:spPr>
            <a:xfrm>
              <a:off x="1376172" y="1969618"/>
              <a:ext cx="1095451" cy="286207"/>
            </a:xfrm>
            <a:prstGeom prst="roundRect">
              <a:avLst>
                <a:gd name="adj" fmla="val 319489"/>
              </a:avLst>
            </a:prstGeom>
            <a:solidFill>
              <a:srgbClr val="DBEAFE"/>
            </a:solidFill>
            <a:ln w="12700">
              <a:solidFill>
                <a:srgbClr val="BFDBFE"/>
              </a:solidFill>
              <a:prstDash val="solid"/>
            </a:ln>
          </p:spPr>
          <p:txBody>
            <a:bodyPr/>
            <a:lstStyle/>
            <a:p>
              <a:endParaRPr lang="ja-JP" altLang="en-US" sz="4800"/>
            </a:p>
          </p:txBody>
        </p:sp>
        <p:sp>
          <p:nvSpPr>
            <p:cNvPr id="17" name="Text 8"/>
            <p:cNvSpPr txBox="1"/>
            <p:nvPr/>
          </p:nvSpPr>
          <p:spPr>
            <a:xfrm>
              <a:off x="1467067" y="2013304"/>
              <a:ext cx="91897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E40A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Before: 配列</a:t>
              </a:r>
              <a:endParaRPr lang="en-US" sz="2400" dirty="0"/>
            </a:p>
          </p:txBody>
        </p:sp>
      </p:grpSp>
      <p:pic>
        <p:nvPicPr>
          <p:cNvPr id="98" name="Image 10" descr="preencoded.png">
            <a:extLst>
              <a:ext uri="{FF2B5EF4-FFF2-40B4-BE49-F238E27FC236}">
                <a16:creationId xmlns:a16="http://schemas.microsoft.com/office/drawing/2014/main" id="{4A4978B0-F0C3-221D-57A1-DBF6D4E2EC9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6714313" y="2544603"/>
            <a:ext cx="520848" cy="1040033"/>
          </a:xfrm>
          <a:prstGeom prst="rect">
            <a:avLst/>
          </a:prstGeom>
        </p:spPr>
      </p:pic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FBB7EF03-7AAC-3F7A-A287-308DF5E9B87C}"/>
              </a:ext>
            </a:extLst>
          </p:cNvPr>
          <p:cNvSpPr/>
          <p:nvPr/>
        </p:nvSpPr>
        <p:spPr>
          <a:xfrm>
            <a:off x="58783" y="-50800"/>
            <a:ext cx="12133218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1" name="図 100" descr="The image depicts two playful koala bears holding hands, floating on a calm, blue surface.&#10;&#10;AI 生成コンテンツは誤りを含む可能性があります。">
            <a:extLst>
              <a:ext uri="{FF2B5EF4-FFF2-40B4-BE49-F238E27FC236}">
                <a16:creationId xmlns:a16="http://schemas.microsoft.com/office/drawing/2014/main" id="{1AD71831-70CA-13AC-0767-F95FACDF7E8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15449" y="728047"/>
            <a:ext cx="2094840" cy="2428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22"/>
          <a:srcRect t="-10" b="-10"/>
          <a:stretch/>
        </p:blipFill>
        <p:spPr>
          <a:xfrm>
            <a:off x="7310099" y="2312518"/>
            <a:ext cx="4734378" cy="1579832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7723442" y="2516678"/>
            <a:ext cx="350912" cy="350912"/>
          </a:xfrm>
          <a:prstGeom prst="rect">
            <a:avLst/>
          </a:prstGeom>
        </p:spPr>
      </p:pic>
      <p:pic>
        <p:nvPicPr>
          <p:cNvPr id="97" name="図 96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509CC9EB-805C-FF71-E0F9-BF7193E9A2C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12307" y="2477884"/>
            <a:ext cx="2296095" cy="11625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3" name="Text 18"/>
          <p:cNvSpPr txBox="1"/>
          <p:nvPr/>
        </p:nvSpPr>
        <p:spPr>
          <a:xfrm>
            <a:off x="7508121" y="2931608"/>
            <a:ext cx="3416299" cy="660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ひと続きの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データになった</a:t>
            </a:r>
            <a:r>
              <a:rPr lang="en-US" sz="2000" b="1" dirty="0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 </a:t>
            </a:r>
            <a:endParaRPr lang="en-US" sz="2000" dirty="0"/>
          </a:p>
        </p:txBody>
      </p: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F20E67AE-D5CD-E1CD-716C-3F3C10C94933}"/>
              </a:ext>
            </a:extLst>
          </p:cNvPr>
          <p:cNvGrpSpPr/>
          <p:nvPr/>
        </p:nvGrpSpPr>
        <p:grpSpPr>
          <a:xfrm>
            <a:off x="7366000" y="1927177"/>
            <a:ext cx="2616200" cy="538045"/>
            <a:chOff x="9244584" y="2179015"/>
            <a:chExt cx="1123798" cy="286207"/>
          </a:xfrm>
        </p:grpSpPr>
        <p:sp>
          <p:nvSpPr>
            <p:cNvPr id="30" name="Shape 15"/>
            <p:cNvSpPr/>
            <p:nvPr/>
          </p:nvSpPr>
          <p:spPr>
            <a:xfrm>
              <a:off x="9244584" y="2179015"/>
              <a:ext cx="1123798" cy="286207"/>
            </a:xfrm>
            <a:prstGeom prst="roundRect">
              <a:avLst>
                <a:gd name="adj" fmla="val 319489"/>
              </a:avLst>
            </a:prstGeom>
            <a:solidFill>
              <a:srgbClr val="DCFCE7"/>
            </a:solidFill>
            <a:ln w="12700">
              <a:solidFill>
                <a:srgbClr val="BBF7D0"/>
              </a:solidFill>
              <a:prstDash val="solid"/>
            </a:ln>
          </p:spPr>
          <p:txBody>
            <a:bodyPr/>
            <a:lstStyle/>
            <a:p>
              <a:endParaRPr lang="ja-JP" altLang="en-US" sz="5400"/>
            </a:p>
          </p:txBody>
        </p:sp>
        <p:sp>
          <p:nvSpPr>
            <p:cNvPr id="31" name="Text 16"/>
            <p:cNvSpPr txBox="1"/>
            <p:nvPr/>
          </p:nvSpPr>
          <p:spPr>
            <a:xfrm>
              <a:off x="9357411" y="2218902"/>
              <a:ext cx="952805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6653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After: 文字列</a:t>
              </a:r>
              <a:endParaRPr lang="en-US" sz="2400" dirty="0"/>
            </a:p>
          </p:txBody>
        </p:sp>
      </p:grp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C01C2DA4-B77A-F08E-0D22-AE2ADF76CD86}"/>
              </a:ext>
            </a:extLst>
          </p:cNvPr>
          <p:cNvSpPr/>
          <p:nvPr/>
        </p:nvSpPr>
        <p:spPr>
          <a:xfrm>
            <a:off x="249515" y="831975"/>
            <a:ext cx="193903" cy="992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A7E80027-AAA0-06A6-E562-599A01C2BBE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5131" y="657572"/>
            <a:ext cx="1241251" cy="12412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F77BAC5B-CCAF-578A-FF7D-A42AB75D49F8}"/>
              </a:ext>
            </a:extLst>
          </p:cNvPr>
          <p:cNvSpPr/>
          <p:nvPr/>
        </p:nvSpPr>
        <p:spPr>
          <a:xfrm>
            <a:off x="58783" y="451199"/>
            <a:ext cx="12133217" cy="635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8" name="Image 2" descr="preencoded.png">
            <a:extLst>
              <a:ext uri="{FF2B5EF4-FFF2-40B4-BE49-F238E27FC236}">
                <a16:creationId xmlns:a16="http://schemas.microsoft.com/office/drawing/2014/main" id="{CF981C4C-46CF-8ADD-9E23-4626F461C2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8748" y="704387"/>
            <a:ext cx="11430000" cy="6196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2148" y="768693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B5563"/>
                </a:solidFill>
              </a:rPr>
              <a:t>💡 手動連絡をゼロに！1アクションでTeams通知を自動化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51" y="1468523"/>
            <a:ext cx="2834640" cy="888786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🔔 トリガー</a:t>
            </a:r>
          </a:p>
          <a:p>
            <a:pPr algn="ctr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（承認完了・フォーム送信など）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02553" y="1463604"/>
            <a:ext cx="3224628" cy="926216"/>
          </a:xfrm>
          <a:prstGeom prst="roundRect">
            <a:avLst>
              <a:gd name="adj" fmla="val 1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⚙️ アクション設定</a:t>
            </a:r>
          </a:p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「チャットでメッセージを送信する」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36311" y="1458976"/>
            <a:ext cx="3433818" cy="958398"/>
          </a:xfrm>
          <a:prstGeom prst="roundRect">
            <a:avLst>
              <a:gd name="adj" fmla="val 14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✅ Teams送信 完了！</a:t>
            </a:r>
          </a:p>
          <a:p>
            <a:pPr algn="ctr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チャットにメッセージ着信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620" y="2553233"/>
            <a:ext cx="5120640" cy="202996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60325">
            <a:solidFill>
              <a:srgbClr val="2563EB"/>
            </a:solidFill>
          </a:ln>
          <a:effectLst>
            <a:outerShdw blurRad="50800" dist="38100" dir="2700000" sx="101000" sy="101000" algn="tl" rotWithShape="0">
              <a:prstClr val="black">
                <a:alpha val="5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7348" y="2619355"/>
            <a:ext cx="438912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2400" b="1" u="sng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🔧 設定する3つの項目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212" y="3083585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146" y="3134755"/>
            <a:ext cx="170622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送信先の種類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0464" y="3124673"/>
            <a:ext cx="326474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「チャット」を選択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212" y="3577361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67" y="3505879"/>
            <a:ext cx="170622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受信者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058" y="3536134"/>
            <a:ext cx="326474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メールアドレス or 名前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212" y="4071137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34" y="3937128"/>
            <a:ext cx="170622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メッセージ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058" y="3984190"/>
            <a:ext cx="326474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テキスト or 動的コンテンツ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1628" y="4776863"/>
            <a:ext cx="5623560" cy="180681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60325">
            <a:solidFill>
              <a:srgbClr val="DC2626"/>
            </a:solidFill>
          </a:ln>
          <a:effectLst>
            <a:outerShdw blurRad="50800" dist="38100" dir="2700000" algn="tl" rotWithShape="0">
              <a:prstClr val="black">
                <a:alpha val="66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66736" y="4811904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u="sng">
                <a:solidFill>
                  <a:srgbClr val="DC262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⚠️ つまずきポイント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736" y="5323843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・「チャット」と「チャンネル」を混同しない！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736" y="5743449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・サインインの権限を事前に確認する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736" y="6163056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・動的コンテンツの型（テキスト）に注意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5228" y="4776863"/>
            <a:ext cx="5623560" cy="180681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60325">
            <a:solidFill>
              <a:srgbClr val="16A34A"/>
            </a:solidFill>
          </a:ln>
          <a:effectLst>
            <a:outerShdw blurRad="508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25248" y="4819195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u="sng">
                <a:solidFill>
                  <a:srgbClr val="16A34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✅ これができるようになる！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5248" y="5328704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・通知漏れゼロ・手動連絡が不要に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5248" y="5745880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・リアルタイムで情報共有が可能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5248" y="6163056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・承認結果などを即座にチームへ通知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28668" y="6510528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4B5563"/>
                </a:solidFill>
              </a:rPr>
              <a:t>#PA45</a:t>
            </a:r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F0602F30-B817-86A3-CB16-4C3FF558A1F5}"/>
              </a:ext>
            </a:extLst>
          </p:cNvPr>
          <p:cNvSpPr/>
          <p:nvPr/>
        </p:nvSpPr>
        <p:spPr>
          <a:xfrm>
            <a:off x="6858" y="-69952"/>
            <a:ext cx="12191695" cy="664313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D74DBED6-F512-2E3A-3101-EF143A62C498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Vol.13</a:t>
            </a:r>
            <a:endParaRPr lang="en-US" sz="3200" dirty="0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71F5E08F-7BAD-BA9E-7782-299F14CAB777}"/>
              </a:ext>
            </a:extLst>
          </p:cNvPr>
          <p:cNvSpPr txBox="1"/>
          <p:nvPr/>
        </p:nvSpPr>
        <p:spPr>
          <a:xfrm>
            <a:off x="1826709" y="129388"/>
            <a:ext cx="78724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</a:t>
            </a:r>
            <a:r>
              <a:rPr lang="ja-JP" altLang="en-US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のチャットへ自動でメッセージを送る</a:t>
            </a:r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61A7CB62-666A-2421-2A91-0513D9130910}"/>
              </a:ext>
            </a:extLst>
          </p:cNvPr>
          <p:cNvSpPr/>
          <p:nvPr/>
        </p:nvSpPr>
        <p:spPr>
          <a:xfrm>
            <a:off x="171145" y="84127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6404868D-E989-A2E8-B582-D52F90A9FAFD}"/>
              </a:ext>
            </a:extLst>
          </p:cNvPr>
          <p:cNvSpPr/>
          <p:nvPr/>
        </p:nvSpPr>
        <p:spPr>
          <a:xfrm>
            <a:off x="58783" y="-50800"/>
            <a:ext cx="12133218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0" name="図 49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70568B00-A950-F767-4CC9-9FDD18AE6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75" y="567793"/>
            <a:ext cx="888786" cy="888786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2F8A503-DFC7-0736-A475-CFE2C01ECA50}"/>
              </a:ext>
            </a:extLst>
          </p:cNvPr>
          <p:cNvGrpSpPr/>
          <p:nvPr/>
        </p:nvGrpSpPr>
        <p:grpSpPr>
          <a:xfrm>
            <a:off x="165494" y="4709911"/>
            <a:ext cx="495147" cy="474885"/>
            <a:chOff x="267005" y="4036906"/>
            <a:chExt cx="304495" cy="304495"/>
          </a:xfrm>
        </p:grpSpPr>
        <p:pic>
          <p:nvPicPr>
            <p:cNvPr id="56" name="Image 28" descr="preencoded.png">
              <a:extLst>
                <a:ext uri="{FF2B5EF4-FFF2-40B4-BE49-F238E27FC236}">
                  <a16:creationId xmlns:a16="http://schemas.microsoft.com/office/drawing/2014/main" id="{F7BE6C86-5988-4A7B-550A-5ACDAD406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267005" y="4036906"/>
              <a:ext cx="304495" cy="304495"/>
            </a:xfrm>
            <a:prstGeom prst="rect">
              <a:avLst/>
            </a:prstGeom>
          </p:spPr>
        </p:pic>
        <p:sp>
          <p:nvSpPr>
            <p:cNvPr id="57" name="Text 37">
              <a:extLst>
                <a:ext uri="{FF2B5EF4-FFF2-40B4-BE49-F238E27FC236}">
                  <a16:creationId xmlns:a16="http://schemas.microsoft.com/office/drawing/2014/main" id="{86532462-AA2A-44BF-0E4B-EAF038C26E92}"/>
                </a:ext>
              </a:extLst>
            </p:cNvPr>
            <p:cNvSpPr txBox="1"/>
            <p:nvPr/>
          </p:nvSpPr>
          <p:spPr>
            <a:xfrm>
              <a:off x="390449" y="4079835"/>
              <a:ext cx="1335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!</a:t>
              </a:r>
              <a:endParaRPr lang="en-US" sz="2400" dirty="0"/>
            </a:p>
          </p:txBody>
        </p:sp>
      </p:grpSp>
      <p:pic>
        <p:nvPicPr>
          <p:cNvPr id="62" name="図 61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F2D5C8DF-8B71-C39A-D6C4-9AC0EB926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6218" y="2431"/>
            <a:ext cx="2966999" cy="13526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4" name="図 63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C014BC69-848B-AD75-4D4A-D97C3A40326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2683"/>
          <a:stretch>
            <a:fillRect/>
          </a:stretch>
        </p:blipFill>
        <p:spPr>
          <a:xfrm>
            <a:off x="6052994" y="2541968"/>
            <a:ext cx="2540222" cy="20367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6" name="図 65" descr="The image depicts a simple, stylized representation of a human figure with two people in a heart shape, featuring a prominent 't' character on a purpl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D988CB25-724F-BDB5-68A8-1E59A97A15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000" b="90000" l="9083" r="90000">
                        <a14:foregroundMark x1="40750" y1="23167" x2="43250" y2="15167"/>
                        <a14:foregroundMark x1="43250" y1="15167" x2="41083" y2="23167"/>
                        <a14:foregroundMark x1="41083" y1="23167" x2="39333" y2="23167"/>
                        <a14:foregroundMark x1="74750" y1="30833" x2="73750" y2="23750"/>
                        <a14:foregroundMark x1="73750" y1="23750" x2="75667" y2="19583"/>
                        <a14:foregroundMark x1="78250" y1="23333" x2="74000" y2="28083"/>
                        <a14:foregroundMark x1="46000" y1="12500" x2="30750" y2="14333"/>
                        <a14:foregroundMark x1="30750" y1="14333" x2="29583" y2="20000"/>
                        <a14:foregroundMark x1="38667" y1="7083" x2="38667" y2="7083"/>
                        <a14:foregroundMark x1="20750" y1="57917" x2="31750" y2="58583"/>
                        <a14:foregroundMark x1="31750" y1="58583" x2="39333" y2="57917"/>
                        <a14:foregroundMark x1="26750" y1="60667" x2="27083" y2="75250"/>
                        <a14:foregroundMark x1="9500" y1="54917" x2="9083" y2="74417"/>
                        <a14:foregroundMark x1="9083" y1="74417" x2="9667" y2="751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4704" y="2268819"/>
            <a:ext cx="1293084" cy="1293084"/>
          </a:xfrm>
          <a:prstGeom prst="rect">
            <a:avLst/>
          </a:prstGeom>
        </p:spPr>
      </p:pic>
      <p:pic>
        <p:nvPicPr>
          <p:cNvPr id="68" name="図 67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D2551C1F-5A74-CA20-1290-075F68BD03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4953" y="3121087"/>
            <a:ext cx="2902375" cy="14576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9" name="Image 10" descr="preencoded.png">
            <a:extLst>
              <a:ext uri="{FF2B5EF4-FFF2-40B4-BE49-F238E27FC236}">
                <a16:creationId xmlns:a16="http://schemas.microsoft.com/office/drawing/2014/main" id="{A47B4947-D04A-E16F-1361-87F85958B36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7149146" y="1425861"/>
            <a:ext cx="520848" cy="1040033"/>
          </a:xfrm>
          <a:prstGeom prst="rect">
            <a:avLst/>
          </a:prstGeom>
        </p:spPr>
      </p:pic>
      <p:pic>
        <p:nvPicPr>
          <p:cNvPr id="70" name="Image 10" descr="preencoded.png">
            <a:extLst>
              <a:ext uri="{FF2B5EF4-FFF2-40B4-BE49-F238E27FC236}">
                <a16:creationId xmlns:a16="http://schemas.microsoft.com/office/drawing/2014/main" id="{0B549F69-C066-54B9-41A9-27D27AA00CF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3132901" y="1381245"/>
            <a:ext cx="520848" cy="1040033"/>
          </a:xfrm>
          <a:prstGeom prst="rect">
            <a:avLst/>
          </a:prstGeom>
        </p:spPr>
      </p:pic>
      <p:pic>
        <p:nvPicPr>
          <p:cNvPr id="72" name="図 71" descr="A cheerful blue bird is perched on a red mailbox, peering curiously at a blue envelope inside.&#10;&#10;AI 生成コンテンツは誤りを含む可能性があります。">
            <a:extLst>
              <a:ext uri="{FF2B5EF4-FFF2-40B4-BE49-F238E27FC236}">
                <a16:creationId xmlns:a16="http://schemas.microsoft.com/office/drawing/2014/main" id="{04B4027E-3D0C-2CF4-5175-E367AD36E7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60351" y="2030775"/>
            <a:ext cx="1791880" cy="19215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4" name="図 73" descr="A cartoon child with orange hair, a smiling face, and a question mark above their mouth.&#10;&#10;AI 生成コンテンツは誤りを含む可能性があります。">
            <a:extLst>
              <a:ext uri="{FF2B5EF4-FFF2-40B4-BE49-F238E27FC236}">
                <a16:creationId xmlns:a16="http://schemas.microsoft.com/office/drawing/2014/main" id="{93039BE6-FAF5-B21F-C809-87BD2379B6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00717" y="4704278"/>
            <a:ext cx="1954128" cy="20678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E68E3-1927-C24D-7BFA-18279552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 2" descr="preencoded.png">
            <a:extLst>
              <a:ext uri="{FF2B5EF4-FFF2-40B4-BE49-F238E27FC236}">
                <a16:creationId xmlns:a16="http://schemas.microsoft.com/office/drawing/2014/main" id="{1815B6BE-2AC8-FB18-932E-A1EEE949B5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8748" y="704387"/>
            <a:ext cx="11430000" cy="6196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570AF6-DFA9-A0D2-8DFD-5101CA7CDB02}"/>
              </a:ext>
            </a:extLst>
          </p:cNvPr>
          <p:cNvSpPr txBox="1"/>
          <p:nvPr/>
        </p:nvSpPr>
        <p:spPr>
          <a:xfrm>
            <a:off x="922148" y="768693"/>
            <a:ext cx="92124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💡</a:t>
            </a:r>
            <a:r>
              <a:rPr lang="ja-JP" altLang="en-US" sz="32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ここまでできる！送信</a:t>
            </a:r>
            <a:r>
              <a:rPr lang="en-US" altLang="ja-JP" sz="32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r>
              <a:rPr lang="ja-JP" altLang="en-US" sz="32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アクションの底力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D3AEB5D-1179-4A3C-DDCB-A387BC8A98AD}"/>
              </a:ext>
            </a:extLst>
          </p:cNvPr>
          <p:cNvSpPr/>
          <p:nvPr/>
        </p:nvSpPr>
        <p:spPr>
          <a:xfrm>
            <a:off x="435927" y="3760512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①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209E4CF-1B10-FC0E-BCAC-704969C46E24}"/>
              </a:ext>
            </a:extLst>
          </p:cNvPr>
          <p:cNvSpPr/>
          <p:nvPr/>
        </p:nvSpPr>
        <p:spPr>
          <a:xfrm>
            <a:off x="435927" y="4254288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②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7B92E95-5965-9257-CE73-A01DCE3FE31B}"/>
              </a:ext>
            </a:extLst>
          </p:cNvPr>
          <p:cNvSpPr/>
          <p:nvPr/>
        </p:nvSpPr>
        <p:spPr>
          <a:xfrm>
            <a:off x="435927" y="4748064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③</a:t>
            </a:r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647B664D-32F5-F668-D244-32D5AA73589C}"/>
              </a:ext>
            </a:extLst>
          </p:cNvPr>
          <p:cNvSpPr/>
          <p:nvPr/>
        </p:nvSpPr>
        <p:spPr>
          <a:xfrm>
            <a:off x="6858" y="-69952"/>
            <a:ext cx="12191695" cy="664313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52A3B5A8-7A36-5C55-187E-0CBCEBF4836F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Roboto" pitchFamily="34" charset="-120"/>
              </a:rPr>
              <a:t>Vol.14</a:t>
            </a:r>
            <a:endParaRPr lang="en-US" sz="32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B2BF6B28-2754-9B63-32AF-596B48655E1B}"/>
              </a:ext>
            </a:extLst>
          </p:cNvPr>
          <p:cNvSpPr txBox="1"/>
          <p:nvPr/>
        </p:nvSpPr>
        <p:spPr>
          <a:xfrm>
            <a:off x="1826709" y="116687"/>
            <a:ext cx="78724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700" b="1" kern="0" spc="68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【</a:t>
            </a:r>
            <a:r>
              <a:rPr lang="ja-JP" altLang="en-US" sz="2700" b="1" kern="0" spc="68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活用 </a:t>
            </a:r>
            <a:r>
              <a:rPr lang="en-US" altLang="ja-JP" sz="4400" b="1" kern="0" spc="68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7</a:t>
            </a:r>
            <a:r>
              <a:rPr lang="ja-JP" altLang="en-US" sz="4400" b="1" kern="0" spc="68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選 </a:t>
            </a:r>
            <a:r>
              <a:rPr lang="en-US" altLang="ja-JP" sz="2700" b="1" kern="0" spc="68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】Teams</a:t>
            </a:r>
            <a:r>
              <a:rPr lang="ja-JP" altLang="en-US" sz="2700" b="1" kern="0" spc="68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チャット送信アクション</a:t>
            </a:r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9835CEB6-E68F-AB1A-5BFE-190D04542FF3}"/>
              </a:ext>
            </a:extLst>
          </p:cNvPr>
          <p:cNvSpPr/>
          <p:nvPr/>
        </p:nvSpPr>
        <p:spPr>
          <a:xfrm>
            <a:off x="214046" y="55762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0DDB3D25-0B3E-1DE5-EC52-BAA7A4BACA9D}"/>
              </a:ext>
            </a:extLst>
          </p:cNvPr>
          <p:cNvSpPr/>
          <p:nvPr/>
        </p:nvSpPr>
        <p:spPr>
          <a:xfrm>
            <a:off x="20683" y="-50800"/>
            <a:ext cx="12133218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50" name="図 49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EDCA681B-D0FD-C336-4758-D69F25C1F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75" y="567793"/>
            <a:ext cx="888786" cy="888786"/>
          </a:xfrm>
          <a:prstGeom prst="rect">
            <a:avLst/>
          </a:prstGeom>
        </p:spPr>
      </p:pic>
      <p:pic>
        <p:nvPicPr>
          <p:cNvPr id="62" name="図 61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0BC09F54-996F-70C8-4346-22A7072DB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8485" y="613591"/>
            <a:ext cx="1622957" cy="7398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7E1982A1-9BC2-0FA3-CBD4-E80EC1B70498}"/>
              </a:ext>
            </a:extLst>
          </p:cNvPr>
          <p:cNvSpPr/>
          <p:nvPr/>
        </p:nvSpPr>
        <p:spPr>
          <a:xfrm>
            <a:off x="275908" y="1463040"/>
            <a:ext cx="2816352" cy="1941482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22860">
            <a:solidFill>
              <a:srgbClr val="16A34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746D6208-B52C-E11F-7C66-0AE9833EEF0E}"/>
              </a:ext>
            </a:extLst>
          </p:cNvPr>
          <p:cNvSpPr/>
          <p:nvPr/>
        </p:nvSpPr>
        <p:spPr>
          <a:xfrm>
            <a:off x="153473" y="1528928"/>
            <a:ext cx="932588" cy="384048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Lv.1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42381004-0A38-3409-2D39-E3C08E692D44}"/>
              </a:ext>
            </a:extLst>
          </p:cNvPr>
          <p:cNvSpPr txBox="1"/>
          <p:nvPr/>
        </p:nvSpPr>
        <p:spPr>
          <a:xfrm>
            <a:off x="1016572" y="1572768"/>
            <a:ext cx="2075688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① フォーム送信→即時通知</a:t>
            </a: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956DF5C5-1F39-2FB4-9297-E8A1392D1192}"/>
              </a:ext>
            </a:extLst>
          </p:cNvPr>
          <p:cNvSpPr/>
          <p:nvPr/>
        </p:nvSpPr>
        <p:spPr>
          <a:xfrm>
            <a:off x="-13241" y="2294828"/>
            <a:ext cx="1577295" cy="384048"/>
          </a:xfrm>
          <a:prstGeom prst="roundRect">
            <a:avLst>
              <a:gd name="adj" fmla="val 12000"/>
            </a:avLst>
          </a:prstGeom>
          <a:solidFill>
            <a:srgbClr val="4B55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Forms回答</a:t>
            </a:r>
          </a:p>
        </p:txBody>
      </p:sp>
      <p:cxnSp>
        <p:nvCxnSpPr>
          <p:cNvPr id="11" name="Connector 11">
            <a:extLst>
              <a:ext uri="{FF2B5EF4-FFF2-40B4-BE49-F238E27FC236}">
                <a16:creationId xmlns:a16="http://schemas.microsoft.com/office/drawing/2014/main" id="{CA855997-7218-CCEB-A899-04385C72D608}"/>
              </a:ext>
            </a:extLst>
          </p:cNvPr>
          <p:cNvCxnSpPr/>
          <p:nvPr/>
        </p:nvCxnSpPr>
        <p:spPr>
          <a:xfrm>
            <a:off x="1654366" y="2486852"/>
            <a:ext cx="256032" cy="0"/>
          </a:xfrm>
          <a:prstGeom prst="line">
            <a:avLst/>
          </a:prstGeom>
          <a:ln w="25400">
            <a:solidFill>
              <a:srgbClr val="2563EB"/>
            </a:solidFill>
            <a:headEnd type="none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12">
            <a:extLst>
              <a:ext uri="{FF2B5EF4-FFF2-40B4-BE49-F238E27FC236}">
                <a16:creationId xmlns:a16="http://schemas.microsoft.com/office/drawing/2014/main" id="{DFCEFE01-2CE4-797C-E5BA-7CF2B083B5F7}"/>
              </a:ext>
            </a:extLst>
          </p:cNvPr>
          <p:cNvSpPr/>
          <p:nvPr/>
        </p:nvSpPr>
        <p:spPr>
          <a:xfrm>
            <a:off x="1594159" y="2294828"/>
            <a:ext cx="1669864" cy="38404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Teamsチャット</a:t>
            </a:r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567E2E79-2F97-E0FF-D442-889A77DE1938}"/>
              </a:ext>
            </a:extLst>
          </p:cNvPr>
          <p:cNvSpPr txBox="1"/>
          <p:nvPr/>
        </p:nvSpPr>
        <p:spPr>
          <a:xfrm>
            <a:off x="423343" y="2719534"/>
            <a:ext cx="2578608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問い合わせを</a:t>
            </a:r>
            <a:endParaRPr lang="en-US" sz="2000"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sz="20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見逃さない！</a:t>
            </a:r>
          </a:p>
        </p:txBody>
      </p:sp>
      <p:sp>
        <p:nvSpPr>
          <p:cNvPr id="26" name="Rounded Rectangle 14">
            <a:extLst>
              <a:ext uri="{FF2B5EF4-FFF2-40B4-BE49-F238E27FC236}">
                <a16:creationId xmlns:a16="http://schemas.microsoft.com/office/drawing/2014/main" id="{E5B258C6-B04B-D113-9276-7CEE8099F623}"/>
              </a:ext>
            </a:extLst>
          </p:cNvPr>
          <p:cNvSpPr/>
          <p:nvPr/>
        </p:nvSpPr>
        <p:spPr>
          <a:xfrm>
            <a:off x="3230663" y="1463039"/>
            <a:ext cx="2816352" cy="1934935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22860">
            <a:solidFill>
              <a:srgbClr val="16A34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7" name="Rounded Rectangle 15">
            <a:extLst>
              <a:ext uri="{FF2B5EF4-FFF2-40B4-BE49-F238E27FC236}">
                <a16:creationId xmlns:a16="http://schemas.microsoft.com/office/drawing/2014/main" id="{258E9962-AC43-B2AA-5AFD-A7454927CDA9}"/>
              </a:ext>
            </a:extLst>
          </p:cNvPr>
          <p:cNvSpPr/>
          <p:nvPr/>
        </p:nvSpPr>
        <p:spPr>
          <a:xfrm>
            <a:off x="3070424" y="1528928"/>
            <a:ext cx="932588" cy="384048"/>
          </a:xfrm>
          <a:prstGeom prst="roundRect">
            <a:avLst>
              <a:gd name="adj" fmla="val 14583"/>
            </a:avLst>
          </a:prstGeom>
          <a:solidFill>
            <a:srgbClr val="16A34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Lv.1</a:t>
            </a:r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2D387827-3C4E-A9C0-D3A6-A39FDF0CC130}"/>
              </a:ext>
            </a:extLst>
          </p:cNvPr>
          <p:cNvSpPr txBox="1"/>
          <p:nvPr/>
        </p:nvSpPr>
        <p:spPr>
          <a:xfrm>
            <a:off x="3938079" y="1572769"/>
            <a:ext cx="2075688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② 承認完了→</a:t>
            </a:r>
            <a:endParaRPr lang="en-US" sz="2000"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l"/>
            <a:r>
              <a:rPr lang="en-US" sz="20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     </a:t>
            </a:r>
            <a:r>
              <a:rPr sz="20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結果をDM</a:t>
            </a:r>
          </a:p>
        </p:txBody>
      </p:sp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00F57EF2-B2C8-02B7-F6FC-DD67FE636946}"/>
              </a:ext>
            </a:extLst>
          </p:cNvPr>
          <p:cNvSpPr/>
          <p:nvPr/>
        </p:nvSpPr>
        <p:spPr>
          <a:xfrm>
            <a:off x="3270574" y="2291389"/>
            <a:ext cx="1298190" cy="384048"/>
          </a:xfrm>
          <a:prstGeom prst="roundRect">
            <a:avLst>
              <a:gd name="adj" fmla="val 12000"/>
            </a:avLst>
          </a:prstGeom>
          <a:solidFill>
            <a:srgbClr val="4B55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承認フロー</a:t>
            </a:r>
          </a:p>
        </p:txBody>
      </p:sp>
      <p:sp>
        <p:nvSpPr>
          <p:cNvPr id="31" name="Rounded Rectangle 19">
            <a:extLst>
              <a:ext uri="{FF2B5EF4-FFF2-40B4-BE49-F238E27FC236}">
                <a16:creationId xmlns:a16="http://schemas.microsoft.com/office/drawing/2014/main" id="{397437CD-4966-98E9-F3A7-95A665183194}"/>
              </a:ext>
            </a:extLst>
          </p:cNvPr>
          <p:cNvSpPr/>
          <p:nvPr/>
        </p:nvSpPr>
        <p:spPr>
          <a:xfrm>
            <a:off x="4629597" y="2288814"/>
            <a:ext cx="1552103" cy="384048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申請者へDM</a:t>
            </a: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32CFC2D0-CBEF-0FBF-3262-15CA50265219}"/>
              </a:ext>
            </a:extLst>
          </p:cNvPr>
          <p:cNvSpPr txBox="1"/>
          <p:nvPr/>
        </p:nvSpPr>
        <p:spPr>
          <a:xfrm>
            <a:off x="3311604" y="2800119"/>
            <a:ext cx="2578608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✅/❌を即座に本人へ</a:t>
            </a:r>
          </a:p>
        </p:txBody>
      </p:sp>
      <p:sp>
        <p:nvSpPr>
          <p:cNvPr id="33" name="Rounded Rectangle 21">
            <a:extLst>
              <a:ext uri="{FF2B5EF4-FFF2-40B4-BE49-F238E27FC236}">
                <a16:creationId xmlns:a16="http://schemas.microsoft.com/office/drawing/2014/main" id="{7AA12569-73C5-BEB1-6071-972FD120748A}"/>
              </a:ext>
            </a:extLst>
          </p:cNvPr>
          <p:cNvSpPr/>
          <p:nvPr/>
        </p:nvSpPr>
        <p:spPr>
          <a:xfrm>
            <a:off x="6118924" y="1463039"/>
            <a:ext cx="2816352" cy="1921271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22860">
            <a:solidFill>
              <a:srgbClr val="2563E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A1DBFE02-A77D-52A5-FAA1-34F2289168DF}"/>
              </a:ext>
            </a:extLst>
          </p:cNvPr>
          <p:cNvSpPr/>
          <p:nvPr/>
        </p:nvSpPr>
        <p:spPr>
          <a:xfrm>
            <a:off x="6031032" y="1541069"/>
            <a:ext cx="1007697" cy="384048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Lv.2</a:t>
            </a:r>
          </a:p>
        </p:txBody>
      </p:sp>
      <p:sp>
        <p:nvSpPr>
          <p:cNvPr id="52" name="TextBox 23">
            <a:extLst>
              <a:ext uri="{FF2B5EF4-FFF2-40B4-BE49-F238E27FC236}">
                <a16:creationId xmlns:a16="http://schemas.microsoft.com/office/drawing/2014/main" id="{66FC5B7F-4CFA-D839-F9C3-5D58C09090E0}"/>
              </a:ext>
            </a:extLst>
          </p:cNvPr>
          <p:cNvSpPr txBox="1"/>
          <p:nvPr/>
        </p:nvSpPr>
        <p:spPr>
          <a:xfrm>
            <a:off x="7038729" y="1561787"/>
            <a:ext cx="2075688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③ 自分へDM＝通知ハブ化</a:t>
            </a:r>
          </a:p>
        </p:txBody>
      </p:sp>
      <p:sp>
        <p:nvSpPr>
          <p:cNvPr id="54" name="Rounded Rectangle 24">
            <a:extLst>
              <a:ext uri="{FF2B5EF4-FFF2-40B4-BE49-F238E27FC236}">
                <a16:creationId xmlns:a16="http://schemas.microsoft.com/office/drawing/2014/main" id="{9A4FC44E-7C33-0CA2-E83C-72830BB48A2D}"/>
              </a:ext>
            </a:extLst>
          </p:cNvPr>
          <p:cNvSpPr/>
          <p:nvPr/>
        </p:nvSpPr>
        <p:spPr>
          <a:xfrm>
            <a:off x="6162867" y="2294828"/>
            <a:ext cx="1367028" cy="384048"/>
          </a:xfrm>
          <a:prstGeom prst="roundRect">
            <a:avLst>
              <a:gd name="adj" fmla="val 12000"/>
            </a:avLst>
          </a:prstGeom>
          <a:solidFill>
            <a:srgbClr val="4B55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フロー完了</a:t>
            </a:r>
          </a:p>
        </p:txBody>
      </p:sp>
      <p:sp>
        <p:nvSpPr>
          <p:cNvPr id="61" name="TextBox 27">
            <a:extLst>
              <a:ext uri="{FF2B5EF4-FFF2-40B4-BE49-F238E27FC236}">
                <a16:creationId xmlns:a16="http://schemas.microsoft.com/office/drawing/2014/main" id="{7666EE73-C59E-1875-7B9B-779202DD896E}"/>
              </a:ext>
            </a:extLst>
          </p:cNvPr>
          <p:cNvSpPr txBox="1"/>
          <p:nvPr/>
        </p:nvSpPr>
        <p:spPr>
          <a:xfrm>
            <a:off x="6563847" y="2725284"/>
            <a:ext cx="2578608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💡 UPNを入れる</a:t>
            </a:r>
            <a:endParaRPr lang="en-US"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ja-JP" alt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　 </a:t>
            </a:r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だけでOK</a:t>
            </a:r>
          </a:p>
        </p:txBody>
      </p:sp>
      <p:sp>
        <p:nvSpPr>
          <p:cNvPr id="63" name="Rounded Rectangle 28">
            <a:extLst>
              <a:ext uri="{FF2B5EF4-FFF2-40B4-BE49-F238E27FC236}">
                <a16:creationId xmlns:a16="http://schemas.microsoft.com/office/drawing/2014/main" id="{DF23009C-261C-143D-1E2C-626F99DA343C}"/>
              </a:ext>
            </a:extLst>
          </p:cNvPr>
          <p:cNvSpPr/>
          <p:nvPr/>
        </p:nvSpPr>
        <p:spPr>
          <a:xfrm>
            <a:off x="9040432" y="1463040"/>
            <a:ext cx="2816352" cy="192127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22860">
            <a:solidFill>
              <a:srgbClr val="2563E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5" name="Rounded Rectangle 29">
            <a:extLst>
              <a:ext uri="{FF2B5EF4-FFF2-40B4-BE49-F238E27FC236}">
                <a16:creationId xmlns:a16="http://schemas.microsoft.com/office/drawing/2014/main" id="{608280B2-89EE-CE44-5C28-219D3A01A844}"/>
              </a:ext>
            </a:extLst>
          </p:cNvPr>
          <p:cNvSpPr/>
          <p:nvPr/>
        </p:nvSpPr>
        <p:spPr>
          <a:xfrm>
            <a:off x="8998451" y="1523094"/>
            <a:ext cx="932588" cy="384048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Lv.2</a:t>
            </a:r>
          </a:p>
        </p:txBody>
      </p:sp>
      <p:sp>
        <p:nvSpPr>
          <p:cNvPr id="67" name="TextBox 30">
            <a:extLst>
              <a:ext uri="{FF2B5EF4-FFF2-40B4-BE49-F238E27FC236}">
                <a16:creationId xmlns:a16="http://schemas.microsoft.com/office/drawing/2014/main" id="{C8EC9E95-F547-7874-8E78-72F87E668C31}"/>
              </a:ext>
            </a:extLst>
          </p:cNvPr>
          <p:cNvSpPr txBox="1"/>
          <p:nvPr/>
        </p:nvSpPr>
        <p:spPr>
          <a:xfrm>
            <a:off x="9972483" y="1555659"/>
            <a:ext cx="2075688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④ 送信先を</a:t>
            </a:r>
            <a:endParaRPr lang="en-US" sz="2000"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l"/>
            <a:r>
              <a:rPr sz="2000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データから決定</a:t>
            </a:r>
          </a:p>
        </p:txBody>
      </p:sp>
      <p:sp>
        <p:nvSpPr>
          <p:cNvPr id="71" name="Rounded Rectangle 31">
            <a:extLst>
              <a:ext uri="{FF2B5EF4-FFF2-40B4-BE49-F238E27FC236}">
                <a16:creationId xmlns:a16="http://schemas.microsoft.com/office/drawing/2014/main" id="{14A810CA-CB32-5600-12B7-5B294650832D}"/>
              </a:ext>
            </a:extLst>
          </p:cNvPr>
          <p:cNvSpPr/>
          <p:nvPr/>
        </p:nvSpPr>
        <p:spPr>
          <a:xfrm>
            <a:off x="9142455" y="2260641"/>
            <a:ext cx="1289304" cy="384048"/>
          </a:xfrm>
          <a:prstGeom prst="roundRect">
            <a:avLst>
              <a:gd name="adj" fmla="val 12000"/>
            </a:avLst>
          </a:prstGeom>
          <a:solidFill>
            <a:srgbClr val="4B55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SP担当者列</a:t>
            </a:r>
          </a:p>
        </p:txBody>
      </p:sp>
      <p:sp>
        <p:nvSpPr>
          <p:cNvPr id="75" name="Rounded Rectangle 33">
            <a:extLst>
              <a:ext uri="{FF2B5EF4-FFF2-40B4-BE49-F238E27FC236}">
                <a16:creationId xmlns:a16="http://schemas.microsoft.com/office/drawing/2014/main" id="{C2D372B1-86E9-917F-0685-6B41C97529F7}"/>
              </a:ext>
            </a:extLst>
          </p:cNvPr>
          <p:cNvSpPr/>
          <p:nvPr/>
        </p:nvSpPr>
        <p:spPr>
          <a:xfrm>
            <a:off x="10530656" y="2242226"/>
            <a:ext cx="1466285" cy="38404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その人へDM</a:t>
            </a:r>
          </a:p>
        </p:txBody>
      </p:sp>
      <p:sp>
        <p:nvSpPr>
          <p:cNvPr id="76" name="TextBox 34">
            <a:extLst>
              <a:ext uri="{FF2B5EF4-FFF2-40B4-BE49-F238E27FC236}">
                <a16:creationId xmlns:a16="http://schemas.microsoft.com/office/drawing/2014/main" id="{2B7806F5-F741-29ED-A38C-1170AE302D93}"/>
              </a:ext>
            </a:extLst>
          </p:cNvPr>
          <p:cNvSpPr txBox="1"/>
          <p:nvPr/>
        </p:nvSpPr>
        <p:spPr>
          <a:xfrm>
            <a:off x="9142455" y="2707011"/>
            <a:ext cx="2578608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💡 担当者変更も</a:t>
            </a:r>
            <a:endParaRPr lang="en-US"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r>
              <a:rPr 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      </a:t>
            </a:r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自動対応</a:t>
            </a:r>
          </a:p>
        </p:txBody>
      </p:sp>
      <p:sp>
        <p:nvSpPr>
          <p:cNvPr id="77" name="Rounded Rectangle 35">
            <a:extLst>
              <a:ext uri="{FF2B5EF4-FFF2-40B4-BE49-F238E27FC236}">
                <a16:creationId xmlns:a16="http://schemas.microsoft.com/office/drawing/2014/main" id="{83FC9B28-9C15-5547-3A7B-4A184737EF13}"/>
              </a:ext>
            </a:extLst>
          </p:cNvPr>
          <p:cNvSpPr/>
          <p:nvPr/>
        </p:nvSpPr>
        <p:spPr>
          <a:xfrm>
            <a:off x="310561" y="3749311"/>
            <a:ext cx="3767328" cy="166420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2860">
            <a:solidFill>
              <a:srgbClr val="DC262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8" name="Rounded Rectangle 36">
            <a:extLst>
              <a:ext uri="{FF2B5EF4-FFF2-40B4-BE49-F238E27FC236}">
                <a16:creationId xmlns:a16="http://schemas.microsoft.com/office/drawing/2014/main" id="{6F2386AB-35B5-6DA1-D92E-C3DE874DB895}"/>
              </a:ext>
            </a:extLst>
          </p:cNvPr>
          <p:cNvSpPr/>
          <p:nvPr/>
        </p:nvSpPr>
        <p:spPr>
          <a:xfrm>
            <a:off x="138748" y="3851599"/>
            <a:ext cx="916295" cy="374536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Lv.3</a:t>
            </a:r>
          </a:p>
        </p:txBody>
      </p:sp>
      <p:sp>
        <p:nvSpPr>
          <p:cNvPr id="79" name="TextBox 37">
            <a:extLst>
              <a:ext uri="{FF2B5EF4-FFF2-40B4-BE49-F238E27FC236}">
                <a16:creationId xmlns:a16="http://schemas.microsoft.com/office/drawing/2014/main" id="{384DBDAC-B643-2018-B875-00F5E2E42067}"/>
              </a:ext>
            </a:extLst>
          </p:cNvPr>
          <p:cNvSpPr txBox="1"/>
          <p:nvPr/>
        </p:nvSpPr>
        <p:spPr>
          <a:xfrm>
            <a:off x="1036830" y="3809681"/>
            <a:ext cx="2901249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⑤ 期限切れ検出×</a:t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l"/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　　　　</a:t>
            </a:r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個別DM自動送信</a:t>
            </a:r>
          </a:p>
        </p:txBody>
      </p:sp>
      <p:sp>
        <p:nvSpPr>
          <p:cNvPr id="80" name="Rounded Rectangle 38">
            <a:extLst>
              <a:ext uri="{FF2B5EF4-FFF2-40B4-BE49-F238E27FC236}">
                <a16:creationId xmlns:a16="http://schemas.microsoft.com/office/drawing/2014/main" id="{1A050346-76B3-0657-E0E4-2E4B20B3B543}"/>
              </a:ext>
            </a:extLst>
          </p:cNvPr>
          <p:cNvSpPr/>
          <p:nvPr/>
        </p:nvSpPr>
        <p:spPr>
          <a:xfrm>
            <a:off x="356000" y="4547900"/>
            <a:ext cx="1084474" cy="402336"/>
          </a:xfrm>
          <a:prstGeom prst="roundRect">
            <a:avLst>
              <a:gd name="adj" fmla="val 12000"/>
            </a:avLst>
          </a:prstGeom>
          <a:solidFill>
            <a:srgbClr val="4B55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毎朝9時</a:t>
            </a:r>
          </a:p>
        </p:txBody>
      </p:sp>
      <p:cxnSp>
        <p:nvCxnSpPr>
          <p:cNvPr id="81" name="Connector 39">
            <a:extLst>
              <a:ext uri="{FF2B5EF4-FFF2-40B4-BE49-F238E27FC236}">
                <a16:creationId xmlns:a16="http://schemas.microsoft.com/office/drawing/2014/main" id="{8F680C96-F406-241D-3393-92108780FE55}"/>
              </a:ext>
            </a:extLst>
          </p:cNvPr>
          <p:cNvCxnSpPr/>
          <p:nvPr/>
        </p:nvCxnSpPr>
        <p:spPr>
          <a:xfrm>
            <a:off x="1529545" y="4756757"/>
            <a:ext cx="219456" cy="0"/>
          </a:xfrm>
          <a:prstGeom prst="line">
            <a:avLst/>
          </a:prstGeom>
          <a:ln w="25400">
            <a:solidFill>
              <a:srgbClr val="2563EB"/>
            </a:solidFill>
            <a:headEnd type="none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40">
            <a:extLst>
              <a:ext uri="{FF2B5EF4-FFF2-40B4-BE49-F238E27FC236}">
                <a16:creationId xmlns:a16="http://schemas.microsoft.com/office/drawing/2014/main" id="{37522F00-0789-9B87-5BFF-23AD267817E2}"/>
              </a:ext>
            </a:extLst>
          </p:cNvPr>
          <p:cNvSpPr/>
          <p:nvPr/>
        </p:nvSpPr>
        <p:spPr>
          <a:xfrm>
            <a:off x="1666333" y="4560040"/>
            <a:ext cx="1084474" cy="402336"/>
          </a:xfrm>
          <a:prstGeom prst="roundRect">
            <a:avLst>
              <a:gd name="adj" fmla="val 12000"/>
            </a:avLst>
          </a:prstGeom>
          <a:solidFill>
            <a:srgbClr val="4B55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Excel確認</a:t>
            </a:r>
          </a:p>
        </p:txBody>
      </p:sp>
      <p:sp>
        <p:nvSpPr>
          <p:cNvPr id="84" name="Rounded Rectangle 42">
            <a:extLst>
              <a:ext uri="{FF2B5EF4-FFF2-40B4-BE49-F238E27FC236}">
                <a16:creationId xmlns:a16="http://schemas.microsoft.com/office/drawing/2014/main" id="{DE067008-69BC-9EA4-EE73-1CAA2CAFCAB7}"/>
              </a:ext>
            </a:extLst>
          </p:cNvPr>
          <p:cNvSpPr/>
          <p:nvPr/>
        </p:nvSpPr>
        <p:spPr>
          <a:xfrm>
            <a:off x="2944496" y="4537277"/>
            <a:ext cx="1084474" cy="40233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担当者DM</a:t>
            </a:r>
          </a:p>
        </p:txBody>
      </p:sp>
      <p:sp>
        <p:nvSpPr>
          <p:cNvPr id="85" name="TextBox 43">
            <a:extLst>
              <a:ext uri="{FF2B5EF4-FFF2-40B4-BE49-F238E27FC236}">
                <a16:creationId xmlns:a16="http://schemas.microsoft.com/office/drawing/2014/main" id="{233C03AF-1D82-F777-D41A-8E1B242EC318}"/>
              </a:ext>
            </a:extLst>
          </p:cNvPr>
          <p:cNvSpPr txBox="1"/>
          <p:nvPr/>
        </p:nvSpPr>
        <p:spPr>
          <a:xfrm>
            <a:off x="379601" y="5086012"/>
            <a:ext cx="3529584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C262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🔥 催促メールを手で送る時代は終わり！</a:t>
            </a:r>
          </a:p>
        </p:txBody>
      </p:sp>
      <p:sp>
        <p:nvSpPr>
          <p:cNvPr id="86" name="Rounded Rectangle 44">
            <a:extLst>
              <a:ext uri="{FF2B5EF4-FFF2-40B4-BE49-F238E27FC236}">
                <a16:creationId xmlns:a16="http://schemas.microsoft.com/office/drawing/2014/main" id="{F76FAEF6-837B-3A5A-008D-5968BAAD0332}"/>
              </a:ext>
            </a:extLst>
          </p:cNvPr>
          <p:cNvSpPr/>
          <p:nvPr/>
        </p:nvSpPr>
        <p:spPr>
          <a:xfrm>
            <a:off x="4207827" y="3749311"/>
            <a:ext cx="3767328" cy="166420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2860">
            <a:solidFill>
              <a:srgbClr val="DC262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88" name="TextBox 46">
            <a:extLst>
              <a:ext uri="{FF2B5EF4-FFF2-40B4-BE49-F238E27FC236}">
                <a16:creationId xmlns:a16="http://schemas.microsoft.com/office/drawing/2014/main" id="{B332A649-A8DE-DF44-1A5E-D952F74C4F27}"/>
              </a:ext>
            </a:extLst>
          </p:cNvPr>
          <p:cNvSpPr txBox="1"/>
          <p:nvPr/>
        </p:nvSpPr>
        <p:spPr>
          <a:xfrm>
            <a:off x="5034068" y="3813499"/>
            <a:ext cx="2889504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⑥ フロー失敗時の</a:t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l"/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　　　</a:t>
            </a:r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自己通知ハック</a:t>
            </a:r>
          </a:p>
        </p:txBody>
      </p:sp>
      <p:sp>
        <p:nvSpPr>
          <p:cNvPr id="89" name="Rounded Rectangle 47">
            <a:extLst>
              <a:ext uri="{FF2B5EF4-FFF2-40B4-BE49-F238E27FC236}">
                <a16:creationId xmlns:a16="http://schemas.microsoft.com/office/drawing/2014/main" id="{3BE7A549-A717-2A83-9015-68F08EAC83C4}"/>
              </a:ext>
            </a:extLst>
          </p:cNvPr>
          <p:cNvSpPr/>
          <p:nvPr/>
        </p:nvSpPr>
        <p:spPr>
          <a:xfrm>
            <a:off x="4281466" y="4569316"/>
            <a:ext cx="1084600" cy="402336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処理失敗</a:t>
            </a:r>
          </a:p>
        </p:txBody>
      </p:sp>
      <p:cxnSp>
        <p:nvCxnSpPr>
          <p:cNvPr id="90" name="Connector 48">
            <a:extLst>
              <a:ext uri="{FF2B5EF4-FFF2-40B4-BE49-F238E27FC236}">
                <a16:creationId xmlns:a16="http://schemas.microsoft.com/office/drawing/2014/main" id="{A527F34F-AECB-A874-C951-4F6CFA245C7A}"/>
              </a:ext>
            </a:extLst>
          </p:cNvPr>
          <p:cNvCxnSpPr/>
          <p:nvPr/>
        </p:nvCxnSpPr>
        <p:spPr>
          <a:xfrm>
            <a:off x="5451412" y="4770484"/>
            <a:ext cx="219456" cy="0"/>
          </a:xfrm>
          <a:prstGeom prst="line">
            <a:avLst/>
          </a:prstGeom>
          <a:ln w="25400">
            <a:solidFill>
              <a:srgbClr val="2563EB"/>
            </a:solidFill>
            <a:headEnd type="none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49">
            <a:extLst>
              <a:ext uri="{FF2B5EF4-FFF2-40B4-BE49-F238E27FC236}">
                <a16:creationId xmlns:a16="http://schemas.microsoft.com/office/drawing/2014/main" id="{420B8084-D02D-539A-1D19-5453313BB132}"/>
              </a:ext>
            </a:extLst>
          </p:cNvPr>
          <p:cNvSpPr/>
          <p:nvPr/>
        </p:nvSpPr>
        <p:spPr>
          <a:xfrm>
            <a:off x="5556452" y="4494382"/>
            <a:ext cx="1084600" cy="477270"/>
          </a:xfrm>
          <a:prstGeom prst="roundRect">
            <a:avLst>
              <a:gd name="adj" fmla="val 12000"/>
            </a:avLst>
          </a:prstGeom>
          <a:solidFill>
            <a:srgbClr val="4B55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Run After</a:t>
            </a:r>
          </a:p>
        </p:txBody>
      </p:sp>
      <p:sp>
        <p:nvSpPr>
          <p:cNvPr id="93" name="Rounded Rectangle 51">
            <a:extLst>
              <a:ext uri="{FF2B5EF4-FFF2-40B4-BE49-F238E27FC236}">
                <a16:creationId xmlns:a16="http://schemas.microsoft.com/office/drawing/2014/main" id="{E5920876-2DCA-E948-B91D-CE4E392BE00D}"/>
              </a:ext>
            </a:extLst>
          </p:cNvPr>
          <p:cNvSpPr/>
          <p:nvPr/>
        </p:nvSpPr>
        <p:spPr>
          <a:xfrm>
            <a:off x="6935290" y="4567945"/>
            <a:ext cx="988282" cy="40233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自分DM</a:t>
            </a:r>
          </a:p>
        </p:txBody>
      </p:sp>
      <p:sp>
        <p:nvSpPr>
          <p:cNvPr id="94" name="TextBox 52">
            <a:extLst>
              <a:ext uri="{FF2B5EF4-FFF2-40B4-BE49-F238E27FC236}">
                <a16:creationId xmlns:a16="http://schemas.microsoft.com/office/drawing/2014/main" id="{E024FE8F-F238-D58A-5DD4-F1BF9F83BB84}"/>
              </a:ext>
            </a:extLst>
          </p:cNvPr>
          <p:cNvSpPr txBox="1"/>
          <p:nvPr/>
        </p:nvSpPr>
        <p:spPr>
          <a:xfrm>
            <a:off x="4215415" y="5073211"/>
            <a:ext cx="3840427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C262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🔥 自動化の"壊れ"も自動で気づける！</a:t>
            </a:r>
          </a:p>
        </p:txBody>
      </p:sp>
      <p:sp>
        <p:nvSpPr>
          <p:cNvPr id="95" name="Rounded Rectangle 53">
            <a:extLst>
              <a:ext uri="{FF2B5EF4-FFF2-40B4-BE49-F238E27FC236}">
                <a16:creationId xmlns:a16="http://schemas.microsoft.com/office/drawing/2014/main" id="{AC057049-06F3-9743-7317-BF8A841F29A3}"/>
              </a:ext>
            </a:extLst>
          </p:cNvPr>
          <p:cNvSpPr/>
          <p:nvPr/>
        </p:nvSpPr>
        <p:spPr>
          <a:xfrm>
            <a:off x="8126031" y="3749311"/>
            <a:ext cx="3767328" cy="166420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2860">
            <a:solidFill>
              <a:srgbClr val="DC262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7" name="TextBox 55">
            <a:extLst>
              <a:ext uri="{FF2B5EF4-FFF2-40B4-BE49-F238E27FC236}">
                <a16:creationId xmlns:a16="http://schemas.microsoft.com/office/drawing/2014/main" id="{C91B7E20-44B5-7947-1ED6-FEB6C382D5E4}"/>
              </a:ext>
            </a:extLst>
          </p:cNvPr>
          <p:cNvSpPr txBox="1"/>
          <p:nvPr/>
        </p:nvSpPr>
        <p:spPr>
          <a:xfrm>
            <a:off x="8866695" y="3820940"/>
            <a:ext cx="3052200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⑦ 条件分岐×</a:t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l"/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　　</a:t>
            </a:r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自動エスカレーション</a:t>
            </a:r>
          </a:p>
        </p:txBody>
      </p:sp>
      <p:sp>
        <p:nvSpPr>
          <p:cNvPr id="98" name="Rounded Rectangle 56">
            <a:extLst>
              <a:ext uri="{FF2B5EF4-FFF2-40B4-BE49-F238E27FC236}">
                <a16:creationId xmlns:a16="http://schemas.microsoft.com/office/drawing/2014/main" id="{4AD95294-666D-FEB9-A57B-A07BD56E173D}"/>
              </a:ext>
            </a:extLst>
          </p:cNvPr>
          <p:cNvSpPr/>
          <p:nvPr/>
        </p:nvSpPr>
        <p:spPr>
          <a:xfrm>
            <a:off x="8284029" y="4552318"/>
            <a:ext cx="1043402" cy="402336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24h放置</a:t>
            </a:r>
          </a:p>
        </p:txBody>
      </p:sp>
      <p:cxnSp>
        <p:nvCxnSpPr>
          <p:cNvPr id="99" name="Connector 57">
            <a:extLst>
              <a:ext uri="{FF2B5EF4-FFF2-40B4-BE49-F238E27FC236}">
                <a16:creationId xmlns:a16="http://schemas.microsoft.com/office/drawing/2014/main" id="{2AAD3973-EA96-C3AD-00B3-B430FDCADF08}"/>
              </a:ext>
            </a:extLst>
          </p:cNvPr>
          <p:cNvCxnSpPr>
            <a:cxnSpLocks/>
          </p:cNvCxnSpPr>
          <p:nvPr/>
        </p:nvCxnSpPr>
        <p:spPr>
          <a:xfrm>
            <a:off x="9292435" y="4753486"/>
            <a:ext cx="263596" cy="0"/>
          </a:xfrm>
          <a:prstGeom prst="line">
            <a:avLst/>
          </a:prstGeom>
          <a:ln w="25400">
            <a:solidFill>
              <a:srgbClr val="2563EB"/>
            </a:solidFill>
            <a:headEnd type="none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58">
            <a:extLst>
              <a:ext uri="{FF2B5EF4-FFF2-40B4-BE49-F238E27FC236}">
                <a16:creationId xmlns:a16="http://schemas.microsoft.com/office/drawing/2014/main" id="{7D782288-2901-7BD5-F47C-1A99B5F02B2A}"/>
              </a:ext>
            </a:extLst>
          </p:cNvPr>
          <p:cNvSpPr/>
          <p:nvPr/>
        </p:nvSpPr>
        <p:spPr>
          <a:xfrm>
            <a:off x="9390453" y="4552318"/>
            <a:ext cx="1043402" cy="402336"/>
          </a:xfrm>
          <a:prstGeom prst="roundRect">
            <a:avLst>
              <a:gd name="adj" fmla="val 12000"/>
            </a:avLst>
          </a:prstGeom>
          <a:solidFill>
            <a:srgbClr val="4B55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DM再送</a:t>
            </a:r>
          </a:p>
        </p:txBody>
      </p:sp>
      <p:cxnSp>
        <p:nvCxnSpPr>
          <p:cNvPr id="101" name="Connector 59">
            <a:extLst>
              <a:ext uri="{FF2B5EF4-FFF2-40B4-BE49-F238E27FC236}">
                <a16:creationId xmlns:a16="http://schemas.microsoft.com/office/drawing/2014/main" id="{1217CD42-81FD-E3E7-9553-301D41933E30}"/>
              </a:ext>
            </a:extLst>
          </p:cNvPr>
          <p:cNvCxnSpPr>
            <a:cxnSpLocks/>
          </p:cNvCxnSpPr>
          <p:nvPr/>
        </p:nvCxnSpPr>
        <p:spPr>
          <a:xfrm>
            <a:off x="10398859" y="4753486"/>
            <a:ext cx="263596" cy="0"/>
          </a:xfrm>
          <a:prstGeom prst="line">
            <a:avLst/>
          </a:prstGeom>
          <a:ln w="25400">
            <a:solidFill>
              <a:srgbClr val="2563EB"/>
            </a:solidFill>
            <a:headEnd type="none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60">
            <a:extLst>
              <a:ext uri="{FF2B5EF4-FFF2-40B4-BE49-F238E27FC236}">
                <a16:creationId xmlns:a16="http://schemas.microsoft.com/office/drawing/2014/main" id="{DE809F1A-4DE0-AFD1-1177-823191E046CC}"/>
              </a:ext>
            </a:extLst>
          </p:cNvPr>
          <p:cNvSpPr/>
          <p:nvPr/>
        </p:nvSpPr>
        <p:spPr>
          <a:xfrm>
            <a:off x="10496877" y="4552318"/>
            <a:ext cx="1259322" cy="402336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上長へ通知</a:t>
            </a:r>
          </a:p>
        </p:txBody>
      </p:sp>
      <p:sp>
        <p:nvSpPr>
          <p:cNvPr id="103" name="TextBox 61">
            <a:extLst>
              <a:ext uri="{FF2B5EF4-FFF2-40B4-BE49-F238E27FC236}">
                <a16:creationId xmlns:a16="http://schemas.microsoft.com/office/drawing/2014/main" id="{3867EE9D-E264-7CDA-D6FC-695CC3F235F6}"/>
              </a:ext>
            </a:extLst>
          </p:cNvPr>
          <p:cNvSpPr txBox="1"/>
          <p:nvPr/>
        </p:nvSpPr>
        <p:spPr>
          <a:xfrm>
            <a:off x="8100495" y="5050894"/>
            <a:ext cx="3774578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C262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🔥 承認の"放置問題"を根絶できる！</a:t>
            </a:r>
          </a:p>
        </p:txBody>
      </p:sp>
      <p:cxnSp>
        <p:nvCxnSpPr>
          <p:cNvPr id="104" name="Connector 62">
            <a:extLst>
              <a:ext uri="{FF2B5EF4-FFF2-40B4-BE49-F238E27FC236}">
                <a16:creationId xmlns:a16="http://schemas.microsoft.com/office/drawing/2014/main" id="{EC6A86E5-6B3C-BA2A-D3A6-CFBD7E6204E1}"/>
              </a:ext>
            </a:extLst>
          </p:cNvPr>
          <p:cNvCxnSpPr/>
          <p:nvPr/>
        </p:nvCxnSpPr>
        <p:spPr>
          <a:xfrm>
            <a:off x="207264" y="5551932"/>
            <a:ext cx="11777472" cy="0"/>
          </a:xfrm>
          <a:prstGeom prst="line">
            <a:avLst/>
          </a:prstGeom>
          <a:ln w="10160">
            <a:solidFill>
              <a:srgbClr val="4B556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64">
            <a:extLst>
              <a:ext uri="{FF2B5EF4-FFF2-40B4-BE49-F238E27FC236}">
                <a16:creationId xmlns:a16="http://schemas.microsoft.com/office/drawing/2014/main" id="{B4D3B754-E4E7-D6CA-89E0-6943CB42D70F}"/>
              </a:ext>
            </a:extLst>
          </p:cNvPr>
          <p:cNvSpPr/>
          <p:nvPr/>
        </p:nvSpPr>
        <p:spPr>
          <a:xfrm>
            <a:off x="435927" y="5799353"/>
            <a:ext cx="3671316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6A34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7" name="TextBox 65">
            <a:extLst>
              <a:ext uri="{FF2B5EF4-FFF2-40B4-BE49-F238E27FC236}">
                <a16:creationId xmlns:a16="http://schemas.microsoft.com/office/drawing/2014/main" id="{53D275D1-73EE-D607-9A4F-44AD807B1E83}"/>
              </a:ext>
            </a:extLst>
          </p:cNvPr>
          <p:cNvSpPr txBox="1"/>
          <p:nvPr/>
        </p:nvSpPr>
        <p:spPr>
          <a:xfrm>
            <a:off x="429375" y="5807837"/>
            <a:ext cx="3218687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A34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🟢 Lv.1  基本</a:t>
            </a:r>
          </a:p>
        </p:txBody>
      </p:sp>
      <p:sp>
        <p:nvSpPr>
          <p:cNvPr id="108" name="TextBox 66">
            <a:extLst>
              <a:ext uri="{FF2B5EF4-FFF2-40B4-BE49-F238E27FC236}">
                <a16:creationId xmlns:a16="http://schemas.microsoft.com/office/drawing/2014/main" id="{02C325E8-4847-8ED5-B1FF-7EE78874B7E1}"/>
              </a:ext>
            </a:extLst>
          </p:cNvPr>
          <p:cNvSpPr txBox="1"/>
          <p:nvPr/>
        </p:nvSpPr>
        <p:spPr>
          <a:xfrm>
            <a:off x="943420" y="6174257"/>
            <a:ext cx="3218687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まずはここから挑戦</a:t>
            </a:r>
          </a:p>
        </p:txBody>
      </p:sp>
      <p:sp>
        <p:nvSpPr>
          <p:cNvPr id="109" name="Rounded Rectangle 67">
            <a:extLst>
              <a:ext uri="{FF2B5EF4-FFF2-40B4-BE49-F238E27FC236}">
                <a16:creationId xmlns:a16="http://schemas.microsoft.com/office/drawing/2014/main" id="{D2F4B50E-3605-0CD2-7B64-B3B9EDC095A1}"/>
              </a:ext>
            </a:extLst>
          </p:cNvPr>
          <p:cNvSpPr/>
          <p:nvPr/>
        </p:nvSpPr>
        <p:spPr>
          <a:xfrm>
            <a:off x="4335842" y="5793327"/>
            <a:ext cx="347472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0" name="TextBox 68">
            <a:extLst>
              <a:ext uri="{FF2B5EF4-FFF2-40B4-BE49-F238E27FC236}">
                <a16:creationId xmlns:a16="http://schemas.microsoft.com/office/drawing/2014/main" id="{799451E5-C477-EE69-96B6-D0BCDF031482}"/>
              </a:ext>
            </a:extLst>
          </p:cNvPr>
          <p:cNvSpPr txBox="1"/>
          <p:nvPr/>
        </p:nvSpPr>
        <p:spPr>
          <a:xfrm>
            <a:off x="4329290" y="5788915"/>
            <a:ext cx="3218687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🔵 Lv.2  応用</a:t>
            </a:r>
          </a:p>
        </p:txBody>
      </p:sp>
      <p:sp>
        <p:nvSpPr>
          <p:cNvPr id="111" name="TextBox 69">
            <a:extLst>
              <a:ext uri="{FF2B5EF4-FFF2-40B4-BE49-F238E27FC236}">
                <a16:creationId xmlns:a16="http://schemas.microsoft.com/office/drawing/2014/main" id="{46633153-5A36-0F44-B00A-954D1B4143AC}"/>
              </a:ext>
            </a:extLst>
          </p:cNvPr>
          <p:cNvSpPr txBox="1"/>
          <p:nvPr/>
        </p:nvSpPr>
        <p:spPr>
          <a:xfrm>
            <a:off x="4965299" y="6185195"/>
            <a:ext cx="2544994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一歩進んだ活用術</a:t>
            </a:r>
          </a:p>
        </p:txBody>
      </p:sp>
      <p:sp>
        <p:nvSpPr>
          <p:cNvPr id="112" name="Rounded Rectangle 70">
            <a:extLst>
              <a:ext uri="{FF2B5EF4-FFF2-40B4-BE49-F238E27FC236}">
                <a16:creationId xmlns:a16="http://schemas.microsoft.com/office/drawing/2014/main" id="{061C1971-5387-19CE-CEF3-EA02880BEB62}"/>
              </a:ext>
            </a:extLst>
          </p:cNvPr>
          <p:cNvSpPr/>
          <p:nvPr/>
        </p:nvSpPr>
        <p:spPr>
          <a:xfrm>
            <a:off x="8348396" y="5788518"/>
            <a:ext cx="347472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DC262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13" name="TextBox 71">
            <a:extLst>
              <a:ext uri="{FF2B5EF4-FFF2-40B4-BE49-F238E27FC236}">
                <a16:creationId xmlns:a16="http://schemas.microsoft.com/office/drawing/2014/main" id="{98BD5023-13EE-C59C-E1BE-2EAAFB47F025}"/>
              </a:ext>
            </a:extLst>
          </p:cNvPr>
          <p:cNvSpPr txBox="1"/>
          <p:nvPr/>
        </p:nvSpPr>
        <p:spPr>
          <a:xfrm>
            <a:off x="8304951" y="5769634"/>
            <a:ext cx="3218687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C262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🔴 Lv.3  上級</a:t>
            </a:r>
          </a:p>
        </p:txBody>
      </p:sp>
      <p:sp>
        <p:nvSpPr>
          <p:cNvPr id="114" name="TextBox 72">
            <a:extLst>
              <a:ext uri="{FF2B5EF4-FFF2-40B4-BE49-F238E27FC236}">
                <a16:creationId xmlns:a16="http://schemas.microsoft.com/office/drawing/2014/main" id="{3FD0D4FB-B82E-999F-7C87-DFD4579E5552}"/>
              </a:ext>
            </a:extLst>
          </p:cNvPr>
          <p:cNvSpPr txBox="1"/>
          <p:nvPr/>
        </p:nvSpPr>
        <p:spPr>
          <a:xfrm>
            <a:off x="9244509" y="6180067"/>
            <a:ext cx="2745749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保証テクニック</a:t>
            </a:r>
          </a:p>
        </p:txBody>
      </p:sp>
      <p:pic>
        <p:nvPicPr>
          <p:cNvPr id="118" name="Image 10" descr="preencoded.png">
            <a:extLst>
              <a:ext uri="{FF2B5EF4-FFF2-40B4-BE49-F238E27FC236}">
                <a16:creationId xmlns:a16="http://schemas.microsoft.com/office/drawing/2014/main" id="{BBB2D79F-E15C-90B9-07C0-F89F494A9F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1410899" y="4500994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9" name="Image 10" descr="preencoded.png">
            <a:extLst>
              <a:ext uri="{FF2B5EF4-FFF2-40B4-BE49-F238E27FC236}">
                <a16:creationId xmlns:a16="http://schemas.microsoft.com/office/drawing/2014/main" id="{0A86281D-963D-911C-F3EE-BB3F92BC2D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2697640" y="4505371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0" name="Image 10" descr="preencoded.png">
            <a:extLst>
              <a:ext uri="{FF2B5EF4-FFF2-40B4-BE49-F238E27FC236}">
                <a16:creationId xmlns:a16="http://schemas.microsoft.com/office/drawing/2014/main" id="{49EE2223-093E-BC4F-1C2B-2E1366D51C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5333497" y="4526416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1" name="Image 10" descr="preencoded.png">
            <a:extLst>
              <a:ext uri="{FF2B5EF4-FFF2-40B4-BE49-F238E27FC236}">
                <a16:creationId xmlns:a16="http://schemas.microsoft.com/office/drawing/2014/main" id="{5CFB4660-7E41-154A-6F76-077BDF2DD7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6645494" y="4533206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2" name="Rounded Rectangle 36">
            <a:extLst>
              <a:ext uri="{FF2B5EF4-FFF2-40B4-BE49-F238E27FC236}">
                <a16:creationId xmlns:a16="http://schemas.microsoft.com/office/drawing/2014/main" id="{C6CCBFE8-A63E-03CB-F884-6CC55597A6A1}"/>
              </a:ext>
            </a:extLst>
          </p:cNvPr>
          <p:cNvSpPr/>
          <p:nvPr/>
        </p:nvSpPr>
        <p:spPr>
          <a:xfrm>
            <a:off x="4138300" y="3851599"/>
            <a:ext cx="916295" cy="374536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Lv.3</a:t>
            </a:r>
          </a:p>
        </p:txBody>
      </p:sp>
      <p:sp>
        <p:nvSpPr>
          <p:cNvPr id="123" name="Rounded Rectangle 36">
            <a:extLst>
              <a:ext uri="{FF2B5EF4-FFF2-40B4-BE49-F238E27FC236}">
                <a16:creationId xmlns:a16="http://schemas.microsoft.com/office/drawing/2014/main" id="{644917AF-2E5D-0BF6-BC35-9764D091FED2}"/>
              </a:ext>
            </a:extLst>
          </p:cNvPr>
          <p:cNvSpPr/>
          <p:nvPr/>
        </p:nvSpPr>
        <p:spPr>
          <a:xfrm>
            <a:off x="7982005" y="3851599"/>
            <a:ext cx="916295" cy="374536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Lv.3</a:t>
            </a:r>
          </a:p>
        </p:txBody>
      </p:sp>
      <p:sp>
        <p:nvSpPr>
          <p:cNvPr id="60" name="Rounded Rectangle 26">
            <a:extLst>
              <a:ext uri="{FF2B5EF4-FFF2-40B4-BE49-F238E27FC236}">
                <a16:creationId xmlns:a16="http://schemas.microsoft.com/office/drawing/2014/main" id="{4F97F8B6-CD9E-2853-13C7-4561537343C1}"/>
              </a:ext>
            </a:extLst>
          </p:cNvPr>
          <p:cNvSpPr/>
          <p:nvPr/>
        </p:nvSpPr>
        <p:spPr>
          <a:xfrm>
            <a:off x="7592886" y="2277114"/>
            <a:ext cx="1447539" cy="38404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自分チャット</a:t>
            </a:r>
          </a:p>
        </p:txBody>
      </p:sp>
      <p:pic>
        <p:nvPicPr>
          <p:cNvPr id="124" name="Image 10" descr="preencoded.png">
            <a:extLst>
              <a:ext uri="{FF2B5EF4-FFF2-40B4-BE49-F238E27FC236}">
                <a16:creationId xmlns:a16="http://schemas.microsoft.com/office/drawing/2014/main" id="{678D5B23-1D32-581C-CF8C-0C47D88A44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1396823" y="2247138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5" name="Image 10" descr="preencoded.png">
            <a:extLst>
              <a:ext uri="{FF2B5EF4-FFF2-40B4-BE49-F238E27FC236}">
                <a16:creationId xmlns:a16="http://schemas.microsoft.com/office/drawing/2014/main" id="{621802D7-BEB4-8054-E01E-38DF73E285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4551474" y="2239585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6" name="Image 10" descr="preencoded.png">
            <a:extLst>
              <a:ext uri="{FF2B5EF4-FFF2-40B4-BE49-F238E27FC236}">
                <a16:creationId xmlns:a16="http://schemas.microsoft.com/office/drawing/2014/main" id="{879E3807-19FF-FCD9-B872-9C67BE3D86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7419292" y="2226391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7" name="Image 10" descr="preencoded.png">
            <a:extLst>
              <a:ext uri="{FF2B5EF4-FFF2-40B4-BE49-F238E27FC236}">
                <a16:creationId xmlns:a16="http://schemas.microsoft.com/office/drawing/2014/main" id="{D0058E73-301D-46D0-40FD-752D64342B1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10340296" y="2206496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8" name="図 127" descr="The image depicts a simple, stylized representation of a human figure with two people in a heart shape, featuring a prominent 't' character on a purpl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EC4E091D-4695-0C69-E249-6D98B63F04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000" b="90000" l="9083" r="90000">
                        <a14:foregroundMark x1="40750" y1="23167" x2="43250" y2="15167"/>
                        <a14:foregroundMark x1="43250" y1="15167" x2="41083" y2="23167"/>
                        <a14:foregroundMark x1="41083" y1="23167" x2="39333" y2="23167"/>
                        <a14:foregroundMark x1="74750" y1="30833" x2="73750" y2="23750"/>
                        <a14:foregroundMark x1="73750" y1="23750" x2="75667" y2="19583"/>
                        <a14:foregroundMark x1="78250" y1="23333" x2="74000" y2="28083"/>
                        <a14:foregroundMark x1="46000" y1="12500" x2="30750" y2="14333"/>
                        <a14:foregroundMark x1="30750" y1="14333" x2="29583" y2="20000"/>
                        <a14:foregroundMark x1="38667" y1="7083" x2="38667" y2="7083"/>
                        <a14:foregroundMark x1="20750" y1="57917" x2="31750" y2="58583"/>
                        <a14:foregroundMark x1="31750" y1="58583" x2="39333" y2="57917"/>
                        <a14:foregroundMark x1="26750" y1="60667" x2="27083" y2="75250"/>
                        <a14:foregroundMark x1="9500" y1="54917" x2="9083" y2="74417"/>
                        <a14:foregroundMark x1="9083" y1="74417" x2="9667" y2="751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11442" y="30611"/>
            <a:ext cx="1452468" cy="1452468"/>
          </a:xfrm>
          <a:prstGeom prst="rect">
            <a:avLst/>
          </a:prstGeom>
          <a:effectLst>
            <a:glow rad="127000">
              <a:schemeClr val="bg1">
                <a:alpha val="98000"/>
              </a:schemeClr>
            </a:glow>
          </a:effectLst>
        </p:spPr>
      </p:pic>
      <p:pic>
        <p:nvPicPr>
          <p:cNvPr id="2" name="Image 10" descr="preencoded.png">
            <a:extLst>
              <a:ext uri="{FF2B5EF4-FFF2-40B4-BE49-F238E27FC236}">
                <a16:creationId xmlns:a16="http://schemas.microsoft.com/office/drawing/2014/main" id="{6837FA55-F42D-5282-EED8-374A8ECB73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9206658" y="4500994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Image 10" descr="preencoded.png">
            <a:extLst>
              <a:ext uri="{FF2B5EF4-FFF2-40B4-BE49-F238E27FC236}">
                <a16:creationId xmlns:a16="http://schemas.microsoft.com/office/drawing/2014/main" id="{C4BEFA34-CD92-12D8-FC35-168B4A36F4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10336331" y="4517099"/>
            <a:ext cx="250991" cy="5011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図 9" descr="The image depicts a cute, green, backpack-wearing character with a cheerful smile.&#10;&#10;AI 生成コンテンツは誤りを含む可能性があります。">
            <a:extLst>
              <a:ext uri="{FF2B5EF4-FFF2-40B4-BE49-F238E27FC236}">
                <a16:creationId xmlns:a16="http://schemas.microsoft.com/office/drawing/2014/main" id="{619D313E-A699-BC38-DBC6-BA4664A32A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5244" y="5397946"/>
            <a:ext cx="1073521" cy="1669922"/>
          </a:xfrm>
          <a:prstGeom prst="rect">
            <a:avLst/>
          </a:prstGeom>
        </p:spPr>
      </p:pic>
      <p:pic>
        <p:nvPicPr>
          <p:cNvPr id="13" name="図 12" descr="A child sits at a desk, dressed in a blue skirt and white shoes, writing, with a red bowtie and a star on her desk.&#10;&#10;AI 生成コンテンツは誤りを含む可能性があります。">
            <a:extLst>
              <a:ext uri="{FF2B5EF4-FFF2-40B4-BE49-F238E27FC236}">
                <a16:creationId xmlns:a16="http://schemas.microsoft.com/office/drawing/2014/main" id="{AAA1BEDE-08D9-9ED8-5DA6-91222F8DA3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6689" y="5426271"/>
            <a:ext cx="1233976" cy="1661920"/>
          </a:xfrm>
          <a:prstGeom prst="rect">
            <a:avLst/>
          </a:prstGeom>
        </p:spPr>
      </p:pic>
      <p:pic>
        <p:nvPicPr>
          <p:cNvPr id="16" name="図 15" descr="The image depicts a character in a suit and tie holding a book and a conductor's baton, suggesting a role in a presentation or teaching scenario.&#10;&#10;AI 生成コンテンツは誤りを含む可能性があります。">
            <a:extLst>
              <a:ext uri="{FF2B5EF4-FFF2-40B4-BE49-F238E27FC236}">
                <a16:creationId xmlns:a16="http://schemas.microsoft.com/office/drawing/2014/main" id="{7541DCE1-0F6D-F263-82C8-15640B7541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41563" y="5509759"/>
            <a:ext cx="1167479" cy="185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19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D72A6-DFB2-798E-1084-00C1C3367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F2C81726-77B7-D705-31C0-D3BEE47C4C41}"/>
              </a:ext>
            </a:extLst>
          </p:cNvPr>
          <p:cNvSpPr/>
          <p:nvPr/>
        </p:nvSpPr>
        <p:spPr>
          <a:xfrm>
            <a:off x="1" y="451199"/>
            <a:ext cx="12192000" cy="635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8" name="Image 2" descr="preencoded.png">
            <a:extLst>
              <a:ext uri="{FF2B5EF4-FFF2-40B4-BE49-F238E27FC236}">
                <a16:creationId xmlns:a16="http://schemas.microsoft.com/office/drawing/2014/main" id="{331DFF46-930B-4486-46F4-DAC102CDEB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8748" y="704387"/>
            <a:ext cx="11430000" cy="6196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F9BF71-F187-4EDD-1C6A-F30DD436EDA5}"/>
              </a:ext>
            </a:extLst>
          </p:cNvPr>
          <p:cNvSpPr txBox="1"/>
          <p:nvPr/>
        </p:nvSpPr>
        <p:spPr>
          <a:xfrm>
            <a:off x="922148" y="768693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5563"/>
                </a:solidFill>
              </a:rPr>
              <a:t>💡 手動連絡をゼロに！1アクションでTeams通知を自動化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328150C-F49C-3572-6C33-BF1DEB9A59D9}"/>
              </a:ext>
            </a:extLst>
          </p:cNvPr>
          <p:cNvSpPr/>
          <p:nvPr/>
        </p:nvSpPr>
        <p:spPr>
          <a:xfrm>
            <a:off x="341051" y="1468523"/>
            <a:ext cx="2834640" cy="888786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🔔 トリガー</a:t>
            </a:r>
          </a:p>
          <a:p>
            <a:pPr algn="ctr">
              <a:lnSpc>
                <a:spcPct val="115000"/>
              </a:lnSpc>
            </a:pPr>
            <a:r>
              <a:rPr sz="130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（承認完了・フォーム送信など）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EFD2A78-91FF-8351-BD05-EA605C3078EE}"/>
              </a:ext>
            </a:extLst>
          </p:cNvPr>
          <p:cNvSpPr/>
          <p:nvPr/>
        </p:nvSpPr>
        <p:spPr>
          <a:xfrm>
            <a:off x="3942253" y="1463604"/>
            <a:ext cx="3224628" cy="926216"/>
          </a:xfrm>
          <a:prstGeom prst="roundRect">
            <a:avLst>
              <a:gd name="adj" fmla="val 1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⚙️ アクション設定</a:t>
            </a:r>
          </a:p>
          <a:p>
            <a:pPr algn="ctr">
              <a:lnSpc>
                <a:spcPct val="115000"/>
              </a:lnSpc>
            </a:pPr>
            <a:r>
              <a:rPr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「</a:t>
            </a:r>
            <a:r>
              <a:rPr lang="ja-JP" altLang="en-US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会議の作成</a:t>
            </a:r>
            <a:r>
              <a:rPr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」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B0D1E08-71AB-2BDF-33D7-5E9F4F23F5BE}"/>
              </a:ext>
            </a:extLst>
          </p:cNvPr>
          <p:cNvSpPr/>
          <p:nvPr/>
        </p:nvSpPr>
        <p:spPr>
          <a:xfrm>
            <a:off x="8417131" y="1421417"/>
            <a:ext cx="3433818" cy="958398"/>
          </a:xfrm>
          <a:prstGeom prst="roundRect">
            <a:avLst>
              <a:gd name="adj" fmla="val 14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✅ </a:t>
            </a: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会議作成完了</a:t>
            </a:r>
            <a:endParaRPr lang="en-US" altLang="ja-JP" sz="2400" b="1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>
              <a:lnSpc>
                <a:spcPct val="115000"/>
              </a:lnSpc>
            </a:pPr>
            <a:r>
              <a:rPr lang="ja-JP" altLang="en-US" sz="130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参加者への招待が自動送信</a:t>
            </a:r>
            <a:endParaRPr sz="1300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FF5FEF0-8BAD-1247-F54B-DD9D158CC417}"/>
              </a:ext>
            </a:extLst>
          </p:cNvPr>
          <p:cNvSpPr/>
          <p:nvPr/>
        </p:nvSpPr>
        <p:spPr>
          <a:xfrm>
            <a:off x="257620" y="2553233"/>
            <a:ext cx="5120640" cy="202996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60325">
            <a:solidFill>
              <a:srgbClr val="2563EB"/>
            </a:solidFill>
          </a:ln>
          <a:effectLst>
            <a:outerShdw blurRad="50800" dist="38100" dir="2700000" sx="101000" sy="101000" algn="tl" rotWithShape="0">
              <a:prstClr val="black">
                <a:alpha val="5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A15734-7D90-FB8E-1EE5-E535E862674A}"/>
              </a:ext>
            </a:extLst>
          </p:cNvPr>
          <p:cNvSpPr txBox="1"/>
          <p:nvPr/>
        </p:nvSpPr>
        <p:spPr>
          <a:xfrm>
            <a:off x="367348" y="2619355"/>
            <a:ext cx="438912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sz="2400" b="1" u="sng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🔧 設定する</a:t>
            </a:r>
            <a:r>
              <a:rPr lang="ja-JP" altLang="en-US" sz="2400" b="1" u="sng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主な</a:t>
            </a:r>
            <a:r>
              <a:rPr sz="2400" b="1" u="sng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3つの項目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32EFC2D-4BEB-840E-B553-DFDACBD7B814}"/>
              </a:ext>
            </a:extLst>
          </p:cNvPr>
          <p:cNvSpPr/>
          <p:nvPr/>
        </p:nvSpPr>
        <p:spPr>
          <a:xfrm>
            <a:off x="422212" y="3083585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06FCA7-13F7-8B45-27B8-6C033CC94A52}"/>
              </a:ext>
            </a:extLst>
          </p:cNvPr>
          <p:cNvSpPr txBox="1"/>
          <p:nvPr/>
        </p:nvSpPr>
        <p:spPr>
          <a:xfrm>
            <a:off x="795221" y="3134755"/>
            <a:ext cx="170622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ja-JP" altLang="en-US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件名</a:t>
            </a:r>
            <a:r>
              <a:rPr lang="en-US" altLang="ja-JP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/</a:t>
            </a:r>
            <a:r>
              <a:rPr lang="ja-JP" altLang="en-US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本文</a:t>
            </a:r>
            <a:endParaRPr b="1">
              <a:solidFill>
                <a:srgbClr val="2563EB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08E436-854F-D414-BA55-474614038F31}"/>
              </a:ext>
            </a:extLst>
          </p:cNvPr>
          <p:cNvSpPr txBox="1"/>
          <p:nvPr/>
        </p:nvSpPr>
        <p:spPr>
          <a:xfrm>
            <a:off x="2226539" y="3124673"/>
            <a:ext cx="297411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ja-JP" alt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会議の内容を入力</a:t>
            </a:r>
            <a:endParaRPr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859D204-4464-29A3-7DC1-8B5E503783A1}"/>
              </a:ext>
            </a:extLst>
          </p:cNvPr>
          <p:cNvSpPr/>
          <p:nvPr/>
        </p:nvSpPr>
        <p:spPr>
          <a:xfrm>
            <a:off x="422212" y="3577361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②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7963A9-0F4C-FE6B-B7DE-38E1631C9F40}"/>
              </a:ext>
            </a:extLst>
          </p:cNvPr>
          <p:cNvSpPr txBox="1"/>
          <p:nvPr/>
        </p:nvSpPr>
        <p:spPr>
          <a:xfrm>
            <a:off x="759142" y="3555286"/>
            <a:ext cx="338948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ja-JP" altLang="en-US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タイムゾーン・開始</a:t>
            </a:r>
            <a:r>
              <a:rPr lang="en-US" altLang="ja-JP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/</a:t>
            </a:r>
            <a:r>
              <a:rPr lang="ja-JP" altLang="en-US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終了時刻</a:t>
            </a:r>
            <a:endParaRPr b="1">
              <a:solidFill>
                <a:srgbClr val="2563EB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B5CDE57-FBF0-60A5-18C2-E12C0C007280}"/>
              </a:ext>
            </a:extLst>
          </p:cNvPr>
          <p:cNvSpPr/>
          <p:nvPr/>
        </p:nvSpPr>
        <p:spPr>
          <a:xfrm>
            <a:off x="422212" y="4071137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③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B31E6B-6F75-52F3-33C2-94620CA4D7B2}"/>
              </a:ext>
            </a:extLst>
          </p:cNvPr>
          <p:cNvSpPr txBox="1"/>
          <p:nvPr/>
        </p:nvSpPr>
        <p:spPr>
          <a:xfrm>
            <a:off x="782459" y="3991570"/>
            <a:ext cx="170622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ja-JP" altLang="en-US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カレンダー</a:t>
            </a:r>
            <a:r>
              <a:rPr lang="en-US" altLang="ja-JP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ID</a:t>
            </a:r>
            <a:endParaRPr b="1">
              <a:solidFill>
                <a:srgbClr val="2563EB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D6BD62-31D4-5101-4DF3-A603991244F8}"/>
              </a:ext>
            </a:extLst>
          </p:cNvPr>
          <p:cNvSpPr txBox="1"/>
          <p:nvPr/>
        </p:nvSpPr>
        <p:spPr>
          <a:xfrm>
            <a:off x="2339133" y="3997608"/>
            <a:ext cx="297411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ja-JP" alt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会議作成対象のカレンダー</a:t>
            </a:r>
            <a:endParaRPr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684AE72-A591-F588-A253-418BF4D33DAF}"/>
              </a:ext>
            </a:extLst>
          </p:cNvPr>
          <p:cNvSpPr/>
          <p:nvPr/>
        </p:nvSpPr>
        <p:spPr>
          <a:xfrm>
            <a:off x="321628" y="4776863"/>
            <a:ext cx="5623560" cy="180681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60325">
            <a:solidFill>
              <a:srgbClr val="DC2626"/>
            </a:solidFill>
          </a:ln>
          <a:effectLst>
            <a:outerShdw blurRad="50800" dist="38100" dir="2700000" algn="tl" rotWithShape="0">
              <a:prstClr val="black">
                <a:alpha val="66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093BF3-590D-5089-4AF4-4982CD60A32B}"/>
              </a:ext>
            </a:extLst>
          </p:cNvPr>
          <p:cNvSpPr txBox="1"/>
          <p:nvPr/>
        </p:nvSpPr>
        <p:spPr>
          <a:xfrm>
            <a:off x="466736" y="4811904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u="sng">
                <a:solidFill>
                  <a:srgbClr val="DC2626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⚠️ つまずきポイント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2AEA5A-65D5-1BA7-E6CC-F44CED513158}"/>
              </a:ext>
            </a:extLst>
          </p:cNvPr>
          <p:cNvSpPr txBox="1"/>
          <p:nvPr/>
        </p:nvSpPr>
        <p:spPr>
          <a:xfrm>
            <a:off x="466736" y="5323843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</a:t>
            </a:r>
            <a:r>
              <a:rPr lang="ja-JP" alt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タイムゾーンの間違いに注意</a:t>
            </a:r>
            <a:endParaRPr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B59E83-F23E-0132-9028-05F9431BA248}"/>
              </a:ext>
            </a:extLst>
          </p:cNvPr>
          <p:cNvSpPr txBox="1"/>
          <p:nvPr/>
        </p:nvSpPr>
        <p:spPr>
          <a:xfrm>
            <a:off x="466736" y="5743449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</a:t>
            </a:r>
            <a:r>
              <a:rPr lang="ja-JP" alt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カレンダー</a:t>
            </a:r>
            <a:r>
              <a:rPr lang="en-US" altLang="ja-JP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ID</a:t>
            </a:r>
            <a:r>
              <a:rPr lang="ja-JP" alt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選択ミスに注意</a:t>
            </a:r>
            <a:endParaRPr lang="en-US" altLang="ja-JP"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4AF2BD-7CA7-EFCA-ED96-99B4D5556825}"/>
              </a:ext>
            </a:extLst>
          </p:cNvPr>
          <p:cNvSpPr txBox="1"/>
          <p:nvPr/>
        </p:nvSpPr>
        <p:spPr>
          <a:xfrm>
            <a:off x="466736" y="6163056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</a:t>
            </a:r>
            <a:r>
              <a:rPr lang="ja-JP" alt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誰かを招集するので丁寧なテスト必須</a:t>
            </a:r>
            <a:endParaRPr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E53F3F4-36F2-233D-7650-9C56FE8C27AC}"/>
              </a:ext>
            </a:extLst>
          </p:cNvPr>
          <p:cNvSpPr/>
          <p:nvPr/>
        </p:nvSpPr>
        <p:spPr>
          <a:xfrm>
            <a:off x="6265228" y="4776863"/>
            <a:ext cx="5623560" cy="180681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60325">
            <a:solidFill>
              <a:srgbClr val="16A34A"/>
            </a:solidFill>
          </a:ln>
          <a:effectLst>
            <a:outerShdw blurRad="508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BF5D47-1A72-C89F-3EFA-05834214BC5F}"/>
              </a:ext>
            </a:extLst>
          </p:cNvPr>
          <p:cNvSpPr txBox="1"/>
          <p:nvPr/>
        </p:nvSpPr>
        <p:spPr>
          <a:xfrm>
            <a:off x="6425248" y="4819195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u="sng">
                <a:solidFill>
                  <a:srgbClr val="16A34A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✅ これができるようになる！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6EFDE2-62CC-F6FA-4474-0E717FDCF16E}"/>
              </a:ext>
            </a:extLst>
          </p:cNvPr>
          <p:cNvSpPr txBox="1"/>
          <p:nvPr/>
        </p:nvSpPr>
        <p:spPr>
          <a:xfrm>
            <a:off x="6425248" y="5328704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・通知漏れゼロ・手動連絡が不要に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54D0AC-82E4-09E9-6D27-605016506645}"/>
              </a:ext>
            </a:extLst>
          </p:cNvPr>
          <p:cNvSpPr txBox="1"/>
          <p:nvPr/>
        </p:nvSpPr>
        <p:spPr>
          <a:xfrm>
            <a:off x="6425248" y="5745880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・リアルタイムで情報共有が可能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89584F-60A4-B080-9F1D-604A18A91F80}"/>
              </a:ext>
            </a:extLst>
          </p:cNvPr>
          <p:cNvSpPr txBox="1"/>
          <p:nvPr/>
        </p:nvSpPr>
        <p:spPr>
          <a:xfrm>
            <a:off x="6425248" y="6163056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・承認結果などを即座にチームへ通知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4B0CE4-37A6-41F2-A447-F515F360EFBC}"/>
              </a:ext>
            </a:extLst>
          </p:cNvPr>
          <p:cNvSpPr txBox="1"/>
          <p:nvPr/>
        </p:nvSpPr>
        <p:spPr>
          <a:xfrm>
            <a:off x="10928668" y="6510528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4B5563"/>
                </a:solidFill>
              </a:rPr>
              <a:t>#PA45</a:t>
            </a:r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C85D3546-B5EF-AC3A-A39A-7C6DD93A2052}"/>
              </a:ext>
            </a:extLst>
          </p:cNvPr>
          <p:cNvSpPr/>
          <p:nvPr/>
        </p:nvSpPr>
        <p:spPr>
          <a:xfrm>
            <a:off x="6858" y="-69952"/>
            <a:ext cx="12191695" cy="664313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05EB59FB-95C2-2C15-2E24-7623AF1FF30F}"/>
              </a:ext>
            </a:extLst>
          </p:cNvPr>
          <p:cNvSpPr/>
          <p:nvPr/>
        </p:nvSpPr>
        <p:spPr>
          <a:xfrm>
            <a:off x="223276" y="83567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0E0B9EB4-AAE5-F98E-3DE5-EE855945347B}"/>
              </a:ext>
            </a:extLst>
          </p:cNvPr>
          <p:cNvSpPr txBox="1"/>
          <p:nvPr/>
        </p:nvSpPr>
        <p:spPr>
          <a:xfrm>
            <a:off x="1826709" y="129388"/>
            <a:ext cx="78724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会議を自動で作成するアクション</a:t>
            </a:r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82B90CE4-3280-3DA3-91AC-F850C844B07D}"/>
              </a:ext>
            </a:extLst>
          </p:cNvPr>
          <p:cNvSpPr/>
          <p:nvPr/>
        </p:nvSpPr>
        <p:spPr>
          <a:xfrm>
            <a:off x="20683" y="-50800"/>
            <a:ext cx="12133218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0" name="図 49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C7EF010B-F416-9894-A944-F76BA00B5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75" y="567793"/>
            <a:ext cx="888786" cy="888786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A39FF36D-601C-EA45-EF1E-5FF3BE6336A4}"/>
              </a:ext>
            </a:extLst>
          </p:cNvPr>
          <p:cNvGrpSpPr/>
          <p:nvPr/>
        </p:nvGrpSpPr>
        <p:grpSpPr>
          <a:xfrm>
            <a:off x="165494" y="4709911"/>
            <a:ext cx="495147" cy="474885"/>
            <a:chOff x="267005" y="4036906"/>
            <a:chExt cx="304495" cy="304495"/>
          </a:xfrm>
        </p:grpSpPr>
        <p:pic>
          <p:nvPicPr>
            <p:cNvPr id="56" name="Image 28" descr="preencoded.png">
              <a:extLst>
                <a:ext uri="{FF2B5EF4-FFF2-40B4-BE49-F238E27FC236}">
                  <a16:creationId xmlns:a16="http://schemas.microsoft.com/office/drawing/2014/main" id="{40138288-E6AF-26A1-61D7-8D4D0732F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267005" y="4036906"/>
              <a:ext cx="304495" cy="304495"/>
            </a:xfrm>
            <a:prstGeom prst="rect">
              <a:avLst/>
            </a:prstGeom>
          </p:spPr>
        </p:pic>
        <p:sp>
          <p:nvSpPr>
            <p:cNvPr id="57" name="Text 37">
              <a:extLst>
                <a:ext uri="{FF2B5EF4-FFF2-40B4-BE49-F238E27FC236}">
                  <a16:creationId xmlns:a16="http://schemas.microsoft.com/office/drawing/2014/main" id="{6ABD871D-EF18-2E68-CB08-90CB4F5EC560}"/>
                </a:ext>
              </a:extLst>
            </p:cNvPr>
            <p:cNvSpPr txBox="1"/>
            <p:nvPr/>
          </p:nvSpPr>
          <p:spPr>
            <a:xfrm>
              <a:off x="390449" y="4079835"/>
              <a:ext cx="13350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!</a:t>
              </a:r>
              <a:endParaRPr lang="en-US" sz="2400" dirty="0"/>
            </a:p>
          </p:txBody>
        </p:sp>
      </p:grpSp>
      <p:pic>
        <p:nvPicPr>
          <p:cNvPr id="70" name="Image 10" descr="preencoded.png">
            <a:extLst>
              <a:ext uri="{FF2B5EF4-FFF2-40B4-BE49-F238E27FC236}">
                <a16:creationId xmlns:a16="http://schemas.microsoft.com/office/drawing/2014/main" id="{37DC9C9C-D07C-964C-BD53-EE5A85F135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3132901" y="1381245"/>
            <a:ext cx="520848" cy="1040033"/>
          </a:xfrm>
          <a:prstGeom prst="rect">
            <a:avLst/>
          </a:prstGeom>
        </p:spPr>
      </p:pic>
      <p:sp>
        <p:nvSpPr>
          <p:cNvPr id="46" name="Text 3">
            <a:extLst>
              <a:ext uri="{FF2B5EF4-FFF2-40B4-BE49-F238E27FC236}">
                <a16:creationId xmlns:a16="http://schemas.microsoft.com/office/drawing/2014/main" id="{622923AC-7BD2-7D8A-3E36-D65184A913C2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Vol.15</a:t>
            </a:r>
            <a:endParaRPr lang="en-US" sz="3200" dirty="0"/>
          </a:p>
        </p:txBody>
      </p:sp>
      <p:pic>
        <p:nvPicPr>
          <p:cNvPr id="3" name="図 2" descr="グラフィカル ユーザー インターフェイス, アプリケーション, 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EB73FF20-06FF-56D7-0414-9D89C6782F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5248" y="1975378"/>
            <a:ext cx="1626733" cy="5900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Rounded Rectangle 14">
            <a:extLst>
              <a:ext uri="{FF2B5EF4-FFF2-40B4-BE49-F238E27FC236}">
                <a16:creationId xmlns:a16="http://schemas.microsoft.com/office/drawing/2014/main" id="{E6815507-24D2-E6B2-376D-A2D71B85CC35}"/>
              </a:ext>
            </a:extLst>
          </p:cNvPr>
          <p:cNvSpPr/>
          <p:nvPr/>
        </p:nvSpPr>
        <p:spPr>
          <a:xfrm>
            <a:off x="446160" y="319880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ja-JP" altLang="en-US" sz="1100" b="1">
                <a:solidFill>
                  <a:srgbClr val="FFFFFF"/>
                </a:solidFill>
              </a:rPr>
              <a:t>１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5" name="Rounded Rectangle 14">
            <a:extLst>
              <a:ext uri="{FF2B5EF4-FFF2-40B4-BE49-F238E27FC236}">
                <a16:creationId xmlns:a16="http://schemas.microsoft.com/office/drawing/2014/main" id="{D9DBAD71-83D9-7647-7281-2A0748EBCDCD}"/>
              </a:ext>
            </a:extLst>
          </p:cNvPr>
          <p:cNvSpPr/>
          <p:nvPr/>
        </p:nvSpPr>
        <p:spPr>
          <a:xfrm>
            <a:off x="446160" y="360249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ja-JP" altLang="en-US" sz="1100" b="1">
                <a:solidFill>
                  <a:srgbClr val="FFFFFF"/>
                </a:solidFill>
              </a:rPr>
              <a:t>２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7" name="Rounded Rectangle 14">
            <a:extLst>
              <a:ext uri="{FF2B5EF4-FFF2-40B4-BE49-F238E27FC236}">
                <a16:creationId xmlns:a16="http://schemas.microsoft.com/office/drawing/2014/main" id="{96AC574B-23B6-5C42-FCBB-CE39EBB8ED71}"/>
              </a:ext>
            </a:extLst>
          </p:cNvPr>
          <p:cNvSpPr/>
          <p:nvPr/>
        </p:nvSpPr>
        <p:spPr>
          <a:xfrm>
            <a:off x="465176" y="40319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ja-JP" altLang="en-US" sz="1100" b="1">
                <a:solidFill>
                  <a:srgbClr val="FFFFFF"/>
                </a:solidFill>
              </a:rPr>
              <a:t>３</a:t>
            </a:r>
            <a:endParaRPr sz="1100" b="1">
              <a:solidFill>
                <a:srgbClr val="FFFFFF"/>
              </a:solidFill>
            </a:endParaRPr>
          </a:p>
        </p:txBody>
      </p:sp>
      <p:pic>
        <p:nvPicPr>
          <p:cNvPr id="11" name="図 10" descr="テキスト, 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1A502A70-ECFE-57ED-423B-68386DFA0E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6519" y="2659106"/>
            <a:ext cx="2269424" cy="18513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138DF1BE-795D-4EBB-6CBF-9DCF2392C4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2908" y="2628669"/>
            <a:ext cx="1370449" cy="18818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図 8" descr="A group of people in business attire, gathered around a table with a projector and slides, engaged in a meeting.&#10;&#10;AI 生成コンテンツは誤りを含む可能性があります。">
            <a:extLst>
              <a:ext uri="{FF2B5EF4-FFF2-40B4-BE49-F238E27FC236}">
                <a16:creationId xmlns:a16="http://schemas.microsoft.com/office/drawing/2014/main" id="{65833C07-7F8E-97D5-3093-6FAD983231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0470" y="2328026"/>
            <a:ext cx="2445917" cy="24459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6" name="図 65" descr="The image depicts a simple, stylized representation of a human figure with two people in a heart shape, featuring a prominent 't' character on a purpl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8D369651-91A9-CFE9-4938-EC6A79939B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7000" b="90000" l="9083" r="90000">
                        <a14:foregroundMark x1="40750" y1="23167" x2="43250" y2="15167"/>
                        <a14:foregroundMark x1="43250" y1="15167" x2="41083" y2="23167"/>
                        <a14:foregroundMark x1="41083" y1="23167" x2="39333" y2="23167"/>
                        <a14:foregroundMark x1="74750" y1="30833" x2="73750" y2="23750"/>
                        <a14:foregroundMark x1="73750" y1="23750" x2="75667" y2="19583"/>
                        <a14:foregroundMark x1="78250" y1="23333" x2="74000" y2="28083"/>
                        <a14:foregroundMark x1="46000" y1="12500" x2="30750" y2="14333"/>
                        <a14:foregroundMark x1="30750" y1="14333" x2="29583" y2="20000"/>
                        <a14:foregroundMark x1="38667" y1="7083" x2="38667" y2="7083"/>
                        <a14:foregroundMark x1="20750" y1="57917" x2="31750" y2="58583"/>
                        <a14:foregroundMark x1="31750" y1="58583" x2="39333" y2="57917"/>
                        <a14:foregroundMark x1="26750" y1="60667" x2="27083" y2="75250"/>
                        <a14:foregroundMark x1="9500" y1="54917" x2="9083" y2="74417"/>
                        <a14:foregroundMark x1="9083" y1="74417" x2="9667" y2="751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01956" y="-67215"/>
            <a:ext cx="1543203" cy="1543203"/>
          </a:xfrm>
          <a:prstGeom prst="rect">
            <a:avLst/>
          </a:prstGeom>
        </p:spPr>
      </p:pic>
      <p:pic>
        <p:nvPicPr>
          <p:cNvPr id="69" name="Image 10" descr="preencoded.png">
            <a:extLst>
              <a:ext uri="{FF2B5EF4-FFF2-40B4-BE49-F238E27FC236}">
                <a16:creationId xmlns:a16="http://schemas.microsoft.com/office/drawing/2014/main" id="{44CB86BD-749B-FE5B-92DB-8713BAD334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7817226" y="1404068"/>
            <a:ext cx="520848" cy="1040033"/>
          </a:xfrm>
          <a:prstGeom prst="rect">
            <a:avLst/>
          </a:prstGeom>
        </p:spPr>
      </p:pic>
      <p:pic>
        <p:nvPicPr>
          <p:cNvPr id="20" name="図 19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70BE58B-0E04-28FA-2B29-B2F00920636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3428" y="5311769"/>
            <a:ext cx="1209910" cy="1431845"/>
          </a:xfrm>
          <a:prstGeom prst="rect">
            <a:avLst/>
          </a:prstGeom>
        </p:spPr>
      </p:pic>
      <p:pic>
        <p:nvPicPr>
          <p:cNvPr id="24" name="図 23" descr="noodles are not&#10;&#10;AI 生成コンテンツは誤りを含む可能性があります。">
            <a:extLst>
              <a:ext uri="{FF2B5EF4-FFF2-40B4-BE49-F238E27FC236}">
                <a16:creationId xmlns:a16="http://schemas.microsoft.com/office/drawing/2014/main" id="{E3A90F12-E330-B2C1-E8DD-F9CABC4139F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6079" t="26717" r="23951" b="6966"/>
          <a:stretch>
            <a:fillRect/>
          </a:stretch>
        </p:blipFill>
        <p:spPr>
          <a:xfrm>
            <a:off x="5236492" y="5342215"/>
            <a:ext cx="1023644" cy="1363373"/>
          </a:xfrm>
          <a:prstGeom prst="rect">
            <a:avLst/>
          </a:prstGeom>
          <a:effectLst>
            <a:glow rad="165100">
              <a:schemeClr val="bg1">
                <a:alpha val="81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254710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8DCB0-1BC9-D699-B17F-7D8970ED4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四角形: 角を丸くする 82">
            <a:extLst>
              <a:ext uri="{FF2B5EF4-FFF2-40B4-BE49-F238E27FC236}">
                <a16:creationId xmlns:a16="http://schemas.microsoft.com/office/drawing/2014/main" id="{F1D7B103-B9E3-383F-4733-22C0D165E73F}"/>
              </a:ext>
            </a:extLst>
          </p:cNvPr>
          <p:cNvSpPr/>
          <p:nvPr/>
        </p:nvSpPr>
        <p:spPr>
          <a:xfrm>
            <a:off x="120645" y="1962651"/>
            <a:ext cx="3964621" cy="318579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363D8100-4D4C-33ED-4E5F-202F355F29E7}"/>
              </a:ext>
            </a:extLst>
          </p:cNvPr>
          <p:cNvSpPr/>
          <p:nvPr/>
        </p:nvSpPr>
        <p:spPr>
          <a:xfrm>
            <a:off x="6858" y="-69952"/>
            <a:ext cx="12191695" cy="76169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54659BC-3106-B7A3-7776-6581327CB2EA}"/>
              </a:ext>
            </a:extLst>
          </p:cNvPr>
          <p:cNvSpPr/>
          <p:nvPr/>
        </p:nvSpPr>
        <p:spPr>
          <a:xfrm>
            <a:off x="188332" y="78173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5942652-F290-B7CA-21E8-7A921BF03941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</a:t>
            </a: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.16</a:t>
            </a:r>
            <a:endParaRPr lang="en-US" sz="3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99F5B7C-84A5-4AA3-276A-0FB05D90F0D0}"/>
              </a:ext>
            </a:extLst>
          </p:cNvPr>
          <p:cNvSpPr txBox="1"/>
          <p:nvPr/>
        </p:nvSpPr>
        <p:spPr>
          <a:xfrm>
            <a:off x="1826709" y="148227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  :  </a:t>
            </a:r>
            <a:r>
              <a:rPr lang="en-US" altLang="ja-JP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ja-JP" altLang="en-US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の解析 処理が苦手な人向け</a:t>
            </a:r>
            <a:endParaRPr lang="en-US" sz="27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3B5B3E20-456C-B0D0-CF91-00CD3B9B47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062" y="863743"/>
            <a:ext cx="11430000" cy="914400"/>
          </a:xfrm>
          <a:prstGeom prst="rect">
            <a:avLst/>
          </a:prstGeom>
        </p:spPr>
      </p:pic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15A189AC-B42D-C99D-CA63-1AF2F8A247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1" b="-31"/>
          <a:stretch/>
        </p:blipFill>
        <p:spPr>
          <a:xfrm>
            <a:off x="541578" y="1048995"/>
            <a:ext cx="342900" cy="495605"/>
          </a:xfrm>
          <a:prstGeom prst="rect">
            <a:avLst/>
          </a:prstGeom>
        </p:spPr>
      </p:pic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13A993CE-8C9E-9067-2B55-5287DEB6EC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6423" b="-16423"/>
          <a:stretch/>
        </p:blipFill>
        <p:spPr>
          <a:xfrm>
            <a:off x="626617" y="1134034"/>
            <a:ext cx="171907" cy="304495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75FF28F1-BBB5-E316-7123-679FABC1EA75}"/>
              </a:ext>
            </a:extLst>
          </p:cNvPr>
          <p:cNvSpPr txBox="1"/>
          <p:nvPr/>
        </p:nvSpPr>
        <p:spPr>
          <a:xfrm>
            <a:off x="1328373" y="1080154"/>
            <a:ext cx="10573858" cy="40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必要なところだけつまむ</a:t>
            </a:r>
            <a:r>
              <a:rPr lang="en-US" altLang="ja-JP" sz="28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Compose</a:t>
            </a:r>
            <a:r>
              <a:rPr lang="ja-JP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r>
              <a:rPr lang="ja-JP" alt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“ライト</a:t>
            </a:r>
            <a:r>
              <a:rPr lang="en-US" altLang="ja-JP" sz="4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ja-JP" alt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処理”</a:t>
            </a:r>
            <a:endParaRPr lang="en-US" sz="2800" dirty="0">
              <a:solidFill>
                <a:srgbClr val="0000CC"/>
              </a:solidFill>
            </a:endParaRPr>
          </a:p>
        </p:txBody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A5984F9E-A4C3-F7FB-0475-D3C0F167E5C4}"/>
              </a:ext>
            </a:extLst>
          </p:cNvPr>
          <p:cNvSpPr txBox="1"/>
          <p:nvPr/>
        </p:nvSpPr>
        <p:spPr>
          <a:xfrm>
            <a:off x="712570" y="5459676"/>
            <a:ext cx="5906008" cy="1038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・式はアクションに埋め込まない。</a:t>
            </a:r>
            <a:endParaRPr lang="en-US" altLang="ja-JP" sz="2400" b="1">
              <a:solidFill>
                <a:schemeClr val="tx1">
                  <a:lumMod val="75000"/>
                  <a:lumOff val="25000"/>
                </a:schemeClr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・いったん </a:t>
            </a:r>
            <a:r>
              <a:rPr lang="en-US" altLang="ja-JP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</a:t>
            </a:r>
            <a:r>
              <a:rPr lang="en-US" altLang="ja-JP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】 </a:t>
            </a: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に“避難”させる。</a:t>
            </a:r>
            <a:endParaRPr lang="en-US" altLang="ja-JP" sz="2400" b="1">
              <a:solidFill>
                <a:schemeClr val="tx1">
                  <a:lumMod val="75000"/>
                  <a:lumOff val="25000"/>
                </a:schemeClr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・フローの読みやすさが格段に上がる。</a:t>
            </a:r>
            <a:endParaRPr lang="en-US" altLang="ja-JP" sz="2400" b="1">
              <a:solidFill>
                <a:schemeClr val="tx1">
                  <a:lumMod val="75000"/>
                  <a:lumOff val="25000"/>
                </a:schemeClr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D377923E-6C7E-FDB9-C11D-70325016A1FF}"/>
              </a:ext>
            </a:extLst>
          </p:cNvPr>
          <p:cNvSpPr txBox="1"/>
          <p:nvPr/>
        </p:nvSpPr>
        <p:spPr>
          <a:xfrm>
            <a:off x="11367821" y="6514472"/>
            <a:ext cx="676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#PA45</a:t>
            </a:r>
            <a:endParaRPr lang="en-US" sz="1300" dirty="0"/>
          </a:p>
        </p:txBody>
      </p:sp>
      <p:pic>
        <p:nvPicPr>
          <p:cNvPr id="62" name="Image 26" descr="preencoded.png">
            <a:extLst>
              <a:ext uri="{FF2B5EF4-FFF2-40B4-BE49-F238E27FC236}">
                <a16:creationId xmlns:a16="http://schemas.microsoft.com/office/drawing/2014/main" id="{1F3E71C2-2AE3-69BA-587D-83801162F6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41172" y="2599937"/>
            <a:ext cx="1943671" cy="1334010"/>
          </a:xfrm>
          <a:prstGeom prst="rect">
            <a:avLst/>
          </a:prstGeom>
        </p:spPr>
      </p:pic>
      <p:sp>
        <p:nvSpPr>
          <p:cNvPr id="80" name="Text 37">
            <a:extLst>
              <a:ext uri="{FF2B5EF4-FFF2-40B4-BE49-F238E27FC236}">
                <a16:creationId xmlns:a16="http://schemas.microsoft.com/office/drawing/2014/main" id="{44AA5677-B04F-78F2-78E2-BEC45295A078}"/>
              </a:ext>
            </a:extLst>
          </p:cNvPr>
          <p:cNvSpPr txBox="1"/>
          <p:nvPr/>
        </p:nvSpPr>
        <p:spPr>
          <a:xfrm>
            <a:off x="446858" y="5223425"/>
            <a:ext cx="217091" cy="356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!</a:t>
            </a:r>
            <a:endParaRPr lang="en-US" sz="2400" dirty="0"/>
          </a:p>
        </p:txBody>
      </p:sp>
      <p:sp>
        <p:nvSpPr>
          <p:cNvPr id="86" name="Text 6">
            <a:extLst>
              <a:ext uri="{FF2B5EF4-FFF2-40B4-BE49-F238E27FC236}">
                <a16:creationId xmlns:a16="http://schemas.microsoft.com/office/drawing/2014/main" id="{F528FB24-6EB5-7477-45E4-F5C97E40A13E}"/>
              </a:ext>
            </a:extLst>
          </p:cNvPr>
          <p:cNvSpPr txBox="1"/>
          <p:nvPr/>
        </p:nvSpPr>
        <p:spPr>
          <a:xfrm>
            <a:off x="4499623" y="2395102"/>
            <a:ext cx="2509184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chemeClr val="bg1"/>
                </a:solidFill>
                <a:effectLst>
                  <a:glow rad="63500">
                    <a:srgbClr val="0000CC"/>
                  </a:glow>
                </a:effectLst>
                <a:latin typeface="Noto Sans JP" pitchFamily="34" charset="0"/>
                <a:ea typeface="Noto Sans JP" pitchFamily="34" charset="-122"/>
              </a:rPr>
              <a:t>式の</a:t>
            </a:r>
            <a:r>
              <a:rPr lang="ja-JP" altLang="en-US" sz="2400" b="1">
                <a:solidFill>
                  <a:schemeClr val="bg1"/>
                </a:solidFill>
                <a:effectLst>
                  <a:glow rad="177800">
                    <a:srgbClr val="0000CC"/>
                  </a:glow>
                </a:effectLst>
                <a:latin typeface="Noto Sans JP" pitchFamily="34" charset="0"/>
                <a:ea typeface="Noto Sans JP" pitchFamily="34" charset="-122"/>
              </a:rPr>
              <a:t>避難所！！</a:t>
            </a:r>
            <a:endParaRPr lang="en-US" sz="2400" dirty="0">
              <a:solidFill>
                <a:schemeClr val="bg1"/>
              </a:solidFill>
              <a:effectLst>
                <a:glow rad="177800">
                  <a:srgbClr val="0000CC"/>
                </a:glow>
              </a:effectLst>
            </a:endParaRPr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8BC6C2F3-DAED-9E49-8873-F4CD19C6474B}"/>
              </a:ext>
            </a:extLst>
          </p:cNvPr>
          <p:cNvSpPr txBox="1"/>
          <p:nvPr/>
        </p:nvSpPr>
        <p:spPr>
          <a:xfrm>
            <a:off x="666598" y="2708659"/>
            <a:ext cx="2509184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400" dirty="0">
              <a:solidFill>
                <a:schemeClr val="bg1"/>
              </a:solidFill>
              <a:effectLst>
                <a:glow rad="63500">
                  <a:srgbClr val="0000CC"/>
                </a:glow>
              </a:effectLst>
            </a:endParaRPr>
          </a:p>
        </p:txBody>
      </p:sp>
      <p:sp>
        <p:nvSpPr>
          <p:cNvPr id="95" name="Text 6">
            <a:extLst>
              <a:ext uri="{FF2B5EF4-FFF2-40B4-BE49-F238E27FC236}">
                <a16:creationId xmlns:a16="http://schemas.microsoft.com/office/drawing/2014/main" id="{1110B736-34FA-9D13-1E71-7570C8B44FDD}"/>
              </a:ext>
            </a:extLst>
          </p:cNvPr>
          <p:cNvSpPr txBox="1"/>
          <p:nvPr/>
        </p:nvSpPr>
        <p:spPr>
          <a:xfrm>
            <a:off x="211661" y="2304945"/>
            <a:ext cx="3856945" cy="1411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sz="2000" b="1">
                <a:solidFill>
                  <a:srgbClr val="C00000"/>
                </a:solidFill>
              </a:rPr>
              <a:t>・</a:t>
            </a:r>
            <a:r>
              <a:rPr lang="en-US" altLang="ja-JP" sz="2000" b="1">
                <a:solidFill>
                  <a:srgbClr val="C00000"/>
                </a:solidFill>
              </a:rPr>
              <a:t>Parse JON</a:t>
            </a:r>
            <a:r>
              <a:rPr lang="ja-JP" altLang="en-US" sz="2000" b="1">
                <a:solidFill>
                  <a:srgbClr val="C00000"/>
                </a:solidFill>
              </a:rPr>
              <a:t>を全部作るのが大変</a:t>
            </a:r>
            <a:endParaRPr lang="en-US" altLang="ja-JP" sz="2000" b="1">
              <a:solidFill>
                <a:srgbClr val="C00000"/>
              </a:solidFill>
            </a:endParaRPr>
          </a:p>
          <a:p>
            <a:r>
              <a:rPr lang="ja-JP" altLang="en-US" sz="20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</a:rPr>
              <a:t>・欲しいのは</a:t>
            </a:r>
            <a:r>
              <a:rPr lang="en-US" altLang="ja-JP" sz="20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</a:rPr>
              <a:t>1</a:t>
            </a:r>
            <a:r>
              <a:rPr lang="ja-JP" altLang="en-US" sz="20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</a:rPr>
              <a:t>個だけ！</a:t>
            </a:r>
            <a:endParaRPr lang="en-US" altLang="ja-JP" sz="2000" b="1">
              <a:solidFill>
                <a:srgbClr val="C00000"/>
              </a:solidFill>
              <a:latin typeface="Noto Sans JP" pitchFamily="34" charset="0"/>
              <a:ea typeface="Noto Sans JP" pitchFamily="34" charset="-122"/>
            </a:endParaRPr>
          </a:p>
          <a:p>
            <a:r>
              <a:rPr lang="ja-JP" altLang="en-US" sz="20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</a:rPr>
              <a:t>・ちょっと取り出したいだけ！</a:t>
            </a:r>
            <a:endParaRPr lang="en-US" altLang="ja-JP" sz="2000" b="1">
              <a:solidFill>
                <a:srgbClr val="C00000"/>
              </a:solidFill>
              <a:latin typeface="Noto Sans JP" pitchFamily="34" charset="0"/>
              <a:ea typeface="Noto Sans JP" pitchFamily="34" charset="-122"/>
            </a:endParaRPr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A640DD90-C2F9-59F6-9DBD-D9C540E356DB}"/>
              </a:ext>
            </a:extLst>
          </p:cNvPr>
          <p:cNvSpPr/>
          <p:nvPr/>
        </p:nvSpPr>
        <p:spPr>
          <a:xfrm>
            <a:off x="20683" y="-44552"/>
            <a:ext cx="12133218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Image 12" descr="preencoded.png">
            <a:extLst>
              <a:ext uri="{FF2B5EF4-FFF2-40B4-BE49-F238E27FC236}">
                <a16:creationId xmlns:a16="http://schemas.microsoft.com/office/drawing/2014/main" id="{D1B238A4-1D52-E438-2C3A-D9AC35D82D7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0" b="-10"/>
          <a:stretch/>
        </p:blipFill>
        <p:spPr>
          <a:xfrm>
            <a:off x="6888233" y="2312518"/>
            <a:ext cx="5156244" cy="2835926"/>
          </a:xfrm>
          <a:prstGeom prst="rect">
            <a:avLst/>
          </a:prstGeom>
        </p:spPr>
      </p:pic>
      <p:pic>
        <p:nvPicPr>
          <p:cNvPr id="34" name="Image 13" descr="preencoded.png">
            <a:extLst>
              <a:ext uri="{FF2B5EF4-FFF2-40B4-BE49-F238E27FC236}">
                <a16:creationId xmlns:a16="http://schemas.microsoft.com/office/drawing/2014/main" id="{D49308D7-1B23-EFB9-A046-7B8F0650C6D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42884" y="2524378"/>
            <a:ext cx="350912" cy="350912"/>
          </a:xfrm>
          <a:prstGeom prst="rect">
            <a:avLst/>
          </a:prstGeom>
        </p:spPr>
      </p:pic>
      <p:sp>
        <p:nvSpPr>
          <p:cNvPr id="33" name="Text 18">
            <a:extLst>
              <a:ext uri="{FF2B5EF4-FFF2-40B4-BE49-F238E27FC236}">
                <a16:creationId xmlns:a16="http://schemas.microsoft.com/office/drawing/2014/main" id="{D13C0488-2273-2027-687D-02D69152F321}"/>
              </a:ext>
            </a:extLst>
          </p:cNvPr>
          <p:cNvSpPr txBox="1"/>
          <p:nvPr/>
        </p:nvSpPr>
        <p:spPr>
          <a:xfrm>
            <a:off x="7441350" y="2490570"/>
            <a:ext cx="4321181" cy="46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フローの見通しがよくなる</a:t>
            </a:r>
            <a:endParaRPr lang="en-US" altLang="ja-JP" sz="2000" b="1">
              <a:solidFill>
                <a:srgbClr val="15803D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F4C3EC65-9E56-3646-6CC5-BBAC969E942F}"/>
              </a:ext>
            </a:extLst>
          </p:cNvPr>
          <p:cNvGrpSpPr/>
          <p:nvPr/>
        </p:nvGrpSpPr>
        <p:grpSpPr>
          <a:xfrm>
            <a:off x="7314868" y="1824092"/>
            <a:ext cx="4058360" cy="538045"/>
            <a:chOff x="9244584" y="2179015"/>
            <a:chExt cx="1163352" cy="286207"/>
          </a:xfrm>
        </p:grpSpPr>
        <p:sp>
          <p:nvSpPr>
            <p:cNvPr id="30" name="Shape 15">
              <a:extLst>
                <a:ext uri="{FF2B5EF4-FFF2-40B4-BE49-F238E27FC236}">
                  <a16:creationId xmlns:a16="http://schemas.microsoft.com/office/drawing/2014/main" id="{233B0B25-D93F-E665-274E-8035EB9FFD6D}"/>
                </a:ext>
              </a:extLst>
            </p:cNvPr>
            <p:cNvSpPr/>
            <p:nvPr/>
          </p:nvSpPr>
          <p:spPr>
            <a:xfrm>
              <a:off x="9244584" y="2179015"/>
              <a:ext cx="1123798" cy="286207"/>
            </a:xfrm>
            <a:prstGeom prst="roundRect">
              <a:avLst>
                <a:gd name="adj" fmla="val 319489"/>
              </a:avLst>
            </a:prstGeom>
            <a:solidFill>
              <a:srgbClr val="DCFCE7"/>
            </a:solidFill>
            <a:ln w="34925">
              <a:solidFill>
                <a:srgbClr val="166534"/>
              </a:solidFill>
              <a:prstDash val="solid"/>
            </a:ln>
          </p:spPr>
          <p:txBody>
            <a:bodyPr/>
            <a:lstStyle/>
            <a:p>
              <a:endParaRPr lang="ja-JP" altLang="en-US" sz="5400"/>
            </a:p>
          </p:txBody>
        </p:sp>
        <p:sp>
          <p:nvSpPr>
            <p:cNvPr id="31" name="Text 16">
              <a:extLst>
                <a:ext uri="{FF2B5EF4-FFF2-40B4-BE49-F238E27FC236}">
                  <a16:creationId xmlns:a16="http://schemas.microsoft.com/office/drawing/2014/main" id="{10F65C8A-7363-3E8F-3152-E31653950C6E}"/>
                </a:ext>
              </a:extLst>
            </p:cNvPr>
            <p:cNvSpPr txBox="1"/>
            <p:nvPr/>
          </p:nvSpPr>
          <p:spPr>
            <a:xfrm>
              <a:off x="9317643" y="2218902"/>
              <a:ext cx="1090293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ja-JP" altLang="en-US" sz="2400" b="1">
                  <a:solidFill>
                    <a:srgbClr val="16653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避難させるとどう変わる？</a:t>
              </a:r>
              <a:endParaRPr lang="en-US" sz="2400" dirty="0"/>
            </a:p>
          </p:txBody>
        </p:sp>
      </p:grp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EEF38A12-BC9B-23A2-27DA-4035687C92AE}"/>
              </a:ext>
            </a:extLst>
          </p:cNvPr>
          <p:cNvSpPr/>
          <p:nvPr/>
        </p:nvSpPr>
        <p:spPr>
          <a:xfrm>
            <a:off x="249515" y="831975"/>
            <a:ext cx="193903" cy="992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FACA4A77-84DF-4CFC-4D1F-944512F5C1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645" y="657572"/>
            <a:ext cx="1241251" cy="1241251"/>
          </a:xfrm>
          <a:prstGeom prst="rect">
            <a:avLst/>
          </a:prstGeom>
        </p:spPr>
      </p:pic>
      <p:pic>
        <p:nvPicPr>
          <p:cNvPr id="19" name="Image 13" descr="preencoded.png">
            <a:extLst>
              <a:ext uri="{FF2B5EF4-FFF2-40B4-BE49-F238E27FC236}">
                <a16:creationId xmlns:a16="http://schemas.microsoft.com/office/drawing/2014/main" id="{0181F116-1131-32CF-FCC0-416392C67C9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42884" y="3365491"/>
            <a:ext cx="350912" cy="350912"/>
          </a:xfrm>
          <a:prstGeom prst="rect">
            <a:avLst/>
          </a:prstGeom>
        </p:spPr>
      </p:pic>
      <p:sp>
        <p:nvSpPr>
          <p:cNvPr id="20" name="Text 18">
            <a:extLst>
              <a:ext uri="{FF2B5EF4-FFF2-40B4-BE49-F238E27FC236}">
                <a16:creationId xmlns:a16="http://schemas.microsoft.com/office/drawing/2014/main" id="{E6DE4AF9-C768-93ED-CF90-FD62CE410647}"/>
              </a:ext>
            </a:extLst>
          </p:cNvPr>
          <p:cNvSpPr txBox="1"/>
          <p:nvPr/>
        </p:nvSpPr>
        <p:spPr>
          <a:xfrm>
            <a:off x="7441350" y="3320602"/>
            <a:ext cx="4321181" cy="46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デバッグしやすい</a:t>
            </a:r>
            <a:endParaRPr lang="en-US" altLang="ja-JP" sz="2000" b="1">
              <a:solidFill>
                <a:srgbClr val="15803D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21" name="Image 13" descr="preencoded.png">
            <a:extLst>
              <a:ext uri="{FF2B5EF4-FFF2-40B4-BE49-F238E27FC236}">
                <a16:creationId xmlns:a16="http://schemas.microsoft.com/office/drawing/2014/main" id="{8481340C-83E8-AE4A-1A38-2860AA2C24C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42884" y="4251380"/>
            <a:ext cx="350912" cy="350912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7B0DDF51-EF87-89C5-6D63-1BCA52E4BEAD}"/>
              </a:ext>
            </a:extLst>
          </p:cNvPr>
          <p:cNvSpPr txBox="1"/>
          <p:nvPr/>
        </p:nvSpPr>
        <p:spPr>
          <a:xfrm>
            <a:off x="7441350" y="4206491"/>
            <a:ext cx="4321181" cy="46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仕様変更にも強い</a:t>
            </a:r>
            <a:endParaRPr lang="en-US" altLang="ja-JP" sz="2000" b="1">
              <a:solidFill>
                <a:srgbClr val="15803D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70" name="図 69" descr="A blue-clad young boy is depicted with a downcast expression and tears, possibly reflecting sadness or distress.&#10;&#10;AI 生成コンテンツは誤りを含む可能性があります。">
            <a:extLst>
              <a:ext uri="{FF2B5EF4-FFF2-40B4-BE49-F238E27FC236}">
                <a16:creationId xmlns:a16="http://schemas.microsoft.com/office/drawing/2014/main" id="{EAFDAEB1-EEAF-0A45-0E08-0ABEE6DC65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76847" y="4036890"/>
            <a:ext cx="1043433" cy="1162598"/>
          </a:xfrm>
          <a:prstGeom prst="rect">
            <a:avLst/>
          </a:prstGeom>
        </p:spPr>
      </p:pic>
      <p:pic>
        <p:nvPicPr>
          <p:cNvPr id="73" name="図 72" descr="The image shows a button with a dropdown arrow, with a small, unspecified text in Chinese.&#10;&#10;AI 生成コンテンツは誤りを含む可能性があります。">
            <a:extLst>
              <a:ext uri="{FF2B5EF4-FFF2-40B4-BE49-F238E27FC236}">
                <a16:creationId xmlns:a16="http://schemas.microsoft.com/office/drawing/2014/main" id="{DE0FB163-E356-E510-F5C6-8FB65E23B1E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975" t="18769" r="43251" b="7075"/>
          <a:stretch>
            <a:fillRect/>
          </a:stretch>
        </p:blipFill>
        <p:spPr>
          <a:xfrm>
            <a:off x="4449350" y="2907159"/>
            <a:ext cx="2070380" cy="7677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7" name="図 86" descr="X&#10;&#10;AI 生成コンテンツは誤りを含む可能性があります。">
            <a:extLst>
              <a:ext uri="{FF2B5EF4-FFF2-40B4-BE49-F238E27FC236}">
                <a16:creationId xmlns:a16="http://schemas.microsoft.com/office/drawing/2014/main" id="{266FC162-BEAA-1462-9AD7-EFE85BF8D9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6833" y="3743341"/>
            <a:ext cx="1975453" cy="9877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0" name="図 89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C891827-9988-699B-CC5E-15E826DFF65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742" y="3959758"/>
            <a:ext cx="1047572" cy="1239730"/>
          </a:xfrm>
          <a:prstGeom prst="rect">
            <a:avLst/>
          </a:prstGeom>
        </p:spPr>
      </p:pic>
      <p:sp>
        <p:nvSpPr>
          <p:cNvPr id="91" name="Text 5">
            <a:extLst>
              <a:ext uri="{FF2B5EF4-FFF2-40B4-BE49-F238E27FC236}">
                <a16:creationId xmlns:a16="http://schemas.microsoft.com/office/drawing/2014/main" id="{5FF48741-3CA5-EE4D-0693-0A45DE3EE528}"/>
              </a:ext>
            </a:extLst>
          </p:cNvPr>
          <p:cNvSpPr txBox="1"/>
          <p:nvPr/>
        </p:nvSpPr>
        <p:spPr>
          <a:xfrm>
            <a:off x="7093919" y="2832105"/>
            <a:ext cx="5290670" cy="40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「この式はここで計算してる」と場所が明確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96" name="Text 5">
            <a:extLst>
              <a:ext uri="{FF2B5EF4-FFF2-40B4-BE49-F238E27FC236}">
                <a16:creationId xmlns:a16="http://schemas.microsoft.com/office/drawing/2014/main" id="{00095B27-14D0-B341-954D-2732D898D2B4}"/>
              </a:ext>
            </a:extLst>
          </p:cNvPr>
          <p:cNvSpPr txBox="1"/>
          <p:nvPr/>
        </p:nvSpPr>
        <p:spPr>
          <a:xfrm>
            <a:off x="7137731" y="3709016"/>
            <a:ext cx="4550331" cy="40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実行履歴で </a:t>
            </a:r>
            <a:r>
              <a:rPr lang="en-US" altLang="ja-JP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Compose </a:t>
            </a: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だけ見れば </a:t>
            </a:r>
            <a:r>
              <a:rPr lang="en-US" altLang="ja-JP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100" name="Text 5">
            <a:extLst>
              <a:ext uri="{FF2B5EF4-FFF2-40B4-BE49-F238E27FC236}">
                <a16:creationId xmlns:a16="http://schemas.microsoft.com/office/drawing/2014/main" id="{7E6ED068-EEC2-F04A-0562-CAB15A4526CC}"/>
              </a:ext>
            </a:extLst>
          </p:cNvPr>
          <p:cNvSpPr txBox="1"/>
          <p:nvPr/>
        </p:nvSpPr>
        <p:spPr>
          <a:xfrm>
            <a:off x="7137731" y="4585845"/>
            <a:ext cx="4786369" cy="40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式を直す場所が </a:t>
            </a:r>
            <a:r>
              <a:rPr lang="en-US" altLang="ja-JP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Compose</a:t>
            </a: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ひとつに集約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103" name="Text 6">
            <a:extLst>
              <a:ext uri="{FF2B5EF4-FFF2-40B4-BE49-F238E27FC236}">
                <a16:creationId xmlns:a16="http://schemas.microsoft.com/office/drawing/2014/main" id="{15C3A7FB-F225-3A12-28F4-3CAE1BC39F23}"/>
              </a:ext>
            </a:extLst>
          </p:cNvPr>
          <p:cNvSpPr txBox="1"/>
          <p:nvPr/>
        </p:nvSpPr>
        <p:spPr>
          <a:xfrm>
            <a:off x="4285699" y="4772597"/>
            <a:ext cx="2787919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chemeClr val="bg1"/>
                </a:solidFill>
                <a:effectLst>
                  <a:glow rad="177800">
                    <a:srgbClr val="0000CC"/>
                  </a:glow>
                </a:effectLst>
              </a:rPr>
              <a:t>この中にまとめて避難！</a:t>
            </a:r>
            <a:endParaRPr lang="en-US" b="1" dirty="0">
              <a:solidFill>
                <a:schemeClr val="bg1"/>
              </a:solidFill>
              <a:effectLst>
                <a:glow rad="177800">
                  <a:srgbClr val="0000CC"/>
                </a:glow>
              </a:effectLst>
            </a:endParaRPr>
          </a:p>
        </p:txBody>
      </p:sp>
      <p:sp>
        <p:nvSpPr>
          <p:cNvPr id="106" name="四角形: 角を丸くする 105">
            <a:extLst>
              <a:ext uri="{FF2B5EF4-FFF2-40B4-BE49-F238E27FC236}">
                <a16:creationId xmlns:a16="http://schemas.microsoft.com/office/drawing/2014/main" id="{D22F4DCA-CA6B-6D06-E99B-B1F13022590A}"/>
              </a:ext>
            </a:extLst>
          </p:cNvPr>
          <p:cNvSpPr/>
          <p:nvPr/>
        </p:nvSpPr>
        <p:spPr>
          <a:xfrm>
            <a:off x="429346" y="5368746"/>
            <a:ext cx="11499019" cy="1239730"/>
          </a:xfrm>
          <a:prstGeom prst="roundRect">
            <a:avLst/>
          </a:prstGeom>
          <a:noFill/>
          <a:ln w="539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8" name="図 107" descr="0￧ﾧﾒ&#10;&#10;AI 生成コンテンツは誤りを含む可能性があります。">
            <a:extLst>
              <a:ext uri="{FF2B5EF4-FFF2-40B4-BE49-F238E27FC236}">
                <a16:creationId xmlns:a16="http://schemas.microsoft.com/office/drawing/2014/main" id="{74FFC287-8F62-052B-1795-4AF02A776D8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73618" y="5363259"/>
            <a:ext cx="1952776" cy="6570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0" name="図 109" descr="2026￥ﾹﾴ3￦ﾜﾈ5￦ﾗﾥ&#10;&#10;AI 生成コンテンツは誤りを含む可能性があります。">
            <a:extLst>
              <a:ext uri="{FF2B5EF4-FFF2-40B4-BE49-F238E27FC236}">
                <a16:creationId xmlns:a16="http://schemas.microsoft.com/office/drawing/2014/main" id="{25D945EB-143F-5420-F733-DA3654B5BBA4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6503" t="4894"/>
          <a:stretch>
            <a:fillRect/>
          </a:stretch>
        </p:blipFill>
        <p:spPr>
          <a:xfrm>
            <a:off x="9807119" y="5219133"/>
            <a:ext cx="2169867" cy="14780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1" name="Image 10" descr="preencoded.png">
            <a:extLst>
              <a:ext uri="{FF2B5EF4-FFF2-40B4-BE49-F238E27FC236}">
                <a16:creationId xmlns:a16="http://schemas.microsoft.com/office/drawing/2014/main" id="{24D1944C-A7B1-A8C5-D883-B30F26C78C6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-80" r="-80"/>
          <a:stretch/>
        </p:blipFill>
        <p:spPr>
          <a:xfrm>
            <a:off x="36476" y="5431676"/>
            <a:ext cx="520848" cy="1040033"/>
          </a:xfrm>
          <a:prstGeom prst="rect">
            <a:avLst/>
          </a:prstGeom>
        </p:spPr>
      </p:pic>
      <p:sp>
        <p:nvSpPr>
          <p:cNvPr id="112" name="Text 23">
            <a:extLst>
              <a:ext uri="{FF2B5EF4-FFF2-40B4-BE49-F238E27FC236}">
                <a16:creationId xmlns:a16="http://schemas.microsoft.com/office/drawing/2014/main" id="{6F4AC2F3-F6DD-66F3-8D59-11BE08646BBD}"/>
              </a:ext>
            </a:extLst>
          </p:cNvPr>
          <p:cNvSpPr txBox="1"/>
          <p:nvPr/>
        </p:nvSpPr>
        <p:spPr>
          <a:xfrm>
            <a:off x="6618578" y="6089770"/>
            <a:ext cx="3217149" cy="723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b="1">
                <a:solidFill>
                  <a:schemeClr val="bg1"/>
                </a:solidFill>
                <a:effectLst>
                  <a:glow rad="152400">
                    <a:schemeClr val="tx1">
                      <a:lumMod val="95000"/>
                      <a:lumOff val="5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b="1">
                <a:solidFill>
                  <a:schemeClr val="bg1"/>
                </a:solidFill>
                <a:effectLst>
                  <a:glow rad="152400">
                    <a:schemeClr val="tx1">
                      <a:lumMod val="95000"/>
                      <a:lumOff val="5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</a:t>
            </a:r>
            <a:r>
              <a:rPr lang="en-US" altLang="ja-JP" b="1">
                <a:solidFill>
                  <a:schemeClr val="bg1"/>
                </a:solidFill>
                <a:effectLst>
                  <a:glow rad="152400">
                    <a:schemeClr val="tx1">
                      <a:lumMod val="95000"/>
                      <a:lumOff val="5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】</a:t>
            </a:r>
            <a:r>
              <a:rPr lang="ja-JP" altLang="en-US" b="1">
                <a:solidFill>
                  <a:schemeClr val="bg1"/>
                </a:solidFill>
                <a:effectLst>
                  <a:glow rad="152400">
                    <a:schemeClr val="tx1">
                      <a:lumMod val="95000"/>
                      <a:lumOff val="5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の出力だけ見れば</a:t>
            </a:r>
          </a:p>
          <a:p>
            <a:pPr marL="0" indent="0" algn="l">
              <a:buNone/>
            </a:pPr>
            <a:r>
              <a:rPr lang="ja-JP" altLang="en-US" b="1">
                <a:solidFill>
                  <a:schemeClr val="bg1"/>
                </a:solidFill>
                <a:effectLst>
                  <a:glow rad="152400">
                    <a:schemeClr val="tx1">
                      <a:lumMod val="95000"/>
                      <a:lumOff val="5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式の結果がすぐ分かる。</a:t>
            </a:r>
          </a:p>
        </p:txBody>
      </p:sp>
      <p:cxnSp>
        <p:nvCxnSpPr>
          <p:cNvPr id="113" name="Connector 41">
            <a:extLst>
              <a:ext uri="{FF2B5EF4-FFF2-40B4-BE49-F238E27FC236}">
                <a16:creationId xmlns:a16="http://schemas.microsoft.com/office/drawing/2014/main" id="{782695A5-ED34-A2B9-AE00-D61103CD9A97}"/>
              </a:ext>
            </a:extLst>
          </p:cNvPr>
          <p:cNvCxnSpPr>
            <a:cxnSpLocks/>
          </p:cNvCxnSpPr>
          <p:nvPr/>
        </p:nvCxnSpPr>
        <p:spPr>
          <a:xfrm flipV="1">
            <a:off x="9541994" y="6273132"/>
            <a:ext cx="654957" cy="43405"/>
          </a:xfrm>
          <a:prstGeom prst="line">
            <a:avLst/>
          </a:prstGeom>
          <a:ln w="50800">
            <a:solidFill>
              <a:srgbClr val="2563EB"/>
            </a:solidFill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8" name="グループ化 117">
            <a:extLst>
              <a:ext uri="{FF2B5EF4-FFF2-40B4-BE49-F238E27FC236}">
                <a16:creationId xmlns:a16="http://schemas.microsoft.com/office/drawing/2014/main" id="{9696159B-EB74-3272-D86F-1701523B1066}"/>
              </a:ext>
            </a:extLst>
          </p:cNvPr>
          <p:cNvGrpSpPr/>
          <p:nvPr/>
        </p:nvGrpSpPr>
        <p:grpSpPr>
          <a:xfrm>
            <a:off x="4054905" y="1841786"/>
            <a:ext cx="3246138" cy="520008"/>
            <a:chOff x="3873773" y="1867841"/>
            <a:chExt cx="3246138" cy="520008"/>
          </a:xfrm>
        </p:grpSpPr>
        <p:sp>
          <p:nvSpPr>
            <p:cNvPr id="16" name="Shape 7">
              <a:extLst>
                <a:ext uri="{FF2B5EF4-FFF2-40B4-BE49-F238E27FC236}">
                  <a16:creationId xmlns:a16="http://schemas.microsoft.com/office/drawing/2014/main" id="{6C0FEB1A-051C-FC7E-D1D4-56A1A0DDA51E}"/>
                </a:ext>
              </a:extLst>
            </p:cNvPr>
            <p:cNvSpPr/>
            <p:nvPr/>
          </p:nvSpPr>
          <p:spPr>
            <a:xfrm>
              <a:off x="3873773" y="1873957"/>
              <a:ext cx="3103094" cy="513892"/>
            </a:xfrm>
            <a:prstGeom prst="roundRect">
              <a:avLst>
                <a:gd name="adj" fmla="val 31948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rgbClr val="0000CC"/>
              </a:solidFill>
              <a:prstDash val="solid"/>
            </a:ln>
          </p:spPr>
          <p:txBody>
            <a:bodyPr/>
            <a:lstStyle/>
            <a:p>
              <a:endParaRPr lang="ja-JP" altLang="en-US" sz="4800"/>
            </a:p>
          </p:txBody>
        </p:sp>
        <p:sp>
          <p:nvSpPr>
            <p:cNvPr id="66" name="Text 36">
              <a:extLst>
                <a:ext uri="{FF2B5EF4-FFF2-40B4-BE49-F238E27FC236}">
                  <a16:creationId xmlns:a16="http://schemas.microsoft.com/office/drawing/2014/main" id="{3FFE6105-DCEE-0251-4B4A-147896A7349F}"/>
                </a:ext>
              </a:extLst>
            </p:cNvPr>
            <p:cNvSpPr txBox="1"/>
            <p:nvPr/>
          </p:nvSpPr>
          <p:spPr>
            <a:xfrm>
              <a:off x="4065751" y="1867841"/>
              <a:ext cx="3054160" cy="5074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ja-JP" altLang="en-US" sz="32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作成</a:t>
              </a:r>
              <a:r>
                <a:rPr lang="ja-JP" altLang="en-US" sz="2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（</a:t>
              </a:r>
              <a:r>
                <a:rPr lang="en-US" altLang="ja-JP" sz="2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Compose</a:t>
              </a:r>
              <a:r>
                <a:rPr lang="ja-JP" altLang="en-US" sz="2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）</a:t>
              </a:r>
              <a:endParaRPr lang="en-US" sz="3600" dirty="0"/>
            </a:p>
          </p:txBody>
        </p:sp>
      </p:grpSp>
      <p:sp>
        <p:nvSpPr>
          <p:cNvPr id="117" name="Shape 7">
            <a:extLst>
              <a:ext uri="{FF2B5EF4-FFF2-40B4-BE49-F238E27FC236}">
                <a16:creationId xmlns:a16="http://schemas.microsoft.com/office/drawing/2014/main" id="{D0EDBD5B-9635-5EF8-02A2-E45B7F827A3C}"/>
              </a:ext>
            </a:extLst>
          </p:cNvPr>
          <p:cNvSpPr/>
          <p:nvPr/>
        </p:nvSpPr>
        <p:spPr>
          <a:xfrm>
            <a:off x="204644" y="1846532"/>
            <a:ext cx="3619573" cy="513892"/>
          </a:xfrm>
          <a:prstGeom prst="roundRect">
            <a:avLst>
              <a:gd name="adj" fmla="val 319489"/>
            </a:avLst>
          </a:prstGeom>
          <a:solidFill>
            <a:srgbClr val="FEF2F2"/>
          </a:solidFill>
          <a:ln w="3492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256EB5B7-1AB1-E0E8-7B13-748E53036655}"/>
              </a:ext>
            </a:extLst>
          </p:cNvPr>
          <p:cNvSpPr txBox="1"/>
          <p:nvPr/>
        </p:nvSpPr>
        <p:spPr>
          <a:xfrm>
            <a:off x="314194" y="1921852"/>
            <a:ext cx="3631161" cy="34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なぜライト</a:t>
            </a:r>
            <a:r>
              <a:rPr lang="en-US" altLang="ja-JP" sz="20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ja-JP" altLang="en-US" sz="20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処理が必要？</a:t>
            </a:r>
            <a:endParaRPr lang="en-US" altLang="ja-JP" sz="2000" b="1">
              <a:solidFill>
                <a:srgbClr val="DC2626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98" name="Image 10" descr="preencoded.png">
            <a:extLst>
              <a:ext uri="{FF2B5EF4-FFF2-40B4-BE49-F238E27FC236}">
                <a16:creationId xmlns:a16="http://schemas.microsoft.com/office/drawing/2014/main" id="{A46D1D0E-51BA-9837-9675-8187F10087E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-80" r="-80"/>
          <a:stretch/>
        </p:blipFill>
        <p:spPr>
          <a:xfrm>
            <a:off x="6927749" y="1589106"/>
            <a:ext cx="520848" cy="104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8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8DCB0-1BC9-D699-B17F-7D8970ED4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四角形: 角を丸くする 82">
            <a:extLst>
              <a:ext uri="{FF2B5EF4-FFF2-40B4-BE49-F238E27FC236}">
                <a16:creationId xmlns:a16="http://schemas.microsoft.com/office/drawing/2014/main" id="{F1D7B103-B9E3-383F-4733-22C0D165E73F}"/>
              </a:ext>
            </a:extLst>
          </p:cNvPr>
          <p:cNvSpPr/>
          <p:nvPr/>
        </p:nvSpPr>
        <p:spPr>
          <a:xfrm>
            <a:off x="120645" y="1962651"/>
            <a:ext cx="3964621" cy="3185793"/>
          </a:xfrm>
          <a:prstGeom prst="roundRect">
            <a:avLst>
              <a:gd name="adj" fmla="val 9321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363D8100-4D4C-33ED-4E5F-202F355F29E7}"/>
              </a:ext>
            </a:extLst>
          </p:cNvPr>
          <p:cNvSpPr/>
          <p:nvPr/>
        </p:nvSpPr>
        <p:spPr>
          <a:xfrm>
            <a:off x="6858" y="-69952"/>
            <a:ext cx="12191695" cy="76169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54659BC-3106-B7A3-7776-6581327CB2EA}"/>
              </a:ext>
            </a:extLst>
          </p:cNvPr>
          <p:cNvSpPr/>
          <p:nvPr/>
        </p:nvSpPr>
        <p:spPr>
          <a:xfrm>
            <a:off x="188332" y="78173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5942652-F290-B7CA-21E8-7A921BF03941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</a:t>
            </a: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.17</a:t>
            </a:r>
            <a:endParaRPr lang="en-US" sz="3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99F5B7C-84A5-4AA3-276A-0FB05D90F0D0}"/>
              </a:ext>
            </a:extLst>
          </p:cNvPr>
          <p:cNvSpPr txBox="1"/>
          <p:nvPr/>
        </p:nvSpPr>
        <p:spPr>
          <a:xfrm>
            <a:off x="1826709" y="148227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  :  </a:t>
            </a:r>
            <a:r>
              <a:rPr lang="en-US" altLang="ja-JP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ja-JP" altLang="en-US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の解析 処理が苦手な人向け</a:t>
            </a:r>
            <a:endParaRPr lang="en-US" sz="27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3B5B3E20-456C-B0D0-CF91-00CD3B9B47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061" y="804964"/>
            <a:ext cx="11895839" cy="914400"/>
          </a:xfrm>
          <a:prstGeom prst="rect">
            <a:avLst/>
          </a:prstGeom>
        </p:spPr>
      </p:pic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15A189AC-B42D-C99D-CA63-1AF2F8A247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1" b="-31"/>
          <a:stretch/>
        </p:blipFill>
        <p:spPr>
          <a:xfrm>
            <a:off x="541578" y="1048995"/>
            <a:ext cx="342900" cy="495605"/>
          </a:xfrm>
          <a:prstGeom prst="rect">
            <a:avLst/>
          </a:prstGeom>
        </p:spPr>
      </p:pic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13A993CE-8C9E-9067-2B55-5287DEB6EC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6423" b="-16423"/>
          <a:stretch/>
        </p:blipFill>
        <p:spPr>
          <a:xfrm>
            <a:off x="626617" y="1134034"/>
            <a:ext cx="171907" cy="304495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75FF28F1-BBB5-E316-7123-679FABC1EA75}"/>
              </a:ext>
            </a:extLst>
          </p:cNvPr>
          <p:cNvSpPr txBox="1"/>
          <p:nvPr/>
        </p:nvSpPr>
        <p:spPr>
          <a:xfrm>
            <a:off x="1354497" y="1047499"/>
            <a:ext cx="10573858" cy="40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必要なところだけつまむ</a:t>
            </a:r>
            <a:r>
              <a:rPr lang="en-US" altLang="ja-JP" sz="28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</a:t>
            </a:r>
            <a:r>
              <a:rPr lang="en-US" altLang="ja-JP" sz="28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】</a:t>
            </a:r>
            <a:r>
              <a:rPr lang="ja-JP" altLang="en-US" sz="28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r>
              <a:rPr lang="ja-JP" alt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“ライト</a:t>
            </a:r>
            <a:r>
              <a:rPr lang="en-US" altLang="ja-JP" sz="4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ja-JP" altLang="en-US" sz="40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処理”</a:t>
            </a:r>
            <a:endParaRPr lang="en-US" sz="2800" dirty="0">
              <a:solidFill>
                <a:srgbClr val="0000CC"/>
              </a:solidFill>
            </a:endParaRPr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D377923E-6C7E-FDB9-C11D-70325016A1FF}"/>
              </a:ext>
            </a:extLst>
          </p:cNvPr>
          <p:cNvSpPr txBox="1"/>
          <p:nvPr/>
        </p:nvSpPr>
        <p:spPr>
          <a:xfrm>
            <a:off x="11367821" y="6514472"/>
            <a:ext cx="676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#PA45</a:t>
            </a:r>
            <a:endParaRPr lang="en-US" sz="1300" dirty="0"/>
          </a:p>
        </p:txBody>
      </p:sp>
      <p:pic>
        <p:nvPicPr>
          <p:cNvPr id="62" name="Image 26" descr="preencoded.png">
            <a:extLst>
              <a:ext uri="{FF2B5EF4-FFF2-40B4-BE49-F238E27FC236}">
                <a16:creationId xmlns:a16="http://schemas.microsoft.com/office/drawing/2014/main" id="{1F3E71C2-2AE3-69BA-587D-83801162F6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41172" y="2599937"/>
            <a:ext cx="1943671" cy="1334010"/>
          </a:xfrm>
          <a:prstGeom prst="rect">
            <a:avLst/>
          </a:prstGeom>
        </p:spPr>
      </p:pic>
      <p:sp>
        <p:nvSpPr>
          <p:cNvPr id="80" name="Text 37">
            <a:extLst>
              <a:ext uri="{FF2B5EF4-FFF2-40B4-BE49-F238E27FC236}">
                <a16:creationId xmlns:a16="http://schemas.microsoft.com/office/drawing/2014/main" id="{44AA5677-B04F-78F2-78E2-BEC45295A078}"/>
              </a:ext>
            </a:extLst>
          </p:cNvPr>
          <p:cNvSpPr txBox="1"/>
          <p:nvPr/>
        </p:nvSpPr>
        <p:spPr>
          <a:xfrm>
            <a:off x="446858" y="5223425"/>
            <a:ext cx="217091" cy="356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!</a:t>
            </a:r>
            <a:endParaRPr lang="en-US" sz="2400" dirty="0"/>
          </a:p>
        </p:txBody>
      </p:sp>
      <p:sp>
        <p:nvSpPr>
          <p:cNvPr id="86" name="Text 6">
            <a:extLst>
              <a:ext uri="{FF2B5EF4-FFF2-40B4-BE49-F238E27FC236}">
                <a16:creationId xmlns:a16="http://schemas.microsoft.com/office/drawing/2014/main" id="{F528FB24-6EB5-7477-45E4-F5C97E40A13E}"/>
              </a:ext>
            </a:extLst>
          </p:cNvPr>
          <p:cNvSpPr txBox="1"/>
          <p:nvPr/>
        </p:nvSpPr>
        <p:spPr>
          <a:xfrm>
            <a:off x="4523543" y="2375698"/>
            <a:ext cx="2717855" cy="9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88900">
                    <a:srgbClr val="0000CC"/>
                  </a:glow>
                </a:effectLst>
                <a:latin typeface="Noto Sans JP" pitchFamily="34" charset="0"/>
                <a:ea typeface="Noto Sans JP" pitchFamily="34" charset="-122"/>
              </a:rPr>
              <a:t>そんな時は、</a:t>
            </a:r>
            <a:endParaRPr lang="en-US" altLang="ja-JP" sz="2000" b="1">
              <a:solidFill>
                <a:schemeClr val="bg1"/>
              </a:solidFill>
              <a:effectLst>
                <a:glow rad="88900">
                  <a:srgbClr val="0000CC"/>
                </a:glow>
              </a:effectLst>
              <a:latin typeface="Noto Sans JP" pitchFamily="34" charset="0"/>
              <a:ea typeface="Noto Sans JP" pitchFamily="34" charset="-122"/>
            </a:endParaRPr>
          </a:p>
          <a:p>
            <a:pPr marL="0" indent="0" algn="l">
              <a:buNone/>
            </a:pPr>
            <a:r>
              <a:rPr lang="en-US" altLang="ja-JP" sz="2000" b="1">
                <a:solidFill>
                  <a:schemeClr val="bg1"/>
                </a:solidFill>
                <a:effectLst>
                  <a:glow rad="88900">
                    <a:srgbClr val="0000CC"/>
                  </a:glow>
                </a:effectLst>
                <a:latin typeface="Noto Sans JP" pitchFamily="34" charset="0"/>
                <a:ea typeface="Noto Sans JP" pitchFamily="34" charset="-122"/>
              </a:rPr>
              <a:t>Parse JSON</a:t>
            </a:r>
            <a:r>
              <a:rPr lang="ja-JP" altLang="en-US" sz="2000" b="1">
                <a:solidFill>
                  <a:schemeClr val="bg1"/>
                </a:solidFill>
                <a:effectLst>
                  <a:glow rad="88900">
                    <a:srgbClr val="0000CC"/>
                  </a:glow>
                </a:effectLst>
                <a:latin typeface="Noto Sans JP" pitchFamily="34" charset="0"/>
                <a:ea typeface="Noto Sans JP" pitchFamily="34" charset="-122"/>
              </a:rPr>
              <a:t>不要！</a:t>
            </a:r>
            <a:endParaRPr lang="en-US" altLang="ja-JP" sz="2000" b="1">
              <a:solidFill>
                <a:schemeClr val="bg1"/>
              </a:solidFill>
              <a:effectLst>
                <a:glow rad="88900">
                  <a:srgbClr val="0000CC"/>
                </a:glow>
              </a:effectLst>
              <a:latin typeface="Noto Sans JP" pitchFamily="34" charset="0"/>
              <a:ea typeface="Noto Sans JP" pitchFamily="34" charset="-122"/>
            </a:endParaRPr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8BC6C2F3-DAED-9E49-8873-F4CD19C6474B}"/>
              </a:ext>
            </a:extLst>
          </p:cNvPr>
          <p:cNvSpPr txBox="1"/>
          <p:nvPr/>
        </p:nvSpPr>
        <p:spPr>
          <a:xfrm>
            <a:off x="666598" y="2708659"/>
            <a:ext cx="2509184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400" dirty="0">
              <a:solidFill>
                <a:schemeClr val="bg1"/>
              </a:solidFill>
              <a:effectLst>
                <a:glow rad="63500">
                  <a:srgbClr val="0000CC"/>
                </a:glow>
              </a:effectLst>
            </a:endParaRPr>
          </a:p>
        </p:txBody>
      </p:sp>
      <p:sp>
        <p:nvSpPr>
          <p:cNvPr id="95" name="Text 6">
            <a:extLst>
              <a:ext uri="{FF2B5EF4-FFF2-40B4-BE49-F238E27FC236}">
                <a16:creationId xmlns:a16="http://schemas.microsoft.com/office/drawing/2014/main" id="{1110B736-34FA-9D13-1E71-7570C8B44FDD}"/>
              </a:ext>
            </a:extLst>
          </p:cNvPr>
          <p:cNvSpPr txBox="1"/>
          <p:nvPr/>
        </p:nvSpPr>
        <p:spPr>
          <a:xfrm>
            <a:off x="193510" y="2102732"/>
            <a:ext cx="3856945" cy="1810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b="1">
                <a:solidFill>
                  <a:srgbClr val="C00000"/>
                </a:solidFill>
              </a:rPr>
              <a:t>・</a:t>
            </a:r>
            <a:r>
              <a:rPr lang="en-US" altLang="ja-JP" sz="2000" b="1">
                <a:solidFill>
                  <a:srgbClr val="C00000"/>
                </a:solidFill>
              </a:rPr>
              <a:t>JSON</a:t>
            </a:r>
            <a:r>
              <a:rPr lang="ja-JP" altLang="en-US" sz="2000" b="1">
                <a:solidFill>
                  <a:srgbClr val="C00000"/>
                </a:solidFill>
              </a:rPr>
              <a:t>の解析アクション。苦手。</a:t>
            </a:r>
            <a:endParaRPr lang="en-US" altLang="ja-JP" sz="2000" b="1">
              <a:solidFill>
                <a:srgbClr val="C00000"/>
              </a:solidFill>
            </a:endParaRPr>
          </a:p>
          <a:p>
            <a:r>
              <a:rPr lang="ja-JP" altLang="en-US" sz="20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</a:rPr>
              <a:t>・欲しいのは</a:t>
            </a:r>
            <a:r>
              <a:rPr lang="en-US" altLang="ja-JP" sz="20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</a:rPr>
              <a:t>1</a:t>
            </a:r>
            <a:r>
              <a:rPr lang="ja-JP" altLang="en-US" sz="20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</a:rPr>
              <a:t>個だけ！</a:t>
            </a:r>
            <a:endParaRPr lang="en-US" altLang="ja-JP" sz="2000" b="1">
              <a:solidFill>
                <a:srgbClr val="C00000"/>
              </a:solidFill>
              <a:latin typeface="Noto Sans JP" pitchFamily="34" charset="0"/>
              <a:ea typeface="Noto Sans JP" pitchFamily="34" charset="-122"/>
            </a:endParaRPr>
          </a:p>
          <a:p>
            <a:r>
              <a:rPr lang="ja-JP" altLang="en-US" sz="20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</a:rPr>
              <a:t>・ちょっと取り出したいだけ！</a:t>
            </a:r>
            <a:endParaRPr lang="en-US" altLang="ja-JP" sz="2000" b="1">
              <a:solidFill>
                <a:srgbClr val="C00000"/>
              </a:solidFill>
              <a:latin typeface="Noto Sans JP" pitchFamily="34" charset="0"/>
              <a:ea typeface="Noto Sans JP" pitchFamily="34" charset="-122"/>
            </a:endParaRPr>
          </a:p>
          <a:p>
            <a:endParaRPr lang="en-US" altLang="ja-JP" sz="2000" b="1">
              <a:solidFill>
                <a:srgbClr val="C00000"/>
              </a:solidFill>
              <a:effectLst/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A640DD90-C2F9-59F6-9DBD-D9C540E356DB}"/>
              </a:ext>
            </a:extLst>
          </p:cNvPr>
          <p:cNvSpPr/>
          <p:nvPr/>
        </p:nvSpPr>
        <p:spPr>
          <a:xfrm>
            <a:off x="6858" y="-26125"/>
            <a:ext cx="12133218" cy="6884125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Image 12" descr="preencoded.png">
            <a:extLst>
              <a:ext uri="{FF2B5EF4-FFF2-40B4-BE49-F238E27FC236}">
                <a16:creationId xmlns:a16="http://schemas.microsoft.com/office/drawing/2014/main" id="{D1B238A4-1D52-E438-2C3A-D9AC35D82D7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0" b="-10"/>
          <a:stretch/>
        </p:blipFill>
        <p:spPr>
          <a:xfrm>
            <a:off x="7306063" y="2352602"/>
            <a:ext cx="4672554" cy="2835926"/>
          </a:xfrm>
          <a:prstGeom prst="rect">
            <a:avLst/>
          </a:prstGeom>
        </p:spPr>
      </p:pic>
      <p:pic>
        <p:nvPicPr>
          <p:cNvPr id="34" name="Image 13" descr="preencoded.png">
            <a:extLst>
              <a:ext uri="{FF2B5EF4-FFF2-40B4-BE49-F238E27FC236}">
                <a16:creationId xmlns:a16="http://schemas.microsoft.com/office/drawing/2014/main" id="{D49308D7-1B23-EFB9-A046-7B8F0650C6D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20283" y="2484887"/>
            <a:ext cx="350912" cy="350912"/>
          </a:xfrm>
          <a:prstGeom prst="rect">
            <a:avLst/>
          </a:prstGeom>
        </p:spPr>
      </p:pic>
      <p:sp>
        <p:nvSpPr>
          <p:cNvPr id="33" name="Text 18">
            <a:extLst>
              <a:ext uri="{FF2B5EF4-FFF2-40B4-BE49-F238E27FC236}">
                <a16:creationId xmlns:a16="http://schemas.microsoft.com/office/drawing/2014/main" id="{D13C0488-2273-2027-687D-02D69152F321}"/>
              </a:ext>
            </a:extLst>
          </p:cNvPr>
          <p:cNvSpPr txBox="1"/>
          <p:nvPr/>
        </p:nvSpPr>
        <p:spPr>
          <a:xfrm>
            <a:off x="7872426" y="2490570"/>
            <a:ext cx="4321181" cy="46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フローの見通しがよくなる</a:t>
            </a:r>
            <a:endParaRPr lang="en-US" altLang="ja-JP" sz="2000" b="1">
              <a:solidFill>
                <a:srgbClr val="15803D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233B0B25-D93F-E665-274E-8035EB9FFD6D}"/>
              </a:ext>
            </a:extLst>
          </p:cNvPr>
          <p:cNvSpPr/>
          <p:nvPr/>
        </p:nvSpPr>
        <p:spPr>
          <a:xfrm>
            <a:off x="7419677" y="1782600"/>
            <a:ext cx="4660222" cy="538045"/>
          </a:xfrm>
          <a:prstGeom prst="roundRect">
            <a:avLst>
              <a:gd name="adj" fmla="val 319489"/>
            </a:avLst>
          </a:prstGeom>
          <a:solidFill>
            <a:srgbClr val="DCFCE7"/>
          </a:solidFill>
          <a:ln w="34925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ja-JP" altLang="en-US" sz="540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10F65C8A-7363-3E8F-3152-E31653950C6E}"/>
              </a:ext>
            </a:extLst>
          </p:cNvPr>
          <p:cNvSpPr txBox="1"/>
          <p:nvPr/>
        </p:nvSpPr>
        <p:spPr>
          <a:xfrm>
            <a:off x="7562605" y="1870567"/>
            <a:ext cx="4770320" cy="359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rgbClr val="166534"/>
                </a:solidFill>
                <a:latin typeface="Noto Sans JP" pitchFamily="34" charset="0"/>
                <a:ea typeface="Noto Sans JP" pitchFamily="34" charset="-122"/>
              </a:rPr>
              <a:t>ライト</a:t>
            </a:r>
            <a:r>
              <a:rPr lang="en-US" altLang="ja-JP" sz="2400" b="1">
                <a:solidFill>
                  <a:srgbClr val="166534"/>
                </a:solidFill>
                <a:latin typeface="Noto Sans JP" pitchFamily="34" charset="0"/>
                <a:ea typeface="Noto Sans JP" pitchFamily="34" charset="-122"/>
              </a:rPr>
              <a:t>JSON</a:t>
            </a:r>
            <a:r>
              <a:rPr lang="ja-JP" altLang="en-US" sz="2400" b="1">
                <a:solidFill>
                  <a:srgbClr val="166534"/>
                </a:solidFill>
                <a:latin typeface="Noto Sans JP" pitchFamily="34" charset="0"/>
                <a:ea typeface="Noto Sans JP" pitchFamily="34" charset="-122"/>
              </a:rPr>
              <a:t>処理でどう変わる？</a:t>
            </a:r>
            <a:endParaRPr lang="en-US" sz="2400" dirty="0"/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EEF38A12-BC9B-23A2-27DA-4035687C92AE}"/>
              </a:ext>
            </a:extLst>
          </p:cNvPr>
          <p:cNvSpPr/>
          <p:nvPr/>
        </p:nvSpPr>
        <p:spPr>
          <a:xfrm>
            <a:off x="249515" y="831975"/>
            <a:ext cx="193903" cy="992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FACA4A77-84DF-4CFC-4D1F-944512F5C1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00" y="622541"/>
            <a:ext cx="1241251" cy="1241251"/>
          </a:xfrm>
          <a:prstGeom prst="rect">
            <a:avLst/>
          </a:prstGeom>
        </p:spPr>
      </p:pic>
      <p:pic>
        <p:nvPicPr>
          <p:cNvPr id="19" name="Image 13" descr="preencoded.png">
            <a:extLst>
              <a:ext uri="{FF2B5EF4-FFF2-40B4-BE49-F238E27FC236}">
                <a16:creationId xmlns:a16="http://schemas.microsoft.com/office/drawing/2014/main" id="{0181F116-1131-32CF-FCC0-416392C67C9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413143" y="3365491"/>
            <a:ext cx="350912" cy="350912"/>
          </a:xfrm>
          <a:prstGeom prst="rect">
            <a:avLst/>
          </a:prstGeom>
        </p:spPr>
      </p:pic>
      <p:sp>
        <p:nvSpPr>
          <p:cNvPr id="20" name="Text 18">
            <a:extLst>
              <a:ext uri="{FF2B5EF4-FFF2-40B4-BE49-F238E27FC236}">
                <a16:creationId xmlns:a16="http://schemas.microsoft.com/office/drawing/2014/main" id="{E6DE4AF9-C768-93ED-CF90-FD62CE410647}"/>
              </a:ext>
            </a:extLst>
          </p:cNvPr>
          <p:cNvSpPr txBox="1"/>
          <p:nvPr/>
        </p:nvSpPr>
        <p:spPr>
          <a:xfrm>
            <a:off x="7872426" y="3320602"/>
            <a:ext cx="4321181" cy="46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デバッグしやすい</a:t>
            </a:r>
            <a:endParaRPr lang="en-US" altLang="ja-JP" sz="2000" b="1">
              <a:solidFill>
                <a:srgbClr val="15803D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21" name="Image 13" descr="preencoded.png">
            <a:extLst>
              <a:ext uri="{FF2B5EF4-FFF2-40B4-BE49-F238E27FC236}">
                <a16:creationId xmlns:a16="http://schemas.microsoft.com/office/drawing/2014/main" id="{8481340C-83E8-AE4A-1A38-2860AA2C24C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373960" y="4251380"/>
            <a:ext cx="350912" cy="350912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7B0DDF51-EF87-89C5-6D63-1BCA52E4BEAD}"/>
              </a:ext>
            </a:extLst>
          </p:cNvPr>
          <p:cNvSpPr txBox="1"/>
          <p:nvPr/>
        </p:nvSpPr>
        <p:spPr>
          <a:xfrm>
            <a:off x="7927060" y="4245317"/>
            <a:ext cx="4321181" cy="46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仕様変更にも強い</a:t>
            </a:r>
            <a:endParaRPr lang="en-US" altLang="ja-JP" sz="2000" b="1">
              <a:solidFill>
                <a:srgbClr val="15803D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73" name="図 72" descr="The image shows a button with a dropdown arrow, with a small, unspecified text in Chinese.&#10;&#10;AI 生成コンテンツは誤りを含む可能性があります。">
            <a:extLst>
              <a:ext uri="{FF2B5EF4-FFF2-40B4-BE49-F238E27FC236}">
                <a16:creationId xmlns:a16="http://schemas.microsoft.com/office/drawing/2014/main" id="{DE0FB163-E356-E510-F5C6-8FB65E23B1E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975" t="18769" r="43251" b="7075"/>
          <a:stretch>
            <a:fillRect/>
          </a:stretch>
        </p:blipFill>
        <p:spPr>
          <a:xfrm>
            <a:off x="4368617" y="3415506"/>
            <a:ext cx="2207623" cy="8186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1" name="Text 5">
            <a:extLst>
              <a:ext uri="{FF2B5EF4-FFF2-40B4-BE49-F238E27FC236}">
                <a16:creationId xmlns:a16="http://schemas.microsoft.com/office/drawing/2014/main" id="{5FF48741-3CA5-EE4D-0693-0A45DE3EE528}"/>
              </a:ext>
            </a:extLst>
          </p:cNvPr>
          <p:cNvSpPr txBox="1"/>
          <p:nvPr/>
        </p:nvSpPr>
        <p:spPr>
          <a:xfrm>
            <a:off x="7283324" y="2838636"/>
            <a:ext cx="5290670" cy="40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「この式はここで計算してる」と場所が明確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96" name="Text 5">
            <a:extLst>
              <a:ext uri="{FF2B5EF4-FFF2-40B4-BE49-F238E27FC236}">
                <a16:creationId xmlns:a16="http://schemas.microsoft.com/office/drawing/2014/main" id="{00095B27-14D0-B341-954D-2732D898D2B4}"/>
              </a:ext>
            </a:extLst>
          </p:cNvPr>
          <p:cNvSpPr txBox="1"/>
          <p:nvPr/>
        </p:nvSpPr>
        <p:spPr>
          <a:xfrm>
            <a:off x="7464302" y="3722078"/>
            <a:ext cx="4550331" cy="40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実行履歴で </a:t>
            </a:r>
            <a:r>
              <a:rPr lang="en-US" altLang="ja-JP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Compose </a:t>
            </a: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だけ見れば </a:t>
            </a:r>
            <a:r>
              <a:rPr lang="en-US" altLang="ja-JP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100" name="Text 5">
            <a:extLst>
              <a:ext uri="{FF2B5EF4-FFF2-40B4-BE49-F238E27FC236}">
                <a16:creationId xmlns:a16="http://schemas.microsoft.com/office/drawing/2014/main" id="{7E6ED068-EEC2-F04A-0562-CAB15A4526CC}"/>
              </a:ext>
            </a:extLst>
          </p:cNvPr>
          <p:cNvSpPr txBox="1"/>
          <p:nvPr/>
        </p:nvSpPr>
        <p:spPr>
          <a:xfrm>
            <a:off x="7490429" y="4585845"/>
            <a:ext cx="4786369" cy="405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式を直す場所が </a:t>
            </a:r>
            <a:r>
              <a:rPr lang="en-US" altLang="ja-JP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Compose</a:t>
            </a:r>
            <a:r>
              <a:rPr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ひとつに集約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103" name="Text 6">
            <a:extLst>
              <a:ext uri="{FF2B5EF4-FFF2-40B4-BE49-F238E27FC236}">
                <a16:creationId xmlns:a16="http://schemas.microsoft.com/office/drawing/2014/main" id="{15C3A7FB-F225-3A12-28F4-3CAE1BC39F23}"/>
              </a:ext>
            </a:extLst>
          </p:cNvPr>
          <p:cNvSpPr txBox="1"/>
          <p:nvPr/>
        </p:nvSpPr>
        <p:spPr>
          <a:xfrm>
            <a:off x="4370080" y="4349807"/>
            <a:ext cx="2787919" cy="89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chemeClr val="bg1"/>
                </a:solidFill>
                <a:effectLst>
                  <a:glow rad="177800">
                    <a:srgbClr val="0000CC"/>
                  </a:glow>
                </a:effectLst>
              </a:rPr>
              <a:t>このアクションの</a:t>
            </a:r>
            <a:endParaRPr lang="en-US" altLang="ja-JP" b="1">
              <a:solidFill>
                <a:schemeClr val="bg1"/>
              </a:solidFill>
              <a:effectLst>
                <a:glow rad="177800">
                  <a:srgbClr val="0000CC"/>
                </a:glow>
              </a:effectLst>
            </a:endParaRPr>
          </a:p>
          <a:p>
            <a:pPr marL="0" indent="0" algn="l">
              <a:buNone/>
            </a:pPr>
            <a:r>
              <a:rPr lang="ja-JP" altLang="en-US" b="1">
                <a:solidFill>
                  <a:schemeClr val="bg1"/>
                </a:solidFill>
                <a:effectLst>
                  <a:glow rad="177800">
                    <a:srgbClr val="0000CC"/>
                  </a:glow>
                </a:effectLst>
              </a:rPr>
              <a:t>式でピンポイント指定！ 👉 </a:t>
            </a:r>
            <a:r>
              <a:rPr lang="en-US" altLang="ja-JP" b="1">
                <a:solidFill>
                  <a:schemeClr val="bg1"/>
                </a:solidFill>
                <a:effectLst>
                  <a:glow rad="177800">
                    <a:srgbClr val="0000CC"/>
                  </a:glow>
                </a:effectLst>
              </a:rPr>
              <a:t>?['name']</a:t>
            </a:r>
            <a:endParaRPr lang="en-US" b="1" dirty="0">
              <a:solidFill>
                <a:schemeClr val="bg1"/>
              </a:solidFill>
              <a:effectLst>
                <a:glow rad="177800">
                  <a:srgbClr val="0000CC"/>
                </a:glow>
              </a:effectLst>
            </a:endParaRPr>
          </a:p>
        </p:txBody>
      </p:sp>
      <p:pic>
        <p:nvPicPr>
          <p:cNvPr id="111" name="Image 10" descr="preencoded.png">
            <a:extLst>
              <a:ext uri="{FF2B5EF4-FFF2-40B4-BE49-F238E27FC236}">
                <a16:creationId xmlns:a16="http://schemas.microsoft.com/office/drawing/2014/main" id="{24D1944C-A7B1-A8C5-D883-B30F26C78C6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80" r="-80"/>
          <a:stretch/>
        </p:blipFill>
        <p:spPr>
          <a:xfrm>
            <a:off x="36476" y="5431676"/>
            <a:ext cx="520848" cy="1040033"/>
          </a:xfrm>
          <a:prstGeom prst="rect">
            <a:avLst/>
          </a:prstGeom>
        </p:spPr>
      </p:pic>
      <p:grpSp>
        <p:nvGrpSpPr>
          <p:cNvPr id="118" name="グループ化 117">
            <a:extLst>
              <a:ext uri="{FF2B5EF4-FFF2-40B4-BE49-F238E27FC236}">
                <a16:creationId xmlns:a16="http://schemas.microsoft.com/office/drawing/2014/main" id="{9696159B-EB74-3272-D86F-1701523B1066}"/>
              </a:ext>
            </a:extLst>
          </p:cNvPr>
          <p:cNvGrpSpPr/>
          <p:nvPr/>
        </p:nvGrpSpPr>
        <p:grpSpPr>
          <a:xfrm>
            <a:off x="4139808" y="1802600"/>
            <a:ext cx="3246138" cy="520008"/>
            <a:chOff x="3873773" y="1867841"/>
            <a:chExt cx="3246138" cy="520008"/>
          </a:xfrm>
        </p:grpSpPr>
        <p:sp>
          <p:nvSpPr>
            <p:cNvPr id="16" name="Shape 7">
              <a:extLst>
                <a:ext uri="{FF2B5EF4-FFF2-40B4-BE49-F238E27FC236}">
                  <a16:creationId xmlns:a16="http://schemas.microsoft.com/office/drawing/2014/main" id="{6C0FEB1A-051C-FC7E-D1D4-56A1A0DDA51E}"/>
                </a:ext>
              </a:extLst>
            </p:cNvPr>
            <p:cNvSpPr/>
            <p:nvPr/>
          </p:nvSpPr>
          <p:spPr>
            <a:xfrm>
              <a:off x="3873773" y="1873957"/>
              <a:ext cx="3103094" cy="513892"/>
            </a:xfrm>
            <a:prstGeom prst="roundRect">
              <a:avLst>
                <a:gd name="adj" fmla="val 31948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rgbClr val="0000CC"/>
              </a:solidFill>
              <a:prstDash val="solid"/>
            </a:ln>
          </p:spPr>
          <p:txBody>
            <a:bodyPr/>
            <a:lstStyle/>
            <a:p>
              <a:endParaRPr lang="ja-JP" altLang="en-US" sz="4800"/>
            </a:p>
          </p:txBody>
        </p:sp>
        <p:sp>
          <p:nvSpPr>
            <p:cNvPr id="66" name="Text 36">
              <a:extLst>
                <a:ext uri="{FF2B5EF4-FFF2-40B4-BE49-F238E27FC236}">
                  <a16:creationId xmlns:a16="http://schemas.microsoft.com/office/drawing/2014/main" id="{3FFE6105-DCEE-0251-4B4A-147896A7349F}"/>
                </a:ext>
              </a:extLst>
            </p:cNvPr>
            <p:cNvSpPr txBox="1"/>
            <p:nvPr/>
          </p:nvSpPr>
          <p:spPr>
            <a:xfrm>
              <a:off x="4065751" y="1867841"/>
              <a:ext cx="3054160" cy="5074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ja-JP" altLang="en-US" sz="32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作成</a:t>
              </a:r>
              <a:r>
                <a:rPr lang="ja-JP" altLang="en-US" sz="2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（</a:t>
              </a:r>
              <a:r>
                <a:rPr lang="en-US" altLang="ja-JP" sz="2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Compose</a:t>
              </a:r>
              <a:r>
                <a:rPr lang="ja-JP" altLang="en-US" sz="2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）</a:t>
              </a:r>
              <a:endParaRPr lang="en-US" sz="3600" dirty="0"/>
            </a:p>
          </p:txBody>
        </p:sp>
      </p:grpSp>
      <p:sp>
        <p:nvSpPr>
          <p:cNvPr id="117" name="Shape 7">
            <a:extLst>
              <a:ext uri="{FF2B5EF4-FFF2-40B4-BE49-F238E27FC236}">
                <a16:creationId xmlns:a16="http://schemas.microsoft.com/office/drawing/2014/main" id="{D0EDBD5B-9635-5EF8-02A2-E45B7F827A3C}"/>
              </a:ext>
            </a:extLst>
          </p:cNvPr>
          <p:cNvSpPr/>
          <p:nvPr/>
        </p:nvSpPr>
        <p:spPr>
          <a:xfrm>
            <a:off x="211661" y="1812836"/>
            <a:ext cx="3619573" cy="513892"/>
          </a:xfrm>
          <a:prstGeom prst="roundRect">
            <a:avLst>
              <a:gd name="adj" fmla="val 319489"/>
            </a:avLst>
          </a:prstGeom>
          <a:solidFill>
            <a:srgbClr val="FEF2F2"/>
          </a:solidFill>
          <a:ln w="3492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256EB5B7-1AB1-E0E8-7B13-748E53036655}"/>
              </a:ext>
            </a:extLst>
          </p:cNvPr>
          <p:cNvSpPr txBox="1"/>
          <p:nvPr/>
        </p:nvSpPr>
        <p:spPr>
          <a:xfrm>
            <a:off x="338506" y="1882740"/>
            <a:ext cx="3631161" cy="34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2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こんなことない？</a:t>
            </a:r>
            <a:endParaRPr lang="en-US" altLang="ja-JP" sz="3200" b="1">
              <a:solidFill>
                <a:srgbClr val="DC2626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98" name="Image 10" descr="preencoded.png">
            <a:extLst>
              <a:ext uri="{FF2B5EF4-FFF2-40B4-BE49-F238E27FC236}">
                <a16:creationId xmlns:a16="http://schemas.microsoft.com/office/drawing/2014/main" id="{A46D1D0E-51BA-9837-9675-8187F10087E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80" r="-80"/>
          <a:stretch/>
        </p:blipFill>
        <p:spPr>
          <a:xfrm>
            <a:off x="6744741" y="3271888"/>
            <a:ext cx="520848" cy="1040033"/>
          </a:xfrm>
          <a:prstGeom prst="rect">
            <a:avLst/>
          </a:prstGeom>
        </p:spPr>
      </p:pic>
      <p:pic>
        <p:nvPicPr>
          <p:cNvPr id="13" name="図 12" descr="The image shows a user interface element with a blue button, featuring a Japanese text label 'JSON' and a dropdown arrow icon.&#10;&#10;AI 生成コンテンツは誤りを含む可能性があります。">
            <a:extLst>
              <a:ext uri="{FF2B5EF4-FFF2-40B4-BE49-F238E27FC236}">
                <a16:creationId xmlns:a16="http://schemas.microsoft.com/office/drawing/2014/main" id="{5C29A00A-69DB-4D8F-6F52-CCE4BF80F5D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4758" t="18775" b="-2902"/>
          <a:stretch>
            <a:fillRect/>
          </a:stretch>
        </p:blipFill>
        <p:spPr>
          <a:xfrm>
            <a:off x="301675" y="3421742"/>
            <a:ext cx="3543211" cy="7898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図 14" descr="ng&#10;&#10;AI 生成コンテンツは誤りを含む可能性があります。">
            <a:extLst>
              <a:ext uri="{FF2B5EF4-FFF2-40B4-BE49-F238E27FC236}">
                <a16:creationId xmlns:a16="http://schemas.microsoft.com/office/drawing/2014/main" id="{8A15A748-54A8-43D3-A0CE-A4D33797F12B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2834" b="25722"/>
          <a:stretch>
            <a:fillRect/>
          </a:stretch>
        </p:blipFill>
        <p:spPr>
          <a:xfrm>
            <a:off x="120645" y="5247303"/>
            <a:ext cx="3578598" cy="14999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ext 6">
            <a:extLst>
              <a:ext uri="{FF2B5EF4-FFF2-40B4-BE49-F238E27FC236}">
                <a16:creationId xmlns:a16="http://schemas.microsoft.com/office/drawing/2014/main" id="{9F69E5E9-F34F-0816-3DCC-F1BDA7AB0FFE}"/>
              </a:ext>
            </a:extLst>
          </p:cNvPr>
          <p:cNvSpPr txBox="1"/>
          <p:nvPr/>
        </p:nvSpPr>
        <p:spPr>
          <a:xfrm rot="21416037">
            <a:off x="223549" y="4594689"/>
            <a:ext cx="3395282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ここの</a:t>
            </a:r>
            <a:r>
              <a:rPr lang="en-US" sz="28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“yamada”</a:t>
            </a:r>
            <a:r>
              <a:rPr lang="ja-JP" altLang="en-US" sz="28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だけ</a:t>
            </a:r>
            <a:endParaRPr lang="en-US" altLang="ja-JP" sz="2800" b="1">
              <a:solidFill>
                <a:schemeClr val="bg1"/>
              </a:solidFill>
              <a:effectLst>
                <a:glow rad="114300">
                  <a:srgbClr val="C00000"/>
                </a:glow>
              </a:effectLst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取り出したい！！</a:t>
            </a:r>
            <a:endParaRPr lang="en-US" sz="2800" b="1" dirty="0">
              <a:solidFill>
                <a:schemeClr val="bg1"/>
              </a:solidFill>
              <a:effectLst>
                <a:glow rad="114300">
                  <a:srgbClr val="C00000"/>
                </a:glow>
              </a:effectLst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ACA3F9A-D9A9-186B-AC84-CC4A3C449349}"/>
              </a:ext>
            </a:extLst>
          </p:cNvPr>
          <p:cNvCxnSpPr>
            <a:cxnSpLocks/>
          </p:cNvCxnSpPr>
          <p:nvPr/>
        </p:nvCxnSpPr>
        <p:spPr>
          <a:xfrm flipH="1">
            <a:off x="2240281" y="5523648"/>
            <a:ext cx="589336" cy="112595"/>
          </a:xfrm>
          <a:prstGeom prst="straightConnector1">
            <a:avLst/>
          </a:prstGeom>
          <a:ln w="69850">
            <a:solidFill>
              <a:schemeClr val="bg1"/>
            </a:solidFill>
            <a:tailEnd type="triangle"/>
          </a:ln>
          <a:effectLst>
            <a:glow rad="114300">
              <a:srgbClr val="FF0000">
                <a:alpha val="91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図 25" descr="A child in red clothing is being comforted by an adult with a green shirt.&#10;&#10;AI 生成コンテンツは誤りを含む可能性があります。">
            <a:extLst>
              <a:ext uri="{FF2B5EF4-FFF2-40B4-BE49-F238E27FC236}">
                <a16:creationId xmlns:a16="http://schemas.microsoft.com/office/drawing/2014/main" id="{44BF1173-32EA-8FDD-00E4-04727BC8225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4137" t="51807" r="40379" b="1427"/>
          <a:stretch>
            <a:fillRect/>
          </a:stretch>
        </p:blipFill>
        <p:spPr>
          <a:xfrm>
            <a:off x="2765202" y="4842884"/>
            <a:ext cx="1259123" cy="1177584"/>
          </a:xfrm>
          <a:prstGeom prst="rect">
            <a:avLst/>
          </a:prstGeom>
        </p:spPr>
      </p:pic>
      <p:pic>
        <p:nvPicPr>
          <p:cNvPr id="28" name="Image 10" descr="preencoded.png">
            <a:extLst>
              <a:ext uri="{FF2B5EF4-FFF2-40B4-BE49-F238E27FC236}">
                <a16:creationId xmlns:a16="http://schemas.microsoft.com/office/drawing/2014/main" id="{6BF16E7E-857D-EFB9-03CB-1878D6439CE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80" r="-80"/>
          <a:stretch/>
        </p:blipFill>
        <p:spPr>
          <a:xfrm>
            <a:off x="3844886" y="3307589"/>
            <a:ext cx="520848" cy="1040033"/>
          </a:xfrm>
          <a:prstGeom prst="rect">
            <a:avLst/>
          </a:prstGeom>
        </p:spPr>
      </p:pic>
      <p:pic>
        <p:nvPicPr>
          <p:cNvPr id="36" name="図 35" descr="Yamada&#10;&#10;AI 生成コンテンツは誤りを含む可能性があります。">
            <a:extLst>
              <a:ext uri="{FF2B5EF4-FFF2-40B4-BE49-F238E27FC236}">
                <a16:creationId xmlns:a16="http://schemas.microsoft.com/office/drawing/2014/main" id="{A6FB31E3-9708-DF1D-E6B1-7D594CD0385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33445" y="5207424"/>
            <a:ext cx="1896059" cy="15091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id="{851FE520-E5E0-5CF2-7583-E84FCC1ED3A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10818" y="5659476"/>
            <a:ext cx="2991267" cy="7818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6CE2D4A5-F485-2C7C-76B8-054CA30F82F3}"/>
              </a:ext>
            </a:extLst>
          </p:cNvPr>
          <p:cNvCxnSpPr>
            <a:cxnSpLocks/>
          </p:cNvCxnSpPr>
          <p:nvPr/>
        </p:nvCxnSpPr>
        <p:spPr>
          <a:xfrm>
            <a:off x="7014577" y="6265245"/>
            <a:ext cx="581162" cy="7556"/>
          </a:xfrm>
          <a:prstGeom prst="straightConnector1">
            <a:avLst/>
          </a:prstGeom>
          <a:ln w="69850">
            <a:solidFill>
              <a:schemeClr val="bg1"/>
            </a:solidFill>
            <a:tailEnd type="triangle"/>
          </a:ln>
          <a:effectLst>
            <a:glow rad="114300">
              <a:srgbClr val="0000CC">
                <a:alpha val="91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図 45" descr="The image depicts a person dressed in a suit holding a piece of paper, smiling, and surrounded by small stars.&#10;&#10;AI 生成コンテンツは誤りを含む可能性があります。">
            <a:extLst>
              <a:ext uri="{FF2B5EF4-FFF2-40B4-BE49-F238E27FC236}">
                <a16:creationId xmlns:a16="http://schemas.microsoft.com/office/drawing/2014/main" id="{0761D37F-ED34-1ACB-E7E0-324DB48CE37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28659" y="4915414"/>
            <a:ext cx="2666352" cy="2666352"/>
          </a:xfrm>
          <a:prstGeom prst="rect">
            <a:avLst/>
          </a:prstGeom>
        </p:spPr>
      </p:pic>
      <p:sp>
        <p:nvSpPr>
          <p:cNvPr id="47" name="Text 6">
            <a:extLst>
              <a:ext uri="{FF2B5EF4-FFF2-40B4-BE49-F238E27FC236}">
                <a16:creationId xmlns:a16="http://schemas.microsoft.com/office/drawing/2014/main" id="{464FA5F1-12B9-7A27-123B-0AB0CFF1F616}"/>
              </a:ext>
            </a:extLst>
          </p:cNvPr>
          <p:cNvSpPr txBox="1"/>
          <p:nvPr/>
        </p:nvSpPr>
        <p:spPr>
          <a:xfrm rot="21283525">
            <a:off x="8787602" y="5133052"/>
            <a:ext cx="2787919" cy="893789"/>
          </a:xfrm>
          <a:prstGeom prst="rect">
            <a:avLst/>
          </a:prstGeom>
          <a:noFill/>
          <a:ln/>
          <a:effectLst>
            <a:glow rad="127000">
              <a:srgbClr val="33CC33"/>
            </a:glow>
          </a:effectLst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77800">
                    <a:srgbClr val="008000"/>
                  </a:glow>
                </a:effectLst>
              </a:rPr>
              <a:t>毎回</a:t>
            </a:r>
            <a:r>
              <a:rPr lang="en-US" altLang="ja-JP" sz="2000" b="1">
                <a:solidFill>
                  <a:schemeClr val="bg1"/>
                </a:solidFill>
                <a:effectLst>
                  <a:glow rad="177800">
                    <a:srgbClr val="008000"/>
                  </a:glow>
                </a:effectLst>
              </a:rPr>
              <a:t>JSON</a:t>
            </a:r>
            <a:r>
              <a:rPr lang="ja-JP" altLang="en-US" sz="2000" b="1">
                <a:solidFill>
                  <a:schemeClr val="bg1"/>
                </a:solidFill>
                <a:effectLst>
                  <a:glow rad="177800">
                    <a:srgbClr val="008000"/>
                  </a:glow>
                </a:effectLst>
              </a:rPr>
              <a:t>の解析を</a:t>
            </a:r>
            <a:endParaRPr lang="en-US" altLang="ja-JP" sz="2000" b="1">
              <a:solidFill>
                <a:schemeClr val="bg1"/>
              </a:solidFill>
              <a:effectLst>
                <a:glow rad="177800">
                  <a:srgbClr val="008000"/>
                </a:glow>
              </a:effectLst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77800">
                    <a:srgbClr val="008000"/>
                  </a:glow>
                </a:effectLst>
              </a:rPr>
              <a:t>使わなくても</a:t>
            </a:r>
            <a:r>
              <a:rPr lang="en-US" altLang="ja-JP" sz="2000" b="1">
                <a:solidFill>
                  <a:schemeClr val="bg1"/>
                </a:solidFill>
                <a:effectLst>
                  <a:glow rad="177800">
                    <a:srgbClr val="008000"/>
                  </a:glow>
                </a:effectLst>
              </a:rPr>
              <a:t>OK</a:t>
            </a:r>
            <a:endParaRPr lang="en-US" sz="2000" b="1" dirty="0">
              <a:solidFill>
                <a:schemeClr val="bg1"/>
              </a:solidFill>
              <a:effectLst>
                <a:glow rad="177800">
                  <a:srgbClr val="008000"/>
                </a:glow>
              </a:effectLst>
            </a:endParaRPr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323B58AC-E999-03AA-8416-22FD387B42B5}"/>
              </a:ext>
            </a:extLst>
          </p:cNvPr>
          <p:cNvCxnSpPr>
            <a:cxnSpLocks/>
          </p:cNvCxnSpPr>
          <p:nvPr/>
        </p:nvCxnSpPr>
        <p:spPr>
          <a:xfrm>
            <a:off x="3699243" y="2044703"/>
            <a:ext cx="508139" cy="1660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6D8AF17D-5DE7-AC7C-7311-72BC01399099}"/>
              </a:ext>
            </a:extLst>
          </p:cNvPr>
          <p:cNvCxnSpPr>
            <a:cxnSpLocks/>
          </p:cNvCxnSpPr>
          <p:nvPr/>
        </p:nvCxnSpPr>
        <p:spPr>
          <a:xfrm>
            <a:off x="7057194" y="2051154"/>
            <a:ext cx="508139" cy="1660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073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6F55A-822B-D7D0-A33E-D2DCC12F3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1B93ED56-3850-9E4E-97B1-95BA32B5CB0D}"/>
              </a:ext>
            </a:extLst>
          </p:cNvPr>
          <p:cNvSpPr/>
          <p:nvPr/>
        </p:nvSpPr>
        <p:spPr>
          <a:xfrm>
            <a:off x="58783" y="482661"/>
            <a:ext cx="12133217" cy="635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8" name="Image 2" descr="preencoded.png">
            <a:extLst>
              <a:ext uri="{FF2B5EF4-FFF2-40B4-BE49-F238E27FC236}">
                <a16:creationId xmlns:a16="http://schemas.microsoft.com/office/drawing/2014/main" id="{3967999B-2C89-0572-1CE6-AAB896C7A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8747" y="704387"/>
            <a:ext cx="11855977" cy="6196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5DCDC9-BBB8-1268-26B1-16DA87AA7306}"/>
              </a:ext>
            </a:extLst>
          </p:cNvPr>
          <p:cNvSpPr txBox="1"/>
          <p:nvPr/>
        </p:nvSpPr>
        <p:spPr>
          <a:xfrm>
            <a:off x="922147" y="768693"/>
            <a:ext cx="109666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B5563"/>
                </a:solidFill>
              </a:rPr>
              <a:t>💡</a:t>
            </a:r>
            <a:r>
              <a:rPr lang="ja-JP" altLang="en-US" sz="2800" b="1">
                <a:solidFill>
                  <a:srgbClr val="4B5563"/>
                </a:solidFill>
              </a:rPr>
              <a:t>苦手な</a:t>
            </a:r>
            <a:r>
              <a:rPr lang="en-US" altLang="ja-JP" sz="2800" b="1">
                <a:solidFill>
                  <a:srgbClr val="4B5563"/>
                </a:solidFill>
              </a:rPr>
              <a:t>JSON</a:t>
            </a:r>
            <a:r>
              <a:rPr lang="ja-JP" altLang="en-US" sz="2800" b="1">
                <a:solidFill>
                  <a:srgbClr val="4B5563"/>
                </a:solidFill>
              </a:rPr>
              <a:t>を克服。イラストイメージで迷子にならない。</a:t>
            </a:r>
            <a:endParaRPr sz="2800" b="1">
              <a:solidFill>
                <a:srgbClr val="4B5563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70B243C-EA87-129F-87BF-5B33D04AE2A2}"/>
              </a:ext>
            </a:extLst>
          </p:cNvPr>
          <p:cNvSpPr/>
          <p:nvPr/>
        </p:nvSpPr>
        <p:spPr>
          <a:xfrm>
            <a:off x="736891" y="1482319"/>
            <a:ext cx="2953365" cy="888786"/>
          </a:xfrm>
          <a:prstGeom prst="roundRect">
            <a:avLst>
              <a:gd name="adj" fmla="val 14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配列</a:t>
            </a:r>
            <a:endParaRPr lang="en-US" altLang="ja-JP" sz="2400" b="1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>
              <a:lnSpc>
                <a:spcPct val="115000"/>
              </a:lnSpc>
            </a:pP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（</a:t>
            </a:r>
            <a:r>
              <a:rPr lang="en-US" altLang="ja-JP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Array</a:t>
            </a: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）</a:t>
            </a:r>
            <a:endParaRPr sz="1300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5220E48-43DB-110D-2728-C060F668A84B}"/>
              </a:ext>
            </a:extLst>
          </p:cNvPr>
          <p:cNvSpPr/>
          <p:nvPr/>
        </p:nvSpPr>
        <p:spPr>
          <a:xfrm>
            <a:off x="4682690" y="1516453"/>
            <a:ext cx="2985392" cy="926216"/>
          </a:xfrm>
          <a:prstGeom prst="roundRect">
            <a:avLst>
              <a:gd name="adj" fmla="val 1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オブジェクト</a:t>
            </a:r>
            <a:endParaRPr sz="2400" b="1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>
              <a:lnSpc>
                <a:spcPct val="115000"/>
              </a:lnSpc>
            </a:pP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（</a:t>
            </a:r>
            <a:r>
              <a:rPr lang="en-US" altLang="ja-JP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Object</a:t>
            </a: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）</a:t>
            </a:r>
            <a:endParaRPr sz="2400" b="1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A9B44A6-C8D9-068E-8E03-DF0D17E7F44E}"/>
              </a:ext>
            </a:extLst>
          </p:cNvPr>
          <p:cNvSpPr/>
          <p:nvPr/>
        </p:nvSpPr>
        <p:spPr>
          <a:xfrm>
            <a:off x="8524643" y="1432780"/>
            <a:ext cx="3433818" cy="958398"/>
          </a:xfrm>
          <a:prstGeom prst="roundRect">
            <a:avLst>
              <a:gd name="adj" fmla="val 14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　</a:t>
            </a:r>
            <a:r>
              <a:rPr 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item</a:t>
            </a: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（アイテム）</a:t>
            </a:r>
            <a:endParaRPr lang="en-US" sz="2400" b="1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>
              <a:lnSpc>
                <a:spcPct val="115000"/>
              </a:lnSpc>
            </a:pPr>
            <a:r>
              <a:rPr lang="en-US" altLang="ja-JP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1</a:t>
            </a:r>
            <a:r>
              <a:rPr lang="ja-JP" altLang="en-US" sz="24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項目目・値</a:t>
            </a:r>
            <a:endParaRPr sz="1300">
              <a:solidFill>
                <a:srgbClr val="FFFFFF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AB33E79-6DF4-1DB2-ECE6-DB0537FF6738}"/>
              </a:ext>
            </a:extLst>
          </p:cNvPr>
          <p:cNvSpPr/>
          <p:nvPr/>
        </p:nvSpPr>
        <p:spPr>
          <a:xfrm>
            <a:off x="246502" y="2547882"/>
            <a:ext cx="3959758" cy="3979155"/>
          </a:xfrm>
          <a:prstGeom prst="roundRect">
            <a:avLst>
              <a:gd name="adj" fmla="val 4095"/>
            </a:avLst>
          </a:prstGeom>
          <a:solidFill>
            <a:schemeClr val="bg1"/>
          </a:solidFill>
          <a:ln w="60325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sx="101000" sy="101000" algn="tl" rotWithShape="0">
              <a:prstClr val="black">
                <a:alpha val="5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C731346-D1E4-5750-AEB1-3B9FE5FE1E5E}"/>
              </a:ext>
            </a:extLst>
          </p:cNvPr>
          <p:cNvSpPr/>
          <p:nvPr/>
        </p:nvSpPr>
        <p:spPr>
          <a:xfrm>
            <a:off x="422212" y="3083585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①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692EC76-24B8-6B94-64EB-06B2A6A4119F}"/>
              </a:ext>
            </a:extLst>
          </p:cNvPr>
          <p:cNvSpPr/>
          <p:nvPr/>
        </p:nvSpPr>
        <p:spPr>
          <a:xfrm>
            <a:off x="422212" y="3577361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②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124DBD5-3987-008D-7824-2B7AE99EB7AA}"/>
              </a:ext>
            </a:extLst>
          </p:cNvPr>
          <p:cNvSpPr/>
          <p:nvPr/>
        </p:nvSpPr>
        <p:spPr>
          <a:xfrm>
            <a:off x="422212" y="4071137"/>
            <a:ext cx="27432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③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A83F05-4DCF-FA03-E955-054C39FAB4E8}"/>
              </a:ext>
            </a:extLst>
          </p:cNvPr>
          <p:cNvSpPr txBox="1"/>
          <p:nvPr/>
        </p:nvSpPr>
        <p:spPr>
          <a:xfrm>
            <a:off x="138746" y="4516530"/>
            <a:ext cx="38054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 配列という大きな棚の引き出しに</a:t>
            </a:r>
            <a:endParaRPr lang="en-US" altLang="ja-JP"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l"/>
            <a:r>
              <a:rPr lang="ja-JP" altLang="en-US" b="1">
                <a:solidFill>
                  <a:srgbClr val="4B5563"/>
                </a:solidFill>
                <a:latin typeface="Noto Sans JP" panose="020B0200000000000000" pitchFamily="50" charset="-128"/>
                <a:ea typeface="Noto Sans JP" panose="020B0200000000000000" pitchFamily="50" charset="-128"/>
              </a:rPr>
              <a:t>同じ形の箱📦が入っている</a:t>
            </a:r>
            <a:endParaRPr lang="en-US" altLang="ja-JP" b="1">
              <a:solidFill>
                <a:srgbClr val="4B5563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510FBCC-2DA5-95C8-3826-BE910229D531}"/>
              </a:ext>
            </a:extLst>
          </p:cNvPr>
          <p:cNvSpPr/>
          <p:nvPr/>
        </p:nvSpPr>
        <p:spPr>
          <a:xfrm>
            <a:off x="7891128" y="2544246"/>
            <a:ext cx="4037609" cy="4039433"/>
          </a:xfrm>
          <a:prstGeom prst="roundRect">
            <a:avLst>
              <a:gd name="adj" fmla="val 4215"/>
            </a:avLst>
          </a:prstGeom>
          <a:solidFill>
            <a:schemeClr val="bg1"/>
          </a:solidFill>
          <a:ln w="60325">
            <a:solidFill>
              <a:srgbClr val="16A34A"/>
            </a:solidFill>
          </a:ln>
          <a:effectLst>
            <a:outerShdw blurRad="508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A2D85F-8097-5BB6-0228-32E4A0DE1598}"/>
              </a:ext>
            </a:extLst>
          </p:cNvPr>
          <p:cNvSpPr txBox="1"/>
          <p:nvPr/>
        </p:nvSpPr>
        <p:spPr>
          <a:xfrm>
            <a:off x="10928668" y="6510528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4B5563"/>
                </a:solidFill>
              </a:rPr>
              <a:t>#PA45</a:t>
            </a:r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FE098AD9-E96E-7014-B8F0-75E45D2DE1F3}"/>
              </a:ext>
            </a:extLst>
          </p:cNvPr>
          <p:cNvSpPr/>
          <p:nvPr/>
        </p:nvSpPr>
        <p:spPr>
          <a:xfrm>
            <a:off x="6858" y="-69952"/>
            <a:ext cx="12191695" cy="664313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AFAC19F9-058C-41E6-E684-906712210A84}"/>
              </a:ext>
            </a:extLst>
          </p:cNvPr>
          <p:cNvSpPr txBox="1"/>
          <p:nvPr/>
        </p:nvSpPr>
        <p:spPr>
          <a:xfrm>
            <a:off x="1826709" y="129388"/>
            <a:ext cx="952553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</a:t>
            </a:r>
            <a:r>
              <a:rPr lang="ja-JP" altLang="en-US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</a:t>
            </a:r>
            <a:r>
              <a:rPr lang="en-US" altLang="ja-JP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ja-JP" altLang="en-US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r>
              <a:rPr lang="ja-JP" altLang="en-US" sz="40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“箱モデル”</a:t>
            </a:r>
            <a:r>
              <a:rPr lang="ja-JP" altLang="en-US" sz="27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で理解する</a:t>
            </a:r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21F61FEE-3BB9-EA6B-425B-13F2E15F0BC6}"/>
              </a:ext>
            </a:extLst>
          </p:cNvPr>
          <p:cNvSpPr/>
          <p:nvPr/>
        </p:nvSpPr>
        <p:spPr>
          <a:xfrm>
            <a:off x="215168" y="59640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B0175960-6109-0E76-BED3-5694F44C6659}"/>
              </a:ext>
            </a:extLst>
          </p:cNvPr>
          <p:cNvSpPr/>
          <p:nvPr/>
        </p:nvSpPr>
        <p:spPr>
          <a:xfrm>
            <a:off x="6858" y="-45072"/>
            <a:ext cx="12120300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0" name="図 49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011F91D6-22E6-34EB-D991-44EEB272D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75" y="567793"/>
            <a:ext cx="888786" cy="888786"/>
          </a:xfrm>
          <a:prstGeom prst="rect">
            <a:avLst/>
          </a:prstGeom>
        </p:spPr>
      </p:pic>
      <p:pic>
        <p:nvPicPr>
          <p:cNvPr id="69" name="Image 10" descr="preencoded.png">
            <a:extLst>
              <a:ext uri="{FF2B5EF4-FFF2-40B4-BE49-F238E27FC236}">
                <a16:creationId xmlns:a16="http://schemas.microsoft.com/office/drawing/2014/main" id="{68069ADB-F40E-D676-5F87-A49D959A23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7819260" y="1430971"/>
            <a:ext cx="520848" cy="1040033"/>
          </a:xfrm>
          <a:prstGeom prst="rect">
            <a:avLst/>
          </a:prstGeom>
        </p:spPr>
      </p:pic>
      <p:pic>
        <p:nvPicPr>
          <p:cNvPr id="70" name="Image 10" descr="preencoded.png">
            <a:extLst>
              <a:ext uri="{FF2B5EF4-FFF2-40B4-BE49-F238E27FC236}">
                <a16:creationId xmlns:a16="http://schemas.microsoft.com/office/drawing/2014/main" id="{90A5212B-B707-80FC-91B0-B23295F8E3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4116647" y="1425861"/>
            <a:ext cx="520848" cy="1040033"/>
          </a:xfrm>
          <a:prstGeom prst="rect">
            <a:avLst/>
          </a:prstGeom>
        </p:spPr>
      </p:pic>
      <p:sp>
        <p:nvSpPr>
          <p:cNvPr id="46" name="Text 3">
            <a:extLst>
              <a:ext uri="{FF2B5EF4-FFF2-40B4-BE49-F238E27FC236}">
                <a16:creationId xmlns:a16="http://schemas.microsoft.com/office/drawing/2014/main" id="{6FAC4C93-EBEB-6FC7-CE9F-A6C4E1CED4B9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Vol.18</a:t>
            </a:r>
            <a:endParaRPr lang="en-US" sz="3200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F1045135-E07B-ADD4-5BCB-ADD106EC5DE5}"/>
              </a:ext>
            </a:extLst>
          </p:cNvPr>
          <p:cNvGrpSpPr/>
          <p:nvPr/>
        </p:nvGrpSpPr>
        <p:grpSpPr>
          <a:xfrm>
            <a:off x="361781" y="5193053"/>
            <a:ext cx="3679478" cy="1209759"/>
            <a:chOff x="580644" y="4134002"/>
            <a:chExt cx="3258007" cy="771754"/>
          </a:xfrm>
        </p:grpSpPr>
        <p:sp>
          <p:nvSpPr>
            <p:cNvPr id="11" name="Shape 13">
              <a:extLst>
                <a:ext uri="{FF2B5EF4-FFF2-40B4-BE49-F238E27FC236}">
                  <a16:creationId xmlns:a16="http://schemas.microsoft.com/office/drawing/2014/main" id="{8AC62E42-5137-1104-AB48-47C0AF1B1E6C}"/>
                </a:ext>
              </a:extLst>
            </p:cNvPr>
            <p:cNvSpPr/>
            <p:nvPr/>
          </p:nvSpPr>
          <p:spPr>
            <a:xfrm>
              <a:off x="580644" y="4134002"/>
              <a:ext cx="3258007" cy="771754"/>
            </a:xfrm>
            <a:prstGeom prst="roundRect">
              <a:avLst>
                <a:gd name="adj" fmla="val 11702"/>
              </a:avLst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ja-JP" altLang="en-US" sz="4400"/>
            </a:p>
          </p:txBody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3093DA78-F5B4-07B0-D4F4-736D150E55A8}"/>
                </a:ext>
              </a:extLst>
            </p:cNvPr>
            <p:cNvSpPr txBox="1"/>
            <p:nvPr/>
          </p:nvSpPr>
          <p:spPr>
            <a:xfrm>
              <a:off x="666598" y="4377836"/>
              <a:ext cx="3086100" cy="333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chemeClr val="bg2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「この中を1個ずつ処理して」</a:t>
              </a:r>
              <a:endParaRPr lang="en-US" sz="2000" b="1" dirty="0">
                <a:solidFill>
                  <a:schemeClr val="bg2"/>
                </a:solidFill>
              </a:endParaRPr>
            </a:p>
            <a:p>
              <a:pPr marL="0" indent="0" algn="l">
                <a:buNone/>
              </a:pPr>
              <a:r>
                <a:rPr lang="en-US" sz="2000" b="1" dirty="0">
                  <a:solidFill>
                    <a:schemeClr val="bg2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👉 Apply to each の出番</a:t>
              </a:r>
              <a:endParaRPr lang="en-US" sz="2000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4884645B-0FBB-574C-102D-F471E2E32A70}"/>
              </a:ext>
            </a:extLst>
          </p:cNvPr>
          <p:cNvSpPr/>
          <p:nvPr/>
        </p:nvSpPr>
        <p:spPr>
          <a:xfrm>
            <a:off x="4358946" y="2567759"/>
            <a:ext cx="3343244" cy="3979155"/>
          </a:xfrm>
          <a:prstGeom prst="roundRect">
            <a:avLst>
              <a:gd name="adj" fmla="val 4095"/>
            </a:avLst>
          </a:prstGeom>
          <a:solidFill>
            <a:schemeClr val="bg1"/>
          </a:solidFill>
          <a:ln w="60325">
            <a:solidFill>
              <a:srgbClr val="0000CC"/>
            </a:solidFill>
          </a:ln>
          <a:effectLst>
            <a:outerShdw blurRad="50800" dist="38100" dir="2700000" sx="101000" sy="101000" algn="tl" rotWithShape="0">
              <a:prstClr val="black">
                <a:alpha val="5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922D146B-07FD-0536-8325-7DCFFCADBBB4}"/>
              </a:ext>
            </a:extLst>
          </p:cNvPr>
          <p:cNvSpPr txBox="1"/>
          <p:nvPr/>
        </p:nvSpPr>
        <p:spPr>
          <a:xfrm>
            <a:off x="4217378" y="2501956"/>
            <a:ext cx="1960785" cy="1593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F1F5F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📦</a:t>
            </a:r>
            <a:endParaRPr lang="en-US" sz="9600" dirty="0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556D72E1-B499-3E21-A974-21883411AFF1}"/>
              </a:ext>
            </a:extLst>
          </p:cNvPr>
          <p:cNvSpPr txBox="1"/>
          <p:nvPr/>
        </p:nvSpPr>
        <p:spPr>
          <a:xfrm>
            <a:off x="4246209" y="4687139"/>
            <a:ext cx="3284048" cy="439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📦 </a:t>
            </a: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Object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（大きい箱）</a:t>
            </a:r>
            <a:endParaRPr lang="en-US" altLang="ja-JP" sz="2000" b="1">
              <a:solidFill>
                <a:schemeClr val="tx1">
                  <a:lumMod val="65000"/>
                  <a:lumOff val="35000"/>
                </a:schemeClr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buNone/>
            </a:pPr>
            <a:r>
              <a:rPr lang="en-US" altLang="ja-JP" sz="20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1</a:t>
            </a:r>
            <a:r>
              <a:rPr lang="ja-JP" alt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件分の情報セット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9" name="図 58" descr="The image depicts a colorful, textured sandwich with a crunchy bread exterior, topped with lettuce, tomato, and sprinkled with colorful, shredded vegetables.&#10;&#10;AI 生成コンテンツは誤りを含む可能性があります。">
            <a:extLst>
              <a:ext uri="{FF2B5EF4-FFF2-40B4-BE49-F238E27FC236}">
                <a16:creationId xmlns:a16="http://schemas.microsoft.com/office/drawing/2014/main" id="{FE291F05-186C-AF34-9877-BFCCF3F4A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7709" y="2658351"/>
            <a:ext cx="855744" cy="855744"/>
          </a:xfrm>
          <a:prstGeom prst="rect">
            <a:avLst/>
          </a:prstGeom>
        </p:spPr>
      </p:pic>
      <p:pic>
        <p:nvPicPr>
          <p:cNvPr id="60" name="図 59" descr="The image depicts a colorful, blue-striped bowl filled with white rice, garnished with greenery, and a side of red curry.&#10;&#10;AI 生成コンテンツは誤りを含む可能性があります。">
            <a:extLst>
              <a:ext uri="{FF2B5EF4-FFF2-40B4-BE49-F238E27FC236}">
                <a16:creationId xmlns:a16="http://schemas.microsoft.com/office/drawing/2014/main" id="{D1A1361B-430A-9C92-82C5-9170CAE582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047" y="3660662"/>
            <a:ext cx="851876" cy="781596"/>
          </a:xfrm>
          <a:prstGeom prst="rect">
            <a:avLst/>
          </a:prstGeom>
        </p:spPr>
      </p:pic>
      <p:sp>
        <p:nvSpPr>
          <p:cNvPr id="63" name="Text 6">
            <a:extLst>
              <a:ext uri="{FF2B5EF4-FFF2-40B4-BE49-F238E27FC236}">
                <a16:creationId xmlns:a16="http://schemas.microsoft.com/office/drawing/2014/main" id="{A38F56E2-F928-170B-C0FD-8669B0268239}"/>
              </a:ext>
            </a:extLst>
          </p:cNvPr>
          <p:cNvSpPr txBox="1"/>
          <p:nvPr/>
        </p:nvSpPr>
        <p:spPr>
          <a:xfrm>
            <a:off x="4471378" y="3892641"/>
            <a:ext cx="1608655" cy="5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オブジェクト（</a:t>
            </a:r>
            <a:r>
              <a:rPr lang="en-US" altLang="ja-JP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Object</a:t>
            </a:r>
            <a:r>
              <a:rPr lang="ja-JP" altLang="en-US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）</a:t>
            </a:r>
            <a:endParaRPr lang="en-US" altLang="ja-JP" sz="2000" b="1">
              <a:solidFill>
                <a:schemeClr val="bg1"/>
              </a:solidFill>
              <a:effectLst>
                <a:glow rad="114300">
                  <a:schemeClr val="tx1">
                    <a:lumMod val="85000"/>
                    <a:lumOff val="15000"/>
                  </a:schemeClr>
                </a:glow>
              </a:effectLst>
              <a:latin typeface="Noto Sans JP" pitchFamily="34" charset="0"/>
              <a:ea typeface="Noto Sans JP" pitchFamily="34" charset="-122"/>
            </a:endParaRPr>
          </a:p>
        </p:txBody>
      </p:sp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6FB284CC-9DD4-5890-08A1-2A0619089247}"/>
              </a:ext>
            </a:extLst>
          </p:cNvPr>
          <p:cNvGrpSpPr/>
          <p:nvPr/>
        </p:nvGrpSpPr>
        <p:grpSpPr>
          <a:xfrm>
            <a:off x="9225987" y="3123577"/>
            <a:ext cx="2396710" cy="479169"/>
            <a:chOff x="346466" y="4437864"/>
            <a:chExt cx="3679755" cy="479169"/>
          </a:xfrm>
        </p:grpSpPr>
        <p:pic>
          <p:nvPicPr>
            <p:cNvPr id="76" name="Image 6" descr="preencoded.png">
              <a:extLst>
                <a:ext uri="{FF2B5EF4-FFF2-40B4-BE49-F238E27FC236}">
                  <a16:creationId xmlns:a16="http://schemas.microsoft.com/office/drawing/2014/main" id="{71F3AF73-54C4-8DF7-36AF-254898C02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60000"/>
            </a:blip>
            <a:srcRect l="-9" r="-9"/>
            <a:stretch/>
          </p:blipFill>
          <p:spPr>
            <a:xfrm>
              <a:off x="346466" y="4437864"/>
              <a:ext cx="3679755" cy="47916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</p:pic>
        <p:sp>
          <p:nvSpPr>
            <p:cNvPr id="77" name="Text 21">
              <a:extLst>
                <a:ext uri="{FF2B5EF4-FFF2-40B4-BE49-F238E27FC236}">
                  <a16:creationId xmlns:a16="http://schemas.microsoft.com/office/drawing/2014/main" id="{B7B6BAB4-8427-B6CE-4632-630F90E16AD9}"/>
                </a:ext>
              </a:extLst>
            </p:cNvPr>
            <p:cNvSpPr txBox="1"/>
            <p:nvPr/>
          </p:nvSpPr>
          <p:spPr>
            <a:xfrm>
              <a:off x="422873" y="4487262"/>
              <a:ext cx="3483091" cy="3491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おかず</a:t>
              </a:r>
              <a:r>
                <a: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: “</a:t>
              </a:r>
              <a:r>
                <a:rPr lang="ja-JP" alt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ハンバーグ</a:t>
              </a:r>
              <a:r>
                <a: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"</a:t>
              </a:r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82" name="Shape 22">
            <a:extLst>
              <a:ext uri="{FF2B5EF4-FFF2-40B4-BE49-F238E27FC236}">
                <a16:creationId xmlns:a16="http://schemas.microsoft.com/office/drawing/2014/main" id="{7CB59F9B-CC92-E28F-11BF-D702F23848FB}"/>
              </a:ext>
            </a:extLst>
          </p:cNvPr>
          <p:cNvSpPr/>
          <p:nvPr/>
        </p:nvSpPr>
        <p:spPr>
          <a:xfrm>
            <a:off x="8061649" y="5193053"/>
            <a:ext cx="3727579" cy="1344872"/>
          </a:xfrm>
          <a:prstGeom prst="roundRect">
            <a:avLst>
              <a:gd name="adj" fmla="val 1170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sp>
        <p:nvSpPr>
          <p:cNvPr id="85" name="Text 24">
            <a:extLst>
              <a:ext uri="{FF2B5EF4-FFF2-40B4-BE49-F238E27FC236}">
                <a16:creationId xmlns:a16="http://schemas.microsoft.com/office/drawing/2014/main" id="{13E12F17-0D1B-9846-A5FD-4A4B9D73D7EC}"/>
              </a:ext>
            </a:extLst>
          </p:cNvPr>
          <p:cNvSpPr txBox="1"/>
          <p:nvPr/>
        </p:nvSpPr>
        <p:spPr>
          <a:xfrm>
            <a:off x="8266042" y="5310228"/>
            <a:ext cx="3548931" cy="1127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chemeClr val="bg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Item()が「1レコード」に相当。</a:t>
            </a:r>
            <a:endParaRPr lang="en-US" b="1">
              <a:solidFill>
                <a:schemeClr val="bg2"/>
              </a:solidFill>
            </a:endParaRPr>
          </a:p>
          <a:p>
            <a:r>
              <a:rPr lang="ja-JP" altLang="en-US" b="1">
                <a:solidFill>
                  <a:schemeClr val="bg2"/>
                </a:solidFill>
              </a:rPr>
              <a:t>👉</a:t>
            </a:r>
            <a:r>
              <a:rPr lang="en-US" b="1">
                <a:solidFill>
                  <a:schemeClr val="bg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動的コンテンツで値を</a:t>
            </a:r>
          </a:p>
          <a:p>
            <a:pPr marL="0" indent="0" algn="l">
              <a:buNone/>
            </a:pPr>
            <a:r>
              <a:rPr lang="en-US" b="1">
                <a:solidFill>
                  <a:schemeClr val="bg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取り出す単位。</a:t>
            </a:r>
          </a:p>
        </p:txBody>
      </p:sp>
      <p:sp>
        <p:nvSpPr>
          <p:cNvPr id="86" name="Text 17">
            <a:extLst>
              <a:ext uri="{FF2B5EF4-FFF2-40B4-BE49-F238E27FC236}">
                <a16:creationId xmlns:a16="http://schemas.microsoft.com/office/drawing/2014/main" id="{F906AFAB-1C19-2FA2-2BD3-6283929EF0CB}"/>
              </a:ext>
            </a:extLst>
          </p:cNvPr>
          <p:cNvSpPr txBox="1"/>
          <p:nvPr/>
        </p:nvSpPr>
        <p:spPr>
          <a:xfrm>
            <a:off x="2556851" y="2498942"/>
            <a:ext cx="1047502" cy="97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1F5F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📦</a:t>
            </a:r>
            <a:endParaRPr lang="en-US" sz="4000" dirty="0"/>
          </a:p>
        </p:txBody>
      </p:sp>
      <p:sp>
        <p:nvSpPr>
          <p:cNvPr id="87" name="Text 17">
            <a:extLst>
              <a:ext uri="{FF2B5EF4-FFF2-40B4-BE49-F238E27FC236}">
                <a16:creationId xmlns:a16="http://schemas.microsoft.com/office/drawing/2014/main" id="{A13F90C7-2381-8156-9F19-763BC1A63904}"/>
              </a:ext>
            </a:extLst>
          </p:cNvPr>
          <p:cNvSpPr txBox="1"/>
          <p:nvPr/>
        </p:nvSpPr>
        <p:spPr>
          <a:xfrm>
            <a:off x="2530781" y="3063532"/>
            <a:ext cx="1047502" cy="97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1F5F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📦</a:t>
            </a:r>
            <a:endParaRPr lang="en-US" sz="4000" dirty="0"/>
          </a:p>
        </p:txBody>
      </p:sp>
      <p:sp>
        <p:nvSpPr>
          <p:cNvPr id="88" name="Text 17">
            <a:extLst>
              <a:ext uri="{FF2B5EF4-FFF2-40B4-BE49-F238E27FC236}">
                <a16:creationId xmlns:a16="http://schemas.microsoft.com/office/drawing/2014/main" id="{1C407C1B-1A57-0BF0-E895-F2356DA60744}"/>
              </a:ext>
            </a:extLst>
          </p:cNvPr>
          <p:cNvSpPr txBox="1"/>
          <p:nvPr/>
        </p:nvSpPr>
        <p:spPr>
          <a:xfrm>
            <a:off x="2515239" y="3682214"/>
            <a:ext cx="1047502" cy="97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1F5F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📦</a:t>
            </a:r>
            <a:endParaRPr lang="en-US" sz="4000" dirty="0"/>
          </a:p>
        </p:txBody>
      </p: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4BFEE711-A3DF-FBA4-57E4-99371E0C6364}"/>
              </a:ext>
            </a:extLst>
          </p:cNvPr>
          <p:cNvCxnSpPr/>
          <p:nvPr/>
        </p:nvCxnSpPr>
        <p:spPr>
          <a:xfrm flipV="1">
            <a:off x="3238500" y="3479077"/>
            <a:ext cx="451757" cy="4789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 17">
            <a:extLst>
              <a:ext uri="{FF2B5EF4-FFF2-40B4-BE49-F238E27FC236}">
                <a16:creationId xmlns:a16="http://schemas.microsoft.com/office/drawing/2014/main" id="{7715288E-058E-3EDC-AB08-48EA2CD5F2C0}"/>
              </a:ext>
            </a:extLst>
          </p:cNvPr>
          <p:cNvSpPr txBox="1"/>
          <p:nvPr/>
        </p:nvSpPr>
        <p:spPr>
          <a:xfrm>
            <a:off x="6727336" y="1437541"/>
            <a:ext cx="1046730" cy="102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F1F5F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📦</a:t>
            </a:r>
            <a:endParaRPr lang="en-US" sz="5400" dirty="0"/>
          </a:p>
        </p:txBody>
      </p:sp>
      <p:pic>
        <p:nvPicPr>
          <p:cNvPr id="114" name="図 113" descr="The image depicts a colorful, textured sandwich with a crunchy bread exterior, topped with lettuce, tomato, and sprinkled with colorful, shredded vegetables.&#10;&#10;AI 生成コンテンツは誤りを含む可能性があります。">
            <a:extLst>
              <a:ext uri="{FF2B5EF4-FFF2-40B4-BE49-F238E27FC236}">
                <a16:creationId xmlns:a16="http://schemas.microsoft.com/office/drawing/2014/main" id="{5A5A62C5-5832-323D-5B74-99895D11E8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649" y="2659619"/>
            <a:ext cx="1128828" cy="1128828"/>
          </a:xfrm>
          <a:prstGeom prst="rect">
            <a:avLst/>
          </a:prstGeom>
        </p:spPr>
      </p:pic>
      <p:sp>
        <p:nvSpPr>
          <p:cNvPr id="119" name="左中かっこ 118">
            <a:extLst>
              <a:ext uri="{FF2B5EF4-FFF2-40B4-BE49-F238E27FC236}">
                <a16:creationId xmlns:a16="http://schemas.microsoft.com/office/drawing/2014/main" id="{E8D2EB65-BE67-15C5-FF88-AE908BCB208A}"/>
              </a:ext>
            </a:extLst>
          </p:cNvPr>
          <p:cNvSpPr/>
          <p:nvPr/>
        </p:nvSpPr>
        <p:spPr>
          <a:xfrm>
            <a:off x="2299400" y="2824843"/>
            <a:ext cx="324057" cy="1515161"/>
          </a:xfrm>
          <a:prstGeom prst="leftBrace">
            <a:avLst>
              <a:gd name="adj1" fmla="val 34351"/>
              <a:gd name="adj2" fmla="val 26189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0" name="左中かっこ 119">
            <a:extLst>
              <a:ext uri="{FF2B5EF4-FFF2-40B4-BE49-F238E27FC236}">
                <a16:creationId xmlns:a16="http://schemas.microsoft.com/office/drawing/2014/main" id="{3A367488-B6D5-CF98-DACB-28E3E388590D}"/>
              </a:ext>
            </a:extLst>
          </p:cNvPr>
          <p:cNvSpPr/>
          <p:nvPr/>
        </p:nvSpPr>
        <p:spPr>
          <a:xfrm>
            <a:off x="6072653" y="2824843"/>
            <a:ext cx="324057" cy="1515161"/>
          </a:xfrm>
          <a:prstGeom prst="leftBrace">
            <a:avLst>
              <a:gd name="adj1" fmla="val 34351"/>
              <a:gd name="adj2" fmla="val 26189"/>
            </a:avLst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22" name="グループ化 121">
            <a:extLst>
              <a:ext uri="{FF2B5EF4-FFF2-40B4-BE49-F238E27FC236}">
                <a16:creationId xmlns:a16="http://schemas.microsoft.com/office/drawing/2014/main" id="{0994C045-69A3-A965-C48D-3DDE467F1BD0}"/>
              </a:ext>
            </a:extLst>
          </p:cNvPr>
          <p:cNvGrpSpPr/>
          <p:nvPr/>
        </p:nvGrpSpPr>
        <p:grpSpPr>
          <a:xfrm>
            <a:off x="4491228" y="5246422"/>
            <a:ext cx="3160185" cy="1209759"/>
            <a:chOff x="580644" y="4134002"/>
            <a:chExt cx="3344260" cy="771754"/>
          </a:xfrm>
        </p:grpSpPr>
        <p:sp>
          <p:nvSpPr>
            <p:cNvPr id="123" name="Shape 13">
              <a:extLst>
                <a:ext uri="{FF2B5EF4-FFF2-40B4-BE49-F238E27FC236}">
                  <a16:creationId xmlns:a16="http://schemas.microsoft.com/office/drawing/2014/main" id="{2144B7F6-76A5-C8AA-EBA6-13D10BD09CC2}"/>
                </a:ext>
              </a:extLst>
            </p:cNvPr>
            <p:cNvSpPr/>
            <p:nvPr/>
          </p:nvSpPr>
          <p:spPr>
            <a:xfrm>
              <a:off x="580644" y="4134002"/>
              <a:ext cx="3258007" cy="771754"/>
            </a:xfrm>
            <a:prstGeom prst="roundRect">
              <a:avLst>
                <a:gd name="adj" fmla="val 11702"/>
              </a:avLst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ja-JP" altLang="en-US" sz="4400"/>
            </a:p>
          </p:txBody>
        </p:sp>
        <p:sp>
          <p:nvSpPr>
            <p:cNvPr id="124" name="Text 14">
              <a:extLst>
                <a:ext uri="{FF2B5EF4-FFF2-40B4-BE49-F238E27FC236}">
                  <a16:creationId xmlns:a16="http://schemas.microsoft.com/office/drawing/2014/main" id="{930E92CB-372B-0A8B-8ACD-CF01FA7CC172}"/>
                </a:ext>
              </a:extLst>
            </p:cNvPr>
            <p:cNvSpPr txBox="1"/>
            <p:nvPr/>
          </p:nvSpPr>
          <p:spPr>
            <a:xfrm>
              <a:off x="793333" y="4238970"/>
              <a:ext cx="3057754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endParaRPr lang="en-US" dirty="0"/>
            </a:p>
          </p:txBody>
        </p:sp>
        <p:sp>
          <p:nvSpPr>
            <p:cNvPr id="125" name="Text 15">
              <a:extLst>
                <a:ext uri="{FF2B5EF4-FFF2-40B4-BE49-F238E27FC236}">
                  <a16:creationId xmlns:a16="http://schemas.microsoft.com/office/drawing/2014/main" id="{3283BC15-413D-3FFD-E845-FF8A16AA8FEB}"/>
                </a:ext>
              </a:extLst>
            </p:cNvPr>
            <p:cNvSpPr txBox="1"/>
            <p:nvPr/>
          </p:nvSpPr>
          <p:spPr>
            <a:xfrm>
              <a:off x="838804" y="4343790"/>
              <a:ext cx="3086100" cy="389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altLang="ja-JP" sz="2000" b="1">
                  <a:solidFill>
                    <a:schemeClr val="bg2"/>
                  </a:solidFill>
                </a:rPr>
                <a:t>【</a:t>
              </a:r>
              <a:r>
                <a:rPr lang="ja-JP" altLang="en-US" sz="2000" b="1">
                  <a:solidFill>
                    <a:schemeClr val="bg2"/>
                  </a:solidFill>
                </a:rPr>
                <a:t>複数</a:t>
              </a:r>
              <a:r>
                <a:rPr lang="en-US" altLang="ja-JP" sz="2000" b="1">
                  <a:solidFill>
                    <a:schemeClr val="bg2"/>
                  </a:solidFill>
                </a:rPr>
                <a:t>】</a:t>
              </a:r>
              <a:r>
                <a:rPr lang="ja-JP" altLang="en-US" sz="2000" b="1">
                  <a:solidFill>
                    <a:schemeClr val="bg2"/>
                  </a:solidFill>
                </a:rPr>
                <a:t>の</a:t>
              </a:r>
              <a:r>
                <a:rPr lang="en-US" altLang="ja-JP" sz="2000" b="1">
                  <a:solidFill>
                    <a:schemeClr val="bg2"/>
                  </a:solidFill>
                </a:rPr>
                <a:t>item	</a:t>
              </a:r>
              <a:r>
                <a:rPr lang="ja-JP" altLang="en-US" sz="2000" b="1">
                  <a:solidFill>
                    <a:schemeClr val="bg2"/>
                  </a:solidFill>
                </a:rPr>
                <a:t>を</a:t>
              </a:r>
              <a:endParaRPr lang="en-US" altLang="ja-JP" sz="2000" b="1">
                <a:solidFill>
                  <a:schemeClr val="bg2"/>
                </a:solidFill>
              </a:endParaRPr>
            </a:p>
            <a:p>
              <a:pPr marL="0" indent="0" algn="l">
                <a:buNone/>
              </a:pPr>
              <a:r>
                <a:rPr lang="ja-JP" altLang="en-US" sz="2000" b="1">
                  <a:solidFill>
                    <a:schemeClr val="bg2"/>
                  </a:solidFill>
                </a:rPr>
                <a:t>まとめた、</a:t>
              </a:r>
              <a:endParaRPr lang="en-US" altLang="ja-JP" sz="2000" b="1">
                <a:solidFill>
                  <a:schemeClr val="bg2"/>
                </a:solidFill>
              </a:endParaRPr>
            </a:p>
            <a:p>
              <a:r>
                <a:rPr lang="en-US" altLang="ja-JP" sz="2000" b="1">
                  <a:solidFill>
                    <a:schemeClr val="bg2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👉 </a:t>
              </a:r>
              <a:r>
                <a:rPr lang="en-US" altLang="ja-JP" sz="2000" b="1">
                  <a:solidFill>
                    <a:schemeClr val="bg2"/>
                  </a:solidFill>
                </a:rPr>
                <a:t>1</a:t>
              </a:r>
              <a:r>
                <a:rPr lang="ja-JP" altLang="en-US" sz="2000" b="1">
                  <a:solidFill>
                    <a:schemeClr val="bg2"/>
                  </a:solidFill>
                </a:rPr>
                <a:t>つ分の情報パック</a:t>
              </a:r>
              <a:endParaRPr lang="en-US" sz="2000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126" name="Text 21">
            <a:extLst>
              <a:ext uri="{FF2B5EF4-FFF2-40B4-BE49-F238E27FC236}">
                <a16:creationId xmlns:a16="http://schemas.microsoft.com/office/drawing/2014/main" id="{EC194B12-3DFE-7209-4489-7ACEDDD84704}"/>
              </a:ext>
            </a:extLst>
          </p:cNvPr>
          <p:cNvSpPr txBox="1"/>
          <p:nvPr/>
        </p:nvSpPr>
        <p:spPr>
          <a:xfrm>
            <a:off x="8118173" y="3961670"/>
            <a:ext cx="4015044" cy="1128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✅</a:t>
            </a:r>
            <a:r>
              <a:rPr lang="en-US" altLang="ja-JP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Object </a:t>
            </a:r>
            <a:r>
              <a:rPr lang="ja-JP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の中の </a:t>
            </a:r>
            <a:r>
              <a:rPr lang="en-US" altLang="ja-JP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r>
              <a:rPr lang="ja-JP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つの項目</a:t>
            </a:r>
            <a:endParaRPr lang="en-US" altLang="ja-JP" b="1">
              <a:solidFill>
                <a:schemeClr val="tx1">
                  <a:lumMod val="65000"/>
                  <a:lumOff val="35000"/>
                </a:schemeClr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r>
              <a:rPr lang="ja-JP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✅「キー」＋「値」で</a:t>
            </a:r>
            <a:r>
              <a:rPr lang="en-US" altLang="ja-JP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r>
              <a:rPr lang="ja-JP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セット</a:t>
            </a:r>
            <a:endParaRPr lang="en-US" altLang="ja-JP" b="1">
              <a:solidFill>
                <a:schemeClr val="tx1">
                  <a:lumMod val="65000"/>
                  <a:lumOff val="35000"/>
                </a:schemeClr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r>
              <a:rPr lang="ja-JP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✅動的コンテンツで取り出す際の</a:t>
            </a:r>
            <a:endParaRPr lang="en-US" altLang="ja-JP" b="1">
              <a:solidFill>
                <a:schemeClr val="tx1">
                  <a:lumMod val="65000"/>
                  <a:lumOff val="35000"/>
                </a:schemeClr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r>
              <a:rPr lang="ja-JP" altLang="en-US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“最小単位”が </a:t>
            </a:r>
            <a:r>
              <a:rPr lang="en-US" altLang="ja-JP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item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8" name="Text 6">
            <a:extLst>
              <a:ext uri="{FF2B5EF4-FFF2-40B4-BE49-F238E27FC236}">
                <a16:creationId xmlns:a16="http://schemas.microsoft.com/office/drawing/2014/main" id="{40C2A1AF-ABE6-B498-A6D9-57A1C75552ED}"/>
              </a:ext>
            </a:extLst>
          </p:cNvPr>
          <p:cNvSpPr txBox="1"/>
          <p:nvPr/>
        </p:nvSpPr>
        <p:spPr>
          <a:xfrm>
            <a:off x="7720316" y="3314172"/>
            <a:ext cx="1608655" cy="5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28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item</a:t>
            </a:r>
          </a:p>
        </p:txBody>
      </p:sp>
      <p:pic>
        <p:nvPicPr>
          <p:cNvPr id="132" name="図 131" descr="The image depicts a locked storage unit with three drawers, suggesting secure storage or compartmentalization.&#10;&#10;AI 生成コンテンツは誤りを含む可能性があります。">
            <a:extLst>
              <a:ext uri="{FF2B5EF4-FFF2-40B4-BE49-F238E27FC236}">
                <a16:creationId xmlns:a16="http://schemas.microsoft.com/office/drawing/2014/main" id="{624AB085-2D7D-3E76-981C-5BAD4B635CA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954"/>
          <a:stretch>
            <a:fillRect/>
          </a:stretch>
        </p:blipFill>
        <p:spPr>
          <a:xfrm>
            <a:off x="783767" y="2464588"/>
            <a:ext cx="1429930" cy="20414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0" name="図 129" descr="The image depicts a colorful, textured sandwich with a crunchy bread exterior, topped with lettuce, tomato, and sprinkled with colorful, shredded vegetables.&#10;&#10;AI 生成コンテンツは誤りを含む可能性があります。">
            <a:extLst>
              <a:ext uri="{FF2B5EF4-FFF2-40B4-BE49-F238E27FC236}">
                <a16:creationId xmlns:a16="http://schemas.microsoft.com/office/drawing/2014/main" id="{35BB35B0-46EB-608D-D0A8-938F70BE07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6186" y="1478669"/>
            <a:ext cx="1015064" cy="1015064"/>
          </a:xfrm>
          <a:prstGeom prst="rect">
            <a:avLst/>
          </a:prstGeom>
        </p:spPr>
      </p:pic>
      <p:sp>
        <p:nvSpPr>
          <p:cNvPr id="118" name="Text 6">
            <a:extLst>
              <a:ext uri="{FF2B5EF4-FFF2-40B4-BE49-F238E27FC236}">
                <a16:creationId xmlns:a16="http://schemas.microsoft.com/office/drawing/2014/main" id="{44A9D180-8B41-2603-4867-DAE2762AB9C0}"/>
              </a:ext>
            </a:extLst>
          </p:cNvPr>
          <p:cNvSpPr txBox="1"/>
          <p:nvPr/>
        </p:nvSpPr>
        <p:spPr>
          <a:xfrm>
            <a:off x="634376" y="3788447"/>
            <a:ext cx="1608655" cy="5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配列</a:t>
            </a:r>
            <a:endParaRPr lang="en-US" altLang="ja-JP" sz="2000" b="1">
              <a:solidFill>
                <a:schemeClr val="bg1"/>
              </a:solidFill>
              <a:effectLst>
                <a:glow rad="114300">
                  <a:schemeClr val="tx1">
                    <a:lumMod val="85000"/>
                    <a:lumOff val="15000"/>
                  </a:schemeClr>
                </a:glow>
              </a:effectLst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（</a:t>
            </a:r>
            <a:r>
              <a:rPr lang="en-US" altLang="ja-JP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Array</a:t>
            </a:r>
            <a:r>
              <a:rPr lang="ja-JP" altLang="en-US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）</a:t>
            </a:r>
            <a:endParaRPr lang="en-US" altLang="ja-JP" sz="2000" b="1">
              <a:solidFill>
                <a:schemeClr val="bg1"/>
              </a:solidFill>
              <a:effectLst>
                <a:glow rad="114300">
                  <a:schemeClr val="tx1">
                    <a:lumMod val="85000"/>
                    <a:lumOff val="15000"/>
                  </a:schemeClr>
                </a:glow>
              </a:effectLst>
              <a:latin typeface="Noto Sans JP" pitchFamily="34" charset="0"/>
              <a:ea typeface="Noto Sans JP" pitchFamily="34" charset="-122"/>
            </a:endParaRPr>
          </a:p>
        </p:txBody>
      </p:sp>
      <p:pic>
        <p:nvPicPr>
          <p:cNvPr id="133" name="図 132" descr="The image depicts a locked storage unit with three drawers, suggesting secure storage or compartmentalization.&#10;&#10;AI 生成コンテンツは誤りを含む可能性があります。">
            <a:extLst>
              <a:ext uri="{FF2B5EF4-FFF2-40B4-BE49-F238E27FC236}">
                <a16:creationId xmlns:a16="http://schemas.microsoft.com/office/drawing/2014/main" id="{CA39A9B6-F9D0-B504-3CE0-E91A08E6A80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954"/>
          <a:stretch>
            <a:fillRect/>
          </a:stretch>
        </p:blipFill>
        <p:spPr>
          <a:xfrm>
            <a:off x="2556447" y="1394545"/>
            <a:ext cx="735947" cy="10506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7325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A6369-8648-6500-160D-36FC1D142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39">
            <a:extLst>
              <a:ext uri="{FF2B5EF4-FFF2-40B4-BE49-F238E27FC236}">
                <a16:creationId xmlns:a16="http://schemas.microsoft.com/office/drawing/2014/main" id="{E9C5A6A8-F867-0E0B-4FBB-0B62709418A1}"/>
              </a:ext>
            </a:extLst>
          </p:cNvPr>
          <p:cNvSpPr/>
          <p:nvPr/>
        </p:nvSpPr>
        <p:spPr>
          <a:xfrm>
            <a:off x="4263709" y="2109062"/>
            <a:ext cx="2959463" cy="4572636"/>
          </a:xfrm>
          <a:prstGeom prst="roundRect">
            <a:avLst>
              <a:gd name="adj" fmla="val 7653"/>
            </a:avLst>
          </a:prstGeom>
          <a:solidFill>
            <a:srgbClr val="EFF6FF"/>
          </a:solidFill>
          <a:ln w="47625">
            <a:solidFill>
              <a:srgbClr val="0000CC"/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5238ECC5-C21D-F1A8-8DF5-6F9E8356287D}"/>
              </a:ext>
            </a:extLst>
          </p:cNvPr>
          <p:cNvSpPr/>
          <p:nvPr/>
        </p:nvSpPr>
        <p:spPr>
          <a:xfrm>
            <a:off x="6858" y="-69952"/>
            <a:ext cx="12191695" cy="76169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34B3DD3-2C2B-B035-201A-A3F5B15E2CE7}"/>
              </a:ext>
            </a:extLst>
          </p:cNvPr>
          <p:cNvSpPr/>
          <p:nvPr/>
        </p:nvSpPr>
        <p:spPr>
          <a:xfrm>
            <a:off x="188332" y="78173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850C86C-D167-1860-1B2B-F9D491354627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Vol.19</a:t>
            </a:r>
            <a:endParaRPr lang="en-US" sz="3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1557D71-3129-C4B7-3E1F-3F682882997E}"/>
              </a:ext>
            </a:extLst>
          </p:cNvPr>
          <p:cNvSpPr txBox="1"/>
          <p:nvPr/>
        </p:nvSpPr>
        <p:spPr>
          <a:xfrm>
            <a:off x="1926963" y="154814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 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: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の解析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】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アクション</a:t>
            </a:r>
            <a:endParaRPr lang="en-US" sz="32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F7613C66-87A7-5970-301F-AB23C0E35F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2978" y="838683"/>
            <a:ext cx="11430000" cy="914400"/>
          </a:xfrm>
          <a:prstGeom prst="rect">
            <a:avLst/>
          </a:prstGeom>
        </p:spPr>
      </p:pic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B0044515-2578-41EE-D6F8-56663FC828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1" b="-31"/>
          <a:stretch/>
        </p:blipFill>
        <p:spPr>
          <a:xfrm>
            <a:off x="541578" y="1048995"/>
            <a:ext cx="342900" cy="495605"/>
          </a:xfrm>
          <a:prstGeom prst="rect">
            <a:avLst/>
          </a:prstGeom>
        </p:spPr>
      </p:pic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4FF56B76-B074-2767-16AB-DE6CBFC1A3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6423" b="-16423"/>
          <a:stretch/>
        </p:blipFill>
        <p:spPr>
          <a:xfrm>
            <a:off x="626617" y="1134034"/>
            <a:ext cx="171907" cy="304495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F2C36108-23ED-75FE-7A2D-982E914CD944}"/>
              </a:ext>
            </a:extLst>
          </p:cNvPr>
          <p:cNvSpPr txBox="1"/>
          <p:nvPr/>
        </p:nvSpPr>
        <p:spPr>
          <a:xfrm>
            <a:off x="1448307" y="1032286"/>
            <a:ext cx="9797806" cy="548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36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ja-JP" altLang="en-US" sz="36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の解析</a:t>
            </a:r>
            <a:r>
              <a:rPr lang="ja-JP" altLang="en-US" sz="36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</a:t>
            </a:r>
            <a:r>
              <a:rPr lang="ja-JP" altLang="en-US" sz="32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箱の中身に</a:t>
            </a:r>
            <a:r>
              <a:rPr lang="ja-JP" altLang="en-US" sz="48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「名札」</a:t>
            </a:r>
            <a:r>
              <a:rPr lang="ja-JP" altLang="en-US" sz="32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を貼る魔法</a:t>
            </a:r>
            <a:endParaRPr lang="en-US" sz="3600" dirty="0"/>
          </a:p>
        </p:txBody>
      </p:sp>
      <p:pic>
        <p:nvPicPr>
          <p:cNvPr id="27" name="Image 10" descr="preencoded.png">
            <a:extLst>
              <a:ext uri="{FF2B5EF4-FFF2-40B4-BE49-F238E27FC236}">
                <a16:creationId xmlns:a16="http://schemas.microsoft.com/office/drawing/2014/main" id="{E5143B20-3734-B453-E1EB-6AB09EAA29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3568670" y="2448040"/>
            <a:ext cx="520848" cy="1040033"/>
          </a:xfrm>
          <a:prstGeom prst="rect">
            <a:avLst/>
          </a:prstGeom>
        </p:spPr>
      </p:pic>
      <p:pic>
        <p:nvPicPr>
          <p:cNvPr id="37" name="Image 15" descr="preencoded.png">
            <a:extLst>
              <a:ext uri="{FF2B5EF4-FFF2-40B4-BE49-F238E27FC236}">
                <a16:creationId xmlns:a16="http://schemas.microsoft.com/office/drawing/2014/main" id="{4823966A-60D0-EB85-E58B-D9F73C716C9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3158103" y="4430229"/>
            <a:ext cx="407636" cy="362103"/>
          </a:xfrm>
          <a:prstGeom prst="rect">
            <a:avLst/>
          </a:prstGeom>
        </p:spPr>
      </p:pic>
      <p:sp>
        <p:nvSpPr>
          <p:cNvPr id="61" name="Text 33">
            <a:extLst>
              <a:ext uri="{FF2B5EF4-FFF2-40B4-BE49-F238E27FC236}">
                <a16:creationId xmlns:a16="http://schemas.microsoft.com/office/drawing/2014/main" id="{01593A98-44FE-562B-719B-06CC953EB0E5}"/>
              </a:ext>
            </a:extLst>
          </p:cNvPr>
          <p:cNvSpPr txBox="1"/>
          <p:nvPr/>
        </p:nvSpPr>
        <p:spPr>
          <a:xfrm>
            <a:off x="11367821" y="6514472"/>
            <a:ext cx="676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#PA45</a:t>
            </a:r>
            <a:endParaRPr lang="en-US" sz="1300" dirty="0"/>
          </a:p>
        </p:txBody>
      </p:sp>
      <p:pic>
        <p:nvPicPr>
          <p:cNvPr id="62" name="Image 26" descr="preencoded.png">
            <a:extLst>
              <a:ext uri="{FF2B5EF4-FFF2-40B4-BE49-F238E27FC236}">
                <a16:creationId xmlns:a16="http://schemas.microsoft.com/office/drawing/2014/main" id="{FCAB4125-F2D4-A6A8-FAED-57EA81DE929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747589" y="2491168"/>
            <a:ext cx="1943671" cy="1334010"/>
          </a:xfrm>
          <a:prstGeom prst="rect">
            <a:avLst/>
          </a:prstGeom>
        </p:spPr>
      </p:pic>
      <p:sp>
        <p:nvSpPr>
          <p:cNvPr id="94" name="Text 6">
            <a:extLst>
              <a:ext uri="{FF2B5EF4-FFF2-40B4-BE49-F238E27FC236}">
                <a16:creationId xmlns:a16="http://schemas.microsoft.com/office/drawing/2014/main" id="{061AAB83-571D-2C51-EB82-5ED97115FE36}"/>
              </a:ext>
            </a:extLst>
          </p:cNvPr>
          <p:cNvSpPr txBox="1"/>
          <p:nvPr/>
        </p:nvSpPr>
        <p:spPr>
          <a:xfrm>
            <a:off x="666598" y="2708659"/>
            <a:ext cx="2509184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400" dirty="0">
              <a:solidFill>
                <a:schemeClr val="bg1"/>
              </a:solidFill>
              <a:effectLst>
                <a:glow rad="63500">
                  <a:srgbClr val="0000CC"/>
                </a:glow>
              </a:effectLst>
            </a:endParaRPr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F9BFFB58-BC9F-192E-76F5-5BE7F724379A}"/>
              </a:ext>
            </a:extLst>
          </p:cNvPr>
          <p:cNvSpPr/>
          <p:nvPr/>
        </p:nvSpPr>
        <p:spPr>
          <a:xfrm>
            <a:off x="58783" y="-50800"/>
            <a:ext cx="12077233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Image 12" descr="preencoded.png">
            <a:extLst>
              <a:ext uri="{FF2B5EF4-FFF2-40B4-BE49-F238E27FC236}">
                <a16:creationId xmlns:a16="http://schemas.microsoft.com/office/drawing/2014/main" id="{0A4389DD-97EE-23DC-8FEA-F3AA861AA9A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10" b="-10"/>
          <a:stretch/>
        </p:blipFill>
        <p:spPr>
          <a:xfrm>
            <a:off x="7321407" y="1990908"/>
            <a:ext cx="4734378" cy="4690790"/>
          </a:xfrm>
          <a:prstGeom prst="rect">
            <a:avLst/>
          </a:prstGeom>
        </p:spPr>
      </p:pic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45CD39AC-FAE4-8CFD-AFD6-FC287A9875C1}"/>
              </a:ext>
            </a:extLst>
          </p:cNvPr>
          <p:cNvGrpSpPr/>
          <p:nvPr/>
        </p:nvGrpSpPr>
        <p:grpSpPr>
          <a:xfrm>
            <a:off x="7631548" y="1883644"/>
            <a:ext cx="3849396" cy="917911"/>
            <a:chOff x="9244584" y="2179015"/>
            <a:chExt cx="1123798" cy="286207"/>
          </a:xfrm>
        </p:grpSpPr>
        <p:sp>
          <p:nvSpPr>
            <p:cNvPr id="30" name="Shape 15">
              <a:extLst>
                <a:ext uri="{FF2B5EF4-FFF2-40B4-BE49-F238E27FC236}">
                  <a16:creationId xmlns:a16="http://schemas.microsoft.com/office/drawing/2014/main" id="{34C4E89A-3251-290B-F5DE-43321A219727}"/>
                </a:ext>
              </a:extLst>
            </p:cNvPr>
            <p:cNvSpPr/>
            <p:nvPr/>
          </p:nvSpPr>
          <p:spPr>
            <a:xfrm>
              <a:off x="9244584" y="2179015"/>
              <a:ext cx="1123798" cy="286207"/>
            </a:xfrm>
            <a:prstGeom prst="roundRect">
              <a:avLst>
                <a:gd name="adj" fmla="val 319489"/>
              </a:avLst>
            </a:prstGeom>
            <a:solidFill>
              <a:srgbClr val="DCFCE7"/>
            </a:solidFill>
            <a:ln w="34925">
              <a:solidFill>
                <a:srgbClr val="166534"/>
              </a:solidFill>
              <a:prstDash val="solid"/>
            </a:ln>
          </p:spPr>
          <p:txBody>
            <a:bodyPr/>
            <a:lstStyle/>
            <a:p>
              <a:endParaRPr lang="ja-JP" altLang="en-US" sz="5400"/>
            </a:p>
          </p:txBody>
        </p:sp>
        <p:sp>
          <p:nvSpPr>
            <p:cNvPr id="31" name="Text 16">
              <a:extLst>
                <a:ext uri="{FF2B5EF4-FFF2-40B4-BE49-F238E27FC236}">
                  <a16:creationId xmlns:a16="http://schemas.microsoft.com/office/drawing/2014/main" id="{4D3E1C82-DB2B-74C3-70C3-EC437D5B1704}"/>
                </a:ext>
              </a:extLst>
            </p:cNvPr>
            <p:cNvSpPr txBox="1"/>
            <p:nvPr/>
          </p:nvSpPr>
          <p:spPr>
            <a:xfrm>
              <a:off x="9357411" y="2218902"/>
              <a:ext cx="952805" cy="191110"/>
            </a:xfrm>
            <a:prstGeom prst="rect">
              <a:avLst/>
            </a:prstGeom>
            <a:noFill/>
            <a:ln>
              <a:solidFill>
                <a:srgbClr val="DCFCE7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6653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After</a:t>
              </a:r>
              <a:r>
                <a:rPr lang="en-US" sz="2400" b="1">
                  <a:solidFill>
                    <a:srgbClr val="16653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: </a:t>
              </a:r>
              <a:r>
                <a:rPr lang="ja-JP" altLang="en-US" sz="2400" b="1">
                  <a:solidFill>
                    <a:srgbClr val="16653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動的コンテンツから選べるようになる</a:t>
              </a:r>
              <a:endParaRPr lang="en-US" sz="2400" dirty="0"/>
            </a:p>
          </p:txBody>
        </p:sp>
      </p:grp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6F7C9B7E-B520-06F0-E2F9-DEED4F8FCEED}"/>
              </a:ext>
            </a:extLst>
          </p:cNvPr>
          <p:cNvSpPr/>
          <p:nvPr/>
        </p:nvSpPr>
        <p:spPr>
          <a:xfrm>
            <a:off x="249515" y="831975"/>
            <a:ext cx="193903" cy="992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15F5093F-3191-0C6F-B634-0A41A4F121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131" y="657572"/>
            <a:ext cx="1241251" cy="1241251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A81C085-567A-A4FD-269B-B458CD6FE42F}"/>
              </a:ext>
            </a:extLst>
          </p:cNvPr>
          <p:cNvSpPr/>
          <p:nvPr/>
        </p:nvSpPr>
        <p:spPr>
          <a:xfrm>
            <a:off x="157824" y="2101170"/>
            <a:ext cx="3964621" cy="4572636"/>
          </a:xfrm>
          <a:prstGeom prst="roundRect">
            <a:avLst>
              <a:gd name="adj" fmla="val 6758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AE15B266-2895-2997-17D0-66C69DC10807}"/>
              </a:ext>
            </a:extLst>
          </p:cNvPr>
          <p:cNvSpPr/>
          <p:nvPr/>
        </p:nvSpPr>
        <p:spPr>
          <a:xfrm>
            <a:off x="329282" y="1869623"/>
            <a:ext cx="3619573" cy="513892"/>
          </a:xfrm>
          <a:prstGeom prst="roundRect">
            <a:avLst>
              <a:gd name="adj" fmla="val 319489"/>
            </a:avLst>
          </a:prstGeom>
          <a:solidFill>
            <a:srgbClr val="FEF2F2"/>
          </a:solidFill>
          <a:ln w="3492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A7C68F8-B570-7631-AF1E-3232FD0AA6DB}"/>
              </a:ext>
            </a:extLst>
          </p:cNvPr>
          <p:cNvSpPr txBox="1"/>
          <p:nvPr/>
        </p:nvSpPr>
        <p:spPr>
          <a:xfrm>
            <a:off x="587622" y="1959689"/>
            <a:ext cx="1751900" cy="34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32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</a:t>
            </a: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22D75FB6-3742-B7E5-C537-142D4C8EA35F}"/>
              </a:ext>
            </a:extLst>
          </p:cNvPr>
          <p:cNvGrpSpPr/>
          <p:nvPr/>
        </p:nvGrpSpPr>
        <p:grpSpPr>
          <a:xfrm>
            <a:off x="450125" y="2429153"/>
            <a:ext cx="3210012" cy="2733396"/>
            <a:chOff x="1059242" y="1702226"/>
            <a:chExt cx="3210012" cy="2832845"/>
          </a:xfrm>
        </p:grpSpPr>
        <p:sp>
          <p:nvSpPr>
            <p:cNvPr id="22" name="Text 8">
              <a:extLst>
                <a:ext uri="{FF2B5EF4-FFF2-40B4-BE49-F238E27FC236}">
                  <a16:creationId xmlns:a16="http://schemas.microsoft.com/office/drawing/2014/main" id="{43AE0E6E-F74A-4B6D-DEAE-E5FC353473A0}"/>
                </a:ext>
              </a:extLst>
            </p:cNvPr>
            <p:cNvSpPr txBox="1"/>
            <p:nvPr/>
          </p:nvSpPr>
          <p:spPr>
            <a:xfrm>
              <a:off x="1059242" y="1702226"/>
              <a:ext cx="3210012" cy="3351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ただの文字列 (String)</a:t>
              </a:r>
              <a:endPara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3" name="Shape 33">
              <a:extLst>
                <a:ext uri="{FF2B5EF4-FFF2-40B4-BE49-F238E27FC236}">
                  <a16:creationId xmlns:a16="http://schemas.microsoft.com/office/drawing/2014/main" id="{3EBB2E43-78D3-E33D-426C-3C9465B9926E}"/>
                </a:ext>
              </a:extLst>
            </p:cNvPr>
            <p:cNvSpPr/>
            <p:nvPr/>
          </p:nvSpPr>
          <p:spPr>
            <a:xfrm>
              <a:off x="1188720" y="2067484"/>
              <a:ext cx="3047695" cy="2467587"/>
            </a:xfrm>
            <a:prstGeom prst="roundRect">
              <a:avLst>
                <a:gd name="adj" fmla="val 5333"/>
              </a:avLst>
            </a:prstGeom>
            <a:solidFill>
              <a:srgbClr val="F9FAF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FB138ED4-D058-3719-2119-F98AB1E009AE}"/>
                </a:ext>
              </a:extLst>
            </p:cNvPr>
            <p:cNvGrpSpPr/>
            <p:nvPr/>
          </p:nvGrpSpPr>
          <p:grpSpPr>
            <a:xfrm>
              <a:off x="1321921" y="2099911"/>
              <a:ext cx="2770275" cy="2319524"/>
              <a:chOff x="1321921" y="2099911"/>
              <a:chExt cx="2770275" cy="2319524"/>
            </a:xfrm>
          </p:grpSpPr>
          <p:pic>
            <p:nvPicPr>
              <p:cNvPr id="28" name="Image 9" descr="preencoded.png">
                <a:extLst>
                  <a:ext uri="{FF2B5EF4-FFF2-40B4-BE49-F238E27FC236}">
                    <a16:creationId xmlns:a16="http://schemas.microsoft.com/office/drawing/2014/main" id="{4634A607-3A16-5AEF-672B-DC70F96932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l="-11" r="-11"/>
              <a:stretch/>
            </p:blipFill>
            <p:spPr>
              <a:xfrm>
                <a:off x="1321921" y="2099911"/>
                <a:ext cx="2743200" cy="2319524"/>
              </a:xfrm>
              <a:prstGeom prst="rect">
                <a:avLst/>
              </a:prstGeom>
            </p:spPr>
          </p:pic>
          <p:sp>
            <p:nvSpPr>
              <p:cNvPr id="32" name="Shape 34">
                <a:extLst>
                  <a:ext uri="{FF2B5EF4-FFF2-40B4-BE49-F238E27FC236}">
                    <a16:creationId xmlns:a16="http://schemas.microsoft.com/office/drawing/2014/main" id="{AB784534-89CB-AFC0-EF77-C31401C6A6CD}"/>
                  </a:ext>
                </a:extLst>
              </p:cNvPr>
              <p:cNvSpPr/>
              <p:nvPr/>
            </p:nvSpPr>
            <p:spPr>
              <a:xfrm>
                <a:off x="1493595" y="2722549"/>
                <a:ext cx="2495398" cy="9144"/>
              </a:xfrm>
              <a:prstGeom prst="rect">
                <a:avLst/>
              </a:prstGeom>
              <a:solidFill>
                <a:srgbClr val="E5E7EB"/>
              </a:solidFill>
              <a:ln w="12700">
                <a:solidFill>
                  <a:srgbClr val="E5E7EB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3" name="Text 35">
                <a:extLst>
                  <a:ext uri="{FF2B5EF4-FFF2-40B4-BE49-F238E27FC236}">
                    <a16:creationId xmlns:a16="http://schemas.microsoft.com/office/drawing/2014/main" id="{2980B8DC-63CB-2F57-5360-9FF636265C0C}"/>
                  </a:ext>
                </a:extLst>
              </p:cNvPr>
              <p:cNvSpPr txBox="1"/>
              <p:nvPr/>
            </p:nvSpPr>
            <p:spPr>
              <a:xfrm>
                <a:off x="1496214" y="2260844"/>
                <a:ext cx="2595982" cy="222111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body (JSON)</a:t>
                </a:r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26" name="Text 36">
              <a:extLst>
                <a:ext uri="{FF2B5EF4-FFF2-40B4-BE49-F238E27FC236}">
                  <a16:creationId xmlns:a16="http://schemas.microsoft.com/office/drawing/2014/main" id="{20253114-47F7-3B83-0E33-3DF16679ECEB}"/>
                </a:ext>
              </a:extLst>
            </p:cNvPr>
            <p:cNvSpPr txBox="1"/>
            <p:nvPr/>
          </p:nvSpPr>
          <p:spPr>
            <a:xfrm>
              <a:off x="1373799" y="2815491"/>
              <a:ext cx="2710826" cy="14792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dirty="0">
                  <a:solidFill>
                    <a:srgbClr val="4B556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{</a:t>
              </a:r>
              <a:endParaRPr lang="en-US" sz="2000" dirty="0"/>
            </a:p>
            <a:p>
              <a:pPr marL="0" indent="0" algn="l">
                <a:buNone/>
              </a:pPr>
              <a:r>
                <a:rPr lang="en-US" sz="2000" dirty="0">
                  <a:solidFill>
                    <a:srgbClr val="4B556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"Title": "会議A",</a:t>
              </a:r>
              <a:endParaRPr lang="en-US" sz="2000" dirty="0"/>
            </a:p>
            <a:p>
              <a:pPr marL="0" indent="0" algn="l">
                <a:buNone/>
              </a:pPr>
              <a:r>
                <a:rPr lang="en-US" sz="2000" dirty="0">
                  <a:solidFill>
                    <a:srgbClr val="4B556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"User": "Yamada",</a:t>
              </a:r>
              <a:endParaRPr lang="en-US" sz="2000" dirty="0"/>
            </a:p>
            <a:p>
              <a:pPr marL="0" indent="0" algn="l">
                <a:buNone/>
              </a:pPr>
              <a:r>
                <a:rPr lang="en-US" sz="2000" dirty="0">
                  <a:solidFill>
                    <a:srgbClr val="4B556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"ID": 1001</a:t>
              </a:r>
              <a:endParaRPr lang="en-US" sz="2000" dirty="0"/>
            </a:p>
            <a:p>
              <a:pPr marL="0" indent="0" algn="l">
                <a:buNone/>
              </a:pPr>
              <a:r>
                <a:rPr lang="en-US" sz="2000" dirty="0">
                  <a:solidFill>
                    <a:srgbClr val="4B5563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} </a:t>
              </a:r>
              <a:endParaRPr lang="en-US" sz="2000" dirty="0"/>
            </a:p>
          </p:txBody>
        </p:sp>
      </p:grpSp>
      <p:pic>
        <p:nvPicPr>
          <p:cNvPr id="69" name="図 68" descr="The image shows a user interface element with a blue button, featuring a Japanese text label 'JSON' and a dropdown arrow icon.&#10;&#10;AI 生成コンテンツは誤りを含む可能性があります。">
            <a:extLst>
              <a:ext uri="{FF2B5EF4-FFF2-40B4-BE49-F238E27FC236}">
                <a16:creationId xmlns:a16="http://schemas.microsoft.com/office/drawing/2014/main" id="{50D39F32-B2AE-635E-124B-0AA06594983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4758" t="18775" b="-2902"/>
          <a:stretch>
            <a:fillRect/>
          </a:stretch>
        </p:blipFill>
        <p:spPr>
          <a:xfrm>
            <a:off x="4269318" y="2763610"/>
            <a:ext cx="2824803" cy="6297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8" name="Image 10" descr="preencoded.png">
            <a:extLst>
              <a:ext uri="{FF2B5EF4-FFF2-40B4-BE49-F238E27FC236}">
                <a16:creationId xmlns:a16="http://schemas.microsoft.com/office/drawing/2014/main" id="{AB847E9D-1D7F-BDA0-4A73-CAA24DFFF2C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6935240" y="2570132"/>
            <a:ext cx="520848" cy="1040033"/>
          </a:xfrm>
          <a:prstGeom prst="rect">
            <a:avLst/>
          </a:prstGeom>
        </p:spPr>
      </p:pic>
      <p:sp>
        <p:nvSpPr>
          <p:cNvPr id="71" name="Text 40">
            <a:extLst>
              <a:ext uri="{FF2B5EF4-FFF2-40B4-BE49-F238E27FC236}">
                <a16:creationId xmlns:a16="http://schemas.microsoft.com/office/drawing/2014/main" id="{F5739D4C-A6F1-B4CC-2430-FF79630845BC}"/>
              </a:ext>
            </a:extLst>
          </p:cNvPr>
          <p:cNvSpPr txBox="1"/>
          <p:nvPr/>
        </p:nvSpPr>
        <p:spPr>
          <a:xfrm>
            <a:off x="5001672" y="3921465"/>
            <a:ext cx="1576790" cy="27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 </a:t>
            </a:r>
            <a:endParaRPr lang="en-US" sz="2400" dirty="0"/>
          </a:p>
        </p:txBody>
      </p:sp>
      <p:pic>
        <p:nvPicPr>
          <p:cNvPr id="72" name="Image 15" descr="preencoded.png">
            <a:extLst>
              <a:ext uri="{FF2B5EF4-FFF2-40B4-BE49-F238E27FC236}">
                <a16:creationId xmlns:a16="http://schemas.microsoft.com/office/drawing/2014/main" id="{53D27675-CF40-1462-E9DF-2DBD26DF47BB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458737" y="3800260"/>
            <a:ext cx="361752" cy="361752"/>
          </a:xfrm>
          <a:prstGeom prst="rect">
            <a:avLst/>
          </a:prstGeom>
        </p:spPr>
      </p:pic>
      <p:sp>
        <p:nvSpPr>
          <p:cNvPr id="73" name="Text 41">
            <a:extLst>
              <a:ext uri="{FF2B5EF4-FFF2-40B4-BE49-F238E27FC236}">
                <a16:creationId xmlns:a16="http://schemas.microsoft.com/office/drawing/2014/main" id="{813A5714-39BE-4174-D409-E30E6A6DFF13}"/>
              </a:ext>
            </a:extLst>
          </p:cNvPr>
          <p:cNvSpPr txBox="1"/>
          <p:nvPr/>
        </p:nvSpPr>
        <p:spPr>
          <a:xfrm>
            <a:off x="4379861" y="4364286"/>
            <a:ext cx="2676491" cy="83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“設計図”を見ながら、</a:t>
            </a:r>
            <a:endParaRPr lang="en-US" altLang="ja-JP" sz="2000" b="1">
              <a:solidFill>
                <a:srgbClr val="2563EB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中身ひとつひとつに</a:t>
            </a:r>
            <a:endParaRPr lang="en-US" altLang="ja-JP" sz="2000" b="1">
              <a:solidFill>
                <a:srgbClr val="2563EB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名前シールを貼る</a:t>
            </a:r>
            <a:endParaRPr lang="en-US" sz="2000" b="1" dirty="0"/>
          </a:p>
        </p:txBody>
      </p:sp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845D6F6C-E045-BE84-9308-941C39CD36E7}"/>
              </a:ext>
            </a:extLst>
          </p:cNvPr>
          <p:cNvGrpSpPr/>
          <p:nvPr/>
        </p:nvGrpSpPr>
        <p:grpSpPr>
          <a:xfrm>
            <a:off x="4304607" y="1877528"/>
            <a:ext cx="2868708" cy="520008"/>
            <a:chOff x="3873773" y="1867841"/>
            <a:chExt cx="3246138" cy="520008"/>
          </a:xfrm>
        </p:grpSpPr>
        <p:sp>
          <p:nvSpPr>
            <p:cNvPr id="84" name="Shape 7">
              <a:extLst>
                <a:ext uri="{FF2B5EF4-FFF2-40B4-BE49-F238E27FC236}">
                  <a16:creationId xmlns:a16="http://schemas.microsoft.com/office/drawing/2014/main" id="{E0DE47C5-C1D4-BE5A-ADA0-7B1646DE1307}"/>
                </a:ext>
              </a:extLst>
            </p:cNvPr>
            <p:cNvSpPr/>
            <p:nvPr/>
          </p:nvSpPr>
          <p:spPr>
            <a:xfrm>
              <a:off x="3873773" y="1873957"/>
              <a:ext cx="3103094" cy="513892"/>
            </a:xfrm>
            <a:prstGeom prst="roundRect">
              <a:avLst>
                <a:gd name="adj" fmla="val 31948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rgbClr val="0000CC"/>
              </a:solidFill>
              <a:prstDash val="solid"/>
            </a:ln>
          </p:spPr>
          <p:txBody>
            <a:bodyPr/>
            <a:lstStyle/>
            <a:p>
              <a:endParaRPr lang="ja-JP" altLang="en-US" sz="4800"/>
            </a:p>
          </p:txBody>
        </p:sp>
        <p:sp>
          <p:nvSpPr>
            <p:cNvPr id="85" name="Text 36">
              <a:extLst>
                <a:ext uri="{FF2B5EF4-FFF2-40B4-BE49-F238E27FC236}">
                  <a16:creationId xmlns:a16="http://schemas.microsoft.com/office/drawing/2014/main" id="{A0CF5F1F-2C57-85CB-B8CE-DF393A339D30}"/>
                </a:ext>
              </a:extLst>
            </p:cNvPr>
            <p:cNvSpPr txBox="1"/>
            <p:nvPr/>
          </p:nvSpPr>
          <p:spPr>
            <a:xfrm>
              <a:off x="4065751" y="1867841"/>
              <a:ext cx="3054160" cy="5074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JSON</a:t>
              </a:r>
              <a:r>
                <a:rPr lang="ja-JP" altLang="en-US" sz="32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の解析</a:t>
              </a:r>
              <a:endParaRPr lang="en-US" sz="3600" dirty="0"/>
            </a:p>
          </p:txBody>
        </p:sp>
      </p:grpSp>
      <p:pic>
        <p:nvPicPr>
          <p:cNvPr id="87" name="Image 18" descr="preencoded.png">
            <a:extLst>
              <a:ext uri="{FF2B5EF4-FFF2-40B4-BE49-F238E27FC236}">
                <a16:creationId xmlns:a16="http://schemas.microsoft.com/office/drawing/2014/main" id="{380B430F-4490-CC21-F693-5E1817C374F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1100" b="-1100"/>
          <a:stretch/>
        </p:blipFill>
        <p:spPr>
          <a:xfrm>
            <a:off x="11154136" y="1991114"/>
            <a:ext cx="520848" cy="608349"/>
          </a:xfrm>
          <a:prstGeom prst="rect">
            <a:avLst/>
          </a:prstGeom>
        </p:spPr>
      </p:pic>
      <p:sp>
        <p:nvSpPr>
          <p:cNvPr id="90" name="Text 6">
            <a:extLst>
              <a:ext uri="{FF2B5EF4-FFF2-40B4-BE49-F238E27FC236}">
                <a16:creationId xmlns:a16="http://schemas.microsoft.com/office/drawing/2014/main" id="{BC6A2CC3-2557-D166-4F80-70B2CEA85BBB}"/>
              </a:ext>
            </a:extLst>
          </p:cNvPr>
          <p:cNvSpPr txBox="1"/>
          <p:nvPr/>
        </p:nvSpPr>
        <p:spPr>
          <a:xfrm>
            <a:off x="204596" y="5649422"/>
            <a:ext cx="2871268" cy="629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4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『ID』</a:t>
            </a:r>
            <a:r>
              <a:rPr lang="ja-JP" altLang="en-US" sz="24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だけ</a:t>
            </a:r>
            <a:endParaRPr lang="en-US" altLang="ja-JP" sz="2400" b="1">
              <a:solidFill>
                <a:schemeClr val="bg1"/>
              </a:solidFill>
              <a:effectLst>
                <a:glow rad="114300">
                  <a:srgbClr val="C00000"/>
                </a:glow>
              </a:effectLst>
            </a:endParaRPr>
          </a:p>
          <a:p>
            <a:pPr marL="0" indent="0" algn="l">
              <a:buNone/>
            </a:pPr>
            <a:r>
              <a:rPr lang="ja-JP" altLang="en-US" sz="24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使いたいのに</a:t>
            </a:r>
            <a:endParaRPr lang="en-US" altLang="ja-JP" sz="2400" b="1">
              <a:solidFill>
                <a:schemeClr val="bg1"/>
              </a:solidFill>
              <a:effectLst>
                <a:glow rad="114300">
                  <a:srgbClr val="C00000"/>
                </a:glow>
              </a:effectLst>
            </a:endParaRPr>
          </a:p>
          <a:p>
            <a:pPr marL="0" indent="0" algn="l">
              <a:buNone/>
            </a:pPr>
            <a:r>
              <a:rPr lang="ja-JP" altLang="en-US" sz="24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動的コンテンツから</a:t>
            </a:r>
            <a:endParaRPr lang="en-US" altLang="ja-JP" sz="2400" b="1">
              <a:solidFill>
                <a:schemeClr val="bg1"/>
              </a:solidFill>
              <a:effectLst>
                <a:glow rad="114300">
                  <a:srgbClr val="C00000"/>
                </a:glow>
              </a:effectLst>
            </a:endParaRPr>
          </a:p>
          <a:p>
            <a:pPr marL="0" indent="0" algn="l">
              <a:buNone/>
            </a:pPr>
            <a:r>
              <a:rPr lang="ja-JP" altLang="en-US" sz="24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選べない</a:t>
            </a:r>
            <a:endParaRPr lang="en-US" sz="2400" b="1" dirty="0">
              <a:solidFill>
                <a:schemeClr val="bg1"/>
              </a:solidFill>
              <a:effectLst>
                <a:glow rad="114300">
                  <a:srgbClr val="C00000"/>
                </a:glow>
              </a:effectLst>
            </a:endParaRPr>
          </a:p>
        </p:txBody>
      </p:sp>
      <p:pic>
        <p:nvPicPr>
          <p:cNvPr id="91" name="Image 16" descr="preencoded.png">
            <a:extLst>
              <a:ext uri="{FF2B5EF4-FFF2-40B4-BE49-F238E27FC236}">
                <a16:creationId xmlns:a16="http://schemas.microsoft.com/office/drawing/2014/main" id="{BCF37A29-ABC3-BA26-8DFD-108214B08151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607" r="-607"/>
          <a:stretch/>
        </p:blipFill>
        <p:spPr>
          <a:xfrm>
            <a:off x="7631548" y="2905118"/>
            <a:ext cx="624870" cy="493900"/>
          </a:xfrm>
          <a:prstGeom prst="rect">
            <a:avLst/>
          </a:prstGeom>
        </p:spPr>
      </p:pic>
      <p:sp>
        <p:nvSpPr>
          <p:cNvPr id="93" name="Text 44">
            <a:extLst>
              <a:ext uri="{FF2B5EF4-FFF2-40B4-BE49-F238E27FC236}">
                <a16:creationId xmlns:a16="http://schemas.microsoft.com/office/drawing/2014/main" id="{D5144F3B-E5A3-7B4A-2195-E54524D66A09}"/>
              </a:ext>
            </a:extLst>
          </p:cNvPr>
          <p:cNvSpPr txBox="1"/>
          <p:nvPr/>
        </p:nvSpPr>
        <p:spPr>
          <a:xfrm>
            <a:off x="8405584" y="2923969"/>
            <a:ext cx="3653477" cy="410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1つずつ選べる状態に変身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3" name="Image 17" descr="preencoded.png">
            <a:extLst>
              <a:ext uri="{FF2B5EF4-FFF2-40B4-BE49-F238E27FC236}">
                <a16:creationId xmlns:a16="http://schemas.microsoft.com/office/drawing/2014/main" id="{CC552E76-D91B-F5F9-8A40-CE17A77A41BB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-18" r="-18"/>
          <a:stretch/>
        </p:blipFill>
        <p:spPr>
          <a:xfrm>
            <a:off x="7573095" y="3461047"/>
            <a:ext cx="4115366" cy="492509"/>
          </a:xfrm>
          <a:prstGeom prst="rect">
            <a:avLst/>
          </a:prstGeom>
        </p:spPr>
      </p:pic>
      <p:sp>
        <p:nvSpPr>
          <p:cNvPr id="106" name="Text 45">
            <a:extLst>
              <a:ext uri="{FF2B5EF4-FFF2-40B4-BE49-F238E27FC236}">
                <a16:creationId xmlns:a16="http://schemas.microsoft.com/office/drawing/2014/main" id="{E87DC478-2F8D-8122-CA16-25C60A9394AC}"/>
              </a:ext>
            </a:extLst>
          </p:cNvPr>
          <p:cNvSpPr txBox="1"/>
          <p:nvPr/>
        </p:nvSpPr>
        <p:spPr>
          <a:xfrm>
            <a:off x="8096299" y="3466339"/>
            <a:ext cx="2696204" cy="49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Title </a:t>
            </a:r>
            <a:r>
              <a:rPr lang="en-US" sz="24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"会議A"</a:t>
            </a:r>
            <a:endParaRPr lang="en-US" sz="2800" dirty="0"/>
          </a:p>
        </p:txBody>
      </p:sp>
      <p:pic>
        <p:nvPicPr>
          <p:cNvPr id="107" name="Image 18" descr="preencoded.png">
            <a:extLst>
              <a:ext uri="{FF2B5EF4-FFF2-40B4-BE49-F238E27FC236}">
                <a16:creationId xmlns:a16="http://schemas.microsoft.com/office/drawing/2014/main" id="{78978BB8-91B5-6046-7926-A8273EBCEF7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1100" b="-1100"/>
          <a:stretch/>
        </p:blipFill>
        <p:spPr>
          <a:xfrm>
            <a:off x="7695216" y="3536250"/>
            <a:ext cx="327393" cy="382394"/>
          </a:xfrm>
          <a:prstGeom prst="rect">
            <a:avLst/>
          </a:prstGeom>
        </p:spPr>
      </p:pic>
      <p:pic>
        <p:nvPicPr>
          <p:cNvPr id="111" name="Image 21" descr="preencoded.png">
            <a:extLst>
              <a:ext uri="{FF2B5EF4-FFF2-40B4-BE49-F238E27FC236}">
                <a16:creationId xmlns:a16="http://schemas.microsoft.com/office/drawing/2014/main" id="{2AC0462A-B537-3535-6BCB-B4D62B762EF7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-18" r="-18"/>
          <a:stretch/>
        </p:blipFill>
        <p:spPr>
          <a:xfrm>
            <a:off x="7578920" y="4670040"/>
            <a:ext cx="4115366" cy="492509"/>
          </a:xfrm>
          <a:prstGeom prst="rect">
            <a:avLst/>
          </a:prstGeom>
        </p:spPr>
      </p:pic>
      <p:sp>
        <p:nvSpPr>
          <p:cNvPr id="112" name="Text 49">
            <a:extLst>
              <a:ext uri="{FF2B5EF4-FFF2-40B4-BE49-F238E27FC236}">
                <a16:creationId xmlns:a16="http://schemas.microsoft.com/office/drawing/2014/main" id="{E4AE11DF-545A-F6C3-3FCB-3FC590055510}"/>
              </a:ext>
            </a:extLst>
          </p:cNvPr>
          <p:cNvSpPr txBox="1"/>
          <p:nvPr/>
        </p:nvSpPr>
        <p:spPr>
          <a:xfrm>
            <a:off x="8102667" y="4661855"/>
            <a:ext cx="2696204" cy="49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ID </a:t>
            </a:r>
            <a:r>
              <a:rPr lang="en-US" sz="2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1001</a:t>
            </a:r>
            <a:endParaRPr lang="en-US" sz="3200" dirty="0"/>
          </a:p>
        </p:txBody>
      </p:sp>
      <p:pic>
        <p:nvPicPr>
          <p:cNvPr id="113" name="Image 22" descr="preencoded.png">
            <a:extLst>
              <a:ext uri="{FF2B5EF4-FFF2-40B4-BE49-F238E27FC236}">
                <a16:creationId xmlns:a16="http://schemas.microsoft.com/office/drawing/2014/main" id="{38E10C92-9763-F807-F031-E2DEDC0C4E73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1100" b="-1100"/>
          <a:stretch/>
        </p:blipFill>
        <p:spPr>
          <a:xfrm>
            <a:off x="7713651" y="4718421"/>
            <a:ext cx="363465" cy="424526"/>
          </a:xfrm>
          <a:prstGeom prst="rect">
            <a:avLst/>
          </a:prstGeom>
        </p:spPr>
      </p:pic>
      <p:grpSp>
        <p:nvGrpSpPr>
          <p:cNvPr id="115" name="グループ化 114">
            <a:extLst>
              <a:ext uri="{FF2B5EF4-FFF2-40B4-BE49-F238E27FC236}">
                <a16:creationId xmlns:a16="http://schemas.microsoft.com/office/drawing/2014/main" id="{B14E2C54-6257-AE8D-A4DA-10C19CBF1AD1}"/>
              </a:ext>
            </a:extLst>
          </p:cNvPr>
          <p:cNvGrpSpPr/>
          <p:nvPr/>
        </p:nvGrpSpPr>
        <p:grpSpPr>
          <a:xfrm>
            <a:off x="7592179" y="4080250"/>
            <a:ext cx="4115366" cy="512171"/>
            <a:chOff x="7559618" y="4481892"/>
            <a:chExt cx="4115366" cy="512171"/>
          </a:xfrm>
        </p:grpSpPr>
        <p:pic>
          <p:nvPicPr>
            <p:cNvPr id="108" name="Image 19" descr="preencoded.png">
              <a:extLst>
                <a:ext uri="{FF2B5EF4-FFF2-40B4-BE49-F238E27FC236}">
                  <a16:creationId xmlns:a16="http://schemas.microsoft.com/office/drawing/2014/main" id="{4BE5AE8D-A335-BBE3-4924-2D9576BAD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l="-18" r="-18"/>
            <a:stretch/>
          </p:blipFill>
          <p:spPr>
            <a:xfrm>
              <a:off x="7559618" y="4481892"/>
              <a:ext cx="4115366" cy="492509"/>
            </a:xfrm>
            <a:prstGeom prst="rect">
              <a:avLst/>
            </a:prstGeom>
          </p:spPr>
        </p:pic>
        <p:sp>
          <p:nvSpPr>
            <p:cNvPr id="109" name="Text 47">
              <a:extLst>
                <a:ext uri="{FF2B5EF4-FFF2-40B4-BE49-F238E27FC236}">
                  <a16:creationId xmlns:a16="http://schemas.microsoft.com/office/drawing/2014/main" id="{BE165BD0-FBFD-F1C7-E3C1-941B057F5C73}"/>
                </a:ext>
              </a:extLst>
            </p:cNvPr>
            <p:cNvSpPr txBox="1"/>
            <p:nvPr/>
          </p:nvSpPr>
          <p:spPr>
            <a:xfrm>
              <a:off x="8089728" y="4500163"/>
              <a:ext cx="2696204" cy="493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 User </a:t>
              </a:r>
              <a:r>
                <a:rPr lang="en-US" sz="2400" b="1" dirty="0">
                  <a:solidFill>
                    <a:srgbClr val="9CA3A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"Yamada"</a:t>
              </a:r>
              <a:endParaRPr lang="en-US" sz="2800" dirty="0"/>
            </a:p>
          </p:txBody>
        </p:sp>
        <p:pic>
          <p:nvPicPr>
            <p:cNvPr id="114" name="Image 18" descr="preencoded.png">
              <a:extLst>
                <a:ext uri="{FF2B5EF4-FFF2-40B4-BE49-F238E27FC236}">
                  <a16:creationId xmlns:a16="http://schemas.microsoft.com/office/drawing/2014/main" id="{24C6D7DF-A4ED-206B-28B8-D7DB0BEC4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t="-1100" b="-1100"/>
            <a:stretch/>
          </p:blipFill>
          <p:spPr>
            <a:xfrm>
              <a:off x="7700882" y="4555916"/>
              <a:ext cx="327393" cy="382394"/>
            </a:xfrm>
            <a:prstGeom prst="rect">
              <a:avLst/>
            </a:prstGeom>
          </p:spPr>
        </p:pic>
      </p:grpSp>
      <p:pic>
        <p:nvPicPr>
          <p:cNvPr id="118" name="図 117" descr="The image depicts a child sitting at a desk with a book open, a pencil in hand, and a slightly distressed facial expression.&#10;&#10;AI 生成コンテンツは誤りを含む可能性があります。">
            <a:extLst>
              <a:ext uri="{FF2B5EF4-FFF2-40B4-BE49-F238E27FC236}">
                <a16:creationId xmlns:a16="http://schemas.microsoft.com/office/drawing/2014/main" id="{AF7252F9-567F-F18E-B5C6-2EEC244DD2D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40770" y="5029781"/>
            <a:ext cx="1732470" cy="1732470"/>
          </a:xfrm>
          <a:prstGeom prst="rect">
            <a:avLst/>
          </a:prstGeom>
        </p:spPr>
      </p:pic>
      <p:pic>
        <p:nvPicPr>
          <p:cNvPr id="120" name="図 119" descr="A young person in a red sweater is seated at a desk, holding a small box with white chess pieces.&#10;&#10;AI 生成コンテンツは誤りを含む可能性があります。">
            <a:extLst>
              <a:ext uri="{FF2B5EF4-FFF2-40B4-BE49-F238E27FC236}">
                <a16:creationId xmlns:a16="http://schemas.microsoft.com/office/drawing/2014/main" id="{09B1CEF6-D571-45D3-3B54-5FAC68623E6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51748" y="4894582"/>
            <a:ext cx="1071550" cy="1800924"/>
          </a:xfrm>
          <a:prstGeom prst="rect">
            <a:avLst/>
          </a:prstGeom>
        </p:spPr>
      </p:pic>
      <p:sp>
        <p:nvSpPr>
          <p:cNvPr id="121" name="Text 41">
            <a:extLst>
              <a:ext uri="{FF2B5EF4-FFF2-40B4-BE49-F238E27FC236}">
                <a16:creationId xmlns:a16="http://schemas.microsoft.com/office/drawing/2014/main" id="{3C9AB264-0080-F1D6-E91E-70121D2A5146}"/>
              </a:ext>
            </a:extLst>
          </p:cNvPr>
          <p:cNvSpPr txBox="1"/>
          <p:nvPr/>
        </p:nvSpPr>
        <p:spPr>
          <a:xfrm>
            <a:off x="4594704" y="5535693"/>
            <a:ext cx="2676491" cy="83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chemeClr val="bg1"/>
                </a:solidFill>
                <a:effectLst>
                  <a:glow rad="152400">
                    <a:srgbClr val="0000CC">
                      <a:alpha val="81000"/>
                    </a:srgbClr>
                  </a:glow>
                </a:effectLst>
              </a:rPr>
              <a:t>Title</a:t>
            </a:r>
            <a:r>
              <a:rPr lang="ja-JP" altLang="en-US" sz="2000" b="1">
                <a:solidFill>
                  <a:schemeClr val="bg1"/>
                </a:solidFill>
                <a:effectLst>
                  <a:glow rad="152400">
                    <a:srgbClr val="0000CC">
                      <a:alpha val="81000"/>
                    </a:srgbClr>
                  </a:glow>
                </a:effectLst>
              </a:rPr>
              <a:t>シール</a:t>
            </a:r>
            <a:endParaRPr lang="en-US" altLang="ja-JP" sz="2000" b="1">
              <a:solidFill>
                <a:schemeClr val="bg1"/>
              </a:solidFill>
              <a:effectLst>
                <a:glow rad="152400">
                  <a:srgbClr val="0000CC">
                    <a:alpha val="81000"/>
                  </a:srgbClr>
                </a:glow>
              </a:effectLst>
            </a:endParaRPr>
          </a:p>
          <a:p>
            <a:pPr marL="0" indent="0" algn="l">
              <a:buNone/>
            </a:pPr>
            <a:r>
              <a:rPr lang="en-US" altLang="ja-JP" sz="2000" b="1">
                <a:solidFill>
                  <a:schemeClr val="bg1"/>
                </a:solidFill>
                <a:effectLst>
                  <a:glow rad="152400">
                    <a:srgbClr val="0000CC">
                      <a:alpha val="81000"/>
                    </a:srgbClr>
                  </a:glow>
                </a:effectLst>
              </a:rPr>
              <a:t>User</a:t>
            </a:r>
            <a:r>
              <a:rPr lang="ja-JP" altLang="en-US" sz="2000" b="1">
                <a:solidFill>
                  <a:schemeClr val="bg1"/>
                </a:solidFill>
                <a:effectLst>
                  <a:glow rad="152400">
                    <a:srgbClr val="0000CC">
                      <a:alpha val="81000"/>
                    </a:srgbClr>
                  </a:glow>
                </a:effectLst>
              </a:rPr>
              <a:t>シール</a:t>
            </a:r>
            <a:endParaRPr lang="en-US" altLang="ja-JP" sz="2000" b="1">
              <a:solidFill>
                <a:schemeClr val="bg1"/>
              </a:solidFill>
              <a:effectLst>
                <a:glow rad="152400">
                  <a:srgbClr val="0000CC">
                    <a:alpha val="81000"/>
                  </a:srgbClr>
                </a:glow>
              </a:effectLst>
            </a:endParaRPr>
          </a:p>
          <a:p>
            <a:pPr marL="0" indent="0" algn="l">
              <a:buNone/>
            </a:pPr>
            <a:r>
              <a:rPr lang="en-US" altLang="ja-JP" sz="2000" b="1">
                <a:solidFill>
                  <a:schemeClr val="bg1"/>
                </a:solidFill>
                <a:effectLst>
                  <a:glow rad="152400">
                    <a:srgbClr val="0000CC">
                      <a:alpha val="81000"/>
                    </a:srgbClr>
                  </a:glow>
                </a:effectLst>
              </a:rPr>
              <a:t>ID</a:t>
            </a:r>
            <a:r>
              <a:rPr lang="ja-JP" altLang="en-US" sz="2000" b="1">
                <a:solidFill>
                  <a:schemeClr val="bg1"/>
                </a:solidFill>
                <a:effectLst>
                  <a:glow rad="152400">
                    <a:srgbClr val="0000CC">
                      <a:alpha val="81000"/>
                    </a:srgbClr>
                  </a:glow>
                </a:effectLst>
              </a:rPr>
              <a:t>シール　・・・</a:t>
            </a:r>
            <a:endParaRPr lang="en-US" sz="2000" b="1" dirty="0">
              <a:solidFill>
                <a:schemeClr val="bg1"/>
              </a:solidFill>
              <a:effectLst>
                <a:glow rad="152400">
                  <a:srgbClr val="0000CC">
                    <a:alpha val="81000"/>
                  </a:srgbClr>
                </a:glow>
              </a:effectLst>
            </a:endParaRPr>
          </a:p>
        </p:txBody>
      </p:sp>
      <p:pic>
        <p:nvPicPr>
          <p:cNvPr id="123" name="図 122" descr="The image depicts a person wearing an orange shirt sitting at a table with an assortment of colorful, decorated cakes and cookies.&#10;&#10;AI 生成コンテンツは誤りを含む可能性があります。">
            <a:extLst>
              <a:ext uri="{FF2B5EF4-FFF2-40B4-BE49-F238E27FC236}">
                <a16:creationId xmlns:a16="http://schemas.microsoft.com/office/drawing/2014/main" id="{338C5A99-BAF4-8890-C81C-28E5492C9B0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74447" y="4530378"/>
            <a:ext cx="1984094" cy="1984094"/>
          </a:xfrm>
          <a:prstGeom prst="rect">
            <a:avLst/>
          </a:prstGeom>
        </p:spPr>
      </p:pic>
      <p:sp>
        <p:nvSpPr>
          <p:cNvPr id="124" name="Text 41">
            <a:extLst>
              <a:ext uri="{FF2B5EF4-FFF2-40B4-BE49-F238E27FC236}">
                <a16:creationId xmlns:a16="http://schemas.microsoft.com/office/drawing/2014/main" id="{2581DE4E-A1D8-62ED-7658-1B832467FB52}"/>
              </a:ext>
            </a:extLst>
          </p:cNvPr>
          <p:cNvSpPr txBox="1"/>
          <p:nvPr/>
        </p:nvSpPr>
        <p:spPr>
          <a:xfrm rot="21183969">
            <a:off x="7984572" y="5441608"/>
            <a:ext cx="2676491" cy="83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52400">
                    <a:srgbClr val="003366"/>
                  </a:glow>
                </a:effectLst>
              </a:rPr>
              <a:t>各シールができたから</a:t>
            </a:r>
            <a:endParaRPr lang="en-US" altLang="ja-JP" sz="2000" b="1">
              <a:solidFill>
                <a:schemeClr val="bg1"/>
              </a:solidFill>
              <a:effectLst>
                <a:glow rad="152400">
                  <a:srgbClr val="003366"/>
                </a:glow>
              </a:effectLst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52400">
                    <a:srgbClr val="003366"/>
                  </a:glow>
                </a:effectLst>
              </a:rPr>
              <a:t>動的コンテンツで</a:t>
            </a:r>
            <a:endParaRPr lang="en-US" altLang="ja-JP" sz="2000" b="1">
              <a:solidFill>
                <a:schemeClr val="bg1"/>
              </a:solidFill>
              <a:effectLst>
                <a:glow rad="152400">
                  <a:srgbClr val="003366"/>
                </a:glow>
              </a:effectLst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52400">
                    <a:srgbClr val="003366"/>
                  </a:glow>
                </a:effectLst>
              </a:rPr>
              <a:t>使える！</a:t>
            </a:r>
            <a:endParaRPr lang="en-US" sz="2000" b="1" dirty="0">
              <a:solidFill>
                <a:schemeClr val="bg1"/>
              </a:solidFill>
              <a:effectLst>
                <a:glow rad="152400">
                  <a:srgbClr val="003366"/>
                </a:glow>
              </a:effectLst>
            </a:endParaRPr>
          </a:p>
        </p:txBody>
      </p:sp>
      <p:pic>
        <p:nvPicPr>
          <p:cNvPr id="126" name="図 125">
            <a:extLst>
              <a:ext uri="{FF2B5EF4-FFF2-40B4-BE49-F238E27FC236}">
                <a16:creationId xmlns:a16="http://schemas.microsoft.com/office/drawing/2014/main" id="{7AC2313C-DAF9-136B-7B32-9E89D281923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9091" b="96970" l="7895" r="89474">
                        <a14:foregroundMark x1="39474" y1="86364" x2="71053" y2="84848"/>
                        <a14:foregroundMark x1="47368" y1="96970" x2="47368" y2="96970"/>
                        <a14:backgroundMark x1="10526" y1="27273" x2="10526" y2="27273"/>
                        <a14:backgroundMark x1="10526" y1="74242" x2="10526" y2="742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15712" y="3682573"/>
            <a:ext cx="680053" cy="118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797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CECC3-56F1-B427-F3F7-9C0760763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39">
            <a:extLst>
              <a:ext uri="{FF2B5EF4-FFF2-40B4-BE49-F238E27FC236}">
                <a16:creationId xmlns:a16="http://schemas.microsoft.com/office/drawing/2014/main" id="{4C849198-5B4A-4E6F-5B5C-9743DB3F646C}"/>
              </a:ext>
            </a:extLst>
          </p:cNvPr>
          <p:cNvSpPr/>
          <p:nvPr/>
        </p:nvSpPr>
        <p:spPr>
          <a:xfrm>
            <a:off x="4281560" y="2136908"/>
            <a:ext cx="7752616" cy="4572636"/>
          </a:xfrm>
          <a:prstGeom prst="roundRect">
            <a:avLst>
              <a:gd name="adj" fmla="val 7653"/>
            </a:avLst>
          </a:prstGeom>
          <a:solidFill>
            <a:srgbClr val="EFF6FF"/>
          </a:solidFill>
          <a:ln w="47625">
            <a:solidFill>
              <a:srgbClr val="0000CC"/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CA4613E-0A70-35A3-2C8D-AE382BD2419B}"/>
              </a:ext>
            </a:extLst>
          </p:cNvPr>
          <p:cNvSpPr/>
          <p:nvPr/>
        </p:nvSpPr>
        <p:spPr>
          <a:xfrm>
            <a:off x="-14913" y="-69952"/>
            <a:ext cx="12191695" cy="76169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A6B785A2-FAE1-1A8D-FD99-1461160CE4E8}"/>
              </a:ext>
            </a:extLst>
          </p:cNvPr>
          <p:cNvSpPr/>
          <p:nvPr/>
        </p:nvSpPr>
        <p:spPr>
          <a:xfrm>
            <a:off x="188332" y="78173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35C61D1-8FA4-0CE2-D200-00C1E87019EA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Vol.20</a:t>
            </a:r>
            <a:endParaRPr lang="en-US" sz="3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5F8665A-03A5-3BD7-7690-B613431E6526}"/>
              </a:ext>
            </a:extLst>
          </p:cNvPr>
          <p:cNvSpPr txBox="1"/>
          <p:nvPr/>
        </p:nvSpPr>
        <p:spPr>
          <a:xfrm>
            <a:off x="1926963" y="154814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 :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フィルターアレイ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】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アクション</a:t>
            </a:r>
            <a:endParaRPr lang="en-US" sz="32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F16D2047-3B2D-378A-6C4E-EB5D8890EB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2978" y="838683"/>
            <a:ext cx="11430000" cy="914400"/>
          </a:xfrm>
          <a:prstGeom prst="rect">
            <a:avLst/>
          </a:prstGeom>
        </p:spPr>
      </p:pic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2867687F-25F4-E16D-E1C4-B0EA45FA14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1" b="-31"/>
          <a:stretch/>
        </p:blipFill>
        <p:spPr>
          <a:xfrm>
            <a:off x="541578" y="1048995"/>
            <a:ext cx="342900" cy="495605"/>
          </a:xfrm>
          <a:prstGeom prst="rect">
            <a:avLst/>
          </a:prstGeom>
        </p:spPr>
      </p:pic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611A0694-BB31-9119-CF3B-9BBF1FCF25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6423" b="-16423"/>
          <a:stretch/>
        </p:blipFill>
        <p:spPr>
          <a:xfrm>
            <a:off x="626617" y="1134034"/>
            <a:ext cx="171907" cy="304495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08831271-7661-4B7D-89D7-675446D3D22F}"/>
              </a:ext>
            </a:extLst>
          </p:cNvPr>
          <p:cNvSpPr txBox="1"/>
          <p:nvPr/>
        </p:nvSpPr>
        <p:spPr>
          <a:xfrm>
            <a:off x="1574790" y="857809"/>
            <a:ext cx="8286632" cy="548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棚の中から</a:t>
            </a:r>
            <a:r>
              <a:rPr lang="en-US" altLang="ja-JP" sz="36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“必要な</a:t>
            </a:r>
            <a:r>
              <a:rPr lang="ja-JP" altLang="en-US" sz="36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箱</a:t>
            </a:r>
            <a:r>
              <a:rPr lang="en-US" altLang="ja-JP" sz="36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だけ”</a:t>
            </a:r>
            <a:r>
              <a:rPr lang="en-US" altLang="ja-JP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残す</a:t>
            </a:r>
            <a:endParaRPr lang="en-US" sz="3600" dirty="0"/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79EE3A9D-7F98-FEFD-F9FA-153441DF5A89}"/>
              </a:ext>
            </a:extLst>
          </p:cNvPr>
          <p:cNvSpPr txBox="1"/>
          <p:nvPr/>
        </p:nvSpPr>
        <p:spPr>
          <a:xfrm>
            <a:off x="11367821" y="6514472"/>
            <a:ext cx="676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#PA45</a:t>
            </a:r>
            <a:endParaRPr lang="en-US" sz="1300" dirty="0"/>
          </a:p>
        </p:txBody>
      </p:sp>
      <p:pic>
        <p:nvPicPr>
          <p:cNvPr id="62" name="Image 26" descr="preencoded.png">
            <a:extLst>
              <a:ext uri="{FF2B5EF4-FFF2-40B4-BE49-F238E27FC236}">
                <a16:creationId xmlns:a16="http://schemas.microsoft.com/office/drawing/2014/main" id="{8040D96D-D561-3A53-3BC8-A6A80CADE54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53747" y="2316713"/>
            <a:ext cx="1943671" cy="1144334"/>
          </a:xfrm>
          <a:prstGeom prst="rect">
            <a:avLst/>
          </a:prstGeom>
        </p:spPr>
      </p:pic>
      <p:sp>
        <p:nvSpPr>
          <p:cNvPr id="94" name="Text 6">
            <a:extLst>
              <a:ext uri="{FF2B5EF4-FFF2-40B4-BE49-F238E27FC236}">
                <a16:creationId xmlns:a16="http://schemas.microsoft.com/office/drawing/2014/main" id="{C92DF890-2CB4-59C8-702E-F870FB80BD39}"/>
              </a:ext>
            </a:extLst>
          </p:cNvPr>
          <p:cNvSpPr txBox="1"/>
          <p:nvPr/>
        </p:nvSpPr>
        <p:spPr>
          <a:xfrm>
            <a:off x="666598" y="2708659"/>
            <a:ext cx="2509184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400" dirty="0">
              <a:solidFill>
                <a:schemeClr val="bg1"/>
              </a:solidFill>
              <a:effectLst>
                <a:glow rad="63500">
                  <a:srgbClr val="0000CC"/>
                </a:glow>
              </a:effectLst>
            </a:endParaRPr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D8461E8E-3530-8114-D681-1A336A54BA8F}"/>
              </a:ext>
            </a:extLst>
          </p:cNvPr>
          <p:cNvSpPr/>
          <p:nvPr/>
        </p:nvSpPr>
        <p:spPr>
          <a:xfrm>
            <a:off x="44269" y="-50800"/>
            <a:ext cx="12103265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8628A807-4F44-3D73-43C7-00573376F494}"/>
              </a:ext>
            </a:extLst>
          </p:cNvPr>
          <p:cNvSpPr/>
          <p:nvPr/>
        </p:nvSpPr>
        <p:spPr>
          <a:xfrm>
            <a:off x="249515" y="831975"/>
            <a:ext cx="193903" cy="992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E632BDE7-0555-DE25-E716-93BBA39267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131" y="657572"/>
            <a:ext cx="1241251" cy="1241251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F5191D1-954A-3348-8536-A0615550AE29}"/>
              </a:ext>
            </a:extLst>
          </p:cNvPr>
          <p:cNvSpPr/>
          <p:nvPr/>
        </p:nvSpPr>
        <p:spPr>
          <a:xfrm>
            <a:off x="157824" y="2101170"/>
            <a:ext cx="3964621" cy="4572636"/>
          </a:xfrm>
          <a:prstGeom prst="roundRect">
            <a:avLst>
              <a:gd name="adj" fmla="val 6758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EDF9F3B4-983E-F2BC-435C-F1AEC8B1E34C}"/>
              </a:ext>
            </a:extLst>
          </p:cNvPr>
          <p:cNvSpPr/>
          <p:nvPr/>
        </p:nvSpPr>
        <p:spPr>
          <a:xfrm>
            <a:off x="329282" y="1869623"/>
            <a:ext cx="3619573" cy="513892"/>
          </a:xfrm>
          <a:prstGeom prst="roundRect">
            <a:avLst>
              <a:gd name="adj" fmla="val 319489"/>
            </a:avLst>
          </a:prstGeom>
          <a:solidFill>
            <a:srgbClr val="FEF2F2"/>
          </a:solidFill>
          <a:ln w="3492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11B75903-86E3-8E0C-2F8D-5D30DE40AF9A}"/>
              </a:ext>
            </a:extLst>
          </p:cNvPr>
          <p:cNvSpPr txBox="1"/>
          <p:nvPr/>
        </p:nvSpPr>
        <p:spPr>
          <a:xfrm>
            <a:off x="817926" y="1959689"/>
            <a:ext cx="2895457" cy="34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2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よくある悩み</a:t>
            </a:r>
            <a:endParaRPr lang="en-US" altLang="ja-JP" sz="3200" b="1">
              <a:solidFill>
                <a:srgbClr val="DC2626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10B8F624-0C19-C352-1317-6A969E460D41}"/>
              </a:ext>
            </a:extLst>
          </p:cNvPr>
          <p:cNvGrpSpPr/>
          <p:nvPr/>
        </p:nvGrpSpPr>
        <p:grpSpPr>
          <a:xfrm>
            <a:off x="4293078" y="1852629"/>
            <a:ext cx="4865435" cy="538899"/>
            <a:chOff x="3873773" y="1867841"/>
            <a:chExt cx="3246138" cy="520008"/>
          </a:xfrm>
        </p:grpSpPr>
        <p:sp>
          <p:nvSpPr>
            <p:cNvPr id="84" name="Shape 7">
              <a:extLst>
                <a:ext uri="{FF2B5EF4-FFF2-40B4-BE49-F238E27FC236}">
                  <a16:creationId xmlns:a16="http://schemas.microsoft.com/office/drawing/2014/main" id="{B99000EE-46FE-09E4-AC5F-C191B5A68849}"/>
                </a:ext>
              </a:extLst>
            </p:cNvPr>
            <p:cNvSpPr/>
            <p:nvPr/>
          </p:nvSpPr>
          <p:spPr>
            <a:xfrm>
              <a:off x="3873773" y="1873957"/>
              <a:ext cx="3103094" cy="513892"/>
            </a:xfrm>
            <a:prstGeom prst="roundRect">
              <a:avLst>
                <a:gd name="adj" fmla="val 31948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rgbClr val="0000CC"/>
              </a:solidFill>
              <a:prstDash val="solid"/>
            </a:ln>
          </p:spPr>
          <p:txBody>
            <a:bodyPr/>
            <a:lstStyle/>
            <a:p>
              <a:endParaRPr lang="ja-JP" altLang="en-US" sz="4400"/>
            </a:p>
          </p:txBody>
        </p:sp>
        <p:sp>
          <p:nvSpPr>
            <p:cNvPr id="85" name="Text 36">
              <a:extLst>
                <a:ext uri="{FF2B5EF4-FFF2-40B4-BE49-F238E27FC236}">
                  <a16:creationId xmlns:a16="http://schemas.microsoft.com/office/drawing/2014/main" id="{354556F3-48C9-CE94-D257-D559750C5B4D}"/>
                </a:ext>
              </a:extLst>
            </p:cNvPr>
            <p:cNvSpPr txBox="1"/>
            <p:nvPr/>
          </p:nvSpPr>
          <p:spPr>
            <a:xfrm>
              <a:off x="4065751" y="1867841"/>
              <a:ext cx="3054160" cy="5074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ja-JP" altLang="en-US" sz="28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アレイのフィルター処理</a:t>
              </a:r>
              <a:endParaRPr lang="en-US" sz="3200" dirty="0"/>
            </a:p>
          </p:txBody>
        </p:sp>
      </p:grpSp>
      <p:pic>
        <p:nvPicPr>
          <p:cNvPr id="3" name="図 2" descr="The image depicts a locked storage unit with three drawers, suggesting secure storage or compartmentalization.&#10;&#10;AI 生成コンテンツは誤りを含む可能性があります。">
            <a:extLst>
              <a:ext uri="{FF2B5EF4-FFF2-40B4-BE49-F238E27FC236}">
                <a16:creationId xmlns:a16="http://schemas.microsoft.com/office/drawing/2014/main" id="{980C3922-CD2B-B4D9-C4DF-CDB14808370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954"/>
          <a:stretch>
            <a:fillRect/>
          </a:stretch>
        </p:blipFill>
        <p:spPr>
          <a:xfrm>
            <a:off x="10246754" y="626097"/>
            <a:ext cx="842555" cy="12028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 17">
            <a:extLst>
              <a:ext uri="{FF2B5EF4-FFF2-40B4-BE49-F238E27FC236}">
                <a16:creationId xmlns:a16="http://schemas.microsoft.com/office/drawing/2014/main" id="{365C4745-9C8D-20B7-393E-3016E99A8490}"/>
              </a:ext>
            </a:extLst>
          </p:cNvPr>
          <p:cNvSpPr txBox="1"/>
          <p:nvPr/>
        </p:nvSpPr>
        <p:spPr>
          <a:xfrm>
            <a:off x="11100804" y="824276"/>
            <a:ext cx="1046730" cy="102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dirty="0">
                <a:solidFill>
                  <a:srgbClr val="F1F5F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📦</a:t>
            </a:r>
            <a:endParaRPr lang="en-US" sz="66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4BAE3774-4536-029E-5219-85E31A20769F}"/>
              </a:ext>
            </a:extLst>
          </p:cNvPr>
          <p:cNvSpPr txBox="1"/>
          <p:nvPr/>
        </p:nvSpPr>
        <p:spPr>
          <a:xfrm>
            <a:off x="1340041" y="1458235"/>
            <a:ext cx="9230402" cy="286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「条件」に合うデータだけをスパッと抜き出す魔法のアクション </a:t>
            </a:r>
            <a:endParaRPr lang="en-US" sz="2400" b="1" dirty="0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6A60E349-4D20-52B8-93C5-8C4BF82C4CC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1183258" y="1403634"/>
            <a:ext cx="328995" cy="363994"/>
          </a:xfrm>
          <a:prstGeom prst="rect">
            <a:avLst/>
          </a:prstGeom>
        </p:spPr>
      </p:pic>
      <p:pic>
        <p:nvPicPr>
          <p:cNvPr id="19" name="Image 5" descr="preencoded.png">
            <a:extLst>
              <a:ext uri="{FF2B5EF4-FFF2-40B4-BE49-F238E27FC236}">
                <a16:creationId xmlns:a16="http://schemas.microsoft.com/office/drawing/2014/main" id="{61DED345-D0C5-5279-B264-726E7A20792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3" r="-13"/>
          <a:stretch/>
        </p:blipFill>
        <p:spPr>
          <a:xfrm>
            <a:off x="560707" y="2577827"/>
            <a:ext cx="2837329" cy="1025867"/>
          </a:xfrm>
          <a:prstGeom prst="rect">
            <a:avLst/>
          </a:prstGeom>
          <a:ln>
            <a:solidFill>
              <a:srgbClr val="FFFFFF"/>
            </a:solidFill>
          </a:ln>
        </p:spPr>
      </p:pic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E4F23BCD-33CB-BB69-916E-5C52370F5FCD}"/>
              </a:ext>
            </a:extLst>
          </p:cNvPr>
          <p:cNvGrpSpPr/>
          <p:nvPr/>
        </p:nvGrpSpPr>
        <p:grpSpPr>
          <a:xfrm>
            <a:off x="205822" y="2645726"/>
            <a:ext cx="3826625" cy="995915"/>
            <a:chOff x="443418" y="2660215"/>
            <a:chExt cx="3092254" cy="995915"/>
          </a:xfrm>
        </p:grpSpPr>
        <p:sp>
          <p:nvSpPr>
            <p:cNvPr id="24" name="Text 8">
              <a:extLst>
                <a:ext uri="{FF2B5EF4-FFF2-40B4-BE49-F238E27FC236}">
                  <a16:creationId xmlns:a16="http://schemas.microsoft.com/office/drawing/2014/main" id="{800E822D-1148-2CD2-B1FB-3294B0DA2EBD}"/>
                </a:ext>
              </a:extLst>
            </p:cNvPr>
            <p:cNvSpPr txBox="1"/>
            <p:nvPr/>
          </p:nvSpPr>
          <p:spPr>
            <a:xfrm>
              <a:off x="626788" y="2751877"/>
              <a:ext cx="2760092" cy="257391"/>
            </a:xfrm>
            <a:prstGeom prst="rect">
              <a:avLst/>
            </a:prstGeom>
            <a:noFill/>
            <a:ln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😩 データが多すぎる…</a:t>
              </a:r>
              <a:endParaRPr lang="en-US" sz="2400" dirty="0"/>
            </a:p>
          </p:txBody>
        </p:sp>
        <p:sp>
          <p:nvSpPr>
            <p:cNvPr id="33" name="Text 9">
              <a:extLst>
                <a:ext uri="{FF2B5EF4-FFF2-40B4-BE49-F238E27FC236}">
                  <a16:creationId xmlns:a16="http://schemas.microsoft.com/office/drawing/2014/main" id="{B891A5CC-F918-25A0-4A5E-76982F2AD815}"/>
                </a:ext>
              </a:extLst>
            </p:cNvPr>
            <p:cNvSpPr txBox="1"/>
            <p:nvPr/>
          </p:nvSpPr>
          <p:spPr>
            <a:xfrm>
              <a:off x="626788" y="3120029"/>
              <a:ext cx="2651052" cy="411333"/>
            </a:xfrm>
            <a:prstGeom prst="rect">
              <a:avLst/>
            </a:prstGeom>
            <a:noFill/>
            <a:ln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全部ループすると</a:t>
              </a:r>
            </a:p>
            <a:p>
              <a:pPr marL="0" indent="0" algn="l">
                <a:buNone/>
              </a:pPr>
              <a:r>
                <a:rPr lang="en-US" sz="1600" b="1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時間がかかるしエラーの元</a:t>
              </a:r>
              <a:r>
                <a:rPr lang="en-US" sz="16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600" b="1" dirty="0"/>
            </a:p>
          </p:txBody>
        </p:sp>
        <p:sp>
          <p:nvSpPr>
            <p:cNvPr id="34" name="四角形: 角を丸くする 33">
              <a:extLst>
                <a:ext uri="{FF2B5EF4-FFF2-40B4-BE49-F238E27FC236}">
                  <a16:creationId xmlns:a16="http://schemas.microsoft.com/office/drawing/2014/main" id="{51F483B4-9C1A-B8DA-ECC0-A654CD7D8F9F}"/>
                </a:ext>
              </a:extLst>
            </p:cNvPr>
            <p:cNvSpPr/>
            <p:nvPr/>
          </p:nvSpPr>
          <p:spPr>
            <a:xfrm>
              <a:off x="443418" y="2660215"/>
              <a:ext cx="3092254" cy="995915"/>
            </a:xfrm>
            <a:prstGeom prst="roundRect">
              <a:avLst>
                <a:gd name="adj" fmla="val 4234"/>
              </a:avLst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673B7A5D-6347-C276-4383-17C51A528ACC}"/>
              </a:ext>
            </a:extLst>
          </p:cNvPr>
          <p:cNvGrpSpPr/>
          <p:nvPr/>
        </p:nvGrpSpPr>
        <p:grpSpPr>
          <a:xfrm>
            <a:off x="185564" y="3824335"/>
            <a:ext cx="3541918" cy="995915"/>
            <a:chOff x="443418" y="2660215"/>
            <a:chExt cx="3092254" cy="995915"/>
          </a:xfrm>
        </p:grpSpPr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DE5DB5FE-C7B4-A51F-DE28-DF0829C0E93F}"/>
                </a:ext>
              </a:extLst>
            </p:cNvPr>
            <p:cNvSpPr txBox="1"/>
            <p:nvPr/>
          </p:nvSpPr>
          <p:spPr>
            <a:xfrm>
              <a:off x="626788" y="2751877"/>
              <a:ext cx="2760092" cy="257391"/>
            </a:xfrm>
            <a:prstGeom prst="rect">
              <a:avLst/>
            </a:prstGeom>
            <a:noFill/>
            <a:ln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😩 </a:t>
              </a:r>
              <a:r>
                <a:rPr lang="ja-JP" altLang="en-US" sz="2400" b="1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条件分岐が面倒</a:t>
              </a:r>
              <a:r>
                <a:rPr lang="en-US" sz="2400" b="1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…</a:t>
              </a:r>
              <a:endParaRPr lang="en-US" sz="2400" dirty="0"/>
            </a:p>
          </p:txBody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1A2B2B62-6AAB-33BB-4575-D5DB27358AD8}"/>
                </a:ext>
              </a:extLst>
            </p:cNvPr>
            <p:cNvSpPr txBox="1"/>
            <p:nvPr/>
          </p:nvSpPr>
          <p:spPr>
            <a:xfrm>
              <a:off x="626788" y="3120029"/>
              <a:ext cx="2651052" cy="411333"/>
            </a:xfrm>
            <a:prstGeom prst="rect">
              <a:avLst/>
            </a:prstGeom>
            <a:noFill/>
            <a:ln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ja-JP" altLang="en-US" sz="16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「もし～なら」を</a:t>
              </a:r>
              <a:endParaRPr lang="en-US" altLang="ja-JP" sz="16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marL="0" indent="0" algn="l">
                <a:buNone/>
              </a:pPr>
              <a:r>
                <a:rPr lang="ja-JP" altLang="en-US" sz="16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何個も書きたくない</a:t>
              </a:r>
              <a:endPara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sp>
          <p:nvSpPr>
            <p:cNvPr id="41" name="四角形: 角を丸くする 40">
              <a:extLst>
                <a:ext uri="{FF2B5EF4-FFF2-40B4-BE49-F238E27FC236}">
                  <a16:creationId xmlns:a16="http://schemas.microsoft.com/office/drawing/2014/main" id="{5457C6DC-A03F-CDBD-8364-EEC9DC0D2332}"/>
                </a:ext>
              </a:extLst>
            </p:cNvPr>
            <p:cNvSpPr/>
            <p:nvPr/>
          </p:nvSpPr>
          <p:spPr>
            <a:xfrm>
              <a:off x="443418" y="2660215"/>
              <a:ext cx="3092254" cy="995915"/>
            </a:xfrm>
            <a:prstGeom prst="roundRect">
              <a:avLst>
                <a:gd name="adj" fmla="val 4234"/>
              </a:avLst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BE378693-025E-C64B-D849-B0462C9F2D71}"/>
              </a:ext>
            </a:extLst>
          </p:cNvPr>
          <p:cNvGrpSpPr/>
          <p:nvPr/>
        </p:nvGrpSpPr>
        <p:grpSpPr>
          <a:xfrm>
            <a:off x="883496" y="5014146"/>
            <a:ext cx="2286000" cy="780898"/>
            <a:chOff x="666598" y="3638398"/>
            <a:chExt cx="2286000" cy="780898"/>
          </a:xfrm>
        </p:grpSpPr>
        <p:sp>
          <p:nvSpPr>
            <p:cNvPr id="43" name="Shape 12">
              <a:extLst>
                <a:ext uri="{FF2B5EF4-FFF2-40B4-BE49-F238E27FC236}">
                  <a16:creationId xmlns:a16="http://schemas.microsoft.com/office/drawing/2014/main" id="{6AB7CCFF-05AD-65D2-9580-926EE4B2261E}"/>
                </a:ext>
              </a:extLst>
            </p:cNvPr>
            <p:cNvSpPr/>
            <p:nvPr/>
          </p:nvSpPr>
          <p:spPr>
            <a:xfrm>
              <a:off x="666598" y="3638398"/>
              <a:ext cx="2286000" cy="780898"/>
            </a:xfrm>
            <a:prstGeom prst="roundRect">
              <a:avLst>
                <a:gd name="adj" fmla="val 16505"/>
              </a:avLst>
            </a:prstGeom>
            <a:solidFill>
              <a:srgbClr val="F3F4F6"/>
            </a:solidFill>
            <a:ln w="31750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txBody>
            <a:bodyPr/>
            <a:lstStyle/>
            <a:p>
              <a:endParaRPr lang="ja-JP" altLang="en-US" sz="3200"/>
            </a:p>
          </p:txBody>
        </p:sp>
        <p:sp>
          <p:nvSpPr>
            <p:cNvPr id="44" name="Text 13">
              <a:extLst>
                <a:ext uri="{FF2B5EF4-FFF2-40B4-BE49-F238E27FC236}">
                  <a16:creationId xmlns:a16="http://schemas.microsoft.com/office/drawing/2014/main" id="{54851A83-DFDE-FCEC-381C-575136F899D9}"/>
                </a:ext>
              </a:extLst>
            </p:cNvPr>
            <p:cNvSpPr txBox="1"/>
            <p:nvPr/>
          </p:nvSpPr>
          <p:spPr>
            <a:xfrm>
              <a:off x="708660" y="3762756"/>
              <a:ext cx="220187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混ざったデータ(配列</a:t>
              </a:r>
              <a:r>
                <a:rPr lang="en-US" sz="14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)</a:t>
              </a:r>
              <a:endParaRPr lang="en-US" sz="900" dirty="0"/>
            </a:p>
          </p:txBody>
        </p:sp>
        <p:sp>
          <p:nvSpPr>
            <p:cNvPr id="45" name="Shape 14">
              <a:extLst>
                <a:ext uri="{FF2B5EF4-FFF2-40B4-BE49-F238E27FC236}">
                  <a16:creationId xmlns:a16="http://schemas.microsoft.com/office/drawing/2014/main" id="{A0574662-A8E4-C403-F698-F3D6B8D2FFAF}"/>
                </a:ext>
              </a:extLst>
            </p:cNvPr>
            <p:cNvSpPr/>
            <p:nvPr/>
          </p:nvSpPr>
          <p:spPr>
            <a:xfrm>
              <a:off x="1142086" y="399135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BFDB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Text 15">
              <a:extLst>
                <a:ext uri="{FF2B5EF4-FFF2-40B4-BE49-F238E27FC236}">
                  <a16:creationId xmlns:a16="http://schemas.microsoft.com/office/drawing/2014/main" id="{92CC6D19-9C5B-8F79-30EB-CB261B925A42}"/>
                </a:ext>
              </a:extLst>
            </p:cNvPr>
            <p:cNvSpPr txBox="1"/>
            <p:nvPr/>
          </p:nvSpPr>
          <p:spPr>
            <a:xfrm>
              <a:off x="1113739" y="3991356"/>
              <a:ext cx="3621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E40A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A</a:t>
              </a:r>
              <a:endParaRPr lang="en-US" sz="1600" dirty="0"/>
            </a:p>
          </p:txBody>
        </p:sp>
        <p:sp>
          <p:nvSpPr>
            <p:cNvPr id="47" name="Shape 16">
              <a:extLst>
                <a:ext uri="{FF2B5EF4-FFF2-40B4-BE49-F238E27FC236}">
                  <a16:creationId xmlns:a16="http://schemas.microsoft.com/office/drawing/2014/main" id="{9407C013-4E97-EF9E-952C-62E9AC3329F4}"/>
                </a:ext>
              </a:extLst>
            </p:cNvPr>
            <p:cNvSpPr/>
            <p:nvPr/>
          </p:nvSpPr>
          <p:spPr>
            <a:xfrm>
              <a:off x="1484986" y="399135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FECAC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8" name="Text 17">
              <a:extLst>
                <a:ext uri="{FF2B5EF4-FFF2-40B4-BE49-F238E27FC236}">
                  <a16:creationId xmlns:a16="http://schemas.microsoft.com/office/drawing/2014/main" id="{7C029863-423B-7D58-2F39-1352AB8A8723}"/>
                </a:ext>
              </a:extLst>
            </p:cNvPr>
            <p:cNvSpPr txBox="1"/>
            <p:nvPr/>
          </p:nvSpPr>
          <p:spPr>
            <a:xfrm>
              <a:off x="1456639" y="3991356"/>
              <a:ext cx="3621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991B1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B</a:t>
              </a:r>
              <a:endParaRPr lang="en-US" sz="1600" dirty="0"/>
            </a:p>
          </p:txBody>
        </p:sp>
        <p:sp>
          <p:nvSpPr>
            <p:cNvPr id="49" name="Shape 18">
              <a:extLst>
                <a:ext uri="{FF2B5EF4-FFF2-40B4-BE49-F238E27FC236}">
                  <a16:creationId xmlns:a16="http://schemas.microsoft.com/office/drawing/2014/main" id="{2FDCF020-823A-0861-7DEA-8812BBEEF9A3}"/>
                </a:ext>
              </a:extLst>
            </p:cNvPr>
            <p:cNvSpPr/>
            <p:nvPr/>
          </p:nvSpPr>
          <p:spPr>
            <a:xfrm>
              <a:off x="1827886" y="399135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BFDB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19">
              <a:extLst>
                <a:ext uri="{FF2B5EF4-FFF2-40B4-BE49-F238E27FC236}">
                  <a16:creationId xmlns:a16="http://schemas.microsoft.com/office/drawing/2014/main" id="{8A245040-74FC-7389-5604-E9AF8D5152A3}"/>
                </a:ext>
              </a:extLst>
            </p:cNvPr>
            <p:cNvSpPr txBox="1"/>
            <p:nvPr/>
          </p:nvSpPr>
          <p:spPr>
            <a:xfrm>
              <a:off x="1799539" y="3991356"/>
              <a:ext cx="3621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E40A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A</a:t>
              </a:r>
              <a:endParaRPr lang="en-US" sz="1600" dirty="0"/>
            </a:p>
          </p:txBody>
        </p:sp>
        <p:sp>
          <p:nvSpPr>
            <p:cNvPr id="51" name="Shape 20">
              <a:extLst>
                <a:ext uri="{FF2B5EF4-FFF2-40B4-BE49-F238E27FC236}">
                  <a16:creationId xmlns:a16="http://schemas.microsoft.com/office/drawing/2014/main" id="{575C6113-D89C-7DE8-C9CB-E863D9366605}"/>
                </a:ext>
              </a:extLst>
            </p:cNvPr>
            <p:cNvSpPr/>
            <p:nvPr/>
          </p:nvSpPr>
          <p:spPr>
            <a:xfrm>
              <a:off x="2170786" y="399135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BBF7D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Text 21">
              <a:extLst>
                <a:ext uri="{FF2B5EF4-FFF2-40B4-BE49-F238E27FC236}">
                  <a16:creationId xmlns:a16="http://schemas.microsoft.com/office/drawing/2014/main" id="{73658964-94B6-7919-F8E3-4692C4489998}"/>
                </a:ext>
              </a:extLst>
            </p:cNvPr>
            <p:cNvSpPr txBox="1"/>
            <p:nvPr/>
          </p:nvSpPr>
          <p:spPr>
            <a:xfrm>
              <a:off x="2142439" y="3991356"/>
              <a:ext cx="3621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6653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C</a:t>
              </a:r>
              <a:endParaRPr lang="en-US" sz="1600" dirty="0"/>
            </a:p>
          </p:txBody>
        </p:sp>
      </p:grpSp>
      <p:pic>
        <p:nvPicPr>
          <p:cNvPr id="53" name="図 52" descr="A blue-clad young boy is depicted with a downcast expression and tears, possibly reflecting sadness or distress.&#10;&#10;AI 生成コンテンツは誤りを含む可能性があります。">
            <a:extLst>
              <a:ext uri="{FF2B5EF4-FFF2-40B4-BE49-F238E27FC236}">
                <a16:creationId xmlns:a16="http://schemas.microsoft.com/office/drawing/2014/main" id="{92E4B6C2-C729-6001-9780-72D42AD82A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2179" y="5226230"/>
            <a:ext cx="1318677" cy="1469276"/>
          </a:xfrm>
          <a:prstGeom prst="rect">
            <a:avLst/>
          </a:prstGeom>
        </p:spPr>
      </p:pic>
      <p:sp>
        <p:nvSpPr>
          <p:cNvPr id="54" name="Text 6">
            <a:extLst>
              <a:ext uri="{FF2B5EF4-FFF2-40B4-BE49-F238E27FC236}">
                <a16:creationId xmlns:a16="http://schemas.microsoft.com/office/drawing/2014/main" id="{0BDC0DC4-2C13-38CE-AB1B-39C76299E7B9}"/>
              </a:ext>
            </a:extLst>
          </p:cNvPr>
          <p:cNvSpPr txBox="1"/>
          <p:nvPr/>
        </p:nvSpPr>
        <p:spPr>
          <a:xfrm>
            <a:off x="229123" y="5870939"/>
            <a:ext cx="3182284" cy="76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条件分岐を</a:t>
            </a:r>
            <a:endParaRPr lang="en-US" altLang="ja-JP" sz="2400" b="1">
              <a:solidFill>
                <a:schemeClr val="bg1"/>
              </a:solidFill>
              <a:effectLst>
                <a:glow rad="114300">
                  <a:srgbClr val="C00000"/>
                </a:glow>
              </a:effectLst>
            </a:endParaRPr>
          </a:p>
          <a:p>
            <a:pPr marL="0" indent="0" algn="l">
              <a:buNone/>
            </a:pPr>
            <a:r>
              <a:rPr lang="ja-JP" altLang="en-US" sz="24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たくさん書きたくない</a:t>
            </a:r>
            <a:endParaRPr lang="en-US" sz="2400" b="1" dirty="0">
              <a:solidFill>
                <a:schemeClr val="bg1"/>
              </a:solidFill>
              <a:effectLst>
                <a:glow rad="114300">
                  <a:srgbClr val="C00000"/>
                </a:glow>
              </a:effectLst>
            </a:endParaRPr>
          </a:p>
        </p:txBody>
      </p:sp>
      <p:pic>
        <p:nvPicPr>
          <p:cNvPr id="56" name="図 55" descr="￥ﾇﾦ￧ﾐﾆ&#10;&#10;AI 生成コンテンツは誤りを含む可能性があります。">
            <a:extLst>
              <a:ext uri="{FF2B5EF4-FFF2-40B4-BE49-F238E27FC236}">
                <a16:creationId xmlns:a16="http://schemas.microsoft.com/office/drawing/2014/main" id="{C3D88324-B75B-04B4-4EC6-0520226AE4F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47312" y="2577640"/>
            <a:ext cx="2853907" cy="671507"/>
          </a:xfrm>
          <a:prstGeom prst="rect">
            <a:avLst/>
          </a:prstGeom>
        </p:spPr>
      </p:pic>
      <p:pic>
        <p:nvPicPr>
          <p:cNvPr id="86" name="図 85" descr="The image depicts a locked storage unit with three drawers, suggesting secure storage or compartmentalization.&#10;&#10;AI 生成コンテンツは誤りを含む可能性があります。">
            <a:extLst>
              <a:ext uri="{FF2B5EF4-FFF2-40B4-BE49-F238E27FC236}">
                <a16:creationId xmlns:a16="http://schemas.microsoft.com/office/drawing/2014/main" id="{DF98FF49-223E-670D-3480-C3CCC04879C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954"/>
          <a:stretch>
            <a:fillRect/>
          </a:stretch>
        </p:blipFill>
        <p:spPr>
          <a:xfrm>
            <a:off x="4513217" y="4792103"/>
            <a:ext cx="842555" cy="1202862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155" name="グループ化 154">
            <a:extLst>
              <a:ext uri="{FF2B5EF4-FFF2-40B4-BE49-F238E27FC236}">
                <a16:creationId xmlns:a16="http://schemas.microsoft.com/office/drawing/2014/main" id="{FBF57F38-B91E-A4DD-0C35-F9C37BF23DDF}"/>
              </a:ext>
            </a:extLst>
          </p:cNvPr>
          <p:cNvGrpSpPr/>
          <p:nvPr/>
        </p:nvGrpSpPr>
        <p:grpSpPr>
          <a:xfrm>
            <a:off x="5698936" y="4651214"/>
            <a:ext cx="2586040" cy="1968332"/>
            <a:chOff x="4381491" y="3582322"/>
            <a:chExt cx="2586040" cy="1968332"/>
          </a:xfrm>
        </p:grpSpPr>
        <p:grpSp>
          <p:nvGrpSpPr>
            <p:cNvPr id="81" name="グループ化 80">
              <a:extLst>
                <a:ext uri="{FF2B5EF4-FFF2-40B4-BE49-F238E27FC236}">
                  <a16:creationId xmlns:a16="http://schemas.microsoft.com/office/drawing/2014/main" id="{3123D920-5A5C-BCC3-29F4-509440926216}"/>
                </a:ext>
              </a:extLst>
            </p:cNvPr>
            <p:cNvGrpSpPr/>
            <p:nvPr/>
          </p:nvGrpSpPr>
          <p:grpSpPr>
            <a:xfrm>
              <a:off x="4381491" y="3582322"/>
              <a:ext cx="2513936" cy="1895551"/>
              <a:chOff x="4381491" y="4099492"/>
              <a:chExt cx="2416570" cy="1895551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F049109D-ABFC-9FA7-F215-4564F20B1A3B}"/>
                  </a:ext>
                </a:extLst>
              </p:cNvPr>
              <p:cNvGrpSpPr/>
              <p:nvPr/>
            </p:nvGrpSpPr>
            <p:grpSpPr>
              <a:xfrm>
                <a:off x="4381491" y="4099492"/>
                <a:ext cx="2416570" cy="1895551"/>
                <a:chOff x="3370480" y="1338097"/>
                <a:chExt cx="2508570" cy="1895551"/>
              </a:xfrm>
            </p:grpSpPr>
            <p:pic>
              <p:nvPicPr>
                <p:cNvPr id="60" name="Image 11" descr="preencoded.png">
                  <a:extLst>
                    <a:ext uri="{FF2B5EF4-FFF2-40B4-BE49-F238E27FC236}">
                      <a16:creationId xmlns:a16="http://schemas.microsoft.com/office/drawing/2014/main" id="{36409266-CB85-1516-F9C6-9CD36D4F65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rcRect t="-7" b="-7"/>
                <a:stretch/>
              </p:blipFill>
              <p:spPr>
                <a:xfrm>
                  <a:off x="3370480" y="1338097"/>
                  <a:ext cx="2502724" cy="1895551"/>
                </a:xfrm>
                <a:prstGeom prst="rect">
                  <a:avLst/>
                </a:prstGeom>
              </p:spPr>
            </p:pic>
            <p:sp>
              <p:nvSpPr>
                <p:cNvPr id="64" name="Text 59">
                  <a:extLst>
                    <a:ext uri="{FF2B5EF4-FFF2-40B4-BE49-F238E27FC236}">
                      <a16:creationId xmlns:a16="http://schemas.microsoft.com/office/drawing/2014/main" id="{84909AF7-6DCB-D3FF-A041-9DE4175B1FBE}"/>
                    </a:ext>
                  </a:extLst>
                </p:cNvPr>
                <p:cNvSpPr txBox="1"/>
                <p:nvPr/>
              </p:nvSpPr>
              <p:spPr>
                <a:xfrm>
                  <a:off x="3776832" y="1350486"/>
                  <a:ext cx="2102218" cy="376641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2000" b="1" dirty="0">
                      <a:solidFill>
                        <a:srgbClr val="4B5563"/>
                      </a:solidFill>
                      <a:latin typeface="Noto Sans JP" pitchFamily="34" charset="0"/>
                      <a:ea typeface="Noto Sans JP" pitchFamily="34" charset="-122"/>
                      <a:cs typeface="Noto Sans JP" pitchFamily="34" charset="-120"/>
                    </a:rPr>
                    <a:t>棚（元の配列）</a:t>
                  </a:r>
                  <a:endParaRPr lang="en-US" sz="2000" dirty="0"/>
                </a:p>
              </p:txBody>
            </p:sp>
            <p:pic>
              <p:nvPicPr>
                <p:cNvPr id="65" name="Image 14" descr="preencoded.png">
                  <a:extLst>
                    <a:ext uri="{FF2B5EF4-FFF2-40B4-BE49-F238E27FC236}">
                      <a16:creationId xmlns:a16="http://schemas.microsoft.com/office/drawing/2014/main" id="{1F31F2C8-DD25-8B06-BFE4-72AC40FCA4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rcRect l="-33" r="-33"/>
                <a:stretch/>
              </p:blipFill>
              <p:spPr>
                <a:xfrm>
                  <a:off x="3376325" y="1362456"/>
                  <a:ext cx="318765" cy="283159"/>
                </a:xfrm>
                <a:prstGeom prst="rect">
                  <a:avLst/>
                </a:prstGeom>
              </p:spPr>
            </p:pic>
            <p:grpSp>
              <p:nvGrpSpPr>
                <p:cNvPr id="66" name="グループ化 65">
                  <a:extLst>
                    <a:ext uri="{FF2B5EF4-FFF2-40B4-BE49-F238E27FC236}">
                      <a16:creationId xmlns:a16="http://schemas.microsoft.com/office/drawing/2014/main" id="{CEF1D6EB-D5A9-B34B-3EE3-4B1248AC8CBE}"/>
                    </a:ext>
                  </a:extLst>
                </p:cNvPr>
                <p:cNvGrpSpPr/>
                <p:nvPr/>
              </p:nvGrpSpPr>
              <p:grpSpPr>
                <a:xfrm>
                  <a:off x="3491490" y="1741641"/>
                  <a:ext cx="1990746" cy="1332213"/>
                  <a:chOff x="3491490" y="1741641"/>
                  <a:chExt cx="1990746" cy="1332213"/>
                </a:xfrm>
              </p:grpSpPr>
              <p:sp>
                <p:nvSpPr>
                  <p:cNvPr id="67" name="Shape 60">
                    <a:extLst>
                      <a:ext uri="{FF2B5EF4-FFF2-40B4-BE49-F238E27FC236}">
                        <a16:creationId xmlns:a16="http://schemas.microsoft.com/office/drawing/2014/main" id="{F52F8F3E-76AC-8050-8FA6-6BBBAFC11E1C}"/>
                      </a:ext>
                    </a:extLst>
                  </p:cNvPr>
                  <p:cNvSpPr/>
                  <p:nvPr/>
                </p:nvSpPr>
                <p:spPr>
                  <a:xfrm>
                    <a:off x="3523183" y="1741641"/>
                    <a:ext cx="1905151" cy="362102"/>
                  </a:xfrm>
                  <a:prstGeom prst="roundRect">
                    <a:avLst>
                      <a:gd name="adj" fmla="val 53163"/>
                    </a:avLst>
                  </a:prstGeom>
                  <a:solidFill>
                    <a:srgbClr val="EFF6FF"/>
                  </a:solidFill>
                  <a:ln w="12700">
                    <a:solidFill>
                      <a:srgbClr val="DBEAFE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ja-JP" altLang="en-US" sz="4400"/>
                  </a:p>
                </p:txBody>
              </p:sp>
              <p:pic>
                <p:nvPicPr>
                  <p:cNvPr id="68" name="Image 12" descr="preencoded.png">
                    <a:extLst>
                      <a:ext uri="{FF2B5EF4-FFF2-40B4-BE49-F238E27FC236}">
                        <a16:creationId xmlns:a16="http://schemas.microsoft.com/office/drawing/2014/main" id="{210FFBD5-56CD-849F-C16A-86B3EAE83B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/>
                  <a:srcRect t="-100" b="-100"/>
                  <a:stretch/>
                </p:blipFill>
                <p:spPr>
                  <a:xfrm>
                    <a:off x="3491490" y="1766056"/>
                    <a:ext cx="231032" cy="308659"/>
                  </a:xfrm>
                  <a:prstGeom prst="rect">
                    <a:avLst/>
                  </a:prstGeom>
                </p:spPr>
              </p:pic>
              <p:sp>
                <p:nvSpPr>
                  <p:cNvPr id="74" name="Text 61">
                    <a:extLst>
                      <a:ext uri="{FF2B5EF4-FFF2-40B4-BE49-F238E27FC236}">
                        <a16:creationId xmlns:a16="http://schemas.microsoft.com/office/drawing/2014/main" id="{D50131C1-D964-2A5D-A7C9-A9C21EDBC005}"/>
                      </a:ext>
                    </a:extLst>
                  </p:cNvPr>
                  <p:cNvSpPr txBox="1"/>
                  <p:nvPr/>
                </p:nvSpPr>
                <p:spPr>
                  <a:xfrm>
                    <a:off x="3799332" y="1748898"/>
                    <a:ext cx="1682904" cy="36210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600" b="1" dirty="0">
                        <a:solidFill>
                          <a:srgbClr val="374151"/>
                        </a:solidFill>
                        <a:latin typeface="Noto Sans JP" pitchFamily="34" charset="0"/>
                        <a:ea typeface="Noto Sans JP" pitchFamily="34" charset="-122"/>
                        <a:cs typeface="Noto Sans JP" pitchFamily="34" charset="-120"/>
                      </a:rPr>
                      <a:t>Title: "会議A"</a:t>
                    </a:r>
                    <a:endParaRPr lang="en-US" sz="1600" dirty="0"/>
                  </a:p>
                </p:txBody>
              </p:sp>
              <p:sp>
                <p:nvSpPr>
                  <p:cNvPr id="75" name="Shape 62">
                    <a:extLst>
                      <a:ext uri="{FF2B5EF4-FFF2-40B4-BE49-F238E27FC236}">
                        <a16:creationId xmlns:a16="http://schemas.microsoft.com/office/drawing/2014/main" id="{73A6F0B5-6E1C-F0C3-713C-44603EDB55EC}"/>
                      </a:ext>
                    </a:extLst>
                  </p:cNvPr>
                  <p:cNvSpPr/>
                  <p:nvPr/>
                </p:nvSpPr>
                <p:spPr>
                  <a:xfrm>
                    <a:off x="3557460" y="2711752"/>
                    <a:ext cx="1870875" cy="362102"/>
                  </a:xfrm>
                  <a:prstGeom prst="roundRect">
                    <a:avLst>
                      <a:gd name="adj" fmla="val 53163"/>
                    </a:avLst>
                  </a:prstGeom>
                  <a:solidFill>
                    <a:srgbClr val="EFF6FF"/>
                  </a:solidFill>
                  <a:ln w="12700">
                    <a:solidFill>
                      <a:srgbClr val="DBEAFE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ja-JP" altLang="en-US" sz="4400"/>
                  </a:p>
                </p:txBody>
              </p:sp>
              <p:pic>
                <p:nvPicPr>
                  <p:cNvPr id="76" name="Image 13" descr="preencoded.png">
                    <a:extLst>
                      <a:ext uri="{FF2B5EF4-FFF2-40B4-BE49-F238E27FC236}">
                        <a16:creationId xmlns:a16="http://schemas.microsoft.com/office/drawing/2014/main" id="{B08FA7A8-DB2B-06EE-7DF7-DAC7133483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/>
                  <a:srcRect t="-100" b="-100"/>
                  <a:stretch/>
                </p:blipFill>
                <p:spPr>
                  <a:xfrm>
                    <a:off x="3491490" y="2730049"/>
                    <a:ext cx="231032" cy="308659"/>
                  </a:xfrm>
                  <a:prstGeom prst="rect">
                    <a:avLst/>
                  </a:prstGeom>
                </p:spPr>
              </p:pic>
              <p:sp>
                <p:nvSpPr>
                  <p:cNvPr id="77" name="Text 63">
                    <a:extLst>
                      <a:ext uri="{FF2B5EF4-FFF2-40B4-BE49-F238E27FC236}">
                        <a16:creationId xmlns:a16="http://schemas.microsoft.com/office/drawing/2014/main" id="{00BFBDA6-EC77-C9AB-38F8-0AB5EBEBE28D}"/>
                      </a:ext>
                    </a:extLst>
                  </p:cNvPr>
                  <p:cNvSpPr txBox="1"/>
                  <p:nvPr/>
                </p:nvSpPr>
                <p:spPr>
                  <a:xfrm>
                    <a:off x="3799332" y="2704720"/>
                    <a:ext cx="1543776" cy="36210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600" b="1" dirty="0">
                        <a:solidFill>
                          <a:srgbClr val="374151"/>
                        </a:solidFill>
                        <a:latin typeface="Noto Sans JP" pitchFamily="34" charset="0"/>
                        <a:ea typeface="Noto Sans JP" pitchFamily="34" charset="-122"/>
                        <a:cs typeface="Noto Sans JP" pitchFamily="34" charset="-120"/>
                      </a:rPr>
                      <a:t>Title: "会議B"</a:t>
                    </a:r>
                    <a:endParaRPr lang="en-US" sz="1600" dirty="0"/>
                  </a:p>
                </p:txBody>
              </p:sp>
              <p:sp>
                <p:nvSpPr>
                  <p:cNvPr id="78" name="Shape 64">
                    <a:extLst>
                      <a:ext uri="{FF2B5EF4-FFF2-40B4-BE49-F238E27FC236}">
                        <a16:creationId xmlns:a16="http://schemas.microsoft.com/office/drawing/2014/main" id="{EF6F1017-C8A0-DA9F-A9A3-210EAEB87497}"/>
                      </a:ext>
                    </a:extLst>
                  </p:cNvPr>
                  <p:cNvSpPr/>
                  <p:nvPr/>
                </p:nvSpPr>
                <p:spPr>
                  <a:xfrm>
                    <a:off x="3523183" y="2215924"/>
                    <a:ext cx="1905151" cy="362102"/>
                  </a:xfrm>
                  <a:prstGeom prst="roundRect">
                    <a:avLst>
                      <a:gd name="adj" fmla="val 53163"/>
                    </a:avLst>
                  </a:prstGeom>
                  <a:solidFill>
                    <a:srgbClr val="FEF2F2">
                      <a:alpha val="60000"/>
                    </a:srgbClr>
                  </a:solidFill>
                  <a:ln w="12700">
                    <a:solidFill>
                      <a:srgbClr val="FEE2E2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ja-JP" altLang="en-US" sz="4400"/>
                  </a:p>
                </p:txBody>
              </p:sp>
              <p:sp>
                <p:nvSpPr>
                  <p:cNvPr id="79" name="Text 65">
                    <a:extLst>
                      <a:ext uri="{FF2B5EF4-FFF2-40B4-BE49-F238E27FC236}">
                        <a16:creationId xmlns:a16="http://schemas.microsoft.com/office/drawing/2014/main" id="{F1761A35-BBBC-79A3-E9FE-1F9397AABA87}"/>
                      </a:ext>
                    </a:extLst>
                  </p:cNvPr>
                  <p:cNvSpPr txBox="1"/>
                  <p:nvPr/>
                </p:nvSpPr>
                <p:spPr>
                  <a:xfrm>
                    <a:off x="3799332" y="2230438"/>
                    <a:ext cx="1454321" cy="36210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600" b="1" dirty="0">
                        <a:solidFill>
                          <a:srgbClr val="6B7280">
                            <a:alpha val="60000"/>
                          </a:srgbClr>
                        </a:solidFill>
                        <a:latin typeface="Noto Sans JP" pitchFamily="34" charset="0"/>
                        <a:ea typeface="Noto Sans JP" pitchFamily="34" charset="-122"/>
                        <a:cs typeface="Noto Sans JP" pitchFamily="34" charset="-120"/>
                      </a:rPr>
                      <a:t>Title: "日報"</a:t>
                    </a:r>
                    <a:endParaRPr lang="en-US" sz="1600" dirty="0"/>
                  </a:p>
                </p:txBody>
              </p:sp>
            </p:grpSp>
          </p:grpSp>
          <p:pic>
            <p:nvPicPr>
              <p:cNvPr id="80" name="Image 15" descr="preencoded.png">
                <a:extLst>
                  <a:ext uri="{FF2B5EF4-FFF2-40B4-BE49-F238E27FC236}">
                    <a16:creationId xmlns:a16="http://schemas.microsoft.com/office/drawing/2014/main" id="{F572D655-8DB4-EFD6-D037-FED80C6A1D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alphaModFix amt="60000"/>
              </a:blip>
              <a:srcRect t="-100" b="-100"/>
              <a:stretch/>
            </p:blipFill>
            <p:spPr>
              <a:xfrm>
                <a:off x="4477468" y="4944937"/>
                <a:ext cx="271034" cy="362102"/>
              </a:xfrm>
              <a:prstGeom prst="rect">
                <a:avLst/>
              </a:prstGeom>
            </p:spPr>
          </p:pic>
        </p:grpSp>
        <p:sp>
          <p:nvSpPr>
            <p:cNvPr id="88" name="Text 17">
              <a:extLst>
                <a:ext uri="{FF2B5EF4-FFF2-40B4-BE49-F238E27FC236}">
                  <a16:creationId xmlns:a16="http://schemas.microsoft.com/office/drawing/2014/main" id="{6BE6441E-FAED-9B32-6D89-79DA017AB8DB}"/>
                </a:ext>
              </a:extLst>
            </p:cNvPr>
            <p:cNvSpPr txBox="1"/>
            <p:nvPr/>
          </p:nvSpPr>
          <p:spPr>
            <a:xfrm>
              <a:off x="6221157" y="3713608"/>
              <a:ext cx="714751" cy="7610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F1F5F9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📦</a:t>
              </a:r>
              <a:endParaRPr lang="en-US" sz="3600" dirty="0"/>
            </a:p>
          </p:txBody>
        </p:sp>
        <p:sp>
          <p:nvSpPr>
            <p:cNvPr id="89" name="Text 17">
              <a:extLst>
                <a:ext uri="{FF2B5EF4-FFF2-40B4-BE49-F238E27FC236}">
                  <a16:creationId xmlns:a16="http://schemas.microsoft.com/office/drawing/2014/main" id="{3BE1A48C-E1EA-9037-5BB9-910D6B33BCE1}"/>
                </a:ext>
              </a:extLst>
            </p:cNvPr>
            <p:cNvSpPr txBox="1"/>
            <p:nvPr/>
          </p:nvSpPr>
          <p:spPr>
            <a:xfrm>
              <a:off x="6249037" y="4249362"/>
              <a:ext cx="714751" cy="7610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F1F5F9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📦</a:t>
              </a:r>
              <a:endParaRPr lang="en-US" sz="3600" dirty="0"/>
            </a:p>
          </p:txBody>
        </p:sp>
        <p:sp>
          <p:nvSpPr>
            <p:cNvPr id="92" name="Text 17">
              <a:extLst>
                <a:ext uri="{FF2B5EF4-FFF2-40B4-BE49-F238E27FC236}">
                  <a16:creationId xmlns:a16="http://schemas.microsoft.com/office/drawing/2014/main" id="{21AE3CDE-5F54-8C59-01D4-2A6BFDFF7C42}"/>
                </a:ext>
              </a:extLst>
            </p:cNvPr>
            <p:cNvSpPr txBox="1"/>
            <p:nvPr/>
          </p:nvSpPr>
          <p:spPr>
            <a:xfrm>
              <a:off x="6252780" y="4789599"/>
              <a:ext cx="714751" cy="7610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F1F5F9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📦</a:t>
              </a:r>
              <a:endParaRPr lang="en-US" sz="3600" dirty="0"/>
            </a:p>
          </p:txBody>
        </p:sp>
      </p:grpSp>
      <p:grpSp>
        <p:nvGrpSpPr>
          <p:cNvPr id="156" name="グループ化 155">
            <a:extLst>
              <a:ext uri="{FF2B5EF4-FFF2-40B4-BE49-F238E27FC236}">
                <a16:creationId xmlns:a16="http://schemas.microsoft.com/office/drawing/2014/main" id="{9F609C61-DAF1-AEF4-B19B-1E6712807D90}"/>
              </a:ext>
            </a:extLst>
          </p:cNvPr>
          <p:cNvGrpSpPr/>
          <p:nvPr/>
        </p:nvGrpSpPr>
        <p:grpSpPr>
          <a:xfrm>
            <a:off x="8486599" y="4789661"/>
            <a:ext cx="2679684" cy="1528404"/>
            <a:chOff x="8805439" y="3701484"/>
            <a:chExt cx="2679684" cy="1528404"/>
          </a:xfrm>
        </p:grpSpPr>
        <p:grpSp>
          <p:nvGrpSpPr>
            <p:cNvPr id="96" name="グループ化 95">
              <a:extLst>
                <a:ext uri="{FF2B5EF4-FFF2-40B4-BE49-F238E27FC236}">
                  <a16:creationId xmlns:a16="http://schemas.microsoft.com/office/drawing/2014/main" id="{BB1692A3-8261-CB64-B2F8-AE77E4CF816C}"/>
                </a:ext>
              </a:extLst>
            </p:cNvPr>
            <p:cNvGrpSpPr/>
            <p:nvPr/>
          </p:nvGrpSpPr>
          <p:grpSpPr>
            <a:xfrm>
              <a:off x="8805439" y="3701484"/>
              <a:ext cx="2602710" cy="1407465"/>
              <a:chOff x="3281895" y="1298225"/>
              <a:chExt cx="2597155" cy="1407465"/>
            </a:xfrm>
          </p:grpSpPr>
          <p:pic>
            <p:nvPicPr>
              <p:cNvPr id="100" name="Image 11" descr="preencoded.png">
                <a:extLst>
                  <a:ext uri="{FF2B5EF4-FFF2-40B4-BE49-F238E27FC236}">
                    <a16:creationId xmlns:a16="http://schemas.microsoft.com/office/drawing/2014/main" id="{7AC31182-7166-CE5C-A805-64A4DEA79F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rcRect t="-7" b="-7"/>
              <a:stretch/>
            </p:blipFill>
            <p:spPr>
              <a:xfrm>
                <a:off x="3281895" y="1298225"/>
                <a:ext cx="2502724" cy="1407465"/>
              </a:xfrm>
              <a:prstGeom prst="rect">
                <a:avLst/>
              </a:prstGeom>
            </p:spPr>
          </p:pic>
          <p:sp>
            <p:nvSpPr>
              <p:cNvPr id="101" name="Text 59">
                <a:extLst>
                  <a:ext uri="{FF2B5EF4-FFF2-40B4-BE49-F238E27FC236}">
                    <a16:creationId xmlns:a16="http://schemas.microsoft.com/office/drawing/2014/main" id="{9D05E9CA-E2FC-D7AF-5D23-E38CF9AA9EF1}"/>
                  </a:ext>
                </a:extLst>
              </p:cNvPr>
              <p:cNvSpPr txBox="1"/>
              <p:nvPr/>
            </p:nvSpPr>
            <p:spPr>
              <a:xfrm>
                <a:off x="3776832" y="1350486"/>
                <a:ext cx="2102218" cy="37664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棚（元の配列）</a:t>
                </a:r>
                <a:endParaRPr lang="en-US" sz="2000" dirty="0"/>
              </a:p>
            </p:txBody>
          </p:sp>
          <p:pic>
            <p:nvPicPr>
              <p:cNvPr id="102" name="Image 14" descr="preencoded.png">
                <a:extLst>
                  <a:ext uri="{FF2B5EF4-FFF2-40B4-BE49-F238E27FC236}">
                    <a16:creationId xmlns:a16="http://schemas.microsoft.com/office/drawing/2014/main" id="{E4597795-9781-F39B-77C8-5B99625D58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l="-33" r="-33"/>
              <a:stretch/>
            </p:blipFill>
            <p:spPr>
              <a:xfrm>
                <a:off x="3376325" y="1362456"/>
                <a:ext cx="318765" cy="283159"/>
              </a:xfrm>
              <a:prstGeom prst="rect">
                <a:avLst/>
              </a:prstGeom>
            </p:spPr>
          </p:pic>
          <p:grpSp>
            <p:nvGrpSpPr>
              <p:cNvPr id="110" name="グループ化 109">
                <a:extLst>
                  <a:ext uri="{FF2B5EF4-FFF2-40B4-BE49-F238E27FC236}">
                    <a16:creationId xmlns:a16="http://schemas.microsoft.com/office/drawing/2014/main" id="{33FE7A2C-0AF6-432F-0811-CD0FCF5F7213}"/>
                  </a:ext>
                </a:extLst>
              </p:cNvPr>
              <p:cNvGrpSpPr/>
              <p:nvPr/>
            </p:nvGrpSpPr>
            <p:grpSpPr>
              <a:xfrm>
                <a:off x="3438695" y="1741641"/>
                <a:ext cx="2043541" cy="881974"/>
                <a:chOff x="3438695" y="1741641"/>
                <a:chExt cx="2043541" cy="881974"/>
              </a:xfrm>
            </p:grpSpPr>
            <p:sp>
              <p:nvSpPr>
                <p:cNvPr id="116" name="Shape 60">
                  <a:extLst>
                    <a:ext uri="{FF2B5EF4-FFF2-40B4-BE49-F238E27FC236}">
                      <a16:creationId xmlns:a16="http://schemas.microsoft.com/office/drawing/2014/main" id="{A88D265A-9C02-7492-A57D-32950BF406F2}"/>
                    </a:ext>
                  </a:extLst>
                </p:cNvPr>
                <p:cNvSpPr/>
                <p:nvPr/>
              </p:nvSpPr>
              <p:spPr>
                <a:xfrm>
                  <a:off x="3523183" y="1741641"/>
                  <a:ext cx="1905151" cy="362102"/>
                </a:xfrm>
                <a:prstGeom prst="roundRect">
                  <a:avLst>
                    <a:gd name="adj" fmla="val 53163"/>
                  </a:avLst>
                </a:prstGeom>
                <a:solidFill>
                  <a:srgbClr val="EFF6FF"/>
                </a:solidFill>
                <a:ln w="12700">
                  <a:solidFill>
                    <a:srgbClr val="DBEAFE"/>
                  </a:solidFill>
                  <a:prstDash val="solid"/>
                </a:ln>
              </p:spPr>
              <p:txBody>
                <a:bodyPr/>
                <a:lstStyle/>
                <a:p>
                  <a:endParaRPr lang="ja-JP" altLang="en-US" sz="4400"/>
                </a:p>
              </p:txBody>
            </p:sp>
            <p:pic>
              <p:nvPicPr>
                <p:cNvPr id="117" name="Image 12" descr="preencoded.png">
                  <a:extLst>
                    <a:ext uri="{FF2B5EF4-FFF2-40B4-BE49-F238E27FC236}">
                      <a16:creationId xmlns:a16="http://schemas.microsoft.com/office/drawing/2014/main" id="{326F3E16-4A5A-AF6C-A059-F3DC060EE2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rcRect t="-100" b="-100"/>
                <a:stretch/>
              </p:blipFill>
              <p:spPr>
                <a:xfrm>
                  <a:off x="3491490" y="1766056"/>
                  <a:ext cx="231032" cy="308659"/>
                </a:xfrm>
                <a:prstGeom prst="rect">
                  <a:avLst/>
                </a:prstGeom>
              </p:spPr>
            </p:pic>
            <p:sp>
              <p:nvSpPr>
                <p:cNvPr id="119" name="Text 61">
                  <a:extLst>
                    <a:ext uri="{FF2B5EF4-FFF2-40B4-BE49-F238E27FC236}">
                      <a16:creationId xmlns:a16="http://schemas.microsoft.com/office/drawing/2014/main" id="{672EF811-BC75-852E-6D2E-7F05AFB28818}"/>
                    </a:ext>
                  </a:extLst>
                </p:cNvPr>
                <p:cNvSpPr txBox="1"/>
                <p:nvPr/>
              </p:nvSpPr>
              <p:spPr>
                <a:xfrm>
                  <a:off x="3799332" y="1748898"/>
                  <a:ext cx="1682904" cy="36210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600" b="1" dirty="0">
                      <a:solidFill>
                        <a:srgbClr val="374151"/>
                      </a:solidFill>
                      <a:latin typeface="Noto Sans JP" pitchFamily="34" charset="0"/>
                      <a:ea typeface="Noto Sans JP" pitchFamily="34" charset="-122"/>
                      <a:cs typeface="Noto Sans JP" pitchFamily="34" charset="-120"/>
                    </a:rPr>
                    <a:t>Title: "会議A"</a:t>
                  </a:r>
                  <a:endParaRPr lang="en-US" sz="1600" dirty="0"/>
                </a:p>
              </p:txBody>
            </p:sp>
            <p:sp>
              <p:nvSpPr>
                <p:cNvPr id="122" name="Shape 62">
                  <a:extLst>
                    <a:ext uri="{FF2B5EF4-FFF2-40B4-BE49-F238E27FC236}">
                      <a16:creationId xmlns:a16="http://schemas.microsoft.com/office/drawing/2014/main" id="{3DC7EBF2-6433-6754-148E-F0CD575FBE96}"/>
                    </a:ext>
                  </a:extLst>
                </p:cNvPr>
                <p:cNvSpPr/>
                <p:nvPr/>
              </p:nvSpPr>
              <p:spPr>
                <a:xfrm>
                  <a:off x="3438695" y="2261513"/>
                  <a:ext cx="1870875" cy="362102"/>
                </a:xfrm>
                <a:prstGeom prst="roundRect">
                  <a:avLst>
                    <a:gd name="adj" fmla="val 53163"/>
                  </a:avLst>
                </a:prstGeom>
                <a:solidFill>
                  <a:srgbClr val="EFF6FF"/>
                </a:solidFill>
                <a:ln w="12700">
                  <a:solidFill>
                    <a:srgbClr val="DBEAFE"/>
                  </a:solidFill>
                  <a:prstDash val="solid"/>
                </a:ln>
              </p:spPr>
              <p:txBody>
                <a:bodyPr/>
                <a:lstStyle/>
                <a:p>
                  <a:endParaRPr lang="ja-JP" altLang="en-US" sz="4400"/>
                </a:p>
              </p:txBody>
            </p:sp>
            <p:pic>
              <p:nvPicPr>
                <p:cNvPr id="125" name="Image 13" descr="preencoded.png">
                  <a:extLst>
                    <a:ext uri="{FF2B5EF4-FFF2-40B4-BE49-F238E27FC236}">
                      <a16:creationId xmlns:a16="http://schemas.microsoft.com/office/drawing/2014/main" id="{1130E678-4456-2F92-A259-8BACEB74E8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rcRect t="-100" b="-100"/>
                <a:stretch/>
              </p:blipFill>
              <p:spPr>
                <a:xfrm>
                  <a:off x="3523183" y="2278953"/>
                  <a:ext cx="231032" cy="308659"/>
                </a:xfrm>
                <a:prstGeom prst="rect">
                  <a:avLst/>
                </a:prstGeom>
              </p:spPr>
            </p:pic>
            <p:sp>
              <p:nvSpPr>
                <p:cNvPr id="127" name="Text 63">
                  <a:extLst>
                    <a:ext uri="{FF2B5EF4-FFF2-40B4-BE49-F238E27FC236}">
                      <a16:creationId xmlns:a16="http://schemas.microsoft.com/office/drawing/2014/main" id="{51F343FF-BB0A-3355-1985-5DE0AAEDC526}"/>
                    </a:ext>
                  </a:extLst>
                </p:cNvPr>
                <p:cNvSpPr txBox="1"/>
                <p:nvPr/>
              </p:nvSpPr>
              <p:spPr>
                <a:xfrm>
                  <a:off x="3831025" y="2253624"/>
                  <a:ext cx="1543776" cy="36210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600" b="1" dirty="0">
                      <a:solidFill>
                        <a:srgbClr val="374151"/>
                      </a:solidFill>
                      <a:latin typeface="Noto Sans JP" pitchFamily="34" charset="0"/>
                      <a:ea typeface="Noto Sans JP" pitchFamily="34" charset="-122"/>
                      <a:cs typeface="Noto Sans JP" pitchFamily="34" charset="-120"/>
                    </a:rPr>
                    <a:t>Title: "会議B"</a:t>
                  </a:r>
                  <a:endParaRPr lang="en-US" sz="1600" dirty="0"/>
                </a:p>
              </p:txBody>
            </p:sp>
          </p:grpSp>
        </p:grpSp>
        <p:sp>
          <p:nvSpPr>
            <p:cNvPr id="130" name="Text 17">
              <a:extLst>
                <a:ext uri="{FF2B5EF4-FFF2-40B4-BE49-F238E27FC236}">
                  <a16:creationId xmlns:a16="http://schemas.microsoft.com/office/drawing/2014/main" id="{8348E207-1B90-A9B0-0D3E-064BCB120F04}"/>
                </a:ext>
              </a:extLst>
            </p:cNvPr>
            <p:cNvSpPr txBox="1"/>
            <p:nvPr/>
          </p:nvSpPr>
          <p:spPr>
            <a:xfrm>
              <a:off x="10770372" y="3936225"/>
              <a:ext cx="714751" cy="7610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F1F5F9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📦</a:t>
              </a:r>
              <a:endParaRPr lang="en-US" sz="3600" dirty="0"/>
            </a:p>
          </p:txBody>
        </p:sp>
        <p:sp>
          <p:nvSpPr>
            <p:cNvPr id="133" name="Text 17">
              <a:extLst>
                <a:ext uri="{FF2B5EF4-FFF2-40B4-BE49-F238E27FC236}">
                  <a16:creationId xmlns:a16="http://schemas.microsoft.com/office/drawing/2014/main" id="{FE5EDC80-D2A5-B626-02F7-DA187E3618D7}"/>
                </a:ext>
              </a:extLst>
            </p:cNvPr>
            <p:cNvSpPr txBox="1"/>
            <p:nvPr/>
          </p:nvSpPr>
          <p:spPr>
            <a:xfrm>
              <a:off x="10735065" y="4468833"/>
              <a:ext cx="714751" cy="7610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F1F5F9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📦</a:t>
              </a:r>
              <a:endParaRPr lang="en-US" sz="3600" dirty="0"/>
            </a:p>
          </p:txBody>
        </p:sp>
      </p:grpSp>
      <p:grpSp>
        <p:nvGrpSpPr>
          <p:cNvPr id="149" name="グループ化 148">
            <a:extLst>
              <a:ext uri="{FF2B5EF4-FFF2-40B4-BE49-F238E27FC236}">
                <a16:creationId xmlns:a16="http://schemas.microsoft.com/office/drawing/2014/main" id="{546CE9F6-6172-4152-B524-958E1916F774}"/>
              </a:ext>
            </a:extLst>
          </p:cNvPr>
          <p:cNvGrpSpPr/>
          <p:nvPr/>
        </p:nvGrpSpPr>
        <p:grpSpPr>
          <a:xfrm>
            <a:off x="7274853" y="2465486"/>
            <a:ext cx="5031797" cy="871805"/>
            <a:chOff x="4195257" y="3186801"/>
            <a:chExt cx="2674630" cy="680481"/>
          </a:xfrm>
        </p:grpSpPr>
        <p:pic>
          <p:nvPicPr>
            <p:cNvPr id="150" name="Image 21" descr="preencoded.png">
              <a:extLst>
                <a:ext uri="{FF2B5EF4-FFF2-40B4-BE49-F238E27FC236}">
                  <a16:creationId xmlns:a16="http://schemas.microsoft.com/office/drawing/2014/main" id="{0B896D7D-0C6C-69AB-D2AD-11EB5A7F5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t="-35" b="-35"/>
            <a:stretch/>
          </p:blipFill>
          <p:spPr>
            <a:xfrm>
              <a:off x="4195257" y="3191256"/>
              <a:ext cx="2443516" cy="629107"/>
            </a:xfrm>
            <a:prstGeom prst="rect">
              <a:avLst/>
            </a:prstGeom>
          </p:spPr>
        </p:pic>
        <p:pic>
          <p:nvPicPr>
            <p:cNvPr id="151" name="Image 22" descr="preencoded.png">
              <a:extLst>
                <a:ext uri="{FF2B5EF4-FFF2-40B4-BE49-F238E27FC236}">
                  <a16:creationId xmlns:a16="http://schemas.microsoft.com/office/drawing/2014/main" id="{08CEFDD5-71F3-E6CE-A361-FBC1D2F1F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t="-17218" b="-17218"/>
            <a:stretch/>
          </p:blipFill>
          <p:spPr>
            <a:xfrm>
              <a:off x="4217173" y="3186801"/>
              <a:ext cx="276149" cy="680481"/>
            </a:xfrm>
            <a:prstGeom prst="rect">
              <a:avLst/>
            </a:prstGeom>
          </p:spPr>
        </p:pic>
        <p:sp>
          <p:nvSpPr>
            <p:cNvPr id="152" name="Text 72">
              <a:extLst>
                <a:ext uri="{FF2B5EF4-FFF2-40B4-BE49-F238E27FC236}">
                  <a16:creationId xmlns:a16="http://schemas.microsoft.com/office/drawing/2014/main" id="{D237F4EE-C140-F636-7EDB-54784EFECAE7}"/>
                </a:ext>
              </a:extLst>
            </p:cNvPr>
            <p:cNvSpPr txBox="1"/>
            <p:nvPr/>
          </p:nvSpPr>
          <p:spPr>
            <a:xfrm>
              <a:off x="4482003" y="3510224"/>
              <a:ext cx="2253320" cy="2696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条件：Title が "会議" を含む</a:t>
              </a:r>
              <a:endParaRPr lang="en-US" sz="2400" dirty="0"/>
            </a:p>
          </p:txBody>
        </p:sp>
        <p:sp>
          <p:nvSpPr>
            <p:cNvPr id="153" name="Text 73">
              <a:extLst>
                <a:ext uri="{FF2B5EF4-FFF2-40B4-BE49-F238E27FC236}">
                  <a16:creationId xmlns:a16="http://schemas.microsoft.com/office/drawing/2014/main" id="{3BD6D649-B3C4-3C38-1E32-F39AA7EA39BF}"/>
                </a:ext>
              </a:extLst>
            </p:cNvPr>
            <p:cNvSpPr txBox="1"/>
            <p:nvPr/>
          </p:nvSpPr>
          <p:spPr>
            <a:xfrm>
              <a:off x="4791456" y="3288182"/>
              <a:ext cx="2078431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FFFFFF">
                      <a:alpha val="80000"/>
                    </a:srgb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アレイのフィルター処理</a:t>
              </a:r>
              <a:endParaRPr lang="en-US" sz="2000" dirty="0"/>
            </a:p>
          </p:txBody>
        </p:sp>
      </p:grpSp>
      <p:cxnSp>
        <p:nvCxnSpPr>
          <p:cNvPr id="154" name="直線矢印コネクタ 153">
            <a:extLst>
              <a:ext uri="{FF2B5EF4-FFF2-40B4-BE49-F238E27FC236}">
                <a16:creationId xmlns:a16="http://schemas.microsoft.com/office/drawing/2014/main" id="{8E64B99C-FAB7-6683-362E-1C076640538A}"/>
              </a:ext>
            </a:extLst>
          </p:cNvPr>
          <p:cNvCxnSpPr>
            <a:cxnSpLocks/>
          </p:cNvCxnSpPr>
          <p:nvPr/>
        </p:nvCxnSpPr>
        <p:spPr>
          <a:xfrm>
            <a:off x="8183111" y="5672514"/>
            <a:ext cx="508139" cy="1660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図 157" descr="meeting&#10;&#10;AI 生成コンテンツは誤りを含む可能性があります。">
            <a:extLst>
              <a:ext uri="{FF2B5EF4-FFF2-40B4-BE49-F238E27FC236}">
                <a16:creationId xmlns:a16="http://schemas.microsoft.com/office/drawing/2014/main" id="{FEC63EFC-BF73-489E-C6FB-6C97D74320F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52166" y="3482414"/>
            <a:ext cx="6329217" cy="935188"/>
          </a:xfrm>
          <a:prstGeom prst="rect">
            <a:avLst/>
          </a:prstGeom>
          <a:ln>
            <a:noFill/>
          </a:ln>
          <a:effectLst>
            <a:glow rad="88900">
              <a:schemeClr val="bg1"/>
            </a:glow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9" name="Text 6">
            <a:extLst>
              <a:ext uri="{FF2B5EF4-FFF2-40B4-BE49-F238E27FC236}">
                <a16:creationId xmlns:a16="http://schemas.microsoft.com/office/drawing/2014/main" id="{06CA836B-64D6-671A-A9DD-92328B4485D6}"/>
              </a:ext>
            </a:extLst>
          </p:cNvPr>
          <p:cNvSpPr txBox="1"/>
          <p:nvPr/>
        </p:nvSpPr>
        <p:spPr>
          <a:xfrm>
            <a:off x="4136291" y="6009067"/>
            <a:ext cx="1608655" cy="5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配列</a:t>
            </a:r>
            <a:endParaRPr lang="en-US" altLang="ja-JP" sz="2000" b="1">
              <a:solidFill>
                <a:schemeClr val="bg1"/>
              </a:solidFill>
              <a:effectLst>
                <a:glow rad="114300">
                  <a:schemeClr val="tx1">
                    <a:lumMod val="85000"/>
                    <a:lumOff val="15000"/>
                  </a:schemeClr>
                </a:glow>
              </a:effectLst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（</a:t>
            </a:r>
            <a:r>
              <a:rPr lang="en-US" altLang="ja-JP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Array</a:t>
            </a:r>
            <a:r>
              <a:rPr lang="ja-JP" altLang="en-US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）</a:t>
            </a:r>
            <a:endParaRPr lang="en-US" altLang="ja-JP" sz="2000" b="1">
              <a:solidFill>
                <a:schemeClr val="bg1"/>
              </a:solidFill>
              <a:effectLst>
                <a:glow rad="114300">
                  <a:schemeClr val="tx1">
                    <a:lumMod val="85000"/>
                    <a:lumOff val="15000"/>
                  </a:schemeClr>
                </a:glow>
              </a:effectLst>
              <a:latin typeface="Noto Sans JP" pitchFamily="34" charset="0"/>
              <a:ea typeface="Noto Sans JP" pitchFamily="34" charset="-122"/>
            </a:endParaRPr>
          </a:p>
        </p:txBody>
      </p:sp>
      <p:pic>
        <p:nvPicPr>
          <p:cNvPr id="161" name="図 160" descr="A child is joyfully holding an upside-down, wrapped gift above their head.&#10;&#10;AI 生成コンテンツは誤りを含む可能性があります。">
            <a:extLst>
              <a:ext uri="{FF2B5EF4-FFF2-40B4-BE49-F238E27FC236}">
                <a16:creationId xmlns:a16="http://schemas.microsoft.com/office/drawing/2014/main" id="{91C96E8A-4F1B-13BA-ACB1-732B8029968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25118" y="4874863"/>
            <a:ext cx="1528288" cy="1892616"/>
          </a:xfrm>
          <a:prstGeom prst="rect">
            <a:avLst/>
          </a:prstGeom>
        </p:spPr>
      </p:pic>
      <p:sp>
        <p:nvSpPr>
          <p:cNvPr id="162" name="Text 17">
            <a:extLst>
              <a:ext uri="{FF2B5EF4-FFF2-40B4-BE49-F238E27FC236}">
                <a16:creationId xmlns:a16="http://schemas.microsoft.com/office/drawing/2014/main" id="{0D7DF32B-B4E1-EA23-8AD4-F17FD65E6FEA}"/>
              </a:ext>
            </a:extLst>
          </p:cNvPr>
          <p:cNvSpPr txBox="1"/>
          <p:nvPr/>
        </p:nvSpPr>
        <p:spPr>
          <a:xfrm rot="1633263">
            <a:off x="11184788" y="4570035"/>
            <a:ext cx="1250911" cy="1354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F1F5F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📦</a:t>
            </a:r>
            <a:endParaRPr lang="en-US" sz="8000" dirty="0"/>
          </a:p>
        </p:txBody>
      </p:sp>
      <p:sp>
        <p:nvSpPr>
          <p:cNvPr id="163" name="Text 6">
            <a:extLst>
              <a:ext uri="{FF2B5EF4-FFF2-40B4-BE49-F238E27FC236}">
                <a16:creationId xmlns:a16="http://schemas.microsoft.com/office/drawing/2014/main" id="{07FC65C8-CE64-E50B-CF36-7A9EA4875718}"/>
              </a:ext>
            </a:extLst>
          </p:cNvPr>
          <p:cNvSpPr txBox="1"/>
          <p:nvPr/>
        </p:nvSpPr>
        <p:spPr>
          <a:xfrm>
            <a:off x="11012617" y="5129997"/>
            <a:ext cx="1608655" cy="5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会議</a:t>
            </a:r>
            <a:endParaRPr lang="en-US" altLang="ja-JP" sz="2000" b="1">
              <a:solidFill>
                <a:schemeClr val="bg1"/>
              </a:solidFill>
              <a:effectLst>
                <a:glow rad="114300">
                  <a:schemeClr val="tx1">
                    <a:lumMod val="85000"/>
                    <a:lumOff val="15000"/>
                  </a:schemeClr>
                </a:glow>
              </a:effectLst>
              <a:latin typeface="Noto Sans JP" pitchFamily="34" charset="0"/>
              <a:ea typeface="Noto Sans JP" pitchFamily="34" charset="-122"/>
            </a:endParaRPr>
          </a:p>
        </p:txBody>
      </p:sp>
      <p:cxnSp>
        <p:nvCxnSpPr>
          <p:cNvPr id="164" name="直線矢印コネクタ 163">
            <a:extLst>
              <a:ext uri="{FF2B5EF4-FFF2-40B4-BE49-F238E27FC236}">
                <a16:creationId xmlns:a16="http://schemas.microsoft.com/office/drawing/2014/main" id="{79AE845B-3C20-B958-52CB-A8530E9C2DD1}"/>
              </a:ext>
            </a:extLst>
          </p:cNvPr>
          <p:cNvCxnSpPr>
            <a:cxnSpLocks/>
          </p:cNvCxnSpPr>
          <p:nvPr/>
        </p:nvCxnSpPr>
        <p:spPr>
          <a:xfrm>
            <a:off x="10850454" y="1340915"/>
            <a:ext cx="508139" cy="1660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10" descr="preencoded.png">
            <a:extLst>
              <a:ext uri="{FF2B5EF4-FFF2-40B4-BE49-F238E27FC236}">
                <a16:creationId xmlns:a16="http://schemas.microsoft.com/office/drawing/2014/main" id="{45058DE7-6993-B4AE-ED14-C8F2CAEF97FA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-80" r="-80"/>
          <a:stretch/>
        </p:blipFill>
        <p:spPr>
          <a:xfrm>
            <a:off x="3866407" y="1605693"/>
            <a:ext cx="520848" cy="1040033"/>
          </a:xfrm>
          <a:prstGeom prst="rect">
            <a:avLst/>
          </a:prstGeom>
        </p:spPr>
      </p:pic>
      <p:sp>
        <p:nvSpPr>
          <p:cNvPr id="165" name="Text 6">
            <a:extLst>
              <a:ext uri="{FF2B5EF4-FFF2-40B4-BE49-F238E27FC236}">
                <a16:creationId xmlns:a16="http://schemas.microsoft.com/office/drawing/2014/main" id="{6F93076C-BD0D-11FC-0D99-1512CE2F3391}"/>
              </a:ext>
            </a:extLst>
          </p:cNvPr>
          <p:cNvSpPr txBox="1"/>
          <p:nvPr/>
        </p:nvSpPr>
        <p:spPr>
          <a:xfrm>
            <a:off x="8530087" y="6145625"/>
            <a:ext cx="3182284" cy="767170"/>
          </a:xfrm>
          <a:prstGeom prst="rect">
            <a:avLst/>
          </a:prstGeom>
          <a:noFill/>
          <a:ln/>
          <a:effectLst>
            <a:glow rad="127000">
              <a:srgbClr val="0000CC"/>
            </a:glow>
          </a:effectLst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会議だけ取り出せた～</a:t>
            </a:r>
            <a:endParaRPr lang="en-US" sz="2400" b="1" dirty="0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67526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グループ化 101">
            <a:extLst>
              <a:ext uri="{FF2B5EF4-FFF2-40B4-BE49-F238E27FC236}">
                <a16:creationId xmlns:a16="http://schemas.microsoft.com/office/drawing/2014/main" id="{BBFE6CF8-D7CF-1A23-2793-C9080102732B}"/>
              </a:ext>
            </a:extLst>
          </p:cNvPr>
          <p:cNvGrpSpPr/>
          <p:nvPr/>
        </p:nvGrpSpPr>
        <p:grpSpPr>
          <a:xfrm>
            <a:off x="3265322" y="1737351"/>
            <a:ext cx="4325112" cy="1918741"/>
            <a:chOff x="3370479" y="1314907"/>
            <a:chExt cx="4325112" cy="1918741"/>
          </a:xfrm>
        </p:grpSpPr>
        <p:pic>
          <p:nvPicPr>
            <p:cNvPr id="71" name="Image 11" descr="preencoded.png"/>
            <p:cNvPicPr>
              <a:picLocks noChangeAspect="1"/>
            </p:cNvPicPr>
            <p:nvPr/>
          </p:nvPicPr>
          <p:blipFill>
            <a:blip r:embed="rId3"/>
            <a:srcRect t="-7" b="-7"/>
            <a:stretch/>
          </p:blipFill>
          <p:spPr>
            <a:xfrm>
              <a:off x="3370479" y="1338097"/>
              <a:ext cx="4325112" cy="1895551"/>
            </a:xfrm>
            <a:prstGeom prst="rect">
              <a:avLst/>
            </a:prstGeom>
          </p:spPr>
        </p:pic>
        <p:sp>
          <p:nvSpPr>
            <p:cNvPr id="73" name="Text 59"/>
            <p:cNvSpPr txBox="1"/>
            <p:nvPr/>
          </p:nvSpPr>
          <p:spPr>
            <a:xfrm>
              <a:off x="3770986" y="1314907"/>
              <a:ext cx="118231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棚（元の配列）</a:t>
              </a:r>
              <a:endParaRPr lang="en-US" sz="1200" dirty="0"/>
            </a:p>
          </p:txBody>
        </p:sp>
        <p:pic>
          <p:nvPicPr>
            <p:cNvPr id="80" name="Image 14" descr="preencoded.png"/>
            <p:cNvPicPr>
              <a:picLocks noChangeAspect="1"/>
            </p:cNvPicPr>
            <p:nvPr/>
          </p:nvPicPr>
          <p:blipFill>
            <a:blip r:embed="rId4"/>
            <a:srcRect l="-33" r="-33"/>
            <a:stretch/>
          </p:blipFill>
          <p:spPr>
            <a:xfrm>
              <a:off x="3523183" y="1362456"/>
              <a:ext cx="171907" cy="152705"/>
            </a:xfrm>
            <a:prstGeom prst="rect">
              <a:avLst/>
            </a:prstGeom>
          </p:spPr>
        </p:pic>
        <p:grpSp>
          <p:nvGrpSpPr>
            <p:cNvPr id="101" name="グループ化 100">
              <a:extLst>
                <a:ext uri="{FF2B5EF4-FFF2-40B4-BE49-F238E27FC236}">
                  <a16:creationId xmlns:a16="http://schemas.microsoft.com/office/drawing/2014/main" id="{9227513F-B21C-EA29-C67C-03DF90ABACC1}"/>
                </a:ext>
              </a:extLst>
            </p:cNvPr>
            <p:cNvGrpSpPr/>
            <p:nvPr/>
          </p:nvGrpSpPr>
          <p:grpSpPr>
            <a:xfrm>
              <a:off x="3523183" y="1705356"/>
              <a:ext cx="4067251" cy="1238097"/>
              <a:chOff x="3523183" y="1705356"/>
              <a:chExt cx="4067251" cy="1238097"/>
            </a:xfrm>
          </p:grpSpPr>
          <p:sp>
            <p:nvSpPr>
              <p:cNvPr id="74" name="Shape 60"/>
              <p:cNvSpPr/>
              <p:nvPr/>
            </p:nvSpPr>
            <p:spPr>
              <a:xfrm>
                <a:off x="3523183" y="1705356"/>
                <a:ext cx="4067251" cy="362102"/>
              </a:xfrm>
              <a:prstGeom prst="roundRect">
                <a:avLst>
                  <a:gd name="adj" fmla="val 53163"/>
                </a:avLst>
              </a:prstGeom>
              <a:solidFill>
                <a:srgbClr val="EFF6FF"/>
              </a:solidFill>
              <a:ln w="12700">
                <a:solidFill>
                  <a:srgbClr val="DBEAFE"/>
                </a:solidFill>
                <a:prstDash val="solid"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pic>
            <p:nvPicPr>
              <p:cNvPr id="75" name="Image 12" descr="preencoded.png"/>
              <p:cNvPicPr>
                <a:picLocks noChangeAspect="1"/>
              </p:cNvPicPr>
              <p:nvPr/>
            </p:nvPicPr>
            <p:blipFill>
              <a:blip r:embed="rId5"/>
              <a:srcRect t="-100" b="-100"/>
              <a:stretch/>
            </p:blipFill>
            <p:spPr>
              <a:xfrm>
                <a:off x="3608222" y="1809598"/>
                <a:ext cx="114300" cy="152705"/>
              </a:xfrm>
              <a:prstGeom prst="rect">
                <a:avLst/>
              </a:prstGeom>
            </p:spPr>
          </p:pic>
          <p:sp>
            <p:nvSpPr>
              <p:cNvPr id="76" name="Text 61"/>
              <p:cNvSpPr txBox="1"/>
              <p:nvPr/>
            </p:nvSpPr>
            <p:spPr>
              <a:xfrm>
                <a:off x="3799332" y="1705356"/>
                <a:ext cx="943661" cy="3621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b="1" dirty="0">
                    <a:solidFill>
                      <a:srgbClr val="374151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Title: "会議A"</a:t>
                </a:r>
                <a:endParaRPr lang="en-US" sz="1000" dirty="0"/>
              </a:p>
            </p:txBody>
          </p:sp>
          <p:sp>
            <p:nvSpPr>
              <p:cNvPr id="77" name="Shape 62"/>
              <p:cNvSpPr/>
              <p:nvPr/>
            </p:nvSpPr>
            <p:spPr>
              <a:xfrm>
                <a:off x="3523183" y="2581351"/>
                <a:ext cx="4067251" cy="362102"/>
              </a:xfrm>
              <a:prstGeom prst="roundRect">
                <a:avLst>
                  <a:gd name="adj" fmla="val 53163"/>
                </a:avLst>
              </a:prstGeom>
              <a:solidFill>
                <a:srgbClr val="EFF6FF"/>
              </a:solidFill>
              <a:ln w="12700">
                <a:solidFill>
                  <a:srgbClr val="DBEAFE"/>
                </a:solidFill>
                <a:prstDash val="solid"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pic>
            <p:nvPicPr>
              <p:cNvPr id="78" name="Image 13" descr="preencoded.png"/>
              <p:cNvPicPr>
                <a:picLocks noChangeAspect="1"/>
              </p:cNvPicPr>
              <p:nvPr/>
            </p:nvPicPr>
            <p:blipFill>
              <a:blip r:embed="rId5"/>
              <a:srcRect t="-100" b="-100"/>
              <a:stretch/>
            </p:blipFill>
            <p:spPr>
              <a:xfrm>
                <a:off x="3608222" y="2686507"/>
                <a:ext cx="114300" cy="152705"/>
              </a:xfrm>
              <a:prstGeom prst="rect">
                <a:avLst/>
              </a:prstGeom>
            </p:spPr>
          </p:pic>
          <p:sp>
            <p:nvSpPr>
              <p:cNvPr id="79" name="Text 63"/>
              <p:cNvSpPr txBox="1"/>
              <p:nvPr/>
            </p:nvSpPr>
            <p:spPr>
              <a:xfrm>
                <a:off x="3799332" y="2581351"/>
                <a:ext cx="943661" cy="3621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b="1" dirty="0">
                    <a:solidFill>
                      <a:srgbClr val="374151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Title: "会議B"</a:t>
                </a:r>
                <a:endParaRPr lang="en-US" sz="1000" dirty="0"/>
              </a:p>
            </p:txBody>
          </p:sp>
          <p:sp>
            <p:nvSpPr>
              <p:cNvPr id="81" name="Shape 64"/>
              <p:cNvSpPr/>
              <p:nvPr/>
            </p:nvSpPr>
            <p:spPr>
              <a:xfrm>
                <a:off x="3523183" y="2143354"/>
                <a:ext cx="4067251" cy="362102"/>
              </a:xfrm>
              <a:prstGeom prst="roundRect">
                <a:avLst>
                  <a:gd name="adj" fmla="val 53163"/>
                </a:avLst>
              </a:prstGeom>
              <a:solidFill>
                <a:srgbClr val="FEF2F2">
                  <a:alpha val="60000"/>
                </a:srgbClr>
              </a:solidFill>
              <a:ln w="12700">
                <a:solidFill>
                  <a:srgbClr val="FEE2E2"/>
                </a:solidFill>
                <a:prstDash val="solid"/>
              </a:ln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3" name="Text 65"/>
              <p:cNvSpPr txBox="1"/>
              <p:nvPr/>
            </p:nvSpPr>
            <p:spPr>
              <a:xfrm>
                <a:off x="3799332" y="2143354"/>
                <a:ext cx="857707" cy="3621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b="1" dirty="0">
                    <a:solidFill>
                      <a:srgbClr val="6B7280">
                        <a:alpha val="60000"/>
                      </a:srgbClr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Title: "日報"</a:t>
                </a:r>
                <a:endParaRPr lang="en-US" sz="1000" dirty="0"/>
              </a:p>
            </p:txBody>
          </p:sp>
        </p:grpSp>
      </p:grp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0" y="0"/>
            <a:ext cx="12191695" cy="1371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04495"/>
            <a:ext cx="676656" cy="267005"/>
          </a:xfrm>
          <a:prstGeom prst="roundRect">
            <a:avLst>
              <a:gd name="adj" fmla="val 342465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428854" y="304495"/>
            <a:ext cx="734263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b="1" kern="0" spc="52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Vol.22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245413" y="304495"/>
            <a:ext cx="187269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45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"/>
            <a:ext cx="924732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Filter array：棚の中から</a:t>
            </a:r>
            <a:r>
              <a:rPr lang="en-US" sz="27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“必要な引き出しだけ”</a:t>
            </a:r>
            <a:r>
              <a:rPr lang="en-US" sz="27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残す 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47979" y="1114654"/>
            <a:ext cx="811072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「条件」に合うデータだけをスパッと抜き出す魔法のアクション 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457200" y="1157630"/>
            <a:ext cx="171907" cy="19019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8"/>
          <a:srcRect l="-9" r="-9"/>
          <a:stretch/>
        </p:blipFill>
        <p:spPr>
          <a:xfrm>
            <a:off x="457200" y="1447495"/>
            <a:ext cx="2703881" cy="361919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/>
          <a:srcRect l="-382" r="-382"/>
          <a:stretch/>
        </p:blipFill>
        <p:spPr>
          <a:xfrm>
            <a:off x="629107" y="1314907"/>
            <a:ext cx="1457554" cy="30449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10412" y="1314907"/>
            <a:ext cx="119329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よくある悩み 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80898" y="1399946"/>
            <a:ext cx="152705" cy="152705"/>
          </a:xfrm>
          <a:prstGeom prst="rect">
            <a:avLst/>
          </a:prstGeom>
        </p:spPr>
      </p:pic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0736F207-D50B-747A-9B6D-707A99AA2DD9}"/>
              </a:ext>
            </a:extLst>
          </p:cNvPr>
          <p:cNvGrpSpPr/>
          <p:nvPr/>
        </p:nvGrpSpPr>
        <p:grpSpPr>
          <a:xfrm>
            <a:off x="666598" y="1809598"/>
            <a:ext cx="2336292" cy="761695"/>
            <a:chOff x="666598" y="1809598"/>
            <a:chExt cx="2336292" cy="761695"/>
          </a:xfrm>
        </p:grpSpPr>
        <p:pic>
          <p:nvPicPr>
            <p:cNvPr id="15" name="Image 5" descr="preencoded.png"/>
            <p:cNvPicPr>
              <a:picLocks noChangeAspect="1"/>
            </p:cNvPicPr>
            <p:nvPr/>
          </p:nvPicPr>
          <p:blipFill>
            <a:blip r:embed="rId11"/>
            <a:srcRect l="-13" r="-13"/>
            <a:stretch/>
          </p:blipFill>
          <p:spPr>
            <a:xfrm>
              <a:off x="666598" y="1809598"/>
              <a:ext cx="2284171" cy="761695"/>
            </a:xfrm>
            <a:prstGeom prst="rect">
              <a:avLst/>
            </a:prstGeom>
          </p:spPr>
        </p:pic>
        <p:sp>
          <p:nvSpPr>
            <p:cNvPr id="16" name="Text 8"/>
            <p:cNvSpPr txBox="1"/>
            <p:nvPr/>
          </p:nvSpPr>
          <p:spPr>
            <a:xfrm>
              <a:off x="780898" y="1923898"/>
              <a:ext cx="222199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😩 データが多すぎる…</a:t>
              </a:r>
              <a:endParaRPr lang="en-US" sz="1000" dirty="0"/>
            </a:p>
          </p:txBody>
        </p:sp>
        <p:sp>
          <p:nvSpPr>
            <p:cNvPr id="17" name="Text 9"/>
            <p:cNvSpPr txBox="1"/>
            <p:nvPr/>
          </p:nvSpPr>
          <p:spPr>
            <a:xfrm>
              <a:off x="780898" y="2152498"/>
              <a:ext cx="2134210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全部ループすると時間がかかるしエラーの元！</a:t>
              </a:r>
              <a:endParaRPr lang="en-US" sz="900" dirty="0"/>
            </a:p>
          </p:txBody>
        </p:sp>
      </p:grp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1"/>
          <a:srcRect l="-13" r="-13"/>
          <a:stretch/>
        </p:blipFill>
        <p:spPr>
          <a:xfrm>
            <a:off x="666598" y="2723998"/>
            <a:ext cx="2284171" cy="76169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780898" y="2838298"/>
            <a:ext cx="22219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🤔 条件分岐が面倒</a:t>
            </a:r>
            <a:endParaRPr lang="en-US" sz="1000" dirty="0"/>
          </a:p>
        </p:txBody>
      </p:sp>
      <p:sp>
        <p:nvSpPr>
          <p:cNvPr id="20" name="Text 11"/>
          <p:cNvSpPr txBox="1"/>
          <p:nvPr/>
        </p:nvSpPr>
        <p:spPr>
          <a:xfrm>
            <a:off x="780898" y="3066898"/>
            <a:ext cx="21342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「もし〜なら」を何個も書きたくない…</a:t>
            </a:r>
            <a:endParaRPr lang="en-US" sz="900" dirty="0"/>
          </a:p>
        </p:txBody>
      </p:sp>
      <p:grpSp>
        <p:nvGrpSpPr>
          <p:cNvPr id="100" name="グループ化 99">
            <a:extLst>
              <a:ext uri="{FF2B5EF4-FFF2-40B4-BE49-F238E27FC236}">
                <a16:creationId xmlns:a16="http://schemas.microsoft.com/office/drawing/2014/main" id="{9A5EBBA1-625B-2D17-7F31-B84BD44F7101}"/>
              </a:ext>
            </a:extLst>
          </p:cNvPr>
          <p:cNvGrpSpPr/>
          <p:nvPr/>
        </p:nvGrpSpPr>
        <p:grpSpPr>
          <a:xfrm>
            <a:off x="666598" y="3638398"/>
            <a:ext cx="2286000" cy="780898"/>
            <a:chOff x="666598" y="3638398"/>
            <a:chExt cx="2286000" cy="780898"/>
          </a:xfrm>
        </p:grpSpPr>
        <p:sp>
          <p:nvSpPr>
            <p:cNvPr id="21" name="Shape 12"/>
            <p:cNvSpPr/>
            <p:nvPr/>
          </p:nvSpPr>
          <p:spPr>
            <a:xfrm>
              <a:off x="666598" y="3638398"/>
              <a:ext cx="2286000" cy="780898"/>
            </a:xfrm>
            <a:prstGeom prst="roundRect">
              <a:avLst>
                <a:gd name="adj" fmla="val 22848"/>
              </a:avLst>
            </a:prstGeom>
            <a:solidFill>
              <a:srgbClr val="F3F4F6"/>
            </a:solidFill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Text 13"/>
            <p:cNvSpPr txBox="1"/>
            <p:nvPr/>
          </p:nvSpPr>
          <p:spPr>
            <a:xfrm>
              <a:off x="708660" y="3762756"/>
              <a:ext cx="220187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混ざったデータ(配列)</a:t>
              </a:r>
              <a:endParaRPr lang="en-US" sz="900" dirty="0"/>
            </a:p>
          </p:txBody>
        </p:sp>
        <p:sp>
          <p:nvSpPr>
            <p:cNvPr id="23" name="Shape 14"/>
            <p:cNvSpPr/>
            <p:nvPr/>
          </p:nvSpPr>
          <p:spPr>
            <a:xfrm>
              <a:off x="1142086" y="399135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BFDB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4" name="Text 15"/>
            <p:cNvSpPr txBox="1"/>
            <p:nvPr/>
          </p:nvSpPr>
          <p:spPr>
            <a:xfrm>
              <a:off x="1113739" y="3991356"/>
              <a:ext cx="3621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1E40A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A</a:t>
              </a:r>
              <a:endParaRPr lang="en-US" sz="900" dirty="0"/>
            </a:p>
          </p:txBody>
        </p:sp>
        <p:sp>
          <p:nvSpPr>
            <p:cNvPr id="25" name="Shape 16"/>
            <p:cNvSpPr/>
            <p:nvPr/>
          </p:nvSpPr>
          <p:spPr>
            <a:xfrm>
              <a:off x="1484986" y="399135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FECAC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Text 17"/>
            <p:cNvSpPr txBox="1"/>
            <p:nvPr/>
          </p:nvSpPr>
          <p:spPr>
            <a:xfrm>
              <a:off x="1456639" y="3991356"/>
              <a:ext cx="3621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991B1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B</a:t>
              </a:r>
              <a:endParaRPr lang="en-US" sz="900" dirty="0"/>
            </a:p>
          </p:txBody>
        </p:sp>
        <p:sp>
          <p:nvSpPr>
            <p:cNvPr id="27" name="Shape 18"/>
            <p:cNvSpPr/>
            <p:nvPr/>
          </p:nvSpPr>
          <p:spPr>
            <a:xfrm>
              <a:off x="1827886" y="399135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BFDB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Text 19"/>
            <p:cNvSpPr txBox="1"/>
            <p:nvPr/>
          </p:nvSpPr>
          <p:spPr>
            <a:xfrm>
              <a:off x="1799539" y="3991356"/>
              <a:ext cx="3621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1E40A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A</a:t>
              </a:r>
              <a:endParaRPr lang="en-US" sz="900" dirty="0"/>
            </a:p>
          </p:txBody>
        </p:sp>
        <p:sp>
          <p:nvSpPr>
            <p:cNvPr id="29" name="Shape 20"/>
            <p:cNvSpPr/>
            <p:nvPr/>
          </p:nvSpPr>
          <p:spPr>
            <a:xfrm>
              <a:off x="2170786" y="399135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BBF7D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" name="Text 21"/>
            <p:cNvSpPr txBox="1"/>
            <p:nvPr/>
          </p:nvSpPr>
          <p:spPr>
            <a:xfrm>
              <a:off x="2142439" y="3991356"/>
              <a:ext cx="3621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16653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C</a:t>
              </a:r>
              <a:endParaRPr lang="en-US" sz="900" dirty="0"/>
            </a:p>
          </p:txBody>
        </p:sp>
      </p:grpSp>
      <p:sp>
        <p:nvSpPr>
          <p:cNvPr id="31" name="Shape 22"/>
          <p:cNvSpPr/>
          <p:nvPr/>
        </p:nvSpPr>
        <p:spPr>
          <a:xfrm>
            <a:off x="8096098" y="1447495"/>
            <a:ext cx="3648456" cy="3619195"/>
          </a:xfrm>
          <a:prstGeom prst="roundRect">
            <a:avLst>
              <a:gd name="adj" fmla="val 212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2"/>
          <a:srcRect l="-126" r="-126"/>
          <a:stretch/>
        </p:blipFill>
        <p:spPr>
          <a:xfrm>
            <a:off x="9499702" y="1304849"/>
            <a:ext cx="2076602" cy="30449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900209" y="1304849"/>
            <a:ext cx="184251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式を書かずにできる！ </a:t>
            </a:r>
            <a:endParaRPr lang="en-US" sz="12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3"/>
          <a:srcRect l="-33" r="-33"/>
          <a:stretch/>
        </p:blipFill>
        <p:spPr>
          <a:xfrm>
            <a:off x="9651492" y="1390802"/>
            <a:ext cx="171907" cy="152705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8296351" y="1723644"/>
            <a:ext cx="34390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sz="13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設定画面のイメージ </a:t>
            </a:r>
            <a:endParaRPr lang="en-US" sz="13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4"/>
          <a:srcRect t="-5" b="-5"/>
          <a:stretch/>
        </p:blipFill>
        <p:spPr>
          <a:xfrm>
            <a:off x="8296351" y="2143354"/>
            <a:ext cx="3238805" cy="1505102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8458200" y="2295144"/>
            <a:ext cx="943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差出人（From）</a:t>
            </a:r>
            <a:endParaRPr lang="en-US" sz="900" dirty="0"/>
          </a:p>
        </p:txBody>
      </p:sp>
      <p:sp>
        <p:nvSpPr>
          <p:cNvPr id="38" name="Shape 26"/>
          <p:cNvSpPr/>
          <p:nvPr/>
        </p:nvSpPr>
        <p:spPr>
          <a:xfrm>
            <a:off x="8458200" y="2495398"/>
            <a:ext cx="2924251" cy="362102"/>
          </a:xfrm>
          <a:prstGeom prst="roundRect">
            <a:avLst>
              <a:gd name="adj" fmla="val 53163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27"/>
          <p:cNvSpPr/>
          <p:nvPr/>
        </p:nvSpPr>
        <p:spPr>
          <a:xfrm>
            <a:off x="8581644" y="2581351"/>
            <a:ext cx="295351" cy="190195"/>
          </a:xfrm>
          <a:prstGeom prst="roundRect">
            <a:avLst>
              <a:gd name="adj" fmla="val 192308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28"/>
          <p:cNvSpPr txBox="1"/>
          <p:nvPr/>
        </p:nvSpPr>
        <p:spPr>
          <a:xfrm>
            <a:off x="8581644" y="2581351"/>
            <a:ext cx="37216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E22C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⚡</a:t>
            </a:r>
            <a:endParaRPr lang="en-US" sz="900" dirty="0"/>
          </a:p>
        </p:txBody>
      </p:sp>
      <p:sp>
        <p:nvSpPr>
          <p:cNvPr id="41" name="Text 29"/>
          <p:cNvSpPr txBox="1"/>
          <p:nvPr/>
        </p:nvSpPr>
        <p:spPr>
          <a:xfrm>
            <a:off x="8952890" y="2581351"/>
            <a:ext cx="884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本文 (Value)</a:t>
            </a:r>
            <a:endParaRPr lang="en-US" sz="1000" dirty="0"/>
          </a:p>
        </p:txBody>
      </p:sp>
      <p:sp>
        <p:nvSpPr>
          <p:cNvPr id="42" name="Text 30"/>
          <p:cNvSpPr txBox="1"/>
          <p:nvPr/>
        </p:nvSpPr>
        <p:spPr>
          <a:xfrm>
            <a:off x="8458200" y="2962656"/>
            <a:ext cx="12646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条件（Filter Query）</a:t>
            </a:r>
            <a:endParaRPr lang="en-US" sz="900" dirty="0"/>
          </a:p>
        </p:txBody>
      </p:sp>
      <p:sp>
        <p:nvSpPr>
          <p:cNvPr id="43" name="Shape 31"/>
          <p:cNvSpPr/>
          <p:nvPr/>
        </p:nvSpPr>
        <p:spPr>
          <a:xfrm>
            <a:off x="8458200" y="3161995"/>
            <a:ext cx="923544" cy="323698"/>
          </a:xfrm>
          <a:prstGeom prst="roundRect">
            <a:avLst>
              <a:gd name="adj" fmla="val 66467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Text 32"/>
          <p:cNvSpPr txBox="1"/>
          <p:nvPr/>
        </p:nvSpPr>
        <p:spPr>
          <a:xfrm>
            <a:off x="8458200" y="3161995"/>
            <a:ext cx="9811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76200" rIns="381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22C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⚡</a:t>
            </a: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Title </a:t>
            </a:r>
            <a:endParaRPr lang="en-US" sz="900" dirty="0"/>
          </a:p>
        </p:txBody>
      </p:sp>
      <p:sp>
        <p:nvSpPr>
          <p:cNvPr id="45" name="Shape 33"/>
          <p:cNvSpPr/>
          <p:nvPr/>
        </p:nvSpPr>
        <p:spPr>
          <a:xfrm>
            <a:off x="8505749" y="3247949"/>
            <a:ext cx="219456" cy="152705"/>
          </a:xfrm>
          <a:prstGeom prst="roundRect">
            <a:avLst>
              <a:gd name="adj" fmla="val 299401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4"/>
          <p:cNvSpPr txBox="1"/>
          <p:nvPr/>
        </p:nvSpPr>
        <p:spPr>
          <a:xfrm>
            <a:off x="8505749" y="3247949"/>
            <a:ext cx="295351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0" rIns="3810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E22C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⚡</a:t>
            </a:r>
            <a:endParaRPr lang="en-US" sz="900" dirty="0"/>
          </a:p>
        </p:txBody>
      </p:sp>
      <p:sp>
        <p:nvSpPr>
          <p:cNvPr id="47" name="Shape 35"/>
          <p:cNvSpPr/>
          <p:nvPr/>
        </p:nvSpPr>
        <p:spPr>
          <a:xfrm>
            <a:off x="9454896" y="3161995"/>
            <a:ext cx="923544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Text 36"/>
          <p:cNvSpPr txBox="1"/>
          <p:nvPr/>
        </p:nvSpPr>
        <p:spPr>
          <a:xfrm>
            <a:off x="9426550" y="3161995"/>
            <a:ext cx="9811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76200" rIns="381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を含む</a:t>
            </a:r>
            <a:endParaRPr lang="en-US" sz="900" dirty="0"/>
          </a:p>
        </p:txBody>
      </p:sp>
      <p:sp>
        <p:nvSpPr>
          <p:cNvPr id="49" name="Shape 37"/>
          <p:cNvSpPr/>
          <p:nvPr/>
        </p:nvSpPr>
        <p:spPr>
          <a:xfrm>
            <a:off x="10452506" y="3161995"/>
            <a:ext cx="923544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38"/>
          <p:cNvSpPr txBox="1"/>
          <p:nvPr/>
        </p:nvSpPr>
        <p:spPr>
          <a:xfrm>
            <a:off x="10452506" y="3161995"/>
            <a:ext cx="9811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76200" rIns="381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</a:t>
            </a:r>
            <a:endParaRPr lang="en-US" sz="900" dirty="0"/>
          </a:p>
        </p:txBody>
      </p:sp>
      <p:sp>
        <p:nvSpPr>
          <p:cNvPr id="51" name="Text 39"/>
          <p:cNvSpPr txBox="1"/>
          <p:nvPr/>
        </p:nvSpPr>
        <p:spPr>
          <a:xfrm>
            <a:off x="8296351" y="3877056"/>
            <a:ext cx="34390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</a:t>
            </a:r>
            <a:r>
              <a:rPr lang="en-US" sz="13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覚えるのはこの3つ </a:t>
            </a:r>
            <a:endParaRPr lang="en-US" sz="1300" dirty="0"/>
          </a:p>
        </p:txBody>
      </p:sp>
      <p:sp>
        <p:nvSpPr>
          <p:cNvPr id="52" name="Shape 40"/>
          <p:cNvSpPr/>
          <p:nvPr/>
        </p:nvSpPr>
        <p:spPr>
          <a:xfrm>
            <a:off x="8296351" y="4219956"/>
            <a:ext cx="3247949" cy="400507"/>
          </a:xfrm>
          <a:prstGeom prst="roundRect">
            <a:avLst>
              <a:gd name="adj" fmla="val 4348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41"/>
          <p:cNvSpPr/>
          <p:nvPr/>
        </p:nvSpPr>
        <p:spPr>
          <a:xfrm>
            <a:off x="8381390" y="4304995"/>
            <a:ext cx="228600" cy="2286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42"/>
          <p:cNvSpPr/>
          <p:nvPr/>
        </p:nvSpPr>
        <p:spPr>
          <a:xfrm>
            <a:off x="8353044" y="4304995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900" dirty="0"/>
          </a:p>
        </p:txBody>
      </p:sp>
      <p:sp>
        <p:nvSpPr>
          <p:cNvPr id="55" name="Text 43"/>
          <p:cNvSpPr txBox="1"/>
          <p:nvPr/>
        </p:nvSpPr>
        <p:spPr>
          <a:xfrm>
            <a:off x="8724290" y="4324198"/>
            <a:ext cx="1258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等しい </a:t>
            </a: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(完全一致)</a:t>
            </a:r>
            <a:endParaRPr lang="en-US" sz="1000" dirty="0"/>
          </a:p>
        </p:txBody>
      </p:sp>
      <p:sp>
        <p:nvSpPr>
          <p:cNvPr id="56" name="Shape 44"/>
          <p:cNvSpPr/>
          <p:nvPr/>
        </p:nvSpPr>
        <p:spPr>
          <a:xfrm>
            <a:off x="8296351" y="4695444"/>
            <a:ext cx="3247949" cy="400507"/>
          </a:xfrm>
          <a:prstGeom prst="roundRect">
            <a:avLst>
              <a:gd name="adj" fmla="val 4348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45"/>
          <p:cNvSpPr/>
          <p:nvPr/>
        </p:nvSpPr>
        <p:spPr>
          <a:xfrm>
            <a:off x="8381390" y="4781398"/>
            <a:ext cx="228600" cy="2286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46"/>
          <p:cNvSpPr/>
          <p:nvPr/>
        </p:nvSpPr>
        <p:spPr>
          <a:xfrm>
            <a:off x="8353044" y="4781398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Text 47"/>
          <p:cNvSpPr txBox="1"/>
          <p:nvPr/>
        </p:nvSpPr>
        <p:spPr>
          <a:xfrm>
            <a:off x="8724290" y="4800600"/>
            <a:ext cx="1258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を含む </a:t>
            </a: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(部分一致)</a:t>
            </a:r>
            <a:endParaRPr lang="en-US" sz="1000" dirty="0"/>
          </a:p>
        </p:txBody>
      </p:sp>
      <p:sp>
        <p:nvSpPr>
          <p:cNvPr id="60" name="Shape 48"/>
          <p:cNvSpPr/>
          <p:nvPr/>
        </p:nvSpPr>
        <p:spPr>
          <a:xfrm>
            <a:off x="8296351" y="5171846"/>
            <a:ext cx="3247949" cy="400507"/>
          </a:xfrm>
          <a:prstGeom prst="roundRect">
            <a:avLst>
              <a:gd name="adj" fmla="val 43488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Shape 49"/>
          <p:cNvSpPr/>
          <p:nvPr/>
        </p:nvSpPr>
        <p:spPr>
          <a:xfrm>
            <a:off x="8381390" y="5257800"/>
            <a:ext cx="228600" cy="2286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Text 50"/>
          <p:cNvSpPr/>
          <p:nvPr/>
        </p:nvSpPr>
        <p:spPr>
          <a:xfrm>
            <a:off x="8353044" y="5257800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900" dirty="0"/>
          </a:p>
        </p:txBody>
      </p:sp>
      <p:sp>
        <p:nvSpPr>
          <p:cNvPr id="63" name="Text 51"/>
          <p:cNvSpPr txBox="1"/>
          <p:nvPr/>
        </p:nvSpPr>
        <p:spPr>
          <a:xfrm>
            <a:off x="8724290" y="5277002"/>
            <a:ext cx="168523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より大きい </a:t>
            </a: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(数値・日付)</a:t>
            </a:r>
            <a:endParaRPr lang="en-US" sz="1000" dirty="0"/>
          </a:p>
        </p:txBody>
      </p:sp>
      <p:sp>
        <p:nvSpPr>
          <p:cNvPr id="64" name="Shape 52"/>
          <p:cNvSpPr/>
          <p:nvPr/>
        </p:nvSpPr>
        <p:spPr>
          <a:xfrm>
            <a:off x="0" y="5143500"/>
            <a:ext cx="12191695" cy="1714500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Shape 53"/>
          <p:cNvSpPr/>
          <p:nvPr/>
        </p:nvSpPr>
        <p:spPr>
          <a:xfrm>
            <a:off x="8906256" y="5411419"/>
            <a:ext cx="9144" cy="1181405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54"/>
          <p:cNvSpPr txBox="1"/>
          <p:nvPr/>
        </p:nvSpPr>
        <p:spPr>
          <a:xfrm>
            <a:off x="676656" y="5411419"/>
            <a:ext cx="81153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ACC1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まとめ：まずは減らす！ </a:t>
            </a:r>
            <a:endParaRPr lang="en-US" sz="1500" dirty="0"/>
          </a:p>
        </p:txBody>
      </p:sp>
      <p:pic>
        <p:nvPicPr>
          <p:cNvPr id="67" name="Image 10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57200" y="5454396"/>
            <a:ext cx="142646" cy="190195"/>
          </a:xfrm>
          <a:prstGeom prst="rect">
            <a:avLst/>
          </a:prstGeom>
        </p:spPr>
      </p:pic>
      <p:sp>
        <p:nvSpPr>
          <p:cNvPr id="68" name="Text 55"/>
          <p:cNvSpPr txBox="1"/>
          <p:nvPr/>
        </p:nvSpPr>
        <p:spPr>
          <a:xfrm>
            <a:off x="457200" y="5754319"/>
            <a:ext cx="8220456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棚（配列）は、そのままでは使いづらい。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まずは</a:t>
            </a:r>
            <a:r>
              <a:rPr lang="en-US" sz="1300" b="1" dirty="0">
                <a:solidFill>
                  <a:srgbClr val="FACC1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“必要な引き出しだけ”</a:t>
            </a: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に減らすのが鉄則。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Filter array は JSON で迷わないための必須スキルです。 </a:t>
            </a:r>
            <a:endParaRPr lang="en-US" sz="1300" dirty="0"/>
          </a:p>
        </p:txBody>
      </p:sp>
      <p:sp>
        <p:nvSpPr>
          <p:cNvPr id="69" name="Text 56"/>
          <p:cNvSpPr txBox="1"/>
          <p:nvPr/>
        </p:nvSpPr>
        <p:spPr>
          <a:xfrm>
            <a:off x="9832543" y="5715000"/>
            <a:ext cx="1910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初心者講座</a:t>
            </a:r>
            <a:endParaRPr lang="en-US" sz="1000" dirty="0"/>
          </a:p>
        </p:txBody>
      </p:sp>
      <p:sp>
        <p:nvSpPr>
          <p:cNvPr id="70" name="Text 57"/>
          <p:cNvSpPr txBox="1"/>
          <p:nvPr/>
        </p:nvSpPr>
        <p:spPr>
          <a:xfrm>
            <a:off x="9933127" y="5943600"/>
            <a:ext cx="1810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kern="0" spc="225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2200" dirty="0"/>
          </a:p>
        </p:txBody>
      </p:sp>
      <p:sp>
        <p:nvSpPr>
          <p:cNvPr id="72" name="Shape 58"/>
          <p:cNvSpPr/>
          <p:nvPr/>
        </p:nvSpPr>
        <p:spPr>
          <a:xfrm>
            <a:off x="3523183" y="1620317"/>
            <a:ext cx="40672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2" name="Image 15" descr="preencoded.png"/>
          <p:cNvPicPr>
            <a:picLocks noChangeAspect="1"/>
          </p:cNvPicPr>
          <p:nvPr/>
        </p:nvPicPr>
        <p:blipFill>
          <a:blip r:embed="rId16">
            <a:alphaModFix amt="60000"/>
          </a:blip>
          <a:srcRect t="-100" b="-100"/>
          <a:stretch/>
        </p:blipFill>
        <p:spPr>
          <a:xfrm>
            <a:off x="3608222" y="2247595"/>
            <a:ext cx="114300" cy="152705"/>
          </a:xfrm>
          <a:prstGeom prst="rect">
            <a:avLst/>
          </a:prstGeom>
        </p:spPr>
      </p:pic>
      <p:pic>
        <p:nvPicPr>
          <p:cNvPr id="84" name="Image 16" descr="preencoded.png"/>
          <p:cNvPicPr>
            <a:picLocks noChangeAspect="1"/>
          </p:cNvPicPr>
          <p:nvPr/>
        </p:nvPicPr>
        <p:blipFill>
          <a:blip r:embed="rId17"/>
          <a:srcRect t="-13" b="-13"/>
          <a:stretch/>
        </p:blipFill>
        <p:spPr>
          <a:xfrm>
            <a:off x="3389681" y="3877056"/>
            <a:ext cx="4325112" cy="1457554"/>
          </a:xfrm>
          <a:prstGeom prst="rect">
            <a:avLst/>
          </a:prstGeom>
        </p:spPr>
      </p:pic>
      <p:sp>
        <p:nvSpPr>
          <p:cNvPr id="85" name="Shape 66"/>
          <p:cNvSpPr/>
          <p:nvPr/>
        </p:nvSpPr>
        <p:spPr>
          <a:xfrm>
            <a:off x="3523183" y="4315054"/>
            <a:ext cx="4067251" cy="914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Text 67"/>
          <p:cNvSpPr txBox="1"/>
          <p:nvPr/>
        </p:nvSpPr>
        <p:spPr>
          <a:xfrm>
            <a:off x="3732581" y="4009644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必要な引き出しだけ残る！</a:t>
            </a:r>
            <a:endParaRPr lang="en-US" sz="1200" dirty="0"/>
          </a:p>
        </p:txBody>
      </p:sp>
      <p:sp>
        <p:nvSpPr>
          <p:cNvPr id="87" name="Shape 68"/>
          <p:cNvSpPr/>
          <p:nvPr/>
        </p:nvSpPr>
        <p:spPr>
          <a:xfrm>
            <a:off x="3523183" y="4401007"/>
            <a:ext cx="4067251" cy="362102"/>
          </a:xfrm>
          <a:prstGeom prst="roundRect">
            <a:avLst>
              <a:gd name="adj" fmla="val 5316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8" name="Image 17" descr="preencoded.png"/>
          <p:cNvPicPr>
            <a:picLocks noChangeAspect="1"/>
          </p:cNvPicPr>
          <p:nvPr/>
        </p:nvPicPr>
        <p:blipFill>
          <a:blip r:embed="rId18"/>
          <a:srcRect t="-100" b="-100"/>
          <a:stretch/>
        </p:blipFill>
        <p:spPr>
          <a:xfrm>
            <a:off x="3608222" y="4505249"/>
            <a:ext cx="114300" cy="152705"/>
          </a:xfrm>
          <a:prstGeom prst="rect">
            <a:avLst/>
          </a:prstGeom>
        </p:spPr>
      </p:pic>
      <p:sp>
        <p:nvSpPr>
          <p:cNvPr id="89" name="Text 69"/>
          <p:cNvSpPr txBox="1"/>
          <p:nvPr/>
        </p:nvSpPr>
        <p:spPr>
          <a:xfrm>
            <a:off x="3799332" y="4401007"/>
            <a:ext cx="9436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Title: "会議A"</a:t>
            </a:r>
            <a:endParaRPr lang="en-US" sz="1000" dirty="0"/>
          </a:p>
        </p:txBody>
      </p:sp>
      <p:sp>
        <p:nvSpPr>
          <p:cNvPr id="90" name="Shape 70"/>
          <p:cNvSpPr/>
          <p:nvPr/>
        </p:nvSpPr>
        <p:spPr>
          <a:xfrm>
            <a:off x="3523183" y="4839005"/>
            <a:ext cx="4067251" cy="362102"/>
          </a:xfrm>
          <a:prstGeom prst="roundRect">
            <a:avLst>
              <a:gd name="adj" fmla="val 5316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91" name="Image 18" descr="preencoded.png"/>
          <p:cNvPicPr>
            <a:picLocks noChangeAspect="1"/>
          </p:cNvPicPr>
          <p:nvPr/>
        </p:nvPicPr>
        <p:blipFill>
          <a:blip r:embed="rId18"/>
          <a:srcRect t="-100" b="-100"/>
          <a:stretch/>
        </p:blipFill>
        <p:spPr>
          <a:xfrm>
            <a:off x="3608222" y="4943246"/>
            <a:ext cx="114300" cy="152705"/>
          </a:xfrm>
          <a:prstGeom prst="rect">
            <a:avLst/>
          </a:prstGeom>
        </p:spPr>
      </p:pic>
      <p:sp>
        <p:nvSpPr>
          <p:cNvPr id="92" name="Text 71"/>
          <p:cNvSpPr txBox="1"/>
          <p:nvPr/>
        </p:nvSpPr>
        <p:spPr>
          <a:xfrm>
            <a:off x="3799332" y="4839005"/>
            <a:ext cx="9436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Title: "会議B"</a:t>
            </a:r>
            <a:endParaRPr lang="en-US" sz="1000" dirty="0"/>
          </a:p>
        </p:txBody>
      </p:sp>
      <p:pic>
        <p:nvPicPr>
          <p:cNvPr id="93" name="Image 19" descr="preencoded.png"/>
          <p:cNvPicPr>
            <a:picLocks noChangeAspect="1"/>
          </p:cNvPicPr>
          <p:nvPr/>
        </p:nvPicPr>
        <p:blipFill>
          <a:blip r:embed="rId19"/>
          <a:srcRect t="-43" b="-43"/>
          <a:stretch/>
        </p:blipFill>
        <p:spPr>
          <a:xfrm>
            <a:off x="3523183" y="4058107"/>
            <a:ext cx="133502" cy="152705"/>
          </a:xfrm>
          <a:prstGeom prst="rect">
            <a:avLst/>
          </a:prstGeom>
        </p:spPr>
      </p:pic>
      <p:pic>
        <p:nvPicPr>
          <p:cNvPr id="94" name="Image 20" descr="preencoded.png"/>
          <p:cNvPicPr>
            <a:picLocks noChangeAspect="1"/>
          </p:cNvPicPr>
          <p:nvPr/>
        </p:nvPicPr>
        <p:blipFill>
          <a:blip r:embed="rId20">
            <a:alphaModFix amt="30000"/>
          </a:blip>
          <a:srcRect l="-400" r="-400"/>
          <a:stretch/>
        </p:blipFill>
        <p:spPr>
          <a:xfrm>
            <a:off x="5533034" y="3191256"/>
            <a:ext cx="38405" cy="571500"/>
          </a:xfrm>
          <a:prstGeom prst="rect">
            <a:avLst/>
          </a:prstGeom>
        </p:spPr>
      </p:pic>
      <p:grpSp>
        <p:nvGrpSpPr>
          <p:cNvPr id="103" name="グループ化 102">
            <a:extLst>
              <a:ext uri="{FF2B5EF4-FFF2-40B4-BE49-F238E27FC236}">
                <a16:creationId xmlns:a16="http://schemas.microsoft.com/office/drawing/2014/main" id="{D663C3BA-DCA2-DE2A-B013-4673618790C6}"/>
              </a:ext>
            </a:extLst>
          </p:cNvPr>
          <p:cNvGrpSpPr/>
          <p:nvPr/>
        </p:nvGrpSpPr>
        <p:grpSpPr>
          <a:xfrm>
            <a:off x="4587544" y="2485339"/>
            <a:ext cx="2820010" cy="629107"/>
            <a:chOff x="4270248" y="3191256"/>
            <a:chExt cx="2820010" cy="629107"/>
          </a:xfrm>
        </p:grpSpPr>
        <p:pic>
          <p:nvPicPr>
            <p:cNvPr id="95" name="Image 21" descr="preencoded.png"/>
            <p:cNvPicPr>
              <a:picLocks noChangeAspect="1"/>
            </p:cNvPicPr>
            <p:nvPr/>
          </p:nvPicPr>
          <p:blipFill>
            <a:blip r:embed="rId21"/>
            <a:srcRect t="-35" b="-35"/>
            <a:stretch/>
          </p:blipFill>
          <p:spPr>
            <a:xfrm>
              <a:off x="4270248" y="3191256"/>
              <a:ext cx="2820010" cy="629107"/>
            </a:xfrm>
            <a:prstGeom prst="rect">
              <a:avLst/>
            </a:prstGeom>
          </p:spPr>
        </p:pic>
        <p:pic>
          <p:nvPicPr>
            <p:cNvPr id="96" name="Image 22" descr="preencoded.png"/>
            <p:cNvPicPr>
              <a:picLocks noChangeAspect="1"/>
            </p:cNvPicPr>
            <p:nvPr/>
          </p:nvPicPr>
          <p:blipFill>
            <a:blip r:embed="rId22"/>
            <a:srcRect t="-17218" b="-17218"/>
            <a:stretch/>
          </p:blipFill>
          <p:spPr>
            <a:xfrm>
              <a:off x="4393692" y="3293669"/>
              <a:ext cx="276149" cy="371246"/>
            </a:xfrm>
            <a:prstGeom prst="rect">
              <a:avLst/>
            </a:prstGeom>
          </p:spPr>
        </p:pic>
        <p:sp>
          <p:nvSpPr>
            <p:cNvPr id="97" name="Text 72"/>
            <p:cNvSpPr txBox="1"/>
            <p:nvPr/>
          </p:nvSpPr>
          <p:spPr>
            <a:xfrm>
              <a:off x="4791456" y="3455518"/>
              <a:ext cx="2045513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条件：Title が "会議" を含む</a:t>
              </a:r>
              <a:endParaRPr lang="en-US" sz="1000" dirty="0"/>
            </a:p>
          </p:txBody>
        </p:sp>
        <p:sp>
          <p:nvSpPr>
            <p:cNvPr id="98" name="Text 73"/>
            <p:cNvSpPr txBox="1"/>
            <p:nvPr/>
          </p:nvSpPr>
          <p:spPr>
            <a:xfrm>
              <a:off x="4791456" y="3288182"/>
              <a:ext cx="2078431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FFFFFF">
                      <a:alpha val="80000"/>
                    </a:srgb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アレイのフィルター処理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D9D5A-C6DB-1FA7-69AE-30CBB0340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>
            <a:extLst>
              <a:ext uri="{FF2B5EF4-FFF2-40B4-BE49-F238E27FC236}">
                <a16:creationId xmlns:a16="http://schemas.microsoft.com/office/drawing/2014/main" id="{D592EF6D-A468-7FBE-BCAC-B6894D567614}"/>
              </a:ext>
            </a:extLst>
          </p:cNvPr>
          <p:cNvSpPr/>
          <p:nvPr/>
        </p:nvSpPr>
        <p:spPr>
          <a:xfrm>
            <a:off x="-14913" y="-69952"/>
            <a:ext cx="12191695" cy="76169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C78AA0B8-7ECD-9598-7E69-48E43A366F3D}"/>
              </a:ext>
            </a:extLst>
          </p:cNvPr>
          <p:cNvSpPr/>
          <p:nvPr/>
        </p:nvSpPr>
        <p:spPr>
          <a:xfrm>
            <a:off x="188332" y="78173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B3F1D0B-7571-8364-321D-28E5FCA2FAFE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Vol.21</a:t>
            </a:r>
            <a:endParaRPr lang="en-US" sz="3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7E93123-89F8-BD35-A248-B01AA6ADD4BF}"/>
              </a:ext>
            </a:extLst>
          </p:cNvPr>
          <p:cNvSpPr txBox="1"/>
          <p:nvPr/>
        </p:nvSpPr>
        <p:spPr>
          <a:xfrm>
            <a:off x="1926963" y="154814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 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ハマってしまう７選＆解決方法</a:t>
            </a:r>
            <a:endParaRPr lang="en-US" sz="32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34972E3-DC3A-1767-6FDB-CF3B24DF5D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847" y="780898"/>
            <a:ext cx="11430000" cy="520294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C6B0E937-ACF5-2D2C-84D0-FD816F670047}"/>
              </a:ext>
            </a:extLst>
          </p:cNvPr>
          <p:cNvSpPr txBox="1"/>
          <p:nvPr/>
        </p:nvSpPr>
        <p:spPr>
          <a:xfrm>
            <a:off x="1057961" y="774389"/>
            <a:ext cx="10991226" cy="548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24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「Apply to each が勝手に出てきた…」</a:t>
            </a:r>
            <a:r>
              <a:rPr lang="en-US" altLang="ja-JP" sz="24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から始まる</a:t>
            </a:r>
            <a:r>
              <a:rPr lang="en-US" altLang="ja-JP" sz="24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混乱</a:t>
            </a:r>
            <a:r>
              <a:rPr lang="ja-JP" altLang="en-US" sz="24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等への解決方法</a:t>
            </a:r>
            <a:endParaRPr lang="en-US" altLang="ja-JP" sz="2400" dirty="0"/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6377E8DD-9A27-44F2-E26C-BF7030475F85}"/>
              </a:ext>
            </a:extLst>
          </p:cNvPr>
          <p:cNvSpPr/>
          <p:nvPr/>
        </p:nvSpPr>
        <p:spPr>
          <a:xfrm>
            <a:off x="44269" y="-50800"/>
            <a:ext cx="12103265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C5289F0E-A87A-7C8F-9CDD-AE432BB71155}"/>
              </a:ext>
            </a:extLst>
          </p:cNvPr>
          <p:cNvSpPr/>
          <p:nvPr/>
        </p:nvSpPr>
        <p:spPr>
          <a:xfrm>
            <a:off x="249515" y="831975"/>
            <a:ext cx="193903" cy="992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5892F4DB-3199-A019-4B01-A2918F0E4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07" y="638771"/>
            <a:ext cx="786647" cy="786647"/>
          </a:xfrm>
          <a:prstGeom prst="rect">
            <a:avLst/>
          </a:prstGeom>
        </p:spPr>
      </p:pic>
      <p:sp>
        <p:nvSpPr>
          <p:cNvPr id="16" name="Shape 6">
            <a:extLst>
              <a:ext uri="{FF2B5EF4-FFF2-40B4-BE49-F238E27FC236}">
                <a16:creationId xmlns:a16="http://schemas.microsoft.com/office/drawing/2014/main" id="{11349A86-52A5-82A6-61C3-4E75039B5294}"/>
              </a:ext>
            </a:extLst>
          </p:cNvPr>
          <p:cNvSpPr/>
          <p:nvPr/>
        </p:nvSpPr>
        <p:spPr>
          <a:xfrm>
            <a:off x="304495" y="1447494"/>
            <a:ext cx="2809951" cy="2158253"/>
          </a:xfrm>
          <a:prstGeom prst="roundRect">
            <a:avLst>
              <a:gd name="adj" fmla="val 4690"/>
            </a:avLst>
          </a:prstGeom>
          <a:solidFill>
            <a:srgbClr val="FFFFFF">
              <a:alpha val="97000"/>
            </a:srgbClr>
          </a:solidFill>
          <a:ln w="31750">
            <a:solidFill>
              <a:schemeClr val="tx1">
                <a:lumMod val="65000"/>
                <a:lumOff val="35000"/>
                <a:alpha val="96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ja-JP" altLang="en-US" sz="320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DD61A6C1-8913-7869-2A3A-7E4DA5B995F7}"/>
              </a:ext>
            </a:extLst>
          </p:cNvPr>
          <p:cNvSpPr txBox="1"/>
          <p:nvPr/>
        </p:nvSpPr>
        <p:spPr>
          <a:xfrm>
            <a:off x="409499" y="1591800"/>
            <a:ext cx="3012948" cy="47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1️⃣ Apply to </a:t>
            </a: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each が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勝手に出てくる</a:t>
            </a:r>
            <a:endParaRPr lang="en-US" sz="20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543A53A6-39DF-68F6-63BB-DA72D240FA5A}"/>
              </a:ext>
            </a:extLst>
          </p:cNvPr>
          <p:cNvSpPr txBox="1"/>
          <p:nvPr/>
        </p:nvSpPr>
        <p:spPr>
          <a:xfrm>
            <a:off x="625838" y="2310376"/>
            <a:ext cx="2753258" cy="346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原因：一覧取得は必ず</a:t>
            </a:r>
          </a:p>
          <a:p>
            <a:pPr marL="0" indent="0">
              <a:buNone/>
            </a:pP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「</a:t>
            </a: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配列」で返る</a:t>
            </a:r>
            <a:endParaRPr lang="en-US" sz="1400" b="1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EDB8001-D95E-92D7-6FFA-4149B7E687BB}"/>
              </a:ext>
            </a:extLst>
          </p:cNvPr>
          <p:cNvSpPr txBox="1"/>
          <p:nvPr/>
        </p:nvSpPr>
        <p:spPr>
          <a:xfrm>
            <a:off x="304495" y="2713221"/>
            <a:ext cx="2638958" cy="566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💡 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解決：回したくないときは</a:t>
            </a:r>
          </a:p>
          <a:p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        「</a:t>
            </a:r>
            <a:r>
              <a:rPr lang="en-US" sz="1400" b="1" dirty="0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Select」で形変換</a:t>
            </a:r>
            <a:endParaRPr lang="en-US" sz="1400" b="1" dirty="0">
              <a:solidFill>
                <a:srgbClr val="008000"/>
              </a:solidFill>
            </a:endParaRP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AC201535-D7A0-E8E2-668B-48A7165465C4}"/>
              </a:ext>
            </a:extLst>
          </p:cNvPr>
          <p:cNvSpPr/>
          <p:nvPr/>
        </p:nvSpPr>
        <p:spPr>
          <a:xfrm>
            <a:off x="444192" y="3324936"/>
            <a:ext cx="2562149" cy="228600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6D097E86-C054-B82A-77D9-851823816A04}"/>
              </a:ext>
            </a:extLst>
          </p:cNvPr>
          <p:cNvSpPr txBox="1"/>
          <p:nvPr/>
        </p:nvSpPr>
        <p:spPr>
          <a:xfrm>
            <a:off x="393761" y="3379824"/>
            <a:ext cx="26005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ffectLst>
                  <a:glow rad="1524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一言：配列＝行の束</a:t>
            </a:r>
            <a:endParaRPr lang="en-US" sz="1200" dirty="0">
              <a:solidFill>
                <a:schemeClr val="bg1"/>
              </a:solidFill>
              <a:effectLst>
                <a:glow rad="152400">
                  <a:schemeClr val="tx1">
                    <a:lumMod val="85000"/>
                    <a:lumOff val="15000"/>
                  </a:schemeClr>
                </a:glow>
              </a:effectLst>
            </a:endParaRPr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2505A496-D55A-2B9F-478C-B2E1F5F2BA86}"/>
              </a:ext>
            </a:extLst>
          </p:cNvPr>
          <p:cNvSpPr/>
          <p:nvPr/>
        </p:nvSpPr>
        <p:spPr>
          <a:xfrm>
            <a:off x="3228746" y="1447494"/>
            <a:ext cx="2809951" cy="2183365"/>
          </a:xfrm>
          <a:prstGeom prst="roundRect">
            <a:avLst>
              <a:gd name="adj" fmla="val 4690"/>
            </a:avLst>
          </a:prstGeom>
          <a:solidFill>
            <a:srgbClr val="FFFFFF">
              <a:alpha val="97000"/>
            </a:srgbClr>
          </a:solidFill>
          <a:ln w="31750">
            <a:solidFill>
              <a:schemeClr val="tx1">
                <a:lumMod val="65000"/>
                <a:lumOff val="35000"/>
                <a:alpha val="96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ja-JP" altLang="en-US" sz="320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2064251A-D469-F7F9-3AA8-883B39A2C7D3}"/>
              </a:ext>
            </a:extLst>
          </p:cNvPr>
          <p:cNvSpPr txBox="1"/>
          <p:nvPr/>
        </p:nvSpPr>
        <p:spPr>
          <a:xfrm>
            <a:off x="3448051" y="1521568"/>
            <a:ext cx="2918765" cy="557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2️⃣ Filter </a:t>
            </a: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array の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条件が通らない</a:t>
            </a:r>
            <a:endParaRPr lang="en-US" sz="2000" dirty="0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6BB22445-26F9-8137-6F48-6E6E9CA38080}"/>
              </a:ext>
            </a:extLst>
          </p:cNvPr>
          <p:cNvSpPr txBox="1"/>
          <p:nvPr/>
        </p:nvSpPr>
        <p:spPr>
          <a:xfrm>
            <a:off x="3404207" y="2287509"/>
            <a:ext cx="27532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</a:t>
            </a: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：比較する値の</a:t>
            </a:r>
          </a:p>
          <a:p>
            <a:pPr marL="0" indent="0">
              <a:buNone/>
            </a:pPr>
            <a:r>
              <a:rPr lang="ja-JP" alt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</a:t>
            </a: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</a:t>
            </a: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型”が違う</a:t>
            </a:r>
            <a:endParaRPr lang="en-US" sz="1400" b="1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4BF74589-4B25-36CA-10C3-77E308BA64DA}"/>
              </a:ext>
            </a:extLst>
          </p:cNvPr>
          <p:cNvSpPr txBox="1"/>
          <p:nvPr/>
        </p:nvSpPr>
        <p:spPr>
          <a:xfrm>
            <a:off x="3228746" y="2690663"/>
            <a:ext cx="2638958" cy="437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💡 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</a:t>
            </a:r>
            <a:r>
              <a:rPr lang="en-US" sz="1400" b="1" dirty="0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数値は数値／</a:t>
            </a:r>
          </a:p>
          <a:p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          文字は文字／</a:t>
            </a:r>
          </a:p>
          <a:p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   日付は formatDateTime</a:t>
            </a:r>
            <a:endParaRPr lang="en-US" sz="1400" b="1" dirty="0">
              <a:solidFill>
                <a:srgbClr val="008000"/>
              </a:solidFill>
            </a:endParaRPr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EEA5A6B3-2513-A5DC-09E3-FDB1DA468AA7}"/>
              </a:ext>
            </a:extLst>
          </p:cNvPr>
          <p:cNvSpPr/>
          <p:nvPr/>
        </p:nvSpPr>
        <p:spPr>
          <a:xfrm>
            <a:off x="3343046" y="3303929"/>
            <a:ext cx="2562149" cy="228600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72B203B1-7675-5D82-8E66-EF13CDAC9332}"/>
              </a:ext>
            </a:extLst>
          </p:cNvPr>
          <p:cNvSpPr txBox="1"/>
          <p:nvPr/>
        </p:nvSpPr>
        <p:spPr>
          <a:xfrm>
            <a:off x="3323843" y="3342334"/>
            <a:ext cx="26005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ffectLst>
                  <a:glow rad="139700">
                    <a:schemeClr val="tx1">
                      <a:lumMod val="85000"/>
                      <a:lumOff val="15000"/>
                      <a:alpha val="92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一言：「型を揃える」だけで解決</a:t>
            </a:r>
            <a:endParaRPr lang="en-US" sz="1200" dirty="0">
              <a:solidFill>
                <a:schemeClr val="bg1"/>
              </a:solidFill>
              <a:effectLst>
                <a:glow rad="139700">
                  <a:schemeClr val="tx1">
                    <a:lumMod val="85000"/>
                    <a:lumOff val="15000"/>
                    <a:alpha val="92000"/>
                  </a:schemeClr>
                </a:glow>
              </a:effectLst>
            </a:endParaRPr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80758CE1-8013-4AE6-AA21-74FDF03B991A}"/>
              </a:ext>
            </a:extLst>
          </p:cNvPr>
          <p:cNvSpPr/>
          <p:nvPr/>
        </p:nvSpPr>
        <p:spPr>
          <a:xfrm>
            <a:off x="6152998" y="1447495"/>
            <a:ext cx="2809951" cy="2183364"/>
          </a:xfrm>
          <a:prstGeom prst="roundRect">
            <a:avLst>
              <a:gd name="adj" fmla="val 4690"/>
            </a:avLst>
          </a:prstGeom>
          <a:solidFill>
            <a:srgbClr val="FFFFFF">
              <a:alpha val="97000"/>
            </a:srgbClr>
          </a:solidFill>
          <a:ln w="31750">
            <a:solidFill>
              <a:schemeClr val="tx1">
                <a:lumMod val="65000"/>
                <a:lumOff val="35000"/>
                <a:alpha val="96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ja-JP" altLang="en-US" sz="320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F0C4C83C-C64F-02BC-F5D1-39AE89B7DC98}"/>
              </a:ext>
            </a:extLst>
          </p:cNvPr>
          <p:cNvSpPr txBox="1"/>
          <p:nvPr/>
        </p:nvSpPr>
        <p:spPr>
          <a:xfrm>
            <a:off x="6267297" y="1595318"/>
            <a:ext cx="26389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3️⃣ </a:t>
            </a: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Select が何を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してるか分からない</a:t>
            </a:r>
            <a:endParaRPr lang="en-US" sz="200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8D56629A-3319-50A9-EE18-F2F447282EA9}"/>
              </a:ext>
            </a:extLst>
          </p:cNvPr>
          <p:cNvSpPr txBox="1"/>
          <p:nvPr/>
        </p:nvSpPr>
        <p:spPr>
          <a:xfrm>
            <a:off x="6352985" y="2223985"/>
            <a:ext cx="2753258" cy="32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原因：目的が「形変換</a:t>
            </a: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」と</a:t>
            </a:r>
          </a:p>
          <a:p>
            <a:pPr marL="0" indent="0">
              <a:buNone/>
            </a:pP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   理解されていない</a:t>
            </a:r>
            <a:endParaRPr lang="en-US" sz="1400" b="1" dirty="0"/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90370DA0-0029-EF8D-F2CC-839514AB02CA}"/>
              </a:ext>
            </a:extLst>
          </p:cNvPr>
          <p:cNvSpPr txBox="1"/>
          <p:nvPr/>
        </p:nvSpPr>
        <p:spPr>
          <a:xfrm>
            <a:off x="6127887" y="2701622"/>
            <a:ext cx="2753258" cy="43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💡 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解決：“配列の列構造を</a:t>
            </a:r>
          </a:p>
          <a:p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    作り直すツール</a:t>
            </a:r>
            <a:r>
              <a:rPr lang="en-US" sz="1400" b="1" dirty="0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”と覚える</a:t>
            </a:r>
            <a:endParaRPr lang="en-US" sz="1400" b="1" dirty="0">
              <a:solidFill>
                <a:srgbClr val="008000"/>
              </a:solidFill>
            </a:endParaRPr>
          </a:p>
        </p:txBody>
      </p:sp>
      <p:sp>
        <p:nvSpPr>
          <p:cNvPr id="57" name="Shape 22">
            <a:extLst>
              <a:ext uri="{FF2B5EF4-FFF2-40B4-BE49-F238E27FC236}">
                <a16:creationId xmlns:a16="http://schemas.microsoft.com/office/drawing/2014/main" id="{7B0E82FE-B34F-DAC4-BED7-706078294781}"/>
              </a:ext>
            </a:extLst>
          </p:cNvPr>
          <p:cNvSpPr/>
          <p:nvPr/>
        </p:nvSpPr>
        <p:spPr>
          <a:xfrm>
            <a:off x="6267297" y="3261660"/>
            <a:ext cx="2695652" cy="321632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58" name="Text 23">
            <a:extLst>
              <a:ext uri="{FF2B5EF4-FFF2-40B4-BE49-F238E27FC236}">
                <a16:creationId xmlns:a16="http://schemas.microsoft.com/office/drawing/2014/main" id="{630DC0DA-255F-3626-213C-B89F25F2D6F9}"/>
              </a:ext>
            </a:extLst>
          </p:cNvPr>
          <p:cNvSpPr txBox="1"/>
          <p:nvPr/>
        </p:nvSpPr>
        <p:spPr>
          <a:xfrm>
            <a:off x="6248095" y="3342334"/>
            <a:ext cx="26005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ffectLst>
                  <a:glow rad="139700">
                    <a:schemeClr val="tx1">
                      <a:lumMod val="85000"/>
                      <a:lumOff val="15000"/>
                      <a:alpha val="92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一言</a:t>
            </a:r>
            <a:r>
              <a:rPr lang="en-US" sz="1200" b="1">
                <a:solidFill>
                  <a:schemeClr val="bg1"/>
                </a:solidFill>
                <a:effectLst>
                  <a:glow rad="139700">
                    <a:schemeClr val="tx1">
                      <a:lumMod val="85000"/>
                      <a:lumOff val="15000"/>
                      <a:alpha val="92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：中身は変えずに</a:t>
            </a:r>
          </a:p>
          <a:p>
            <a:pPr marL="0" indent="0" algn="ctr">
              <a:buNone/>
            </a:pPr>
            <a:r>
              <a:rPr lang="en-US" sz="1200" b="1">
                <a:solidFill>
                  <a:schemeClr val="bg1"/>
                </a:solidFill>
                <a:effectLst>
                  <a:glow rad="139700">
                    <a:schemeClr val="tx1">
                      <a:lumMod val="85000"/>
                      <a:lumOff val="15000"/>
                      <a:alpha val="92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lang="en-US" sz="1200" b="1" dirty="0">
                <a:solidFill>
                  <a:schemeClr val="bg1"/>
                </a:solidFill>
                <a:effectLst>
                  <a:glow rad="139700">
                    <a:schemeClr val="tx1">
                      <a:lumMod val="85000"/>
                      <a:lumOff val="15000"/>
                      <a:alpha val="92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服だけ着替える」</a:t>
            </a:r>
            <a:endParaRPr lang="en-US" sz="1200" dirty="0">
              <a:solidFill>
                <a:schemeClr val="bg1"/>
              </a:solidFill>
              <a:effectLst>
                <a:glow rad="139700">
                  <a:schemeClr val="tx1">
                    <a:lumMod val="85000"/>
                    <a:lumOff val="15000"/>
                    <a:alpha val="92000"/>
                  </a:schemeClr>
                </a:glow>
              </a:effectLst>
            </a:endParaRPr>
          </a:p>
        </p:txBody>
      </p:sp>
      <p:sp>
        <p:nvSpPr>
          <p:cNvPr id="63" name="Shape 24">
            <a:extLst>
              <a:ext uri="{FF2B5EF4-FFF2-40B4-BE49-F238E27FC236}">
                <a16:creationId xmlns:a16="http://schemas.microsoft.com/office/drawing/2014/main" id="{B43FF878-46AA-5FB4-F88A-300415346A9A}"/>
              </a:ext>
            </a:extLst>
          </p:cNvPr>
          <p:cNvSpPr/>
          <p:nvPr/>
        </p:nvSpPr>
        <p:spPr>
          <a:xfrm>
            <a:off x="9077249" y="1447495"/>
            <a:ext cx="2809951" cy="2183364"/>
          </a:xfrm>
          <a:prstGeom prst="roundRect">
            <a:avLst>
              <a:gd name="adj" fmla="val 4690"/>
            </a:avLst>
          </a:prstGeom>
          <a:solidFill>
            <a:srgbClr val="FFFFFF">
              <a:alpha val="97000"/>
            </a:srgbClr>
          </a:solidFill>
          <a:ln w="31750">
            <a:solidFill>
              <a:schemeClr val="tx1">
                <a:lumMod val="65000"/>
                <a:lumOff val="35000"/>
                <a:alpha val="96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ja-JP" altLang="en-US" sz="3200"/>
          </a:p>
        </p:txBody>
      </p:sp>
      <p:sp>
        <p:nvSpPr>
          <p:cNvPr id="69" name="Text 25">
            <a:extLst>
              <a:ext uri="{FF2B5EF4-FFF2-40B4-BE49-F238E27FC236}">
                <a16:creationId xmlns:a16="http://schemas.microsoft.com/office/drawing/2014/main" id="{81A060B1-84F0-0D4F-5E97-ACE6B0A55F66}"/>
              </a:ext>
            </a:extLst>
          </p:cNvPr>
          <p:cNvSpPr txBox="1"/>
          <p:nvPr/>
        </p:nvSpPr>
        <p:spPr>
          <a:xfrm>
            <a:off x="9145529" y="1547340"/>
            <a:ext cx="2665476" cy="553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4️⃣ </a:t>
            </a: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addDays が呪文に</a:t>
            </a:r>
            <a:r>
              <a:rPr lang="ja-JP" alt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見える</a:t>
            </a:r>
            <a:endParaRPr lang="en-US" sz="2000" dirty="0"/>
          </a:p>
        </p:txBody>
      </p:sp>
      <p:sp>
        <p:nvSpPr>
          <p:cNvPr id="71" name="Text 26">
            <a:extLst>
              <a:ext uri="{FF2B5EF4-FFF2-40B4-BE49-F238E27FC236}">
                <a16:creationId xmlns:a16="http://schemas.microsoft.com/office/drawing/2014/main" id="{19F7E5C6-61E9-BD54-29C4-D5BA001AF772}"/>
              </a:ext>
            </a:extLst>
          </p:cNvPr>
          <p:cNvSpPr txBox="1"/>
          <p:nvPr/>
        </p:nvSpPr>
        <p:spPr>
          <a:xfrm>
            <a:off x="9438742" y="2298595"/>
            <a:ext cx="2753258" cy="29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</a:t>
            </a: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：式の構造が</a:t>
            </a:r>
          </a:p>
          <a:p>
            <a:pPr marL="0" indent="0">
              <a:buNone/>
            </a:pP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イメージできていない</a:t>
            </a:r>
            <a:endParaRPr lang="en-US" sz="1400" b="1" dirty="0"/>
          </a:p>
        </p:txBody>
      </p:sp>
      <p:sp>
        <p:nvSpPr>
          <p:cNvPr id="72" name="Text 27">
            <a:extLst>
              <a:ext uri="{FF2B5EF4-FFF2-40B4-BE49-F238E27FC236}">
                <a16:creationId xmlns:a16="http://schemas.microsoft.com/office/drawing/2014/main" id="{F0F40A9A-5A6B-11CF-4E8E-5CE7A5C0008C}"/>
              </a:ext>
            </a:extLst>
          </p:cNvPr>
          <p:cNvSpPr txBox="1"/>
          <p:nvPr/>
        </p:nvSpPr>
        <p:spPr>
          <a:xfrm>
            <a:off x="9191548" y="2833176"/>
            <a:ext cx="266547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💡 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解決：addDays</a:t>
            </a:r>
          </a:p>
          <a:p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(</a:t>
            </a:r>
            <a:r>
              <a:rPr lang="en-US" sz="1400" b="1" dirty="0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基準日, 日数, 'yyyy-MM-dd')</a:t>
            </a:r>
            <a:endParaRPr lang="en-US" sz="1400" b="1" dirty="0">
              <a:solidFill>
                <a:srgbClr val="008000"/>
              </a:solidFill>
            </a:endParaRPr>
          </a:p>
        </p:txBody>
      </p:sp>
      <p:sp>
        <p:nvSpPr>
          <p:cNvPr id="73" name="Shape 28">
            <a:extLst>
              <a:ext uri="{FF2B5EF4-FFF2-40B4-BE49-F238E27FC236}">
                <a16:creationId xmlns:a16="http://schemas.microsoft.com/office/drawing/2014/main" id="{773D7598-2FC5-2749-74C0-AA33EC949229}"/>
              </a:ext>
            </a:extLst>
          </p:cNvPr>
          <p:cNvSpPr/>
          <p:nvPr/>
        </p:nvSpPr>
        <p:spPr>
          <a:xfrm>
            <a:off x="9191548" y="3303929"/>
            <a:ext cx="2562149" cy="228600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82" name="Text 29">
            <a:extLst>
              <a:ext uri="{FF2B5EF4-FFF2-40B4-BE49-F238E27FC236}">
                <a16:creationId xmlns:a16="http://schemas.microsoft.com/office/drawing/2014/main" id="{FEDA6D3E-EB8E-E54E-B59B-E730F1A36B3B}"/>
              </a:ext>
            </a:extLst>
          </p:cNvPr>
          <p:cNvSpPr txBox="1"/>
          <p:nvPr/>
        </p:nvSpPr>
        <p:spPr>
          <a:xfrm>
            <a:off x="9218980" y="3342334"/>
            <a:ext cx="25063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ffectLst>
                  <a:glow rad="139700">
                    <a:schemeClr val="tx1">
                      <a:lumMod val="85000"/>
                      <a:lumOff val="15000"/>
                      <a:alpha val="92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一言：基準日は utcNow() でもOK</a:t>
            </a:r>
            <a:endParaRPr lang="en-US" sz="1200" dirty="0">
              <a:solidFill>
                <a:schemeClr val="bg1"/>
              </a:solidFill>
              <a:effectLst>
                <a:glow rad="139700">
                  <a:schemeClr val="tx1">
                    <a:lumMod val="85000"/>
                    <a:lumOff val="15000"/>
                    <a:alpha val="92000"/>
                  </a:schemeClr>
                </a:glow>
              </a:effectLst>
            </a:endParaRPr>
          </a:p>
        </p:txBody>
      </p:sp>
      <p:sp>
        <p:nvSpPr>
          <p:cNvPr id="87" name="Shape 30">
            <a:extLst>
              <a:ext uri="{FF2B5EF4-FFF2-40B4-BE49-F238E27FC236}">
                <a16:creationId xmlns:a16="http://schemas.microsoft.com/office/drawing/2014/main" id="{A9B3A80B-1348-D425-70EE-D2FF8C9D4C86}"/>
              </a:ext>
            </a:extLst>
          </p:cNvPr>
          <p:cNvSpPr/>
          <p:nvPr/>
        </p:nvSpPr>
        <p:spPr>
          <a:xfrm>
            <a:off x="224593" y="3852091"/>
            <a:ext cx="3915402" cy="1714500"/>
          </a:xfrm>
          <a:prstGeom prst="roundRect">
            <a:avLst>
              <a:gd name="adj" fmla="val 4741"/>
            </a:avLst>
          </a:prstGeom>
          <a:solidFill>
            <a:srgbClr val="FFFFFF">
              <a:alpha val="97000"/>
            </a:srgbClr>
          </a:solidFill>
          <a:ln w="31750">
            <a:solidFill>
              <a:schemeClr val="tx1">
                <a:lumMod val="65000"/>
                <a:lumOff val="35000"/>
                <a:alpha val="96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ja-JP" altLang="en-US" sz="3200"/>
          </a:p>
        </p:txBody>
      </p:sp>
      <p:sp>
        <p:nvSpPr>
          <p:cNvPr id="90" name="Text 31">
            <a:extLst>
              <a:ext uri="{FF2B5EF4-FFF2-40B4-BE49-F238E27FC236}">
                <a16:creationId xmlns:a16="http://schemas.microsoft.com/office/drawing/2014/main" id="{97A21509-98E1-1C84-7B42-708E2E589FED}"/>
              </a:ext>
            </a:extLst>
          </p:cNvPr>
          <p:cNvSpPr txBox="1"/>
          <p:nvPr/>
        </p:nvSpPr>
        <p:spPr>
          <a:xfrm>
            <a:off x="315794" y="3976080"/>
            <a:ext cx="3943993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5️⃣ 動的コンテンツが出てこない</a:t>
            </a:r>
            <a:endParaRPr lang="en-US" sz="2000" dirty="0"/>
          </a:p>
        </p:txBody>
      </p:sp>
      <p:sp>
        <p:nvSpPr>
          <p:cNvPr id="91" name="Text 32">
            <a:extLst>
              <a:ext uri="{FF2B5EF4-FFF2-40B4-BE49-F238E27FC236}">
                <a16:creationId xmlns:a16="http://schemas.microsoft.com/office/drawing/2014/main" id="{AAAED6B6-7CF3-5415-65D5-79BDDAC168C2}"/>
              </a:ext>
            </a:extLst>
          </p:cNvPr>
          <p:cNvSpPr txBox="1"/>
          <p:nvPr/>
        </p:nvSpPr>
        <p:spPr>
          <a:xfrm>
            <a:off x="749165" y="4349187"/>
            <a:ext cx="3219602" cy="318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原因：値が“別の箱（スコープ</a:t>
            </a: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）の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   </a:t>
            </a:r>
            <a:r>
              <a:rPr lang="ja-JP" alt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</a:t>
            </a: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</a:t>
            </a: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”にいる</a:t>
            </a:r>
            <a:endParaRPr lang="en-US" sz="1400" b="1" dirty="0"/>
          </a:p>
        </p:txBody>
      </p:sp>
      <p:sp>
        <p:nvSpPr>
          <p:cNvPr id="93" name="Text 33">
            <a:extLst>
              <a:ext uri="{FF2B5EF4-FFF2-40B4-BE49-F238E27FC236}">
                <a16:creationId xmlns:a16="http://schemas.microsoft.com/office/drawing/2014/main" id="{BF0EE5D0-1EB1-F7DD-7B08-8BB5C3D62F6B}"/>
              </a:ext>
            </a:extLst>
          </p:cNvPr>
          <p:cNvSpPr txBox="1"/>
          <p:nvPr/>
        </p:nvSpPr>
        <p:spPr>
          <a:xfrm>
            <a:off x="444192" y="4834907"/>
            <a:ext cx="3219602" cy="28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💡 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解決：アクションを同じ箱に入れ／</a:t>
            </a:r>
          </a:p>
          <a:p>
            <a:r>
              <a:rPr lang="ja-JP" alt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　  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変数に一度入れる</a:t>
            </a:r>
            <a:endParaRPr lang="en-US" sz="1400" b="1" dirty="0">
              <a:solidFill>
                <a:srgbClr val="008000"/>
              </a:solidFill>
            </a:endParaRPr>
          </a:p>
        </p:txBody>
      </p:sp>
      <p:sp>
        <p:nvSpPr>
          <p:cNvPr id="95" name="Shape 34">
            <a:extLst>
              <a:ext uri="{FF2B5EF4-FFF2-40B4-BE49-F238E27FC236}">
                <a16:creationId xmlns:a16="http://schemas.microsoft.com/office/drawing/2014/main" id="{ADCAE2A2-2B79-AD1B-87F8-B8D79916E78F}"/>
              </a:ext>
            </a:extLst>
          </p:cNvPr>
          <p:cNvSpPr/>
          <p:nvPr/>
        </p:nvSpPr>
        <p:spPr>
          <a:xfrm>
            <a:off x="572415" y="5246800"/>
            <a:ext cx="3029407" cy="243259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97" name="Text 35">
            <a:extLst>
              <a:ext uri="{FF2B5EF4-FFF2-40B4-BE49-F238E27FC236}">
                <a16:creationId xmlns:a16="http://schemas.microsoft.com/office/drawing/2014/main" id="{FDC13489-CFB9-6421-7043-AA56E211A798}"/>
              </a:ext>
            </a:extLst>
          </p:cNvPr>
          <p:cNvSpPr txBox="1"/>
          <p:nvPr/>
        </p:nvSpPr>
        <p:spPr>
          <a:xfrm>
            <a:off x="497546" y="5300281"/>
            <a:ext cx="3067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ffectLst>
                  <a:glow rad="139700">
                    <a:schemeClr val="tx1">
                      <a:lumMod val="85000"/>
                      <a:lumOff val="15000"/>
                      <a:alpha val="92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一言：箱の壁は勝手に超えられない</a:t>
            </a:r>
            <a:endParaRPr lang="en-US" sz="1200" dirty="0">
              <a:solidFill>
                <a:schemeClr val="bg1"/>
              </a:solidFill>
              <a:effectLst>
                <a:glow rad="139700">
                  <a:schemeClr val="tx1">
                    <a:lumMod val="85000"/>
                    <a:lumOff val="15000"/>
                    <a:alpha val="92000"/>
                  </a:schemeClr>
                </a:glow>
              </a:effectLst>
            </a:endParaRPr>
          </a:p>
        </p:txBody>
      </p:sp>
      <p:sp>
        <p:nvSpPr>
          <p:cNvPr id="98" name="Shape 36">
            <a:extLst>
              <a:ext uri="{FF2B5EF4-FFF2-40B4-BE49-F238E27FC236}">
                <a16:creationId xmlns:a16="http://schemas.microsoft.com/office/drawing/2014/main" id="{4D6CCAEF-20F8-3227-23BB-ACECE6F6DD20}"/>
              </a:ext>
            </a:extLst>
          </p:cNvPr>
          <p:cNvSpPr/>
          <p:nvPr/>
        </p:nvSpPr>
        <p:spPr>
          <a:xfrm>
            <a:off x="4209898" y="3813852"/>
            <a:ext cx="3866028" cy="1714500"/>
          </a:xfrm>
          <a:prstGeom prst="roundRect">
            <a:avLst>
              <a:gd name="adj" fmla="val 4741"/>
            </a:avLst>
          </a:prstGeom>
          <a:solidFill>
            <a:srgbClr val="FFFFFF">
              <a:alpha val="97000"/>
            </a:srgbClr>
          </a:solidFill>
          <a:ln w="31750">
            <a:solidFill>
              <a:schemeClr val="tx1">
                <a:lumMod val="65000"/>
                <a:lumOff val="35000"/>
                <a:alpha val="96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ja-JP" altLang="en-US" sz="3200"/>
          </a:p>
        </p:txBody>
      </p:sp>
      <p:sp>
        <p:nvSpPr>
          <p:cNvPr id="103" name="Text 37">
            <a:extLst>
              <a:ext uri="{FF2B5EF4-FFF2-40B4-BE49-F238E27FC236}">
                <a16:creationId xmlns:a16="http://schemas.microsoft.com/office/drawing/2014/main" id="{65C884D4-60AB-6C9A-BF29-7CAF8411DFBE}"/>
              </a:ext>
            </a:extLst>
          </p:cNvPr>
          <p:cNvSpPr txBox="1"/>
          <p:nvPr/>
        </p:nvSpPr>
        <p:spPr>
          <a:xfrm>
            <a:off x="4428896" y="3966219"/>
            <a:ext cx="3219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6️⃣ 変数の型ミスで事故る</a:t>
            </a:r>
            <a:endParaRPr lang="en-US" sz="2000" dirty="0"/>
          </a:p>
        </p:txBody>
      </p:sp>
      <p:sp>
        <p:nvSpPr>
          <p:cNvPr id="106" name="Text 38">
            <a:extLst>
              <a:ext uri="{FF2B5EF4-FFF2-40B4-BE49-F238E27FC236}">
                <a16:creationId xmlns:a16="http://schemas.microsoft.com/office/drawing/2014/main" id="{A525FF62-01AA-B9CD-2D60-66E5A7091931}"/>
              </a:ext>
            </a:extLst>
          </p:cNvPr>
          <p:cNvSpPr txBox="1"/>
          <p:nvPr/>
        </p:nvSpPr>
        <p:spPr>
          <a:xfrm>
            <a:off x="4722605" y="4296831"/>
            <a:ext cx="2842760" cy="317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原因：</a:t>
            </a: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初期値の型が間違っている </a:t>
            </a:r>
          </a:p>
          <a:p>
            <a:pPr marL="0" indent="0" algn="l">
              <a:buNone/>
            </a:pPr>
            <a:r>
              <a:rPr lang="ja-JP" alt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</a:t>
            </a: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or </a:t>
            </a: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空のまま</a:t>
            </a:r>
            <a:endParaRPr lang="en-US" sz="1400" b="1" dirty="0"/>
          </a:p>
        </p:txBody>
      </p:sp>
      <p:sp>
        <p:nvSpPr>
          <p:cNvPr id="107" name="Text 39">
            <a:extLst>
              <a:ext uri="{FF2B5EF4-FFF2-40B4-BE49-F238E27FC236}">
                <a16:creationId xmlns:a16="http://schemas.microsoft.com/office/drawing/2014/main" id="{886DAD64-7B8E-AD38-CFDE-B3A53547C8E3}"/>
              </a:ext>
            </a:extLst>
          </p:cNvPr>
          <p:cNvSpPr txBox="1"/>
          <p:nvPr/>
        </p:nvSpPr>
        <p:spPr>
          <a:xfrm>
            <a:off x="4455846" y="4893329"/>
            <a:ext cx="3219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💡 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</a:t>
            </a:r>
            <a:r>
              <a:rPr lang="en-US" sz="1400" b="1" dirty="0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：最初に“本来入るべき型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”で</a:t>
            </a:r>
          </a:p>
          <a:p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          初期値を作る</a:t>
            </a:r>
            <a:endParaRPr lang="en-US" sz="1400" b="1" dirty="0">
              <a:solidFill>
                <a:srgbClr val="008000"/>
              </a:solidFill>
            </a:endParaRPr>
          </a:p>
        </p:txBody>
      </p:sp>
      <p:sp>
        <p:nvSpPr>
          <p:cNvPr id="108" name="Shape 40">
            <a:extLst>
              <a:ext uri="{FF2B5EF4-FFF2-40B4-BE49-F238E27FC236}">
                <a16:creationId xmlns:a16="http://schemas.microsoft.com/office/drawing/2014/main" id="{2870E8D7-42B6-0EDF-02DB-14AC15D8BADF}"/>
              </a:ext>
            </a:extLst>
          </p:cNvPr>
          <p:cNvSpPr/>
          <p:nvPr/>
        </p:nvSpPr>
        <p:spPr>
          <a:xfrm>
            <a:off x="4567646" y="5246939"/>
            <a:ext cx="3029407" cy="228600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109" name="Text 41">
            <a:extLst>
              <a:ext uri="{FF2B5EF4-FFF2-40B4-BE49-F238E27FC236}">
                <a16:creationId xmlns:a16="http://schemas.microsoft.com/office/drawing/2014/main" id="{5107FF74-4B4E-2967-E2D7-673E7D168517}"/>
              </a:ext>
            </a:extLst>
          </p:cNvPr>
          <p:cNvSpPr txBox="1"/>
          <p:nvPr/>
        </p:nvSpPr>
        <p:spPr>
          <a:xfrm>
            <a:off x="4438040" y="5311558"/>
            <a:ext cx="3067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ffectLst>
                  <a:glow rad="139700">
                    <a:schemeClr val="tx1">
                      <a:lumMod val="85000"/>
                      <a:lumOff val="15000"/>
                      <a:alpha val="92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一言：変数は“最初の1回”が命</a:t>
            </a:r>
            <a:endParaRPr lang="en-US" sz="1200" dirty="0">
              <a:solidFill>
                <a:schemeClr val="bg1"/>
              </a:solidFill>
              <a:effectLst>
                <a:glow rad="139700">
                  <a:schemeClr val="tx1">
                    <a:lumMod val="85000"/>
                    <a:lumOff val="15000"/>
                    <a:alpha val="92000"/>
                  </a:schemeClr>
                </a:glow>
              </a:effectLst>
            </a:endParaRPr>
          </a:p>
        </p:txBody>
      </p:sp>
      <p:sp>
        <p:nvSpPr>
          <p:cNvPr id="111" name="Shape 42">
            <a:extLst>
              <a:ext uri="{FF2B5EF4-FFF2-40B4-BE49-F238E27FC236}">
                <a16:creationId xmlns:a16="http://schemas.microsoft.com/office/drawing/2014/main" id="{2256D540-8A79-05C3-CF08-578589BF97CD}"/>
              </a:ext>
            </a:extLst>
          </p:cNvPr>
          <p:cNvSpPr/>
          <p:nvPr/>
        </p:nvSpPr>
        <p:spPr>
          <a:xfrm>
            <a:off x="8227716" y="3819582"/>
            <a:ext cx="3678687" cy="1714500"/>
          </a:xfrm>
          <a:prstGeom prst="roundRect">
            <a:avLst>
              <a:gd name="adj" fmla="val 4741"/>
            </a:avLst>
          </a:prstGeom>
          <a:solidFill>
            <a:srgbClr val="FFFFFF">
              <a:alpha val="97000"/>
            </a:srgbClr>
          </a:solidFill>
          <a:ln w="31750">
            <a:solidFill>
              <a:schemeClr val="tx1">
                <a:lumMod val="65000"/>
                <a:lumOff val="35000"/>
                <a:alpha val="96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ja-JP" altLang="en-US" sz="3200"/>
          </a:p>
        </p:txBody>
      </p:sp>
      <p:sp>
        <p:nvSpPr>
          <p:cNvPr id="112" name="Text 43">
            <a:extLst>
              <a:ext uri="{FF2B5EF4-FFF2-40B4-BE49-F238E27FC236}">
                <a16:creationId xmlns:a16="http://schemas.microsoft.com/office/drawing/2014/main" id="{0CE684D7-9029-B6F5-35A0-57DF7F3E3757}"/>
              </a:ext>
            </a:extLst>
          </p:cNvPr>
          <p:cNvSpPr txBox="1"/>
          <p:nvPr/>
        </p:nvSpPr>
        <p:spPr>
          <a:xfrm>
            <a:off x="8425416" y="3954733"/>
            <a:ext cx="3219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7️⃣ 実行履歴が読めない</a:t>
            </a:r>
            <a:endParaRPr lang="en-US" sz="2000" dirty="0"/>
          </a:p>
        </p:txBody>
      </p:sp>
      <p:sp>
        <p:nvSpPr>
          <p:cNvPr id="113" name="Text 44">
            <a:extLst>
              <a:ext uri="{FF2B5EF4-FFF2-40B4-BE49-F238E27FC236}">
                <a16:creationId xmlns:a16="http://schemas.microsoft.com/office/drawing/2014/main" id="{E1C6183E-D6A2-E443-0EA0-16201DC4F94C}"/>
              </a:ext>
            </a:extLst>
          </p:cNvPr>
          <p:cNvSpPr txBox="1"/>
          <p:nvPr/>
        </p:nvSpPr>
        <p:spPr>
          <a:xfrm>
            <a:off x="8701425" y="4417378"/>
            <a:ext cx="3219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</a:t>
            </a: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：どこに何が入っているか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 “</a:t>
            </a:r>
            <a:r>
              <a:rPr lang="en-US" sz="1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追い方”が不明</a:t>
            </a:r>
            <a:endParaRPr lang="en-US" sz="1400" b="1" dirty="0"/>
          </a:p>
        </p:txBody>
      </p:sp>
      <p:sp>
        <p:nvSpPr>
          <p:cNvPr id="114" name="Text 45">
            <a:extLst>
              <a:ext uri="{FF2B5EF4-FFF2-40B4-BE49-F238E27FC236}">
                <a16:creationId xmlns:a16="http://schemas.microsoft.com/office/drawing/2014/main" id="{8602E598-450A-6BCD-C8A2-2FA4FDF33A1E}"/>
              </a:ext>
            </a:extLst>
          </p:cNvPr>
          <p:cNvSpPr txBox="1"/>
          <p:nvPr/>
        </p:nvSpPr>
        <p:spPr>
          <a:xfrm>
            <a:off x="8534095" y="4683263"/>
            <a:ext cx="3219602" cy="47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💡 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</a:t>
            </a:r>
            <a:r>
              <a:rPr lang="en-US" sz="1400" b="1" dirty="0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</a:t>
            </a:r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Compose を挟んで</a:t>
            </a:r>
          </a:p>
          <a:p>
            <a:r>
              <a:rPr lang="en-US" sz="1400" b="1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              “</a:t>
            </a:r>
            <a:r>
              <a:rPr lang="en-US" sz="1400" b="1" dirty="0">
                <a:solidFill>
                  <a:srgbClr val="008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確認窓”にする</a:t>
            </a:r>
            <a:endParaRPr lang="en-US" sz="1400" b="1" dirty="0">
              <a:solidFill>
                <a:srgbClr val="008000"/>
              </a:solidFill>
            </a:endParaRPr>
          </a:p>
        </p:txBody>
      </p:sp>
      <p:sp>
        <p:nvSpPr>
          <p:cNvPr id="115" name="Shape 46">
            <a:extLst>
              <a:ext uri="{FF2B5EF4-FFF2-40B4-BE49-F238E27FC236}">
                <a16:creationId xmlns:a16="http://schemas.microsoft.com/office/drawing/2014/main" id="{42FAF3A1-7029-6969-522D-FE5A415A46CB}"/>
              </a:ext>
            </a:extLst>
          </p:cNvPr>
          <p:cNvSpPr/>
          <p:nvPr/>
        </p:nvSpPr>
        <p:spPr>
          <a:xfrm>
            <a:off x="8454848" y="5219736"/>
            <a:ext cx="3029407" cy="228600"/>
          </a:xfrm>
          <a:prstGeom prst="roundRect">
            <a:avLst>
              <a:gd name="adj" fmla="val 133333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118" name="Text 47">
            <a:extLst>
              <a:ext uri="{FF2B5EF4-FFF2-40B4-BE49-F238E27FC236}">
                <a16:creationId xmlns:a16="http://schemas.microsoft.com/office/drawing/2014/main" id="{0FDEF71E-1C93-3C93-4FB5-E3B552DFAD44}"/>
              </a:ext>
            </a:extLst>
          </p:cNvPr>
          <p:cNvSpPr txBox="1"/>
          <p:nvPr/>
        </p:nvSpPr>
        <p:spPr>
          <a:xfrm>
            <a:off x="8410382" y="5275502"/>
            <a:ext cx="2991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effectLst>
                  <a:glow rad="139700">
                    <a:schemeClr val="tx1">
                      <a:lumMod val="85000"/>
                      <a:lumOff val="15000"/>
                      <a:alpha val="92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一言：Compose＝確認窓</a:t>
            </a:r>
            <a:endParaRPr lang="en-US" sz="1200" dirty="0">
              <a:solidFill>
                <a:schemeClr val="bg1"/>
              </a:solidFill>
              <a:effectLst>
                <a:glow rad="139700">
                  <a:schemeClr val="tx1">
                    <a:lumMod val="85000"/>
                    <a:lumOff val="15000"/>
                    <a:alpha val="92000"/>
                  </a:schemeClr>
                </a:glow>
              </a:effectLst>
            </a:endParaRPr>
          </a:p>
        </p:txBody>
      </p:sp>
      <p:sp>
        <p:nvSpPr>
          <p:cNvPr id="120" name="Shape 48">
            <a:extLst>
              <a:ext uri="{FF2B5EF4-FFF2-40B4-BE49-F238E27FC236}">
                <a16:creationId xmlns:a16="http://schemas.microsoft.com/office/drawing/2014/main" id="{70F247E5-DCEE-C50C-907D-046C27822637}"/>
              </a:ext>
            </a:extLst>
          </p:cNvPr>
          <p:cNvSpPr/>
          <p:nvPr/>
        </p:nvSpPr>
        <p:spPr>
          <a:xfrm>
            <a:off x="188333" y="5658306"/>
            <a:ext cx="6821458" cy="1044879"/>
          </a:xfrm>
          <a:prstGeom prst="roundRect">
            <a:avLst>
              <a:gd name="adj" fmla="val 9467"/>
            </a:avLst>
          </a:prstGeom>
          <a:solidFill>
            <a:srgbClr val="F3F4F6"/>
          </a:solidFill>
          <a:ln w="3810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121" name="Text 49">
            <a:extLst>
              <a:ext uri="{FF2B5EF4-FFF2-40B4-BE49-F238E27FC236}">
                <a16:creationId xmlns:a16="http://schemas.microsoft.com/office/drawing/2014/main" id="{9BE468EC-D598-4555-BC7C-B873A5959130}"/>
              </a:ext>
            </a:extLst>
          </p:cNvPr>
          <p:cNvSpPr txBox="1"/>
          <p:nvPr/>
        </p:nvSpPr>
        <p:spPr>
          <a:xfrm>
            <a:off x="394714" y="5704596"/>
            <a:ext cx="43153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困ったときの見直し 3ステップ</a:t>
            </a:r>
            <a:endParaRPr lang="en-US" sz="2000" dirty="0"/>
          </a:p>
        </p:txBody>
      </p:sp>
      <p:pic>
        <p:nvPicPr>
          <p:cNvPr id="123" name="Image 0" descr="preencoded.png">
            <a:extLst>
              <a:ext uri="{FF2B5EF4-FFF2-40B4-BE49-F238E27FC236}">
                <a16:creationId xmlns:a16="http://schemas.microsoft.com/office/drawing/2014/main" id="{85E65AF1-D03E-61F9-CE28-8B23B98C4C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397" b="-397"/>
          <a:stretch/>
        </p:blipFill>
        <p:spPr>
          <a:xfrm>
            <a:off x="1666951" y="6128421"/>
            <a:ext cx="1438351" cy="19202"/>
          </a:xfrm>
          <a:prstGeom prst="rect">
            <a:avLst/>
          </a:prstGeom>
        </p:spPr>
      </p:pic>
      <p:sp>
        <p:nvSpPr>
          <p:cNvPr id="124" name="Shape 50">
            <a:extLst>
              <a:ext uri="{FF2B5EF4-FFF2-40B4-BE49-F238E27FC236}">
                <a16:creationId xmlns:a16="http://schemas.microsoft.com/office/drawing/2014/main" id="{F54A8599-B12C-CBAF-F13B-DEFDD9A47AD9}"/>
              </a:ext>
            </a:extLst>
          </p:cNvPr>
          <p:cNvSpPr/>
          <p:nvPr/>
        </p:nvSpPr>
        <p:spPr>
          <a:xfrm>
            <a:off x="3010205" y="5886907"/>
            <a:ext cx="95098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pic>
        <p:nvPicPr>
          <p:cNvPr id="126" name="Image 1" descr="preencoded.png">
            <a:extLst>
              <a:ext uri="{FF2B5EF4-FFF2-40B4-BE49-F238E27FC236}">
                <a16:creationId xmlns:a16="http://schemas.microsoft.com/office/drawing/2014/main" id="{DD093666-A84C-6276-7D6C-491EC24B80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397" b="-397"/>
          <a:stretch/>
        </p:blipFill>
        <p:spPr>
          <a:xfrm>
            <a:off x="4209898" y="6128421"/>
            <a:ext cx="1438351" cy="19202"/>
          </a:xfrm>
          <a:prstGeom prst="rect">
            <a:avLst/>
          </a:prstGeom>
        </p:spPr>
      </p:pic>
      <p:sp>
        <p:nvSpPr>
          <p:cNvPr id="128" name="Shape 51">
            <a:extLst>
              <a:ext uri="{FF2B5EF4-FFF2-40B4-BE49-F238E27FC236}">
                <a16:creationId xmlns:a16="http://schemas.microsoft.com/office/drawing/2014/main" id="{F591060B-90BB-950D-FD45-DF9F6D1DF11F}"/>
              </a:ext>
            </a:extLst>
          </p:cNvPr>
          <p:cNvSpPr/>
          <p:nvPr/>
        </p:nvSpPr>
        <p:spPr>
          <a:xfrm>
            <a:off x="5553151" y="5886907"/>
            <a:ext cx="95098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pic>
        <p:nvPicPr>
          <p:cNvPr id="129" name="Image 2" descr="preencoded.png">
            <a:extLst>
              <a:ext uri="{FF2B5EF4-FFF2-40B4-BE49-F238E27FC236}">
                <a16:creationId xmlns:a16="http://schemas.microsoft.com/office/drawing/2014/main" id="{2F46BCBB-997C-A6D4-1BB1-471B8B4E338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" b="-3"/>
          <a:stretch/>
        </p:blipFill>
        <p:spPr>
          <a:xfrm>
            <a:off x="7281356" y="5661264"/>
            <a:ext cx="4647895" cy="968136"/>
          </a:xfrm>
          <a:prstGeom prst="rect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131" name="Text 52">
            <a:extLst>
              <a:ext uri="{FF2B5EF4-FFF2-40B4-BE49-F238E27FC236}">
                <a16:creationId xmlns:a16="http://schemas.microsoft.com/office/drawing/2014/main" id="{2DE95330-9410-EDBA-2167-D94186B985D3}"/>
              </a:ext>
            </a:extLst>
          </p:cNvPr>
          <p:cNvSpPr txBox="1"/>
          <p:nvPr/>
        </p:nvSpPr>
        <p:spPr>
          <a:xfrm>
            <a:off x="7100009" y="5585696"/>
            <a:ext cx="3109012" cy="313039"/>
          </a:xfrm>
          <a:prstGeom prst="rect">
            <a:avLst/>
          </a:prstGeom>
          <a:solidFill>
            <a:schemeClr val="bg1"/>
          </a:solidFill>
          <a:ln w="31750">
            <a:solidFill>
              <a:srgbClr val="008000"/>
            </a:solidFill>
          </a:ln>
        </p:spPr>
        <p:txBody>
          <a:bodyPr wrap="square" lIns="0" tIns="0" rIns="0" bIns="0" rtlCol="0" anchor="ctr"/>
          <a:lstStyle/>
          <a:p>
            <a:r>
              <a:rPr lang="en-US" altLang="ja-JP" sz="20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💡 </a:t>
            </a:r>
            <a:r>
              <a:rPr lang="en-US" sz="2000" b="1">
                <a:solidFill>
                  <a:srgbClr val="16A3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これだけラクになる</a:t>
            </a:r>
            <a:endParaRPr lang="en-US" sz="2000" dirty="0"/>
          </a:p>
        </p:txBody>
      </p:sp>
      <p:sp>
        <p:nvSpPr>
          <p:cNvPr id="132" name="Text 53">
            <a:extLst>
              <a:ext uri="{FF2B5EF4-FFF2-40B4-BE49-F238E27FC236}">
                <a16:creationId xmlns:a16="http://schemas.microsoft.com/office/drawing/2014/main" id="{120754DF-81BE-F697-6A3A-8376D88E6723}"/>
              </a:ext>
            </a:extLst>
          </p:cNvPr>
          <p:cNvSpPr txBox="1"/>
          <p:nvPr/>
        </p:nvSpPr>
        <p:spPr>
          <a:xfrm>
            <a:off x="7462568" y="5936005"/>
            <a:ext cx="39388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</a:t>
            </a:r>
            <a:r>
              <a:rPr lang="en-US" sz="14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エラーの原因に</a:t>
            </a:r>
            <a:r>
              <a:rPr lang="en-US" sz="14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</a:t>
            </a:r>
            <a:r>
              <a:rPr lang="en-US" sz="1400" b="1" dirty="0">
                <a:solidFill>
                  <a:srgbClr val="16A3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当たり</a:t>
            </a:r>
            <a:r>
              <a:rPr lang="en-US" sz="14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”がつくようになる</a:t>
            </a:r>
            <a:endParaRPr lang="en-US" sz="1400" dirty="0"/>
          </a:p>
        </p:txBody>
      </p:sp>
      <p:sp>
        <p:nvSpPr>
          <p:cNvPr id="134" name="Text 54">
            <a:extLst>
              <a:ext uri="{FF2B5EF4-FFF2-40B4-BE49-F238E27FC236}">
                <a16:creationId xmlns:a16="http://schemas.microsoft.com/office/drawing/2014/main" id="{95F4B94C-A2F6-FA67-43B0-1E7009BE987F}"/>
              </a:ext>
            </a:extLst>
          </p:cNvPr>
          <p:cNvSpPr txBox="1"/>
          <p:nvPr/>
        </p:nvSpPr>
        <p:spPr>
          <a:xfrm>
            <a:off x="7462569" y="6147521"/>
            <a:ext cx="3647542" cy="21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</a:t>
            </a:r>
            <a:r>
              <a:rPr lang="en-US" sz="14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Apply </a:t>
            </a:r>
            <a:r>
              <a:rPr lang="en-US" sz="14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 each を怖がらずに触れる</a:t>
            </a:r>
            <a:endParaRPr lang="en-US" sz="1400" dirty="0"/>
          </a:p>
        </p:txBody>
      </p:sp>
      <p:sp>
        <p:nvSpPr>
          <p:cNvPr id="135" name="Text 55">
            <a:extLst>
              <a:ext uri="{FF2B5EF4-FFF2-40B4-BE49-F238E27FC236}">
                <a16:creationId xmlns:a16="http://schemas.microsoft.com/office/drawing/2014/main" id="{5676C921-69EF-51AC-6557-4322A66221E0}"/>
              </a:ext>
            </a:extLst>
          </p:cNvPr>
          <p:cNvSpPr txBox="1"/>
          <p:nvPr/>
        </p:nvSpPr>
        <p:spPr>
          <a:xfrm>
            <a:off x="7504516" y="6437112"/>
            <a:ext cx="4112106" cy="142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</a:t>
            </a:r>
            <a:r>
              <a:rPr lang="en-US" sz="14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実行履歴を追って自力でトラブルシュートできる</a:t>
            </a:r>
            <a:endParaRPr lang="en-US" sz="1400" dirty="0"/>
          </a:p>
        </p:txBody>
      </p:sp>
      <p:grpSp>
        <p:nvGrpSpPr>
          <p:cNvPr id="147" name="グループ化 146">
            <a:extLst>
              <a:ext uri="{FF2B5EF4-FFF2-40B4-BE49-F238E27FC236}">
                <a16:creationId xmlns:a16="http://schemas.microsoft.com/office/drawing/2014/main" id="{CDBD82ED-169B-CCDF-4930-C34D0B815D54}"/>
              </a:ext>
            </a:extLst>
          </p:cNvPr>
          <p:cNvGrpSpPr/>
          <p:nvPr/>
        </p:nvGrpSpPr>
        <p:grpSpPr>
          <a:xfrm>
            <a:off x="886054" y="5932893"/>
            <a:ext cx="400181" cy="367304"/>
            <a:chOff x="886054" y="5837642"/>
            <a:chExt cx="457200" cy="457200"/>
          </a:xfrm>
        </p:grpSpPr>
        <p:pic>
          <p:nvPicPr>
            <p:cNvPr id="138" name="Image 3" descr="preencoded.png">
              <a:extLst>
                <a:ext uri="{FF2B5EF4-FFF2-40B4-BE49-F238E27FC236}">
                  <a16:creationId xmlns:a16="http://schemas.microsoft.com/office/drawing/2014/main" id="{5F53194A-BBC9-738E-7B8C-233E3973D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86054" y="5837642"/>
              <a:ext cx="457200" cy="457200"/>
            </a:xfrm>
            <a:prstGeom prst="rect">
              <a:avLst/>
            </a:prstGeom>
          </p:spPr>
        </p:pic>
        <p:sp>
          <p:nvSpPr>
            <p:cNvPr id="139" name="Text 58">
              <a:extLst>
                <a:ext uri="{FF2B5EF4-FFF2-40B4-BE49-F238E27FC236}">
                  <a16:creationId xmlns:a16="http://schemas.microsoft.com/office/drawing/2014/main" id="{24701DB6-5EB6-9B30-2FC7-63A0694B8294}"/>
                </a:ext>
              </a:extLst>
            </p:cNvPr>
            <p:cNvSpPr txBox="1"/>
            <p:nvPr/>
          </p:nvSpPr>
          <p:spPr>
            <a:xfrm>
              <a:off x="1019099" y="5944057"/>
              <a:ext cx="19111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1</a:t>
              </a:r>
              <a:endParaRPr lang="en-US" sz="2000" dirty="0"/>
            </a:p>
          </p:txBody>
        </p:sp>
      </p:grpSp>
      <p:sp>
        <p:nvSpPr>
          <p:cNvPr id="140" name="Text 59">
            <a:extLst>
              <a:ext uri="{FF2B5EF4-FFF2-40B4-BE49-F238E27FC236}">
                <a16:creationId xmlns:a16="http://schemas.microsoft.com/office/drawing/2014/main" id="{B1F4E5CD-1973-730F-DE7F-CF44A1FB1D25}"/>
              </a:ext>
            </a:extLst>
          </p:cNvPr>
          <p:cNvSpPr txBox="1"/>
          <p:nvPr/>
        </p:nvSpPr>
        <p:spPr>
          <a:xfrm>
            <a:off x="279377" y="6300197"/>
            <a:ext cx="245613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✅</a:t>
            </a: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配列</a:t>
            </a:r>
            <a:r>
              <a:rPr lang="en-US" sz="20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かを意識する</a:t>
            </a:r>
            <a:endParaRPr lang="en-US" sz="2000" dirty="0"/>
          </a:p>
        </p:txBody>
      </p:sp>
      <p:grpSp>
        <p:nvGrpSpPr>
          <p:cNvPr id="148" name="グループ化 147">
            <a:extLst>
              <a:ext uri="{FF2B5EF4-FFF2-40B4-BE49-F238E27FC236}">
                <a16:creationId xmlns:a16="http://schemas.microsoft.com/office/drawing/2014/main" id="{1C336DBF-A11E-8925-59E5-6B449D27CC1B}"/>
              </a:ext>
            </a:extLst>
          </p:cNvPr>
          <p:cNvGrpSpPr/>
          <p:nvPr/>
        </p:nvGrpSpPr>
        <p:grpSpPr>
          <a:xfrm>
            <a:off x="3455331" y="5932893"/>
            <a:ext cx="400181" cy="367304"/>
            <a:chOff x="3455331" y="5837642"/>
            <a:chExt cx="457200" cy="457200"/>
          </a:xfrm>
        </p:grpSpPr>
        <p:pic>
          <p:nvPicPr>
            <p:cNvPr id="141" name="Image 4" descr="preencoded.png">
              <a:extLst>
                <a:ext uri="{FF2B5EF4-FFF2-40B4-BE49-F238E27FC236}">
                  <a16:creationId xmlns:a16="http://schemas.microsoft.com/office/drawing/2014/main" id="{775396AB-4C6E-D3E9-247E-8A75394CE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3455331" y="5837642"/>
              <a:ext cx="457200" cy="457200"/>
            </a:xfrm>
            <a:prstGeom prst="rect">
              <a:avLst/>
            </a:prstGeom>
          </p:spPr>
        </p:pic>
        <p:sp>
          <p:nvSpPr>
            <p:cNvPr id="142" name="Text 60">
              <a:extLst>
                <a:ext uri="{FF2B5EF4-FFF2-40B4-BE49-F238E27FC236}">
                  <a16:creationId xmlns:a16="http://schemas.microsoft.com/office/drawing/2014/main" id="{18FA1D74-5FB2-3501-FDBB-C40F029C20CF}"/>
                </a:ext>
              </a:extLst>
            </p:cNvPr>
            <p:cNvSpPr txBox="1"/>
            <p:nvPr/>
          </p:nvSpPr>
          <p:spPr>
            <a:xfrm>
              <a:off x="3600907" y="5932739"/>
              <a:ext cx="19111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2</a:t>
              </a:r>
              <a:endParaRPr lang="en-US" sz="2000" dirty="0"/>
            </a:p>
          </p:txBody>
        </p:sp>
      </p:grpSp>
      <p:sp>
        <p:nvSpPr>
          <p:cNvPr id="143" name="Text 61">
            <a:extLst>
              <a:ext uri="{FF2B5EF4-FFF2-40B4-BE49-F238E27FC236}">
                <a16:creationId xmlns:a16="http://schemas.microsoft.com/office/drawing/2014/main" id="{2E59611A-1D93-8435-56C7-EB74614A47BD}"/>
              </a:ext>
            </a:extLst>
          </p:cNvPr>
          <p:cNvSpPr txBox="1"/>
          <p:nvPr/>
        </p:nvSpPr>
        <p:spPr>
          <a:xfrm>
            <a:off x="2764756" y="6317070"/>
            <a:ext cx="16288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✅</a:t>
            </a: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型</a:t>
            </a:r>
            <a:r>
              <a:rPr lang="en-US" sz="20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を揃える</a:t>
            </a:r>
            <a:endParaRPr lang="en-US" sz="2000" dirty="0"/>
          </a:p>
        </p:txBody>
      </p:sp>
      <p:grpSp>
        <p:nvGrpSpPr>
          <p:cNvPr id="157" name="グループ化 156">
            <a:extLst>
              <a:ext uri="{FF2B5EF4-FFF2-40B4-BE49-F238E27FC236}">
                <a16:creationId xmlns:a16="http://schemas.microsoft.com/office/drawing/2014/main" id="{E32D4156-F690-9305-7411-9CA77E94CF6D}"/>
              </a:ext>
            </a:extLst>
          </p:cNvPr>
          <p:cNvGrpSpPr/>
          <p:nvPr/>
        </p:nvGrpSpPr>
        <p:grpSpPr>
          <a:xfrm>
            <a:off x="5771855" y="5913069"/>
            <a:ext cx="400181" cy="367304"/>
            <a:chOff x="5971946" y="5837642"/>
            <a:chExt cx="457200" cy="457200"/>
          </a:xfrm>
        </p:grpSpPr>
        <p:pic>
          <p:nvPicPr>
            <p:cNvPr id="144" name="Image 5" descr="preencoded.png">
              <a:extLst>
                <a:ext uri="{FF2B5EF4-FFF2-40B4-BE49-F238E27FC236}">
                  <a16:creationId xmlns:a16="http://schemas.microsoft.com/office/drawing/2014/main" id="{B967E163-AEAE-D534-2DCD-E70695608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971946" y="5837642"/>
              <a:ext cx="457200" cy="457200"/>
            </a:xfrm>
            <a:prstGeom prst="rect">
              <a:avLst/>
            </a:prstGeom>
          </p:spPr>
        </p:pic>
        <p:sp>
          <p:nvSpPr>
            <p:cNvPr id="145" name="Text 62">
              <a:extLst>
                <a:ext uri="{FF2B5EF4-FFF2-40B4-BE49-F238E27FC236}">
                  <a16:creationId xmlns:a16="http://schemas.microsoft.com/office/drawing/2014/main" id="{8A7C4A38-5B02-B853-5696-17486577E1E9}"/>
                </a:ext>
              </a:extLst>
            </p:cNvPr>
            <p:cNvSpPr txBox="1"/>
            <p:nvPr/>
          </p:nvSpPr>
          <p:spPr>
            <a:xfrm>
              <a:off x="6113018" y="5925100"/>
              <a:ext cx="19111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3</a:t>
              </a:r>
              <a:endParaRPr lang="en-US" sz="2000" dirty="0"/>
            </a:p>
          </p:txBody>
        </p:sp>
      </p:grpSp>
      <p:sp>
        <p:nvSpPr>
          <p:cNvPr id="146" name="Text 63">
            <a:extLst>
              <a:ext uri="{FF2B5EF4-FFF2-40B4-BE49-F238E27FC236}">
                <a16:creationId xmlns:a16="http://schemas.microsoft.com/office/drawing/2014/main" id="{722D374A-8317-04AA-22E3-AD3B43928F0A}"/>
              </a:ext>
            </a:extLst>
          </p:cNvPr>
          <p:cNvSpPr txBox="1"/>
          <p:nvPr/>
        </p:nvSpPr>
        <p:spPr>
          <a:xfrm>
            <a:off x="4548225" y="6317070"/>
            <a:ext cx="21554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✅</a:t>
            </a:r>
            <a:r>
              <a:rPr lang="en-US" sz="20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箱と中身</a:t>
            </a:r>
            <a:r>
              <a:rPr lang="en-US" sz="20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を追う</a:t>
            </a:r>
            <a:endParaRPr lang="en-US" sz="2000" dirty="0"/>
          </a:p>
        </p:txBody>
      </p:sp>
      <p:pic>
        <p:nvPicPr>
          <p:cNvPr id="168" name="図 167" descr="The image depicts a simple, cartoonish blue-clad character with a downcast expression, featuring a small tear drop at the corner of their face.&#10;&#10;AI 生成コンテンツは誤りを含む可能性があります。">
            <a:extLst>
              <a:ext uri="{FF2B5EF4-FFF2-40B4-BE49-F238E27FC236}">
                <a16:creationId xmlns:a16="http://schemas.microsoft.com/office/drawing/2014/main" id="{E1EFF7D8-FC01-A72F-6ED2-B10D52CA38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2525" y="1886573"/>
            <a:ext cx="615983" cy="832410"/>
          </a:xfrm>
          <a:prstGeom prst="rect">
            <a:avLst/>
          </a:prstGeom>
        </p:spPr>
      </p:pic>
      <p:pic>
        <p:nvPicPr>
          <p:cNvPr id="170" name="図 169" descr="The image depicts a blue-colored character with a sad facial expression, holding a tearful expression.&#10;&#10;AI 生成コンテンツは誤りを含む可能性があります。">
            <a:extLst>
              <a:ext uri="{FF2B5EF4-FFF2-40B4-BE49-F238E27FC236}">
                <a16:creationId xmlns:a16="http://schemas.microsoft.com/office/drawing/2014/main" id="{598BBEED-F68D-E15F-C465-3F050FE7E0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3094" y="1906734"/>
            <a:ext cx="649288" cy="877416"/>
          </a:xfrm>
          <a:prstGeom prst="rect">
            <a:avLst/>
          </a:prstGeom>
        </p:spPr>
      </p:pic>
      <p:pic>
        <p:nvPicPr>
          <p:cNvPr id="172" name="図 171" descr="The image depicts a simple, blue-colored cartoon character with a face and a wet, downcast expression.&#10;&#10;AI 生成コンテンツは誤りを含む可能性があります。">
            <a:extLst>
              <a:ext uri="{FF2B5EF4-FFF2-40B4-BE49-F238E27FC236}">
                <a16:creationId xmlns:a16="http://schemas.microsoft.com/office/drawing/2014/main" id="{F609F451-9AAB-35BD-A6D8-3ADE721587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30873" y="1950123"/>
            <a:ext cx="597603" cy="807571"/>
          </a:xfrm>
          <a:prstGeom prst="rect">
            <a:avLst/>
          </a:prstGeom>
        </p:spPr>
      </p:pic>
      <p:pic>
        <p:nvPicPr>
          <p:cNvPr id="173" name="図 172" descr="The image depicts a cartoon character with a blue shirt, blue eyes, and a patterned face with tears and a mischievous smile.&#10;&#10;AI 生成コンテンツは誤りを含む可能性があります。">
            <a:extLst>
              <a:ext uri="{FF2B5EF4-FFF2-40B4-BE49-F238E27FC236}">
                <a16:creationId xmlns:a16="http://schemas.microsoft.com/office/drawing/2014/main" id="{3BADD4CC-FD9F-E1EA-4856-B19AE5574F0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77525" y="1883847"/>
            <a:ext cx="676114" cy="913668"/>
          </a:xfrm>
          <a:prstGeom prst="rect">
            <a:avLst/>
          </a:prstGeom>
        </p:spPr>
      </p:pic>
      <p:pic>
        <p:nvPicPr>
          <p:cNvPr id="175" name="図 174" descr="The image depicts a red-haired, expressionless character with a slightly furrowed brow.&#10;&#10;AI 生成コンテンツは誤りを含む可能性があります。">
            <a:extLst>
              <a:ext uri="{FF2B5EF4-FFF2-40B4-BE49-F238E27FC236}">
                <a16:creationId xmlns:a16="http://schemas.microsoft.com/office/drawing/2014/main" id="{3D2A45A8-2377-7A5F-7396-2178A68D6FE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71861" y="4202546"/>
            <a:ext cx="602225" cy="813818"/>
          </a:xfrm>
          <a:prstGeom prst="rect">
            <a:avLst/>
          </a:prstGeom>
        </p:spPr>
      </p:pic>
      <p:pic>
        <p:nvPicPr>
          <p:cNvPr id="177" name="図 176" descr="The image depicts a cartoon character with a red shirt, wearing a hood and holding a wet hand, suggesting sadness or distress.&#10;&#10;AI 生成コンテンツは誤りを含む可能性があります。">
            <a:extLst>
              <a:ext uri="{FF2B5EF4-FFF2-40B4-BE49-F238E27FC236}">
                <a16:creationId xmlns:a16="http://schemas.microsoft.com/office/drawing/2014/main" id="{1CE9BF8F-67D8-E242-C8A1-6372E412923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87263" y="4121603"/>
            <a:ext cx="691199" cy="934052"/>
          </a:xfrm>
          <a:prstGeom prst="rect">
            <a:avLst/>
          </a:prstGeom>
        </p:spPr>
      </p:pic>
      <p:pic>
        <p:nvPicPr>
          <p:cNvPr id="179" name="図 178" descr="The image depicts a cartoon character with a red shirt, wearing a mask with tears and a downward-facing mouth.&#10;&#10;AI 生成コンテンツは誤りを含む可能性があります。">
            <a:extLst>
              <a:ext uri="{FF2B5EF4-FFF2-40B4-BE49-F238E27FC236}">
                <a16:creationId xmlns:a16="http://schemas.microsoft.com/office/drawing/2014/main" id="{6AE112DB-8731-64AE-F978-55E3D3E60A9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22484" y="4102267"/>
            <a:ext cx="707253" cy="955748"/>
          </a:xfrm>
          <a:prstGeom prst="rect">
            <a:avLst/>
          </a:prstGeom>
        </p:spPr>
      </p:pic>
      <p:pic>
        <p:nvPicPr>
          <p:cNvPr id="181" name="図 180" descr="The image depicts a simple, cartoon-style character with a blue shirt and dark hair, presenting a friendly, cartoon face.&#10;&#10;AI 生成コンテンツは誤りを含む可能性があります。">
            <a:extLst>
              <a:ext uri="{FF2B5EF4-FFF2-40B4-BE49-F238E27FC236}">
                <a16:creationId xmlns:a16="http://schemas.microsoft.com/office/drawing/2014/main" id="{D9DF2F9F-51E7-FE18-0FEA-B4D0201DAF8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9254" y="5736720"/>
            <a:ext cx="623696" cy="842833"/>
          </a:xfrm>
          <a:prstGeom prst="rect">
            <a:avLst/>
          </a:prstGeom>
        </p:spPr>
      </p:pic>
      <p:pic>
        <p:nvPicPr>
          <p:cNvPr id="183" name="図 182" descr="The image depicts a cartoon character with a red shirt, round eyes, and a simple, friendly facial expression.&#10;&#10;AI 生成コンテンツは誤りを含む可能性があります。">
            <a:extLst>
              <a:ext uri="{FF2B5EF4-FFF2-40B4-BE49-F238E27FC236}">
                <a16:creationId xmlns:a16="http://schemas.microsoft.com/office/drawing/2014/main" id="{61A31B87-DA7A-FB23-D497-06E3A4F81D4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91518" y="5661969"/>
            <a:ext cx="707253" cy="95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19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78D0A-5C4F-7413-036C-812F6834C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39">
            <a:extLst>
              <a:ext uri="{FF2B5EF4-FFF2-40B4-BE49-F238E27FC236}">
                <a16:creationId xmlns:a16="http://schemas.microsoft.com/office/drawing/2014/main" id="{8E3CAA30-78D6-6472-8410-128957CAF173}"/>
              </a:ext>
            </a:extLst>
          </p:cNvPr>
          <p:cNvSpPr/>
          <p:nvPr/>
        </p:nvSpPr>
        <p:spPr>
          <a:xfrm>
            <a:off x="6095999" y="1771650"/>
            <a:ext cx="5886398" cy="4931536"/>
          </a:xfrm>
          <a:prstGeom prst="roundRect">
            <a:avLst>
              <a:gd name="adj" fmla="val 3861"/>
            </a:avLst>
          </a:prstGeom>
          <a:solidFill>
            <a:srgbClr val="EFF6FF"/>
          </a:solidFill>
          <a:ln w="47625">
            <a:solidFill>
              <a:srgbClr val="0000CC"/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3A386AD-6B22-85BB-94CA-B4E453B97937}"/>
              </a:ext>
            </a:extLst>
          </p:cNvPr>
          <p:cNvSpPr/>
          <p:nvPr/>
        </p:nvSpPr>
        <p:spPr>
          <a:xfrm>
            <a:off x="6858" y="-69952"/>
            <a:ext cx="12191695" cy="76169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F672F87-47D9-4DBC-3382-95FC0962CECF}"/>
              </a:ext>
            </a:extLst>
          </p:cNvPr>
          <p:cNvSpPr/>
          <p:nvPr/>
        </p:nvSpPr>
        <p:spPr>
          <a:xfrm>
            <a:off x="188332" y="78173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A18239D-B031-A30C-4B3D-B4C5A1BBFD3D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Vol.22</a:t>
            </a:r>
            <a:endParaRPr lang="en-US" sz="3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CB45D70-00D2-522A-B438-77212416C6B6}"/>
              </a:ext>
            </a:extLst>
          </p:cNvPr>
          <p:cNvSpPr txBox="1"/>
          <p:nvPr/>
        </p:nvSpPr>
        <p:spPr>
          <a:xfrm>
            <a:off x="1926963" y="154814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 :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(Condition)】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の勘違い</a:t>
            </a:r>
            <a:endParaRPr lang="en-US" sz="32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D871215C-1A4E-9FD1-61A5-038F4C43B4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461" y="709333"/>
            <a:ext cx="8314039" cy="849731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287C6E12-CF10-75C4-4D65-DBBA18AF97C7}"/>
              </a:ext>
            </a:extLst>
          </p:cNvPr>
          <p:cNvSpPr txBox="1"/>
          <p:nvPr/>
        </p:nvSpPr>
        <p:spPr>
          <a:xfrm>
            <a:off x="867634" y="831144"/>
            <a:ext cx="7835495" cy="67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equals </a:t>
            </a: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 </a:t>
            </a:r>
            <a:r>
              <a:rPr lang="en-US" altLang="ja-JP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contains</a:t>
            </a: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、なんとなくで選んでいませんか？ </a:t>
            </a:r>
            <a:endParaRPr lang="en-US" altLang="ja-JP" sz="2400" b="1">
              <a:solidFill>
                <a:schemeClr val="tx1">
                  <a:lumMod val="75000"/>
                  <a:lumOff val="25000"/>
                </a:schemeClr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400" b="1">
                <a:solidFill>
                  <a:schemeClr val="bg2">
                    <a:lumMod val="50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条件が合わない</a:t>
            </a:r>
            <a:r>
              <a:rPr lang="en-US" altLang="ja-JP" sz="2400" b="1">
                <a:solidFill>
                  <a:schemeClr val="bg2">
                    <a:lumMod val="50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…</a:t>
            </a:r>
            <a:r>
              <a:rPr lang="ja-JP" altLang="en-US" sz="2400" b="1">
                <a:solidFill>
                  <a:schemeClr val="bg2">
                    <a:lumMod val="50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その原因、比較の“勘違い”かも</a:t>
            </a:r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BADC54AD-0819-ADED-714E-16A3CF3DE7BA}"/>
              </a:ext>
            </a:extLst>
          </p:cNvPr>
          <p:cNvSpPr txBox="1"/>
          <p:nvPr/>
        </p:nvSpPr>
        <p:spPr>
          <a:xfrm>
            <a:off x="11367821" y="6514472"/>
            <a:ext cx="676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#PA45</a:t>
            </a:r>
            <a:endParaRPr lang="en-US" sz="1300" dirty="0"/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D2BD3532-2ABF-592A-030F-4B887BBF5653}"/>
              </a:ext>
            </a:extLst>
          </p:cNvPr>
          <p:cNvSpPr txBox="1"/>
          <p:nvPr/>
        </p:nvSpPr>
        <p:spPr>
          <a:xfrm>
            <a:off x="666598" y="2708659"/>
            <a:ext cx="2509184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400" dirty="0">
              <a:solidFill>
                <a:schemeClr val="bg1"/>
              </a:solidFill>
              <a:effectLst>
                <a:glow rad="63500">
                  <a:srgbClr val="0000CC"/>
                </a:glow>
              </a:effectLst>
            </a:endParaRPr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EDDBFA7E-269B-2445-5178-6BDAD8549F24}"/>
              </a:ext>
            </a:extLst>
          </p:cNvPr>
          <p:cNvSpPr/>
          <p:nvPr/>
        </p:nvSpPr>
        <p:spPr>
          <a:xfrm>
            <a:off x="58783" y="-50800"/>
            <a:ext cx="12077233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43E6AF19-11D1-4D5D-9BFE-D8EEA1F7C0C8}"/>
              </a:ext>
            </a:extLst>
          </p:cNvPr>
          <p:cNvSpPr/>
          <p:nvPr/>
        </p:nvSpPr>
        <p:spPr>
          <a:xfrm>
            <a:off x="249515" y="831975"/>
            <a:ext cx="193903" cy="992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CCF72A65-275E-D8C7-31B1-A43170DEA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6" y="746053"/>
            <a:ext cx="784945" cy="784945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88F718A-C4C6-15A2-4318-33120CB612F6}"/>
              </a:ext>
            </a:extLst>
          </p:cNvPr>
          <p:cNvSpPr/>
          <p:nvPr/>
        </p:nvSpPr>
        <p:spPr>
          <a:xfrm>
            <a:off x="157823" y="1698465"/>
            <a:ext cx="5811764" cy="5004721"/>
          </a:xfrm>
          <a:prstGeom prst="roundRect">
            <a:avLst>
              <a:gd name="adj" fmla="val 35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5ECCC529-AA59-E134-99B8-B5D760E85ADB}"/>
              </a:ext>
            </a:extLst>
          </p:cNvPr>
          <p:cNvSpPr/>
          <p:nvPr/>
        </p:nvSpPr>
        <p:spPr>
          <a:xfrm>
            <a:off x="346433" y="1625360"/>
            <a:ext cx="3619573" cy="513892"/>
          </a:xfrm>
          <a:prstGeom prst="roundRect">
            <a:avLst>
              <a:gd name="adj" fmla="val 319489"/>
            </a:avLst>
          </a:prstGeom>
          <a:solidFill>
            <a:srgbClr val="FEF2F2"/>
          </a:solidFill>
          <a:ln w="3492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B7523F34-D718-30BE-FC2F-9E0491EC1A56}"/>
              </a:ext>
            </a:extLst>
          </p:cNvPr>
          <p:cNvSpPr txBox="1"/>
          <p:nvPr/>
        </p:nvSpPr>
        <p:spPr>
          <a:xfrm>
            <a:off x="587622" y="1712072"/>
            <a:ext cx="2981048" cy="34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2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よくある勘違い</a:t>
            </a:r>
            <a:endParaRPr lang="en-US" altLang="ja-JP" sz="3200" b="1">
              <a:solidFill>
                <a:srgbClr val="DC2626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C6BD620F-2A80-44B5-953D-3C785E9A2470}"/>
              </a:ext>
            </a:extLst>
          </p:cNvPr>
          <p:cNvGrpSpPr/>
          <p:nvPr/>
        </p:nvGrpSpPr>
        <p:grpSpPr>
          <a:xfrm>
            <a:off x="6061279" y="1582770"/>
            <a:ext cx="3079891" cy="513892"/>
            <a:chOff x="3873773" y="1873957"/>
            <a:chExt cx="3485106" cy="513892"/>
          </a:xfrm>
        </p:grpSpPr>
        <p:sp>
          <p:nvSpPr>
            <p:cNvPr id="84" name="Shape 7">
              <a:extLst>
                <a:ext uri="{FF2B5EF4-FFF2-40B4-BE49-F238E27FC236}">
                  <a16:creationId xmlns:a16="http://schemas.microsoft.com/office/drawing/2014/main" id="{717E99E5-D787-97E3-341D-61AEF31379FD}"/>
                </a:ext>
              </a:extLst>
            </p:cNvPr>
            <p:cNvSpPr/>
            <p:nvPr/>
          </p:nvSpPr>
          <p:spPr>
            <a:xfrm>
              <a:off x="3873773" y="1873957"/>
              <a:ext cx="3103094" cy="513892"/>
            </a:xfrm>
            <a:prstGeom prst="roundRect">
              <a:avLst>
                <a:gd name="adj" fmla="val 31948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rgbClr val="0000CC"/>
              </a:solidFill>
              <a:prstDash val="solid"/>
            </a:ln>
          </p:spPr>
          <p:txBody>
            <a:bodyPr/>
            <a:lstStyle/>
            <a:p>
              <a:endParaRPr lang="ja-JP" altLang="en-US" sz="4800"/>
            </a:p>
          </p:txBody>
        </p:sp>
        <p:sp>
          <p:nvSpPr>
            <p:cNvPr id="85" name="Text 36">
              <a:extLst>
                <a:ext uri="{FF2B5EF4-FFF2-40B4-BE49-F238E27FC236}">
                  <a16:creationId xmlns:a16="http://schemas.microsoft.com/office/drawing/2014/main" id="{32ECACC3-7625-119C-448A-D8C665D686B1}"/>
                </a:ext>
              </a:extLst>
            </p:cNvPr>
            <p:cNvSpPr txBox="1"/>
            <p:nvPr/>
          </p:nvSpPr>
          <p:spPr>
            <a:xfrm>
              <a:off x="4304719" y="1880414"/>
              <a:ext cx="3054160" cy="5074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ja-JP" altLang="en-US" sz="32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正しい理解</a:t>
              </a:r>
              <a:endParaRPr lang="en-US" sz="3600" dirty="0"/>
            </a:p>
          </p:txBody>
        </p:sp>
      </p:grpSp>
      <p:sp>
        <p:nvSpPr>
          <p:cNvPr id="3" name="Shape 5">
            <a:extLst>
              <a:ext uri="{FF2B5EF4-FFF2-40B4-BE49-F238E27FC236}">
                <a16:creationId xmlns:a16="http://schemas.microsoft.com/office/drawing/2014/main" id="{180182AD-E589-2ECD-78BC-8B22A7AE24CA}"/>
              </a:ext>
            </a:extLst>
          </p:cNvPr>
          <p:cNvSpPr/>
          <p:nvPr/>
        </p:nvSpPr>
        <p:spPr>
          <a:xfrm>
            <a:off x="8731428" y="779156"/>
            <a:ext cx="3227113" cy="685800"/>
          </a:xfrm>
          <a:prstGeom prst="roundRect">
            <a:avLst>
              <a:gd name="adj" fmla="val 14815"/>
            </a:avLst>
          </a:prstGeom>
          <a:solidFill>
            <a:srgbClr val="EFF6FF"/>
          </a:solidFill>
          <a:ln w="3175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B2052F82-21FA-5864-A5BA-3B782CF9F882}"/>
              </a:ext>
            </a:extLst>
          </p:cNvPr>
          <p:cNvSpPr txBox="1"/>
          <p:nvPr/>
        </p:nvSpPr>
        <p:spPr>
          <a:xfrm>
            <a:off x="9207830" y="855966"/>
            <a:ext cx="277456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equals は“</a:t>
            </a:r>
            <a:r>
              <a:rPr lang="en-US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完全一致”、</a:t>
            </a:r>
          </a:p>
          <a:p>
            <a:pPr marL="0" indent="0" algn="l">
              <a:buNone/>
            </a:pPr>
            <a:r>
              <a:rPr lang="en-US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contains </a:t>
            </a:r>
            <a:r>
              <a:rPr lang="en-US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は“含まれるか” </a:t>
            </a:r>
            <a:endParaRPr lang="en-US" dirty="0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DDD9FA5D-572D-BECB-4E22-19212094DF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21623" y="915402"/>
            <a:ext cx="171907" cy="171907"/>
          </a:xfrm>
          <a:prstGeom prst="rect">
            <a:avLst/>
          </a:prstGeom>
        </p:spPr>
      </p:pic>
      <p:pic>
        <p:nvPicPr>
          <p:cNvPr id="15" name="Image 6" descr="preencoded.png">
            <a:extLst>
              <a:ext uri="{FF2B5EF4-FFF2-40B4-BE49-F238E27FC236}">
                <a16:creationId xmlns:a16="http://schemas.microsoft.com/office/drawing/2014/main" id="{836648DF-8F91-5781-9746-7B44F168A7A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266529" y="2371954"/>
            <a:ext cx="352520" cy="470967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0D05267F-197A-271A-8B7D-6141EE153B93}"/>
              </a:ext>
            </a:extLst>
          </p:cNvPr>
          <p:cNvSpPr txBox="1"/>
          <p:nvPr/>
        </p:nvSpPr>
        <p:spPr>
          <a:xfrm>
            <a:off x="694944" y="2314345"/>
            <a:ext cx="4962906" cy="60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equals</a:t>
            </a:r>
            <a:r>
              <a:rPr lang="en-US" sz="24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 部分一致</a:t>
            </a:r>
            <a:r>
              <a:rPr lang="ja-JP" alt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？？</a:t>
            </a:r>
            <a:endParaRPr lang="en-US" sz="2400" b="1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B81DC494-F5C5-1A7A-CB8F-F7A877659CD5}"/>
              </a:ext>
            </a:extLst>
          </p:cNvPr>
          <p:cNvSpPr txBox="1"/>
          <p:nvPr/>
        </p:nvSpPr>
        <p:spPr>
          <a:xfrm>
            <a:off x="684491" y="3043593"/>
            <a:ext cx="5380800" cy="60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文字に空白があると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判定できない</a:t>
            </a:r>
            <a:r>
              <a:rPr lang="ja-JP" alt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？？</a:t>
            </a:r>
            <a:endParaRPr lang="en-US" sz="2400" b="1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7A54526E-4935-7F94-55DB-04C9330A0874}"/>
              </a:ext>
            </a:extLst>
          </p:cNvPr>
          <p:cNvSpPr txBox="1"/>
          <p:nvPr/>
        </p:nvSpPr>
        <p:spPr>
          <a:xfrm>
            <a:off x="580293" y="3749033"/>
            <a:ext cx="5330652" cy="60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contains を使えば全部解決</a:t>
            </a:r>
            <a:r>
              <a:rPr lang="ja-JP" alt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？？</a:t>
            </a:r>
            <a:endParaRPr lang="en-US" sz="2400" b="1" dirty="0"/>
          </a:p>
        </p:txBody>
      </p:sp>
      <p:pic>
        <p:nvPicPr>
          <p:cNvPr id="33" name="Image 6" descr="preencoded.png">
            <a:extLst>
              <a:ext uri="{FF2B5EF4-FFF2-40B4-BE49-F238E27FC236}">
                <a16:creationId xmlns:a16="http://schemas.microsoft.com/office/drawing/2014/main" id="{78A32A47-A336-89E9-245D-C4EEE06AA4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240388" y="3076699"/>
            <a:ext cx="352520" cy="470967"/>
          </a:xfrm>
          <a:prstGeom prst="rect">
            <a:avLst/>
          </a:prstGeom>
        </p:spPr>
      </p:pic>
      <p:pic>
        <p:nvPicPr>
          <p:cNvPr id="34" name="Image 6" descr="preencoded.png">
            <a:extLst>
              <a:ext uri="{FF2B5EF4-FFF2-40B4-BE49-F238E27FC236}">
                <a16:creationId xmlns:a16="http://schemas.microsoft.com/office/drawing/2014/main" id="{1A42B148-C378-58E1-05D4-1C92EAF3BF8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249515" y="3805728"/>
            <a:ext cx="352520" cy="470967"/>
          </a:xfrm>
          <a:prstGeom prst="rect">
            <a:avLst/>
          </a:prstGeom>
        </p:spPr>
      </p:pic>
      <p:pic>
        <p:nvPicPr>
          <p:cNvPr id="36" name="Image 9" descr="preencoded.png">
            <a:extLst>
              <a:ext uri="{FF2B5EF4-FFF2-40B4-BE49-F238E27FC236}">
                <a16:creationId xmlns:a16="http://schemas.microsoft.com/office/drawing/2014/main" id="{3FD10172-D251-D611-2EF4-A0732E8C488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5" r="-5"/>
          <a:stretch/>
        </p:blipFill>
        <p:spPr>
          <a:xfrm>
            <a:off x="296985" y="4567078"/>
            <a:ext cx="5551733" cy="2003766"/>
          </a:xfrm>
          <a:prstGeom prst="rect">
            <a:avLst/>
          </a:prstGeom>
          <a:ln w="3175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38" name="Text 15">
            <a:extLst>
              <a:ext uri="{FF2B5EF4-FFF2-40B4-BE49-F238E27FC236}">
                <a16:creationId xmlns:a16="http://schemas.microsoft.com/office/drawing/2014/main" id="{EF91C8E1-6ABA-612E-138A-1D7EB2828D58}"/>
              </a:ext>
            </a:extLst>
          </p:cNvPr>
          <p:cNvSpPr txBox="1"/>
          <p:nvPr/>
        </p:nvSpPr>
        <p:spPr>
          <a:xfrm>
            <a:off x="521303" y="4664155"/>
            <a:ext cx="4926498" cy="21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NG例：</a:t>
            </a:r>
            <a:r>
              <a:rPr lang="en-US" sz="3200" b="1" dirty="0">
                <a:solidFill>
                  <a:srgbClr val="FF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equals </a:t>
            </a:r>
            <a:r>
              <a:rPr lang="en-US" sz="24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で部分一致を期待</a:t>
            </a:r>
            <a:endParaRPr lang="en-US" sz="2400" dirty="0"/>
          </a:p>
        </p:txBody>
      </p: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1470A11F-435C-F2F0-5B96-6B85D263DC23}"/>
              </a:ext>
            </a:extLst>
          </p:cNvPr>
          <p:cNvGrpSpPr/>
          <p:nvPr/>
        </p:nvGrpSpPr>
        <p:grpSpPr>
          <a:xfrm>
            <a:off x="394803" y="5004358"/>
            <a:ext cx="2699444" cy="891980"/>
            <a:chOff x="394803" y="5004358"/>
            <a:chExt cx="1454017" cy="891980"/>
          </a:xfrm>
        </p:grpSpPr>
        <p:sp>
          <p:nvSpPr>
            <p:cNvPr id="39" name="Shape 16">
              <a:extLst>
                <a:ext uri="{FF2B5EF4-FFF2-40B4-BE49-F238E27FC236}">
                  <a16:creationId xmlns:a16="http://schemas.microsoft.com/office/drawing/2014/main" id="{25BB17A6-EDA3-0B41-7AA5-BACE47C9BCFB}"/>
                </a:ext>
              </a:extLst>
            </p:cNvPr>
            <p:cNvSpPr/>
            <p:nvPr/>
          </p:nvSpPr>
          <p:spPr>
            <a:xfrm>
              <a:off x="394803" y="5004358"/>
              <a:ext cx="1446303" cy="891980"/>
            </a:xfrm>
            <a:prstGeom prst="roundRect">
              <a:avLst>
                <a:gd name="adj" fmla="val 24504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40" name="Text 17">
              <a:extLst>
                <a:ext uri="{FF2B5EF4-FFF2-40B4-BE49-F238E27FC236}">
                  <a16:creationId xmlns:a16="http://schemas.microsoft.com/office/drawing/2014/main" id="{1ADBA605-C57B-B817-74CB-9DA3B17C4223}"/>
                </a:ext>
              </a:extLst>
            </p:cNvPr>
            <p:cNvSpPr txBox="1"/>
            <p:nvPr/>
          </p:nvSpPr>
          <p:spPr>
            <a:xfrm>
              <a:off x="405839" y="5095896"/>
              <a:ext cx="1442981" cy="2059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入力値</a:t>
              </a:r>
              <a:endParaRPr lang="en-US" sz="2000" b="1" dirty="0"/>
            </a:p>
          </p:txBody>
        </p:sp>
        <p:sp>
          <p:nvSpPr>
            <p:cNvPr id="41" name="Text 18">
              <a:extLst>
                <a:ext uri="{FF2B5EF4-FFF2-40B4-BE49-F238E27FC236}">
                  <a16:creationId xmlns:a16="http://schemas.microsoft.com/office/drawing/2014/main" id="{25743D66-D736-5D0C-05A7-28CE4E5BC3F6}"/>
                </a:ext>
              </a:extLst>
            </p:cNvPr>
            <p:cNvSpPr txBox="1"/>
            <p:nvPr/>
          </p:nvSpPr>
          <p:spPr>
            <a:xfrm>
              <a:off x="422705" y="5388293"/>
              <a:ext cx="1391161" cy="388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37415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"PA45 Hands-on"</a:t>
              </a:r>
              <a:endParaRPr lang="en-US" sz="2400" dirty="0"/>
            </a:p>
          </p:txBody>
        </p:sp>
      </p:grpSp>
      <p:sp>
        <p:nvSpPr>
          <p:cNvPr id="42" name="Text 19">
            <a:extLst>
              <a:ext uri="{FF2B5EF4-FFF2-40B4-BE49-F238E27FC236}">
                <a16:creationId xmlns:a16="http://schemas.microsoft.com/office/drawing/2014/main" id="{5047176E-2372-4F74-CB1B-AA0575343761}"/>
              </a:ext>
            </a:extLst>
          </p:cNvPr>
          <p:cNvSpPr txBox="1"/>
          <p:nvPr/>
        </p:nvSpPr>
        <p:spPr>
          <a:xfrm>
            <a:off x="3209622" y="5264768"/>
            <a:ext cx="437297" cy="373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2800" dirty="0"/>
          </a:p>
        </p:txBody>
      </p: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0BF69269-F29B-FCDB-95E4-C86AC00BD4E7}"/>
              </a:ext>
            </a:extLst>
          </p:cNvPr>
          <p:cNvGrpSpPr/>
          <p:nvPr/>
        </p:nvGrpSpPr>
        <p:grpSpPr>
          <a:xfrm>
            <a:off x="3740362" y="4994443"/>
            <a:ext cx="2063538" cy="949993"/>
            <a:chOff x="3175782" y="5113327"/>
            <a:chExt cx="1446303" cy="744785"/>
          </a:xfrm>
        </p:grpSpPr>
        <p:sp>
          <p:nvSpPr>
            <p:cNvPr id="43" name="Shape 20">
              <a:extLst>
                <a:ext uri="{FF2B5EF4-FFF2-40B4-BE49-F238E27FC236}">
                  <a16:creationId xmlns:a16="http://schemas.microsoft.com/office/drawing/2014/main" id="{8C81BD76-8D9C-559F-B395-5C5DB5D35988}"/>
                </a:ext>
              </a:extLst>
            </p:cNvPr>
            <p:cNvSpPr/>
            <p:nvPr/>
          </p:nvSpPr>
          <p:spPr>
            <a:xfrm>
              <a:off x="3175782" y="5113327"/>
              <a:ext cx="1446303" cy="744785"/>
            </a:xfrm>
            <a:prstGeom prst="roundRect">
              <a:avLst>
                <a:gd name="adj" fmla="val 22836"/>
              </a:avLst>
            </a:prstGeom>
            <a:solidFill>
              <a:srgbClr val="EFF6FF"/>
            </a:solidFill>
            <a:ln w="12700">
              <a:solidFill>
                <a:srgbClr val="DBEAFE"/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44" name="Text 21">
              <a:extLst>
                <a:ext uri="{FF2B5EF4-FFF2-40B4-BE49-F238E27FC236}">
                  <a16:creationId xmlns:a16="http://schemas.microsoft.com/office/drawing/2014/main" id="{A5BA85C9-BB33-1C16-AF1D-716C0DFA5EE7}"/>
                </a:ext>
              </a:extLst>
            </p:cNvPr>
            <p:cNvSpPr txBox="1"/>
            <p:nvPr/>
          </p:nvSpPr>
          <p:spPr>
            <a:xfrm>
              <a:off x="3210328" y="5229238"/>
              <a:ext cx="1377209" cy="2059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3B82F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条件 (equals)</a:t>
              </a:r>
              <a:endParaRPr lang="en-US" sz="2000" b="1" dirty="0"/>
            </a:p>
          </p:txBody>
        </p:sp>
        <p:sp>
          <p:nvSpPr>
            <p:cNvPr id="45" name="Text 22">
              <a:extLst>
                <a:ext uri="{FF2B5EF4-FFF2-40B4-BE49-F238E27FC236}">
                  <a16:creationId xmlns:a16="http://schemas.microsoft.com/office/drawing/2014/main" id="{62F4C3EE-157D-DAE6-FFE9-B5EE7CE9F8B9}"/>
                </a:ext>
              </a:extLst>
            </p:cNvPr>
            <p:cNvSpPr txBox="1"/>
            <p:nvPr/>
          </p:nvSpPr>
          <p:spPr>
            <a:xfrm>
              <a:off x="3210328" y="5485720"/>
              <a:ext cx="1377209" cy="2577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2563E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"PA45"</a:t>
              </a:r>
              <a:endParaRPr lang="en-US" sz="2400" dirty="0"/>
            </a:p>
          </p:txBody>
        </p:sp>
      </p:grpSp>
      <p:sp>
        <p:nvSpPr>
          <p:cNvPr id="46" name="Shape 23">
            <a:extLst>
              <a:ext uri="{FF2B5EF4-FFF2-40B4-BE49-F238E27FC236}">
                <a16:creationId xmlns:a16="http://schemas.microsoft.com/office/drawing/2014/main" id="{E0FCBB3A-FB3F-4ED8-B9EC-DFAC8578189B}"/>
              </a:ext>
            </a:extLst>
          </p:cNvPr>
          <p:cNvSpPr/>
          <p:nvPr/>
        </p:nvSpPr>
        <p:spPr>
          <a:xfrm>
            <a:off x="382270" y="6076778"/>
            <a:ext cx="5179498" cy="410618"/>
          </a:xfrm>
          <a:prstGeom prst="roundRect">
            <a:avLst>
              <a:gd name="adj" fmla="val 75075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80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7ABCD3A4-763F-2620-0E3D-E9D18F80EA8A}"/>
              </a:ext>
            </a:extLst>
          </p:cNvPr>
          <p:cNvSpPr txBox="1"/>
          <p:nvPr/>
        </p:nvSpPr>
        <p:spPr>
          <a:xfrm>
            <a:off x="1314694" y="6133714"/>
            <a:ext cx="4001441" cy="30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結果：false </a:t>
            </a:r>
            <a:r>
              <a:rPr lang="en-US" sz="1600" b="1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（想定と違う！）</a:t>
            </a:r>
            <a:endParaRPr lang="en-US" sz="2800" dirty="0"/>
          </a:p>
        </p:txBody>
      </p:sp>
      <p:pic>
        <p:nvPicPr>
          <p:cNvPr id="48" name="Image 10" descr="preencoded.png">
            <a:extLst>
              <a:ext uri="{FF2B5EF4-FFF2-40B4-BE49-F238E27FC236}">
                <a16:creationId xmlns:a16="http://schemas.microsoft.com/office/drawing/2014/main" id="{2851D060-AB85-E179-3097-F904E114192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08177" y="6084047"/>
            <a:ext cx="365490" cy="396080"/>
          </a:xfrm>
          <a:prstGeom prst="rect">
            <a:avLst/>
          </a:prstGeom>
        </p:spPr>
      </p:pic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DBD14689-27EB-51A0-F602-CAB33E21BD29}"/>
              </a:ext>
            </a:extLst>
          </p:cNvPr>
          <p:cNvGrpSpPr/>
          <p:nvPr/>
        </p:nvGrpSpPr>
        <p:grpSpPr>
          <a:xfrm>
            <a:off x="6147034" y="2275586"/>
            <a:ext cx="5770477" cy="2115112"/>
            <a:chOff x="6533259" y="2307911"/>
            <a:chExt cx="3781347" cy="973296"/>
          </a:xfrm>
        </p:grpSpPr>
        <p:pic>
          <p:nvPicPr>
            <p:cNvPr id="66" name="Image 14" descr="preencoded.png">
              <a:extLst>
                <a:ext uri="{FF2B5EF4-FFF2-40B4-BE49-F238E27FC236}">
                  <a16:creationId xmlns:a16="http://schemas.microsoft.com/office/drawing/2014/main" id="{8C0476AD-B6C1-8155-2355-F89F84147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6533259" y="3009750"/>
              <a:ext cx="228600" cy="152705"/>
            </a:xfrm>
            <a:prstGeom prst="rect">
              <a:avLst/>
            </a:prstGeom>
          </p:spPr>
        </p:pic>
        <p:grpSp>
          <p:nvGrpSpPr>
            <p:cNvPr id="67" name="グループ化 66">
              <a:extLst>
                <a:ext uri="{FF2B5EF4-FFF2-40B4-BE49-F238E27FC236}">
                  <a16:creationId xmlns:a16="http://schemas.microsoft.com/office/drawing/2014/main" id="{9E198BDA-9B7C-E277-37C4-9D86DD62EA7D}"/>
                </a:ext>
              </a:extLst>
            </p:cNvPr>
            <p:cNvGrpSpPr/>
            <p:nvPr/>
          </p:nvGrpSpPr>
          <p:grpSpPr>
            <a:xfrm>
              <a:off x="6581658" y="2307911"/>
              <a:ext cx="3732948" cy="973296"/>
              <a:chOff x="6581658" y="2307911"/>
              <a:chExt cx="3732948" cy="973296"/>
            </a:xfrm>
          </p:grpSpPr>
          <p:pic>
            <p:nvPicPr>
              <p:cNvPr id="68" name="Image 12" descr="preencoded.png">
                <a:extLst>
                  <a:ext uri="{FF2B5EF4-FFF2-40B4-BE49-F238E27FC236}">
                    <a16:creationId xmlns:a16="http://schemas.microsoft.com/office/drawing/2014/main" id="{9EE99807-AA17-3DF2-ADA0-0294119773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t="-43" b="-43"/>
              <a:stretch/>
            </p:blipFill>
            <p:spPr>
              <a:xfrm>
                <a:off x="6581658" y="2307911"/>
                <a:ext cx="133502" cy="152705"/>
              </a:xfrm>
              <a:prstGeom prst="rect">
                <a:avLst/>
              </a:prstGeom>
            </p:spPr>
          </p:pic>
          <p:sp>
            <p:nvSpPr>
              <p:cNvPr id="74" name="Text 28">
                <a:extLst>
                  <a:ext uri="{FF2B5EF4-FFF2-40B4-BE49-F238E27FC236}">
                    <a16:creationId xmlns:a16="http://schemas.microsoft.com/office/drawing/2014/main" id="{817E1C33-6021-BAA9-82E4-81E0237D03D1}"/>
                  </a:ext>
                </a:extLst>
              </p:cNvPr>
              <p:cNvSpPr txBox="1"/>
              <p:nvPr/>
            </p:nvSpPr>
            <p:spPr>
              <a:xfrm>
                <a:off x="6810451" y="2314346"/>
                <a:ext cx="3241548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400" b="1" dirty="0">
                    <a:solidFill>
                      <a:srgbClr val="2563EB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equals</a:t>
                </a:r>
                <a:r>
                  <a:rPr lang="en-US" sz="2400" b="1" dirty="0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 は“</a:t>
                </a: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完全一致”</a:t>
                </a:r>
              </a:p>
              <a:p>
                <a:pPr marL="0" indent="0" algn="l">
                  <a:buNone/>
                </a:pPr>
                <a:r>
                  <a:rPr lang="en-US" sz="2400" b="1">
                    <a:solidFill>
                      <a:srgbClr val="6B7280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（</a:t>
                </a:r>
                <a:r>
                  <a:rPr lang="en-US" sz="2400" b="1" dirty="0">
                    <a:solidFill>
                      <a:srgbClr val="6B7280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1文字でも違えばNG）</a:t>
                </a:r>
                <a:endParaRPr lang="en-US" sz="2400" b="1" dirty="0"/>
              </a:p>
            </p:txBody>
          </p:sp>
          <p:pic>
            <p:nvPicPr>
              <p:cNvPr id="75" name="Image 13" descr="preencoded.png">
                <a:extLst>
                  <a:ext uri="{FF2B5EF4-FFF2-40B4-BE49-F238E27FC236}">
                    <a16:creationId xmlns:a16="http://schemas.microsoft.com/office/drawing/2014/main" id="{C8D51979-9D90-B5AC-1170-BEB92DA7F7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t="-43" b="-43"/>
              <a:stretch/>
            </p:blipFill>
            <p:spPr>
              <a:xfrm>
                <a:off x="6588641" y="2700999"/>
                <a:ext cx="133502" cy="152705"/>
              </a:xfrm>
              <a:prstGeom prst="rect">
                <a:avLst/>
              </a:prstGeom>
            </p:spPr>
          </p:pic>
          <p:sp>
            <p:nvSpPr>
              <p:cNvPr id="76" name="Text 29">
                <a:extLst>
                  <a:ext uri="{FF2B5EF4-FFF2-40B4-BE49-F238E27FC236}">
                    <a16:creationId xmlns:a16="http://schemas.microsoft.com/office/drawing/2014/main" id="{F568CD71-7804-8F28-A130-74C4836D1E1F}"/>
                  </a:ext>
                </a:extLst>
              </p:cNvPr>
              <p:cNvSpPr txBox="1"/>
              <p:nvPr/>
            </p:nvSpPr>
            <p:spPr>
              <a:xfrm>
                <a:off x="6806457" y="2686814"/>
                <a:ext cx="3508149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400" b="1" dirty="0">
                    <a:solidFill>
                      <a:srgbClr val="2563EB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contains</a:t>
                </a:r>
                <a:r>
                  <a:rPr lang="en-US" sz="2400" b="1" dirty="0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 は“含まれるか</a:t>
                </a: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”を</a:t>
                </a:r>
              </a:p>
              <a:p>
                <a:pPr marL="0" indent="0" algn="l">
                  <a:buNone/>
                </a:pP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判定する</a:t>
                </a:r>
                <a:endParaRPr lang="en-US" sz="2400" b="1" dirty="0"/>
              </a:p>
            </p:txBody>
          </p:sp>
          <p:sp>
            <p:nvSpPr>
              <p:cNvPr id="77" name="Text 30">
                <a:extLst>
                  <a:ext uri="{FF2B5EF4-FFF2-40B4-BE49-F238E27FC236}">
                    <a16:creationId xmlns:a16="http://schemas.microsoft.com/office/drawing/2014/main" id="{E944F64B-5049-64DC-748C-26D6EBE1C661}"/>
                  </a:ext>
                </a:extLst>
              </p:cNvPr>
              <p:cNvSpPr txBox="1"/>
              <p:nvPr/>
            </p:nvSpPr>
            <p:spPr>
              <a:xfrm>
                <a:off x="6821821" y="3052607"/>
                <a:ext cx="340065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400" b="1" dirty="0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数値・</a:t>
                </a: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日付は、</a:t>
                </a:r>
              </a:p>
              <a:p>
                <a:pPr marL="0" indent="0" algn="l">
                  <a:buNone/>
                </a:pP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型</a:t>
                </a:r>
                <a:r>
                  <a:rPr lang="en-US" sz="2400" b="1" dirty="0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（データの種類）に特に注意</a:t>
                </a:r>
                <a:endParaRPr lang="en-US" sz="2400" b="1" dirty="0"/>
              </a:p>
            </p:txBody>
          </p:sp>
        </p:grpSp>
      </p:grpSp>
      <p:pic>
        <p:nvPicPr>
          <p:cNvPr id="80" name="Image 9" descr="preencoded.png">
            <a:extLst>
              <a:ext uri="{FF2B5EF4-FFF2-40B4-BE49-F238E27FC236}">
                <a16:creationId xmlns:a16="http://schemas.microsoft.com/office/drawing/2014/main" id="{46FB3416-570E-95F7-FE1F-96715B22EAD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5" r="-5"/>
          <a:stretch/>
        </p:blipFill>
        <p:spPr>
          <a:xfrm>
            <a:off x="6241811" y="4564685"/>
            <a:ext cx="5551733" cy="2003766"/>
          </a:xfrm>
          <a:prstGeom prst="rect">
            <a:avLst/>
          </a:prstGeom>
          <a:ln w="3175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81" name="Text 15">
            <a:extLst>
              <a:ext uri="{FF2B5EF4-FFF2-40B4-BE49-F238E27FC236}">
                <a16:creationId xmlns:a16="http://schemas.microsoft.com/office/drawing/2014/main" id="{27B8C5CB-21E8-4AAA-F6C7-6CCCD6849190}"/>
              </a:ext>
            </a:extLst>
          </p:cNvPr>
          <p:cNvSpPr txBox="1"/>
          <p:nvPr/>
        </p:nvSpPr>
        <p:spPr>
          <a:xfrm>
            <a:off x="6315475" y="4592809"/>
            <a:ext cx="6819009" cy="358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OK例：</a:t>
            </a:r>
            <a:r>
              <a:rPr lang="en-US" sz="32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contains </a:t>
            </a:r>
            <a:r>
              <a:rPr lang="en-US" sz="24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で部分一致を期待</a:t>
            </a:r>
            <a:endParaRPr lang="en-US" sz="2400" dirty="0"/>
          </a:p>
        </p:txBody>
      </p: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62A69A13-426C-18A5-27B2-AD14E5DF7035}"/>
              </a:ext>
            </a:extLst>
          </p:cNvPr>
          <p:cNvGrpSpPr/>
          <p:nvPr/>
        </p:nvGrpSpPr>
        <p:grpSpPr>
          <a:xfrm>
            <a:off x="6185781" y="5086353"/>
            <a:ext cx="2814819" cy="891980"/>
            <a:chOff x="324944" y="5004358"/>
            <a:chExt cx="1516162" cy="891980"/>
          </a:xfrm>
        </p:grpSpPr>
        <p:sp>
          <p:nvSpPr>
            <p:cNvPr id="88" name="Shape 16">
              <a:extLst>
                <a:ext uri="{FF2B5EF4-FFF2-40B4-BE49-F238E27FC236}">
                  <a16:creationId xmlns:a16="http://schemas.microsoft.com/office/drawing/2014/main" id="{B40AE11A-DCA3-0C46-55C6-5661F9B389F7}"/>
                </a:ext>
              </a:extLst>
            </p:cNvPr>
            <p:cNvSpPr/>
            <p:nvPr/>
          </p:nvSpPr>
          <p:spPr>
            <a:xfrm>
              <a:off x="394803" y="5004358"/>
              <a:ext cx="1446303" cy="891980"/>
            </a:xfrm>
            <a:prstGeom prst="roundRect">
              <a:avLst>
                <a:gd name="adj" fmla="val 24504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89" name="Text 17">
              <a:extLst>
                <a:ext uri="{FF2B5EF4-FFF2-40B4-BE49-F238E27FC236}">
                  <a16:creationId xmlns:a16="http://schemas.microsoft.com/office/drawing/2014/main" id="{5D894E81-956E-B302-01BF-1CB51281ACC7}"/>
                </a:ext>
              </a:extLst>
            </p:cNvPr>
            <p:cNvSpPr txBox="1"/>
            <p:nvPr/>
          </p:nvSpPr>
          <p:spPr>
            <a:xfrm>
              <a:off x="324944" y="5087927"/>
              <a:ext cx="1442981" cy="2059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入力値</a:t>
              </a:r>
              <a:endParaRPr lang="en-US" sz="2000" b="1" dirty="0"/>
            </a:p>
          </p:txBody>
        </p:sp>
        <p:sp>
          <p:nvSpPr>
            <p:cNvPr id="92" name="Text 18">
              <a:extLst>
                <a:ext uri="{FF2B5EF4-FFF2-40B4-BE49-F238E27FC236}">
                  <a16:creationId xmlns:a16="http://schemas.microsoft.com/office/drawing/2014/main" id="{A0D9FCA2-D72A-ACCE-A437-C6F43E666E0C}"/>
                </a:ext>
              </a:extLst>
            </p:cNvPr>
            <p:cNvSpPr txBox="1"/>
            <p:nvPr/>
          </p:nvSpPr>
          <p:spPr>
            <a:xfrm>
              <a:off x="434856" y="5406251"/>
              <a:ext cx="1391161" cy="388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37415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"PA45 Hands-on"</a:t>
              </a:r>
              <a:endParaRPr lang="en-US" sz="2400" dirty="0"/>
            </a:p>
          </p:txBody>
        </p:sp>
      </p:grpSp>
      <p:sp>
        <p:nvSpPr>
          <p:cNvPr id="95" name="Text 19">
            <a:extLst>
              <a:ext uri="{FF2B5EF4-FFF2-40B4-BE49-F238E27FC236}">
                <a16:creationId xmlns:a16="http://schemas.microsoft.com/office/drawing/2014/main" id="{56C5415C-C446-4F61-A78A-075A570D9BA0}"/>
              </a:ext>
            </a:extLst>
          </p:cNvPr>
          <p:cNvSpPr txBox="1"/>
          <p:nvPr/>
        </p:nvSpPr>
        <p:spPr>
          <a:xfrm>
            <a:off x="9130296" y="5346763"/>
            <a:ext cx="437297" cy="373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2800" dirty="0"/>
          </a:p>
        </p:txBody>
      </p:sp>
      <p:grpSp>
        <p:nvGrpSpPr>
          <p:cNvPr id="96" name="グループ化 95">
            <a:extLst>
              <a:ext uri="{FF2B5EF4-FFF2-40B4-BE49-F238E27FC236}">
                <a16:creationId xmlns:a16="http://schemas.microsoft.com/office/drawing/2014/main" id="{BCCBC428-41EC-BFFE-F009-D87F6920A11B}"/>
              </a:ext>
            </a:extLst>
          </p:cNvPr>
          <p:cNvGrpSpPr/>
          <p:nvPr/>
        </p:nvGrpSpPr>
        <p:grpSpPr>
          <a:xfrm>
            <a:off x="9661035" y="5076438"/>
            <a:ext cx="2045113" cy="901895"/>
            <a:chOff x="3175782" y="5113327"/>
            <a:chExt cx="1446303" cy="744785"/>
          </a:xfrm>
        </p:grpSpPr>
        <p:sp>
          <p:nvSpPr>
            <p:cNvPr id="97" name="Shape 20">
              <a:extLst>
                <a:ext uri="{FF2B5EF4-FFF2-40B4-BE49-F238E27FC236}">
                  <a16:creationId xmlns:a16="http://schemas.microsoft.com/office/drawing/2014/main" id="{34670AEF-5A2B-E927-3F2E-C789F1A8C2C1}"/>
                </a:ext>
              </a:extLst>
            </p:cNvPr>
            <p:cNvSpPr/>
            <p:nvPr/>
          </p:nvSpPr>
          <p:spPr>
            <a:xfrm>
              <a:off x="3175782" y="5113327"/>
              <a:ext cx="1446303" cy="744785"/>
            </a:xfrm>
            <a:prstGeom prst="roundRect">
              <a:avLst>
                <a:gd name="adj" fmla="val 22836"/>
              </a:avLst>
            </a:prstGeom>
            <a:solidFill>
              <a:srgbClr val="EFF6FF"/>
            </a:solidFill>
            <a:ln w="12700">
              <a:solidFill>
                <a:srgbClr val="DBEAFE"/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100" name="Text 21">
              <a:extLst>
                <a:ext uri="{FF2B5EF4-FFF2-40B4-BE49-F238E27FC236}">
                  <a16:creationId xmlns:a16="http://schemas.microsoft.com/office/drawing/2014/main" id="{F6342F00-ADAA-2B83-6265-6860C90A330E}"/>
                </a:ext>
              </a:extLst>
            </p:cNvPr>
            <p:cNvSpPr txBox="1"/>
            <p:nvPr/>
          </p:nvSpPr>
          <p:spPr>
            <a:xfrm>
              <a:off x="3210328" y="5229238"/>
              <a:ext cx="1377209" cy="2059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3B82F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条件 (equals)</a:t>
              </a:r>
              <a:endParaRPr lang="en-US" sz="2000" b="1" dirty="0"/>
            </a:p>
          </p:txBody>
        </p:sp>
        <p:sp>
          <p:nvSpPr>
            <p:cNvPr id="101" name="Text 22">
              <a:extLst>
                <a:ext uri="{FF2B5EF4-FFF2-40B4-BE49-F238E27FC236}">
                  <a16:creationId xmlns:a16="http://schemas.microsoft.com/office/drawing/2014/main" id="{7727F400-CD4D-B41B-454B-02B3EF405151}"/>
                </a:ext>
              </a:extLst>
            </p:cNvPr>
            <p:cNvSpPr txBox="1"/>
            <p:nvPr/>
          </p:nvSpPr>
          <p:spPr>
            <a:xfrm>
              <a:off x="3210328" y="5485720"/>
              <a:ext cx="1377209" cy="2577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2563E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"PA45"</a:t>
              </a:r>
              <a:endParaRPr lang="en-US" sz="2400" dirty="0"/>
            </a:p>
          </p:txBody>
        </p:sp>
      </p:grpSp>
      <p:sp>
        <p:nvSpPr>
          <p:cNvPr id="117" name="Shape 23">
            <a:extLst>
              <a:ext uri="{FF2B5EF4-FFF2-40B4-BE49-F238E27FC236}">
                <a16:creationId xmlns:a16="http://schemas.microsoft.com/office/drawing/2014/main" id="{EC374974-AB0D-EE48-9700-480FE7A00F5E}"/>
              </a:ext>
            </a:extLst>
          </p:cNvPr>
          <p:cNvSpPr/>
          <p:nvPr/>
        </p:nvSpPr>
        <p:spPr>
          <a:xfrm>
            <a:off x="6314603" y="6083263"/>
            <a:ext cx="5179498" cy="410618"/>
          </a:xfrm>
          <a:prstGeom prst="roundRect">
            <a:avLst>
              <a:gd name="adj" fmla="val 75075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800"/>
          </a:p>
        </p:txBody>
      </p:sp>
      <p:sp>
        <p:nvSpPr>
          <p:cNvPr id="102" name="Text 24">
            <a:extLst>
              <a:ext uri="{FF2B5EF4-FFF2-40B4-BE49-F238E27FC236}">
                <a16:creationId xmlns:a16="http://schemas.microsoft.com/office/drawing/2014/main" id="{B7B8134F-B930-8F11-72A6-441CEA277388}"/>
              </a:ext>
            </a:extLst>
          </p:cNvPr>
          <p:cNvSpPr txBox="1"/>
          <p:nvPr/>
        </p:nvSpPr>
        <p:spPr>
          <a:xfrm>
            <a:off x="7415834" y="6133714"/>
            <a:ext cx="4290315" cy="30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28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結果：True </a:t>
            </a:r>
            <a:r>
              <a:rPr lang="en-US" sz="16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16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狙い通り</a:t>
            </a:r>
            <a:r>
              <a:rPr lang="en-US" sz="16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！）</a:t>
            </a:r>
            <a:endParaRPr lang="en-US" sz="2800" dirty="0">
              <a:solidFill>
                <a:srgbClr val="0000CC"/>
              </a:solidFill>
            </a:endParaRPr>
          </a:p>
        </p:txBody>
      </p:sp>
      <p:pic>
        <p:nvPicPr>
          <p:cNvPr id="119" name="Image 19" descr="preencoded.png">
            <a:extLst>
              <a:ext uri="{FF2B5EF4-FFF2-40B4-BE49-F238E27FC236}">
                <a16:creationId xmlns:a16="http://schemas.microsoft.com/office/drawing/2014/main" id="{33E1C32A-8EA2-130F-EB89-E7B671BE36F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43" b="-43"/>
          <a:stretch/>
        </p:blipFill>
        <p:spPr>
          <a:xfrm>
            <a:off x="6591430" y="6094089"/>
            <a:ext cx="358519" cy="410088"/>
          </a:xfrm>
          <a:prstGeom prst="rect">
            <a:avLst/>
          </a:prstGeom>
        </p:spPr>
      </p:pic>
      <p:pic>
        <p:nvPicPr>
          <p:cNvPr id="125" name="図 124" descr="The image depicts a cartoon character with a pale blue shirt and a blue collar, standing in a thoughtful pose with an open mouth and a question mark.&#10;&#10;AI 生成コンテンツは誤りを含む可能性があります。">
            <a:extLst>
              <a:ext uri="{FF2B5EF4-FFF2-40B4-BE49-F238E27FC236}">
                <a16:creationId xmlns:a16="http://schemas.microsoft.com/office/drawing/2014/main" id="{8681A6E9-BAED-71C7-B7B1-53568FBEEB7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57589" y="2139252"/>
            <a:ext cx="1485545" cy="17010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8" name="図 127" descr="The image depicts a cartoon character with a blue shirt, yellow hair, and a heart symbol above its eyes.&#10;&#10;AI 生成コンテンツは誤りを含む可能性があります。">
            <a:extLst>
              <a:ext uri="{FF2B5EF4-FFF2-40B4-BE49-F238E27FC236}">
                <a16:creationId xmlns:a16="http://schemas.microsoft.com/office/drawing/2014/main" id="{27E40364-BF31-327F-1439-2B57E823E01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56506" y="2138419"/>
            <a:ext cx="1634298" cy="18713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D111469A-17D3-9589-0F06-A6D40AD6BF3E}"/>
              </a:ext>
            </a:extLst>
          </p:cNvPr>
          <p:cNvCxnSpPr>
            <a:cxnSpLocks/>
          </p:cNvCxnSpPr>
          <p:nvPr/>
        </p:nvCxnSpPr>
        <p:spPr>
          <a:xfrm>
            <a:off x="4110210" y="1712072"/>
            <a:ext cx="1875058" cy="28253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321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ACC22-BD65-3F05-0B4E-2180FB92B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39">
            <a:extLst>
              <a:ext uri="{FF2B5EF4-FFF2-40B4-BE49-F238E27FC236}">
                <a16:creationId xmlns:a16="http://schemas.microsoft.com/office/drawing/2014/main" id="{A1E89FD3-AA12-98CE-EFE9-27F605AB7666}"/>
              </a:ext>
            </a:extLst>
          </p:cNvPr>
          <p:cNvSpPr/>
          <p:nvPr/>
        </p:nvSpPr>
        <p:spPr>
          <a:xfrm>
            <a:off x="6095999" y="1771650"/>
            <a:ext cx="5886398" cy="4931536"/>
          </a:xfrm>
          <a:prstGeom prst="roundRect">
            <a:avLst>
              <a:gd name="adj" fmla="val 3861"/>
            </a:avLst>
          </a:prstGeom>
          <a:solidFill>
            <a:srgbClr val="EFF6FF"/>
          </a:solidFill>
          <a:ln w="47625">
            <a:solidFill>
              <a:srgbClr val="0000CC"/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2DE91AA0-94AF-11F6-B53F-551375292E41}"/>
              </a:ext>
            </a:extLst>
          </p:cNvPr>
          <p:cNvSpPr/>
          <p:nvPr/>
        </p:nvSpPr>
        <p:spPr>
          <a:xfrm>
            <a:off x="6858" y="-69952"/>
            <a:ext cx="12191695" cy="76169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353EA0B-2C92-7BA1-90FA-8BFB6B3AC0CF}"/>
              </a:ext>
            </a:extLst>
          </p:cNvPr>
          <p:cNvSpPr/>
          <p:nvPr/>
        </p:nvSpPr>
        <p:spPr>
          <a:xfrm>
            <a:off x="188332" y="78173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9F7532D-042C-8B99-4351-68DC29059DFE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Vol.22</a:t>
            </a:r>
            <a:endParaRPr lang="en-US" sz="3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269DAA6-B638-B80A-6314-B4A2D4AE8E46}"/>
              </a:ext>
            </a:extLst>
          </p:cNvPr>
          <p:cNvSpPr txBox="1"/>
          <p:nvPr/>
        </p:nvSpPr>
        <p:spPr>
          <a:xfrm>
            <a:off x="1926963" y="154814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 :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(Condition)】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の勘違い</a:t>
            </a:r>
            <a:endParaRPr lang="en-US" sz="32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3C17289D-9062-429D-8E62-1CCAA4D946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8461" y="709333"/>
            <a:ext cx="8314039" cy="849731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0B81690D-100B-A483-CFA3-AA2411D96475}"/>
              </a:ext>
            </a:extLst>
          </p:cNvPr>
          <p:cNvSpPr txBox="1"/>
          <p:nvPr/>
        </p:nvSpPr>
        <p:spPr>
          <a:xfrm>
            <a:off x="867634" y="831144"/>
            <a:ext cx="7835495" cy="67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equals </a:t>
            </a: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 </a:t>
            </a:r>
            <a:r>
              <a:rPr lang="en-US" altLang="ja-JP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contains</a:t>
            </a:r>
            <a:r>
              <a:rPr lang="ja-JP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、なんとなくで選んでいませんか？ </a:t>
            </a:r>
            <a:endParaRPr lang="en-US" altLang="ja-JP" sz="2400" b="1">
              <a:solidFill>
                <a:schemeClr val="tx1">
                  <a:lumMod val="75000"/>
                  <a:lumOff val="25000"/>
                </a:schemeClr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400" b="1">
                <a:solidFill>
                  <a:schemeClr val="bg2">
                    <a:lumMod val="50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条件が合わない</a:t>
            </a:r>
            <a:r>
              <a:rPr lang="en-US" altLang="ja-JP" sz="2400" b="1">
                <a:solidFill>
                  <a:schemeClr val="bg2">
                    <a:lumMod val="50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…</a:t>
            </a:r>
            <a:r>
              <a:rPr lang="ja-JP" altLang="en-US" sz="2400" b="1">
                <a:solidFill>
                  <a:schemeClr val="bg2">
                    <a:lumMod val="50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その原因、比較の“勘違い”かも</a:t>
            </a:r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411D2972-ED2E-D79E-E1F1-C40185D07374}"/>
              </a:ext>
            </a:extLst>
          </p:cNvPr>
          <p:cNvSpPr txBox="1"/>
          <p:nvPr/>
        </p:nvSpPr>
        <p:spPr>
          <a:xfrm>
            <a:off x="11367821" y="6514472"/>
            <a:ext cx="676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#PA45</a:t>
            </a:r>
            <a:endParaRPr lang="en-US" sz="1300" dirty="0"/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B95EECBA-EB1E-A088-59AD-CCBEE955AE5A}"/>
              </a:ext>
            </a:extLst>
          </p:cNvPr>
          <p:cNvSpPr txBox="1"/>
          <p:nvPr/>
        </p:nvSpPr>
        <p:spPr>
          <a:xfrm>
            <a:off x="666598" y="2708659"/>
            <a:ext cx="2509184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400" dirty="0">
              <a:solidFill>
                <a:schemeClr val="bg1"/>
              </a:solidFill>
              <a:effectLst>
                <a:glow rad="63500">
                  <a:srgbClr val="0000CC"/>
                </a:glow>
              </a:effectLst>
            </a:endParaRPr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33DA2AB8-0AAF-DFF7-EEAA-BDCFF6782AA6}"/>
              </a:ext>
            </a:extLst>
          </p:cNvPr>
          <p:cNvSpPr/>
          <p:nvPr/>
        </p:nvSpPr>
        <p:spPr>
          <a:xfrm>
            <a:off x="58783" y="-50800"/>
            <a:ext cx="12077233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CDBE720A-DBA8-A376-60BD-FA43DD5DEB23}"/>
              </a:ext>
            </a:extLst>
          </p:cNvPr>
          <p:cNvSpPr/>
          <p:nvPr/>
        </p:nvSpPr>
        <p:spPr>
          <a:xfrm>
            <a:off x="249515" y="831975"/>
            <a:ext cx="193903" cy="992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0E57291F-B18B-4EE3-CF9B-9ED0694AA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6" y="746053"/>
            <a:ext cx="784945" cy="784945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4DC9241-D5A3-AFEB-0D0C-406DFC4AA272}"/>
              </a:ext>
            </a:extLst>
          </p:cNvPr>
          <p:cNvSpPr/>
          <p:nvPr/>
        </p:nvSpPr>
        <p:spPr>
          <a:xfrm>
            <a:off x="157823" y="1698465"/>
            <a:ext cx="5811764" cy="5004721"/>
          </a:xfrm>
          <a:prstGeom prst="roundRect">
            <a:avLst>
              <a:gd name="adj" fmla="val 35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C804D7CE-1149-9A07-0344-CA8556448ABB}"/>
              </a:ext>
            </a:extLst>
          </p:cNvPr>
          <p:cNvSpPr/>
          <p:nvPr/>
        </p:nvSpPr>
        <p:spPr>
          <a:xfrm>
            <a:off x="346433" y="1625360"/>
            <a:ext cx="3619573" cy="513892"/>
          </a:xfrm>
          <a:prstGeom prst="roundRect">
            <a:avLst>
              <a:gd name="adj" fmla="val 319489"/>
            </a:avLst>
          </a:prstGeom>
          <a:solidFill>
            <a:srgbClr val="FEF2F2"/>
          </a:solidFill>
          <a:ln w="3492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34B08150-32E4-DD26-3C30-DC1258DED67F}"/>
              </a:ext>
            </a:extLst>
          </p:cNvPr>
          <p:cNvSpPr txBox="1"/>
          <p:nvPr/>
        </p:nvSpPr>
        <p:spPr>
          <a:xfrm>
            <a:off x="587622" y="1712072"/>
            <a:ext cx="2981048" cy="34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2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よくある勘違い</a:t>
            </a:r>
            <a:endParaRPr lang="en-US" altLang="ja-JP" sz="3200" b="1">
              <a:solidFill>
                <a:srgbClr val="DC2626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4977F3AE-2A2D-B8F3-6EE7-B74A033B3C95}"/>
              </a:ext>
            </a:extLst>
          </p:cNvPr>
          <p:cNvGrpSpPr/>
          <p:nvPr/>
        </p:nvGrpSpPr>
        <p:grpSpPr>
          <a:xfrm>
            <a:off x="6061279" y="1582770"/>
            <a:ext cx="3079891" cy="513892"/>
            <a:chOff x="3873773" y="1873957"/>
            <a:chExt cx="3485106" cy="513892"/>
          </a:xfrm>
        </p:grpSpPr>
        <p:sp>
          <p:nvSpPr>
            <p:cNvPr id="84" name="Shape 7">
              <a:extLst>
                <a:ext uri="{FF2B5EF4-FFF2-40B4-BE49-F238E27FC236}">
                  <a16:creationId xmlns:a16="http://schemas.microsoft.com/office/drawing/2014/main" id="{CB670B50-9500-6CFA-2E28-59DE3EE9ED9E}"/>
                </a:ext>
              </a:extLst>
            </p:cNvPr>
            <p:cNvSpPr/>
            <p:nvPr/>
          </p:nvSpPr>
          <p:spPr>
            <a:xfrm>
              <a:off x="3873773" y="1873957"/>
              <a:ext cx="3103094" cy="513892"/>
            </a:xfrm>
            <a:prstGeom prst="roundRect">
              <a:avLst>
                <a:gd name="adj" fmla="val 31948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rgbClr val="0000CC"/>
              </a:solidFill>
              <a:prstDash val="solid"/>
            </a:ln>
          </p:spPr>
          <p:txBody>
            <a:bodyPr/>
            <a:lstStyle/>
            <a:p>
              <a:endParaRPr lang="ja-JP" altLang="en-US" sz="4800"/>
            </a:p>
          </p:txBody>
        </p:sp>
        <p:sp>
          <p:nvSpPr>
            <p:cNvPr id="85" name="Text 36">
              <a:extLst>
                <a:ext uri="{FF2B5EF4-FFF2-40B4-BE49-F238E27FC236}">
                  <a16:creationId xmlns:a16="http://schemas.microsoft.com/office/drawing/2014/main" id="{BAC84FE2-CCF8-92C4-4FCD-CD1D86C51A0A}"/>
                </a:ext>
              </a:extLst>
            </p:cNvPr>
            <p:cNvSpPr txBox="1"/>
            <p:nvPr/>
          </p:nvSpPr>
          <p:spPr>
            <a:xfrm>
              <a:off x="4304719" y="1880414"/>
              <a:ext cx="3054160" cy="5074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ja-JP" altLang="en-US" sz="32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正しい理解</a:t>
              </a:r>
              <a:endParaRPr lang="en-US" sz="3600" dirty="0"/>
            </a:p>
          </p:txBody>
        </p:sp>
      </p:grpSp>
      <p:sp>
        <p:nvSpPr>
          <p:cNvPr id="3" name="Shape 5">
            <a:extLst>
              <a:ext uri="{FF2B5EF4-FFF2-40B4-BE49-F238E27FC236}">
                <a16:creationId xmlns:a16="http://schemas.microsoft.com/office/drawing/2014/main" id="{C7857D93-AF17-D3C9-6B58-5A4415931A0E}"/>
              </a:ext>
            </a:extLst>
          </p:cNvPr>
          <p:cNvSpPr/>
          <p:nvPr/>
        </p:nvSpPr>
        <p:spPr>
          <a:xfrm>
            <a:off x="8731428" y="779156"/>
            <a:ext cx="3227113" cy="685800"/>
          </a:xfrm>
          <a:prstGeom prst="roundRect">
            <a:avLst>
              <a:gd name="adj" fmla="val 14815"/>
            </a:avLst>
          </a:prstGeom>
          <a:solidFill>
            <a:srgbClr val="EFF6FF"/>
          </a:solidFill>
          <a:ln w="3175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A1A563E-211B-7120-AC87-4CC5D24D2E2A}"/>
              </a:ext>
            </a:extLst>
          </p:cNvPr>
          <p:cNvSpPr txBox="1"/>
          <p:nvPr/>
        </p:nvSpPr>
        <p:spPr>
          <a:xfrm>
            <a:off x="9207830" y="855966"/>
            <a:ext cx="277456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equals は“</a:t>
            </a:r>
            <a:r>
              <a:rPr lang="en-US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完全一致”、</a:t>
            </a:r>
          </a:p>
          <a:p>
            <a:pPr marL="0" indent="0" algn="l">
              <a:buNone/>
            </a:pPr>
            <a:r>
              <a:rPr lang="en-US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contains </a:t>
            </a:r>
            <a:r>
              <a:rPr lang="en-US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は“含まれるか” </a:t>
            </a:r>
            <a:endParaRPr lang="en-US" dirty="0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9A458936-B725-8ABE-02C3-7F2A15C067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21623" y="915402"/>
            <a:ext cx="171907" cy="171907"/>
          </a:xfrm>
          <a:prstGeom prst="rect">
            <a:avLst/>
          </a:prstGeom>
        </p:spPr>
      </p:pic>
      <p:pic>
        <p:nvPicPr>
          <p:cNvPr id="15" name="Image 6" descr="preencoded.png">
            <a:extLst>
              <a:ext uri="{FF2B5EF4-FFF2-40B4-BE49-F238E27FC236}">
                <a16:creationId xmlns:a16="http://schemas.microsoft.com/office/drawing/2014/main" id="{D991EE79-D9E5-2D3B-6E7E-EB82C2A0EE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266529" y="2371954"/>
            <a:ext cx="352520" cy="470967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296AF3A1-2B72-A5AA-354F-9394369A3928}"/>
              </a:ext>
            </a:extLst>
          </p:cNvPr>
          <p:cNvSpPr txBox="1"/>
          <p:nvPr/>
        </p:nvSpPr>
        <p:spPr>
          <a:xfrm>
            <a:off x="694944" y="2314345"/>
            <a:ext cx="4962906" cy="60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equals</a:t>
            </a:r>
            <a:r>
              <a:rPr lang="en-US" sz="24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 部分一致</a:t>
            </a:r>
            <a:r>
              <a:rPr lang="ja-JP" alt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？？</a:t>
            </a:r>
            <a:endParaRPr lang="en-US" sz="2400" b="1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F37C81AF-C4FE-783B-A675-2A12DE719307}"/>
              </a:ext>
            </a:extLst>
          </p:cNvPr>
          <p:cNvSpPr txBox="1"/>
          <p:nvPr/>
        </p:nvSpPr>
        <p:spPr>
          <a:xfrm>
            <a:off x="684491" y="3043593"/>
            <a:ext cx="5380800" cy="60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文字に空白があると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判定できない</a:t>
            </a:r>
            <a:r>
              <a:rPr lang="ja-JP" alt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？？</a:t>
            </a:r>
            <a:endParaRPr lang="en-US" sz="2400" b="1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EFCB1073-7C7B-D3D6-E581-F7BBF7B9A792}"/>
              </a:ext>
            </a:extLst>
          </p:cNvPr>
          <p:cNvSpPr txBox="1"/>
          <p:nvPr/>
        </p:nvSpPr>
        <p:spPr>
          <a:xfrm>
            <a:off x="580293" y="3749033"/>
            <a:ext cx="5330652" cy="60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contains を使えば全部解決</a:t>
            </a:r>
            <a:r>
              <a:rPr lang="ja-JP" alt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？？</a:t>
            </a:r>
            <a:endParaRPr lang="en-US" sz="2400" b="1" dirty="0"/>
          </a:p>
        </p:txBody>
      </p:sp>
      <p:pic>
        <p:nvPicPr>
          <p:cNvPr id="33" name="Image 6" descr="preencoded.png">
            <a:extLst>
              <a:ext uri="{FF2B5EF4-FFF2-40B4-BE49-F238E27FC236}">
                <a16:creationId xmlns:a16="http://schemas.microsoft.com/office/drawing/2014/main" id="{0240F49F-F1C3-D0B8-5121-96CF1A3350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240388" y="3076699"/>
            <a:ext cx="352520" cy="470967"/>
          </a:xfrm>
          <a:prstGeom prst="rect">
            <a:avLst/>
          </a:prstGeom>
        </p:spPr>
      </p:pic>
      <p:pic>
        <p:nvPicPr>
          <p:cNvPr id="34" name="Image 6" descr="preencoded.png">
            <a:extLst>
              <a:ext uri="{FF2B5EF4-FFF2-40B4-BE49-F238E27FC236}">
                <a16:creationId xmlns:a16="http://schemas.microsoft.com/office/drawing/2014/main" id="{9D9AD460-3B23-AB4D-63AB-C67166B328A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249515" y="3805728"/>
            <a:ext cx="352520" cy="470967"/>
          </a:xfrm>
          <a:prstGeom prst="rect">
            <a:avLst/>
          </a:prstGeom>
        </p:spPr>
      </p:pic>
      <p:pic>
        <p:nvPicPr>
          <p:cNvPr id="36" name="Image 9" descr="preencoded.png">
            <a:extLst>
              <a:ext uri="{FF2B5EF4-FFF2-40B4-BE49-F238E27FC236}">
                <a16:creationId xmlns:a16="http://schemas.microsoft.com/office/drawing/2014/main" id="{79E6FA9D-98B5-3FB5-16E7-D7F29799C50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5" r="-5"/>
          <a:stretch/>
        </p:blipFill>
        <p:spPr>
          <a:xfrm>
            <a:off x="296985" y="4567078"/>
            <a:ext cx="5551733" cy="2003766"/>
          </a:xfrm>
          <a:prstGeom prst="rect">
            <a:avLst/>
          </a:prstGeom>
          <a:ln w="3175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38" name="Text 15">
            <a:extLst>
              <a:ext uri="{FF2B5EF4-FFF2-40B4-BE49-F238E27FC236}">
                <a16:creationId xmlns:a16="http://schemas.microsoft.com/office/drawing/2014/main" id="{ABE7760F-C328-A67D-146E-1AEDA397C34C}"/>
              </a:ext>
            </a:extLst>
          </p:cNvPr>
          <p:cNvSpPr txBox="1"/>
          <p:nvPr/>
        </p:nvSpPr>
        <p:spPr>
          <a:xfrm>
            <a:off x="521303" y="4664155"/>
            <a:ext cx="4926498" cy="21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NG例：</a:t>
            </a:r>
            <a:r>
              <a:rPr lang="en-US" sz="3200" b="1" dirty="0">
                <a:solidFill>
                  <a:srgbClr val="FF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equals </a:t>
            </a:r>
            <a:r>
              <a:rPr lang="en-US" sz="24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で部分一致を期待</a:t>
            </a:r>
            <a:endParaRPr lang="en-US" sz="2400" dirty="0"/>
          </a:p>
        </p:txBody>
      </p: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0C4C64BC-416D-C2C4-2EE2-305B8F03071C}"/>
              </a:ext>
            </a:extLst>
          </p:cNvPr>
          <p:cNvGrpSpPr/>
          <p:nvPr/>
        </p:nvGrpSpPr>
        <p:grpSpPr>
          <a:xfrm>
            <a:off x="394803" y="5004358"/>
            <a:ext cx="2699444" cy="891980"/>
            <a:chOff x="394803" y="5004358"/>
            <a:chExt cx="1454017" cy="891980"/>
          </a:xfrm>
        </p:grpSpPr>
        <p:sp>
          <p:nvSpPr>
            <p:cNvPr id="39" name="Shape 16">
              <a:extLst>
                <a:ext uri="{FF2B5EF4-FFF2-40B4-BE49-F238E27FC236}">
                  <a16:creationId xmlns:a16="http://schemas.microsoft.com/office/drawing/2014/main" id="{B51F8E85-0998-43FF-54A3-B4C38CA106C5}"/>
                </a:ext>
              </a:extLst>
            </p:cNvPr>
            <p:cNvSpPr/>
            <p:nvPr/>
          </p:nvSpPr>
          <p:spPr>
            <a:xfrm>
              <a:off x="394803" y="5004358"/>
              <a:ext cx="1446303" cy="891980"/>
            </a:xfrm>
            <a:prstGeom prst="roundRect">
              <a:avLst>
                <a:gd name="adj" fmla="val 24504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40" name="Text 17">
              <a:extLst>
                <a:ext uri="{FF2B5EF4-FFF2-40B4-BE49-F238E27FC236}">
                  <a16:creationId xmlns:a16="http://schemas.microsoft.com/office/drawing/2014/main" id="{3156C629-4D7E-31E8-BB77-9F8C171F9E26}"/>
                </a:ext>
              </a:extLst>
            </p:cNvPr>
            <p:cNvSpPr txBox="1"/>
            <p:nvPr/>
          </p:nvSpPr>
          <p:spPr>
            <a:xfrm>
              <a:off x="405839" y="5095896"/>
              <a:ext cx="1442981" cy="2059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入力値</a:t>
              </a:r>
              <a:endParaRPr lang="en-US" sz="2000" b="1" dirty="0"/>
            </a:p>
          </p:txBody>
        </p:sp>
        <p:sp>
          <p:nvSpPr>
            <p:cNvPr id="41" name="Text 18">
              <a:extLst>
                <a:ext uri="{FF2B5EF4-FFF2-40B4-BE49-F238E27FC236}">
                  <a16:creationId xmlns:a16="http://schemas.microsoft.com/office/drawing/2014/main" id="{B4D02583-DF87-5BBC-45B9-FBF6245138DB}"/>
                </a:ext>
              </a:extLst>
            </p:cNvPr>
            <p:cNvSpPr txBox="1"/>
            <p:nvPr/>
          </p:nvSpPr>
          <p:spPr>
            <a:xfrm>
              <a:off x="422705" y="5388293"/>
              <a:ext cx="1391161" cy="388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37415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"PA45 Hands-on"</a:t>
              </a:r>
              <a:endParaRPr lang="en-US" sz="2400" dirty="0"/>
            </a:p>
          </p:txBody>
        </p:sp>
      </p:grpSp>
      <p:sp>
        <p:nvSpPr>
          <p:cNvPr id="42" name="Text 19">
            <a:extLst>
              <a:ext uri="{FF2B5EF4-FFF2-40B4-BE49-F238E27FC236}">
                <a16:creationId xmlns:a16="http://schemas.microsoft.com/office/drawing/2014/main" id="{663AF69C-C049-5614-DC30-459BF957E7C9}"/>
              </a:ext>
            </a:extLst>
          </p:cNvPr>
          <p:cNvSpPr txBox="1"/>
          <p:nvPr/>
        </p:nvSpPr>
        <p:spPr>
          <a:xfrm>
            <a:off x="3209622" y="5264768"/>
            <a:ext cx="437297" cy="373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2800" dirty="0"/>
          </a:p>
        </p:txBody>
      </p: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BA73386D-7022-7E2C-4DA3-C9FACD6DC72B}"/>
              </a:ext>
            </a:extLst>
          </p:cNvPr>
          <p:cNvGrpSpPr/>
          <p:nvPr/>
        </p:nvGrpSpPr>
        <p:grpSpPr>
          <a:xfrm>
            <a:off x="3740362" y="4994443"/>
            <a:ext cx="2063538" cy="949993"/>
            <a:chOff x="3175782" y="5113327"/>
            <a:chExt cx="1446303" cy="744785"/>
          </a:xfrm>
        </p:grpSpPr>
        <p:sp>
          <p:nvSpPr>
            <p:cNvPr id="43" name="Shape 20">
              <a:extLst>
                <a:ext uri="{FF2B5EF4-FFF2-40B4-BE49-F238E27FC236}">
                  <a16:creationId xmlns:a16="http://schemas.microsoft.com/office/drawing/2014/main" id="{1CE02075-3507-1E48-0D4D-9BE2BE1578B9}"/>
                </a:ext>
              </a:extLst>
            </p:cNvPr>
            <p:cNvSpPr/>
            <p:nvPr/>
          </p:nvSpPr>
          <p:spPr>
            <a:xfrm>
              <a:off x="3175782" y="5113327"/>
              <a:ext cx="1446303" cy="744785"/>
            </a:xfrm>
            <a:prstGeom prst="roundRect">
              <a:avLst>
                <a:gd name="adj" fmla="val 22836"/>
              </a:avLst>
            </a:prstGeom>
            <a:solidFill>
              <a:srgbClr val="EFF6FF"/>
            </a:solidFill>
            <a:ln w="12700">
              <a:solidFill>
                <a:srgbClr val="DBEAFE"/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44" name="Text 21">
              <a:extLst>
                <a:ext uri="{FF2B5EF4-FFF2-40B4-BE49-F238E27FC236}">
                  <a16:creationId xmlns:a16="http://schemas.microsoft.com/office/drawing/2014/main" id="{8AC8506C-4612-DA21-9610-20CCA07B5E78}"/>
                </a:ext>
              </a:extLst>
            </p:cNvPr>
            <p:cNvSpPr txBox="1"/>
            <p:nvPr/>
          </p:nvSpPr>
          <p:spPr>
            <a:xfrm>
              <a:off x="3210328" y="5229238"/>
              <a:ext cx="1377209" cy="2059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3B82F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条件 (equals)</a:t>
              </a:r>
              <a:endParaRPr lang="en-US" sz="2000" b="1" dirty="0"/>
            </a:p>
          </p:txBody>
        </p:sp>
        <p:sp>
          <p:nvSpPr>
            <p:cNvPr id="45" name="Text 22">
              <a:extLst>
                <a:ext uri="{FF2B5EF4-FFF2-40B4-BE49-F238E27FC236}">
                  <a16:creationId xmlns:a16="http://schemas.microsoft.com/office/drawing/2014/main" id="{CA44F67B-E760-064B-1CFD-282BE782058D}"/>
                </a:ext>
              </a:extLst>
            </p:cNvPr>
            <p:cNvSpPr txBox="1"/>
            <p:nvPr/>
          </p:nvSpPr>
          <p:spPr>
            <a:xfrm>
              <a:off x="3210328" y="5485720"/>
              <a:ext cx="1377209" cy="2577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2563E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"PA45"</a:t>
              </a:r>
              <a:endParaRPr lang="en-US" sz="2400" dirty="0"/>
            </a:p>
          </p:txBody>
        </p:sp>
      </p:grpSp>
      <p:sp>
        <p:nvSpPr>
          <p:cNvPr id="46" name="Shape 23">
            <a:extLst>
              <a:ext uri="{FF2B5EF4-FFF2-40B4-BE49-F238E27FC236}">
                <a16:creationId xmlns:a16="http://schemas.microsoft.com/office/drawing/2014/main" id="{18CF1B5F-7E38-2C62-64A5-B8A4DFB4034C}"/>
              </a:ext>
            </a:extLst>
          </p:cNvPr>
          <p:cNvSpPr/>
          <p:nvPr/>
        </p:nvSpPr>
        <p:spPr>
          <a:xfrm>
            <a:off x="382270" y="6076778"/>
            <a:ext cx="5179498" cy="410618"/>
          </a:xfrm>
          <a:prstGeom prst="roundRect">
            <a:avLst>
              <a:gd name="adj" fmla="val 75075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80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62191F3-1A42-B18B-DAEC-457372B4E761}"/>
              </a:ext>
            </a:extLst>
          </p:cNvPr>
          <p:cNvSpPr txBox="1"/>
          <p:nvPr/>
        </p:nvSpPr>
        <p:spPr>
          <a:xfrm>
            <a:off x="1314694" y="6133714"/>
            <a:ext cx="4001441" cy="30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結果：false </a:t>
            </a:r>
            <a:r>
              <a:rPr lang="en-US" sz="1600" b="1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（想定と違う！）</a:t>
            </a:r>
            <a:endParaRPr lang="en-US" sz="2800" dirty="0"/>
          </a:p>
        </p:txBody>
      </p:sp>
      <p:pic>
        <p:nvPicPr>
          <p:cNvPr id="48" name="Image 10" descr="preencoded.png">
            <a:extLst>
              <a:ext uri="{FF2B5EF4-FFF2-40B4-BE49-F238E27FC236}">
                <a16:creationId xmlns:a16="http://schemas.microsoft.com/office/drawing/2014/main" id="{B6730C36-2F69-3F4A-CDB6-B5B20286387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08177" y="6084047"/>
            <a:ext cx="365490" cy="396080"/>
          </a:xfrm>
          <a:prstGeom prst="rect">
            <a:avLst/>
          </a:prstGeom>
        </p:spPr>
      </p:pic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BC49D07C-3744-D34A-9949-16DE009EF859}"/>
              </a:ext>
            </a:extLst>
          </p:cNvPr>
          <p:cNvGrpSpPr/>
          <p:nvPr/>
        </p:nvGrpSpPr>
        <p:grpSpPr>
          <a:xfrm>
            <a:off x="6147034" y="2275586"/>
            <a:ext cx="5770477" cy="2115112"/>
            <a:chOff x="6533259" y="2307911"/>
            <a:chExt cx="3781347" cy="973296"/>
          </a:xfrm>
        </p:grpSpPr>
        <p:pic>
          <p:nvPicPr>
            <p:cNvPr id="66" name="Image 14" descr="preencoded.png">
              <a:extLst>
                <a:ext uri="{FF2B5EF4-FFF2-40B4-BE49-F238E27FC236}">
                  <a16:creationId xmlns:a16="http://schemas.microsoft.com/office/drawing/2014/main" id="{B49A2823-B0A0-D3C9-8D32-6FE0B1A72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6533259" y="3009750"/>
              <a:ext cx="228600" cy="152705"/>
            </a:xfrm>
            <a:prstGeom prst="rect">
              <a:avLst/>
            </a:prstGeom>
          </p:spPr>
        </p:pic>
        <p:grpSp>
          <p:nvGrpSpPr>
            <p:cNvPr id="67" name="グループ化 66">
              <a:extLst>
                <a:ext uri="{FF2B5EF4-FFF2-40B4-BE49-F238E27FC236}">
                  <a16:creationId xmlns:a16="http://schemas.microsoft.com/office/drawing/2014/main" id="{6EABA9BB-7489-18E7-AC40-59F60D4D8708}"/>
                </a:ext>
              </a:extLst>
            </p:cNvPr>
            <p:cNvGrpSpPr/>
            <p:nvPr/>
          </p:nvGrpSpPr>
          <p:grpSpPr>
            <a:xfrm>
              <a:off x="6581658" y="2307911"/>
              <a:ext cx="3732948" cy="973296"/>
              <a:chOff x="6581658" y="2307911"/>
              <a:chExt cx="3732948" cy="973296"/>
            </a:xfrm>
          </p:grpSpPr>
          <p:pic>
            <p:nvPicPr>
              <p:cNvPr id="68" name="Image 12" descr="preencoded.png">
                <a:extLst>
                  <a:ext uri="{FF2B5EF4-FFF2-40B4-BE49-F238E27FC236}">
                    <a16:creationId xmlns:a16="http://schemas.microsoft.com/office/drawing/2014/main" id="{02EA6479-5528-B866-CDA9-9D6F8B51E7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t="-43" b="-43"/>
              <a:stretch/>
            </p:blipFill>
            <p:spPr>
              <a:xfrm>
                <a:off x="6581658" y="2307911"/>
                <a:ext cx="133502" cy="152705"/>
              </a:xfrm>
              <a:prstGeom prst="rect">
                <a:avLst/>
              </a:prstGeom>
            </p:spPr>
          </p:pic>
          <p:sp>
            <p:nvSpPr>
              <p:cNvPr id="74" name="Text 28">
                <a:extLst>
                  <a:ext uri="{FF2B5EF4-FFF2-40B4-BE49-F238E27FC236}">
                    <a16:creationId xmlns:a16="http://schemas.microsoft.com/office/drawing/2014/main" id="{F0BDE9E7-9FF7-8D90-D23B-BC8D93422521}"/>
                  </a:ext>
                </a:extLst>
              </p:cNvPr>
              <p:cNvSpPr txBox="1"/>
              <p:nvPr/>
            </p:nvSpPr>
            <p:spPr>
              <a:xfrm>
                <a:off x="6810451" y="2314346"/>
                <a:ext cx="3241548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400" b="1" dirty="0">
                    <a:solidFill>
                      <a:srgbClr val="2563EB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equals</a:t>
                </a:r>
                <a:r>
                  <a:rPr lang="en-US" sz="2400" b="1" dirty="0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 は“</a:t>
                </a: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完全一致”</a:t>
                </a:r>
              </a:p>
              <a:p>
                <a:pPr marL="0" indent="0" algn="l">
                  <a:buNone/>
                </a:pPr>
                <a:r>
                  <a:rPr lang="en-US" sz="2400" b="1">
                    <a:solidFill>
                      <a:srgbClr val="6B7280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（</a:t>
                </a:r>
                <a:r>
                  <a:rPr lang="en-US" sz="2400" b="1" dirty="0">
                    <a:solidFill>
                      <a:srgbClr val="6B7280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1文字でも違えばNG）</a:t>
                </a:r>
                <a:endParaRPr lang="en-US" sz="2400" b="1" dirty="0"/>
              </a:p>
            </p:txBody>
          </p:sp>
          <p:pic>
            <p:nvPicPr>
              <p:cNvPr id="75" name="Image 13" descr="preencoded.png">
                <a:extLst>
                  <a:ext uri="{FF2B5EF4-FFF2-40B4-BE49-F238E27FC236}">
                    <a16:creationId xmlns:a16="http://schemas.microsoft.com/office/drawing/2014/main" id="{8D4184E3-6127-1CEC-A539-6E0D408842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t="-43" b="-43"/>
              <a:stretch/>
            </p:blipFill>
            <p:spPr>
              <a:xfrm>
                <a:off x="6588641" y="2700999"/>
                <a:ext cx="133502" cy="152705"/>
              </a:xfrm>
              <a:prstGeom prst="rect">
                <a:avLst/>
              </a:prstGeom>
            </p:spPr>
          </p:pic>
          <p:sp>
            <p:nvSpPr>
              <p:cNvPr id="76" name="Text 29">
                <a:extLst>
                  <a:ext uri="{FF2B5EF4-FFF2-40B4-BE49-F238E27FC236}">
                    <a16:creationId xmlns:a16="http://schemas.microsoft.com/office/drawing/2014/main" id="{6A44A7C2-F36B-FD25-280E-B8A73BE2D803}"/>
                  </a:ext>
                </a:extLst>
              </p:cNvPr>
              <p:cNvSpPr txBox="1"/>
              <p:nvPr/>
            </p:nvSpPr>
            <p:spPr>
              <a:xfrm>
                <a:off x="6806457" y="2686814"/>
                <a:ext cx="3508149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400" b="1" dirty="0">
                    <a:solidFill>
                      <a:srgbClr val="2563EB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contains</a:t>
                </a:r>
                <a:r>
                  <a:rPr lang="en-US" sz="2400" b="1" dirty="0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 は“含まれるか</a:t>
                </a: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”を</a:t>
                </a:r>
              </a:p>
              <a:p>
                <a:pPr marL="0" indent="0" algn="l">
                  <a:buNone/>
                </a:pP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判定する</a:t>
                </a:r>
                <a:endParaRPr lang="en-US" sz="2400" b="1" dirty="0"/>
              </a:p>
            </p:txBody>
          </p:sp>
          <p:sp>
            <p:nvSpPr>
              <p:cNvPr id="77" name="Text 30">
                <a:extLst>
                  <a:ext uri="{FF2B5EF4-FFF2-40B4-BE49-F238E27FC236}">
                    <a16:creationId xmlns:a16="http://schemas.microsoft.com/office/drawing/2014/main" id="{8CBCF2CD-F23F-4028-B3A1-75457343B89B}"/>
                  </a:ext>
                </a:extLst>
              </p:cNvPr>
              <p:cNvSpPr txBox="1"/>
              <p:nvPr/>
            </p:nvSpPr>
            <p:spPr>
              <a:xfrm>
                <a:off x="6821821" y="3052607"/>
                <a:ext cx="3400654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400" b="1" dirty="0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数値・</a:t>
                </a: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日付は、</a:t>
                </a:r>
              </a:p>
              <a:p>
                <a:pPr marL="0" indent="0" algn="l">
                  <a:buNone/>
                </a:pPr>
                <a:r>
                  <a:rPr lang="en-US" sz="2400" b="1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型</a:t>
                </a:r>
                <a:r>
                  <a:rPr lang="en-US" sz="2400" b="1" dirty="0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（データの種類）に特に注意</a:t>
                </a:r>
                <a:endParaRPr lang="en-US" sz="2400" b="1" dirty="0"/>
              </a:p>
            </p:txBody>
          </p:sp>
        </p:grpSp>
      </p:grpSp>
      <p:pic>
        <p:nvPicPr>
          <p:cNvPr id="80" name="Image 9" descr="preencoded.png">
            <a:extLst>
              <a:ext uri="{FF2B5EF4-FFF2-40B4-BE49-F238E27FC236}">
                <a16:creationId xmlns:a16="http://schemas.microsoft.com/office/drawing/2014/main" id="{18938D34-E18F-77C3-9383-E5060842483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5" r="-5"/>
          <a:stretch/>
        </p:blipFill>
        <p:spPr>
          <a:xfrm>
            <a:off x="6241811" y="4564685"/>
            <a:ext cx="5551733" cy="2003766"/>
          </a:xfrm>
          <a:prstGeom prst="rect">
            <a:avLst/>
          </a:prstGeom>
          <a:ln w="3175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81" name="Text 15">
            <a:extLst>
              <a:ext uri="{FF2B5EF4-FFF2-40B4-BE49-F238E27FC236}">
                <a16:creationId xmlns:a16="http://schemas.microsoft.com/office/drawing/2014/main" id="{1B1B6E33-6002-8F74-29E5-378576A7D5DC}"/>
              </a:ext>
            </a:extLst>
          </p:cNvPr>
          <p:cNvSpPr txBox="1"/>
          <p:nvPr/>
        </p:nvSpPr>
        <p:spPr>
          <a:xfrm>
            <a:off x="6315475" y="4592809"/>
            <a:ext cx="6819009" cy="358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OK例：</a:t>
            </a:r>
            <a:r>
              <a:rPr lang="en-US" sz="32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contains </a:t>
            </a:r>
            <a:r>
              <a:rPr lang="en-US" sz="24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で部分一致を期待</a:t>
            </a:r>
            <a:endParaRPr lang="en-US" sz="2400" dirty="0"/>
          </a:p>
        </p:txBody>
      </p: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13EB85CB-C053-3336-5660-70EB30C53679}"/>
              </a:ext>
            </a:extLst>
          </p:cNvPr>
          <p:cNvGrpSpPr/>
          <p:nvPr/>
        </p:nvGrpSpPr>
        <p:grpSpPr>
          <a:xfrm>
            <a:off x="6185781" y="5086353"/>
            <a:ext cx="2814819" cy="891980"/>
            <a:chOff x="324944" y="5004358"/>
            <a:chExt cx="1516162" cy="891980"/>
          </a:xfrm>
        </p:grpSpPr>
        <p:sp>
          <p:nvSpPr>
            <p:cNvPr id="88" name="Shape 16">
              <a:extLst>
                <a:ext uri="{FF2B5EF4-FFF2-40B4-BE49-F238E27FC236}">
                  <a16:creationId xmlns:a16="http://schemas.microsoft.com/office/drawing/2014/main" id="{FAEB60DF-01E1-D4C4-657C-8CA369321B40}"/>
                </a:ext>
              </a:extLst>
            </p:cNvPr>
            <p:cNvSpPr/>
            <p:nvPr/>
          </p:nvSpPr>
          <p:spPr>
            <a:xfrm>
              <a:off x="394803" y="5004358"/>
              <a:ext cx="1446303" cy="891980"/>
            </a:xfrm>
            <a:prstGeom prst="roundRect">
              <a:avLst>
                <a:gd name="adj" fmla="val 24504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89" name="Text 17">
              <a:extLst>
                <a:ext uri="{FF2B5EF4-FFF2-40B4-BE49-F238E27FC236}">
                  <a16:creationId xmlns:a16="http://schemas.microsoft.com/office/drawing/2014/main" id="{AD84029D-26C5-DE48-39A2-56D5A55811B6}"/>
                </a:ext>
              </a:extLst>
            </p:cNvPr>
            <p:cNvSpPr txBox="1"/>
            <p:nvPr/>
          </p:nvSpPr>
          <p:spPr>
            <a:xfrm>
              <a:off x="324944" y="5087927"/>
              <a:ext cx="1442981" cy="2059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入力値</a:t>
              </a:r>
              <a:endParaRPr lang="en-US" sz="2000" b="1" dirty="0"/>
            </a:p>
          </p:txBody>
        </p:sp>
        <p:sp>
          <p:nvSpPr>
            <p:cNvPr id="92" name="Text 18">
              <a:extLst>
                <a:ext uri="{FF2B5EF4-FFF2-40B4-BE49-F238E27FC236}">
                  <a16:creationId xmlns:a16="http://schemas.microsoft.com/office/drawing/2014/main" id="{14E57B36-78BB-FEEA-DFD3-22A72F0415FE}"/>
                </a:ext>
              </a:extLst>
            </p:cNvPr>
            <p:cNvSpPr txBox="1"/>
            <p:nvPr/>
          </p:nvSpPr>
          <p:spPr>
            <a:xfrm>
              <a:off x="434856" y="5406251"/>
              <a:ext cx="1391161" cy="388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37415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"PA45 Hands-on"</a:t>
              </a:r>
              <a:endParaRPr lang="en-US" sz="2400" dirty="0"/>
            </a:p>
          </p:txBody>
        </p:sp>
      </p:grpSp>
      <p:sp>
        <p:nvSpPr>
          <p:cNvPr id="95" name="Text 19">
            <a:extLst>
              <a:ext uri="{FF2B5EF4-FFF2-40B4-BE49-F238E27FC236}">
                <a16:creationId xmlns:a16="http://schemas.microsoft.com/office/drawing/2014/main" id="{95D7F401-6876-6B46-0449-86F82EC7C84E}"/>
              </a:ext>
            </a:extLst>
          </p:cNvPr>
          <p:cNvSpPr txBox="1"/>
          <p:nvPr/>
        </p:nvSpPr>
        <p:spPr>
          <a:xfrm>
            <a:off x="9130296" y="5346763"/>
            <a:ext cx="437297" cy="373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2800" dirty="0"/>
          </a:p>
        </p:txBody>
      </p:sp>
      <p:grpSp>
        <p:nvGrpSpPr>
          <p:cNvPr id="96" name="グループ化 95">
            <a:extLst>
              <a:ext uri="{FF2B5EF4-FFF2-40B4-BE49-F238E27FC236}">
                <a16:creationId xmlns:a16="http://schemas.microsoft.com/office/drawing/2014/main" id="{85A0B1D9-6128-3581-F270-ABD8F6DCA659}"/>
              </a:ext>
            </a:extLst>
          </p:cNvPr>
          <p:cNvGrpSpPr/>
          <p:nvPr/>
        </p:nvGrpSpPr>
        <p:grpSpPr>
          <a:xfrm>
            <a:off x="9661035" y="5076438"/>
            <a:ext cx="2045113" cy="901895"/>
            <a:chOff x="3175782" y="5113327"/>
            <a:chExt cx="1446303" cy="744785"/>
          </a:xfrm>
        </p:grpSpPr>
        <p:sp>
          <p:nvSpPr>
            <p:cNvPr id="97" name="Shape 20">
              <a:extLst>
                <a:ext uri="{FF2B5EF4-FFF2-40B4-BE49-F238E27FC236}">
                  <a16:creationId xmlns:a16="http://schemas.microsoft.com/office/drawing/2014/main" id="{8BCF789A-E9FD-D13A-956E-0531B4C4232B}"/>
                </a:ext>
              </a:extLst>
            </p:cNvPr>
            <p:cNvSpPr/>
            <p:nvPr/>
          </p:nvSpPr>
          <p:spPr>
            <a:xfrm>
              <a:off x="3175782" y="5113327"/>
              <a:ext cx="1446303" cy="744785"/>
            </a:xfrm>
            <a:prstGeom prst="roundRect">
              <a:avLst>
                <a:gd name="adj" fmla="val 22836"/>
              </a:avLst>
            </a:prstGeom>
            <a:solidFill>
              <a:srgbClr val="EFF6FF"/>
            </a:solidFill>
            <a:ln w="12700">
              <a:solidFill>
                <a:srgbClr val="DBEAFE"/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100" name="Text 21">
              <a:extLst>
                <a:ext uri="{FF2B5EF4-FFF2-40B4-BE49-F238E27FC236}">
                  <a16:creationId xmlns:a16="http://schemas.microsoft.com/office/drawing/2014/main" id="{79A6EB0A-9C57-C934-D805-41912502BB36}"/>
                </a:ext>
              </a:extLst>
            </p:cNvPr>
            <p:cNvSpPr txBox="1"/>
            <p:nvPr/>
          </p:nvSpPr>
          <p:spPr>
            <a:xfrm>
              <a:off x="3210328" y="5229238"/>
              <a:ext cx="1377209" cy="2059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3B82F6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条件 (equals)</a:t>
              </a:r>
              <a:endParaRPr lang="en-US" sz="2000" b="1" dirty="0"/>
            </a:p>
          </p:txBody>
        </p:sp>
        <p:sp>
          <p:nvSpPr>
            <p:cNvPr id="101" name="Text 22">
              <a:extLst>
                <a:ext uri="{FF2B5EF4-FFF2-40B4-BE49-F238E27FC236}">
                  <a16:creationId xmlns:a16="http://schemas.microsoft.com/office/drawing/2014/main" id="{BFA46F6E-130B-EE64-CC4D-F444B17719D7}"/>
                </a:ext>
              </a:extLst>
            </p:cNvPr>
            <p:cNvSpPr txBox="1"/>
            <p:nvPr/>
          </p:nvSpPr>
          <p:spPr>
            <a:xfrm>
              <a:off x="3210328" y="5485720"/>
              <a:ext cx="1377209" cy="2577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2563E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"PA45"</a:t>
              </a:r>
              <a:endParaRPr lang="en-US" sz="2400" dirty="0"/>
            </a:p>
          </p:txBody>
        </p:sp>
      </p:grpSp>
      <p:sp>
        <p:nvSpPr>
          <p:cNvPr id="117" name="Shape 23">
            <a:extLst>
              <a:ext uri="{FF2B5EF4-FFF2-40B4-BE49-F238E27FC236}">
                <a16:creationId xmlns:a16="http://schemas.microsoft.com/office/drawing/2014/main" id="{B4D99BFF-EAAB-B213-049A-B9F780058908}"/>
              </a:ext>
            </a:extLst>
          </p:cNvPr>
          <p:cNvSpPr/>
          <p:nvPr/>
        </p:nvSpPr>
        <p:spPr>
          <a:xfrm>
            <a:off x="6314603" y="6083263"/>
            <a:ext cx="5179498" cy="410618"/>
          </a:xfrm>
          <a:prstGeom prst="roundRect">
            <a:avLst>
              <a:gd name="adj" fmla="val 75075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800"/>
          </a:p>
        </p:txBody>
      </p:sp>
      <p:sp>
        <p:nvSpPr>
          <p:cNvPr id="102" name="Text 24">
            <a:extLst>
              <a:ext uri="{FF2B5EF4-FFF2-40B4-BE49-F238E27FC236}">
                <a16:creationId xmlns:a16="http://schemas.microsoft.com/office/drawing/2014/main" id="{1B00BB4E-787B-DA1F-F95E-BC45467CC5D4}"/>
              </a:ext>
            </a:extLst>
          </p:cNvPr>
          <p:cNvSpPr txBox="1"/>
          <p:nvPr/>
        </p:nvSpPr>
        <p:spPr>
          <a:xfrm>
            <a:off x="7415834" y="6133714"/>
            <a:ext cx="4290315" cy="308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28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結果：True </a:t>
            </a:r>
            <a:r>
              <a:rPr lang="en-US" sz="16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16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狙い通り</a:t>
            </a:r>
            <a:r>
              <a:rPr lang="en-US" sz="16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！）</a:t>
            </a:r>
            <a:endParaRPr lang="en-US" sz="2800" dirty="0">
              <a:solidFill>
                <a:srgbClr val="0000CC"/>
              </a:solidFill>
            </a:endParaRPr>
          </a:p>
        </p:txBody>
      </p:sp>
      <p:pic>
        <p:nvPicPr>
          <p:cNvPr id="119" name="Image 19" descr="preencoded.png">
            <a:extLst>
              <a:ext uri="{FF2B5EF4-FFF2-40B4-BE49-F238E27FC236}">
                <a16:creationId xmlns:a16="http://schemas.microsoft.com/office/drawing/2014/main" id="{98263A22-83EE-81C8-F180-BD60A4164B8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43" b="-43"/>
          <a:stretch/>
        </p:blipFill>
        <p:spPr>
          <a:xfrm>
            <a:off x="6591430" y="6094089"/>
            <a:ext cx="358519" cy="410088"/>
          </a:xfrm>
          <a:prstGeom prst="rect">
            <a:avLst/>
          </a:prstGeom>
        </p:spPr>
      </p:pic>
      <p:pic>
        <p:nvPicPr>
          <p:cNvPr id="125" name="図 124" descr="The image depicts a cartoon character with a pale blue shirt and a blue collar, standing in a thoughtful pose with an open mouth and a question mark.&#10;&#10;AI 生成コンテンツは誤りを含む可能性があります。">
            <a:extLst>
              <a:ext uri="{FF2B5EF4-FFF2-40B4-BE49-F238E27FC236}">
                <a16:creationId xmlns:a16="http://schemas.microsoft.com/office/drawing/2014/main" id="{63B00FAB-CADF-FA9A-4FEB-C445CB6B218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57589" y="2139252"/>
            <a:ext cx="1485545" cy="17010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8" name="図 127" descr="The image depicts a cartoon character with a blue shirt, yellow hair, and a heart symbol above its eyes.&#10;&#10;AI 生成コンテンツは誤りを含む可能性があります。">
            <a:extLst>
              <a:ext uri="{FF2B5EF4-FFF2-40B4-BE49-F238E27FC236}">
                <a16:creationId xmlns:a16="http://schemas.microsoft.com/office/drawing/2014/main" id="{E32E76A0-E3C5-6E2B-7D8A-D758BF50D43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56506" y="2138419"/>
            <a:ext cx="1634298" cy="18713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FDDDFBE5-2C23-9207-1CD1-1C6FB5F655F1}"/>
              </a:ext>
            </a:extLst>
          </p:cNvPr>
          <p:cNvCxnSpPr>
            <a:cxnSpLocks/>
          </p:cNvCxnSpPr>
          <p:nvPr/>
        </p:nvCxnSpPr>
        <p:spPr>
          <a:xfrm>
            <a:off x="4110210" y="1712072"/>
            <a:ext cx="1875058" cy="28253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584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9089F-A438-5BDE-8CF6-91CB772DD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>
            <a:extLst>
              <a:ext uri="{FF2B5EF4-FFF2-40B4-BE49-F238E27FC236}">
                <a16:creationId xmlns:a16="http://schemas.microsoft.com/office/drawing/2014/main" id="{48FD9B31-404F-C67B-4627-CF7F68535426}"/>
              </a:ext>
            </a:extLst>
          </p:cNvPr>
          <p:cNvSpPr/>
          <p:nvPr/>
        </p:nvSpPr>
        <p:spPr>
          <a:xfrm>
            <a:off x="-14913" y="-69952"/>
            <a:ext cx="12191695" cy="1014703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CD3CECAA-703F-9129-6A94-16AAA84C1BED}"/>
              </a:ext>
            </a:extLst>
          </p:cNvPr>
          <p:cNvSpPr/>
          <p:nvPr/>
        </p:nvSpPr>
        <p:spPr>
          <a:xfrm>
            <a:off x="188332" y="78173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35FD8F8-34FB-C79E-A12E-80641924B14B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Vol.23</a:t>
            </a:r>
            <a:endParaRPr lang="en-US" sz="3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314F2E2-5DCC-2BFD-4D02-B613BAD27983}"/>
              </a:ext>
            </a:extLst>
          </p:cNvPr>
          <p:cNvSpPr txBox="1"/>
          <p:nvPr/>
        </p:nvSpPr>
        <p:spPr>
          <a:xfrm>
            <a:off x="1926963" y="89988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実務で効く </a:t>
            </a:r>
            <a:r>
              <a:rPr 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通知設計</a:t>
            </a:r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CC63D302-17EF-2665-66E3-CDD3C3E99C5D}"/>
              </a:ext>
            </a:extLst>
          </p:cNvPr>
          <p:cNvSpPr/>
          <p:nvPr/>
        </p:nvSpPr>
        <p:spPr>
          <a:xfrm>
            <a:off x="44269" y="-50800"/>
            <a:ext cx="12103265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006FAC2C-F454-9001-AA79-03D35CC2BCEE}"/>
              </a:ext>
            </a:extLst>
          </p:cNvPr>
          <p:cNvSpPr/>
          <p:nvPr/>
        </p:nvSpPr>
        <p:spPr>
          <a:xfrm>
            <a:off x="268515" y="1086217"/>
            <a:ext cx="7714046" cy="388562"/>
          </a:xfrm>
          <a:prstGeom prst="roundRect">
            <a:avLst>
              <a:gd name="adj" fmla="val 319489"/>
            </a:avLst>
          </a:prstGeom>
          <a:solidFill>
            <a:schemeClr val="bg2">
              <a:lumMod val="90000"/>
            </a:schemeClr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C9112071-6146-DB89-CF7D-D0C5FF28738F}"/>
              </a:ext>
            </a:extLst>
          </p:cNvPr>
          <p:cNvSpPr/>
          <p:nvPr/>
        </p:nvSpPr>
        <p:spPr>
          <a:xfrm>
            <a:off x="452624" y="1010929"/>
            <a:ext cx="8542824" cy="55968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38100" rIns="228600" bIns="38100" rtlCol="0" anchor="ctr"/>
          <a:lstStyle/>
          <a:p>
            <a:pPr marL="0" indent="0" algn="l">
              <a:buNone/>
            </a:pPr>
            <a:r>
              <a:rPr lang="en-US" sz="2800" b="1" kern="0" spc="52" dirty="0">
                <a:solidFill>
                  <a:schemeClr val="bg1"/>
                </a:solidFill>
                <a:effectLst>
                  <a:glow rad="177800">
                    <a:schemeClr val="tx1">
                      <a:lumMod val="75000"/>
                      <a:lumOff val="25000"/>
                      <a:alpha val="99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通知の“質”</a:t>
            </a:r>
            <a:r>
              <a:rPr lang="en-US" sz="2800" b="1" kern="0" spc="52">
                <a:solidFill>
                  <a:schemeClr val="bg1"/>
                </a:solidFill>
                <a:effectLst>
                  <a:glow rad="177800">
                    <a:schemeClr val="tx1">
                      <a:lumMod val="75000"/>
                      <a:lumOff val="25000"/>
                      <a:alpha val="99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を変える </a:t>
            </a:r>
            <a:r>
              <a:rPr lang="ja-JP" altLang="en-US" sz="2800" b="1" kern="0" spc="52">
                <a:solidFill>
                  <a:schemeClr val="bg1"/>
                </a:solidFill>
                <a:effectLst>
                  <a:glow rad="177800">
                    <a:schemeClr val="tx1">
                      <a:lumMod val="75000"/>
                      <a:lumOff val="25000"/>
                      <a:alpha val="99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 sz="2800" b="1" kern="0" spc="52">
                <a:solidFill>
                  <a:schemeClr val="bg1"/>
                </a:solidFill>
                <a:effectLst>
                  <a:glow rad="177800">
                    <a:schemeClr val="tx1">
                      <a:lumMod val="75000"/>
                      <a:lumOff val="25000"/>
                      <a:alpha val="99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  </a:t>
            </a:r>
            <a:r>
              <a:rPr lang="ja-JP" altLang="en-US" sz="2800" b="1" kern="0" spc="52">
                <a:solidFill>
                  <a:schemeClr val="bg1"/>
                </a:solidFill>
                <a:effectLst>
                  <a:glow rad="177800">
                    <a:schemeClr val="tx1">
                      <a:lumMod val="75000"/>
                      <a:lumOff val="25000"/>
                      <a:alpha val="99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　</a:t>
            </a:r>
            <a:r>
              <a:rPr lang="en-US" sz="2800" b="1" kern="0" spc="52">
                <a:solidFill>
                  <a:schemeClr val="bg1"/>
                </a:solidFill>
                <a:effectLst>
                  <a:glow rad="177800">
                    <a:schemeClr val="tx1">
                      <a:lumMod val="75000"/>
                      <a:lumOff val="25000"/>
                      <a:alpha val="99000"/>
                    </a:schemeClr>
                  </a:glo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 </a:t>
            </a:r>
            <a:endParaRPr lang="en-US" sz="2800" dirty="0">
              <a:solidFill>
                <a:schemeClr val="bg1"/>
              </a:solidFill>
              <a:effectLst>
                <a:glow rad="177800">
                  <a:schemeClr val="tx1">
                    <a:lumMod val="75000"/>
                    <a:lumOff val="25000"/>
                    <a:alpha val="99000"/>
                  </a:schemeClr>
                </a:glow>
              </a:effectLst>
            </a:endParaRPr>
          </a:p>
        </p:txBody>
      </p:sp>
      <p:pic>
        <p:nvPicPr>
          <p:cNvPr id="57" name="Image 2" descr="preencoded.png">
            <a:extLst>
              <a:ext uri="{FF2B5EF4-FFF2-40B4-BE49-F238E27FC236}">
                <a16:creationId xmlns:a16="http://schemas.microsoft.com/office/drawing/2014/main" id="{483515DF-FE0D-1093-8C2A-6B799FFBA9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268515" y="1703115"/>
            <a:ext cx="3856167" cy="49153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8" name="Image 3" descr="preencoded.png">
            <a:extLst>
              <a:ext uri="{FF2B5EF4-FFF2-40B4-BE49-F238E27FC236}">
                <a16:creationId xmlns:a16="http://schemas.microsoft.com/office/drawing/2014/main" id="{76F6B8B2-D204-9CA0-634C-BDD1572469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64" r="-264"/>
          <a:stretch/>
        </p:blipFill>
        <p:spPr>
          <a:xfrm>
            <a:off x="230917" y="1563715"/>
            <a:ext cx="2545369" cy="936922"/>
          </a:xfrm>
          <a:prstGeom prst="rect">
            <a:avLst/>
          </a:prstGeom>
        </p:spPr>
      </p:pic>
      <p:sp>
        <p:nvSpPr>
          <p:cNvPr id="63" name="Text 8">
            <a:extLst>
              <a:ext uri="{FF2B5EF4-FFF2-40B4-BE49-F238E27FC236}">
                <a16:creationId xmlns:a16="http://schemas.microsoft.com/office/drawing/2014/main" id="{A5A5B405-2384-992C-B2DA-4CDCDBEB386A}"/>
              </a:ext>
            </a:extLst>
          </p:cNvPr>
          <p:cNvSpPr/>
          <p:nvPr/>
        </p:nvSpPr>
        <p:spPr>
          <a:xfrm>
            <a:off x="216776" y="1859854"/>
            <a:ext cx="2567909" cy="319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Before：</a:t>
            </a:r>
          </a:p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ただの通知</a:t>
            </a:r>
            <a:endParaRPr lang="en-US" sz="2800" dirty="0"/>
          </a:p>
        </p:txBody>
      </p:sp>
      <p:pic>
        <p:nvPicPr>
          <p:cNvPr id="69" name="Image 4" descr="preencoded.png">
            <a:extLst>
              <a:ext uri="{FF2B5EF4-FFF2-40B4-BE49-F238E27FC236}">
                <a16:creationId xmlns:a16="http://schemas.microsoft.com/office/drawing/2014/main" id="{48332BFC-9DB0-321E-C04B-7A7CAD95FD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32" b="-32"/>
          <a:stretch/>
        </p:blipFill>
        <p:spPr>
          <a:xfrm>
            <a:off x="986520" y="2670669"/>
            <a:ext cx="2191809" cy="1087213"/>
          </a:xfrm>
          <a:prstGeom prst="rect">
            <a:avLst/>
          </a:prstGeom>
        </p:spPr>
      </p:pic>
      <p:sp>
        <p:nvSpPr>
          <p:cNvPr id="71" name="Text 9">
            <a:extLst>
              <a:ext uri="{FF2B5EF4-FFF2-40B4-BE49-F238E27FC236}">
                <a16:creationId xmlns:a16="http://schemas.microsoft.com/office/drawing/2014/main" id="{BD3F36F0-68A0-D0B4-8C22-5A87D92302DF}"/>
              </a:ext>
            </a:extLst>
          </p:cNvPr>
          <p:cNvSpPr txBox="1"/>
          <p:nvPr/>
        </p:nvSpPr>
        <p:spPr>
          <a:xfrm>
            <a:off x="1308999" y="2870460"/>
            <a:ext cx="2029849" cy="25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9CA3A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ui-monospace" pitchFamily="34" charset="-120"/>
              </a:rPr>
              <a:t>Subject</a:t>
            </a:r>
            <a:endParaRPr 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2" name="Text 10">
            <a:extLst>
              <a:ext uri="{FF2B5EF4-FFF2-40B4-BE49-F238E27FC236}">
                <a16:creationId xmlns:a16="http://schemas.microsoft.com/office/drawing/2014/main" id="{B5B7C63B-5BC2-A3EA-D588-750D9FFDA02A}"/>
              </a:ext>
            </a:extLst>
          </p:cNvPr>
          <p:cNvSpPr txBox="1"/>
          <p:nvPr/>
        </p:nvSpPr>
        <p:spPr>
          <a:xfrm>
            <a:off x="1321122" y="3327077"/>
            <a:ext cx="1902624" cy="25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依頼があります</a:t>
            </a:r>
            <a:endParaRPr lang="en-US" sz="2000" dirty="0"/>
          </a:p>
        </p:txBody>
      </p:sp>
      <p:sp>
        <p:nvSpPr>
          <p:cNvPr id="82" name="Text 11">
            <a:extLst>
              <a:ext uri="{FF2B5EF4-FFF2-40B4-BE49-F238E27FC236}">
                <a16:creationId xmlns:a16="http://schemas.microsoft.com/office/drawing/2014/main" id="{C4DB3D01-7DE9-777B-E2E0-D17537E1E7EA}"/>
              </a:ext>
            </a:extLst>
          </p:cNvPr>
          <p:cNvSpPr txBox="1"/>
          <p:nvPr/>
        </p:nvSpPr>
        <p:spPr>
          <a:xfrm>
            <a:off x="963545" y="4026361"/>
            <a:ext cx="2941707" cy="5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何の依頼か</a:t>
            </a:r>
            <a:r>
              <a:rPr lang="ja-JP" alt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不明</a:t>
            </a:r>
            <a:endParaRPr lang="en-US" sz="2400" b="1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（緊急度も不明）</a:t>
            </a:r>
            <a:endParaRPr lang="en-US" sz="2400" b="1" dirty="0"/>
          </a:p>
        </p:txBody>
      </p:sp>
      <p:pic>
        <p:nvPicPr>
          <p:cNvPr id="87" name="Image 6" descr="preencoded.png">
            <a:extLst>
              <a:ext uri="{FF2B5EF4-FFF2-40B4-BE49-F238E27FC236}">
                <a16:creationId xmlns:a16="http://schemas.microsoft.com/office/drawing/2014/main" id="{D5B9A3A4-C7F3-186A-5F4C-4C277B92167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1233" r="-21233"/>
          <a:stretch/>
        </p:blipFill>
        <p:spPr>
          <a:xfrm>
            <a:off x="187121" y="3797696"/>
            <a:ext cx="762421" cy="713546"/>
          </a:xfrm>
          <a:prstGeom prst="rect">
            <a:avLst/>
          </a:prstGeom>
        </p:spPr>
      </p:pic>
      <p:sp>
        <p:nvSpPr>
          <p:cNvPr id="93" name="Text 13">
            <a:extLst>
              <a:ext uri="{FF2B5EF4-FFF2-40B4-BE49-F238E27FC236}">
                <a16:creationId xmlns:a16="http://schemas.microsoft.com/office/drawing/2014/main" id="{AD899DB1-D9C0-6D79-99AC-D806CF77D1E3}"/>
              </a:ext>
            </a:extLst>
          </p:cNvPr>
          <p:cNvSpPr txBox="1"/>
          <p:nvPr/>
        </p:nvSpPr>
        <p:spPr>
          <a:xfrm>
            <a:off x="968684" y="4923777"/>
            <a:ext cx="2810647" cy="38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リンク先がな</a:t>
            </a:r>
            <a:r>
              <a:rPr lang="ja-JP" alt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</a:t>
            </a:r>
            <a:endParaRPr lang="en-US" sz="2400" b="1" dirty="0"/>
          </a:p>
        </p:txBody>
      </p:sp>
      <p:sp>
        <p:nvSpPr>
          <p:cNvPr id="97" name="Text 14">
            <a:extLst>
              <a:ext uri="{FF2B5EF4-FFF2-40B4-BE49-F238E27FC236}">
                <a16:creationId xmlns:a16="http://schemas.microsoft.com/office/drawing/2014/main" id="{F1B3C790-92E1-19B8-9AC4-5FB7E6590926}"/>
              </a:ext>
            </a:extLst>
          </p:cNvPr>
          <p:cNvSpPr txBox="1"/>
          <p:nvPr/>
        </p:nvSpPr>
        <p:spPr>
          <a:xfrm>
            <a:off x="970045" y="5730785"/>
            <a:ext cx="2311986" cy="194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誰の作業か不明</a:t>
            </a:r>
            <a:endParaRPr lang="en-US" sz="2400" b="1" dirty="0"/>
          </a:p>
        </p:txBody>
      </p:sp>
      <p:sp>
        <p:nvSpPr>
          <p:cNvPr id="98" name="Shape 15">
            <a:extLst>
              <a:ext uri="{FF2B5EF4-FFF2-40B4-BE49-F238E27FC236}">
                <a16:creationId xmlns:a16="http://schemas.microsoft.com/office/drawing/2014/main" id="{1115C790-6B6B-791E-1784-4A8E4CAAA18A}"/>
              </a:ext>
            </a:extLst>
          </p:cNvPr>
          <p:cNvSpPr/>
          <p:nvPr/>
        </p:nvSpPr>
        <p:spPr>
          <a:xfrm>
            <a:off x="4350255" y="1594691"/>
            <a:ext cx="3809002" cy="5023819"/>
          </a:xfrm>
          <a:prstGeom prst="roundRect">
            <a:avLst>
              <a:gd name="adj" fmla="val 7972"/>
            </a:avLst>
          </a:prstGeom>
          <a:solidFill>
            <a:srgbClr val="EFF6FF"/>
          </a:solidFill>
          <a:ln w="25400">
            <a:solidFill>
              <a:srgbClr val="60A5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ja-JP" altLang="en-US" sz="4000"/>
          </a:p>
        </p:txBody>
      </p:sp>
      <p:pic>
        <p:nvPicPr>
          <p:cNvPr id="103" name="Image 9" descr="preencoded.png">
            <a:extLst>
              <a:ext uri="{FF2B5EF4-FFF2-40B4-BE49-F238E27FC236}">
                <a16:creationId xmlns:a16="http://schemas.microsoft.com/office/drawing/2014/main" id="{321D6FA8-0DD9-196D-5A74-5EE734A8170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264" r="-264"/>
          <a:stretch/>
        </p:blipFill>
        <p:spPr>
          <a:xfrm>
            <a:off x="4435274" y="1521197"/>
            <a:ext cx="3798655" cy="918808"/>
          </a:xfrm>
          <a:prstGeom prst="rect">
            <a:avLst/>
          </a:prstGeom>
        </p:spPr>
      </p:pic>
      <p:sp>
        <p:nvSpPr>
          <p:cNvPr id="106" name="Text 16">
            <a:extLst>
              <a:ext uri="{FF2B5EF4-FFF2-40B4-BE49-F238E27FC236}">
                <a16:creationId xmlns:a16="http://schemas.microsoft.com/office/drawing/2014/main" id="{0E15C362-677F-2AA5-7649-272315DA13D8}"/>
              </a:ext>
            </a:extLst>
          </p:cNvPr>
          <p:cNvSpPr/>
          <p:nvPr/>
        </p:nvSpPr>
        <p:spPr>
          <a:xfrm>
            <a:off x="4520356" y="1563715"/>
            <a:ext cx="3709776" cy="758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</a:t>
            </a:r>
            <a:r>
              <a:rPr lang="en-US" sz="24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</a:t>
            </a:r>
          </a:p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作業につながる通知</a:t>
            </a:r>
            <a:endParaRPr lang="en-US" sz="2000" dirty="0"/>
          </a:p>
        </p:txBody>
      </p:sp>
      <p:grpSp>
        <p:nvGrpSpPr>
          <p:cNvPr id="126" name="グループ化 125">
            <a:extLst>
              <a:ext uri="{FF2B5EF4-FFF2-40B4-BE49-F238E27FC236}">
                <a16:creationId xmlns:a16="http://schemas.microsoft.com/office/drawing/2014/main" id="{35CEC1A3-0AA8-506C-A53C-DF661EF7E050}"/>
              </a:ext>
            </a:extLst>
          </p:cNvPr>
          <p:cNvGrpSpPr/>
          <p:nvPr/>
        </p:nvGrpSpPr>
        <p:grpSpPr>
          <a:xfrm>
            <a:off x="4350255" y="2469939"/>
            <a:ext cx="4101607" cy="1814779"/>
            <a:chOff x="5973692" y="1815125"/>
            <a:chExt cx="2542485" cy="1415905"/>
          </a:xfrm>
        </p:grpSpPr>
        <p:pic>
          <p:nvPicPr>
            <p:cNvPr id="107" name="Image 10" descr="preencoded.png">
              <a:extLst>
                <a:ext uri="{FF2B5EF4-FFF2-40B4-BE49-F238E27FC236}">
                  <a16:creationId xmlns:a16="http://schemas.microsoft.com/office/drawing/2014/main" id="{325FFB7A-37D2-F617-123A-26CDD7F21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-5" b="-5"/>
            <a:stretch/>
          </p:blipFill>
          <p:spPr>
            <a:xfrm>
              <a:off x="5973692" y="1815125"/>
              <a:ext cx="2276169" cy="1415905"/>
            </a:xfrm>
            <a:prstGeom prst="rect">
              <a:avLst/>
            </a:prstGeom>
          </p:spPr>
        </p:pic>
        <p:sp>
          <p:nvSpPr>
            <p:cNvPr id="108" name="Text 17">
              <a:extLst>
                <a:ext uri="{FF2B5EF4-FFF2-40B4-BE49-F238E27FC236}">
                  <a16:creationId xmlns:a16="http://schemas.microsoft.com/office/drawing/2014/main" id="{DD9458CF-4E9E-7087-4DDA-2C29B3630540}"/>
                </a:ext>
              </a:extLst>
            </p:cNvPr>
            <p:cNvSpPr txBox="1"/>
            <p:nvPr/>
          </p:nvSpPr>
          <p:spPr>
            <a:xfrm>
              <a:off x="6125483" y="1939485"/>
              <a:ext cx="1861536" cy="207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solidFill>
                    <a:srgbClr val="9CA3AF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  <a:cs typeface="ui-monospace" pitchFamily="34" charset="-120"/>
                </a:rPr>
                <a:t>Subject</a:t>
              </a:r>
              <a:endParaRPr lang="en-US" sz="2400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sp>
          <p:nvSpPr>
            <p:cNvPr id="109" name="Text 18">
              <a:extLst>
                <a:ext uri="{FF2B5EF4-FFF2-40B4-BE49-F238E27FC236}">
                  <a16:creationId xmlns:a16="http://schemas.microsoft.com/office/drawing/2014/main" id="{EF9CBA4C-7646-74F0-D23D-66781D519F43}"/>
                </a:ext>
              </a:extLst>
            </p:cNvPr>
            <p:cNvSpPr txBox="1"/>
            <p:nvPr/>
          </p:nvSpPr>
          <p:spPr>
            <a:xfrm>
              <a:off x="6476158" y="2213150"/>
              <a:ext cx="2040019" cy="5176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【</a:t>
              </a:r>
              <a:r>
                <a:rPr lang="en-US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対応依頼】</a:t>
              </a:r>
            </a:p>
            <a:p>
              <a:pPr marL="0" indent="0" algn="l">
                <a:buNone/>
              </a:pPr>
              <a:r>
                <a:rPr lang="en-US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見積チェック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111" name="Image 11" descr="preencoded.png">
              <a:extLst>
                <a:ext uri="{FF2B5EF4-FFF2-40B4-BE49-F238E27FC236}">
                  <a16:creationId xmlns:a16="http://schemas.microsoft.com/office/drawing/2014/main" id="{E6126D3B-6CAA-C126-A270-E63C578A6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-2571" r="-2571"/>
            <a:stretch/>
          </p:blipFill>
          <p:spPr>
            <a:xfrm>
              <a:off x="6030510" y="2850504"/>
              <a:ext cx="284735" cy="309494"/>
            </a:xfrm>
            <a:prstGeom prst="rect">
              <a:avLst/>
            </a:prstGeom>
          </p:spPr>
        </p:pic>
        <p:sp>
          <p:nvSpPr>
            <p:cNvPr id="112" name="Text 19">
              <a:extLst>
                <a:ext uri="{FF2B5EF4-FFF2-40B4-BE49-F238E27FC236}">
                  <a16:creationId xmlns:a16="http://schemas.microsoft.com/office/drawing/2014/main" id="{50948FD9-0A36-0F7C-CE9D-1BECE76BDA71}"/>
                </a:ext>
              </a:extLst>
            </p:cNvPr>
            <p:cNvSpPr txBox="1"/>
            <p:nvPr/>
          </p:nvSpPr>
          <p:spPr>
            <a:xfrm>
              <a:off x="6374668" y="2862320"/>
              <a:ext cx="2010080" cy="1949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dirty="0">
                  <a:solidFill>
                    <a:srgbClr val="1E40A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本文は3行構成</a:t>
              </a:r>
              <a:endParaRPr lang="en-US" sz="3200" dirty="0"/>
            </a:p>
          </p:txBody>
        </p:sp>
      </p:grpSp>
      <p:grpSp>
        <p:nvGrpSpPr>
          <p:cNvPr id="132" name="グループ化 131">
            <a:extLst>
              <a:ext uri="{FF2B5EF4-FFF2-40B4-BE49-F238E27FC236}">
                <a16:creationId xmlns:a16="http://schemas.microsoft.com/office/drawing/2014/main" id="{B7384D28-C454-31B9-4C80-F390910F8294}"/>
              </a:ext>
            </a:extLst>
          </p:cNvPr>
          <p:cNvGrpSpPr/>
          <p:nvPr/>
        </p:nvGrpSpPr>
        <p:grpSpPr>
          <a:xfrm>
            <a:off x="4829386" y="4355050"/>
            <a:ext cx="2912323" cy="1165680"/>
            <a:chOff x="6069737" y="3527011"/>
            <a:chExt cx="2373889" cy="1284745"/>
          </a:xfrm>
        </p:grpSpPr>
        <p:pic>
          <p:nvPicPr>
            <p:cNvPr id="113" name="Image 12" descr="preencoded.png">
              <a:extLst>
                <a:ext uri="{FF2B5EF4-FFF2-40B4-BE49-F238E27FC236}">
                  <a16:creationId xmlns:a16="http://schemas.microsoft.com/office/drawing/2014/main" id="{AA23097D-9F4C-0465-8E13-3954F04CB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-349" r="-349"/>
            <a:stretch/>
          </p:blipFill>
          <p:spPr>
            <a:xfrm>
              <a:off x="6069737" y="3527011"/>
              <a:ext cx="2373889" cy="1284745"/>
            </a:xfrm>
            <a:prstGeom prst="rect">
              <a:avLst/>
            </a:prstGeom>
          </p:spPr>
        </p:pic>
        <p:sp>
          <p:nvSpPr>
            <p:cNvPr id="114" name="Text 20">
              <a:extLst>
                <a:ext uri="{FF2B5EF4-FFF2-40B4-BE49-F238E27FC236}">
                  <a16:creationId xmlns:a16="http://schemas.microsoft.com/office/drawing/2014/main" id="{3A5F49D1-7A22-5294-CEF2-B9FEB26A922E}"/>
                </a:ext>
              </a:extLst>
            </p:cNvPr>
            <p:cNvSpPr txBox="1"/>
            <p:nvPr/>
          </p:nvSpPr>
          <p:spPr>
            <a:xfrm>
              <a:off x="6203713" y="3670053"/>
              <a:ext cx="2082060" cy="10092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4B5563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  <a:cs typeface="ui-monospace" pitchFamily="34" charset="-120"/>
                </a:rPr>
                <a:t> ・内容：</a:t>
              </a:r>
              <a:r>
                <a:rPr lang="en-US" b="1" dirty="0">
                  <a:solidFill>
                    <a:srgbClr val="0000CC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  <a:cs typeface="ui-monospace" pitchFamily="34" charset="-120"/>
                </a:rPr>
                <a:t>〇〇確認</a:t>
              </a:r>
              <a:endParaRPr lang="en-US" b="1" dirty="0">
                <a:solidFill>
                  <a:srgbClr val="0000CC"/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marL="0" indent="0" algn="l">
                <a:buNone/>
              </a:pPr>
              <a:r>
                <a:rPr lang="en-US" b="1" dirty="0">
                  <a:solidFill>
                    <a:srgbClr val="4B5563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  <a:cs typeface="ui-monospace" pitchFamily="34" charset="-120"/>
                </a:rPr>
                <a:t> ・期限：10/25</a:t>
              </a:r>
              <a:endParaRPr lang="en-US" b="1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marL="0" indent="0" algn="l">
                <a:buNone/>
              </a:pPr>
              <a:r>
                <a:rPr lang="en-US" b="1" dirty="0">
                  <a:solidFill>
                    <a:srgbClr val="4B5563"/>
                  </a:solidFill>
                  <a:latin typeface="Noto Sans JP" panose="020B0200000000000000" pitchFamily="50" charset="-128"/>
                  <a:ea typeface="Noto Sans JP" panose="020B0200000000000000" pitchFamily="50" charset="-128"/>
                  <a:cs typeface="ui-monospace" pitchFamily="34" charset="-120"/>
                </a:rPr>
                <a:t> ・担当：鈴木 </a:t>
              </a:r>
              <a:endParaRPr lang="en-US" b="1" dirty="0"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</p:grpSp>
      <p:pic>
        <p:nvPicPr>
          <p:cNvPr id="115" name="Image 13" descr="preencoded.png">
            <a:extLst>
              <a:ext uri="{FF2B5EF4-FFF2-40B4-BE49-F238E27FC236}">
                <a16:creationId xmlns:a16="http://schemas.microsoft.com/office/drawing/2014/main" id="{A5DDBC27-7631-A60B-4371-A298F115982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80" b="-80"/>
          <a:stretch/>
        </p:blipFill>
        <p:spPr>
          <a:xfrm>
            <a:off x="4581359" y="5849181"/>
            <a:ext cx="395383" cy="316814"/>
          </a:xfrm>
          <a:prstGeom prst="rect">
            <a:avLst/>
          </a:prstGeom>
        </p:spPr>
      </p:pic>
      <p:sp>
        <p:nvSpPr>
          <p:cNvPr id="118" name="Text 21">
            <a:extLst>
              <a:ext uri="{FF2B5EF4-FFF2-40B4-BE49-F238E27FC236}">
                <a16:creationId xmlns:a16="http://schemas.microsoft.com/office/drawing/2014/main" id="{4E7B547A-6427-847F-98F2-0C6F65193C3E}"/>
              </a:ext>
            </a:extLst>
          </p:cNvPr>
          <p:cNvSpPr txBox="1"/>
          <p:nvPr/>
        </p:nvSpPr>
        <p:spPr>
          <a:xfrm>
            <a:off x="4889693" y="5801686"/>
            <a:ext cx="3865738" cy="608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ワンクリックで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作業画面へ飛べる</a:t>
            </a:r>
            <a:r>
              <a:rPr lang="en-US" sz="2800" b="1">
                <a:solidFill>
                  <a:srgbClr val="0000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リンク</a:t>
            </a:r>
            <a:endParaRPr lang="en-US" sz="2800" b="1" dirty="0">
              <a:solidFill>
                <a:srgbClr val="0000CC"/>
              </a:solidFill>
            </a:endParaRPr>
          </a:p>
        </p:txBody>
      </p:sp>
      <p:grpSp>
        <p:nvGrpSpPr>
          <p:cNvPr id="181" name="グループ化 180">
            <a:extLst>
              <a:ext uri="{FF2B5EF4-FFF2-40B4-BE49-F238E27FC236}">
                <a16:creationId xmlns:a16="http://schemas.microsoft.com/office/drawing/2014/main" id="{6019F6DC-4E27-6D60-B210-070DA751BB29}"/>
              </a:ext>
            </a:extLst>
          </p:cNvPr>
          <p:cNvGrpSpPr/>
          <p:nvPr/>
        </p:nvGrpSpPr>
        <p:grpSpPr>
          <a:xfrm>
            <a:off x="8189015" y="995668"/>
            <a:ext cx="4053441" cy="5622843"/>
            <a:chOff x="8189015" y="995668"/>
            <a:chExt cx="4053441" cy="5622843"/>
          </a:xfrm>
        </p:grpSpPr>
        <p:sp>
          <p:nvSpPr>
            <p:cNvPr id="135" name="Shape 23">
              <a:extLst>
                <a:ext uri="{FF2B5EF4-FFF2-40B4-BE49-F238E27FC236}">
                  <a16:creationId xmlns:a16="http://schemas.microsoft.com/office/drawing/2014/main" id="{DED7D721-1E03-7017-B214-F5280ABDD0FA}"/>
                </a:ext>
              </a:extLst>
            </p:cNvPr>
            <p:cNvSpPr/>
            <p:nvPr/>
          </p:nvSpPr>
          <p:spPr>
            <a:xfrm>
              <a:off x="8189015" y="995668"/>
              <a:ext cx="3862873" cy="5622843"/>
            </a:xfrm>
            <a:prstGeom prst="roundRect">
              <a:avLst>
                <a:gd name="adj" fmla="val 1190"/>
              </a:avLst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6" name="Shape 24">
              <a:extLst>
                <a:ext uri="{FF2B5EF4-FFF2-40B4-BE49-F238E27FC236}">
                  <a16:creationId xmlns:a16="http://schemas.microsoft.com/office/drawing/2014/main" id="{3E8DD4BA-2A33-E4AC-8BCF-DCAFBA080F64}"/>
                </a:ext>
              </a:extLst>
            </p:cNvPr>
            <p:cNvSpPr/>
            <p:nvPr/>
          </p:nvSpPr>
          <p:spPr>
            <a:xfrm>
              <a:off x="8425429" y="1450689"/>
              <a:ext cx="3441166" cy="13090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7" name="Text 25">
              <a:extLst>
                <a:ext uri="{FF2B5EF4-FFF2-40B4-BE49-F238E27FC236}">
                  <a16:creationId xmlns:a16="http://schemas.microsoft.com/office/drawing/2014/main" id="{813B453C-323F-800C-8359-15554813D0FC}"/>
                </a:ext>
              </a:extLst>
            </p:cNvPr>
            <p:cNvSpPr txBox="1"/>
            <p:nvPr/>
          </p:nvSpPr>
          <p:spPr>
            <a:xfrm>
              <a:off x="8588164" y="1054748"/>
              <a:ext cx="3654292" cy="38352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D4ED8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 実装ステップ（3つだけ） </a:t>
              </a:r>
              <a:endParaRPr lang="en-US" sz="2400" dirty="0"/>
            </a:p>
          </p:txBody>
        </p:sp>
        <p:pic>
          <p:nvPicPr>
            <p:cNvPr id="138" name="Image 15" descr="preencoded.png">
              <a:extLst>
                <a:ext uri="{FF2B5EF4-FFF2-40B4-BE49-F238E27FC236}">
                  <a16:creationId xmlns:a16="http://schemas.microsoft.com/office/drawing/2014/main" id="{1F8DAF76-A841-3805-7EE4-F0EB12B8C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8250883" y="1026580"/>
              <a:ext cx="357555" cy="411698"/>
            </a:xfrm>
            <a:prstGeom prst="rect">
              <a:avLst/>
            </a:prstGeom>
          </p:spPr>
        </p:pic>
        <p:pic>
          <p:nvPicPr>
            <p:cNvPr id="139" name="Image 16" descr="preencoded.png">
              <a:extLst>
                <a:ext uri="{FF2B5EF4-FFF2-40B4-BE49-F238E27FC236}">
                  <a16:creationId xmlns:a16="http://schemas.microsoft.com/office/drawing/2014/main" id="{043745E2-0824-C7FD-B807-80BDEDC2A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333359" y="1601452"/>
              <a:ext cx="294017" cy="335613"/>
            </a:xfrm>
            <a:prstGeom prst="rect">
              <a:avLst/>
            </a:prstGeom>
          </p:spPr>
        </p:pic>
        <p:sp>
          <p:nvSpPr>
            <p:cNvPr id="140" name="Text 26">
              <a:extLst>
                <a:ext uri="{FF2B5EF4-FFF2-40B4-BE49-F238E27FC236}">
                  <a16:creationId xmlns:a16="http://schemas.microsoft.com/office/drawing/2014/main" id="{C365585C-0496-2C40-9E11-A8D3CBAC68EC}"/>
                </a:ext>
              </a:extLst>
            </p:cNvPr>
            <p:cNvSpPr/>
            <p:nvPr/>
          </p:nvSpPr>
          <p:spPr>
            <a:xfrm>
              <a:off x="8326460" y="1573184"/>
              <a:ext cx="318618" cy="404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1</a:t>
              </a:r>
              <a:endParaRPr lang="en-US" sz="2000" dirty="0"/>
            </a:p>
          </p:txBody>
        </p:sp>
        <p:sp>
          <p:nvSpPr>
            <p:cNvPr id="141" name="Text 27">
              <a:extLst>
                <a:ext uri="{FF2B5EF4-FFF2-40B4-BE49-F238E27FC236}">
                  <a16:creationId xmlns:a16="http://schemas.microsoft.com/office/drawing/2014/main" id="{09E3E1AF-F566-4C28-76A0-0456E1A817F8}"/>
                </a:ext>
              </a:extLst>
            </p:cNvPr>
            <p:cNvSpPr txBox="1"/>
            <p:nvPr/>
          </p:nvSpPr>
          <p:spPr>
            <a:xfrm>
              <a:off x="8696817" y="1639851"/>
              <a:ext cx="2755667" cy="3272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F293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通知対象を絞る</a:t>
              </a:r>
              <a:endParaRPr lang="en-US" sz="2400" dirty="0"/>
            </a:p>
          </p:txBody>
        </p:sp>
        <p:sp>
          <p:nvSpPr>
            <p:cNvPr id="142" name="Text 28">
              <a:extLst>
                <a:ext uri="{FF2B5EF4-FFF2-40B4-BE49-F238E27FC236}">
                  <a16:creationId xmlns:a16="http://schemas.microsoft.com/office/drawing/2014/main" id="{5618A2BE-9F52-6C2B-B90B-AA37AB961602}"/>
                </a:ext>
              </a:extLst>
            </p:cNvPr>
            <p:cNvSpPr txBox="1"/>
            <p:nvPr/>
          </p:nvSpPr>
          <p:spPr>
            <a:xfrm>
              <a:off x="8650645" y="2202621"/>
              <a:ext cx="3531290" cy="6544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 </a:t>
              </a:r>
              <a:r>
                <a:rPr lang="en-US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“必要な人だけに届く通知</a:t>
              </a:r>
              <a:r>
                <a:rPr lang="en-US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”は</a:t>
              </a:r>
            </a:p>
            <a:p>
              <a:pPr marL="0" indent="0" algn="l">
                <a:buNone/>
              </a:pPr>
              <a:r>
                <a:rPr lang="en-US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それだけで価値が上がる</a:t>
              </a:r>
              <a:r>
                <a:rPr lang="en-US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。 </a:t>
              </a:r>
              <a:endParaRPr lang="en-US" dirty="0"/>
            </a:p>
          </p:txBody>
        </p:sp>
        <p:pic>
          <p:nvPicPr>
            <p:cNvPr id="143" name="Image 17" descr="preencoded.png">
              <a:extLst>
                <a:ext uri="{FF2B5EF4-FFF2-40B4-BE49-F238E27FC236}">
                  <a16:creationId xmlns:a16="http://schemas.microsoft.com/office/drawing/2014/main" id="{07FD8CAB-0EC4-32D6-5809-9A2B78125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348633" y="3147290"/>
              <a:ext cx="302012" cy="324990"/>
            </a:xfrm>
            <a:prstGeom prst="rect">
              <a:avLst/>
            </a:prstGeom>
          </p:spPr>
        </p:pic>
        <p:sp>
          <p:nvSpPr>
            <p:cNvPr id="144" name="Text 29">
              <a:extLst>
                <a:ext uri="{FF2B5EF4-FFF2-40B4-BE49-F238E27FC236}">
                  <a16:creationId xmlns:a16="http://schemas.microsoft.com/office/drawing/2014/main" id="{7831CB06-5630-91D1-741E-B6E157CBC5F7}"/>
                </a:ext>
              </a:extLst>
            </p:cNvPr>
            <p:cNvSpPr/>
            <p:nvPr/>
          </p:nvSpPr>
          <p:spPr>
            <a:xfrm>
              <a:off x="8374736" y="3128177"/>
              <a:ext cx="227755" cy="343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2</a:t>
              </a:r>
              <a:endParaRPr lang="en-US" sz="2000" dirty="0"/>
            </a:p>
          </p:txBody>
        </p:sp>
        <p:sp>
          <p:nvSpPr>
            <p:cNvPr id="145" name="Text 30">
              <a:extLst>
                <a:ext uri="{FF2B5EF4-FFF2-40B4-BE49-F238E27FC236}">
                  <a16:creationId xmlns:a16="http://schemas.microsoft.com/office/drawing/2014/main" id="{FE277788-FE37-F7C1-EDB3-19FA72530016}"/>
                </a:ext>
              </a:extLst>
            </p:cNvPr>
            <p:cNvSpPr txBox="1"/>
            <p:nvPr/>
          </p:nvSpPr>
          <p:spPr>
            <a:xfrm>
              <a:off x="8718293" y="3092295"/>
              <a:ext cx="3148301" cy="3272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1F293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3行で要点を整理する</a:t>
              </a:r>
              <a:endParaRPr lang="en-US" sz="2400" dirty="0"/>
            </a:p>
          </p:txBody>
        </p:sp>
        <p:pic>
          <p:nvPicPr>
            <p:cNvPr id="147" name="Image 18" descr="preencoded.png">
              <a:extLst>
                <a:ext uri="{FF2B5EF4-FFF2-40B4-BE49-F238E27FC236}">
                  <a16:creationId xmlns:a16="http://schemas.microsoft.com/office/drawing/2014/main" id="{7C873E7D-7FCA-2DEF-BE7E-C6EDDEC11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-21" r="-21"/>
            <a:stretch/>
          </p:blipFill>
          <p:spPr>
            <a:xfrm>
              <a:off x="8685728" y="3591382"/>
              <a:ext cx="2997266" cy="908991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148" name="Text 32">
              <a:extLst>
                <a:ext uri="{FF2B5EF4-FFF2-40B4-BE49-F238E27FC236}">
                  <a16:creationId xmlns:a16="http://schemas.microsoft.com/office/drawing/2014/main" id="{94DE3EDA-2334-79E0-86BA-4D37271EC7AA}"/>
                </a:ext>
              </a:extLst>
            </p:cNvPr>
            <p:cNvSpPr txBox="1"/>
            <p:nvPr/>
          </p:nvSpPr>
          <p:spPr>
            <a:xfrm>
              <a:off x="8736722" y="3623271"/>
              <a:ext cx="2997266" cy="8700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【依頼】〇〇確認 </a:t>
              </a:r>
              <a:r>
                <a:rPr lang="en-US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/ </a:t>
              </a:r>
            </a:p>
            <a:p>
              <a:pPr marL="0" indent="0" algn="l">
                <a:buNone/>
              </a:pPr>
              <a:r>
                <a:rPr lang="ja-JP" altLang="en-US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　　　　</a:t>
              </a:r>
              <a:r>
                <a:rPr lang="en-US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期限</a:t>
              </a:r>
              <a:r>
                <a:rPr lang="en-US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:〇〇 </a:t>
              </a:r>
              <a:r>
                <a:rPr lang="en-US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/ </a:t>
              </a:r>
            </a:p>
            <a:p>
              <a:pPr marL="0" indent="0" algn="l">
                <a:buNone/>
              </a:pPr>
              <a:r>
                <a:rPr lang="ja-JP" altLang="en-US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　　　　</a:t>
              </a:r>
              <a:r>
                <a:rPr lang="en-US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担当</a:t>
              </a:r>
              <a:r>
                <a:rPr lang="en-US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:〇〇</a:t>
              </a:r>
              <a:endParaRPr lang="en-US" dirty="0"/>
            </a:p>
          </p:txBody>
        </p:sp>
        <p:pic>
          <p:nvPicPr>
            <p:cNvPr id="157" name="Image 19" descr="preencoded.png">
              <a:extLst>
                <a:ext uri="{FF2B5EF4-FFF2-40B4-BE49-F238E27FC236}">
                  <a16:creationId xmlns:a16="http://schemas.microsoft.com/office/drawing/2014/main" id="{85B82465-7BA0-D466-4940-DDBCD0D36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8338889" y="4683155"/>
              <a:ext cx="328423" cy="347790"/>
            </a:xfrm>
            <a:prstGeom prst="rect">
              <a:avLst/>
            </a:prstGeom>
          </p:spPr>
        </p:pic>
        <p:sp>
          <p:nvSpPr>
            <p:cNvPr id="160" name="Text 33">
              <a:extLst>
                <a:ext uri="{FF2B5EF4-FFF2-40B4-BE49-F238E27FC236}">
                  <a16:creationId xmlns:a16="http://schemas.microsoft.com/office/drawing/2014/main" id="{079BC072-077F-1B88-05EA-69308A8AC510}"/>
                </a:ext>
              </a:extLst>
            </p:cNvPr>
            <p:cNvSpPr/>
            <p:nvPr/>
          </p:nvSpPr>
          <p:spPr>
            <a:xfrm>
              <a:off x="8400829" y="4658980"/>
              <a:ext cx="244250" cy="4371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3</a:t>
              </a:r>
              <a:endParaRPr lang="en-US" sz="2000" dirty="0"/>
            </a:p>
          </p:txBody>
        </p:sp>
        <p:sp>
          <p:nvSpPr>
            <p:cNvPr id="166" name="Text 34">
              <a:extLst>
                <a:ext uri="{FF2B5EF4-FFF2-40B4-BE49-F238E27FC236}">
                  <a16:creationId xmlns:a16="http://schemas.microsoft.com/office/drawing/2014/main" id="{DAE75718-6233-2E53-5EF3-BB0B661F1688}"/>
                </a:ext>
              </a:extLst>
            </p:cNvPr>
            <p:cNvSpPr txBox="1"/>
            <p:nvPr/>
          </p:nvSpPr>
          <p:spPr>
            <a:xfrm>
              <a:off x="8713124" y="4737959"/>
              <a:ext cx="3270719" cy="5618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1F293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“次のアクション”の入口をつける</a:t>
              </a:r>
              <a:endParaRPr lang="en-US" sz="2000" dirty="0"/>
            </a:p>
          </p:txBody>
        </p:sp>
        <p:sp>
          <p:nvSpPr>
            <p:cNvPr id="167" name="Text 35">
              <a:extLst>
                <a:ext uri="{FF2B5EF4-FFF2-40B4-BE49-F238E27FC236}">
                  <a16:creationId xmlns:a16="http://schemas.microsoft.com/office/drawing/2014/main" id="{74450A6F-126B-1267-4A7F-E3DA842D9D71}"/>
                </a:ext>
              </a:extLst>
            </p:cNvPr>
            <p:cNvSpPr txBox="1"/>
            <p:nvPr/>
          </p:nvSpPr>
          <p:spPr>
            <a:xfrm>
              <a:off x="8445271" y="5270690"/>
              <a:ext cx="2997267" cy="628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>
                  <a:solidFill>
                    <a:srgbClr val="059669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リンクを必ず入れる</a:t>
              </a:r>
              <a:r>
                <a:rPr lang="en-US" sz="200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。</a:t>
              </a:r>
            </a:p>
          </p:txBody>
        </p:sp>
        <p:sp>
          <p:nvSpPr>
            <p:cNvPr id="168" name="Shape 36">
              <a:extLst>
                <a:ext uri="{FF2B5EF4-FFF2-40B4-BE49-F238E27FC236}">
                  <a16:creationId xmlns:a16="http://schemas.microsoft.com/office/drawing/2014/main" id="{32C63EDB-FA15-C5BB-B2E9-E69602CD3BD0}"/>
                </a:ext>
              </a:extLst>
            </p:cNvPr>
            <p:cNvSpPr/>
            <p:nvPr/>
          </p:nvSpPr>
          <p:spPr>
            <a:xfrm>
              <a:off x="8425429" y="5942855"/>
              <a:ext cx="3441166" cy="13090"/>
            </a:xfrm>
            <a:prstGeom prst="rect">
              <a:avLst/>
            </a:prstGeom>
            <a:solidFill>
              <a:srgbClr val="E5E7EB"/>
            </a:solidFill>
            <a:ln w="19050">
              <a:solidFill>
                <a:srgbClr val="E5E7E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9" name="Shape 37">
              <a:extLst>
                <a:ext uri="{FF2B5EF4-FFF2-40B4-BE49-F238E27FC236}">
                  <a16:creationId xmlns:a16="http://schemas.microsoft.com/office/drawing/2014/main" id="{E2360E68-B8F7-2482-5323-302D62745AEF}"/>
                </a:ext>
              </a:extLst>
            </p:cNvPr>
            <p:cNvSpPr/>
            <p:nvPr/>
          </p:nvSpPr>
          <p:spPr>
            <a:xfrm>
              <a:off x="8395729" y="6212838"/>
              <a:ext cx="2919971" cy="354731"/>
            </a:xfrm>
            <a:prstGeom prst="roundRect">
              <a:avLst>
                <a:gd name="adj" fmla="val 369004"/>
              </a:avLst>
            </a:prstGeom>
            <a:solidFill>
              <a:srgbClr val="ECFDF5"/>
            </a:solidFill>
            <a:ln w="12700">
              <a:solidFill>
                <a:srgbClr val="A7F3D0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171" name="Image 20" descr="preencoded.png">
              <a:extLst>
                <a:ext uri="{FF2B5EF4-FFF2-40B4-BE49-F238E27FC236}">
                  <a16:creationId xmlns:a16="http://schemas.microsoft.com/office/drawing/2014/main" id="{474DEEC5-2BE7-76C4-FE0D-462D7F1179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8452748" y="6277284"/>
              <a:ext cx="232980" cy="232550"/>
            </a:xfrm>
            <a:prstGeom prst="rect">
              <a:avLst/>
            </a:prstGeom>
          </p:spPr>
        </p:pic>
        <p:sp>
          <p:nvSpPr>
            <p:cNvPr id="170" name="Text 38">
              <a:extLst>
                <a:ext uri="{FF2B5EF4-FFF2-40B4-BE49-F238E27FC236}">
                  <a16:creationId xmlns:a16="http://schemas.microsoft.com/office/drawing/2014/main" id="{4C75F90C-72CB-EE81-6216-B289C00C1201}"/>
                </a:ext>
              </a:extLst>
            </p:cNvPr>
            <p:cNvSpPr/>
            <p:nvPr/>
          </p:nvSpPr>
          <p:spPr>
            <a:xfrm>
              <a:off x="8608438" y="6210213"/>
              <a:ext cx="2942470" cy="35473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114300" tIns="38100" rIns="114300" bIns="3810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04785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 次の一手が分かる</a:t>
              </a:r>
              <a:endParaRPr lang="en-US" sz="2400" dirty="0"/>
            </a:p>
          </p:txBody>
        </p:sp>
      </p:grpSp>
      <p:sp>
        <p:nvSpPr>
          <p:cNvPr id="175" name="Text 43">
            <a:extLst>
              <a:ext uri="{FF2B5EF4-FFF2-40B4-BE49-F238E27FC236}">
                <a16:creationId xmlns:a16="http://schemas.microsoft.com/office/drawing/2014/main" id="{35C7EA02-39D6-AF80-03EF-F0EB51857FB9}"/>
              </a:ext>
            </a:extLst>
          </p:cNvPr>
          <p:cNvSpPr txBox="1"/>
          <p:nvPr/>
        </p:nvSpPr>
        <p:spPr>
          <a:xfrm>
            <a:off x="1917352" y="557990"/>
            <a:ext cx="11621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34" dirty="0">
                <a:solidFill>
                  <a:srgbClr val="EFF6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通知を“作業につながる情報”に変えるだけで、業務効率が大きく変わる。</a:t>
            </a:r>
            <a:endParaRPr lang="en-US" sz="2400" b="1" dirty="0"/>
          </a:p>
        </p:txBody>
      </p:sp>
      <p:cxnSp>
        <p:nvCxnSpPr>
          <p:cNvPr id="177" name="直線矢印コネクタ 176">
            <a:extLst>
              <a:ext uri="{FF2B5EF4-FFF2-40B4-BE49-F238E27FC236}">
                <a16:creationId xmlns:a16="http://schemas.microsoft.com/office/drawing/2014/main" id="{42A2D3B6-5ACE-5708-5AA1-5073D41DB3D9}"/>
              </a:ext>
            </a:extLst>
          </p:cNvPr>
          <p:cNvCxnSpPr>
            <a:cxnSpLocks/>
            <a:endCxn id="103" idx="1"/>
          </p:cNvCxnSpPr>
          <p:nvPr/>
        </p:nvCxnSpPr>
        <p:spPr>
          <a:xfrm>
            <a:off x="2895941" y="1978105"/>
            <a:ext cx="1539333" cy="2496"/>
          </a:xfrm>
          <a:prstGeom prst="straightConnector1">
            <a:avLst/>
          </a:prstGeom>
          <a:ln w="98425">
            <a:solidFill>
              <a:srgbClr val="FFFF00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3" name="図 182" descr="The image depicts a simple, stylized representation of a human figure with two people in a heart shape, featuring a prominent 't' character on a purpl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10B2B4DF-639C-BD5A-D7BB-EF475F714C1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7417" b="90000" l="9583" r="90000">
                        <a14:foregroundMark x1="46000" y1="22500" x2="39417" y2="16917"/>
                        <a14:foregroundMark x1="48583" y1="15000" x2="47750" y2="18417"/>
                        <a14:foregroundMark x1="41083" y1="24750" x2="35500" y2="13667"/>
                        <a14:foregroundMark x1="35500" y1="13667" x2="46750" y2="12083"/>
                        <a14:foregroundMark x1="46750" y1="12083" x2="40167" y2="23417"/>
                        <a14:foregroundMark x1="40167" y1="23417" x2="31083" y2="16250"/>
                        <a14:foregroundMark x1="31083" y1="16250" x2="39333" y2="11583"/>
                        <a14:foregroundMark x1="39333" y1="11583" x2="41333" y2="20667"/>
                        <a14:foregroundMark x1="41333" y1="20667" x2="34500" y2="26417"/>
                        <a14:foregroundMark x1="34500" y1="26417" x2="31417" y2="16833"/>
                        <a14:foregroundMark x1="31417" y1="16833" x2="45083" y2="17250"/>
                        <a14:foregroundMark x1="45083" y1="17250" x2="42333" y2="26000"/>
                        <a14:foregroundMark x1="42333" y1="26000" x2="36167" y2="24167"/>
                        <a14:foregroundMark x1="79167" y1="32667" x2="76750" y2="18083"/>
                        <a14:foregroundMark x1="76750" y1="18083" x2="76250" y2="26000"/>
                        <a14:foregroundMark x1="76250" y1="26000" x2="68833" y2="29083"/>
                        <a14:foregroundMark x1="68833" y1="29083" x2="70167" y2="19083"/>
                        <a14:foregroundMark x1="70167" y1="19083" x2="69750" y2="27500"/>
                        <a14:foregroundMark x1="69750" y1="27500" x2="73833" y2="19833"/>
                        <a14:foregroundMark x1="73833" y1="19833" x2="68000" y2="27667"/>
                        <a14:foregroundMark x1="68000" y1="27667" x2="65333" y2="23417"/>
                        <a14:foregroundMark x1="39917" y1="7417" x2="39917" y2="7417"/>
                        <a14:foregroundMark x1="9583" y1="59167" x2="9583" y2="59167"/>
                        <a14:foregroundMark x1="25667" y1="58417" x2="25667" y2="58417"/>
                        <a14:foregroundMark x1="20500" y1="57583" x2="31917" y2="57917"/>
                        <a14:foregroundMark x1="26000" y1="58333" x2="28167" y2="65000"/>
                        <a14:foregroundMark x1="28167" y1="65000" x2="28500" y2="72667"/>
                        <a14:foregroundMark x1="28500" y1="72667" x2="27917" y2="73250"/>
                        <a14:foregroundMark x1="27167" y1="73417" x2="27167" y2="59583"/>
                        <a14:foregroundMark x1="25667" y1="60083" x2="25333" y2="72500"/>
                        <a14:foregroundMark x1="25333" y1="72500" x2="28750" y2="73417"/>
                        <a14:foregroundMark x1="85667" y1="47750" x2="86500" y2="501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92459" y="2802554"/>
            <a:ext cx="778631" cy="7786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8" name="図 187" descr="The image depicts a person dressed in a suit holding a piece of paper, smiling, and surrounded by small stars.&#10;&#10;AI 生成コンテンツは誤りを含む可能性があります。">
            <a:extLst>
              <a:ext uri="{FF2B5EF4-FFF2-40B4-BE49-F238E27FC236}">
                <a16:creationId xmlns:a16="http://schemas.microsoft.com/office/drawing/2014/main" id="{147D04CD-9815-E9DA-2638-A377C733C5B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39541" y="4954734"/>
            <a:ext cx="1788894" cy="1788894"/>
          </a:xfrm>
          <a:prstGeom prst="rect">
            <a:avLst/>
          </a:prstGeom>
        </p:spPr>
      </p:pic>
      <p:pic>
        <p:nvPicPr>
          <p:cNvPr id="186" name="図 185" descr="The image depicts a child sitting at a desk with a book open, a pencil in hand, and a slightly distressed facial expression.&#10;&#10;AI 生成コンテンツは誤りを含む可能性があります。">
            <a:extLst>
              <a:ext uri="{FF2B5EF4-FFF2-40B4-BE49-F238E27FC236}">
                <a16:creationId xmlns:a16="http://schemas.microsoft.com/office/drawing/2014/main" id="{71156F81-61A0-D3FD-D11C-FCC802528097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b="34192"/>
          <a:stretch>
            <a:fillRect/>
          </a:stretch>
        </p:blipFill>
        <p:spPr>
          <a:xfrm>
            <a:off x="2966395" y="5309364"/>
            <a:ext cx="1780809" cy="1171903"/>
          </a:xfrm>
          <a:prstGeom prst="rect">
            <a:avLst/>
          </a:prstGeom>
        </p:spPr>
      </p:pic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3B67C7BB-4DFF-BD8A-40AC-3288B419B8C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00319" y="2466414"/>
            <a:ext cx="663502" cy="663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9" name="Image 6" descr="preencoded.png">
            <a:extLst>
              <a:ext uri="{FF2B5EF4-FFF2-40B4-BE49-F238E27FC236}">
                <a16:creationId xmlns:a16="http://schemas.microsoft.com/office/drawing/2014/main" id="{399889EE-B3C6-E1F2-790B-2B9AA4D4C93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1233" r="-21233"/>
          <a:stretch/>
        </p:blipFill>
        <p:spPr>
          <a:xfrm>
            <a:off x="241262" y="4687905"/>
            <a:ext cx="762421" cy="713546"/>
          </a:xfrm>
          <a:prstGeom prst="rect">
            <a:avLst/>
          </a:prstGeom>
        </p:spPr>
      </p:pic>
      <p:pic>
        <p:nvPicPr>
          <p:cNvPr id="190" name="Image 6" descr="preencoded.png">
            <a:extLst>
              <a:ext uri="{FF2B5EF4-FFF2-40B4-BE49-F238E27FC236}">
                <a16:creationId xmlns:a16="http://schemas.microsoft.com/office/drawing/2014/main" id="{C576A2B3-8A18-8CA1-C7AA-B749FF3FD3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1233" r="-21233"/>
          <a:stretch/>
        </p:blipFill>
        <p:spPr>
          <a:xfrm>
            <a:off x="206263" y="5503446"/>
            <a:ext cx="762421" cy="713546"/>
          </a:xfrm>
          <a:prstGeom prst="rect">
            <a:avLst/>
          </a:prstGeom>
        </p:spPr>
      </p:pic>
      <p:pic>
        <p:nvPicPr>
          <p:cNvPr id="193" name="図 192" descr="The image depicts a simple, stylized representation of a human figure with two people in a heart shape, featuring a prominent 't' character on a purpl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63D1C7D0-090C-5B1F-8FC5-E20447B6FCB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7417" b="90000" l="9583" r="90000">
                        <a14:foregroundMark x1="46000" y1="22500" x2="39417" y2="16917"/>
                        <a14:foregroundMark x1="48583" y1="15000" x2="47750" y2="18417"/>
                        <a14:foregroundMark x1="41083" y1="24750" x2="35500" y2="13667"/>
                        <a14:foregroundMark x1="35500" y1="13667" x2="46750" y2="12083"/>
                        <a14:foregroundMark x1="46750" y1="12083" x2="40167" y2="23417"/>
                        <a14:foregroundMark x1="40167" y1="23417" x2="31083" y2="16250"/>
                        <a14:foregroundMark x1="31083" y1="16250" x2="39333" y2="11583"/>
                        <a14:foregroundMark x1="39333" y1="11583" x2="41333" y2="20667"/>
                        <a14:foregroundMark x1="41333" y1="20667" x2="34500" y2="26417"/>
                        <a14:foregroundMark x1="34500" y1="26417" x2="31417" y2="16833"/>
                        <a14:foregroundMark x1="31417" y1="16833" x2="45083" y2="17250"/>
                        <a14:foregroundMark x1="45083" y1="17250" x2="42333" y2="26000"/>
                        <a14:foregroundMark x1="42333" y1="26000" x2="36167" y2="24167"/>
                        <a14:foregroundMark x1="79167" y1="32667" x2="76750" y2="18083"/>
                        <a14:foregroundMark x1="76750" y1="18083" x2="76250" y2="26000"/>
                        <a14:foregroundMark x1="76250" y1="26000" x2="68833" y2="29083"/>
                        <a14:foregroundMark x1="68833" y1="29083" x2="70167" y2="19083"/>
                        <a14:foregroundMark x1="70167" y1="19083" x2="69750" y2="27500"/>
                        <a14:foregroundMark x1="69750" y1="27500" x2="73833" y2="19833"/>
                        <a14:foregroundMark x1="73833" y1="19833" x2="68000" y2="27667"/>
                        <a14:foregroundMark x1="68000" y1="27667" x2="65333" y2="23417"/>
                        <a14:foregroundMark x1="39917" y1="7417" x2="39917" y2="7417"/>
                        <a14:foregroundMark x1="9583" y1="59167" x2="9583" y2="59167"/>
                        <a14:foregroundMark x1="25667" y1="58417" x2="25667" y2="58417"/>
                        <a14:foregroundMark x1="20500" y1="57583" x2="31917" y2="57917"/>
                        <a14:foregroundMark x1="26000" y1="58333" x2="28167" y2="65000"/>
                        <a14:foregroundMark x1="28167" y1="65000" x2="28500" y2="72667"/>
                        <a14:foregroundMark x1="28500" y1="72667" x2="27917" y2="73250"/>
                        <a14:foregroundMark x1="27167" y1="73417" x2="27167" y2="59583"/>
                        <a14:foregroundMark x1="25667" y1="60083" x2="25333" y2="72500"/>
                        <a14:foregroundMark x1="25333" y1="72500" x2="28750" y2="73417"/>
                        <a14:foregroundMark x1="85667" y1="47750" x2="86500" y2="501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41611" y="2500637"/>
            <a:ext cx="778631" cy="7786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3019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9089F-A438-5BDE-8CF6-91CB772DD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26">
            <a:extLst>
              <a:ext uri="{FF2B5EF4-FFF2-40B4-BE49-F238E27FC236}">
                <a16:creationId xmlns:a16="http://schemas.microsoft.com/office/drawing/2014/main" id="{2D9D4541-F573-5B90-A0A8-CE4FC696D99A}"/>
              </a:ext>
            </a:extLst>
          </p:cNvPr>
          <p:cNvSpPr/>
          <p:nvPr/>
        </p:nvSpPr>
        <p:spPr>
          <a:xfrm>
            <a:off x="6193892" y="3596101"/>
            <a:ext cx="5910888" cy="805465"/>
          </a:xfrm>
          <a:prstGeom prst="roundRect">
            <a:avLst>
              <a:gd name="adj" fmla="val 17840"/>
            </a:avLst>
          </a:prstGeom>
          <a:solidFill>
            <a:srgbClr val="FFFFFF"/>
          </a:solidFill>
          <a:ln w="38100">
            <a:solidFill>
              <a:srgbClr val="4B5563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 sz="5400"/>
          </a:p>
        </p:txBody>
      </p:sp>
      <p:sp>
        <p:nvSpPr>
          <p:cNvPr id="42" name="Shape 26">
            <a:extLst>
              <a:ext uri="{FF2B5EF4-FFF2-40B4-BE49-F238E27FC236}">
                <a16:creationId xmlns:a16="http://schemas.microsoft.com/office/drawing/2014/main" id="{6D8A77DC-BE3F-4480-84BD-40FAE63B71FB}"/>
              </a:ext>
            </a:extLst>
          </p:cNvPr>
          <p:cNvSpPr/>
          <p:nvPr/>
        </p:nvSpPr>
        <p:spPr>
          <a:xfrm>
            <a:off x="223822" y="3601443"/>
            <a:ext cx="5910888" cy="805465"/>
          </a:xfrm>
          <a:prstGeom prst="roundRect">
            <a:avLst>
              <a:gd name="adj" fmla="val 17840"/>
            </a:avLst>
          </a:prstGeom>
          <a:solidFill>
            <a:srgbClr val="FFFFFF"/>
          </a:solidFill>
          <a:ln w="38100">
            <a:solidFill>
              <a:srgbClr val="4B5563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 sz="540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48FD9B31-404F-C67B-4627-CF7F68535426}"/>
              </a:ext>
            </a:extLst>
          </p:cNvPr>
          <p:cNvSpPr/>
          <p:nvPr/>
        </p:nvSpPr>
        <p:spPr>
          <a:xfrm>
            <a:off x="44269" y="-96796"/>
            <a:ext cx="11869945" cy="639483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9C6FA8B5-7C60-8905-DD11-B31986828321}"/>
              </a:ext>
            </a:extLst>
          </p:cNvPr>
          <p:cNvGrpSpPr/>
          <p:nvPr/>
        </p:nvGrpSpPr>
        <p:grpSpPr>
          <a:xfrm>
            <a:off x="188332" y="78173"/>
            <a:ext cx="1543203" cy="464514"/>
            <a:chOff x="188332" y="78173"/>
            <a:chExt cx="1543203" cy="464514"/>
          </a:xfrm>
        </p:grpSpPr>
        <p:sp>
          <p:nvSpPr>
            <p:cNvPr id="6" name="Shape 2">
              <a:extLst>
                <a:ext uri="{FF2B5EF4-FFF2-40B4-BE49-F238E27FC236}">
                  <a16:creationId xmlns:a16="http://schemas.microsoft.com/office/drawing/2014/main" id="{CD3CECAA-703F-9129-6A94-16AAA84C1BED}"/>
                </a:ext>
              </a:extLst>
            </p:cNvPr>
            <p:cNvSpPr/>
            <p:nvPr/>
          </p:nvSpPr>
          <p:spPr>
            <a:xfrm>
              <a:off x="188332" y="78173"/>
              <a:ext cx="1543203" cy="464514"/>
            </a:xfrm>
            <a:prstGeom prst="roundRect">
              <a:avLst>
                <a:gd name="adj" fmla="val 266667"/>
              </a:avLst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F35FD8F8-34FB-C79E-A12E-80641924B14B}"/>
                </a:ext>
              </a:extLst>
            </p:cNvPr>
            <p:cNvSpPr txBox="1"/>
            <p:nvPr/>
          </p:nvSpPr>
          <p:spPr>
            <a:xfrm>
              <a:off x="348708" y="184194"/>
              <a:ext cx="131762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kern="0" spc="38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Vol.24</a:t>
              </a:r>
              <a:endParaRPr lang="en-US" sz="3200" dirty="0"/>
            </a:p>
          </p:txBody>
        </p:sp>
      </p:grpSp>
      <p:sp>
        <p:nvSpPr>
          <p:cNvPr id="8" name="Text 4">
            <a:extLst>
              <a:ext uri="{FF2B5EF4-FFF2-40B4-BE49-F238E27FC236}">
                <a16:creationId xmlns:a16="http://schemas.microsoft.com/office/drawing/2014/main" id="{D314F2E2-5DCC-2BFD-4D02-B613BAD27983}"/>
              </a:ext>
            </a:extLst>
          </p:cNvPr>
          <p:cNvSpPr txBox="1"/>
          <p:nvPr/>
        </p:nvSpPr>
        <p:spPr>
          <a:xfrm>
            <a:off x="1802227" y="56054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Condition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（条件）は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『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質問をつくるアクション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』</a:t>
            </a:r>
            <a:endParaRPr lang="ja-JP" altLang="en-US" sz="3200" b="1" kern="0" spc="68">
              <a:solidFill>
                <a:srgbClr val="FFFFFF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CC63D302-17EF-2665-66E3-CDD3C3E99C5D}"/>
              </a:ext>
            </a:extLst>
          </p:cNvPr>
          <p:cNvSpPr/>
          <p:nvPr/>
        </p:nvSpPr>
        <p:spPr>
          <a:xfrm>
            <a:off x="44269" y="-50800"/>
            <a:ext cx="12103265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CFFBAFD6-B971-F7C5-E4A9-3D9978885719}"/>
              </a:ext>
            </a:extLst>
          </p:cNvPr>
          <p:cNvSpPr/>
          <p:nvPr/>
        </p:nvSpPr>
        <p:spPr>
          <a:xfrm>
            <a:off x="478905" y="694073"/>
            <a:ext cx="11473471" cy="506326"/>
          </a:xfrm>
          <a:prstGeom prst="roundRect">
            <a:avLst>
              <a:gd name="adj" fmla="val 5262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pic>
        <p:nvPicPr>
          <p:cNvPr id="9" name="図 8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18FC20A0-88E2-6F94-C1DD-0B184F7E9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91" y="581266"/>
            <a:ext cx="754462" cy="7544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 8">
            <a:extLst>
              <a:ext uri="{FF2B5EF4-FFF2-40B4-BE49-F238E27FC236}">
                <a16:creationId xmlns:a16="http://schemas.microsoft.com/office/drawing/2014/main" id="{6CE74D3D-1200-CDFA-8E3D-22750961F5F1}"/>
              </a:ext>
            </a:extLst>
          </p:cNvPr>
          <p:cNvSpPr txBox="1"/>
          <p:nvPr/>
        </p:nvSpPr>
        <p:spPr>
          <a:xfrm>
            <a:off x="1083185" y="727235"/>
            <a:ext cx="6754410" cy="462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▼ 3つの並びをイメージで覚える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FC0F3BB8-3F9B-C3BD-80E0-0CF6D74BD5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4163873" y="5707684"/>
            <a:ext cx="105156" cy="133502"/>
          </a:xfrm>
          <a:prstGeom prst="rect">
            <a:avLst/>
          </a:prstGeom>
        </p:spPr>
      </p:pic>
      <p:sp>
        <p:nvSpPr>
          <p:cNvPr id="17" name="Shape 21">
            <a:extLst>
              <a:ext uri="{FF2B5EF4-FFF2-40B4-BE49-F238E27FC236}">
                <a16:creationId xmlns:a16="http://schemas.microsoft.com/office/drawing/2014/main" id="{23FF919F-0C37-FB2E-A58C-42FF2E8C586E}"/>
              </a:ext>
            </a:extLst>
          </p:cNvPr>
          <p:cNvSpPr/>
          <p:nvPr/>
        </p:nvSpPr>
        <p:spPr>
          <a:xfrm>
            <a:off x="203115" y="2181837"/>
            <a:ext cx="3773196" cy="1203270"/>
          </a:xfrm>
          <a:prstGeom prst="roundRect">
            <a:avLst>
              <a:gd name="adj" fmla="val 24483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2563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 sz="5400"/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F11FA4CF-0A9C-5756-C8FF-AAF3DD94C19E}"/>
              </a:ext>
            </a:extLst>
          </p:cNvPr>
          <p:cNvSpPr txBox="1"/>
          <p:nvPr/>
        </p:nvSpPr>
        <p:spPr>
          <a:xfrm>
            <a:off x="1285213" y="2464555"/>
            <a:ext cx="2434931" cy="336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今の値</a:t>
            </a:r>
            <a:endParaRPr lang="en-US" sz="4000" dirty="0"/>
          </a:p>
        </p:txBody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2A4EE8A9-F617-BF3A-B327-EFD28A952CA2}"/>
              </a:ext>
            </a:extLst>
          </p:cNvPr>
          <p:cNvSpPr/>
          <p:nvPr/>
        </p:nvSpPr>
        <p:spPr>
          <a:xfrm>
            <a:off x="872946" y="2916293"/>
            <a:ext cx="2386467" cy="411031"/>
          </a:xfrm>
          <a:prstGeom prst="roundRect">
            <a:avLst>
              <a:gd name="adj" fmla="val 15879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5400"/>
          </a:p>
        </p:txBody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8EF1FF00-CD31-0D7E-5C01-0CED8C3149BC}"/>
              </a:ext>
            </a:extLst>
          </p:cNvPr>
          <p:cNvSpPr txBox="1"/>
          <p:nvPr/>
        </p:nvSpPr>
        <p:spPr>
          <a:xfrm>
            <a:off x="1197823" y="3001750"/>
            <a:ext cx="2287227" cy="24780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例：タイトル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Shape 26">
            <a:extLst>
              <a:ext uri="{FF2B5EF4-FFF2-40B4-BE49-F238E27FC236}">
                <a16:creationId xmlns:a16="http://schemas.microsoft.com/office/drawing/2014/main" id="{F34AFF47-1077-7DA0-F729-08364BE4DB90}"/>
              </a:ext>
            </a:extLst>
          </p:cNvPr>
          <p:cNvSpPr/>
          <p:nvPr/>
        </p:nvSpPr>
        <p:spPr>
          <a:xfrm>
            <a:off x="4462838" y="2151859"/>
            <a:ext cx="3390624" cy="1252749"/>
          </a:xfrm>
          <a:prstGeom prst="roundRect">
            <a:avLst>
              <a:gd name="adj" fmla="val 17840"/>
            </a:avLst>
          </a:prstGeom>
          <a:solidFill>
            <a:srgbClr val="FFFFFF"/>
          </a:solidFill>
          <a:ln w="38100">
            <a:solidFill>
              <a:srgbClr val="4B5563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 sz="5400"/>
          </a:p>
        </p:txBody>
      </p:sp>
      <p:sp>
        <p:nvSpPr>
          <p:cNvPr id="24" name="Text 28">
            <a:extLst>
              <a:ext uri="{FF2B5EF4-FFF2-40B4-BE49-F238E27FC236}">
                <a16:creationId xmlns:a16="http://schemas.microsoft.com/office/drawing/2014/main" id="{2E1AA54E-0B63-D7FD-BBD6-1DDCBD608B7B}"/>
              </a:ext>
            </a:extLst>
          </p:cNvPr>
          <p:cNvSpPr txBox="1"/>
          <p:nvPr/>
        </p:nvSpPr>
        <p:spPr>
          <a:xfrm>
            <a:off x="4981176" y="2544814"/>
            <a:ext cx="2800410" cy="25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質問（比較）</a:t>
            </a:r>
            <a:endParaRPr lang="en-US" sz="3600" dirty="0"/>
          </a:p>
        </p:txBody>
      </p:sp>
      <p:sp>
        <p:nvSpPr>
          <p:cNvPr id="25" name="Shape 29">
            <a:extLst>
              <a:ext uri="{FF2B5EF4-FFF2-40B4-BE49-F238E27FC236}">
                <a16:creationId xmlns:a16="http://schemas.microsoft.com/office/drawing/2014/main" id="{00318437-EAA5-CF4F-FD35-396FF3A3285C}"/>
              </a:ext>
            </a:extLst>
          </p:cNvPr>
          <p:cNvSpPr/>
          <p:nvPr/>
        </p:nvSpPr>
        <p:spPr>
          <a:xfrm>
            <a:off x="4851234" y="2953259"/>
            <a:ext cx="2697210" cy="382310"/>
          </a:xfrm>
          <a:prstGeom prst="roundRect">
            <a:avLst>
              <a:gd name="adj" fmla="val 158793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54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73DFBE0F-ECA6-3C57-0CB7-0ED2EB4F491A}"/>
              </a:ext>
            </a:extLst>
          </p:cNvPr>
          <p:cNvSpPr txBox="1"/>
          <p:nvPr/>
        </p:nvSpPr>
        <p:spPr>
          <a:xfrm>
            <a:off x="5260082" y="2913273"/>
            <a:ext cx="2361895" cy="5046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例：『を含む』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AEB76A51-DD27-1935-97D7-EB1596B05D72}"/>
              </a:ext>
            </a:extLst>
          </p:cNvPr>
          <p:cNvSpPr/>
          <p:nvPr/>
        </p:nvSpPr>
        <p:spPr>
          <a:xfrm>
            <a:off x="8460588" y="2136427"/>
            <a:ext cx="3524422" cy="1295224"/>
          </a:xfrm>
          <a:prstGeom prst="roundRect">
            <a:avLst>
              <a:gd name="adj" fmla="val 17600"/>
            </a:avLst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ja-JP" altLang="en-US" sz="5400"/>
          </a:p>
        </p:txBody>
      </p:sp>
      <p:sp>
        <p:nvSpPr>
          <p:cNvPr id="29" name="Text 33">
            <a:extLst>
              <a:ext uri="{FF2B5EF4-FFF2-40B4-BE49-F238E27FC236}">
                <a16:creationId xmlns:a16="http://schemas.microsoft.com/office/drawing/2014/main" id="{5FAA645A-DFE0-B2C5-CD24-FFD0D3296EA6}"/>
              </a:ext>
            </a:extLst>
          </p:cNvPr>
          <p:cNvSpPr txBox="1"/>
          <p:nvPr/>
        </p:nvSpPr>
        <p:spPr>
          <a:xfrm>
            <a:off x="9085002" y="2517216"/>
            <a:ext cx="299009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基準の値</a:t>
            </a:r>
            <a:endParaRPr lang="en-US" sz="4000" dirty="0"/>
          </a:p>
        </p:txBody>
      </p:sp>
      <p:sp>
        <p:nvSpPr>
          <p:cNvPr id="30" name="Shape 34">
            <a:extLst>
              <a:ext uri="{FF2B5EF4-FFF2-40B4-BE49-F238E27FC236}">
                <a16:creationId xmlns:a16="http://schemas.microsoft.com/office/drawing/2014/main" id="{4DED4E4F-B800-E15B-0FD1-11F283F69710}"/>
              </a:ext>
            </a:extLst>
          </p:cNvPr>
          <p:cNvSpPr/>
          <p:nvPr/>
        </p:nvSpPr>
        <p:spPr>
          <a:xfrm>
            <a:off x="8932070" y="2982623"/>
            <a:ext cx="2434169" cy="352010"/>
          </a:xfrm>
          <a:prstGeom prst="roundRect">
            <a:avLst>
              <a:gd name="adj" fmla="val 15879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5400"/>
          </a:p>
        </p:txBody>
      </p:sp>
      <p:sp>
        <p:nvSpPr>
          <p:cNvPr id="31" name="Text 35">
            <a:extLst>
              <a:ext uri="{FF2B5EF4-FFF2-40B4-BE49-F238E27FC236}">
                <a16:creationId xmlns:a16="http://schemas.microsoft.com/office/drawing/2014/main" id="{C8DE0200-93BE-A898-FC6D-53B68CA9391B}"/>
              </a:ext>
            </a:extLst>
          </p:cNvPr>
          <p:cNvSpPr txBox="1"/>
          <p:nvPr/>
        </p:nvSpPr>
        <p:spPr>
          <a:xfrm>
            <a:off x="9280984" y="2966293"/>
            <a:ext cx="2361895" cy="34472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例：『会議』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Text 37">
            <a:extLst>
              <a:ext uri="{FF2B5EF4-FFF2-40B4-BE49-F238E27FC236}">
                <a16:creationId xmlns:a16="http://schemas.microsoft.com/office/drawing/2014/main" id="{F101AEC5-9F39-D8D3-B390-245EF1B6CCC4}"/>
              </a:ext>
            </a:extLst>
          </p:cNvPr>
          <p:cNvSpPr txBox="1"/>
          <p:nvPr/>
        </p:nvSpPr>
        <p:spPr>
          <a:xfrm>
            <a:off x="6586053" y="5097538"/>
            <a:ext cx="3154302" cy="292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それ以外の処理</a:t>
            </a:r>
            <a:endParaRPr lang="en-US" sz="2800" dirty="0"/>
          </a:p>
        </p:txBody>
      </p:sp>
      <p:sp>
        <p:nvSpPr>
          <p:cNvPr id="36" name="Text 38">
            <a:extLst>
              <a:ext uri="{FF2B5EF4-FFF2-40B4-BE49-F238E27FC236}">
                <a16:creationId xmlns:a16="http://schemas.microsoft.com/office/drawing/2014/main" id="{D26E51F7-7497-5F3C-6C6D-C77BCD414630}"/>
              </a:ext>
            </a:extLst>
          </p:cNvPr>
          <p:cNvSpPr txBox="1"/>
          <p:nvPr/>
        </p:nvSpPr>
        <p:spPr>
          <a:xfrm>
            <a:off x="396269" y="3832431"/>
            <a:ext cx="1276966" cy="349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6A3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Yes</a:t>
            </a:r>
            <a:endParaRPr lang="en-US" sz="4800" dirty="0"/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CAF07F6C-7A16-8142-AF34-74C574939FCE}"/>
              </a:ext>
            </a:extLst>
          </p:cNvPr>
          <p:cNvSpPr txBox="1"/>
          <p:nvPr/>
        </p:nvSpPr>
        <p:spPr>
          <a:xfrm>
            <a:off x="1491277" y="3972737"/>
            <a:ext cx="4044449" cy="267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6A3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当て</a:t>
            </a:r>
            <a:r>
              <a:rPr lang="ja-JP" altLang="en-US" sz="2400" b="1">
                <a:solidFill>
                  <a:srgbClr val="16A3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はまったらコッチ！！</a:t>
            </a:r>
            <a:endParaRPr lang="en-US" sz="2400" dirty="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7E21867B-2A8B-7F21-7126-3E277BB5ADF4}"/>
              </a:ext>
            </a:extLst>
          </p:cNvPr>
          <p:cNvSpPr txBox="1"/>
          <p:nvPr/>
        </p:nvSpPr>
        <p:spPr>
          <a:xfrm>
            <a:off x="6499417" y="3886024"/>
            <a:ext cx="139450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</a:t>
            </a:r>
            <a:endParaRPr lang="en-US" sz="4800" dirty="0"/>
          </a:p>
        </p:txBody>
      </p:sp>
      <p:sp>
        <p:nvSpPr>
          <p:cNvPr id="41" name="Text 41">
            <a:extLst>
              <a:ext uri="{FF2B5EF4-FFF2-40B4-BE49-F238E27FC236}">
                <a16:creationId xmlns:a16="http://schemas.microsoft.com/office/drawing/2014/main" id="{5B50FE3D-5EA5-BCB9-845B-201C54C37EC4}"/>
              </a:ext>
            </a:extLst>
          </p:cNvPr>
          <p:cNvSpPr txBox="1"/>
          <p:nvPr/>
        </p:nvSpPr>
        <p:spPr>
          <a:xfrm>
            <a:off x="7402165" y="3997942"/>
            <a:ext cx="3446248" cy="23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それ以外</a:t>
            </a:r>
            <a:r>
              <a:rPr lang="ja-JP" altLang="en-US" sz="24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はコッチ！！</a:t>
            </a:r>
            <a:endParaRPr lang="en-US" sz="2400" dirty="0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1536E34E-B6A8-5114-CD4E-9DF0B19ACF7F}"/>
              </a:ext>
            </a:extLst>
          </p:cNvPr>
          <p:cNvSpPr txBox="1"/>
          <p:nvPr/>
        </p:nvSpPr>
        <p:spPr>
          <a:xfrm>
            <a:off x="606613" y="1988681"/>
            <a:ext cx="2434931" cy="382218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0" rIns="76200" bIns="0" rtlCol="0" anchor="ctr"/>
          <a:lstStyle/>
          <a:p>
            <a:pPr marL="0" indent="0" algn="ctr">
              <a:buNone/>
            </a:pPr>
            <a:r>
              <a:rPr lang="ja-JP" altLang="en-US" sz="2800" b="1">
                <a:solidFill>
                  <a:srgbClr val="2563EB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sz="28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左</a:t>
            </a:r>
            <a:r>
              <a:rPr lang="en-US" sz="2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：今の値</a:t>
            </a:r>
            <a:endParaRPr lang="en-US" sz="2800" dirty="0"/>
          </a:p>
        </p:txBody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8BB02A60-B4CA-8ED3-718C-DE2484F3A45A}"/>
              </a:ext>
            </a:extLst>
          </p:cNvPr>
          <p:cNvSpPr txBox="1"/>
          <p:nvPr/>
        </p:nvSpPr>
        <p:spPr>
          <a:xfrm>
            <a:off x="4175743" y="2057573"/>
            <a:ext cx="4135216" cy="248528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0" rIns="76200" bIns="0" rtlCol="0" anchor="ctr"/>
          <a:lstStyle/>
          <a:p>
            <a:pPr marL="0" indent="0" algn="ctr">
              <a:buNone/>
            </a:pPr>
            <a:r>
              <a:rPr lang="ja-JP" altLang="en-US" sz="2800" b="1">
                <a:solidFill>
                  <a:srgbClr val="4B5563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</a:t>
            </a:r>
            <a:r>
              <a:rPr lang="en-US" sz="28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真ん中</a:t>
            </a:r>
            <a:r>
              <a:rPr lang="en-US" sz="2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：聞きたい質問</a:t>
            </a:r>
            <a:endParaRPr lang="en-US" sz="2800" dirty="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B572DC49-51C2-ED65-680C-9EA519DE2DEE}"/>
              </a:ext>
            </a:extLst>
          </p:cNvPr>
          <p:cNvSpPr txBox="1"/>
          <p:nvPr/>
        </p:nvSpPr>
        <p:spPr>
          <a:xfrm>
            <a:off x="8731444" y="2068075"/>
            <a:ext cx="2679316" cy="19019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0" rIns="76200" bIns="0" rtlCol="0" anchor="ctr"/>
          <a:lstStyle/>
          <a:p>
            <a:pPr marL="0" indent="0" algn="ctr">
              <a:buNone/>
            </a:pPr>
            <a:r>
              <a:rPr lang="ja-JP" altLang="en-US" sz="2800" b="1">
                <a:solidFill>
                  <a:srgbClr val="2563EB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</a:t>
            </a:r>
            <a:r>
              <a:rPr lang="en-US" sz="28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右</a:t>
            </a:r>
            <a:r>
              <a:rPr lang="en-US" sz="2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：基準の値</a:t>
            </a:r>
            <a:endParaRPr lang="en-US" sz="2800" dirty="0"/>
          </a:p>
        </p:txBody>
      </p: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54E00EC9-6FAC-8D08-77DA-05BB13B332BF}"/>
              </a:ext>
            </a:extLst>
          </p:cNvPr>
          <p:cNvGrpSpPr/>
          <p:nvPr/>
        </p:nvGrpSpPr>
        <p:grpSpPr>
          <a:xfrm>
            <a:off x="95991" y="4443585"/>
            <a:ext cx="11979103" cy="2278014"/>
            <a:chOff x="95991" y="5037550"/>
            <a:chExt cx="11979103" cy="1699414"/>
          </a:xfrm>
        </p:grpSpPr>
        <p:sp>
          <p:nvSpPr>
            <p:cNvPr id="78" name="Shape 10">
              <a:extLst>
                <a:ext uri="{FF2B5EF4-FFF2-40B4-BE49-F238E27FC236}">
                  <a16:creationId xmlns:a16="http://schemas.microsoft.com/office/drawing/2014/main" id="{3D3A8348-8411-F564-3C91-20E9C66FD92C}"/>
                </a:ext>
              </a:extLst>
            </p:cNvPr>
            <p:cNvSpPr/>
            <p:nvPr/>
          </p:nvSpPr>
          <p:spPr>
            <a:xfrm>
              <a:off x="95991" y="5297998"/>
              <a:ext cx="5713474" cy="1427755"/>
            </a:xfrm>
            <a:prstGeom prst="roundRect">
              <a:avLst>
                <a:gd name="adj" fmla="val 8163"/>
              </a:avLst>
            </a:prstGeom>
            <a:solidFill>
              <a:srgbClr val="FEF2F2"/>
            </a:solidFill>
            <a:ln w="38100">
              <a:solidFill>
                <a:srgbClr val="C0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ja-JP" altLang="en-US" sz="4800"/>
            </a:p>
          </p:txBody>
        </p:sp>
        <p:pic>
          <p:nvPicPr>
            <p:cNvPr id="79" name="Image 4" descr="preencoded.png">
              <a:extLst>
                <a:ext uri="{FF2B5EF4-FFF2-40B4-BE49-F238E27FC236}">
                  <a16:creationId xmlns:a16="http://schemas.microsoft.com/office/drawing/2014/main" id="{EF286211-74EC-5617-787C-696A61EC3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-12" r="-12"/>
            <a:stretch/>
          </p:blipFill>
          <p:spPr>
            <a:xfrm>
              <a:off x="306837" y="5100296"/>
              <a:ext cx="3021343" cy="381118"/>
            </a:xfrm>
            <a:prstGeom prst="rect">
              <a:avLst/>
            </a:prstGeom>
            <a:ln>
              <a:noFill/>
            </a:ln>
          </p:spPr>
        </p:pic>
        <p:sp>
          <p:nvSpPr>
            <p:cNvPr id="80" name="Text 11">
              <a:extLst>
                <a:ext uri="{FF2B5EF4-FFF2-40B4-BE49-F238E27FC236}">
                  <a16:creationId xmlns:a16="http://schemas.microsoft.com/office/drawing/2014/main" id="{65A367F5-2008-F2D3-4561-E7BCA79A6C04}"/>
                </a:ext>
              </a:extLst>
            </p:cNvPr>
            <p:cNvSpPr txBox="1"/>
            <p:nvPr/>
          </p:nvSpPr>
          <p:spPr>
            <a:xfrm>
              <a:off x="502671" y="5114006"/>
              <a:ext cx="2712534" cy="325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ここで迷いがち…</a:t>
              </a:r>
              <a:endParaRPr lang="en-US" sz="2400" dirty="0"/>
            </a:p>
          </p:txBody>
        </p:sp>
        <p:pic>
          <p:nvPicPr>
            <p:cNvPr id="81" name="Image 5" descr="preencoded.png">
              <a:extLst>
                <a:ext uri="{FF2B5EF4-FFF2-40B4-BE49-F238E27FC236}">
                  <a16:creationId xmlns:a16="http://schemas.microsoft.com/office/drawing/2014/main" id="{88BA5C0A-6762-0F95-8B5E-A64345E00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-26256" r="-26256"/>
            <a:stretch/>
          </p:blipFill>
          <p:spPr>
            <a:xfrm>
              <a:off x="110912" y="5473935"/>
              <a:ext cx="735985" cy="492253"/>
            </a:xfrm>
            <a:prstGeom prst="rect">
              <a:avLst/>
            </a:prstGeom>
          </p:spPr>
        </p:pic>
        <p:sp>
          <p:nvSpPr>
            <p:cNvPr id="83" name="Text 12">
              <a:extLst>
                <a:ext uri="{FF2B5EF4-FFF2-40B4-BE49-F238E27FC236}">
                  <a16:creationId xmlns:a16="http://schemas.microsoft.com/office/drawing/2014/main" id="{C9D84EE1-7399-8B8C-1495-38889482BBF1}"/>
                </a:ext>
              </a:extLst>
            </p:cNvPr>
            <p:cNvSpPr txBox="1"/>
            <p:nvPr/>
          </p:nvSpPr>
          <p:spPr>
            <a:xfrm>
              <a:off x="738363" y="5525403"/>
              <a:ext cx="5485306" cy="3921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どれを選べばいいか分からない</a:t>
              </a:r>
              <a:endParaRPr lang="en-US" sz="2000" b="1" dirty="0"/>
            </a:p>
          </p:txBody>
        </p:sp>
        <p:sp>
          <p:nvSpPr>
            <p:cNvPr id="85" name="Text 13">
              <a:extLst>
                <a:ext uri="{FF2B5EF4-FFF2-40B4-BE49-F238E27FC236}">
                  <a16:creationId xmlns:a16="http://schemas.microsoft.com/office/drawing/2014/main" id="{02454480-58D6-1B3A-39CC-22100AA61298}"/>
                </a:ext>
              </a:extLst>
            </p:cNvPr>
            <p:cNvSpPr txBox="1"/>
            <p:nvPr/>
          </p:nvSpPr>
          <p:spPr>
            <a:xfrm>
              <a:off x="762114" y="5850235"/>
              <a:ext cx="5752490" cy="3631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左と右、どっちに何を入れるか毎回悩む</a:t>
              </a:r>
              <a:endParaRPr lang="en-US" sz="2000" b="1" dirty="0"/>
            </a:p>
          </p:txBody>
        </p:sp>
        <p:sp>
          <p:nvSpPr>
            <p:cNvPr id="88" name="Text 14">
              <a:extLst>
                <a:ext uri="{FF2B5EF4-FFF2-40B4-BE49-F238E27FC236}">
                  <a16:creationId xmlns:a16="http://schemas.microsoft.com/office/drawing/2014/main" id="{DAB2586E-0912-40E8-3F07-FCA7508F2841}"/>
                </a:ext>
              </a:extLst>
            </p:cNvPr>
            <p:cNvSpPr txBox="1"/>
            <p:nvPr/>
          </p:nvSpPr>
          <p:spPr>
            <a:xfrm>
              <a:off x="762114" y="6192386"/>
              <a:ext cx="6000975" cy="5078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Yes／No が「</a:t>
              </a:r>
              <a:r>
                <a:rPr lang="en-US" sz="2000" b="1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どんな意味の分かれ方か」</a:t>
              </a:r>
            </a:p>
            <a:p>
              <a:pPr marL="0" indent="0" algn="l">
                <a:buNone/>
              </a:pPr>
              <a:r>
                <a:rPr lang="en-US" sz="2000" b="1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イメージしづらい</a:t>
              </a:r>
              <a:endParaRPr lang="en-US" sz="2000" b="1" dirty="0"/>
            </a:p>
          </p:txBody>
        </p:sp>
        <p:sp>
          <p:nvSpPr>
            <p:cNvPr id="89" name="Shape 15">
              <a:extLst>
                <a:ext uri="{FF2B5EF4-FFF2-40B4-BE49-F238E27FC236}">
                  <a16:creationId xmlns:a16="http://schemas.microsoft.com/office/drawing/2014/main" id="{CA33A101-BEB9-C19B-5A83-DAEF502D2EBE}"/>
                </a:ext>
              </a:extLst>
            </p:cNvPr>
            <p:cNvSpPr/>
            <p:nvPr/>
          </p:nvSpPr>
          <p:spPr>
            <a:xfrm>
              <a:off x="6195541" y="5260941"/>
              <a:ext cx="5774405" cy="1476023"/>
            </a:xfrm>
            <a:prstGeom prst="roundRect">
              <a:avLst>
                <a:gd name="adj" fmla="val 8163"/>
              </a:avLst>
            </a:prstGeom>
            <a:solidFill>
              <a:srgbClr val="ECFDF5"/>
            </a:solidFill>
            <a:ln w="41275">
              <a:solidFill>
                <a:srgbClr val="166534"/>
              </a:solidFill>
              <a:prstDash val="solid"/>
            </a:ln>
          </p:spPr>
          <p:txBody>
            <a:bodyPr/>
            <a:lstStyle/>
            <a:p>
              <a:endParaRPr lang="ja-JP" altLang="en-US" sz="4800"/>
            </a:p>
          </p:txBody>
        </p:sp>
        <p:pic>
          <p:nvPicPr>
            <p:cNvPr id="90" name="Image 8" descr="preencoded.png">
              <a:extLst>
                <a:ext uri="{FF2B5EF4-FFF2-40B4-BE49-F238E27FC236}">
                  <a16:creationId xmlns:a16="http://schemas.microsoft.com/office/drawing/2014/main" id="{797E9FA9-2F10-DC95-6212-9C0354AA6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-4" b="-4"/>
            <a:stretch/>
          </p:blipFill>
          <p:spPr>
            <a:xfrm>
              <a:off x="6259903" y="5037550"/>
              <a:ext cx="4187823" cy="322257"/>
            </a:xfrm>
            <a:prstGeom prst="rect">
              <a:avLst/>
            </a:prstGeom>
          </p:spPr>
        </p:pic>
        <p:sp>
          <p:nvSpPr>
            <p:cNvPr id="91" name="Text 16">
              <a:extLst>
                <a:ext uri="{FF2B5EF4-FFF2-40B4-BE49-F238E27FC236}">
                  <a16:creationId xmlns:a16="http://schemas.microsoft.com/office/drawing/2014/main" id="{D077E456-6059-5774-4991-E90D2DBF032B}"/>
                </a:ext>
              </a:extLst>
            </p:cNvPr>
            <p:cNvSpPr txBox="1"/>
            <p:nvPr/>
          </p:nvSpPr>
          <p:spPr>
            <a:xfrm>
              <a:off x="6607759" y="5071142"/>
              <a:ext cx="391930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分かるとこうラクになる</a:t>
              </a:r>
              <a:endParaRPr lang="en-US" sz="2400" dirty="0"/>
            </a:p>
          </p:txBody>
        </p:sp>
        <p:pic>
          <p:nvPicPr>
            <p:cNvPr id="92" name="Image 9" descr="preencoded.png">
              <a:extLst>
                <a:ext uri="{FF2B5EF4-FFF2-40B4-BE49-F238E27FC236}">
                  <a16:creationId xmlns:a16="http://schemas.microsoft.com/office/drawing/2014/main" id="{16D6DAF8-1AF4-2457-77BB-0990E340E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-15362" r="-15362"/>
            <a:stretch/>
          </p:blipFill>
          <p:spPr>
            <a:xfrm>
              <a:off x="6202589" y="5427336"/>
              <a:ext cx="410630" cy="358991"/>
            </a:xfrm>
            <a:prstGeom prst="rect">
              <a:avLst/>
            </a:prstGeom>
          </p:spPr>
        </p:pic>
        <p:sp>
          <p:nvSpPr>
            <p:cNvPr id="94" name="Text 17">
              <a:extLst>
                <a:ext uri="{FF2B5EF4-FFF2-40B4-BE49-F238E27FC236}">
                  <a16:creationId xmlns:a16="http://schemas.microsoft.com/office/drawing/2014/main" id="{D8AEFAB1-F3BC-9671-5BF0-98D44404BF7F}"/>
                </a:ext>
              </a:extLst>
            </p:cNvPr>
            <p:cNvSpPr txBox="1"/>
            <p:nvPr/>
          </p:nvSpPr>
          <p:spPr>
            <a:xfrm>
              <a:off x="6622210" y="5479262"/>
              <a:ext cx="5436551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画面で</a:t>
              </a:r>
              <a:r>
                <a:rPr lang="en-US" sz="2000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「</a:t>
              </a:r>
              <a:r>
                <a:rPr lang="en-US" sz="2000" b="1" dirty="0">
                  <a:solidFill>
                    <a:srgbClr val="16A34A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何を聞いている条件か</a:t>
              </a:r>
              <a:r>
                <a:rPr lang="en-US" sz="2000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」読み取れる</a:t>
              </a:r>
              <a:endParaRPr lang="en-US" sz="2000" b="1" dirty="0"/>
            </a:p>
          </p:txBody>
        </p:sp>
        <p:sp>
          <p:nvSpPr>
            <p:cNvPr id="96" name="Text 18">
              <a:extLst>
                <a:ext uri="{FF2B5EF4-FFF2-40B4-BE49-F238E27FC236}">
                  <a16:creationId xmlns:a16="http://schemas.microsoft.com/office/drawing/2014/main" id="{C63C6081-E79F-63B7-FFB0-7104B82754AB}"/>
                </a:ext>
              </a:extLst>
            </p:cNvPr>
            <p:cNvSpPr txBox="1"/>
            <p:nvPr/>
          </p:nvSpPr>
          <p:spPr>
            <a:xfrm>
              <a:off x="6511181" y="5907277"/>
              <a:ext cx="5074485" cy="3092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「担当者｜等しい｜自分の名前」</a:t>
              </a:r>
              <a:r>
                <a:rPr lang="en-US" sz="2000" b="1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など、</a:t>
              </a:r>
            </a:p>
            <a:p>
              <a:pPr marL="0" indent="0" algn="l">
                <a:buNone/>
              </a:pPr>
              <a:r>
                <a:rPr lang="ja-JP" altLang="en-US" sz="2000" b="1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　</a:t>
              </a:r>
              <a:r>
                <a:rPr lang="en-US" sz="2000" b="1">
                  <a:solidFill>
                    <a:srgbClr val="16A34A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シンプルな条件</a:t>
              </a:r>
              <a:r>
                <a:rPr lang="en-US" sz="2000" b="1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を自分で作れる</a:t>
              </a:r>
              <a:endParaRPr lang="en-US" sz="2000" b="1" dirty="0"/>
            </a:p>
          </p:txBody>
        </p:sp>
        <p:sp>
          <p:nvSpPr>
            <p:cNvPr id="101" name="Text 19">
              <a:extLst>
                <a:ext uri="{FF2B5EF4-FFF2-40B4-BE49-F238E27FC236}">
                  <a16:creationId xmlns:a16="http://schemas.microsoft.com/office/drawing/2014/main" id="{387FEDC0-D54B-142F-12B6-555DD915D64B}"/>
                </a:ext>
              </a:extLst>
            </p:cNvPr>
            <p:cNvSpPr txBox="1"/>
            <p:nvPr/>
          </p:nvSpPr>
          <p:spPr>
            <a:xfrm>
              <a:off x="6589608" y="6339617"/>
              <a:ext cx="5485486" cy="3128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「</a:t>
              </a:r>
              <a:r>
                <a:rPr lang="en-US" sz="2000" b="1" dirty="0">
                  <a:solidFill>
                    <a:srgbClr val="16A34A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どんな処理を分けたいか</a:t>
              </a:r>
              <a:r>
                <a:rPr lang="en-US" sz="2000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」考えやすくなる</a:t>
              </a:r>
              <a:endParaRPr lang="en-US" sz="2000" b="1" dirty="0"/>
            </a:p>
          </p:txBody>
        </p:sp>
        <p:pic>
          <p:nvPicPr>
            <p:cNvPr id="116" name="Image 5" descr="preencoded.png">
              <a:extLst>
                <a:ext uri="{FF2B5EF4-FFF2-40B4-BE49-F238E27FC236}">
                  <a16:creationId xmlns:a16="http://schemas.microsoft.com/office/drawing/2014/main" id="{FA0CA480-01D6-9C83-A25B-10862BF2F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-26256" r="-26256"/>
            <a:stretch/>
          </p:blipFill>
          <p:spPr>
            <a:xfrm>
              <a:off x="110912" y="5803213"/>
              <a:ext cx="735985" cy="492253"/>
            </a:xfrm>
            <a:prstGeom prst="rect">
              <a:avLst/>
            </a:prstGeom>
          </p:spPr>
        </p:pic>
        <p:pic>
          <p:nvPicPr>
            <p:cNvPr id="117" name="Image 5" descr="preencoded.png">
              <a:extLst>
                <a:ext uri="{FF2B5EF4-FFF2-40B4-BE49-F238E27FC236}">
                  <a16:creationId xmlns:a16="http://schemas.microsoft.com/office/drawing/2014/main" id="{55B5C425-9CC6-4027-1804-0233618271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-26256" r="-26256"/>
            <a:stretch/>
          </p:blipFill>
          <p:spPr>
            <a:xfrm>
              <a:off x="110912" y="6142005"/>
              <a:ext cx="735985" cy="492253"/>
            </a:xfrm>
            <a:prstGeom prst="rect">
              <a:avLst/>
            </a:prstGeom>
          </p:spPr>
        </p:pic>
      </p:grpSp>
      <p:pic>
        <p:nvPicPr>
          <p:cNvPr id="119" name="Image 9" descr="preencoded.png">
            <a:extLst>
              <a:ext uri="{FF2B5EF4-FFF2-40B4-BE49-F238E27FC236}">
                <a16:creationId xmlns:a16="http://schemas.microsoft.com/office/drawing/2014/main" id="{7D6DC578-8F3A-4D30-ED40-60C1CB7AA91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5362" r="-15362"/>
          <a:stretch/>
        </p:blipFill>
        <p:spPr>
          <a:xfrm>
            <a:off x="6209140" y="5477393"/>
            <a:ext cx="437092" cy="512228"/>
          </a:xfrm>
          <a:prstGeom prst="rect">
            <a:avLst/>
          </a:prstGeom>
        </p:spPr>
      </p:pic>
      <p:pic>
        <p:nvPicPr>
          <p:cNvPr id="120" name="Image 9" descr="preencoded.png">
            <a:extLst>
              <a:ext uri="{FF2B5EF4-FFF2-40B4-BE49-F238E27FC236}">
                <a16:creationId xmlns:a16="http://schemas.microsoft.com/office/drawing/2014/main" id="{4FCC10F0-36A2-D525-70EB-64E09D27336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5362" r="-15362"/>
          <a:stretch/>
        </p:blipFill>
        <p:spPr>
          <a:xfrm>
            <a:off x="6210576" y="6081795"/>
            <a:ext cx="437092" cy="512228"/>
          </a:xfrm>
          <a:prstGeom prst="rect">
            <a:avLst/>
          </a:prstGeom>
        </p:spPr>
      </p:pic>
      <p:pic>
        <p:nvPicPr>
          <p:cNvPr id="124" name="図 123">
            <a:extLst>
              <a:ext uri="{FF2B5EF4-FFF2-40B4-BE49-F238E27FC236}">
                <a16:creationId xmlns:a16="http://schemas.microsoft.com/office/drawing/2014/main" id="{37E2F724-A857-6172-E2EE-73566F0F5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2735" y="1208911"/>
            <a:ext cx="8884241" cy="659376"/>
          </a:xfrm>
          <a:prstGeom prst="rect">
            <a:avLst/>
          </a:prstGeom>
          <a:ln w="31750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122" name="図 121">
            <a:extLst>
              <a:ext uri="{FF2B5EF4-FFF2-40B4-BE49-F238E27FC236}">
                <a16:creationId xmlns:a16="http://schemas.microsoft.com/office/drawing/2014/main" id="{3BFF6F5F-41E7-CFCD-B4AB-06E18C5E77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7676" y="761100"/>
            <a:ext cx="1752389" cy="74476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3" name="Text 23">
            <a:extLst>
              <a:ext uri="{FF2B5EF4-FFF2-40B4-BE49-F238E27FC236}">
                <a16:creationId xmlns:a16="http://schemas.microsoft.com/office/drawing/2014/main" id="{142BCBE0-05B8-D28D-E59A-D8F0D104DB57}"/>
              </a:ext>
            </a:extLst>
          </p:cNvPr>
          <p:cNvSpPr txBox="1"/>
          <p:nvPr/>
        </p:nvSpPr>
        <p:spPr>
          <a:xfrm>
            <a:off x="1666333" y="1221268"/>
            <a:ext cx="520132" cy="42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highlight>
                  <a:srgbClr val="FFFF00"/>
                </a:highlight>
              </a:rPr>
              <a:t>①</a:t>
            </a:r>
            <a:endParaRPr lang="en-US" sz="2400" b="1" dirty="0">
              <a:highlight>
                <a:srgbClr val="FFFF00"/>
              </a:highlight>
            </a:endParaRPr>
          </a:p>
        </p:txBody>
      </p:sp>
      <p:sp>
        <p:nvSpPr>
          <p:cNvPr id="4" name="Text 23">
            <a:extLst>
              <a:ext uri="{FF2B5EF4-FFF2-40B4-BE49-F238E27FC236}">
                <a16:creationId xmlns:a16="http://schemas.microsoft.com/office/drawing/2014/main" id="{64C2950A-B5CF-A56B-6AD0-0A710254E0D6}"/>
              </a:ext>
            </a:extLst>
          </p:cNvPr>
          <p:cNvSpPr txBox="1"/>
          <p:nvPr/>
        </p:nvSpPr>
        <p:spPr>
          <a:xfrm>
            <a:off x="4852509" y="1258071"/>
            <a:ext cx="520132" cy="42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highlight>
                  <a:srgbClr val="FFFF00"/>
                </a:highlight>
              </a:rPr>
              <a:t>②</a:t>
            </a:r>
            <a:endParaRPr lang="en-US" sz="2400" b="1" dirty="0">
              <a:highlight>
                <a:srgbClr val="FFFF00"/>
              </a:highlight>
            </a:endParaRPr>
          </a:p>
        </p:txBody>
      </p:sp>
      <p:sp>
        <p:nvSpPr>
          <p:cNvPr id="11" name="Text 23">
            <a:extLst>
              <a:ext uri="{FF2B5EF4-FFF2-40B4-BE49-F238E27FC236}">
                <a16:creationId xmlns:a16="http://schemas.microsoft.com/office/drawing/2014/main" id="{AC84C1D8-C8BA-BD07-DED6-9D56F613B911}"/>
              </a:ext>
            </a:extLst>
          </p:cNvPr>
          <p:cNvSpPr txBox="1"/>
          <p:nvPr/>
        </p:nvSpPr>
        <p:spPr>
          <a:xfrm>
            <a:off x="7073341" y="1258071"/>
            <a:ext cx="520132" cy="42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highlight>
                  <a:srgbClr val="FFFF00"/>
                </a:highlight>
              </a:rPr>
              <a:t>③</a:t>
            </a:r>
            <a:endParaRPr lang="en-US" sz="2400" b="1" dirty="0">
              <a:highlight>
                <a:srgbClr val="FFFF00"/>
              </a:highlight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51AF52BB-819F-B63B-0C50-D8A296317CCB}"/>
              </a:ext>
            </a:extLst>
          </p:cNvPr>
          <p:cNvCxnSpPr>
            <a:cxnSpLocks/>
          </p:cNvCxnSpPr>
          <p:nvPr/>
        </p:nvCxnSpPr>
        <p:spPr>
          <a:xfrm>
            <a:off x="4269029" y="3311022"/>
            <a:ext cx="0" cy="432741"/>
          </a:xfrm>
          <a:prstGeom prst="straightConnector1">
            <a:avLst/>
          </a:prstGeom>
          <a:ln w="98425">
            <a:solidFill>
              <a:srgbClr val="FFFF00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C2977302-EDBB-4925-B07D-1148F9D95750}"/>
              </a:ext>
            </a:extLst>
          </p:cNvPr>
          <p:cNvCxnSpPr>
            <a:cxnSpLocks/>
          </p:cNvCxnSpPr>
          <p:nvPr/>
        </p:nvCxnSpPr>
        <p:spPr>
          <a:xfrm>
            <a:off x="8253200" y="3365759"/>
            <a:ext cx="0" cy="432741"/>
          </a:xfrm>
          <a:prstGeom prst="straightConnector1">
            <a:avLst/>
          </a:prstGeom>
          <a:ln w="98425">
            <a:solidFill>
              <a:srgbClr val="FFFF00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The image depicts a cartoon character dressed in a business suit, holding a pointer.&#10;&#10;AI 生成コンテンツは誤りを含む可能性があります。">
            <a:extLst>
              <a:ext uri="{FF2B5EF4-FFF2-40B4-BE49-F238E27FC236}">
                <a16:creationId xmlns:a16="http://schemas.microsoft.com/office/drawing/2014/main" id="{88A5CA6D-C5B2-5F87-59A7-65277DA3368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41092"/>
          <a:stretch>
            <a:fillRect/>
          </a:stretch>
        </p:blipFill>
        <p:spPr>
          <a:xfrm>
            <a:off x="3070866" y="2672170"/>
            <a:ext cx="1350148" cy="7953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FBDAF667-7E2C-DED3-4264-952DBEC4E8C1}"/>
              </a:ext>
            </a:extLst>
          </p:cNvPr>
          <p:cNvCxnSpPr>
            <a:cxnSpLocks/>
          </p:cNvCxnSpPr>
          <p:nvPr/>
        </p:nvCxnSpPr>
        <p:spPr>
          <a:xfrm>
            <a:off x="4233716" y="1362878"/>
            <a:ext cx="458244" cy="5002"/>
          </a:xfrm>
          <a:prstGeom prst="straightConnector1">
            <a:avLst/>
          </a:prstGeom>
          <a:ln w="82550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C37EDC65-5EA0-743F-922C-AF8C7C3B4CEF}"/>
              </a:ext>
            </a:extLst>
          </p:cNvPr>
          <p:cNvCxnSpPr>
            <a:cxnSpLocks/>
          </p:cNvCxnSpPr>
          <p:nvPr/>
        </p:nvCxnSpPr>
        <p:spPr>
          <a:xfrm>
            <a:off x="6591538" y="1367880"/>
            <a:ext cx="458244" cy="5002"/>
          </a:xfrm>
          <a:prstGeom prst="straightConnector1">
            <a:avLst/>
          </a:prstGeom>
          <a:ln w="82550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08C255E0-48F1-8002-4A9D-F53DFB094545}"/>
              </a:ext>
            </a:extLst>
          </p:cNvPr>
          <p:cNvCxnSpPr>
            <a:cxnSpLocks/>
          </p:cNvCxnSpPr>
          <p:nvPr/>
        </p:nvCxnSpPr>
        <p:spPr>
          <a:xfrm flipV="1">
            <a:off x="3623669" y="2166875"/>
            <a:ext cx="596482" cy="1987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87F81A33-3041-DABF-351A-AED42A1E6B30}"/>
              </a:ext>
            </a:extLst>
          </p:cNvPr>
          <p:cNvCxnSpPr>
            <a:cxnSpLocks/>
          </p:cNvCxnSpPr>
          <p:nvPr/>
        </p:nvCxnSpPr>
        <p:spPr>
          <a:xfrm flipV="1">
            <a:off x="8297775" y="2134440"/>
            <a:ext cx="596482" cy="1987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図 61" descr="The image depicts a cartoon character with a blue shirt, blue eyes, and a patterned face with tears and a mischievous smile.&#10;&#10;AI 生成コンテンツは誤りを含む可能性があります。">
            <a:extLst>
              <a:ext uri="{FF2B5EF4-FFF2-40B4-BE49-F238E27FC236}">
                <a16:creationId xmlns:a16="http://schemas.microsoft.com/office/drawing/2014/main" id="{DC8BBEB3-9F1B-D793-3D3A-9A7B107ECC9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86582" y="5785105"/>
            <a:ext cx="764738" cy="1033430"/>
          </a:xfrm>
          <a:prstGeom prst="rect">
            <a:avLst/>
          </a:prstGeom>
        </p:spPr>
      </p:pic>
      <p:pic>
        <p:nvPicPr>
          <p:cNvPr id="64" name="図 63" descr="The image depicts a simple, cartoon-style character with a blue shirt and dark hair, presenting a friendly, cartoon face.&#10;&#10;AI 生成コンテンツは誤りを含む可能性があります。">
            <a:extLst>
              <a:ext uri="{FF2B5EF4-FFF2-40B4-BE49-F238E27FC236}">
                <a16:creationId xmlns:a16="http://schemas.microsoft.com/office/drawing/2014/main" id="{D8F53748-D978-DCC6-FC97-A076C41AD58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10552" y="5753517"/>
            <a:ext cx="691490" cy="934446"/>
          </a:xfrm>
          <a:prstGeom prst="rect">
            <a:avLst/>
          </a:prstGeom>
        </p:spPr>
      </p:pic>
      <p:pic>
        <p:nvPicPr>
          <p:cNvPr id="66" name="図 65" descr="The image depicts a cute, cartoonish cat holding a target with a cheerful expression.&#10;&#10;AI 生成コンテンツは誤りを含む可能性があります。">
            <a:extLst>
              <a:ext uri="{FF2B5EF4-FFF2-40B4-BE49-F238E27FC236}">
                <a16:creationId xmlns:a16="http://schemas.microsoft.com/office/drawing/2014/main" id="{C6E36640-663B-C0F4-9C26-63948D0FA4C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57037" y="3421099"/>
            <a:ext cx="965216" cy="1016016"/>
          </a:xfrm>
          <a:prstGeom prst="rect">
            <a:avLst/>
          </a:prstGeom>
        </p:spPr>
      </p:pic>
      <p:pic>
        <p:nvPicPr>
          <p:cNvPr id="70" name="図 69" descr="The image depicts a gray cartoon cat with a red circle and cross, holding a magnifying glass.&#10;&#10;AI 生成コンテンツは誤りを含む可能性があります。">
            <a:extLst>
              <a:ext uri="{FF2B5EF4-FFF2-40B4-BE49-F238E27FC236}">
                <a16:creationId xmlns:a16="http://schemas.microsoft.com/office/drawing/2014/main" id="{2B623C0A-21C5-80D0-5777-24769035356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59898" y="3378200"/>
            <a:ext cx="1051536" cy="110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507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四角形: 角を丸くする 100">
            <a:extLst>
              <a:ext uri="{FF2B5EF4-FFF2-40B4-BE49-F238E27FC236}">
                <a16:creationId xmlns:a16="http://schemas.microsoft.com/office/drawing/2014/main" id="{E88749F8-6871-4D17-065E-F130EF1043F4}"/>
              </a:ext>
            </a:extLst>
          </p:cNvPr>
          <p:cNvSpPr/>
          <p:nvPr/>
        </p:nvSpPr>
        <p:spPr>
          <a:xfrm>
            <a:off x="3294911" y="1514752"/>
            <a:ext cx="5629455" cy="3941292"/>
          </a:xfrm>
          <a:prstGeom prst="roundRect">
            <a:avLst>
              <a:gd name="adj" fmla="val 3422"/>
            </a:avLst>
          </a:prstGeom>
          <a:noFill/>
          <a:ln w="317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0" name="四角形: 角を丸くする 99">
            <a:extLst>
              <a:ext uri="{FF2B5EF4-FFF2-40B4-BE49-F238E27FC236}">
                <a16:creationId xmlns:a16="http://schemas.microsoft.com/office/drawing/2014/main" id="{86C47B32-C0D3-10A7-0FCD-CC1611884B64}"/>
              </a:ext>
            </a:extLst>
          </p:cNvPr>
          <p:cNvSpPr/>
          <p:nvPr/>
        </p:nvSpPr>
        <p:spPr>
          <a:xfrm>
            <a:off x="190354" y="1792857"/>
            <a:ext cx="3009726" cy="3492909"/>
          </a:xfrm>
          <a:prstGeom prst="roundRect">
            <a:avLst>
              <a:gd name="adj" fmla="val 6483"/>
            </a:avLst>
          </a:prstGeom>
          <a:noFill/>
          <a:ln w="31750">
            <a:solidFill>
              <a:srgbClr val="00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四角形: 角を丸くする 95">
            <a:extLst>
              <a:ext uri="{FF2B5EF4-FFF2-40B4-BE49-F238E27FC236}">
                <a16:creationId xmlns:a16="http://schemas.microsoft.com/office/drawing/2014/main" id="{CE514C33-3F27-A3FB-B990-0ED2FC3DBB86}"/>
              </a:ext>
            </a:extLst>
          </p:cNvPr>
          <p:cNvSpPr/>
          <p:nvPr/>
        </p:nvSpPr>
        <p:spPr>
          <a:xfrm>
            <a:off x="9010650" y="1775454"/>
            <a:ext cx="2993018" cy="3578604"/>
          </a:xfrm>
          <a:prstGeom prst="roundRect">
            <a:avLst>
              <a:gd name="adj" fmla="val 6483"/>
            </a:avLst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Shape 1">
            <a:extLst>
              <a:ext uri="{FF2B5EF4-FFF2-40B4-BE49-F238E27FC236}">
                <a16:creationId xmlns:a16="http://schemas.microsoft.com/office/drawing/2014/main" id="{C2E1D9AD-8F30-7B09-4B34-50BBD0132392}"/>
              </a:ext>
            </a:extLst>
          </p:cNvPr>
          <p:cNvSpPr/>
          <p:nvPr/>
        </p:nvSpPr>
        <p:spPr>
          <a:xfrm>
            <a:off x="-51325" y="9971"/>
            <a:ext cx="12243325" cy="646568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1917446" y="23774"/>
            <a:ext cx="807054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</a:t>
            </a:r>
            <a:r>
              <a:rPr lang="ja-JP" altLang="en-US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</a:t>
            </a:r>
            <a:r>
              <a:rPr lang="en-US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翌月</a:t>
            </a:r>
            <a:r>
              <a:rPr lang="en-US" sz="2700" b="1" kern="0" spc="-67" dirty="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1日を毎月自動で出す方法 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95605" y="1244143"/>
            <a:ext cx="11430000" cy="3840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 txBox="1"/>
          <p:nvPr/>
        </p:nvSpPr>
        <p:spPr>
          <a:xfrm>
            <a:off x="722200" y="679322"/>
            <a:ext cx="11636756" cy="562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</a:t>
            </a:r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</a:t>
            </a:r>
            <a:r>
              <a:rPr lang="en-US" sz="2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月末 → +1日</a:t>
            </a:r>
            <a:r>
              <a:rPr lang="en-US" sz="28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」のシンプル発想</a:t>
            </a:r>
            <a:r>
              <a:rPr lang="ja-JP" altLang="en-US" sz="28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r>
              <a:rPr lang="en-US" sz="28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翌月処理が一番安定する</a:t>
            </a:r>
            <a:r>
              <a:rPr lang="en-US" sz="2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 </a:t>
            </a:r>
            <a:endParaRPr lang="en-US" sz="2800" b="1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200396" y="1728673"/>
            <a:ext cx="2982976" cy="3552444"/>
          </a:xfrm>
          <a:prstGeom prst="rect">
            <a:avLst/>
          </a:prstGeom>
          <a:ln>
            <a:noFill/>
          </a:ln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188332" y="1736425"/>
            <a:ext cx="2995508" cy="16287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57628" y="1347694"/>
            <a:ext cx="3048005" cy="32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どんな時に必要？ </a:t>
            </a:r>
            <a:endParaRPr lang="en-US" sz="2800" dirty="0"/>
          </a:p>
        </p:txBody>
      </p:sp>
      <p:sp>
        <p:nvSpPr>
          <p:cNvPr id="15" name="Text 8"/>
          <p:cNvSpPr txBox="1"/>
          <p:nvPr/>
        </p:nvSpPr>
        <p:spPr>
          <a:xfrm>
            <a:off x="812190" y="1944342"/>
            <a:ext cx="23609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翌月の定例会案内を</a:t>
            </a:r>
            <a:endParaRPr lang="en-US" b="1" dirty="0"/>
          </a:p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自動送信したい</a:t>
            </a:r>
            <a:endParaRPr lang="en-US" b="1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342455" y="2025497"/>
            <a:ext cx="306300" cy="357757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26402" y="2689221"/>
            <a:ext cx="32296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翌月フォルダや</a:t>
            </a:r>
            <a:endParaRPr lang="en-US" b="1" dirty="0"/>
          </a:p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ファイル名を自動生成</a:t>
            </a:r>
            <a:endParaRPr lang="en-US" b="1" dirty="0"/>
          </a:p>
        </p:txBody>
      </p:sp>
      <p:sp>
        <p:nvSpPr>
          <p:cNvPr id="19" name="Text 10"/>
          <p:cNvSpPr txBox="1"/>
          <p:nvPr/>
        </p:nvSpPr>
        <p:spPr>
          <a:xfrm>
            <a:off x="797000" y="3446797"/>
            <a:ext cx="31466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月初処理の開始日を</a:t>
            </a:r>
            <a:endParaRPr lang="en-US" b="1" dirty="0"/>
          </a:p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自動判定したい</a:t>
            </a:r>
            <a:endParaRPr lang="en-US" b="1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6"/>
          <a:srcRect l="-19" r="-19"/>
          <a:stretch/>
        </p:blipFill>
        <p:spPr>
          <a:xfrm>
            <a:off x="308932" y="4295850"/>
            <a:ext cx="2759929" cy="780898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36219" y="4171328"/>
            <a:ext cx="1145567" cy="324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0A5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Point</a:t>
            </a:r>
            <a:endParaRPr lang="en-US" dirty="0"/>
          </a:p>
        </p:txBody>
      </p:sp>
      <p:sp>
        <p:nvSpPr>
          <p:cNvPr id="23" name="Text 12"/>
          <p:cNvSpPr txBox="1"/>
          <p:nvPr/>
        </p:nvSpPr>
        <p:spPr>
          <a:xfrm>
            <a:off x="259627" y="4372014"/>
            <a:ext cx="2897022" cy="689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“翌月1日” は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処理開始の必須条件！</a:t>
            </a:r>
            <a:endParaRPr lang="en-US" sz="2000" dirty="0"/>
          </a:p>
        </p:txBody>
      </p:sp>
      <p:sp>
        <p:nvSpPr>
          <p:cNvPr id="24" name="Shape 13"/>
          <p:cNvSpPr/>
          <p:nvPr/>
        </p:nvSpPr>
        <p:spPr>
          <a:xfrm>
            <a:off x="3357593" y="1599590"/>
            <a:ext cx="5495544" cy="3715207"/>
          </a:xfrm>
          <a:prstGeom prst="roundRect">
            <a:avLst>
              <a:gd name="adj" fmla="val 302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7"/>
          <a:srcRect t="-60" b="-60"/>
          <a:stretch/>
        </p:blipFill>
        <p:spPr>
          <a:xfrm>
            <a:off x="3365643" y="1303192"/>
            <a:ext cx="5495544" cy="449713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3785577" y="1311223"/>
            <a:ext cx="4479189" cy="449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図解</a:t>
            </a: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：安定の「階段」ロジック</a:t>
            </a:r>
            <a:endParaRPr lang="en-US" sz="2400" dirty="0"/>
          </a:p>
        </p:txBody>
      </p:sp>
      <p:sp>
        <p:nvSpPr>
          <p:cNvPr id="27" name="Shape 15"/>
          <p:cNvSpPr/>
          <p:nvPr/>
        </p:nvSpPr>
        <p:spPr>
          <a:xfrm>
            <a:off x="4683033" y="2647007"/>
            <a:ext cx="74697" cy="271814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sp>
        <p:nvSpPr>
          <p:cNvPr id="28" name="Shape 16"/>
          <p:cNvSpPr/>
          <p:nvPr/>
        </p:nvSpPr>
        <p:spPr>
          <a:xfrm>
            <a:off x="6163056" y="2628900"/>
            <a:ext cx="647395" cy="161849"/>
          </a:xfrm>
          <a:prstGeom prst="roundRect">
            <a:avLst>
              <a:gd name="adj" fmla="val 26586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sp>
        <p:nvSpPr>
          <p:cNvPr id="29" name="Text 17"/>
          <p:cNvSpPr txBox="1"/>
          <p:nvPr/>
        </p:nvSpPr>
        <p:spPr>
          <a:xfrm>
            <a:off x="5127446" y="2661150"/>
            <a:ext cx="1786584" cy="29144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0" rIns="381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-1日 (戻る)</a:t>
            </a:r>
            <a:endParaRPr lang="en-US" sz="2000" dirty="0"/>
          </a:p>
        </p:txBody>
      </p:sp>
      <p:sp>
        <p:nvSpPr>
          <p:cNvPr id="31" name="Shape 19"/>
          <p:cNvSpPr/>
          <p:nvPr/>
        </p:nvSpPr>
        <p:spPr>
          <a:xfrm>
            <a:off x="4692634" y="3744725"/>
            <a:ext cx="74697" cy="271814"/>
          </a:xfrm>
          <a:prstGeom prst="rect">
            <a:avLst/>
          </a:prstGeom>
          <a:solidFill>
            <a:srgbClr val="6EE7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sp>
        <p:nvSpPr>
          <p:cNvPr id="33" name="Text 21"/>
          <p:cNvSpPr txBox="1"/>
          <p:nvPr/>
        </p:nvSpPr>
        <p:spPr>
          <a:xfrm>
            <a:off x="5131039" y="3861331"/>
            <a:ext cx="1723644" cy="14099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0" rIns="3810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+1日 (進む)</a:t>
            </a:r>
            <a:endParaRPr lang="en-US" sz="2000" dirty="0"/>
          </a:p>
        </p:txBody>
      </p:sp>
      <p:sp>
        <p:nvSpPr>
          <p:cNvPr id="37" name="Text 23"/>
          <p:cNvSpPr txBox="1"/>
          <p:nvPr/>
        </p:nvSpPr>
        <p:spPr>
          <a:xfrm>
            <a:off x="9289171" y="1339794"/>
            <a:ext cx="2763897" cy="2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実務でこう使う</a:t>
            </a:r>
            <a:r>
              <a:rPr lang="en-US" sz="28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2800" dirty="0"/>
          </a:p>
        </p:txBody>
      </p:sp>
      <p:sp>
        <p:nvSpPr>
          <p:cNvPr id="39" name="Text 24"/>
          <p:cNvSpPr txBox="1"/>
          <p:nvPr/>
        </p:nvSpPr>
        <p:spPr>
          <a:xfrm>
            <a:off x="9558585" y="1947251"/>
            <a:ext cx="24944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翌月の案内メールを</a:t>
            </a:r>
            <a:endParaRPr lang="en-US" sz="2000" b="1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自動送信</a:t>
            </a:r>
            <a:endParaRPr lang="en-US" sz="2000" b="1" dirty="0"/>
          </a:p>
        </p:txBody>
      </p:sp>
      <p:sp>
        <p:nvSpPr>
          <p:cNvPr id="41" name="Text 25"/>
          <p:cNvSpPr txBox="1"/>
          <p:nvPr/>
        </p:nvSpPr>
        <p:spPr>
          <a:xfrm>
            <a:off x="9516661" y="2668721"/>
            <a:ext cx="2524659" cy="63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フォルダ名生成</a:t>
            </a:r>
            <a:endParaRPr lang="en-US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ui-monospace" pitchFamily="34" charset="-120"/>
              </a:rPr>
              <a:t>/2026年04月/</a:t>
            </a:r>
            <a:endParaRPr lang="en-US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3" name="Text 26"/>
          <p:cNvSpPr txBox="1"/>
          <p:nvPr/>
        </p:nvSpPr>
        <p:spPr>
          <a:xfrm>
            <a:off x="9542292" y="3499411"/>
            <a:ext cx="22576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月初処理フローの</a:t>
            </a:r>
            <a:endParaRPr lang="en-US" sz="2000" b="1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開始トリガー設定</a:t>
            </a:r>
            <a:endParaRPr lang="en-US" sz="2000" b="1" dirty="0"/>
          </a:p>
        </p:txBody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206024" y="4230880"/>
            <a:ext cx="2677044" cy="1067220"/>
          </a:xfrm>
          <a:prstGeom prst="rect">
            <a:avLst/>
          </a:prstGeom>
        </p:spPr>
      </p:pic>
      <p:sp>
        <p:nvSpPr>
          <p:cNvPr id="46" name="Text 27"/>
          <p:cNvSpPr txBox="1"/>
          <p:nvPr/>
        </p:nvSpPr>
        <p:spPr>
          <a:xfrm>
            <a:off x="9372035" y="4373325"/>
            <a:ext cx="22631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👍</a:t>
            </a:r>
            <a:r>
              <a:rPr lang="en-US" sz="20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メリット</a:t>
            </a:r>
            <a:endParaRPr lang="en-US" sz="2000" b="1" dirty="0"/>
          </a:p>
        </p:txBody>
      </p:sp>
      <p:sp>
        <p:nvSpPr>
          <p:cNvPr id="47" name="Text 28"/>
          <p:cNvSpPr txBox="1"/>
          <p:nvPr/>
        </p:nvSpPr>
        <p:spPr>
          <a:xfrm>
            <a:off x="9367250" y="4794241"/>
            <a:ext cx="245699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chemeClr val="accent2">
                    <a:lumMod val="7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月初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のルーティンが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完全自動化！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Shape 29"/>
          <p:cNvSpPr/>
          <p:nvPr/>
        </p:nvSpPr>
        <p:spPr>
          <a:xfrm>
            <a:off x="404164" y="5746266"/>
            <a:ext cx="38405" cy="73334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9"/>
          <a:srcRect l="-14" r="-14"/>
          <a:stretch/>
        </p:blipFill>
        <p:spPr>
          <a:xfrm>
            <a:off x="232310" y="5475105"/>
            <a:ext cx="11814531" cy="1218895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0"/>
          <a:srcRect t="-188" b="-188"/>
          <a:stretch/>
        </p:blipFill>
        <p:spPr>
          <a:xfrm>
            <a:off x="232310" y="5475105"/>
            <a:ext cx="252334" cy="1218895"/>
          </a:xfrm>
          <a:prstGeom prst="rect">
            <a:avLst/>
          </a:prstGeom>
        </p:spPr>
      </p:pic>
      <p:sp>
        <p:nvSpPr>
          <p:cNvPr id="52" name="Text 31"/>
          <p:cNvSpPr txBox="1"/>
          <p:nvPr/>
        </p:nvSpPr>
        <p:spPr>
          <a:xfrm>
            <a:off x="822400" y="5646890"/>
            <a:ext cx="7135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完成形の式（コピペ用）</a:t>
            </a:r>
            <a:r>
              <a:rPr lang="en-US" b="1" dirty="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addDays活用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4" name="Text 32"/>
          <p:cNvSpPr txBox="1"/>
          <p:nvPr/>
        </p:nvSpPr>
        <p:spPr>
          <a:xfrm>
            <a:off x="5206934" y="5603168"/>
            <a:ext cx="35625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📌 今月末を経由して…</a:t>
            </a:r>
            <a:endParaRPr lang="en-US" dirty="0"/>
          </a:p>
        </p:txBody>
      </p:sp>
      <p:sp>
        <p:nvSpPr>
          <p:cNvPr id="55" name="Shape 33"/>
          <p:cNvSpPr/>
          <p:nvPr/>
        </p:nvSpPr>
        <p:spPr>
          <a:xfrm>
            <a:off x="541365" y="6264419"/>
            <a:ext cx="6570635" cy="476402"/>
          </a:xfrm>
          <a:prstGeom prst="roundRect">
            <a:avLst>
              <a:gd name="adj" fmla="val 30710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sp>
        <p:nvSpPr>
          <p:cNvPr id="56" name="Text 34"/>
          <p:cNvSpPr txBox="1"/>
          <p:nvPr/>
        </p:nvSpPr>
        <p:spPr>
          <a:xfrm>
            <a:off x="974337" y="6323489"/>
            <a:ext cx="6417970" cy="261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addDays(startOfMonth(addMonths(utcNow(),1)), -1)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8" name="Text 35"/>
          <p:cNvSpPr txBox="1"/>
          <p:nvPr/>
        </p:nvSpPr>
        <p:spPr>
          <a:xfrm>
            <a:off x="8382055" y="5951677"/>
            <a:ext cx="34866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6EE7B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📌 翌月1日（完成）</a:t>
            </a:r>
            <a:endParaRPr lang="en-US" dirty="0"/>
          </a:p>
        </p:txBody>
      </p:sp>
      <p:sp>
        <p:nvSpPr>
          <p:cNvPr id="59" name="Shape 36"/>
          <p:cNvSpPr/>
          <p:nvPr/>
        </p:nvSpPr>
        <p:spPr>
          <a:xfrm>
            <a:off x="7493000" y="6200546"/>
            <a:ext cx="4550563" cy="476402"/>
          </a:xfrm>
          <a:prstGeom prst="roundRect">
            <a:avLst>
              <a:gd name="adj" fmla="val 30710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sp>
        <p:nvSpPr>
          <p:cNvPr id="60" name="Text 37"/>
          <p:cNvSpPr txBox="1"/>
          <p:nvPr/>
        </p:nvSpPr>
        <p:spPr>
          <a:xfrm>
            <a:off x="7667899" y="6335513"/>
            <a:ext cx="4200763" cy="194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addDays( ...上記の式... , 1)</a:t>
            </a:r>
            <a:endParaRPr lang="en-US" sz="2000" dirty="0"/>
          </a:p>
        </p:txBody>
      </p:sp>
      <p:sp>
        <p:nvSpPr>
          <p:cNvPr id="61" name="Text 38"/>
          <p:cNvSpPr txBox="1"/>
          <p:nvPr/>
        </p:nvSpPr>
        <p:spPr>
          <a:xfrm>
            <a:off x="737706" y="6015481"/>
            <a:ext cx="5753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覚え方： </a:t>
            </a:r>
            <a:r>
              <a:rPr lang="en-US" b="1" dirty="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月初 → +1ヶ月 → -1日 → +1日 ＝ 翌月1日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3" name="Image 21" descr="preencoded.png"/>
          <p:cNvPicPr>
            <a:picLocks noChangeAspect="1"/>
          </p:cNvPicPr>
          <p:nvPr/>
        </p:nvPicPr>
        <p:blipFill>
          <a:blip r:embed="rId11"/>
          <a:srcRect t="-18" b="-18"/>
          <a:stretch/>
        </p:blipFill>
        <p:spPr>
          <a:xfrm>
            <a:off x="3485740" y="1870653"/>
            <a:ext cx="4693060" cy="754592"/>
          </a:xfrm>
          <a:prstGeom prst="rect">
            <a:avLst/>
          </a:prstGeom>
          <a:ln>
            <a:noFill/>
          </a:ln>
        </p:spPr>
      </p:pic>
      <p:sp>
        <p:nvSpPr>
          <p:cNvPr id="64" name="Text 40"/>
          <p:cNvSpPr txBox="1"/>
          <p:nvPr/>
        </p:nvSpPr>
        <p:spPr>
          <a:xfrm>
            <a:off x="3701177" y="2223720"/>
            <a:ext cx="421072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startOfMonth(addMonths(今日,1))</a:t>
            </a:r>
            <a:endParaRPr lang="en-US" b="1" dirty="0"/>
          </a:p>
        </p:txBody>
      </p:sp>
      <p:sp>
        <p:nvSpPr>
          <p:cNvPr id="65" name="Text 41"/>
          <p:cNvSpPr txBox="1"/>
          <p:nvPr/>
        </p:nvSpPr>
        <p:spPr>
          <a:xfrm>
            <a:off x="3947576" y="1813890"/>
            <a:ext cx="4132444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翌月の基準日（仮）</a:t>
            </a:r>
            <a:endParaRPr lang="en-US" sz="2400" dirty="0"/>
          </a:p>
        </p:txBody>
      </p:sp>
      <p:pic>
        <p:nvPicPr>
          <p:cNvPr id="66" name="Image 22" descr="preencoded.png"/>
          <p:cNvPicPr>
            <a:picLocks noChangeAspect="1"/>
          </p:cNvPicPr>
          <p:nvPr/>
        </p:nvPicPr>
        <p:blipFill>
          <a:blip r:embed="rId12"/>
          <a:srcRect t="-5" b="-5"/>
          <a:stretch/>
        </p:blipFill>
        <p:spPr>
          <a:xfrm>
            <a:off x="3493211" y="2952596"/>
            <a:ext cx="3047695" cy="749191"/>
          </a:xfrm>
          <a:prstGeom prst="rect">
            <a:avLst/>
          </a:prstGeom>
        </p:spPr>
      </p:pic>
      <p:sp>
        <p:nvSpPr>
          <p:cNvPr id="67" name="Text 42"/>
          <p:cNvSpPr txBox="1"/>
          <p:nvPr/>
        </p:nvSpPr>
        <p:spPr>
          <a:xfrm>
            <a:off x="3492972" y="3085989"/>
            <a:ext cx="2971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今月末</a:t>
            </a:r>
            <a:endParaRPr lang="en-US" sz="2400" dirty="0"/>
          </a:p>
        </p:txBody>
      </p:sp>
      <p:sp>
        <p:nvSpPr>
          <p:cNvPr id="68" name="Text 43"/>
          <p:cNvSpPr txBox="1"/>
          <p:nvPr/>
        </p:nvSpPr>
        <p:spPr>
          <a:xfrm>
            <a:off x="3581604" y="3367330"/>
            <a:ext cx="2971800" cy="326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（ここで一度確定させる）</a:t>
            </a:r>
            <a:endParaRPr lang="en-US" dirty="0"/>
          </a:p>
        </p:txBody>
      </p:sp>
      <p:pic>
        <p:nvPicPr>
          <p:cNvPr id="71" name="Image 24" descr="preencoded.png"/>
          <p:cNvPicPr>
            <a:picLocks noChangeAspect="1"/>
          </p:cNvPicPr>
          <p:nvPr/>
        </p:nvPicPr>
        <p:blipFill>
          <a:blip r:embed="rId13"/>
          <a:srcRect l="-15" r="-15"/>
          <a:stretch/>
        </p:blipFill>
        <p:spPr>
          <a:xfrm>
            <a:off x="3365643" y="4098436"/>
            <a:ext cx="3004033" cy="1293781"/>
          </a:xfrm>
          <a:prstGeom prst="rect">
            <a:avLst/>
          </a:prstGeom>
        </p:spPr>
      </p:pic>
      <p:sp>
        <p:nvSpPr>
          <p:cNvPr id="72" name="Text 45"/>
          <p:cNvSpPr txBox="1"/>
          <p:nvPr/>
        </p:nvSpPr>
        <p:spPr>
          <a:xfrm>
            <a:off x="3871689" y="4189640"/>
            <a:ext cx="1953007" cy="265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GOAL</a:t>
            </a:r>
            <a:endParaRPr lang="en-US" sz="2400" dirty="0"/>
          </a:p>
        </p:txBody>
      </p:sp>
      <p:sp>
        <p:nvSpPr>
          <p:cNvPr id="73" name="Text 46"/>
          <p:cNvSpPr txBox="1"/>
          <p:nvPr/>
        </p:nvSpPr>
        <p:spPr>
          <a:xfrm>
            <a:off x="3885303" y="4586361"/>
            <a:ext cx="21871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翌月1日</a:t>
            </a:r>
            <a:endParaRPr lang="en-US" sz="3600" dirty="0"/>
          </a:p>
        </p:txBody>
      </p:sp>
      <p:sp>
        <p:nvSpPr>
          <p:cNvPr id="74" name="Shape 47"/>
          <p:cNvSpPr/>
          <p:nvPr/>
        </p:nvSpPr>
        <p:spPr>
          <a:xfrm>
            <a:off x="3448456" y="5029845"/>
            <a:ext cx="2812899" cy="203148"/>
          </a:xfrm>
          <a:prstGeom prst="roundRect">
            <a:avLst>
              <a:gd name="adj" fmla="val 192308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400"/>
          </a:p>
        </p:txBody>
      </p:sp>
      <p:sp>
        <p:nvSpPr>
          <p:cNvPr id="75" name="Text 48"/>
          <p:cNvSpPr txBox="1"/>
          <p:nvPr/>
        </p:nvSpPr>
        <p:spPr>
          <a:xfrm>
            <a:off x="3140002" y="4994172"/>
            <a:ext cx="3762181" cy="25417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25400" rIns="114300" bIns="254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どんな月でも絶対にズレない！</a:t>
            </a:r>
            <a:endParaRPr lang="en-US" dirty="0"/>
          </a:p>
        </p:txBody>
      </p:sp>
      <p:sp>
        <p:nvSpPr>
          <p:cNvPr id="76" name="Text 49"/>
          <p:cNvSpPr txBox="1"/>
          <p:nvPr/>
        </p:nvSpPr>
        <p:spPr>
          <a:xfrm>
            <a:off x="6914030" y="4487108"/>
            <a:ext cx="1995749" cy="86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月末が確定すれば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l">
              <a:buNone/>
            </a:pP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その翌日は必ず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1日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7" name="Image 25" descr="preencoded.png"/>
          <p:cNvPicPr>
            <a:picLocks noChangeAspect="1"/>
          </p:cNvPicPr>
          <p:nvPr/>
        </p:nvPicPr>
        <p:blipFill>
          <a:blip r:embed="rId14"/>
          <a:srcRect t="-43" b="-43"/>
          <a:stretch/>
        </p:blipFill>
        <p:spPr>
          <a:xfrm>
            <a:off x="6467100" y="4571614"/>
            <a:ext cx="393373" cy="449956"/>
          </a:xfrm>
          <a:prstGeom prst="rect">
            <a:avLst/>
          </a:prstGeom>
        </p:spPr>
      </p:pic>
      <p:sp>
        <p:nvSpPr>
          <p:cNvPr id="78" name="四角形: 角を丸くする 77">
            <a:extLst>
              <a:ext uri="{FF2B5EF4-FFF2-40B4-BE49-F238E27FC236}">
                <a16:creationId xmlns:a16="http://schemas.microsoft.com/office/drawing/2014/main" id="{2AB0FAB7-0D54-B2D2-61CC-0EA7EF0D4F6E}"/>
              </a:ext>
            </a:extLst>
          </p:cNvPr>
          <p:cNvSpPr/>
          <p:nvPr/>
        </p:nvSpPr>
        <p:spPr>
          <a:xfrm>
            <a:off x="44269" y="23774"/>
            <a:ext cx="12103265" cy="6815176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B0ED3BB8-E1CE-AC5D-D324-8AE26312B009}"/>
              </a:ext>
            </a:extLst>
          </p:cNvPr>
          <p:cNvGrpSpPr/>
          <p:nvPr/>
        </p:nvGrpSpPr>
        <p:grpSpPr>
          <a:xfrm>
            <a:off x="188332" y="78173"/>
            <a:ext cx="1543203" cy="464514"/>
            <a:chOff x="188332" y="78173"/>
            <a:chExt cx="1543203" cy="464514"/>
          </a:xfrm>
        </p:grpSpPr>
        <p:sp>
          <p:nvSpPr>
            <p:cNvPr id="82" name="Shape 2">
              <a:extLst>
                <a:ext uri="{FF2B5EF4-FFF2-40B4-BE49-F238E27FC236}">
                  <a16:creationId xmlns:a16="http://schemas.microsoft.com/office/drawing/2014/main" id="{8146CE6F-6F50-2F28-77F8-E1D18A6E5640}"/>
                </a:ext>
              </a:extLst>
            </p:cNvPr>
            <p:cNvSpPr/>
            <p:nvPr/>
          </p:nvSpPr>
          <p:spPr>
            <a:xfrm>
              <a:off x="188332" y="78173"/>
              <a:ext cx="1543203" cy="464514"/>
            </a:xfrm>
            <a:prstGeom prst="roundRect">
              <a:avLst>
                <a:gd name="adj" fmla="val 266667"/>
              </a:avLst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3">
              <a:extLst>
                <a:ext uri="{FF2B5EF4-FFF2-40B4-BE49-F238E27FC236}">
                  <a16:creationId xmlns:a16="http://schemas.microsoft.com/office/drawing/2014/main" id="{31BF8581-7365-4726-54E1-4E88881C7F23}"/>
                </a:ext>
              </a:extLst>
            </p:cNvPr>
            <p:cNvSpPr txBox="1"/>
            <p:nvPr/>
          </p:nvSpPr>
          <p:spPr>
            <a:xfrm>
              <a:off x="348708" y="184194"/>
              <a:ext cx="131762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kern="0" spc="38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Vol.25</a:t>
              </a:r>
              <a:endParaRPr lang="en-US" sz="3200" dirty="0"/>
            </a:p>
          </p:txBody>
        </p:sp>
      </p:grpSp>
      <p:pic>
        <p:nvPicPr>
          <p:cNvPr id="84" name="図 8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8F67D716-D06E-BB16-4392-BF6488C2057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698" y="662581"/>
            <a:ext cx="663502" cy="663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5" name="Image 5" descr="preencoded.png">
            <a:extLst>
              <a:ext uri="{FF2B5EF4-FFF2-40B4-BE49-F238E27FC236}">
                <a16:creationId xmlns:a16="http://schemas.microsoft.com/office/drawing/2014/main" id="{DC38D243-188D-E468-8B3E-E557926E1D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335522" y="2763649"/>
            <a:ext cx="306300" cy="357757"/>
          </a:xfrm>
          <a:prstGeom prst="rect">
            <a:avLst/>
          </a:prstGeom>
        </p:spPr>
      </p:pic>
      <p:pic>
        <p:nvPicPr>
          <p:cNvPr id="86" name="Image 5" descr="preencoded.png">
            <a:extLst>
              <a:ext uri="{FF2B5EF4-FFF2-40B4-BE49-F238E27FC236}">
                <a16:creationId xmlns:a16="http://schemas.microsoft.com/office/drawing/2014/main" id="{D9029D6F-B50F-ABDC-33CE-68A29F7290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357628" y="3503574"/>
            <a:ext cx="306300" cy="357757"/>
          </a:xfrm>
          <a:prstGeom prst="rect">
            <a:avLst/>
          </a:prstGeom>
        </p:spPr>
      </p:pic>
      <p:sp>
        <p:nvSpPr>
          <p:cNvPr id="87" name="Text 44">
            <a:extLst>
              <a:ext uri="{FF2B5EF4-FFF2-40B4-BE49-F238E27FC236}">
                <a16:creationId xmlns:a16="http://schemas.microsoft.com/office/drawing/2014/main" id="{E6979876-3BF3-2DCA-076E-681371B01ED7}"/>
              </a:ext>
            </a:extLst>
          </p:cNvPr>
          <p:cNvSpPr txBox="1"/>
          <p:nvPr/>
        </p:nvSpPr>
        <p:spPr>
          <a:xfrm>
            <a:off x="6600390" y="3139334"/>
            <a:ext cx="205416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月末日は28〜31日で</a:t>
            </a: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変動するが… </a:t>
            </a:r>
            <a:endParaRPr lang="en-US" sz="1600" b="1" dirty="0"/>
          </a:p>
        </p:txBody>
      </p:sp>
      <p:pic>
        <p:nvPicPr>
          <p:cNvPr id="91" name="図 90" descr="31&#10;&#10;AI 生成コンテンツは誤りを含む可能性があります。">
            <a:extLst>
              <a:ext uri="{FF2B5EF4-FFF2-40B4-BE49-F238E27FC236}">
                <a16:creationId xmlns:a16="http://schemas.microsoft.com/office/drawing/2014/main" id="{0AC98E76-8C31-4475-1ADE-FE2FDF7C283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24671" y="3355431"/>
            <a:ext cx="1380033" cy="1293781"/>
          </a:xfrm>
          <a:prstGeom prst="rect">
            <a:avLst/>
          </a:prstGeom>
        </p:spPr>
      </p:pic>
      <p:pic>
        <p:nvPicPr>
          <p:cNvPr id="93" name="図 92" descr="3&#10;&#10;AI 生成コンテンツは誤りを含む可能性があります。">
            <a:extLst>
              <a:ext uri="{FF2B5EF4-FFF2-40B4-BE49-F238E27FC236}">
                <a16:creationId xmlns:a16="http://schemas.microsoft.com/office/drawing/2014/main" id="{271AE164-6224-3BB2-30D6-FA7CB57E5F2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16564" y="-128730"/>
            <a:ext cx="1573981" cy="1566111"/>
          </a:xfrm>
          <a:prstGeom prst="rect">
            <a:avLst/>
          </a:prstGeom>
        </p:spPr>
      </p:pic>
      <p:sp>
        <p:nvSpPr>
          <p:cNvPr id="95" name="四角形: 上の 2 つの角を丸める 94">
            <a:extLst>
              <a:ext uri="{FF2B5EF4-FFF2-40B4-BE49-F238E27FC236}">
                <a16:creationId xmlns:a16="http://schemas.microsoft.com/office/drawing/2014/main" id="{081F1B26-C198-6D99-D332-89895BFC6D7A}"/>
              </a:ext>
            </a:extLst>
          </p:cNvPr>
          <p:cNvSpPr/>
          <p:nvPr/>
        </p:nvSpPr>
        <p:spPr>
          <a:xfrm>
            <a:off x="9107586" y="1669202"/>
            <a:ext cx="2792038" cy="193860"/>
          </a:xfrm>
          <a:prstGeom prst="round2SameRect">
            <a:avLst>
              <a:gd name="adj1" fmla="val 24983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Text 32">
            <a:extLst>
              <a:ext uri="{FF2B5EF4-FFF2-40B4-BE49-F238E27FC236}">
                <a16:creationId xmlns:a16="http://schemas.microsoft.com/office/drawing/2014/main" id="{8909D971-40EB-D499-3CBE-0136C33F480C}"/>
              </a:ext>
            </a:extLst>
          </p:cNvPr>
          <p:cNvSpPr txBox="1"/>
          <p:nvPr/>
        </p:nvSpPr>
        <p:spPr>
          <a:xfrm>
            <a:off x="9099536" y="1906681"/>
            <a:ext cx="747239" cy="42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93C5F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📌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8" name="Text 32">
            <a:extLst>
              <a:ext uri="{FF2B5EF4-FFF2-40B4-BE49-F238E27FC236}">
                <a16:creationId xmlns:a16="http://schemas.microsoft.com/office/drawing/2014/main" id="{A7953FD5-9562-02CC-3523-D2EA5BD45E70}"/>
              </a:ext>
            </a:extLst>
          </p:cNvPr>
          <p:cNvSpPr txBox="1"/>
          <p:nvPr/>
        </p:nvSpPr>
        <p:spPr>
          <a:xfrm>
            <a:off x="9057502" y="2617984"/>
            <a:ext cx="747239" cy="42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93C5F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📌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" name="Text 32">
            <a:extLst>
              <a:ext uri="{FF2B5EF4-FFF2-40B4-BE49-F238E27FC236}">
                <a16:creationId xmlns:a16="http://schemas.microsoft.com/office/drawing/2014/main" id="{DDF649D8-365D-8FD9-B3FA-D3A6EBE73169}"/>
              </a:ext>
            </a:extLst>
          </p:cNvPr>
          <p:cNvSpPr txBox="1"/>
          <p:nvPr/>
        </p:nvSpPr>
        <p:spPr>
          <a:xfrm>
            <a:off x="9025238" y="3475549"/>
            <a:ext cx="747239" cy="42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93C5F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📌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">
            <a:extLst>
              <a:ext uri="{FF2B5EF4-FFF2-40B4-BE49-F238E27FC236}">
                <a16:creationId xmlns:a16="http://schemas.microsoft.com/office/drawing/2014/main" id="{F59D013C-A0C5-562C-2348-5130310820E8}"/>
              </a:ext>
            </a:extLst>
          </p:cNvPr>
          <p:cNvSpPr/>
          <p:nvPr/>
        </p:nvSpPr>
        <p:spPr>
          <a:xfrm>
            <a:off x="-47718" y="-21511"/>
            <a:ext cx="12239718" cy="61495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44030" y="1210648"/>
            <a:ext cx="11430000" cy="3840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5" name="Text 3"/>
          <p:cNvSpPr txBox="1"/>
          <p:nvPr/>
        </p:nvSpPr>
        <p:spPr>
          <a:xfrm>
            <a:off x="2093637" y="-50800"/>
            <a:ext cx="78574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</a:t>
            </a:r>
            <a:r>
              <a:rPr lang="en-US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前月末は</a:t>
            </a:r>
            <a:r>
              <a:rPr lang="en-US" sz="2700" b="1" kern="0" spc="-67" dirty="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『月初から1日戻る』で一発 </a:t>
            </a:r>
            <a:endParaRPr lang="en-US" sz="2700" dirty="0">
              <a:solidFill>
                <a:schemeClr val="bg1"/>
              </a:solidFill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0633" y="454457"/>
            <a:ext cx="133502" cy="1335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81333" y="760680"/>
            <a:ext cx="1075334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</a:t>
            </a:r>
            <a:r>
              <a:rPr lang="en-US" sz="28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月末の日数を数えるのではなく、月初を基準にするのが正解。 </a:t>
            </a:r>
            <a:endParaRPr lang="en-US" sz="2800" b="1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164836" y="1534771"/>
            <a:ext cx="3118382" cy="3857854"/>
          </a:xfrm>
          <a:prstGeom prst="rect">
            <a:avLst/>
          </a:prstGeom>
          <a:ln w="41275">
            <a:solidFill>
              <a:srgbClr val="FF0000"/>
            </a:solidFill>
          </a:ln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rcRect l="-198" r="-198"/>
          <a:stretch/>
        </p:blipFill>
        <p:spPr>
          <a:xfrm>
            <a:off x="203568" y="1538724"/>
            <a:ext cx="2704020" cy="75389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38496" y="1689599"/>
            <a:ext cx="213238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 </a:t>
            </a:r>
            <a:endParaRPr lang="en-US" sz="3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28853" y="1650901"/>
            <a:ext cx="337414" cy="337414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32797" y="2412275"/>
            <a:ext cx="2343607" cy="9579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16" name="Text 9"/>
          <p:cNvSpPr txBox="1"/>
          <p:nvPr/>
        </p:nvSpPr>
        <p:spPr>
          <a:xfrm>
            <a:off x="509642" y="2155023"/>
            <a:ext cx="2419502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やりがちな考え方</a:t>
            </a:r>
            <a:endParaRPr lang="en-US" dirty="0"/>
          </a:p>
        </p:txBody>
      </p:sp>
      <p:sp>
        <p:nvSpPr>
          <p:cNvPr id="17" name="Text 10"/>
          <p:cNvSpPr txBox="1"/>
          <p:nvPr/>
        </p:nvSpPr>
        <p:spPr>
          <a:xfrm>
            <a:off x="306970" y="2726715"/>
            <a:ext cx="3657599" cy="238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「前月は31日？30日？」と</a:t>
            </a:r>
            <a:endParaRPr lang="en-US" dirty="0"/>
          </a:p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</a:t>
            </a:r>
            <a:r>
              <a:rPr lang="ja-JP" alt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日数が違う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ため迷う </a:t>
            </a:r>
            <a:endParaRPr lang="en-US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87904" y="2654898"/>
            <a:ext cx="178953" cy="35790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18173" y="3425648"/>
            <a:ext cx="273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毎月日付が変わるため、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固定の式が作れない </a:t>
            </a:r>
            <a:endParaRPr lang="en-US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88332" y="4056753"/>
            <a:ext cx="3060745" cy="126470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246888" y="4169066"/>
            <a:ext cx="14485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結果として…</a:t>
            </a:r>
            <a:endParaRPr lang="en-US" sz="1600" b="1" dirty="0"/>
          </a:p>
        </p:txBody>
      </p:sp>
      <p:sp>
        <p:nvSpPr>
          <p:cNvPr id="23" name="Text 13"/>
          <p:cNvSpPr txBox="1"/>
          <p:nvPr/>
        </p:nvSpPr>
        <p:spPr>
          <a:xfrm>
            <a:off x="-76051" y="4547751"/>
            <a:ext cx="35058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「前月末」を毎回手入力しがち</a:t>
            </a:r>
            <a:endParaRPr lang="en-US" dirty="0"/>
          </a:p>
        </p:txBody>
      </p:sp>
      <p:sp>
        <p:nvSpPr>
          <p:cNvPr id="24" name="Text 14"/>
          <p:cNvSpPr txBox="1"/>
          <p:nvPr/>
        </p:nvSpPr>
        <p:spPr>
          <a:xfrm>
            <a:off x="219075" y="4957973"/>
            <a:ext cx="28729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8717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（一番不安定なNGパターン）</a:t>
            </a:r>
            <a:endParaRPr lang="en-US" sz="1600" dirty="0"/>
          </a:p>
        </p:txBody>
      </p:sp>
      <p:sp>
        <p:nvSpPr>
          <p:cNvPr id="25" name="Shape 15"/>
          <p:cNvSpPr/>
          <p:nvPr/>
        </p:nvSpPr>
        <p:spPr>
          <a:xfrm>
            <a:off x="3351275" y="1592375"/>
            <a:ext cx="5813461" cy="3857854"/>
          </a:xfrm>
          <a:prstGeom prst="roundRect">
            <a:avLst>
              <a:gd name="adj" fmla="val 2809"/>
            </a:avLst>
          </a:prstGeom>
          <a:noFill/>
          <a:ln w="47625">
            <a:solidFill>
              <a:srgbClr val="0000CC"/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rcRect l="-74" r="-74"/>
          <a:stretch/>
        </p:blipFill>
        <p:spPr>
          <a:xfrm>
            <a:off x="3482062" y="1310077"/>
            <a:ext cx="5542195" cy="527956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789272" y="1418710"/>
            <a:ext cx="5075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考え方の転換：『月初から1日戻る』</a:t>
            </a:r>
            <a:endParaRPr lang="en-US" sz="2400" dirty="0"/>
          </a:p>
        </p:txBody>
      </p:sp>
      <p:sp>
        <p:nvSpPr>
          <p:cNvPr id="28" name="Shape 17"/>
          <p:cNvSpPr/>
          <p:nvPr/>
        </p:nvSpPr>
        <p:spPr>
          <a:xfrm>
            <a:off x="5143957" y="3049429"/>
            <a:ext cx="38405" cy="761695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443559" y="3343853"/>
            <a:ext cx="2070709" cy="496811"/>
          </a:xfrm>
          <a:prstGeom prst="rect">
            <a:avLst/>
          </a:prstGeom>
        </p:spPr>
      </p:pic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584655" y="3377629"/>
            <a:ext cx="381304" cy="381304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6357494" y="3420618"/>
            <a:ext cx="1097736" cy="362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ー</a:t>
            </a:r>
            <a:r>
              <a:rPr lang="en-US" sz="28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r>
              <a:rPr lang="en-US" sz="28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</a:t>
            </a:r>
            <a:endParaRPr lang="en-US" sz="2800" dirty="0"/>
          </a:p>
        </p:txBody>
      </p:sp>
      <p:sp>
        <p:nvSpPr>
          <p:cNvPr id="32" name="Text 19"/>
          <p:cNvSpPr txBox="1"/>
          <p:nvPr/>
        </p:nvSpPr>
        <p:spPr>
          <a:xfrm>
            <a:off x="7526558" y="3269199"/>
            <a:ext cx="1276502" cy="463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（1日戻る）</a:t>
            </a:r>
            <a:endParaRPr lang="en-US" dirty="0"/>
          </a:p>
        </p:txBody>
      </p:sp>
      <p:sp>
        <p:nvSpPr>
          <p:cNvPr id="33" name="Shape 20"/>
          <p:cNvSpPr/>
          <p:nvPr/>
        </p:nvSpPr>
        <p:spPr>
          <a:xfrm>
            <a:off x="5058562" y="3850836"/>
            <a:ext cx="190195" cy="142646"/>
          </a:xfrm>
          <a:prstGeom prst="rect">
            <a:avLst/>
          </a:prstGeom>
          <a:noFill/>
          <a:ln w="1905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2"/>
          <a:srcRect t="-4" b="-4"/>
          <a:stretch/>
        </p:blipFill>
        <p:spPr>
          <a:xfrm>
            <a:off x="9336024" y="1573005"/>
            <a:ext cx="2556662" cy="3857854"/>
          </a:xfrm>
          <a:prstGeom prst="rect">
            <a:avLst/>
          </a:prstGeom>
          <a:ln w="47625">
            <a:solidFill>
              <a:srgbClr val="166534"/>
            </a:solidFill>
          </a:ln>
        </p:spPr>
      </p:pic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3"/>
          <a:srcRect l="-198" r="-198"/>
          <a:stretch/>
        </p:blipFill>
        <p:spPr>
          <a:xfrm>
            <a:off x="9354017" y="1503190"/>
            <a:ext cx="2504836" cy="69836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9741649" y="1831747"/>
            <a:ext cx="213238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 </a:t>
            </a:r>
            <a:endParaRPr lang="en-US" sz="320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365174" y="1821170"/>
            <a:ext cx="301088" cy="301088"/>
          </a:xfrm>
          <a:prstGeom prst="rect">
            <a:avLst/>
          </a:prstGeom>
        </p:spPr>
      </p:pic>
      <p:sp>
        <p:nvSpPr>
          <p:cNvPr id="38" name="Shape 22"/>
          <p:cNvSpPr/>
          <p:nvPr/>
        </p:nvSpPr>
        <p:spPr>
          <a:xfrm>
            <a:off x="9425932" y="2629455"/>
            <a:ext cx="2343607" cy="9144"/>
          </a:xfrm>
          <a:prstGeom prst="rect">
            <a:avLst/>
          </a:prstGeom>
          <a:solidFill>
            <a:srgbClr val="A7F3D0"/>
          </a:solidFill>
          <a:ln w="34925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39" name="Text 23"/>
          <p:cNvSpPr txBox="1"/>
          <p:nvPr/>
        </p:nvSpPr>
        <p:spPr>
          <a:xfrm>
            <a:off x="9454528" y="2367661"/>
            <a:ext cx="2419502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b="1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おススメ</a:t>
            </a:r>
            <a:r>
              <a:rPr lang="en-US" b="1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発想</a:t>
            </a:r>
            <a:endParaRPr lang="en-US" dirty="0"/>
          </a:p>
        </p:txBody>
      </p:sp>
      <p:sp>
        <p:nvSpPr>
          <p:cNvPr id="40" name="Text 24"/>
          <p:cNvSpPr txBox="1"/>
          <p:nvPr/>
        </p:nvSpPr>
        <p:spPr>
          <a:xfrm>
            <a:off x="9750308" y="2800807"/>
            <a:ext cx="2276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今月の月初 − 1日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= 前月末 と考える </a:t>
            </a:r>
            <a:endParaRPr lang="en-US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389700" y="2739575"/>
            <a:ext cx="201549" cy="403098"/>
          </a:xfrm>
          <a:prstGeom prst="rect">
            <a:avLst/>
          </a:prstGeom>
        </p:spPr>
      </p:pic>
      <p:sp>
        <p:nvSpPr>
          <p:cNvPr id="42" name="Text 25"/>
          <p:cNvSpPr txBox="1"/>
          <p:nvPr/>
        </p:nvSpPr>
        <p:spPr>
          <a:xfrm>
            <a:off x="9628120" y="3625127"/>
            <a:ext cx="2276856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月末を“直接”求めようとしないのがコツ </a:t>
            </a:r>
            <a:endParaRPr lang="en-US" dirty="0"/>
          </a:p>
        </p:txBody>
      </p:sp>
      <p:pic>
        <p:nvPicPr>
          <p:cNvPr id="44" name="Image 16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9365174" y="4432210"/>
            <a:ext cx="2478118" cy="819302"/>
          </a:xfrm>
          <a:prstGeom prst="rect">
            <a:avLst/>
          </a:prstGeom>
        </p:spPr>
      </p:pic>
      <p:sp>
        <p:nvSpPr>
          <p:cNvPr id="45" name="Text 26"/>
          <p:cNvSpPr txBox="1"/>
          <p:nvPr/>
        </p:nvSpPr>
        <p:spPr>
          <a:xfrm>
            <a:off x="9463857" y="4579790"/>
            <a:ext cx="22631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メリット</a:t>
            </a:r>
            <a:endParaRPr lang="en-US" sz="2400" b="1" dirty="0"/>
          </a:p>
        </p:txBody>
      </p:sp>
      <p:sp>
        <p:nvSpPr>
          <p:cNvPr id="46" name="Text 27"/>
          <p:cNvSpPr txBox="1"/>
          <p:nvPr/>
        </p:nvSpPr>
        <p:spPr>
          <a:xfrm>
            <a:off x="9354017" y="4819398"/>
            <a:ext cx="2583181" cy="44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どの月でも式が超安定！</a:t>
            </a:r>
            <a:endParaRPr lang="en-US" dirty="0"/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7"/>
          <a:srcRect l="-14" r="-14"/>
          <a:stretch/>
        </p:blipFill>
        <p:spPr>
          <a:xfrm>
            <a:off x="486195" y="5513464"/>
            <a:ext cx="11477200" cy="1279330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8"/>
          <a:srcRect t="-188" b="-188"/>
          <a:stretch/>
        </p:blipFill>
        <p:spPr>
          <a:xfrm>
            <a:off x="355849" y="5550103"/>
            <a:ext cx="224049" cy="1218895"/>
          </a:xfrm>
          <a:prstGeom prst="rect">
            <a:avLst/>
          </a:prstGeom>
        </p:spPr>
      </p:pic>
      <p:sp>
        <p:nvSpPr>
          <p:cNvPr id="52" name="Text 31"/>
          <p:cNvSpPr txBox="1"/>
          <p:nvPr/>
        </p:nvSpPr>
        <p:spPr>
          <a:xfrm>
            <a:off x="1317485" y="5699023"/>
            <a:ext cx="7135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式の具体例（コピペで使えます） </a:t>
            </a:r>
            <a:endParaRPr lang="en-US" sz="2400" dirty="0"/>
          </a:p>
        </p:txBody>
      </p:sp>
      <p:pic>
        <p:nvPicPr>
          <p:cNvPr id="53" name="Image 19" descr="preencoded.png"/>
          <p:cNvPicPr>
            <a:picLocks noChangeAspect="1"/>
          </p:cNvPicPr>
          <p:nvPr/>
        </p:nvPicPr>
        <p:blipFill>
          <a:blip r:embed="rId19"/>
          <a:srcRect l="-837" r="-837"/>
          <a:stretch/>
        </p:blipFill>
        <p:spPr>
          <a:xfrm>
            <a:off x="826848" y="5671411"/>
            <a:ext cx="361344" cy="315904"/>
          </a:xfrm>
          <a:prstGeom prst="rect">
            <a:avLst/>
          </a:prstGeom>
        </p:spPr>
      </p:pic>
      <p:sp>
        <p:nvSpPr>
          <p:cNvPr id="54" name="Text 32"/>
          <p:cNvSpPr txBox="1"/>
          <p:nvPr/>
        </p:nvSpPr>
        <p:spPr>
          <a:xfrm>
            <a:off x="1164488" y="6103954"/>
            <a:ext cx="3706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📌 今月の月初</a:t>
            </a:r>
            <a:endParaRPr lang="en-US" sz="2000" dirty="0"/>
          </a:p>
        </p:txBody>
      </p:sp>
      <p:sp>
        <p:nvSpPr>
          <p:cNvPr id="55" name="Shape 33"/>
          <p:cNvSpPr/>
          <p:nvPr/>
        </p:nvSpPr>
        <p:spPr>
          <a:xfrm>
            <a:off x="1174089" y="6310956"/>
            <a:ext cx="3514954" cy="409651"/>
          </a:xfrm>
          <a:prstGeom prst="roundRect">
            <a:avLst>
              <a:gd name="adj" fmla="val 4152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56" name="Text 34"/>
          <p:cNvSpPr txBox="1"/>
          <p:nvPr/>
        </p:nvSpPr>
        <p:spPr>
          <a:xfrm>
            <a:off x="1259129" y="6463662"/>
            <a:ext cx="3884828" cy="10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startOfMonth(utcNow())</a:t>
            </a:r>
            <a:endParaRPr lang="en-US" sz="2400" dirty="0"/>
          </a:p>
        </p:txBody>
      </p:sp>
      <p:sp>
        <p:nvSpPr>
          <p:cNvPr id="57" name="Text 35"/>
          <p:cNvSpPr txBox="1"/>
          <p:nvPr/>
        </p:nvSpPr>
        <p:spPr>
          <a:xfrm>
            <a:off x="5719869" y="6038328"/>
            <a:ext cx="3706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EE7B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📌 前月末（完成形）</a:t>
            </a:r>
            <a:endParaRPr lang="en-US" sz="2000" dirty="0"/>
          </a:p>
        </p:txBody>
      </p:sp>
      <p:sp>
        <p:nvSpPr>
          <p:cNvPr id="58" name="Shape 36"/>
          <p:cNvSpPr/>
          <p:nvPr/>
        </p:nvSpPr>
        <p:spPr>
          <a:xfrm>
            <a:off x="5583131" y="6372455"/>
            <a:ext cx="3514954" cy="409651"/>
          </a:xfrm>
          <a:prstGeom prst="roundRect">
            <a:avLst>
              <a:gd name="adj" fmla="val 41528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59" name="Text 37"/>
          <p:cNvSpPr txBox="1"/>
          <p:nvPr/>
        </p:nvSpPr>
        <p:spPr>
          <a:xfrm>
            <a:off x="5798210" y="6448806"/>
            <a:ext cx="6138987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addDays(startOfMonth(utcNow()), -1)</a:t>
            </a:r>
            <a:endParaRPr lang="en-US" sz="2400" dirty="0"/>
          </a:p>
        </p:txBody>
      </p:sp>
      <p:pic>
        <p:nvPicPr>
          <p:cNvPr id="61" name="Image 20" descr="preencoded.png"/>
          <p:cNvPicPr>
            <a:picLocks noChangeAspect="1"/>
          </p:cNvPicPr>
          <p:nvPr/>
        </p:nvPicPr>
        <p:blipFill>
          <a:blip r:embed="rId20"/>
          <a:srcRect t="-5" b="-5"/>
          <a:stretch/>
        </p:blipFill>
        <p:spPr>
          <a:xfrm>
            <a:off x="3419957" y="1912913"/>
            <a:ext cx="3657600" cy="1349209"/>
          </a:xfrm>
          <a:prstGeom prst="rect">
            <a:avLst/>
          </a:prstGeom>
        </p:spPr>
      </p:pic>
      <p:sp>
        <p:nvSpPr>
          <p:cNvPr id="62" name="Text 39"/>
          <p:cNvSpPr txBox="1"/>
          <p:nvPr/>
        </p:nvSpPr>
        <p:spPr>
          <a:xfrm>
            <a:off x="3351310" y="1998852"/>
            <a:ext cx="13377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u="sng" kern="0" spc="4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</a:t>
            </a:r>
            <a:endParaRPr lang="en-US" sz="2400" u="sng" dirty="0"/>
          </a:p>
        </p:txBody>
      </p:sp>
      <p:sp>
        <p:nvSpPr>
          <p:cNvPr id="63" name="Text 40"/>
          <p:cNvSpPr txBox="1"/>
          <p:nvPr/>
        </p:nvSpPr>
        <p:spPr>
          <a:xfrm>
            <a:off x="3494346" y="2414815"/>
            <a:ext cx="34446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4ED8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nsolas" pitchFamily="34" charset="-120"/>
              </a:rPr>
              <a:t>startOfMonth(今月)</a:t>
            </a:r>
            <a:endParaRPr lang="en-US" sz="2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4" name="Text 41"/>
          <p:cNvSpPr txBox="1"/>
          <p:nvPr/>
        </p:nvSpPr>
        <p:spPr>
          <a:xfrm>
            <a:off x="3789272" y="2923749"/>
            <a:ext cx="2895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今月の「1日」を出す</a:t>
            </a:r>
            <a:endParaRPr lang="en-US" sz="2000" b="1" dirty="0"/>
          </a:p>
        </p:txBody>
      </p:sp>
      <p:sp>
        <p:nvSpPr>
          <p:cNvPr id="65" name="Text 42"/>
          <p:cNvSpPr txBox="1"/>
          <p:nvPr/>
        </p:nvSpPr>
        <p:spPr>
          <a:xfrm>
            <a:off x="7226232" y="2020635"/>
            <a:ext cx="1658535" cy="88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月末日は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毎月バラバラ…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8717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基準にならない</a:t>
            </a:r>
            <a:endParaRPr lang="en-US" dirty="0"/>
          </a:p>
        </p:txBody>
      </p:sp>
      <p:pic>
        <p:nvPicPr>
          <p:cNvPr id="66" name="Image 21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3591304" y="2872791"/>
            <a:ext cx="320041" cy="320041"/>
          </a:xfrm>
          <a:prstGeom prst="rect">
            <a:avLst/>
          </a:prstGeom>
        </p:spPr>
      </p:pic>
      <p:pic>
        <p:nvPicPr>
          <p:cNvPr id="67" name="Image 22" descr="preencoded.png"/>
          <p:cNvPicPr>
            <a:picLocks noChangeAspect="1"/>
          </p:cNvPicPr>
          <p:nvPr/>
        </p:nvPicPr>
        <p:blipFill>
          <a:blip r:embed="rId22"/>
          <a:srcRect l="-13" r="-13"/>
          <a:stretch/>
        </p:blipFill>
        <p:spPr>
          <a:xfrm>
            <a:off x="3508279" y="3910361"/>
            <a:ext cx="3657600" cy="1465890"/>
          </a:xfrm>
          <a:prstGeom prst="rect">
            <a:avLst/>
          </a:prstGeom>
        </p:spPr>
      </p:pic>
      <p:sp>
        <p:nvSpPr>
          <p:cNvPr id="68" name="Text 43"/>
          <p:cNvSpPr txBox="1"/>
          <p:nvPr/>
        </p:nvSpPr>
        <p:spPr>
          <a:xfrm>
            <a:off x="3134545" y="4096054"/>
            <a:ext cx="33531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u="sng" kern="0" spc="45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 (Goal)</a:t>
            </a:r>
            <a:endParaRPr lang="en-US" sz="2800" u="sng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9" name="Text 44"/>
          <p:cNvSpPr txBox="1"/>
          <p:nvPr/>
        </p:nvSpPr>
        <p:spPr>
          <a:xfrm>
            <a:off x="3261367" y="4474096"/>
            <a:ext cx="4290338" cy="421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addDays(..., -1)</a:t>
            </a:r>
            <a:endParaRPr lang="en-US" sz="3200" dirty="0"/>
          </a:p>
        </p:txBody>
      </p:sp>
      <p:sp>
        <p:nvSpPr>
          <p:cNvPr id="70" name="Shape 45"/>
          <p:cNvSpPr/>
          <p:nvPr/>
        </p:nvSpPr>
        <p:spPr>
          <a:xfrm>
            <a:off x="3610754" y="5018385"/>
            <a:ext cx="3271059" cy="267005"/>
          </a:xfrm>
          <a:prstGeom prst="roundRect">
            <a:avLst>
              <a:gd name="adj" fmla="val 9784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71" name="Text 46"/>
          <p:cNvSpPr txBox="1"/>
          <p:nvPr/>
        </p:nvSpPr>
        <p:spPr>
          <a:xfrm>
            <a:off x="3793925" y="4968284"/>
            <a:ext cx="3112753" cy="4216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🟩 これが前月末の日付！</a:t>
            </a:r>
            <a:endParaRPr lang="en-US" dirty="0"/>
          </a:p>
        </p:txBody>
      </p:sp>
      <p:sp>
        <p:nvSpPr>
          <p:cNvPr id="72" name="Text 47"/>
          <p:cNvSpPr txBox="1"/>
          <p:nvPr/>
        </p:nvSpPr>
        <p:spPr>
          <a:xfrm>
            <a:off x="7232352" y="4002072"/>
            <a:ext cx="2165116" cy="1332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でも</a:t>
            </a:r>
            <a:r>
              <a:rPr lang="en-US" sz="1600" b="1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月初は必ず1日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ここを基準にすれば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絶対にズレない</a:t>
            </a:r>
            <a:endParaRPr lang="en-US" sz="1600" dirty="0"/>
          </a:p>
        </p:txBody>
      </p:sp>
      <p:pic>
        <p:nvPicPr>
          <p:cNvPr id="73" name="Image 23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 rot="9936765" flipH="1">
            <a:off x="6655233" y="4074495"/>
            <a:ext cx="502890" cy="449349"/>
          </a:xfrm>
          <a:prstGeom prst="rect">
            <a:avLst/>
          </a:prstGeom>
        </p:spPr>
      </p:pic>
      <p:sp>
        <p:nvSpPr>
          <p:cNvPr id="74" name="四角形: 角を丸くする 73">
            <a:extLst>
              <a:ext uri="{FF2B5EF4-FFF2-40B4-BE49-F238E27FC236}">
                <a16:creationId xmlns:a16="http://schemas.microsoft.com/office/drawing/2014/main" id="{6E2D43E0-C871-08F1-5E98-F1C4F8C5D5E3}"/>
              </a:ext>
            </a:extLst>
          </p:cNvPr>
          <p:cNvSpPr/>
          <p:nvPr/>
        </p:nvSpPr>
        <p:spPr>
          <a:xfrm>
            <a:off x="44269" y="-50800"/>
            <a:ext cx="12103265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233A0989-D12D-8863-4324-AD71EF8EEA1B}"/>
              </a:ext>
            </a:extLst>
          </p:cNvPr>
          <p:cNvGrpSpPr/>
          <p:nvPr/>
        </p:nvGrpSpPr>
        <p:grpSpPr>
          <a:xfrm>
            <a:off x="188332" y="78173"/>
            <a:ext cx="1543203" cy="464514"/>
            <a:chOff x="188332" y="78173"/>
            <a:chExt cx="1543203" cy="464514"/>
          </a:xfrm>
        </p:grpSpPr>
        <p:sp>
          <p:nvSpPr>
            <p:cNvPr id="77" name="Shape 2">
              <a:extLst>
                <a:ext uri="{FF2B5EF4-FFF2-40B4-BE49-F238E27FC236}">
                  <a16:creationId xmlns:a16="http://schemas.microsoft.com/office/drawing/2014/main" id="{146157D0-9C04-2F93-0CDA-7892CCA94C4E}"/>
                </a:ext>
              </a:extLst>
            </p:cNvPr>
            <p:cNvSpPr/>
            <p:nvPr/>
          </p:nvSpPr>
          <p:spPr>
            <a:xfrm>
              <a:off x="188332" y="78173"/>
              <a:ext cx="1543203" cy="464514"/>
            </a:xfrm>
            <a:prstGeom prst="roundRect">
              <a:avLst>
                <a:gd name="adj" fmla="val 266667"/>
              </a:avLst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8" name="Text 3">
              <a:extLst>
                <a:ext uri="{FF2B5EF4-FFF2-40B4-BE49-F238E27FC236}">
                  <a16:creationId xmlns:a16="http://schemas.microsoft.com/office/drawing/2014/main" id="{4680ED02-8168-FCEB-8F9C-A7A8969DE38E}"/>
                </a:ext>
              </a:extLst>
            </p:cNvPr>
            <p:cNvSpPr txBox="1"/>
            <p:nvPr/>
          </p:nvSpPr>
          <p:spPr>
            <a:xfrm>
              <a:off x="348708" y="184194"/>
              <a:ext cx="131762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kern="0" spc="38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Vol.26</a:t>
              </a:r>
              <a:endParaRPr lang="en-US" sz="3200" dirty="0"/>
            </a:p>
          </p:txBody>
        </p:sp>
      </p:grpSp>
      <p:pic>
        <p:nvPicPr>
          <p:cNvPr id="79" name="図 78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F25C6D16-A6AB-59DD-2005-919181A6A3A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4444" y="563512"/>
            <a:ext cx="663502" cy="663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Image 14" descr="preencoded.png">
            <a:extLst>
              <a:ext uri="{FF2B5EF4-FFF2-40B4-BE49-F238E27FC236}">
                <a16:creationId xmlns:a16="http://schemas.microsoft.com/office/drawing/2014/main" id="{6BB5EC48-2014-40B0-7D38-4E30D07409B0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381298" y="3518270"/>
            <a:ext cx="201549" cy="403098"/>
          </a:xfrm>
          <a:prstGeom prst="rect">
            <a:avLst/>
          </a:prstGeom>
        </p:spPr>
      </p:pic>
      <p:pic>
        <p:nvPicPr>
          <p:cNvPr id="80" name="図 79" descr="A blue-clad young boy is depicted with a downcast expression and tears, possibly reflecting sadness or distress.&#10;&#10;AI 生成コンテンツは誤りを含む可能性があります。">
            <a:extLst>
              <a:ext uri="{FF2B5EF4-FFF2-40B4-BE49-F238E27FC236}">
                <a16:creationId xmlns:a16="http://schemas.microsoft.com/office/drawing/2014/main" id="{0ED86782-1B81-EBF6-701C-201B46F24C2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07538" y="1310077"/>
            <a:ext cx="1191887" cy="1328008"/>
          </a:xfrm>
          <a:prstGeom prst="rect">
            <a:avLst/>
          </a:prstGeom>
        </p:spPr>
      </p:pic>
      <p:pic>
        <p:nvPicPr>
          <p:cNvPr id="81" name="Image 5" descr="preencoded.png">
            <a:extLst>
              <a:ext uri="{FF2B5EF4-FFF2-40B4-BE49-F238E27FC236}">
                <a16:creationId xmlns:a16="http://schemas.microsoft.com/office/drawing/2014/main" id="{A713A7BB-C759-3E09-BC1E-F4BA2F872C3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85543" y="3375048"/>
            <a:ext cx="178953" cy="357906"/>
          </a:xfrm>
          <a:prstGeom prst="rect">
            <a:avLst/>
          </a:prstGeom>
        </p:spPr>
      </p:pic>
      <p:pic>
        <p:nvPicPr>
          <p:cNvPr id="82" name="図 81" descr="31&#10;&#10;AI 生成コンテンツは誤りを含む可能性があります。">
            <a:extLst>
              <a:ext uri="{FF2B5EF4-FFF2-40B4-BE49-F238E27FC236}">
                <a16:creationId xmlns:a16="http://schemas.microsoft.com/office/drawing/2014/main" id="{ED4CCAAA-F817-9D56-3BCB-2D1FE3F1E36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90536" y="3323272"/>
            <a:ext cx="1027877" cy="963635"/>
          </a:xfrm>
          <a:prstGeom prst="rect">
            <a:avLst/>
          </a:prstGeom>
        </p:spPr>
      </p:pic>
      <p:pic>
        <p:nvPicPr>
          <p:cNvPr id="84" name="図 83" descr="A red race car with a driver in a red suit and green cap is pointing towards a person holding a camera.&#10;&#10;AI 生成コンテンツは誤りを含む可能性があります。">
            <a:extLst>
              <a:ext uri="{FF2B5EF4-FFF2-40B4-BE49-F238E27FC236}">
                <a16:creationId xmlns:a16="http://schemas.microsoft.com/office/drawing/2014/main" id="{E2DCB5AC-9133-ED3B-0E3A-56689BBDC56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807839" y="1243163"/>
            <a:ext cx="1387599" cy="13875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5" name="図 84">
            <a:extLst>
              <a:ext uri="{FF2B5EF4-FFF2-40B4-BE49-F238E27FC236}">
                <a16:creationId xmlns:a16="http://schemas.microsoft.com/office/drawing/2014/main" id="{F58FA252-432B-5C3B-FFCB-CC13AE29318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031506" y="5430859"/>
            <a:ext cx="958727" cy="850870"/>
          </a:xfrm>
          <a:prstGeom prst="rect">
            <a:avLst/>
          </a:prstGeom>
          <a:effectLst>
            <a:glow rad="88900">
              <a:schemeClr val="bg1">
                <a:alpha val="90000"/>
              </a:schemeClr>
            </a:glo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">
            <a:extLst>
              <a:ext uri="{FF2B5EF4-FFF2-40B4-BE49-F238E27FC236}">
                <a16:creationId xmlns:a16="http://schemas.microsoft.com/office/drawing/2014/main" id="{F749C517-8FA8-2A2C-F093-2ED5B2B4208A}"/>
              </a:ext>
            </a:extLst>
          </p:cNvPr>
          <p:cNvSpPr/>
          <p:nvPr/>
        </p:nvSpPr>
        <p:spPr>
          <a:xfrm>
            <a:off x="-47718" y="-21511"/>
            <a:ext cx="12239718" cy="68409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304495" y="304495"/>
            <a:ext cx="504749" cy="228600"/>
          </a:xfrm>
          <a:prstGeom prst="roundRect">
            <a:avLst>
              <a:gd name="adj" fmla="val 133333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 txBox="1"/>
          <p:nvPr/>
        </p:nvSpPr>
        <p:spPr>
          <a:xfrm>
            <a:off x="1786535" y="212876"/>
            <a:ext cx="9945659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3200" b="1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</a:t>
            </a:r>
            <a:r>
              <a:rPr lang="ja-JP" altLang="en-US" sz="3200" b="1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</a:t>
            </a:r>
            <a:r>
              <a:rPr lang="en-US" sz="3200" b="1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今月の最終営業日を出す</a:t>
            </a:r>
            <a:r>
              <a:rPr lang="ja-JP" altLang="en-US" sz="3200" b="1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方法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20028" y="767585"/>
            <a:ext cx="10806430" cy="31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“最終営業日を先に決める”のではなく、“月末 → 曜日で調整”が最も安定 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495" y="993038"/>
            <a:ext cx="171907" cy="1719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3697" y="1206042"/>
            <a:ext cx="3200401" cy="1623112"/>
          </a:xfrm>
          <a:prstGeom prst="roundRect">
            <a:avLst>
              <a:gd name="adj" fmla="val 4741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ja-JP" altLang="en-US" sz="3600"/>
          </a:p>
        </p:txBody>
      </p:sp>
      <p:sp>
        <p:nvSpPr>
          <p:cNvPr id="12" name="Shape 8"/>
          <p:cNvSpPr/>
          <p:nvPr/>
        </p:nvSpPr>
        <p:spPr>
          <a:xfrm>
            <a:off x="304495" y="1218895"/>
            <a:ext cx="38405" cy="1714500"/>
          </a:xfrm>
          <a:prstGeom prst="roundRect">
            <a:avLst>
              <a:gd name="adj" fmla="val 211639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13" name="Text 9"/>
          <p:cNvSpPr txBox="1"/>
          <p:nvPr/>
        </p:nvSpPr>
        <p:spPr>
          <a:xfrm>
            <a:off x="718583" y="1295705"/>
            <a:ext cx="24953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よくある誤解 </a:t>
            </a:r>
            <a:endParaRPr lang="en-US" sz="2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2633" y="1293453"/>
            <a:ext cx="282042" cy="2820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11505" y="1795389"/>
            <a:ext cx="28959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8717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</a:t>
            </a:r>
            <a:r>
              <a:rPr lang="en-US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毎月の月末(30/31/28)が違うから式が作れない </a:t>
            </a:r>
            <a:endParaRPr lang="en-US" b="1" dirty="0"/>
          </a:p>
        </p:txBody>
      </p:sp>
      <p:sp>
        <p:nvSpPr>
          <p:cNvPr id="17" name="Text 12"/>
          <p:cNvSpPr txBox="1"/>
          <p:nvPr/>
        </p:nvSpPr>
        <p:spPr>
          <a:xfrm>
            <a:off x="247802" y="2539581"/>
            <a:ext cx="3111073" cy="19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毎月ズレる不安定ロジック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296943" y="2958606"/>
            <a:ext cx="3349878" cy="2099536"/>
          </a:xfrm>
          <a:prstGeom prst="roundRect">
            <a:avLst>
              <a:gd name="adj" fmla="val 341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 sz="3600"/>
          </a:p>
        </p:txBody>
      </p:sp>
      <p:sp>
        <p:nvSpPr>
          <p:cNvPr id="20" name="Text 15"/>
          <p:cNvSpPr txBox="1"/>
          <p:nvPr/>
        </p:nvSpPr>
        <p:spPr>
          <a:xfrm>
            <a:off x="655176" y="3085706"/>
            <a:ext cx="25338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おススメ</a:t>
            </a:r>
            <a:r>
              <a:rPr lang="en-US" sz="24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発想 </a:t>
            </a:r>
            <a:endParaRPr lang="en-US" sz="24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 l="-1773" r="-1773"/>
          <a:stretch/>
        </p:blipFill>
        <p:spPr>
          <a:xfrm>
            <a:off x="372511" y="3056904"/>
            <a:ext cx="192678" cy="3049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05427" y="3493021"/>
            <a:ext cx="26554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</a:t>
            </a:r>
            <a:endParaRPr lang="en-US" dirty="0"/>
          </a:p>
        </p:txBody>
      </p:sp>
      <p:sp>
        <p:nvSpPr>
          <p:cNvPr id="23" name="Text 17"/>
          <p:cNvSpPr txBox="1"/>
          <p:nvPr/>
        </p:nvSpPr>
        <p:spPr>
          <a:xfrm>
            <a:off x="1287933" y="3473818"/>
            <a:ext cx="2743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まず“今月末”を出す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382896" y="3878974"/>
            <a:ext cx="26554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</a:t>
            </a:r>
            <a:endParaRPr lang="en-US" dirty="0"/>
          </a:p>
        </p:txBody>
      </p:sp>
      <p:sp>
        <p:nvSpPr>
          <p:cNvPr id="25" name="Text 19"/>
          <p:cNvSpPr txBox="1"/>
          <p:nvPr/>
        </p:nvSpPr>
        <p:spPr>
          <a:xfrm>
            <a:off x="1315262" y="3855797"/>
            <a:ext cx="2743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曜日を見て調整</a:t>
            </a:r>
            <a:endParaRPr lang="en-US" sz="2000" dirty="0"/>
          </a:p>
        </p:txBody>
      </p:sp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AE077684-9A8A-C823-8F77-6245CA66614B}"/>
              </a:ext>
            </a:extLst>
          </p:cNvPr>
          <p:cNvGrpSpPr/>
          <p:nvPr/>
        </p:nvGrpSpPr>
        <p:grpSpPr>
          <a:xfrm>
            <a:off x="359627" y="4245725"/>
            <a:ext cx="2665103" cy="763664"/>
            <a:chOff x="405427" y="4489310"/>
            <a:chExt cx="2665103" cy="763664"/>
          </a:xfrm>
        </p:grpSpPr>
        <p:sp>
          <p:nvSpPr>
            <p:cNvPr id="26" name="Shape 20"/>
            <p:cNvSpPr/>
            <p:nvPr/>
          </p:nvSpPr>
          <p:spPr>
            <a:xfrm flipH="1">
              <a:off x="405427" y="4489310"/>
              <a:ext cx="82626" cy="609905"/>
            </a:xfrm>
            <a:prstGeom prst="rect">
              <a:avLst/>
            </a:prstGeom>
            <a:solidFill>
              <a:srgbClr val="BFDBFE"/>
            </a:solidFill>
            <a:ln w="12700">
              <a:solidFill>
                <a:srgbClr val="BFDBF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4400"/>
            </a:p>
          </p:txBody>
        </p:sp>
        <p:sp>
          <p:nvSpPr>
            <p:cNvPr id="27" name="Text 21"/>
            <p:cNvSpPr txBox="1"/>
            <p:nvPr/>
          </p:nvSpPr>
          <p:spPr>
            <a:xfrm>
              <a:off x="637629" y="4508361"/>
              <a:ext cx="1057047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土曜</a:t>
              </a:r>
              <a:endParaRPr lang="en-US" b="1" dirty="0"/>
            </a:p>
          </p:txBody>
        </p:sp>
        <p:sp>
          <p:nvSpPr>
            <p:cNvPr id="28" name="Text 22"/>
            <p:cNvSpPr txBox="1"/>
            <p:nvPr/>
          </p:nvSpPr>
          <p:spPr>
            <a:xfrm>
              <a:off x="1933464" y="4489312"/>
              <a:ext cx="814731" cy="941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-1日</a:t>
              </a:r>
              <a:endParaRPr lang="en-US" dirty="0"/>
            </a:p>
          </p:txBody>
        </p:sp>
        <p:sp>
          <p:nvSpPr>
            <p:cNvPr id="29" name="Text 23"/>
            <p:cNvSpPr txBox="1"/>
            <p:nvPr/>
          </p:nvSpPr>
          <p:spPr>
            <a:xfrm>
              <a:off x="621555" y="4739806"/>
              <a:ext cx="1562709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日曜</a:t>
              </a:r>
              <a:endParaRPr lang="en-US" b="1" dirty="0"/>
            </a:p>
          </p:txBody>
        </p:sp>
        <p:sp>
          <p:nvSpPr>
            <p:cNvPr id="30" name="Text 24"/>
            <p:cNvSpPr txBox="1"/>
            <p:nvPr/>
          </p:nvSpPr>
          <p:spPr>
            <a:xfrm>
              <a:off x="1937030" y="5061864"/>
              <a:ext cx="113350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-2日</a:t>
              </a:r>
              <a:endParaRPr lang="en-US" dirty="0"/>
            </a:p>
          </p:txBody>
        </p:sp>
        <p:sp>
          <p:nvSpPr>
            <p:cNvPr id="31" name="Text 25"/>
            <p:cNvSpPr txBox="1"/>
            <p:nvPr/>
          </p:nvSpPr>
          <p:spPr>
            <a:xfrm>
              <a:off x="605299" y="5035462"/>
              <a:ext cx="1195833" cy="1152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平日</a:t>
              </a:r>
              <a:endParaRPr lang="en-US" b="1" dirty="0"/>
            </a:p>
          </p:txBody>
        </p:sp>
        <p:sp>
          <p:nvSpPr>
            <p:cNvPr id="32" name="Text 26"/>
            <p:cNvSpPr txBox="1"/>
            <p:nvPr/>
          </p:nvSpPr>
          <p:spPr>
            <a:xfrm>
              <a:off x="1696661" y="4748532"/>
              <a:ext cx="949858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そのまま</a:t>
              </a:r>
              <a:endParaRPr lang="en-US" dirty="0"/>
            </a:p>
          </p:txBody>
        </p:sp>
      </p:grpSp>
      <p:sp>
        <p:nvSpPr>
          <p:cNvPr id="53" name="Shape 37"/>
          <p:cNvSpPr/>
          <p:nvPr/>
        </p:nvSpPr>
        <p:spPr>
          <a:xfrm>
            <a:off x="8483803" y="1218895"/>
            <a:ext cx="3460395" cy="1457554"/>
          </a:xfrm>
          <a:prstGeom prst="roundRect">
            <a:avLst>
              <a:gd name="adj" fmla="val 6561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54" name="Shape 38"/>
          <p:cNvSpPr/>
          <p:nvPr/>
        </p:nvSpPr>
        <p:spPr>
          <a:xfrm>
            <a:off x="8635594" y="1677010"/>
            <a:ext cx="25904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55" name="Text 39"/>
          <p:cNvSpPr txBox="1"/>
          <p:nvPr/>
        </p:nvSpPr>
        <p:spPr>
          <a:xfrm>
            <a:off x="8864194" y="1352295"/>
            <a:ext cx="2438705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使えるシーン </a:t>
            </a:r>
            <a:endParaRPr lang="en-US" sz="2400" dirty="0"/>
          </a:p>
        </p:txBody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53754" y="1328165"/>
            <a:ext cx="234545" cy="234545"/>
          </a:xfrm>
          <a:prstGeom prst="rect">
            <a:avLst/>
          </a:prstGeom>
        </p:spPr>
      </p:pic>
      <p:sp>
        <p:nvSpPr>
          <p:cNvPr id="57" name="Text 40"/>
          <p:cNvSpPr txBox="1"/>
          <p:nvPr/>
        </p:nvSpPr>
        <p:spPr>
          <a:xfrm>
            <a:off x="8825788" y="1717786"/>
            <a:ext cx="30540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請求書の最終営業日送信</a:t>
            </a:r>
            <a:endParaRPr lang="en-US" b="1" dirty="0"/>
          </a:p>
        </p:txBody>
      </p:sp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583903" y="1746996"/>
            <a:ext cx="155398" cy="206645"/>
          </a:xfrm>
          <a:prstGeom prst="rect">
            <a:avLst/>
          </a:prstGeom>
        </p:spPr>
      </p:pic>
      <p:sp>
        <p:nvSpPr>
          <p:cNvPr id="59" name="Text 41"/>
          <p:cNvSpPr txBox="1"/>
          <p:nvPr/>
        </p:nvSpPr>
        <p:spPr>
          <a:xfrm>
            <a:off x="8869708" y="2094551"/>
            <a:ext cx="2600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月末締めレポート通知</a:t>
            </a:r>
            <a:endParaRPr lang="en-US" b="1" dirty="0"/>
          </a:p>
        </p:txBody>
      </p:sp>
      <p:pic>
        <p:nvPicPr>
          <p:cNvPr id="60" name="Image 16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8553755" y="2071981"/>
            <a:ext cx="202084" cy="219657"/>
          </a:xfrm>
          <a:prstGeom prst="rect">
            <a:avLst/>
          </a:prstGeom>
        </p:spPr>
      </p:pic>
      <p:sp>
        <p:nvSpPr>
          <p:cNvPr id="61" name="Text 42"/>
          <p:cNvSpPr txBox="1"/>
          <p:nvPr/>
        </p:nvSpPr>
        <p:spPr>
          <a:xfrm>
            <a:off x="8825788" y="2333548"/>
            <a:ext cx="3118409" cy="379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SPO「締め日」列の自動入力</a:t>
            </a:r>
            <a:endParaRPr lang="en-US" b="1" dirty="0"/>
          </a:p>
        </p:txBody>
      </p:sp>
      <p:pic>
        <p:nvPicPr>
          <p:cNvPr id="62" name="Image 1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553754" y="2371954"/>
            <a:ext cx="196140" cy="196140"/>
          </a:xfrm>
          <a:prstGeom prst="rect">
            <a:avLst/>
          </a:prstGeom>
        </p:spPr>
      </p:pic>
      <p:sp>
        <p:nvSpPr>
          <p:cNvPr id="63" name="Shape 43"/>
          <p:cNvSpPr/>
          <p:nvPr/>
        </p:nvSpPr>
        <p:spPr>
          <a:xfrm>
            <a:off x="8430254" y="2873565"/>
            <a:ext cx="3609346" cy="2010817"/>
          </a:xfrm>
          <a:prstGeom prst="roundRect">
            <a:avLst>
              <a:gd name="adj" fmla="val 203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64" name="Shape 44"/>
          <p:cNvSpPr/>
          <p:nvPr/>
        </p:nvSpPr>
        <p:spPr>
          <a:xfrm>
            <a:off x="8635594" y="3286354"/>
            <a:ext cx="2590495" cy="9144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65" name="Text 45"/>
          <p:cNvSpPr txBox="1"/>
          <p:nvPr/>
        </p:nvSpPr>
        <p:spPr>
          <a:xfrm>
            <a:off x="8864194" y="2980944"/>
            <a:ext cx="2438705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A3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メリット </a:t>
            </a:r>
            <a:endParaRPr lang="en-US" sz="2400" dirty="0"/>
          </a:p>
        </p:txBody>
      </p:sp>
      <p:pic>
        <p:nvPicPr>
          <p:cNvPr id="66" name="Image 1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566150" y="3019349"/>
            <a:ext cx="222149" cy="222149"/>
          </a:xfrm>
          <a:prstGeom prst="rect">
            <a:avLst/>
          </a:prstGeom>
        </p:spPr>
      </p:pic>
      <p:sp>
        <p:nvSpPr>
          <p:cNvPr id="67" name="Text 46"/>
          <p:cNvSpPr txBox="1"/>
          <p:nvPr/>
        </p:nvSpPr>
        <p:spPr>
          <a:xfrm>
            <a:off x="8743872" y="3396562"/>
            <a:ext cx="3433226" cy="229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月末の日数(28-31)に依存しない </a:t>
            </a:r>
            <a:endParaRPr lang="en-US" b="1" dirty="0"/>
          </a:p>
        </p:txBody>
      </p:sp>
      <p:sp>
        <p:nvSpPr>
          <p:cNvPr id="69" name="Text 47"/>
          <p:cNvSpPr txBox="1"/>
          <p:nvPr/>
        </p:nvSpPr>
        <p:spPr>
          <a:xfrm>
            <a:off x="8846729" y="3890900"/>
            <a:ext cx="2591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土日補正が自動で効く </a:t>
            </a:r>
            <a:endParaRPr lang="en-US" b="1" dirty="0"/>
          </a:p>
        </p:txBody>
      </p:sp>
      <p:sp>
        <p:nvSpPr>
          <p:cNvPr id="71" name="Text 48"/>
          <p:cNvSpPr txBox="1"/>
          <p:nvPr/>
        </p:nvSpPr>
        <p:spPr>
          <a:xfrm>
            <a:off x="8834772" y="4352451"/>
            <a:ext cx="3045113" cy="217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業務カレンダーのズレ防止 </a:t>
            </a:r>
            <a:endParaRPr lang="en-US" b="1" dirty="0"/>
          </a:p>
        </p:txBody>
      </p:sp>
      <p:pic>
        <p:nvPicPr>
          <p:cNvPr id="72" name="Image 21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8538903" y="3387282"/>
            <a:ext cx="249396" cy="291294"/>
          </a:xfrm>
          <a:prstGeom prst="rect">
            <a:avLst/>
          </a:prstGeom>
        </p:spPr>
      </p:pic>
      <p:sp>
        <p:nvSpPr>
          <p:cNvPr id="73" name="Shape 49"/>
          <p:cNvSpPr/>
          <p:nvPr/>
        </p:nvSpPr>
        <p:spPr>
          <a:xfrm>
            <a:off x="285445" y="5160356"/>
            <a:ext cx="11582705" cy="1782028"/>
          </a:xfrm>
          <a:prstGeom prst="roundRect">
            <a:avLst>
              <a:gd name="adj" fmla="val 740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74" name="Shape 50"/>
          <p:cNvSpPr/>
          <p:nvPr/>
        </p:nvSpPr>
        <p:spPr>
          <a:xfrm>
            <a:off x="5664671" y="5727081"/>
            <a:ext cx="9144" cy="106710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76" name="Shape 52"/>
          <p:cNvSpPr/>
          <p:nvPr/>
        </p:nvSpPr>
        <p:spPr>
          <a:xfrm>
            <a:off x="372511" y="5262611"/>
            <a:ext cx="2671407" cy="268479"/>
          </a:xfrm>
          <a:prstGeom prst="roundRect">
            <a:avLst>
              <a:gd name="adj" fmla="val 265869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grpSp>
        <p:nvGrpSpPr>
          <p:cNvPr id="106" name="グループ化 105">
            <a:extLst>
              <a:ext uri="{FF2B5EF4-FFF2-40B4-BE49-F238E27FC236}">
                <a16:creationId xmlns:a16="http://schemas.microsoft.com/office/drawing/2014/main" id="{DC72184B-123C-5DB0-B84C-D2765A68AF0B}"/>
              </a:ext>
            </a:extLst>
          </p:cNvPr>
          <p:cNvGrpSpPr/>
          <p:nvPr/>
        </p:nvGrpSpPr>
        <p:grpSpPr>
          <a:xfrm>
            <a:off x="476402" y="5622707"/>
            <a:ext cx="5410505" cy="1029641"/>
            <a:chOff x="457200" y="5982005"/>
            <a:chExt cx="5410505" cy="869594"/>
          </a:xfrm>
        </p:grpSpPr>
        <p:sp>
          <p:nvSpPr>
            <p:cNvPr id="78" name="Text 54"/>
            <p:cNvSpPr txBox="1"/>
            <p:nvPr/>
          </p:nvSpPr>
          <p:spPr>
            <a:xfrm>
              <a:off x="457200" y="5982005"/>
              <a:ext cx="5410505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BFDBF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addDays(</a:t>
              </a:r>
              <a:endParaRPr lang="en-US" sz="1600" dirty="0"/>
            </a:p>
          </p:txBody>
        </p:sp>
        <p:sp>
          <p:nvSpPr>
            <p:cNvPr id="79" name="Text 55"/>
            <p:cNvSpPr txBox="1"/>
            <p:nvPr/>
          </p:nvSpPr>
          <p:spPr>
            <a:xfrm>
              <a:off x="457200" y="6198718"/>
              <a:ext cx="5410505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BFDBF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startOfMonth( </a:t>
              </a:r>
              <a:r>
                <a:rPr lang="en-US" sz="1600" dirty="0">
                  <a:solidFill>
                    <a:srgbClr val="FCD34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addMonths(utcNow(), 1)</a:t>
              </a:r>
              <a:r>
                <a:rPr lang="en-US" sz="1600" dirty="0">
                  <a:solidFill>
                    <a:srgbClr val="BFDBF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),</a:t>
              </a:r>
              <a:endParaRPr lang="en-US" sz="1600" dirty="0"/>
            </a:p>
          </p:txBody>
        </p:sp>
        <p:sp>
          <p:nvSpPr>
            <p:cNvPr id="80" name="Text 56"/>
            <p:cNvSpPr txBox="1"/>
            <p:nvPr/>
          </p:nvSpPr>
          <p:spPr>
            <a:xfrm>
              <a:off x="457200" y="6415430"/>
              <a:ext cx="5410505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F9A8D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-1</a:t>
              </a:r>
              <a:endParaRPr lang="en-US" sz="1600" dirty="0"/>
            </a:p>
          </p:txBody>
        </p:sp>
        <p:sp>
          <p:nvSpPr>
            <p:cNvPr id="81" name="Text 57"/>
            <p:cNvSpPr txBox="1"/>
            <p:nvPr/>
          </p:nvSpPr>
          <p:spPr>
            <a:xfrm>
              <a:off x="457200" y="6632143"/>
              <a:ext cx="5410505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BFDBF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sz="1600" dirty="0"/>
            </a:p>
          </p:txBody>
        </p:sp>
      </p:grpSp>
      <p:grpSp>
        <p:nvGrpSpPr>
          <p:cNvPr id="107" name="グループ化 106">
            <a:extLst>
              <a:ext uri="{FF2B5EF4-FFF2-40B4-BE49-F238E27FC236}">
                <a16:creationId xmlns:a16="http://schemas.microsoft.com/office/drawing/2014/main" id="{0F34B236-D7E8-3C7D-9BD5-6469260169E1}"/>
              </a:ext>
            </a:extLst>
          </p:cNvPr>
          <p:cNvGrpSpPr/>
          <p:nvPr/>
        </p:nvGrpSpPr>
        <p:grpSpPr>
          <a:xfrm>
            <a:off x="6306972" y="5591040"/>
            <a:ext cx="5563210" cy="1344499"/>
            <a:chOff x="6288329" y="5959948"/>
            <a:chExt cx="5563210" cy="933615"/>
          </a:xfrm>
        </p:grpSpPr>
        <p:sp>
          <p:nvSpPr>
            <p:cNvPr id="85" name="Text 61"/>
            <p:cNvSpPr txBox="1"/>
            <p:nvPr/>
          </p:nvSpPr>
          <p:spPr>
            <a:xfrm>
              <a:off x="6288329" y="5959948"/>
              <a:ext cx="556321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C4B5F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if</a:t>
              </a:r>
              <a:r>
                <a:rPr lang="en-US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(weekday == </a:t>
              </a:r>
              <a:r>
                <a:rPr lang="en-US" dirty="0">
                  <a:solidFill>
                    <a:srgbClr val="6EE7B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6</a:t>
              </a:r>
              <a:r>
                <a:rPr lang="en-US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 </a:t>
              </a:r>
              <a:r>
                <a:rPr lang="en-US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土曜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86" name="Text 62"/>
            <p:cNvSpPr txBox="1"/>
            <p:nvPr/>
          </p:nvSpPr>
          <p:spPr>
            <a:xfrm>
              <a:off x="6288329" y="6145571"/>
              <a:ext cx="556321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→ addDays(今月末, </a:t>
              </a:r>
              <a:r>
                <a:rPr lang="en-US" dirty="0">
                  <a:solidFill>
                    <a:srgbClr val="F9A8D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-1</a:t>
              </a:r>
              <a:r>
                <a:rPr lang="en-US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dirty="0"/>
            </a:p>
          </p:txBody>
        </p:sp>
        <p:sp>
          <p:nvSpPr>
            <p:cNvPr id="87" name="Text 63"/>
            <p:cNvSpPr txBox="1"/>
            <p:nvPr/>
          </p:nvSpPr>
          <p:spPr>
            <a:xfrm>
              <a:off x="6288329" y="6331195"/>
              <a:ext cx="556321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C4B5F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else if</a:t>
              </a:r>
              <a:r>
                <a:rPr lang="en-US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(weekday == </a:t>
              </a:r>
              <a:r>
                <a:rPr lang="en-US" dirty="0">
                  <a:solidFill>
                    <a:srgbClr val="6EE7B7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</a:t>
              </a:r>
              <a:r>
                <a:rPr lang="en-US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 </a:t>
              </a:r>
              <a:r>
                <a:rPr lang="en-US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日曜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88" name="Text 64"/>
            <p:cNvSpPr txBox="1"/>
            <p:nvPr/>
          </p:nvSpPr>
          <p:spPr>
            <a:xfrm>
              <a:off x="6288329" y="6516828"/>
              <a:ext cx="556321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→ addDays(今月末, </a:t>
              </a:r>
              <a:r>
                <a:rPr lang="en-US" dirty="0">
                  <a:solidFill>
                    <a:srgbClr val="F9A8D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-2</a:t>
              </a:r>
              <a:r>
                <a:rPr lang="en-US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endParaRPr lang="en-US" dirty="0"/>
            </a:p>
          </p:txBody>
        </p:sp>
        <p:sp>
          <p:nvSpPr>
            <p:cNvPr id="89" name="Text 65"/>
            <p:cNvSpPr txBox="1"/>
            <p:nvPr/>
          </p:nvSpPr>
          <p:spPr>
            <a:xfrm>
              <a:off x="6288329" y="6702453"/>
              <a:ext cx="556321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C4B5F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else</a:t>
              </a:r>
              <a:r>
                <a:rPr lang="en-US" dirty="0">
                  <a:solidFill>
                    <a:srgbClr val="D1D5D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→ 今月末</a:t>
              </a:r>
              <a:endParaRPr lang="en-US" dirty="0"/>
            </a:p>
          </p:txBody>
        </p:sp>
      </p:grpSp>
      <p:pic>
        <p:nvPicPr>
          <p:cNvPr id="93" name="Image 2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752905" y="2787574"/>
            <a:ext cx="142646" cy="190195"/>
          </a:xfrm>
          <a:prstGeom prst="rect">
            <a:avLst/>
          </a:prstGeom>
        </p:spPr>
      </p:pic>
      <p:sp>
        <p:nvSpPr>
          <p:cNvPr id="98" name="四角形: 角を丸くする 97">
            <a:extLst>
              <a:ext uri="{FF2B5EF4-FFF2-40B4-BE49-F238E27FC236}">
                <a16:creationId xmlns:a16="http://schemas.microsoft.com/office/drawing/2014/main" id="{E0A402FE-8DF9-7DE4-DBA6-C2361A99F324}"/>
              </a:ext>
            </a:extLst>
          </p:cNvPr>
          <p:cNvSpPr/>
          <p:nvPr/>
        </p:nvSpPr>
        <p:spPr>
          <a:xfrm>
            <a:off x="44269" y="37490"/>
            <a:ext cx="12103265" cy="693481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DBA09E34-2BAF-0F72-E5CC-BCBDA70EFD46}"/>
              </a:ext>
            </a:extLst>
          </p:cNvPr>
          <p:cNvGrpSpPr/>
          <p:nvPr/>
        </p:nvGrpSpPr>
        <p:grpSpPr>
          <a:xfrm>
            <a:off x="188332" y="128973"/>
            <a:ext cx="1543203" cy="464514"/>
            <a:chOff x="188332" y="78173"/>
            <a:chExt cx="1543203" cy="464514"/>
          </a:xfrm>
        </p:grpSpPr>
        <p:sp>
          <p:nvSpPr>
            <p:cNvPr id="102" name="Shape 2">
              <a:extLst>
                <a:ext uri="{FF2B5EF4-FFF2-40B4-BE49-F238E27FC236}">
                  <a16:creationId xmlns:a16="http://schemas.microsoft.com/office/drawing/2014/main" id="{A5624CCF-DA5A-AF27-3B59-8D7A96E1F46A}"/>
                </a:ext>
              </a:extLst>
            </p:cNvPr>
            <p:cNvSpPr/>
            <p:nvPr/>
          </p:nvSpPr>
          <p:spPr>
            <a:xfrm>
              <a:off x="188332" y="78173"/>
              <a:ext cx="1543203" cy="464514"/>
            </a:xfrm>
            <a:prstGeom prst="roundRect">
              <a:avLst>
                <a:gd name="adj" fmla="val 266667"/>
              </a:avLst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3" name="Text 3">
              <a:extLst>
                <a:ext uri="{FF2B5EF4-FFF2-40B4-BE49-F238E27FC236}">
                  <a16:creationId xmlns:a16="http://schemas.microsoft.com/office/drawing/2014/main" id="{01D1F4D1-BFB6-B8CA-1F27-EA443F2D233E}"/>
                </a:ext>
              </a:extLst>
            </p:cNvPr>
            <p:cNvSpPr txBox="1"/>
            <p:nvPr/>
          </p:nvSpPr>
          <p:spPr>
            <a:xfrm>
              <a:off x="348708" y="184194"/>
              <a:ext cx="131762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kern="0" spc="38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Vol.27</a:t>
              </a:r>
              <a:endParaRPr lang="en-US" sz="3200" dirty="0"/>
            </a:p>
          </p:txBody>
        </p:sp>
      </p:grpSp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CE204924-2A67-02ED-E9E5-D6212B58418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139" y="626006"/>
            <a:ext cx="603863" cy="6038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5" name="Text 51"/>
          <p:cNvSpPr txBox="1"/>
          <p:nvPr/>
        </p:nvSpPr>
        <p:spPr>
          <a:xfrm>
            <a:off x="462970" y="5310517"/>
            <a:ext cx="3975138" cy="219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45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 今月末を計算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9" name="Shape 52">
            <a:extLst>
              <a:ext uri="{FF2B5EF4-FFF2-40B4-BE49-F238E27FC236}">
                <a16:creationId xmlns:a16="http://schemas.microsoft.com/office/drawing/2014/main" id="{2B9208CA-D507-3E14-E78E-4B29906E771C}"/>
              </a:ext>
            </a:extLst>
          </p:cNvPr>
          <p:cNvSpPr/>
          <p:nvPr/>
        </p:nvSpPr>
        <p:spPr>
          <a:xfrm>
            <a:off x="6008976" y="5277250"/>
            <a:ext cx="4905545" cy="320926"/>
          </a:xfrm>
          <a:prstGeom prst="roundRect">
            <a:avLst>
              <a:gd name="adj" fmla="val 265869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82" name="Text 58"/>
          <p:cNvSpPr txBox="1"/>
          <p:nvPr/>
        </p:nvSpPr>
        <p:spPr>
          <a:xfrm>
            <a:off x="6306972" y="5349085"/>
            <a:ext cx="4376152" cy="207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45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 曜日判定ロジック (擬似コード)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2" name="四角形: 上の 2 つの角を丸める 111">
            <a:extLst>
              <a:ext uri="{FF2B5EF4-FFF2-40B4-BE49-F238E27FC236}">
                <a16:creationId xmlns:a16="http://schemas.microsoft.com/office/drawing/2014/main" id="{B3915F1B-BB53-0663-298A-80227B178815}"/>
              </a:ext>
            </a:extLst>
          </p:cNvPr>
          <p:cNvSpPr/>
          <p:nvPr/>
        </p:nvSpPr>
        <p:spPr>
          <a:xfrm rot="16200000">
            <a:off x="-504662" y="1978461"/>
            <a:ext cx="1580213" cy="869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四角形: 上の 2 つの角を丸める 112">
            <a:extLst>
              <a:ext uri="{FF2B5EF4-FFF2-40B4-BE49-F238E27FC236}">
                <a16:creationId xmlns:a16="http://schemas.microsoft.com/office/drawing/2014/main" id="{B8EC6412-4D61-42DF-F80D-CB73A653AADB}"/>
              </a:ext>
            </a:extLst>
          </p:cNvPr>
          <p:cNvSpPr/>
          <p:nvPr/>
        </p:nvSpPr>
        <p:spPr>
          <a:xfrm rot="16200000">
            <a:off x="-756282" y="3957049"/>
            <a:ext cx="2045488" cy="8692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" name="四角形: 上の 2 つの角を丸める 113">
            <a:extLst>
              <a:ext uri="{FF2B5EF4-FFF2-40B4-BE49-F238E27FC236}">
                <a16:creationId xmlns:a16="http://schemas.microsoft.com/office/drawing/2014/main" id="{B8F35026-1E8C-BF53-33F2-E92EAD577DE7}"/>
              </a:ext>
            </a:extLst>
          </p:cNvPr>
          <p:cNvSpPr/>
          <p:nvPr/>
        </p:nvSpPr>
        <p:spPr>
          <a:xfrm rot="16200000">
            <a:off x="7739192" y="1927414"/>
            <a:ext cx="1433634" cy="816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5" name="四角形: 上の 2 つの角を丸める 114">
            <a:extLst>
              <a:ext uri="{FF2B5EF4-FFF2-40B4-BE49-F238E27FC236}">
                <a16:creationId xmlns:a16="http://schemas.microsoft.com/office/drawing/2014/main" id="{53CBF73A-B664-8FFD-B45A-B5A8D77C390A}"/>
              </a:ext>
            </a:extLst>
          </p:cNvPr>
          <p:cNvSpPr/>
          <p:nvPr/>
        </p:nvSpPr>
        <p:spPr>
          <a:xfrm rot="16200000">
            <a:off x="7517268" y="3843714"/>
            <a:ext cx="1903947" cy="8330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7" name="Image 21" descr="preencoded.png">
            <a:extLst>
              <a:ext uri="{FF2B5EF4-FFF2-40B4-BE49-F238E27FC236}">
                <a16:creationId xmlns:a16="http://schemas.microsoft.com/office/drawing/2014/main" id="{94C5CF9A-492B-2DE4-AC52-BC2F08D9E26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8527126" y="3862727"/>
            <a:ext cx="249396" cy="291294"/>
          </a:xfrm>
          <a:prstGeom prst="rect">
            <a:avLst/>
          </a:prstGeom>
        </p:spPr>
      </p:pic>
      <p:pic>
        <p:nvPicPr>
          <p:cNvPr id="118" name="Image 21" descr="preencoded.png">
            <a:extLst>
              <a:ext uri="{FF2B5EF4-FFF2-40B4-BE49-F238E27FC236}">
                <a16:creationId xmlns:a16="http://schemas.microsoft.com/office/drawing/2014/main" id="{AF304DC0-04D1-1238-9599-CA6D962897A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8536904" y="4313681"/>
            <a:ext cx="249396" cy="291294"/>
          </a:xfrm>
          <a:prstGeom prst="rect">
            <a:avLst/>
          </a:prstGeom>
        </p:spPr>
      </p:pic>
      <p:grpSp>
        <p:nvGrpSpPr>
          <p:cNvPr id="144" name="グループ化 143">
            <a:extLst>
              <a:ext uri="{FF2B5EF4-FFF2-40B4-BE49-F238E27FC236}">
                <a16:creationId xmlns:a16="http://schemas.microsoft.com/office/drawing/2014/main" id="{07A0B2EC-32FC-8458-A8FF-F865AC3A54BC}"/>
              </a:ext>
            </a:extLst>
          </p:cNvPr>
          <p:cNvGrpSpPr/>
          <p:nvPr/>
        </p:nvGrpSpPr>
        <p:grpSpPr>
          <a:xfrm>
            <a:off x="3889846" y="1137715"/>
            <a:ext cx="4390319" cy="3951825"/>
            <a:chOff x="3743855" y="1163781"/>
            <a:chExt cx="4390319" cy="3951825"/>
          </a:xfrm>
        </p:grpSpPr>
        <p:sp>
          <p:nvSpPr>
            <p:cNvPr id="35" name="Text 27"/>
            <p:cNvSpPr txBox="1"/>
            <p:nvPr/>
          </p:nvSpPr>
          <p:spPr>
            <a:xfrm>
              <a:off x="3932174" y="2488221"/>
              <a:ext cx="1922983" cy="3429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114300" tIns="76200" rIns="114300" bIns="7620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土曜日なら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pic>
          <p:nvPicPr>
            <p:cNvPr id="37" name="Image 7" descr="preencoded.png"/>
            <p:cNvPicPr>
              <a:picLocks noChangeAspect="1"/>
            </p:cNvPicPr>
            <p:nvPr/>
          </p:nvPicPr>
          <p:blipFill>
            <a:blip r:embed="rId14"/>
            <a:srcRect t="-14" b="-14"/>
            <a:stretch/>
          </p:blipFill>
          <p:spPr>
            <a:xfrm>
              <a:off x="3784777" y="3099278"/>
              <a:ext cx="2009574" cy="886053"/>
            </a:xfrm>
            <a:prstGeom prst="rect">
              <a:avLst/>
            </a:prstGeom>
          </p:spPr>
        </p:pic>
        <p:sp>
          <p:nvSpPr>
            <p:cNvPr id="38" name="Text 28"/>
            <p:cNvSpPr txBox="1"/>
            <p:nvPr/>
          </p:nvSpPr>
          <p:spPr>
            <a:xfrm>
              <a:off x="4177006" y="3255042"/>
              <a:ext cx="120426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最終営業日</a:t>
              </a:r>
              <a:endParaRPr lang="en-US" dirty="0"/>
            </a:p>
          </p:txBody>
        </p:sp>
        <p:pic>
          <p:nvPicPr>
            <p:cNvPr id="39" name="Image 8" descr="preencoded.png"/>
            <p:cNvPicPr>
              <a:picLocks noChangeAspect="1"/>
            </p:cNvPicPr>
            <p:nvPr/>
          </p:nvPicPr>
          <p:blipFill>
            <a:blip r:embed="rId15"/>
            <a:srcRect l="-7143" r="-7143"/>
            <a:stretch/>
          </p:blipFill>
          <p:spPr>
            <a:xfrm>
              <a:off x="3889846" y="3516675"/>
              <a:ext cx="309622" cy="309622"/>
            </a:xfrm>
            <a:prstGeom prst="rect">
              <a:avLst/>
            </a:prstGeom>
          </p:spPr>
        </p:pic>
        <p:sp>
          <p:nvSpPr>
            <p:cNvPr id="40" name="Text 29"/>
            <p:cNvSpPr txBox="1"/>
            <p:nvPr/>
          </p:nvSpPr>
          <p:spPr>
            <a:xfrm>
              <a:off x="4169204" y="3448705"/>
              <a:ext cx="1455724" cy="4672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6A34A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前日 (-1)</a:t>
              </a:r>
              <a:endParaRPr lang="en-US" sz="2400" dirty="0"/>
            </a:p>
          </p:txBody>
        </p:sp>
        <p:sp>
          <p:nvSpPr>
            <p:cNvPr id="44" name="Text 33"/>
            <p:cNvSpPr txBox="1"/>
            <p:nvPr/>
          </p:nvSpPr>
          <p:spPr>
            <a:xfrm>
              <a:off x="6256122" y="2473020"/>
              <a:ext cx="1878052" cy="35295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114300" tIns="76200" rIns="114300" bIns="7620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日曜日なら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pic>
          <p:nvPicPr>
            <p:cNvPr id="46" name="Image 10" descr="preencoded.png"/>
            <p:cNvPicPr>
              <a:picLocks noChangeAspect="1"/>
            </p:cNvPicPr>
            <p:nvPr/>
          </p:nvPicPr>
          <p:blipFill>
            <a:blip r:embed="rId14"/>
            <a:srcRect t="-14" b="-14"/>
            <a:stretch/>
          </p:blipFill>
          <p:spPr>
            <a:xfrm>
              <a:off x="5990961" y="3093233"/>
              <a:ext cx="2037435" cy="867960"/>
            </a:xfrm>
            <a:prstGeom prst="rect">
              <a:avLst/>
            </a:prstGeom>
          </p:spPr>
        </p:pic>
        <p:sp>
          <p:nvSpPr>
            <p:cNvPr id="47" name="Text 34"/>
            <p:cNvSpPr txBox="1"/>
            <p:nvPr/>
          </p:nvSpPr>
          <p:spPr>
            <a:xfrm>
              <a:off x="6400584" y="3268391"/>
              <a:ext cx="120426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最終営業日</a:t>
              </a:r>
              <a:endParaRPr lang="en-US" dirty="0"/>
            </a:p>
          </p:txBody>
        </p:sp>
        <p:pic>
          <p:nvPicPr>
            <p:cNvPr id="48" name="Image 11" descr="preencoded.png"/>
            <p:cNvPicPr>
              <a:picLocks noChangeAspect="1"/>
            </p:cNvPicPr>
            <p:nvPr/>
          </p:nvPicPr>
          <p:blipFill>
            <a:blip r:embed="rId15"/>
            <a:srcRect l="-7143" r="-7143"/>
            <a:stretch/>
          </p:blipFill>
          <p:spPr>
            <a:xfrm>
              <a:off x="6095901" y="3513696"/>
              <a:ext cx="302464" cy="302464"/>
            </a:xfrm>
            <a:prstGeom prst="rect">
              <a:avLst/>
            </a:prstGeom>
          </p:spPr>
        </p:pic>
        <p:sp>
          <p:nvSpPr>
            <p:cNvPr id="49" name="Text 35"/>
            <p:cNvSpPr txBox="1"/>
            <p:nvPr/>
          </p:nvSpPr>
          <p:spPr>
            <a:xfrm>
              <a:off x="6306972" y="3495991"/>
              <a:ext cx="1730960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6A34A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前々日 (-2)</a:t>
              </a:r>
              <a:endParaRPr lang="en-US" sz="2400" dirty="0"/>
            </a:p>
          </p:txBody>
        </p:sp>
        <p:pic>
          <p:nvPicPr>
            <p:cNvPr id="50" name="Image 12" descr="preencoded.png"/>
            <p:cNvPicPr>
              <a:picLocks noChangeAspect="1"/>
            </p:cNvPicPr>
            <p:nvPr/>
          </p:nvPicPr>
          <p:blipFill>
            <a:blip r:embed="rId16"/>
            <a:srcRect l="-88" r="-88"/>
            <a:stretch/>
          </p:blipFill>
          <p:spPr>
            <a:xfrm>
              <a:off x="3743855" y="4438951"/>
              <a:ext cx="4275143" cy="676655"/>
            </a:xfrm>
            <a:prstGeom prst="rect">
              <a:avLst/>
            </a:prstGeom>
          </p:spPr>
        </p:pic>
        <p:sp>
          <p:nvSpPr>
            <p:cNvPr id="51" name="Text 36"/>
            <p:cNvSpPr/>
            <p:nvPr/>
          </p:nvSpPr>
          <p:spPr>
            <a:xfrm>
              <a:off x="4540910" y="4473034"/>
              <a:ext cx="3172054" cy="6281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 月末を「直接計算</a:t>
              </a:r>
              <a:r>
                <a:rPr lang="en-US" sz="2000" b="1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」せず</a:t>
              </a:r>
            </a:p>
            <a:p>
              <a:pPr marL="0" indent="0" algn="l">
                <a:buNone/>
              </a:pPr>
              <a:r>
                <a:rPr lang="en-US" sz="2000" b="1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「</a:t>
              </a:r>
              <a:r>
                <a:rPr lang="en-US" sz="20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補正」するだけでOK </a:t>
              </a:r>
              <a:endParaRPr lang="en-US" sz="2000" dirty="0"/>
            </a:p>
          </p:txBody>
        </p:sp>
        <p:pic>
          <p:nvPicPr>
            <p:cNvPr id="52" name="Image 13" descr="preencoded.png"/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3945113" y="4647508"/>
              <a:ext cx="304495" cy="304495"/>
            </a:xfrm>
            <a:prstGeom prst="rect">
              <a:avLst/>
            </a:prstGeom>
          </p:spPr>
        </p:pic>
        <p:sp>
          <p:nvSpPr>
            <p:cNvPr id="95" name="Text 67"/>
            <p:cNvSpPr txBox="1"/>
            <p:nvPr/>
          </p:nvSpPr>
          <p:spPr>
            <a:xfrm>
              <a:off x="3969701" y="1732982"/>
              <a:ext cx="4049297" cy="4317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6B728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startOfMonth</a:t>
              </a:r>
            </a:p>
            <a:p>
              <a:pPr marL="0" indent="0" algn="ctr">
                <a:buNone/>
              </a:pPr>
              <a:r>
                <a:rPr lang="en-US" sz="2400" b="1">
                  <a:solidFill>
                    <a:srgbClr val="6B728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sz="2400" b="1" dirty="0">
                  <a:solidFill>
                    <a:srgbClr val="6B728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addMonths(今日,1)) -1</a:t>
              </a:r>
              <a:endParaRPr lang="en-US" sz="2400" b="1" dirty="0"/>
            </a:p>
          </p:txBody>
        </p:sp>
        <p:pic>
          <p:nvPicPr>
            <p:cNvPr id="96" name="Image 26" descr="preencoded.png"/>
            <p:cNvPicPr>
              <a:picLocks noChangeAspect="1"/>
            </p:cNvPicPr>
            <p:nvPr/>
          </p:nvPicPr>
          <p:blipFill>
            <a:blip r:embed="rId18"/>
            <a:srcRect t="-43" b="-43"/>
            <a:stretch/>
          </p:blipFill>
          <p:spPr>
            <a:xfrm>
              <a:off x="4668928" y="1225257"/>
              <a:ext cx="299923" cy="343064"/>
            </a:xfrm>
            <a:prstGeom prst="rect">
              <a:avLst/>
            </a:prstGeom>
          </p:spPr>
        </p:pic>
        <p:sp>
          <p:nvSpPr>
            <p:cNvPr id="97" name="Text 68"/>
            <p:cNvSpPr txBox="1"/>
            <p:nvPr/>
          </p:nvSpPr>
          <p:spPr>
            <a:xfrm>
              <a:off x="4990877" y="1320760"/>
              <a:ext cx="2236623" cy="1618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F2937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今月末（仮）</a:t>
              </a:r>
              <a:endParaRPr lang="en-US" sz="2400" dirty="0"/>
            </a:p>
          </p:txBody>
        </p:sp>
        <p:sp>
          <p:nvSpPr>
            <p:cNvPr id="116" name="四角形: 角を丸くする 115">
              <a:extLst>
                <a:ext uri="{FF2B5EF4-FFF2-40B4-BE49-F238E27FC236}">
                  <a16:creationId xmlns:a16="http://schemas.microsoft.com/office/drawing/2014/main" id="{F368972B-018E-E648-32A5-05FE5E902E85}"/>
                </a:ext>
              </a:extLst>
            </p:cNvPr>
            <p:cNvSpPr/>
            <p:nvPr/>
          </p:nvSpPr>
          <p:spPr>
            <a:xfrm>
              <a:off x="3822445" y="1163781"/>
              <a:ext cx="4196553" cy="1242910"/>
            </a:xfrm>
            <a:prstGeom prst="roundRect">
              <a:avLst>
                <a:gd name="adj" fmla="val 6483"/>
              </a:avLst>
            </a:prstGeom>
            <a:noFill/>
            <a:ln w="317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Text 32"/>
            <p:cNvSpPr txBox="1"/>
            <p:nvPr/>
          </p:nvSpPr>
          <p:spPr>
            <a:xfrm>
              <a:off x="4674509" y="3908220"/>
              <a:ext cx="2689181" cy="66162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00" tIns="38100" rIns="76200" bIns="38100" rtlCol="0" anchor="ctr"/>
            <a:lstStyle/>
            <a:p>
              <a:pPr marL="0" indent="0" algn="l">
                <a:buNone/>
              </a:pPr>
              <a:r>
                <a:rPr lang="en-US" sz="2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平日はそのまま</a:t>
              </a:r>
              <a:endPara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cxnSp>
          <p:nvCxnSpPr>
            <p:cNvPr id="123" name="直線矢印コネクタ 122">
              <a:extLst>
                <a:ext uri="{FF2B5EF4-FFF2-40B4-BE49-F238E27FC236}">
                  <a16:creationId xmlns:a16="http://schemas.microsoft.com/office/drawing/2014/main" id="{DD771256-60E6-6758-5443-97EE4E104DEB}"/>
                </a:ext>
              </a:extLst>
            </p:cNvPr>
            <p:cNvCxnSpPr>
              <a:cxnSpLocks/>
            </p:cNvCxnSpPr>
            <p:nvPr/>
          </p:nvCxnSpPr>
          <p:spPr>
            <a:xfrm>
              <a:off x="7033748" y="2841434"/>
              <a:ext cx="0" cy="323376"/>
            </a:xfrm>
            <a:prstGeom prst="straightConnector1">
              <a:avLst/>
            </a:prstGeom>
            <a:ln w="50800">
              <a:solidFill>
                <a:schemeClr val="bg1"/>
              </a:solidFill>
              <a:tailEnd type="triangle"/>
            </a:ln>
            <a:effectLst>
              <a:glow rad="50800">
                <a:schemeClr val="tx1">
                  <a:lumMod val="75000"/>
                  <a:lumOff val="25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矢印コネクタ 125">
              <a:extLst>
                <a:ext uri="{FF2B5EF4-FFF2-40B4-BE49-F238E27FC236}">
                  <a16:creationId xmlns:a16="http://schemas.microsoft.com/office/drawing/2014/main" id="{35FB794D-342D-7FFA-36D6-87DD56CED7A1}"/>
                </a:ext>
              </a:extLst>
            </p:cNvPr>
            <p:cNvCxnSpPr>
              <a:cxnSpLocks/>
            </p:cNvCxnSpPr>
            <p:nvPr/>
          </p:nvCxnSpPr>
          <p:spPr>
            <a:xfrm>
              <a:off x="4674509" y="2841434"/>
              <a:ext cx="0" cy="323376"/>
            </a:xfrm>
            <a:prstGeom prst="straightConnector1">
              <a:avLst/>
            </a:prstGeom>
            <a:ln w="50800">
              <a:solidFill>
                <a:schemeClr val="bg1"/>
              </a:solidFill>
              <a:tailEnd type="triangle"/>
            </a:ln>
            <a:effectLst>
              <a:glow rad="50800">
                <a:schemeClr val="tx1">
                  <a:lumMod val="75000"/>
                  <a:lumOff val="25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線矢印コネクタ 126">
              <a:extLst>
                <a:ext uri="{FF2B5EF4-FFF2-40B4-BE49-F238E27FC236}">
                  <a16:creationId xmlns:a16="http://schemas.microsoft.com/office/drawing/2014/main" id="{012FF844-64AF-9586-447E-B47C145C3421}"/>
                </a:ext>
              </a:extLst>
            </p:cNvPr>
            <p:cNvCxnSpPr>
              <a:cxnSpLocks/>
            </p:cNvCxnSpPr>
            <p:nvPr/>
          </p:nvCxnSpPr>
          <p:spPr>
            <a:xfrm>
              <a:off x="5895778" y="2436040"/>
              <a:ext cx="0" cy="1610916"/>
            </a:xfrm>
            <a:prstGeom prst="straightConnector1">
              <a:avLst/>
            </a:prstGeom>
            <a:ln w="50800">
              <a:solidFill>
                <a:schemeClr val="bg1"/>
              </a:solidFill>
              <a:tailEnd type="triangle"/>
            </a:ln>
            <a:effectLst>
              <a:glow rad="50800">
                <a:schemeClr val="tx1">
                  <a:lumMod val="75000"/>
                  <a:lumOff val="25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5" name="図 134" descr="A simple wooden sign with a small plant hanging from the top, featuring a character or symbol in a stylized font.&#10;&#10;AI 生成コンテンツは誤りを含む可能性があります。">
            <a:extLst>
              <a:ext uri="{FF2B5EF4-FFF2-40B4-BE49-F238E27FC236}">
                <a16:creationId xmlns:a16="http://schemas.microsoft.com/office/drawing/2014/main" id="{2A75B70A-D431-5D9E-4B4E-451B5000F31F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19901"/>
          <a:stretch>
            <a:fillRect/>
          </a:stretch>
        </p:blipFill>
        <p:spPr>
          <a:xfrm rot="808672">
            <a:off x="10729348" y="108313"/>
            <a:ext cx="1483667" cy="7843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7" name="図 136" descr="The image depicts a cartoon character with a red shirt, wearing a mask with tears and a downward-facing mouth.&#10;&#10;AI 生成コンテンツは誤りを含む可能性があります。">
            <a:extLst>
              <a:ext uri="{FF2B5EF4-FFF2-40B4-BE49-F238E27FC236}">
                <a16:creationId xmlns:a16="http://schemas.microsoft.com/office/drawing/2014/main" id="{4AFB6EE3-CB77-A9A2-D868-D34FDE251CF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67763" y="1617137"/>
            <a:ext cx="671694" cy="907694"/>
          </a:xfrm>
          <a:prstGeom prst="rect">
            <a:avLst/>
          </a:prstGeom>
        </p:spPr>
      </p:pic>
      <p:pic>
        <p:nvPicPr>
          <p:cNvPr id="141" name="図 140" descr="The image depicts a young woman dressed in a formal outfit, holding an open book and pointing upwards, as if teaching or presenting.&#10;&#10;AI 生成コンテンツは誤りを含む可能性があります。">
            <a:extLst>
              <a:ext uri="{FF2B5EF4-FFF2-40B4-BE49-F238E27FC236}">
                <a16:creationId xmlns:a16="http://schemas.microsoft.com/office/drawing/2014/main" id="{92EA7532-22B2-FE94-D4E2-5FFDA3A505D5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7845" t="3472" r="18166" b="40966"/>
          <a:stretch>
            <a:fillRect/>
          </a:stretch>
        </p:blipFill>
        <p:spPr>
          <a:xfrm>
            <a:off x="2582299" y="3986529"/>
            <a:ext cx="1101849" cy="1079227"/>
          </a:xfrm>
          <a:prstGeom prst="rect">
            <a:avLst/>
          </a:prstGeom>
        </p:spPr>
      </p:pic>
      <p:pic>
        <p:nvPicPr>
          <p:cNvPr id="143" name="図 142">
            <a:extLst>
              <a:ext uri="{FF2B5EF4-FFF2-40B4-BE49-F238E27FC236}">
                <a16:creationId xmlns:a16="http://schemas.microsoft.com/office/drawing/2014/main" id="{19AA2562-C24C-1C8C-9C51-10A8F848DC2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76278" y="5708577"/>
            <a:ext cx="1330277" cy="1180621"/>
          </a:xfrm>
          <a:prstGeom prst="rect">
            <a:avLst/>
          </a:prstGeom>
          <a:effectLst>
            <a:glow rad="88900">
              <a:schemeClr val="bg1">
                <a:alpha val="90000"/>
              </a:schemeClr>
            </a:glow>
          </a:effectLst>
        </p:spPr>
      </p:pic>
      <p:cxnSp>
        <p:nvCxnSpPr>
          <p:cNvPr id="146" name="直線コネクタ 145">
            <a:extLst>
              <a:ext uri="{FF2B5EF4-FFF2-40B4-BE49-F238E27FC236}">
                <a16:creationId xmlns:a16="http://schemas.microsoft.com/office/drawing/2014/main" id="{528475EE-F56B-11FB-42B9-7583A31E2080}"/>
              </a:ext>
            </a:extLst>
          </p:cNvPr>
          <p:cNvCxnSpPr>
            <a:cxnSpLocks/>
          </p:cNvCxnSpPr>
          <p:nvPr/>
        </p:nvCxnSpPr>
        <p:spPr>
          <a:xfrm>
            <a:off x="3802957" y="1231817"/>
            <a:ext cx="0" cy="3791440"/>
          </a:xfrm>
          <a:prstGeom prst="line">
            <a:avLst/>
          </a:prstGeom>
          <a:ln w="317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コネクタ 147">
            <a:extLst>
              <a:ext uri="{FF2B5EF4-FFF2-40B4-BE49-F238E27FC236}">
                <a16:creationId xmlns:a16="http://schemas.microsoft.com/office/drawing/2014/main" id="{4A9CDA89-5BCD-F44B-7C96-29FFCC3D7712}"/>
              </a:ext>
            </a:extLst>
          </p:cNvPr>
          <p:cNvCxnSpPr>
            <a:cxnSpLocks/>
          </p:cNvCxnSpPr>
          <p:nvPr/>
        </p:nvCxnSpPr>
        <p:spPr>
          <a:xfrm>
            <a:off x="8280165" y="1161184"/>
            <a:ext cx="0" cy="3928356"/>
          </a:xfrm>
          <a:prstGeom prst="line">
            <a:avLst/>
          </a:prstGeom>
          <a:ln w="317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5">
            <a:extLst>
              <a:ext uri="{FF2B5EF4-FFF2-40B4-BE49-F238E27FC236}">
                <a16:creationId xmlns:a16="http://schemas.microsoft.com/office/drawing/2014/main" id="{46CB19F3-9736-0960-A70B-0241EF7A3263}"/>
              </a:ext>
            </a:extLst>
          </p:cNvPr>
          <p:cNvSpPr/>
          <p:nvPr/>
        </p:nvSpPr>
        <p:spPr>
          <a:xfrm>
            <a:off x="253194" y="1312253"/>
            <a:ext cx="2407133" cy="2323525"/>
          </a:xfrm>
          <a:prstGeom prst="roundRect">
            <a:avLst>
              <a:gd name="adj" fmla="val 2809"/>
            </a:avLst>
          </a:prstGeom>
          <a:noFill/>
          <a:ln w="476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93" name="Shape 1">
            <a:extLst>
              <a:ext uri="{FF2B5EF4-FFF2-40B4-BE49-F238E27FC236}">
                <a16:creationId xmlns:a16="http://schemas.microsoft.com/office/drawing/2014/main" id="{33909C0C-1682-E3D9-4407-80EC8893CDCC}"/>
              </a:ext>
            </a:extLst>
          </p:cNvPr>
          <p:cNvSpPr/>
          <p:nvPr/>
        </p:nvSpPr>
        <p:spPr>
          <a:xfrm>
            <a:off x="-23859" y="-27911"/>
            <a:ext cx="12239718" cy="61495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1"/>
          <p:cNvSpPr txBox="1"/>
          <p:nvPr/>
        </p:nvSpPr>
        <p:spPr>
          <a:xfrm>
            <a:off x="2063800" y="177278"/>
            <a:ext cx="67921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毎月の </a:t>
            </a:r>
            <a:r>
              <a:rPr lang="en-US" sz="2800" b="1" dirty="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“◯営業日目” を自動で出す方法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959933" y="668427"/>
            <a:ext cx="82213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月初から平日だけカウントするシンプル発想</a:t>
            </a:r>
            <a:endParaRPr 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497222" y="1151055"/>
            <a:ext cx="1994374" cy="267005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欲しいシーン</a:t>
            </a:r>
            <a:r>
              <a:rPr lang="en-US" sz="2800" b="1" u="sng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2800" u="sng" dirty="0"/>
          </a:p>
        </p:txBody>
      </p:sp>
      <p:sp>
        <p:nvSpPr>
          <p:cNvPr id="12" name="Text 6"/>
          <p:cNvSpPr txBox="1"/>
          <p:nvPr/>
        </p:nvSpPr>
        <p:spPr>
          <a:xfrm>
            <a:off x="686943" y="1965128"/>
            <a:ext cx="2143354" cy="49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毎月 </a:t>
            </a:r>
            <a:r>
              <a:rPr lang="en-US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5営業日目</a:t>
            </a: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に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レポート締め</a:t>
            </a:r>
            <a:endParaRPr lang="en-US" dirty="0"/>
          </a:p>
        </p:txBody>
      </p:sp>
      <p:sp>
        <p:nvSpPr>
          <p:cNvPr id="16" name="Text 8"/>
          <p:cNvSpPr txBox="1"/>
          <p:nvPr/>
        </p:nvSpPr>
        <p:spPr>
          <a:xfrm>
            <a:off x="747384" y="2861239"/>
            <a:ext cx="2143354" cy="601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毎月 </a:t>
            </a:r>
            <a:r>
              <a:rPr lang="en-US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2営業日目</a:t>
            </a: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に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請求処理</a:t>
            </a:r>
            <a:endParaRPr lang="en-US" dirty="0"/>
          </a:p>
        </p:txBody>
      </p:sp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7AFABCC8-92B4-3281-3978-9F8B495DB010}"/>
              </a:ext>
            </a:extLst>
          </p:cNvPr>
          <p:cNvGrpSpPr/>
          <p:nvPr/>
        </p:nvGrpSpPr>
        <p:grpSpPr>
          <a:xfrm>
            <a:off x="3081576" y="1470664"/>
            <a:ext cx="2594918" cy="2157830"/>
            <a:chOff x="2969205" y="1692657"/>
            <a:chExt cx="1833372" cy="1427956"/>
          </a:xfrm>
        </p:grpSpPr>
        <p:pic>
          <p:nvPicPr>
            <p:cNvPr id="22" name="Image 9" descr="preencoded.png"/>
            <p:cNvPicPr>
              <a:picLocks noChangeAspect="1"/>
            </p:cNvPicPr>
            <p:nvPr/>
          </p:nvPicPr>
          <p:blipFill>
            <a:blip r:embed="rId3"/>
            <a:srcRect l="-2" r="-2"/>
            <a:stretch/>
          </p:blipFill>
          <p:spPr>
            <a:xfrm>
              <a:off x="2969205" y="1794316"/>
              <a:ext cx="1833372" cy="1326297"/>
            </a:xfrm>
            <a:prstGeom prst="rect">
              <a:avLst/>
            </a:prstGeom>
            <a:ln>
              <a:solidFill>
                <a:srgbClr val="0000CC"/>
              </a:solidFill>
            </a:ln>
          </p:spPr>
        </p:pic>
        <p:sp>
          <p:nvSpPr>
            <p:cNvPr id="23" name="Shape 11"/>
            <p:cNvSpPr/>
            <p:nvPr/>
          </p:nvSpPr>
          <p:spPr>
            <a:xfrm>
              <a:off x="3000338" y="1704172"/>
              <a:ext cx="885553" cy="291883"/>
            </a:xfrm>
            <a:prstGeom prst="roundRect">
              <a:avLst>
                <a:gd name="adj" fmla="val 480770"/>
              </a:avLst>
            </a:prstGeom>
            <a:solidFill>
              <a:srgbClr val="2563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24" name="Text 12"/>
            <p:cNvSpPr/>
            <p:nvPr/>
          </p:nvSpPr>
          <p:spPr>
            <a:xfrm>
              <a:off x="3053562" y="1692657"/>
              <a:ext cx="767970" cy="29188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00" tIns="25400" rIns="76200" bIns="2540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Start</a:t>
              </a:r>
              <a:endParaRPr lang="en-US" sz="2400" dirty="0"/>
            </a:p>
          </p:txBody>
        </p:sp>
        <p:pic>
          <p:nvPicPr>
            <p:cNvPr id="25" name="Image 10" descr="preencoded.png"/>
            <p:cNvPicPr>
              <a:picLocks noChangeAspect="1"/>
            </p:cNvPicPr>
            <p:nvPr/>
          </p:nvPicPr>
          <p:blipFill>
            <a:blip r:embed="rId4"/>
            <a:srcRect l="-57" r="-57"/>
            <a:stretch/>
          </p:blipFill>
          <p:spPr>
            <a:xfrm>
              <a:off x="3922377" y="1937865"/>
              <a:ext cx="276909" cy="316105"/>
            </a:xfrm>
            <a:prstGeom prst="rect">
              <a:avLst/>
            </a:prstGeom>
          </p:spPr>
        </p:pic>
        <p:sp>
          <p:nvSpPr>
            <p:cNvPr id="26" name="Text 13"/>
            <p:cNvSpPr txBox="1"/>
            <p:nvPr/>
          </p:nvSpPr>
          <p:spPr>
            <a:xfrm>
              <a:off x="3269562" y="2320676"/>
              <a:ext cx="126400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① 月初をセット</a:t>
              </a:r>
              <a:endParaRPr lang="en-US" sz="1600" dirty="0"/>
            </a:p>
          </p:txBody>
        </p:sp>
        <p:sp>
          <p:nvSpPr>
            <p:cNvPr id="27" name="Shape 14"/>
            <p:cNvSpPr/>
            <p:nvPr/>
          </p:nvSpPr>
          <p:spPr>
            <a:xfrm>
              <a:off x="3125367" y="2559082"/>
              <a:ext cx="1591056" cy="496215"/>
            </a:xfrm>
            <a:prstGeom prst="roundRect">
              <a:avLst>
                <a:gd name="adj" fmla="val 133333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28" name="Text 15"/>
            <p:cNvSpPr txBox="1"/>
            <p:nvPr/>
          </p:nvSpPr>
          <p:spPr>
            <a:xfrm>
              <a:off x="3152192" y="2567506"/>
              <a:ext cx="1580455" cy="44986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6B728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startOfMonth</a:t>
              </a:r>
            </a:p>
            <a:p>
              <a:pPr marL="0" indent="0" algn="ctr">
                <a:buNone/>
              </a:pPr>
              <a:r>
                <a:rPr lang="en-US" sz="2000" b="1">
                  <a:solidFill>
                    <a:srgbClr val="6B728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(</a:t>
              </a:r>
              <a:r>
                <a:rPr lang="en-US" sz="2000" b="1" dirty="0">
                  <a:solidFill>
                    <a:srgbClr val="6B728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utcNow())</a:t>
              </a:r>
              <a:endParaRPr lang="en-US" sz="2000" b="1" dirty="0"/>
            </a:p>
          </p:txBody>
        </p:sp>
      </p:grp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5448575" y="2293772"/>
            <a:ext cx="529772" cy="586131"/>
          </a:xfrm>
          <a:prstGeom prst="rect">
            <a:avLst/>
          </a:prstGeom>
        </p:spPr>
      </p:pic>
      <p:grpSp>
        <p:nvGrpSpPr>
          <p:cNvPr id="100" name="グループ化 99">
            <a:extLst>
              <a:ext uri="{FF2B5EF4-FFF2-40B4-BE49-F238E27FC236}">
                <a16:creationId xmlns:a16="http://schemas.microsoft.com/office/drawing/2014/main" id="{616DD28A-EB3F-5D8A-2064-0984167F728F}"/>
              </a:ext>
            </a:extLst>
          </p:cNvPr>
          <p:cNvGrpSpPr/>
          <p:nvPr/>
        </p:nvGrpSpPr>
        <p:grpSpPr>
          <a:xfrm>
            <a:off x="5787861" y="1464149"/>
            <a:ext cx="2826313" cy="2159877"/>
            <a:chOff x="6624545" y="1753960"/>
            <a:chExt cx="2225395" cy="1591895"/>
          </a:xfrm>
        </p:grpSpPr>
        <p:pic>
          <p:nvPicPr>
            <p:cNvPr id="30" name="Image 12" descr="preencoded.png"/>
            <p:cNvPicPr>
              <a:picLocks noChangeAspect="1"/>
            </p:cNvPicPr>
            <p:nvPr/>
          </p:nvPicPr>
          <p:blipFill>
            <a:blip r:embed="rId6"/>
            <a:srcRect t="-23" b="-23"/>
            <a:stretch/>
          </p:blipFill>
          <p:spPr>
            <a:xfrm>
              <a:off x="6797462" y="1861582"/>
              <a:ext cx="1913788" cy="1484273"/>
            </a:xfrm>
            <a:prstGeom prst="rect">
              <a:avLst/>
            </a:prstGeom>
          </p:spPr>
        </p:pic>
        <p:sp>
          <p:nvSpPr>
            <p:cNvPr id="31" name="Shape 16"/>
            <p:cNvSpPr/>
            <p:nvPr/>
          </p:nvSpPr>
          <p:spPr>
            <a:xfrm>
              <a:off x="6789645" y="1781251"/>
              <a:ext cx="2006773" cy="344520"/>
            </a:xfrm>
            <a:prstGeom prst="roundRect">
              <a:avLst>
                <a:gd name="adj" fmla="val 480770"/>
              </a:avLst>
            </a:prstGeom>
            <a:solidFill>
              <a:srgbClr val="2563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4000"/>
            </a:p>
          </p:txBody>
        </p:sp>
        <p:sp>
          <p:nvSpPr>
            <p:cNvPr id="32" name="Text 17"/>
            <p:cNvSpPr/>
            <p:nvPr/>
          </p:nvSpPr>
          <p:spPr>
            <a:xfrm>
              <a:off x="6905452" y="1753960"/>
              <a:ext cx="1813615" cy="36421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00" tIns="25400" rIns="76200" bIns="2540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Loop Process</a:t>
              </a:r>
              <a:endParaRPr lang="en-US" sz="2400" dirty="0"/>
            </a:p>
          </p:txBody>
        </p:sp>
        <p:pic>
          <p:nvPicPr>
            <p:cNvPr id="33" name="Image 13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7627800" y="2160555"/>
              <a:ext cx="261008" cy="261008"/>
            </a:xfrm>
            <a:prstGeom prst="rect">
              <a:avLst/>
            </a:prstGeom>
          </p:spPr>
        </p:pic>
        <p:sp>
          <p:nvSpPr>
            <p:cNvPr id="34" name="Text 18"/>
            <p:cNvSpPr txBox="1"/>
            <p:nvPr/>
          </p:nvSpPr>
          <p:spPr>
            <a:xfrm>
              <a:off x="6796706" y="2493540"/>
              <a:ext cx="190079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② 1日ずつ進めて判定</a:t>
              </a:r>
              <a:endParaRPr lang="en-US" dirty="0"/>
            </a:p>
          </p:txBody>
        </p:sp>
        <p:sp>
          <p:nvSpPr>
            <p:cNvPr id="35" name="Text 19"/>
            <p:cNvSpPr txBox="1"/>
            <p:nvPr/>
          </p:nvSpPr>
          <p:spPr>
            <a:xfrm>
              <a:off x="6624545" y="2805312"/>
              <a:ext cx="2225395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 日付を+1日する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平日ならカウントUP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 (土日はカウントしない) </a:t>
              </a:r>
              <a:endParaRPr lang="en-US" sz="1600" dirty="0"/>
            </a:p>
          </p:txBody>
        </p:sp>
      </p:grp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8415033" y="2355876"/>
            <a:ext cx="505978" cy="559805"/>
          </a:xfrm>
          <a:prstGeom prst="rect">
            <a:avLst/>
          </a:prstGeom>
        </p:spPr>
      </p:pic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7C443620-0A70-45B8-0F43-7895B7C14B6B}"/>
              </a:ext>
            </a:extLst>
          </p:cNvPr>
          <p:cNvGrpSpPr/>
          <p:nvPr/>
        </p:nvGrpSpPr>
        <p:grpSpPr>
          <a:xfrm>
            <a:off x="8855963" y="1509313"/>
            <a:ext cx="2412953" cy="2126465"/>
            <a:chOff x="10180930" y="1583839"/>
            <a:chExt cx="1458468" cy="1531522"/>
          </a:xfrm>
        </p:grpSpPr>
        <p:pic>
          <p:nvPicPr>
            <p:cNvPr id="37" name="Image 15" descr="preencoded.png"/>
            <p:cNvPicPr>
              <a:picLocks noChangeAspect="1"/>
            </p:cNvPicPr>
            <p:nvPr/>
          </p:nvPicPr>
          <p:blipFill>
            <a:blip r:embed="rId8"/>
            <a:srcRect t="-6" b="-6"/>
            <a:stretch/>
          </p:blipFill>
          <p:spPr>
            <a:xfrm>
              <a:off x="10180930" y="1664942"/>
              <a:ext cx="1458468" cy="1450419"/>
            </a:xfrm>
            <a:prstGeom prst="rect">
              <a:avLst/>
            </a:prstGeom>
          </p:spPr>
        </p:pic>
        <p:sp>
          <p:nvSpPr>
            <p:cNvPr id="38" name="Shape 20"/>
            <p:cNvSpPr/>
            <p:nvPr/>
          </p:nvSpPr>
          <p:spPr>
            <a:xfrm>
              <a:off x="10255910" y="1583839"/>
              <a:ext cx="797854" cy="315817"/>
            </a:xfrm>
            <a:prstGeom prst="roundRect">
              <a:avLst>
                <a:gd name="adj" fmla="val 480770"/>
              </a:avLst>
            </a:prstGeom>
            <a:solidFill>
              <a:srgbClr val="2563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39" name="Text 21"/>
            <p:cNvSpPr/>
            <p:nvPr/>
          </p:nvSpPr>
          <p:spPr>
            <a:xfrm>
              <a:off x="10268555" y="1644621"/>
              <a:ext cx="697093" cy="1911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00" tIns="25400" rIns="76200" bIns="2540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Goal</a:t>
              </a:r>
              <a:endParaRPr lang="en-US" sz="2400" dirty="0"/>
            </a:p>
          </p:txBody>
        </p:sp>
        <p:pic>
          <p:nvPicPr>
            <p:cNvPr id="40" name="Image 16" descr="preencoded.png"/>
            <p:cNvPicPr>
              <a:picLocks noChangeAspect="1"/>
            </p:cNvPicPr>
            <p:nvPr/>
          </p:nvPicPr>
          <p:blipFill>
            <a:blip r:embed="rId9"/>
            <a:srcRect l="-57" r="-57"/>
            <a:stretch/>
          </p:blipFill>
          <p:spPr>
            <a:xfrm>
              <a:off x="10821735" y="1916835"/>
              <a:ext cx="270987" cy="309344"/>
            </a:xfrm>
            <a:prstGeom prst="rect">
              <a:avLst/>
            </a:prstGeom>
          </p:spPr>
        </p:pic>
        <p:sp>
          <p:nvSpPr>
            <p:cNvPr id="41" name="Text 22"/>
            <p:cNvSpPr txBox="1"/>
            <p:nvPr/>
          </p:nvSpPr>
          <p:spPr>
            <a:xfrm>
              <a:off x="10255910" y="2344610"/>
              <a:ext cx="131765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③ カウント到達</a:t>
              </a:r>
              <a:endParaRPr lang="en-US" dirty="0"/>
            </a:p>
          </p:txBody>
        </p:sp>
        <p:sp>
          <p:nvSpPr>
            <p:cNvPr id="42" name="Text 23"/>
            <p:cNvSpPr txBox="1"/>
            <p:nvPr/>
          </p:nvSpPr>
          <p:spPr>
            <a:xfrm>
              <a:off x="10266883" y="2662583"/>
              <a:ext cx="1331235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count = 5 になったら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その日が</a:t>
              </a:r>
              <a:r>
                <a:rPr lang="en-US" sz="16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「5営業日目」</a:t>
              </a:r>
              <a:endParaRPr lang="en-US" sz="1600" dirty="0"/>
            </a:p>
          </p:txBody>
        </p:sp>
      </p:grpSp>
      <p:pic>
        <p:nvPicPr>
          <p:cNvPr id="56" name="Image 20" descr="preencoded.png"/>
          <p:cNvPicPr>
            <a:picLocks noChangeAspect="1"/>
          </p:cNvPicPr>
          <p:nvPr/>
        </p:nvPicPr>
        <p:blipFill>
          <a:blip r:embed="rId10"/>
          <a:srcRect l="-7" r="-7"/>
          <a:stretch/>
        </p:blipFill>
        <p:spPr>
          <a:xfrm>
            <a:off x="188332" y="4081017"/>
            <a:ext cx="4665702" cy="2634108"/>
          </a:xfrm>
          <a:prstGeom prst="rect">
            <a:avLst/>
          </a:prstGeom>
        </p:spPr>
      </p:pic>
      <p:sp>
        <p:nvSpPr>
          <p:cNvPr id="57" name="Text 34"/>
          <p:cNvSpPr txBox="1"/>
          <p:nvPr/>
        </p:nvSpPr>
        <p:spPr>
          <a:xfrm>
            <a:off x="647909" y="4134875"/>
            <a:ext cx="4215202" cy="88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実装の要点 </a:t>
            </a:r>
            <a:endParaRPr lang="en-US" sz="2400" u="sng" dirty="0"/>
          </a:p>
        </p:txBody>
      </p:sp>
      <p:pic>
        <p:nvPicPr>
          <p:cNvPr id="58" name="Image 21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/>
        </p:blipFill>
        <p:spPr>
          <a:xfrm>
            <a:off x="263295" y="4062633"/>
            <a:ext cx="357713" cy="216978"/>
          </a:xfrm>
          <a:prstGeom prst="rect">
            <a:avLst/>
          </a:prstGeom>
        </p:spPr>
      </p:pic>
      <p:sp>
        <p:nvSpPr>
          <p:cNvPr id="59" name="Shape 35"/>
          <p:cNvSpPr/>
          <p:nvPr/>
        </p:nvSpPr>
        <p:spPr>
          <a:xfrm>
            <a:off x="477087" y="4462322"/>
            <a:ext cx="4152899" cy="578018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60" name="Text 36"/>
          <p:cNvSpPr txBox="1"/>
          <p:nvPr/>
        </p:nvSpPr>
        <p:spPr>
          <a:xfrm>
            <a:off x="560826" y="4457326"/>
            <a:ext cx="3656504" cy="57801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 </a:t>
            </a:r>
            <a:r>
              <a:rPr lang="en-US" sz="16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until ループ条件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</a:t>
            </a: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('count')</a:t>
            </a:r>
            <a:r>
              <a:rPr lang="en-US" sz="14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が target と等しい </a:t>
            </a:r>
            <a:endParaRPr lang="en-US" sz="1400" b="1" dirty="0"/>
          </a:p>
        </p:txBody>
      </p:sp>
      <p:sp>
        <p:nvSpPr>
          <p:cNvPr id="62" name="Shape 38"/>
          <p:cNvSpPr/>
          <p:nvPr/>
        </p:nvSpPr>
        <p:spPr>
          <a:xfrm>
            <a:off x="450376" y="5184657"/>
            <a:ext cx="4152899" cy="578018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63" name="Text 39"/>
          <p:cNvSpPr txBox="1"/>
          <p:nvPr/>
        </p:nvSpPr>
        <p:spPr>
          <a:xfrm>
            <a:off x="497222" y="5218641"/>
            <a:ext cx="3838656" cy="57801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平日判定 (</a:t>
            </a:r>
            <a:r>
              <a:rPr lang="en-US" sz="16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条件分岐)</a:t>
            </a:r>
          </a:p>
          <a:p>
            <a:pPr marL="0" indent="0" algn="l">
              <a:buNone/>
            </a:pPr>
            <a:r>
              <a:rPr lang="en-US" sz="160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dayOfWeek</a:t>
            </a:r>
            <a:r>
              <a:rPr lang="en-US" sz="16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(...)</a:t>
            </a:r>
            <a:r>
              <a:rPr lang="en-US" sz="16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が </a:t>
            </a:r>
            <a:r>
              <a:rPr lang="en-US" sz="16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0(日)</a:t>
            </a:r>
            <a:r>
              <a:rPr lang="en-US" sz="16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, </a:t>
            </a:r>
            <a:r>
              <a:rPr lang="en-US" sz="16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6(土)</a:t>
            </a:r>
            <a:r>
              <a:rPr lang="en-US" sz="16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以外 </a:t>
            </a:r>
            <a:endParaRPr lang="en-US" sz="1600" dirty="0"/>
          </a:p>
        </p:txBody>
      </p:sp>
      <p:sp>
        <p:nvSpPr>
          <p:cNvPr id="67" name="Shape 43"/>
          <p:cNvSpPr/>
          <p:nvPr/>
        </p:nvSpPr>
        <p:spPr>
          <a:xfrm>
            <a:off x="477087" y="5925332"/>
            <a:ext cx="4208990" cy="686097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68" name="Text 44"/>
          <p:cNvSpPr txBox="1"/>
          <p:nvPr/>
        </p:nvSpPr>
        <p:spPr>
          <a:xfrm>
            <a:off x="604734" y="6060802"/>
            <a:ext cx="1061599" cy="178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日付加算</a:t>
            </a:r>
            <a:endParaRPr lang="en-US" sz="1600" dirty="0"/>
          </a:p>
        </p:txBody>
      </p:sp>
      <p:sp>
        <p:nvSpPr>
          <p:cNvPr id="69" name="Text 45"/>
          <p:cNvSpPr txBox="1"/>
          <p:nvPr/>
        </p:nvSpPr>
        <p:spPr>
          <a:xfrm>
            <a:off x="617383" y="6330204"/>
            <a:ext cx="4076177" cy="178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addDays(variables('date'), 1)</a:t>
            </a:r>
            <a:endParaRPr lang="en-US" b="1" dirty="0"/>
          </a:p>
        </p:txBody>
      </p:sp>
      <p:pic>
        <p:nvPicPr>
          <p:cNvPr id="70" name="Image 22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4912490" y="4135539"/>
            <a:ext cx="3233102" cy="2501544"/>
          </a:xfrm>
          <a:prstGeom prst="rect">
            <a:avLst/>
          </a:prstGeom>
        </p:spPr>
      </p:pic>
      <p:sp>
        <p:nvSpPr>
          <p:cNvPr id="71" name="Text 46"/>
          <p:cNvSpPr txBox="1"/>
          <p:nvPr/>
        </p:nvSpPr>
        <p:spPr>
          <a:xfrm>
            <a:off x="5332686" y="4056905"/>
            <a:ext cx="2844763" cy="2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ここでつまずきがち </a:t>
            </a:r>
            <a:endParaRPr lang="en-US" sz="2400" u="sng" dirty="0"/>
          </a:p>
        </p:txBody>
      </p:sp>
      <p:pic>
        <p:nvPicPr>
          <p:cNvPr id="72" name="Image 2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991416" y="4031425"/>
            <a:ext cx="256310" cy="277896"/>
          </a:xfrm>
          <a:prstGeom prst="rect">
            <a:avLst/>
          </a:prstGeom>
        </p:spPr>
      </p:pic>
      <p:sp>
        <p:nvSpPr>
          <p:cNvPr id="74" name="Text 47"/>
          <p:cNvSpPr txBox="1"/>
          <p:nvPr/>
        </p:nvSpPr>
        <p:spPr>
          <a:xfrm>
            <a:off x="5361547" y="4677938"/>
            <a:ext cx="301163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月初は「1営業日目」。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count=0 から始めるとズレる。</a:t>
            </a:r>
            <a:endParaRPr lang="en-US" sz="1600" dirty="0"/>
          </a:p>
        </p:txBody>
      </p:sp>
      <p:pic>
        <p:nvPicPr>
          <p:cNvPr id="75" name="Image 25" descr="preencoded.png"/>
          <p:cNvPicPr>
            <a:picLocks noChangeAspect="1"/>
          </p:cNvPicPr>
          <p:nvPr/>
        </p:nvPicPr>
        <p:blipFill>
          <a:blip r:embed="rId14"/>
          <a:srcRect l="-133" r="-133"/>
          <a:stretch/>
        </p:blipFill>
        <p:spPr>
          <a:xfrm>
            <a:off x="5032002" y="4648091"/>
            <a:ext cx="277223" cy="349938"/>
          </a:xfrm>
          <a:prstGeom prst="rect">
            <a:avLst/>
          </a:prstGeom>
        </p:spPr>
      </p:pic>
      <p:sp>
        <p:nvSpPr>
          <p:cNvPr id="76" name="Text 48"/>
          <p:cNvSpPr txBox="1"/>
          <p:nvPr/>
        </p:nvSpPr>
        <p:spPr>
          <a:xfrm>
            <a:off x="5443338" y="5333261"/>
            <a:ext cx="2702254" cy="425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dayOfWeek() の戻り値。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0=日曜</a:t>
            </a: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, </a:t>
            </a: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6=土曜</a:t>
            </a: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を暗記！</a:t>
            </a:r>
            <a:endParaRPr lang="en-US" sz="1600" dirty="0"/>
          </a:p>
        </p:txBody>
      </p:sp>
      <p:pic>
        <p:nvPicPr>
          <p:cNvPr id="77" name="Image 26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057673" y="6108858"/>
            <a:ext cx="298149" cy="292421"/>
          </a:xfrm>
          <a:prstGeom prst="rect">
            <a:avLst/>
          </a:prstGeom>
        </p:spPr>
      </p:pic>
      <p:sp>
        <p:nvSpPr>
          <p:cNvPr id="78" name="Text 49"/>
          <p:cNvSpPr txBox="1"/>
          <p:nvPr/>
        </p:nvSpPr>
        <p:spPr>
          <a:xfrm>
            <a:off x="5416544" y="6108590"/>
            <a:ext cx="28757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祝日は考慮外。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まずは土日除外だけで動かす。</a:t>
            </a:r>
            <a:endParaRPr lang="en-US" sz="1600" dirty="0"/>
          </a:p>
        </p:txBody>
      </p:sp>
      <p:pic>
        <p:nvPicPr>
          <p:cNvPr id="79" name="Image 27" descr="preencoded.png"/>
          <p:cNvPicPr>
            <a:picLocks noChangeAspect="1"/>
          </p:cNvPicPr>
          <p:nvPr/>
        </p:nvPicPr>
        <p:blipFill>
          <a:blip r:embed="rId16"/>
          <a:srcRect l="-13" r="-13"/>
          <a:stretch/>
        </p:blipFill>
        <p:spPr>
          <a:xfrm>
            <a:off x="8420577" y="4135538"/>
            <a:ext cx="3569022" cy="2545183"/>
          </a:xfrm>
          <a:prstGeom prst="rect">
            <a:avLst/>
          </a:prstGeom>
        </p:spPr>
      </p:pic>
      <p:sp>
        <p:nvSpPr>
          <p:cNvPr id="80" name="Text 50"/>
          <p:cNvSpPr txBox="1"/>
          <p:nvPr/>
        </p:nvSpPr>
        <p:spPr>
          <a:xfrm>
            <a:off x="8852318" y="4058237"/>
            <a:ext cx="3335671" cy="19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これが自動になると… </a:t>
            </a:r>
            <a:endParaRPr lang="en-US" sz="2400" u="sng" dirty="0"/>
          </a:p>
        </p:txBody>
      </p:sp>
      <p:pic>
        <p:nvPicPr>
          <p:cNvPr id="81" name="Image 28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531554" y="4017230"/>
            <a:ext cx="256611" cy="256611"/>
          </a:xfrm>
          <a:prstGeom prst="rect">
            <a:avLst/>
          </a:prstGeom>
        </p:spPr>
      </p:pic>
      <p:sp>
        <p:nvSpPr>
          <p:cNvPr id="82" name="Text 51"/>
          <p:cNvSpPr txBox="1"/>
          <p:nvPr/>
        </p:nvSpPr>
        <p:spPr>
          <a:xfrm>
            <a:off x="8855963" y="4615063"/>
            <a:ext cx="3214546" cy="239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5営業日目に自動レポート送信</a:t>
            </a:r>
            <a:endParaRPr lang="en-US" dirty="0"/>
          </a:p>
        </p:txBody>
      </p:sp>
      <p:pic>
        <p:nvPicPr>
          <p:cNvPr id="83" name="Image 29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489206" y="4643672"/>
            <a:ext cx="249937" cy="249937"/>
          </a:xfrm>
          <a:prstGeom prst="rect">
            <a:avLst/>
          </a:prstGeom>
        </p:spPr>
      </p:pic>
      <p:sp>
        <p:nvSpPr>
          <p:cNvPr id="84" name="Text 52"/>
          <p:cNvSpPr txBox="1"/>
          <p:nvPr/>
        </p:nvSpPr>
        <p:spPr>
          <a:xfrm>
            <a:off x="8862385" y="5126900"/>
            <a:ext cx="3107219" cy="239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2営業日目に未提出リマインド</a:t>
            </a:r>
            <a:endParaRPr lang="en-US" dirty="0"/>
          </a:p>
        </p:txBody>
      </p:sp>
      <p:pic>
        <p:nvPicPr>
          <p:cNvPr id="85" name="Image 30" descr="preencoded.png"/>
          <p:cNvPicPr>
            <a:picLocks noChangeAspect="1"/>
          </p:cNvPicPr>
          <p:nvPr/>
        </p:nvPicPr>
        <p:blipFill>
          <a:blip r:embed="rId19"/>
          <a:srcRect l="-2571" r="-2571"/>
          <a:stretch/>
        </p:blipFill>
        <p:spPr>
          <a:xfrm>
            <a:off x="8502323" y="5146363"/>
            <a:ext cx="202127" cy="219704"/>
          </a:xfrm>
          <a:prstGeom prst="rect">
            <a:avLst/>
          </a:prstGeom>
        </p:spPr>
      </p:pic>
      <p:sp>
        <p:nvSpPr>
          <p:cNvPr id="86" name="Text 53"/>
          <p:cNvSpPr txBox="1"/>
          <p:nvPr/>
        </p:nvSpPr>
        <p:spPr>
          <a:xfrm>
            <a:off x="8885979" y="5677820"/>
            <a:ext cx="3093884" cy="239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3営業日目にCSV自動生成</a:t>
            </a:r>
            <a:endParaRPr lang="en-US" dirty="0"/>
          </a:p>
        </p:txBody>
      </p:sp>
      <p:pic>
        <p:nvPicPr>
          <p:cNvPr id="87" name="Image 31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8559169" y="5686808"/>
            <a:ext cx="219702" cy="219702"/>
          </a:xfrm>
          <a:prstGeom prst="rect">
            <a:avLst/>
          </a:prstGeom>
        </p:spPr>
      </p:pic>
      <p:sp>
        <p:nvSpPr>
          <p:cNvPr id="88" name="Text 54"/>
          <p:cNvSpPr txBox="1"/>
          <p:nvPr/>
        </p:nvSpPr>
        <p:spPr>
          <a:xfrm>
            <a:off x="8907122" y="6151962"/>
            <a:ext cx="2676002" cy="34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“月初ロジック</a:t>
            </a:r>
            <a:r>
              <a:rPr 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”で業務</a:t>
            </a: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r>
              <a:rPr 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自動化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9" name="Shape 55"/>
          <p:cNvSpPr/>
          <p:nvPr/>
        </p:nvSpPr>
        <p:spPr>
          <a:xfrm>
            <a:off x="381305" y="7629754"/>
            <a:ext cx="114300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0" name="Text 56"/>
          <p:cNvSpPr txBox="1"/>
          <p:nvPr/>
        </p:nvSpPr>
        <p:spPr>
          <a:xfrm>
            <a:off x="381305" y="7753198"/>
            <a:ext cx="4953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PA45では、こうした “月初ロジックのアルゴリズム” も一緒に45分で作って動かしています。</a:t>
            </a:r>
            <a:endParaRPr lang="en-US" sz="900" dirty="0"/>
          </a:p>
        </p:txBody>
      </p:sp>
      <p:sp>
        <p:nvSpPr>
          <p:cNvPr id="91" name="Text 57"/>
          <p:cNvSpPr txBox="1"/>
          <p:nvPr/>
        </p:nvSpPr>
        <p:spPr>
          <a:xfrm>
            <a:off x="11342218" y="7715707"/>
            <a:ext cx="553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92" name="四角形: 角を丸くする 91">
            <a:extLst>
              <a:ext uri="{FF2B5EF4-FFF2-40B4-BE49-F238E27FC236}">
                <a16:creationId xmlns:a16="http://schemas.microsoft.com/office/drawing/2014/main" id="{CEF61DDC-0438-8CB3-0995-0DD42F2A00E2}"/>
              </a:ext>
            </a:extLst>
          </p:cNvPr>
          <p:cNvSpPr/>
          <p:nvPr/>
        </p:nvSpPr>
        <p:spPr>
          <a:xfrm>
            <a:off x="44269" y="-50800"/>
            <a:ext cx="12103265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2000F949-BECD-8062-C199-E0595B1FCE64}"/>
              </a:ext>
            </a:extLst>
          </p:cNvPr>
          <p:cNvGrpSpPr/>
          <p:nvPr/>
        </p:nvGrpSpPr>
        <p:grpSpPr>
          <a:xfrm>
            <a:off x="188332" y="78173"/>
            <a:ext cx="1543203" cy="464514"/>
            <a:chOff x="188332" y="78173"/>
            <a:chExt cx="1543203" cy="464514"/>
          </a:xfrm>
        </p:grpSpPr>
        <p:sp>
          <p:nvSpPr>
            <p:cNvPr id="95" name="Shape 2">
              <a:extLst>
                <a:ext uri="{FF2B5EF4-FFF2-40B4-BE49-F238E27FC236}">
                  <a16:creationId xmlns:a16="http://schemas.microsoft.com/office/drawing/2014/main" id="{5D63F5D1-20F1-D271-C01C-94F597B0995B}"/>
                </a:ext>
              </a:extLst>
            </p:cNvPr>
            <p:cNvSpPr/>
            <p:nvPr/>
          </p:nvSpPr>
          <p:spPr>
            <a:xfrm>
              <a:off x="188332" y="78173"/>
              <a:ext cx="1543203" cy="464514"/>
            </a:xfrm>
            <a:prstGeom prst="roundRect">
              <a:avLst>
                <a:gd name="adj" fmla="val 266667"/>
              </a:avLst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6" name="Text 3">
              <a:extLst>
                <a:ext uri="{FF2B5EF4-FFF2-40B4-BE49-F238E27FC236}">
                  <a16:creationId xmlns:a16="http://schemas.microsoft.com/office/drawing/2014/main" id="{6B898D7F-D158-E3A9-0984-CE49369878DE}"/>
                </a:ext>
              </a:extLst>
            </p:cNvPr>
            <p:cNvSpPr txBox="1"/>
            <p:nvPr/>
          </p:nvSpPr>
          <p:spPr>
            <a:xfrm>
              <a:off x="348708" y="184194"/>
              <a:ext cx="131762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kern="0" spc="38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Vol.28</a:t>
              </a:r>
              <a:endParaRPr lang="en-US" sz="3200" dirty="0"/>
            </a:p>
          </p:txBody>
        </p:sp>
      </p:grpSp>
      <p:pic>
        <p:nvPicPr>
          <p:cNvPr id="97" name="図 96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994F9F13-608F-4441-D7F0-239F0077D80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044" y="538934"/>
            <a:ext cx="663502" cy="663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Image 4" descr="preencoded.png">
            <a:extLst>
              <a:ext uri="{FF2B5EF4-FFF2-40B4-BE49-F238E27FC236}">
                <a16:creationId xmlns:a16="http://schemas.microsoft.com/office/drawing/2014/main" id="{F7DD7E83-7E52-66A9-44C1-BAA25E54F626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-2571" r="-2571"/>
          <a:stretch/>
        </p:blipFill>
        <p:spPr>
          <a:xfrm>
            <a:off x="272699" y="1985766"/>
            <a:ext cx="370363" cy="402568"/>
          </a:xfrm>
          <a:prstGeom prst="rect">
            <a:avLst/>
          </a:prstGeom>
        </p:spPr>
      </p:pic>
      <p:pic>
        <p:nvPicPr>
          <p:cNvPr id="102" name="Image 25" descr="preencoded.png">
            <a:extLst>
              <a:ext uri="{FF2B5EF4-FFF2-40B4-BE49-F238E27FC236}">
                <a16:creationId xmlns:a16="http://schemas.microsoft.com/office/drawing/2014/main" id="{D1783DD4-2973-DE91-D15F-2A81EE05843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-133" r="-133"/>
          <a:stretch/>
        </p:blipFill>
        <p:spPr>
          <a:xfrm>
            <a:off x="5043686" y="5342354"/>
            <a:ext cx="277223" cy="349938"/>
          </a:xfrm>
          <a:prstGeom prst="rect">
            <a:avLst/>
          </a:prstGeom>
        </p:spPr>
      </p:pic>
      <p:pic>
        <p:nvPicPr>
          <p:cNvPr id="105" name="Image 4" descr="preencoded.png">
            <a:extLst>
              <a:ext uri="{FF2B5EF4-FFF2-40B4-BE49-F238E27FC236}">
                <a16:creationId xmlns:a16="http://schemas.microsoft.com/office/drawing/2014/main" id="{171D8909-8A7F-AFAE-40AA-B7D79040FF1C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-2571" r="-2571"/>
          <a:stretch/>
        </p:blipFill>
        <p:spPr>
          <a:xfrm>
            <a:off x="264900" y="2916176"/>
            <a:ext cx="370363" cy="402568"/>
          </a:xfrm>
          <a:prstGeom prst="rect">
            <a:avLst/>
          </a:prstGeom>
        </p:spPr>
      </p:pic>
      <p:sp>
        <p:nvSpPr>
          <p:cNvPr id="106" name="Shape 15">
            <a:extLst>
              <a:ext uri="{FF2B5EF4-FFF2-40B4-BE49-F238E27FC236}">
                <a16:creationId xmlns:a16="http://schemas.microsoft.com/office/drawing/2014/main" id="{6AAA5069-9AA7-6013-D1BB-4F834F6918AD}"/>
              </a:ext>
            </a:extLst>
          </p:cNvPr>
          <p:cNvSpPr/>
          <p:nvPr/>
        </p:nvSpPr>
        <p:spPr>
          <a:xfrm>
            <a:off x="2830297" y="1316132"/>
            <a:ext cx="9126427" cy="2392876"/>
          </a:xfrm>
          <a:prstGeom prst="roundRect">
            <a:avLst>
              <a:gd name="adj" fmla="val 2809"/>
            </a:avLst>
          </a:prstGeom>
          <a:noFill/>
          <a:ln w="47625">
            <a:solidFill>
              <a:srgbClr val="0000CC"/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20" name="Text 10"/>
          <p:cNvSpPr txBox="1"/>
          <p:nvPr/>
        </p:nvSpPr>
        <p:spPr>
          <a:xfrm>
            <a:off x="2867922" y="1111301"/>
            <a:ext cx="8680288" cy="335701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“月初スタート＋平日だけカウント” のシンプルアルゴリズム</a:t>
            </a:r>
            <a:endParaRPr lang="en-US" sz="2400" u="sng" dirty="0"/>
          </a:p>
        </p:txBody>
      </p:sp>
      <p:pic>
        <p:nvPicPr>
          <p:cNvPr id="108" name="図 107" descr="A simple wooden sign with a small plant hanging from the top, featuring a character or symbol in a stylized font.&#10;&#10;AI 生成コンテンツは誤りを含む可能性があります。">
            <a:extLst>
              <a:ext uri="{FF2B5EF4-FFF2-40B4-BE49-F238E27FC236}">
                <a16:creationId xmlns:a16="http://schemas.microsoft.com/office/drawing/2014/main" id="{03A854FF-9FFE-9A87-73DE-025142C04A4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09691" y="3227974"/>
            <a:ext cx="987028" cy="651439"/>
          </a:xfrm>
          <a:prstGeom prst="rect">
            <a:avLst/>
          </a:prstGeom>
        </p:spPr>
      </p:pic>
      <p:pic>
        <p:nvPicPr>
          <p:cNvPr id="109" name="図 108" descr="A simple wooden sign with a small plant hanging from the top, featuring a character or symbol in a stylized font.&#10;&#10;AI 生成コンテンツは誤りを含む可能性があります。">
            <a:extLst>
              <a:ext uri="{FF2B5EF4-FFF2-40B4-BE49-F238E27FC236}">
                <a16:creationId xmlns:a16="http://schemas.microsoft.com/office/drawing/2014/main" id="{41371E92-6E68-D949-0B55-54F6A7B4692D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55963" y="-129467"/>
            <a:ext cx="1755376" cy="1158549"/>
          </a:xfrm>
          <a:prstGeom prst="rect">
            <a:avLst/>
          </a:prstGeom>
        </p:spPr>
      </p:pic>
      <p:pic>
        <p:nvPicPr>
          <p:cNvPr id="111" name="図 110" descr="31&#10;&#10;AI 生成コンテンツは誤りを含む可能性があります。">
            <a:extLst>
              <a:ext uri="{FF2B5EF4-FFF2-40B4-BE49-F238E27FC236}">
                <a16:creationId xmlns:a16="http://schemas.microsoft.com/office/drawing/2014/main" id="{ECE658E8-787D-BE8B-CCB7-9595CD81D76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18685" y="-89957"/>
            <a:ext cx="1341634" cy="1257782"/>
          </a:xfrm>
          <a:prstGeom prst="rect">
            <a:avLst/>
          </a:prstGeom>
        </p:spPr>
      </p:pic>
      <p:pic>
        <p:nvPicPr>
          <p:cNvPr id="113" name="図 112" descr="A cartoon child with a blue shirt is pointing towards an illustration of an open eye with a light bulb.&#10;&#10;AI 生成コンテンツは誤りを含む可能性があります。">
            <a:extLst>
              <a:ext uri="{FF2B5EF4-FFF2-40B4-BE49-F238E27FC236}">
                <a16:creationId xmlns:a16="http://schemas.microsoft.com/office/drawing/2014/main" id="{0F4795DE-C2CF-8C38-A661-22849A039D3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83520" y="1498044"/>
            <a:ext cx="1414993" cy="167454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1">
            <a:extLst>
              <a:ext uri="{FF2B5EF4-FFF2-40B4-BE49-F238E27FC236}">
                <a16:creationId xmlns:a16="http://schemas.microsoft.com/office/drawing/2014/main" id="{572DE491-8C53-8AAE-4762-7DD36E63993E}"/>
              </a:ext>
            </a:extLst>
          </p:cNvPr>
          <p:cNvSpPr/>
          <p:nvPr/>
        </p:nvSpPr>
        <p:spPr>
          <a:xfrm>
            <a:off x="-17574" y="7990"/>
            <a:ext cx="12239718" cy="61495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1"/>
          <p:cNvSpPr/>
          <p:nvPr/>
        </p:nvSpPr>
        <p:spPr>
          <a:xfrm>
            <a:off x="457200" y="1162202"/>
            <a:ext cx="112772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 txBox="1"/>
          <p:nvPr/>
        </p:nvSpPr>
        <p:spPr>
          <a:xfrm>
            <a:off x="2216049" y="692670"/>
            <a:ext cx="8356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2800" b="1" u="sng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そんな時こそ</a:t>
            </a:r>
            <a:r>
              <a:rPr lang="en-US" altLang="ja-JP" sz="3600" b="1" u="sng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if() </a:t>
            </a:r>
            <a:r>
              <a:rPr lang="ja-JP" altLang="en-US" sz="3600" b="1" u="sng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 altLang="ja-JP" sz="2800" b="1" u="sng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</a:t>
            </a:r>
            <a:r>
              <a:rPr lang="ja-JP" altLang="en-US" sz="2800" b="1" u="sng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おススメ！！</a:t>
            </a:r>
            <a:endParaRPr lang="en-US" sz="3600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1946337" y="101776"/>
            <a:ext cx="10003849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200" b="1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「条件分岐を</a:t>
            </a:r>
            <a:r>
              <a:rPr lang="en-US" sz="3200" b="1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使うほどじゃないんだけど…」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261557" y="1309954"/>
            <a:ext cx="3023882" cy="388162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400" r="-400"/>
          <a:stretch/>
        </p:blipFill>
        <p:spPr>
          <a:xfrm>
            <a:off x="194766" y="1319479"/>
            <a:ext cx="122530" cy="386242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42746" y="1481328"/>
            <a:ext cx="2362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どんな時？ </a:t>
            </a:r>
            <a:endParaRPr lang="en-US" sz="2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1383" y="1433322"/>
            <a:ext cx="333756" cy="333756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345733" y="1914297"/>
            <a:ext cx="296759" cy="322564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757706" y="1957539"/>
            <a:ext cx="249539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曜日に合わせて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「平日 / 休日」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を出したい</a:t>
            </a:r>
            <a:endParaRPr lang="en-US" sz="1600" dirty="0"/>
          </a:p>
        </p:txBody>
      </p:sp>
      <p:sp>
        <p:nvSpPr>
          <p:cNvPr id="16" name="Text 7"/>
          <p:cNvSpPr txBox="1"/>
          <p:nvPr/>
        </p:nvSpPr>
        <p:spPr>
          <a:xfrm>
            <a:off x="836837" y="2612123"/>
            <a:ext cx="2178908" cy="36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空欄なら</a:t>
            </a: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「未設定</a:t>
            </a:r>
            <a:r>
              <a:rPr lang="en-US" sz="1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</a:p>
          <a:p>
            <a:pPr marL="0" indent="0" algn="l">
              <a:buNone/>
            </a:pP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返したい</a:t>
            </a:r>
            <a:endParaRPr lang="en-US" sz="1600" dirty="0"/>
          </a:p>
        </p:txBody>
      </p:sp>
      <p:sp>
        <p:nvSpPr>
          <p:cNvPr id="18" name="Text 8"/>
          <p:cNvSpPr txBox="1"/>
          <p:nvPr/>
        </p:nvSpPr>
        <p:spPr>
          <a:xfrm>
            <a:off x="801620" y="3267792"/>
            <a:ext cx="22845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true/false を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「承認 / 未承認」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に変換</a:t>
            </a:r>
            <a:endParaRPr lang="en-US" sz="1600" dirty="0"/>
          </a:p>
        </p:txBody>
      </p:sp>
      <p:sp>
        <p:nvSpPr>
          <p:cNvPr id="20" name="Text 9"/>
          <p:cNvSpPr txBox="1"/>
          <p:nvPr/>
        </p:nvSpPr>
        <p:spPr>
          <a:xfrm>
            <a:off x="898097" y="3966318"/>
            <a:ext cx="215417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“失敗したら別の値” を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返したいだけ</a:t>
            </a:r>
            <a:endParaRPr lang="en-US" sz="1600" dirty="0"/>
          </a:p>
        </p:txBody>
      </p:sp>
      <p:sp>
        <p:nvSpPr>
          <p:cNvPr id="21" name="Shape 10"/>
          <p:cNvSpPr/>
          <p:nvPr/>
        </p:nvSpPr>
        <p:spPr>
          <a:xfrm>
            <a:off x="409397" y="4491183"/>
            <a:ext cx="2776716" cy="559506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1"/>
          <p:cNvSpPr txBox="1"/>
          <p:nvPr/>
        </p:nvSpPr>
        <p:spPr>
          <a:xfrm>
            <a:off x="632765" y="4663021"/>
            <a:ext cx="24195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値を返すだけなら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Condition は重すぎる！</a:t>
            </a:r>
            <a:endParaRPr lang="en-US" sz="16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396282" y="1348798"/>
            <a:ext cx="2000709" cy="3801882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3424098" y="1224382"/>
            <a:ext cx="2016252" cy="933172"/>
          </a:xfrm>
          <a:prstGeom prst="roundRect">
            <a:avLst>
              <a:gd name="adj" fmla="val 2718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3"/>
          <p:cNvSpPr/>
          <p:nvPr/>
        </p:nvSpPr>
        <p:spPr>
          <a:xfrm>
            <a:off x="3731154" y="1500782"/>
            <a:ext cx="1776680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条件分岐</a:t>
            </a:r>
            <a:r>
              <a:rPr lang="en-US" sz="24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Condition </a:t>
            </a:r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3467404" y="1295705"/>
            <a:ext cx="320041" cy="425584"/>
          </a:xfrm>
          <a:prstGeom prst="rect">
            <a:avLst/>
          </a:prstGeom>
        </p:spPr>
      </p:pic>
      <p:sp>
        <p:nvSpPr>
          <p:cNvPr id="27" name="Shape 14"/>
          <p:cNvSpPr/>
          <p:nvPr/>
        </p:nvSpPr>
        <p:spPr>
          <a:xfrm>
            <a:off x="3702403" y="2243827"/>
            <a:ext cx="1532536" cy="873363"/>
          </a:xfrm>
          <a:prstGeom prst="roundRect">
            <a:avLst>
              <a:gd name="adj" fmla="val 18741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15"/>
          <p:cNvSpPr txBox="1"/>
          <p:nvPr/>
        </p:nvSpPr>
        <p:spPr>
          <a:xfrm>
            <a:off x="3737849" y="2357323"/>
            <a:ext cx="1497788" cy="151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b="1">
                <a:solidFill>
                  <a:srgbClr val="6B7280"/>
                </a:solidFill>
                <a:latin typeface="ui-monospace" pitchFamily="34" charset="0"/>
              </a:rPr>
              <a:t>条件分岐</a:t>
            </a:r>
            <a:endParaRPr lang="en-US" sz="2400" b="1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4350641" y="2628675"/>
            <a:ext cx="336843" cy="384523"/>
          </a:xfrm>
          <a:prstGeom prst="rect">
            <a:avLst/>
          </a:prstGeom>
        </p:spPr>
      </p:pic>
      <p:sp>
        <p:nvSpPr>
          <p:cNvPr id="30" name="Shape 16"/>
          <p:cNvSpPr/>
          <p:nvPr/>
        </p:nvSpPr>
        <p:spPr>
          <a:xfrm>
            <a:off x="4069616" y="3203708"/>
            <a:ext cx="934061" cy="762610"/>
          </a:xfrm>
          <a:prstGeom prst="roundRect">
            <a:avLst>
              <a:gd name="adj" fmla="val 1935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31" name="Text 17"/>
          <p:cNvSpPr txBox="1"/>
          <p:nvPr/>
        </p:nvSpPr>
        <p:spPr>
          <a:xfrm>
            <a:off x="4073725" y="3305205"/>
            <a:ext cx="851765" cy="32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717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True</a:t>
            </a:r>
            <a:endParaRPr lang="en-US" sz="2400" dirty="0"/>
          </a:p>
        </p:txBody>
      </p:sp>
      <p:sp>
        <p:nvSpPr>
          <p:cNvPr id="32" name="Text 18"/>
          <p:cNvSpPr txBox="1"/>
          <p:nvPr/>
        </p:nvSpPr>
        <p:spPr>
          <a:xfrm>
            <a:off x="4109125" y="3634392"/>
            <a:ext cx="851765" cy="272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"休日"</a:t>
            </a:r>
            <a:endParaRPr lang="en-US" sz="1600" dirty="0"/>
          </a:p>
        </p:txBody>
      </p:sp>
      <p:sp>
        <p:nvSpPr>
          <p:cNvPr id="33" name="Shape 19"/>
          <p:cNvSpPr/>
          <p:nvPr/>
        </p:nvSpPr>
        <p:spPr>
          <a:xfrm>
            <a:off x="4020644" y="4114449"/>
            <a:ext cx="1010412" cy="753467"/>
          </a:xfrm>
          <a:prstGeom prst="roundRect">
            <a:avLst>
              <a:gd name="adj" fmla="val 1935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34" name="Text 20"/>
          <p:cNvSpPr txBox="1"/>
          <p:nvPr/>
        </p:nvSpPr>
        <p:spPr>
          <a:xfrm>
            <a:off x="4133155" y="4165133"/>
            <a:ext cx="851765" cy="32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717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False</a:t>
            </a:r>
            <a:endParaRPr lang="en-US" sz="2400" dirty="0"/>
          </a:p>
        </p:txBody>
      </p:sp>
      <p:sp>
        <p:nvSpPr>
          <p:cNvPr id="35" name="Text 21"/>
          <p:cNvSpPr txBox="1"/>
          <p:nvPr/>
        </p:nvSpPr>
        <p:spPr>
          <a:xfrm>
            <a:off x="4058952" y="4524461"/>
            <a:ext cx="851765" cy="272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"平日"</a:t>
            </a:r>
            <a:endParaRPr lang="en-US" sz="1600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10"/>
          <a:srcRect t="-9" b="-9"/>
          <a:stretch/>
        </p:blipFill>
        <p:spPr>
          <a:xfrm>
            <a:off x="5556619" y="1287988"/>
            <a:ext cx="3156229" cy="3853548"/>
          </a:xfrm>
          <a:prstGeom prst="rect">
            <a:avLst/>
          </a:prstGeom>
        </p:spPr>
      </p:pic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1"/>
          <a:srcRect l="-24" r="-24"/>
          <a:stretch/>
        </p:blipFill>
        <p:spPr>
          <a:xfrm>
            <a:off x="5636650" y="1224381"/>
            <a:ext cx="2876990" cy="665548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6190521" y="1357809"/>
            <a:ext cx="2431025" cy="39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if() なら1行 </a:t>
            </a:r>
            <a:endParaRPr lang="en-US" sz="3200" dirty="0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5738604" y="1393321"/>
            <a:ext cx="288644" cy="313743"/>
          </a:xfrm>
          <a:prstGeom prst="rect">
            <a:avLst/>
          </a:prstGeom>
        </p:spPr>
      </p:pic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3"/>
          <a:srcRect l="-12" r="-12"/>
          <a:stretch/>
        </p:blipFill>
        <p:spPr>
          <a:xfrm>
            <a:off x="5679337" y="1948013"/>
            <a:ext cx="2885567" cy="2129883"/>
          </a:xfrm>
          <a:prstGeom prst="rect">
            <a:avLst/>
          </a:prstGeom>
        </p:spPr>
      </p:pic>
      <p:sp>
        <p:nvSpPr>
          <p:cNvPr id="41" name="Text 23"/>
          <p:cNvSpPr txBox="1"/>
          <p:nvPr/>
        </p:nvSpPr>
        <p:spPr>
          <a:xfrm>
            <a:off x="5814557" y="2045225"/>
            <a:ext cx="28478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</a:t>
            </a:r>
            <a:endParaRPr lang="en-US" sz="2000" b="1" dirty="0"/>
          </a:p>
        </p:txBody>
      </p:sp>
      <p:sp>
        <p:nvSpPr>
          <p:cNvPr id="42" name="Text 24"/>
          <p:cNvSpPr txBox="1"/>
          <p:nvPr/>
        </p:nvSpPr>
        <p:spPr>
          <a:xfrm>
            <a:off x="5807584" y="2462164"/>
            <a:ext cx="28478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or(equals(..),..),</a:t>
            </a:r>
            <a:endParaRPr lang="en-US" sz="2000" b="1" dirty="0"/>
          </a:p>
        </p:txBody>
      </p:sp>
      <p:sp>
        <p:nvSpPr>
          <p:cNvPr id="43" name="Text 25"/>
          <p:cNvSpPr txBox="1"/>
          <p:nvPr/>
        </p:nvSpPr>
        <p:spPr>
          <a:xfrm>
            <a:off x="5793638" y="2848033"/>
            <a:ext cx="28478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"休日",</a:t>
            </a:r>
            <a:endParaRPr lang="en-US" sz="2000" b="1" dirty="0"/>
          </a:p>
        </p:txBody>
      </p:sp>
      <p:sp>
        <p:nvSpPr>
          <p:cNvPr id="44" name="Text 26"/>
          <p:cNvSpPr txBox="1"/>
          <p:nvPr/>
        </p:nvSpPr>
        <p:spPr>
          <a:xfrm>
            <a:off x="5800611" y="3222713"/>
            <a:ext cx="28478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"平日"</a:t>
            </a:r>
            <a:endParaRPr lang="en-US" sz="2000" b="1" dirty="0"/>
          </a:p>
        </p:txBody>
      </p:sp>
      <p:sp>
        <p:nvSpPr>
          <p:cNvPr id="45" name="Text 27"/>
          <p:cNvSpPr txBox="1"/>
          <p:nvPr/>
        </p:nvSpPr>
        <p:spPr>
          <a:xfrm>
            <a:off x="5812347" y="3530714"/>
            <a:ext cx="28478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b="1" dirty="0"/>
          </a:p>
        </p:txBody>
      </p:sp>
      <p:sp>
        <p:nvSpPr>
          <p:cNvPr id="46" name="Text 28"/>
          <p:cNvSpPr txBox="1"/>
          <p:nvPr/>
        </p:nvSpPr>
        <p:spPr>
          <a:xfrm>
            <a:off x="5636650" y="4331703"/>
            <a:ext cx="2626462" cy="60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分岐を作らず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そのまま値として使える </a:t>
            </a:r>
            <a:endParaRPr lang="en-US" dirty="0"/>
          </a:p>
        </p:txBody>
      </p:sp>
      <p:sp>
        <p:nvSpPr>
          <p:cNvPr id="47" name="Shape 29"/>
          <p:cNvSpPr/>
          <p:nvPr/>
        </p:nvSpPr>
        <p:spPr>
          <a:xfrm>
            <a:off x="8740470" y="1371940"/>
            <a:ext cx="9144" cy="38862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4"/>
          <a:srcRect t="-47" b="-47"/>
          <a:stretch/>
        </p:blipFill>
        <p:spPr>
          <a:xfrm>
            <a:off x="8820414" y="1613232"/>
            <a:ext cx="3221391" cy="944431"/>
          </a:xfrm>
          <a:prstGeom prst="rect">
            <a:avLst/>
          </a:prstGeom>
        </p:spPr>
      </p:pic>
      <p:sp>
        <p:nvSpPr>
          <p:cNvPr id="51" name="Shape 31"/>
          <p:cNvSpPr/>
          <p:nvPr/>
        </p:nvSpPr>
        <p:spPr>
          <a:xfrm>
            <a:off x="8820414" y="1853313"/>
            <a:ext cx="475445" cy="53652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pic>
        <p:nvPicPr>
          <p:cNvPr id="52" name="Image 18" descr="preencoded.png"/>
          <p:cNvPicPr>
            <a:picLocks noChangeAspect="1"/>
          </p:cNvPicPr>
          <p:nvPr/>
        </p:nvPicPr>
        <p:blipFill>
          <a:blip r:embed="rId15"/>
          <a:srcRect t="-43" b="-43"/>
          <a:stretch/>
        </p:blipFill>
        <p:spPr>
          <a:xfrm>
            <a:off x="8949193" y="1975278"/>
            <a:ext cx="208453" cy="289724"/>
          </a:xfrm>
          <a:prstGeom prst="rect">
            <a:avLst/>
          </a:prstGeom>
        </p:spPr>
      </p:pic>
      <p:sp>
        <p:nvSpPr>
          <p:cNvPr id="53" name="Text 32"/>
          <p:cNvSpPr txBox="1"/>
          <p:nvPr/>
        </p:nvSpPr>
        <p:spPr>
          <a:xfrm>
            <a:off x="9400072" y="1689402"/>
            <a:ext cx="2569976" cy="26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曜日 → ラベル切替</a:t>
            </a:r>
            <a:endParaRPr lang="en-US" sz="2000" dirty="0"/>
          </a:p>
        </p:txBody>
      </p:sp>
      <p:sp>
        <p:nvSpPr>
          <p:cNvPr id="54" name="Text 33"/>
          <p:cNvSpPr txBox="1"/>
          <p:nvPr/>
        </p:nvSpPr>
        <p:spPr>
          <a:xfrm>
            <a:off x="9606280" y="2019732"/>
            <a:ext cx="2751303" cy="41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土日 → "休日</a:t>
            </a:r>
            <a:r>
              <a:rPr lang="en-US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", </a:t>
            </a:r>
          </a:p>
          <a:p>
            <a:pPr marL="0" indent="0" algn="l">
              <a:buNone/>
            </a:pPr>
            <a:r>
              <a:rPr lang="en-US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平日 </a:t>
            </a: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"平日"</a:t>
            </a:r>
            <a:endParaRPr lang="en-US" b="1" dirty="0"/>
          </a:p>
        </p:txBody>
      </p:sp>
      <p:pic>
        <p:nvPicPr>
          <p:cNvPr id="55" name="Image 19" descr="preencoded.png"/>
          <p:cNvPicPr>
            <a:picLocks noChangeAspect="1"/>
          </p:cNvPicPr>
          <p:nvPr/>
        </p:nvPicPr>
        <p:blipFill>
          <a:blip r:embed="rId14"/>
          <a:srcRect t="-47" b="-47"/>
          <a:stretch/>
        </p:blipFill>
        <p:spPr>
          <a:xfrm>
            <a:off x="8777236" y="2699591"/>
            <a:ext cx="3230535" cy="1119772"/>
          </a:xfrm>
          <a:prstGeom prst="rect">
            <a:avLst/>
          </a:prstGeom>
        </p:spPr>
      </p:pic>
      <p:sp>
        <p:nvSpPr>
          <p:cNvPr id="56" name="Shape 34"/>
          <p:cNvSpPr/>
          <p:nvPr/>
        </p:nvSpPr>
        <p:spPr>
          <a:xfrm>
            <a:off x="8811049" y="2866868"/>
            <a:ext cx="475445" cy="508549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pic>
        <p:nvPicPr>
          <p:cNvPr id="57" name="Image 20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8966067" y="2938166"/>
            <a:ext cx="208453" cy="289724"/>
          </a:xfrm>
          <a:prstGeom prst="rect">
            <a:avLst/>
          </a:prstGeom>
        </p:spPr>
      </p:pic>
      <p:sp>
        <p:nvSpPr>
          <p:cNvPr id="58" name="Text 35"/>
          <p:cNvSpPr txBox="1"/>
          <p:nvPr/>
        </p:nvSpPr>
        <p:spPr>
          <a:xfrm>
            <a:off x="9480553" y="2834203"/>
            <a:ext cx="2972606" cy="287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空文字チェック</a:t>
            </a:r>
            <a:endParaRPr lang="en-US" sz="2000" dirty="0"/>
          </a:p>
        </p:txBody>
      </p:sp>
      <p:sp>
        <p:nvSpPr>
          <p:cNvPr id="59" name="Text 36"/>
          <p:cNvSpPr txBox="1"/>
          <p:nvPr/>
        </p:nvSpPr>
        <p:spPr>
          <a:xfrm>
            <a:off x="9581727" y="3131435"/>
            <a:ext cx="2343878" cy="53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 → "未設定</a:t>
            </a:r>
            <a:r>
              <a:rPr lang="en-US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", </a:t>
            </a:r>
          </a:p>
          <a:p>
            <a:pPr marL="0" indent="0" algn="l">
              <a:buNone/>
            </a:pPr>
            <a:r>
              <a:rPr lang="en-US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値あり </a:t>
            </a: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そのまま</a:t>
            </a:r>
            <a:endParaRPr lang="en-US" b="1" dirty="0"/>
          </a:p>
        </p:txBody>
      </p:sp>
      <p:pic>
        <p:nvPicPr>
          <p:cNvPr id="60" name="Image 21" descr="preencoded.png"/>
          <p:cNvPicPr>
            <a:picLocks noChangeAspect="1"/>
          </p:cNvPicPr>
          <p:nvPr/>
        </p:nvPicPr>
        <p:blipFill>
          <a:blip r:embed="rId14"/>
          <a:srcRect t="-47" b="-47"/>
          <a:stretch/>
        </p:blipFill>
        <p:spPr>
          <a:xfrm>
            <a:off x="8790167" y="3953169"/>
            <a:ext cx="3230535" cy="957817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61" name="Shape 37"/>
          <p:cNvSpPr/>
          <p:nvPr/>
        </p:nvSpPr>
        <p:spPr>
          <a:xfrm>
            <a:off x="8815698" y="4097918"/>
            <a:ext cx="475445" cy="536528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pic>
        <p:nvPicPr>
          <p:cNvPr id="62" name="Image 22" descr="preencoded.png"/>
          <p:cNvPicPr>
            <a:picLocks noChangeAspect="1"/>
          </p:cNvPicPr>
          <p:nvPr/>
        </p:nvPicPr>
        <p:blipFill>
          <a:blip r:embed="rId17"/>
          <a:srcRect l="-33" r="-33"/>
          <a:stretch/>
        </p:blipFill>
        <p:spPr>
          <a:xfrm>
            <a:off x="8919212" y="4210916"/>
            <a:ext cx="268419" cy="289724"/>
          </a:xfrm>
          <a:prstGeom prst="rect">
            <a:avLst/>
          </a:prstGeom>
        </p:spPr>
      </p:pic>
      <p:sp>
        <p:nvSpPr>
          <p:cNvPr id="63" name="Text 38"/>
          <p:cNvSpPr txBox="1"/>
          <p:nvPr/>
        </p:nvSpPr>
        <p:spPr>
          <a:xfrm>
            <a:off x="9475092" y="4011616"/>
            <a:ext cx="2779858" cy="26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ステータス変換</a:t>
            </a:r>
            <a:endParaRPr lang="en-US" sz="2000" dirty="0"/>
          </a:p>
        </p:txBody>
      </p:sp>
      <p:sp>
        <p:nvSpPr>
          <p:cNvPr id="64" name="Text 39"/>
          <p:cNvSpPr txBox="1"/>
          <p:nvPr/>
        </p:nvSpPr>
        <p:spPr>
          <a:xfrm>
            <a:off x="9606083" y="4442002"/>
            <a:ext cx="3062555" cy="26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true → "承認</a:t>
            </a:r>
            <a:r>
              <a:rPr lang="en-US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", </a:t>
            </a:r>
          </a:p>
          <a:p>
            <a:pPr marL="0" indent="0" algn="l">
              <a:buNone/>
            </a:pPr>
            <a:r>
              <a:rPr lang="en-US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false </a:t>
            </a:r>
            <a:r>
              <a:rPr lang="en-US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"未承認"</a:t>
            </a:r>
            <a:endParaRPr lang="en-US" b="1" dirty="0"/>
          </a:p>
        </p:txBody>
      </p:sp>
      <p:pic>
        <p:nvPicPr>
          <p:cNvPr id="70" name="Image 25" descr="preencoded.png"/>
          <p:cNvPicPr>
            <a:picLocks noChangeAspect="1"/>
          </p:cNvPicPr>
          <p:nvPr/>
        </p:nvPicPr>
        <p:blipFill>
          <a:blip r:embed="rId18"/>
          <a:srcRect t="-20" b="-20"/>
          <a:stretch/>
        </p:blipFill>
        <p:spPr>
          <a:xfrm>
            <a:off x="370634" y="5248051"/>
            <a:ext cx="11662027" cy="1336633"/>
          </a:xfrm>
          <a:prstGeom prst="rect">
            <a:avLst/>
          </a:prstGeom>
        </p:spPr>
      </p:pic>
      <p:pic>
        <p:nvPicPr>
          <p:cNvPr id="71" name="Image 26" descr="preencoded.png"/>
          <p:cNvPicPr>
            <a:picLocks noChangeAspect="1"/>
          </p:cNvPicPr>
          <p:nvPr/>
        </p:nvPicPr>
        <p:blipFill>
          <a:blip r:embed="rId19">
            <a:alphaModFix amt="20000"/>
          </a:blip>
          <a:srcRect t="-180" b="-180"/>
          <a:stretch/>
        </p:blipFill>
        <p:spPr>
          <a:xfrm>
            <a:off x="11925605" y="6752844"/>
            <a:ext cx="190195" cy="152705"/>
          </a:xfrm>
          <a:prstGeom prst="rect">
            <a:avLst/>
          </a:prstGeom>
        </p:spPr>
      </p:pic>
      <p:sp>
        <p:nvSpPr>
          <p:cNvPr id="72" name="Text 43"/>
          <p:cNvSpPr txBox="1"/>
          <p:nvPr/>
        </p:nvSpPr>
        <p:spPr>
          <a:xfrm>
            <a:off x="601676" y="5475299"/>
            <a:ext cx="32580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9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Basic Syntax</a:t>
            </a:r>
            <a:endParaRPr lang="en-US" sz="2400" dirty="0"/>
          </a:p>
        </p:txBody>
      </p:sp>
      <p:grpSp>
        <p:nvGrpSpPr>
          <p:cNvPr id="107" name="グループ化 106">
            <a:extLst>
              <a:ext uri="{FF2B5EF4-FFF2-40B4-BE49-F238E27FC236}">
                <a16:creationId xmlns:a16="http://schemas.microsoft.com/office/drawing/2014/main" id="{EACA020D-FF75-7EA1-C6C0-9E6738D03DA1}"/>
              </a:ext>
            </a:extLst>
          </p:cNvPr>
          <p:cNvGrpSpPr/>
          <p:nvPr/>
        </p:nvGrpSpPr>
        <p:grpSpPr>
          <a:xfrm>
            <a:off x="421458" y="5838902"/>
            <a:ext cx="5818174" cy="590702"/>
            <a:chOff x="647395" y="5772607"/>
            <a:chExt cx="3137306" cy="590702"/>
          </a:xfrm>
        </p:grpSpPr>
        <p:pic>
          <p:nvPicPr>
            <p:cNvPr id="73" name="Image 27" descr="preencoded.png"/>
            <p:cNvPicPr>
              <a:picLocks noChangeAspect="1"/>
            </p:cNvPicPr>
            <p:nvPr/>
          </p:nvPicPr>
          <p:blipFill>
            <a:blip r:embed="rId20"/>
            <a:srcRect t="-15" b="-15"/>
            <a:stretch/>
          </p:blipFill>
          <p:spPr>
            <a:xfrm>
              <a:off x="647395" y="5772607"/>
              <a:ext cx="3137306" cy="590702"/>
            </a:xfrm>
            <a:prstGeom prst="rect">
              <a:avLst/>
            </a:prstGeom>
          </p:spPr>
        </p:pic>
        <p:sp>
          <p:nvSpPr>
            <p:cNvPr id="74" name="Text 44"/>
            <p:cNvSpPr txBox="1"/>
            <p:nvPr/>
          </p:nvSpPr>
          <p:spPr>
            <a:xfrm>
              <a:off x="809244" y="5934456"/>
              <a:ext cx="286207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b="1" dirty="0">
                  <a:solidFill>
                    <a:srgbClr val="60A5FA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if</a:t>
              </a:r>
              <a:endParaRPr lang="en-US" sz="2800" dirty="0"/>
            </a:p>
          </p:txBody>
        </p:sp>
        <p:sp>
          <p:nvSpPr>
            <p:cNvPr id="75" name="Text 45"/>
            <p:cNvSpPr txBox="1"/>
            <p:nvPr/>
          </p:nvSpPr>
          <p:spPr>
            <a:xfrm>
              <a:off x="1053389" y="5934456"/>
              <a:ext cx="181051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9CA3AF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(</a:t>
              </a:r>
              <a:endParaRPr lang="en-US" sz="2800" dirty="0"/>
            </a:p>
          </p:txBody>
        </p:sp>
        <p:sp>
          <p:nvSpPr>
            <p:cNvPr id="76" name="Text 46"/>
            <p:cNvSpPr txBox="1"/>
            <p:nvPr/>
          </p:nvSpPr>
          <p:spPr>
            <a:xfrm>
              <a:off x="1194206" y="5934456"/>
              <a:ext cx="419710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A78BFA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条件</a:t>
              </a:r>
              <a:endParaRPr lang="en-US" sz="2800" dirty="0"/>
            </a:p>
          </p:txBody>
        </p:sp>
        <p:sp>
          <p:nvSpPr>
            <p:cNvPr id="77" name="Text 47"/>
            <p:cNvSpPr txBox="1"/>
            <p:nvPr/>
          </p:nvSpPr>
          <p:spPr>
            <a:xfrm>
              <a:off x="1613916" y="5934456"/>
              <a:ext cx="181051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9CA3AF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,</a:t>
              </a:r>
              <a:endParaRPr lang="en-US" sz="2800" dirty="0"/>
            </a:p>
          </p:txBody>
        </p:sp>
        <p:sp>
          <p:nvSpPr>
            <p:cNvPr id="78" name="Text 48"/>
            <p:cNvSpPr txBox="1"/>
            <p:nvPr/>
          </p:nvSpPr>
          <p:spPr>
            <a:xfrm>
              <a:off x="1793138" y="5934456"/>
              <a:ext cx="78181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34D399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真のとき</a:t>
              </a:r>
              <a:endParaRPr lang="en-US" sz="2800" dirty="0"/>
            </a:p>
          </p:txBody>
        </p:sp>
        <p:sp>
          <p:nvSpPr>
            <p:cNvPr id="79" name="Text 49"/>
            <p:cNvSpPr txBox="1"/>
            <p:nvPr/>
          </p:nvSpPr>
          <p:spPr>
            <a:xfrm>
              <a:off x="2566721" y="5934456"/>
              <a:ext cx="181051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9CA3AF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,</a:t>
              </a:r>
              <a:endParaRPr lang="en-US" sz="2800" dirty="0"/>
            </a:p>
          </p:txBody>
        </p:sp>
        <p:sp>
          <p:nvSpPr>
            <p:cNvPr id="80" name="Text 50"/>
            <p:cNvSpPr txBox="1"/>
            <p:nvPr/>
          </p:nvSpPr>
          <p:spPr>
            <a:xfrm>
              <a:off x="2745943" y="5934456"/>
              <a:ext cx="78181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F87171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偽のとき</a:t>
              </a:r>
              <a:endParaRPr lang="en-US" sz="2800" dirty="0"/>
            </a:p>
          </p:txBody>
        </p:sp>
        <p:sp>
          <p:nvSpPr>
            <p:cNvPr id="81" name="Text 51"/>
            <p:cNvSpPr txBox="1"/>
            <p:nvPr/>
          </p:nvSpPr>
          <p:spPr>
            <a:xfrm>
              <a:off x="3482035" y="5934456"/>
              <a:ext cx="181051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9CA3AF"/>
                  </a:solidFill>
                  <a:latin typeface="ui-monospace" pitchFamily="34" charset="0"/>
                  <a:ea typeface="ui-monospace" pitchFamily="34" charset="-122"/>
                  <a:cs typeface="ui-monospace" pitchFamily="34" charset="-120"/>
                </a:rPr>
                <a:t>)</a:t>
              </a:r>
              <a:endParaRPr lang="en-US" sz="2800" dirty="0"/>
            </a:p>
          </p:txBody>
        </p:sp>
      </p:grpSp>
      <p:sp>
        <p:nvSpPr>
          <p:cNvPr id="82" name="Text 52"/>
          <p:cNvSpPr txBox="1"/>
          <p:nvPr/>
        </p:nvSpPr>
        <p:spPr>
          <a:xfrm>
            <a:off x="11075213" y="6210605"/>
            <a:ext cx="553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6B7280">
                    <a:alpha val="5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pic>
        <p:nvPicPr>
          <p:cNvPr id="83" name="Image 28" descr="preencoded.png"/>
          <p:cNvPicPr>
            <a:picLocks noChangeAspect="1"/>
          </p:cNvPicPr>
          <p:nvPr/>
        </p:nvPicPr>
        <p:blipFill>
          <a:blip r:embed="rId21"/>
          <a:srcRect t="-530" b="-530"/>
          <a:stretch/>
        </p:blipFill>
        <p:spPr>
          <a:xfrm>
            <a:off x="5210505" y="3171361"/>
            <a:ext cx="463599" cy="535449"/>
          </a:xfrm>
          <a:prstGeom prst="rect">
            <a:avLst/>
          </a:prstGeom>
        </p:spPr>
      </p:pic>
      <p:grpSp>
        <p:nvGrpSpPr>
          <p:cNvPr id="108" name="グループ化 107">
            <a:extLst>
              <a:ext uri="{FF2B5EF4-FFF2-40B4-BE49-F238E27FC236}">
                <a16:creationId xmlns:a16="http://schemas.microsoft.com/office/drawing/2014/main" id="{0501CB00-1417-8014-FEC6-2F35E43AF30B}"/>
              </a:ext>
            </a:extLst>
          </p:cNvPr>
          <p:cNvGrpSpPr/>
          <p:nvPr/>
        </p:nvGrpSpPr>
        <p:grpSpPr>
          <a:xfrm>
            <a:off x="6269205" y="5349127"/>
            <a:ext cx="5948002" cy="1092005"/>
            <a:chOff x="4013302" y="5347780"/>
            <a:chExt cx="3576906" cy="1092005"/>
          </a:xfrm>
        </p:grpSpPr>
        <p:sp>
          <p:nvSpPr>
            <p:cNvPr id="84" name="Shape 53"/>
            <p:cNvSpPr/>
            <p:nvPr/>
          </p:nvSpPr>
          <p:spPr>
            <a:xfrm>
              <a:off x="4013302" y="5553151"/>
              <a:ext cx="9144" cy="800100"/>
            </a:xfrm>
            <a:prstGeom prst="rect">
              <a:avLst/>
            </a:prstGeom>
            <a:solidFill>
              <a:srgbClr val="4B5563"/>
            </a:solidFill>
            <a:ln w="12700">
              <a:solidFill>
                <a:srgbClr val="4B5563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4000"/>
            </a:p>
          </p:txBody>
        </p:sp>
        <p:pic>
          <p:nvPicPr>
            <p:cNvPr id="85" name="Image 29" descr="preencoded.png"/>
            <p:cNvPicPr>
              <a:picLocks noChangeAspect="1"/>
            </p:cNvPicPr>
            <p:nvPr/>
          </p:nvPicPr>
          <p:blipFill>
            <a:blip r:embed="rId22"/>
            <a:srcRect l="-760" r="-760"/>
            <a:stretch/>
          </p:blipFill>
          <p:spPr>
            <a:xfrm>
              <a:off x="4145380" y="5347780"/>
              <a:ext cx="153291" cy="302128"/>
            </a:xfrm>
            <a:prstGeom prst="rect">
              <a:avLst/>
            </a:prstGeom>
          </p:spPr>
        </p:pic>
        <p:sp>
          <p:nvSpPr>
            <p:cNvPr id="86" name="Text 54"/>
            <p:cNvSpPr txBox="1"/>
            <p:nvPr/>
          </p:nvSpPr>
          <p:spPr>
            <a:xfrm>
              <a:off x="4439186" y="5388300"/>
              <a:ext cx="315102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Conditionアクションより </a:t>
              </a:r>
              <a:r>
                <a:rPr lang="en-US" b="1" dirty="0">
                  <a:solidFill>
                    <a:srgbClr val="FCD34D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“値の扱い” が直感的</a:t>
              </a:r>
              <a:endParaRPr lang="en-US" dirty="0"/>
            </a:p>
          </p:txBody>
        </p:sp>
        <p:pic>
          <p:nvPicPr>
            <p:cNvPr id="87" name="Image 30" descr="preencoded.png"/>
            <p:cNvPicPr>
              <a:picLocks noChangeAspect="1"/>
            </p:cNvPicPr>
            <p:nvPr/>
          </p:nvPicPr>
          <p:blipFill>
            <a:blip r:embed="rId23"/>
            <a:srcRect t="-842" b="-842"/>
            <a:stretch/>
          </p:blipFill>
          <p:spPr>
            <a:xfrm>
              <a:off x="4137847" y="5732552"/>
              <a:ext cx="190924" cy="302128"/>
            </a:xfrm>
            <a:prstGeom prst="rect">
              <a:avLst/>
            </a:prstGeom>
          </p:spPr>
        </p:pic>
        <p:sp>
          <p:nvSpPr>
            <p:cNvPr id="88" name="Text 55"/>
            <p:cNvSpPr txBox="1"/>
            <p:nvPr/>
          </p:nvSpPr>
          <p:spPr>
            <a:xfrm>
              <a:off x="4480560" y="5802423"/>
              <a:ext cx="2304288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動的コンテンツ内でそのまま使える</a:t>
              </a:r>
              <a:endParaRPr lang="en-US" dirty="0"/>
            </a:p>
          </p:txBody>
        </p:sp>
        <p:pic>
          <p:nvPicPr>
            <p:cNvPr id="89" name="Image 31" descr="preencoded.png"/>
            <p:cNvPicPr>
              <a:picLocks noChangeAspect="1"/>
            </p:cNvPicPr>
            <p:nvPr/>
          </p:nvPicPr>
          <p:blipFill>
            <a:blip r:embed="rId24"/>
            <a:srcRect t="-842" b="-842"/>
            <a:stretch/>
          </p:blipFill>
          <p:spPr>
            <a:xfrm>
              <a:off x="4137847" y="6137657"/>
              <a:ext cx="190924" cy="302128"/>
            </a:xfrm>
            <a:prstGeom prst="rect">
              <a:avLst/>
            </a:prstGeom>
          </p:spPr>
        </p:pic>
        <p:sp>
          <p:nvSpPr>
            <p:cNvPr id="90" name="Text 56"/>
            <p:cNvSpPr txBox="1"/>
            <p:nvPr/>
          </p:nvSpPr>
          <p:spPr>
            <a:xfrm>
              <a:off x="4480560" y="6209258"/>
              <a:ext cx="2648102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組み合わせれば、</a:t>
              </a:r>
              <a:r>
                <a:rPr lang="en-US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Excelのような表現に</a:t>
              </a:r>
              <a:endParaRPr lang="en-US" dirty="0"/>
            </a:p>
          </p:txBody>
        </p:sp>
      </p:grpSp>
      <p:sp>
        <p:nvSpPr>
          <p:cNvPr id="94" name="四角形: 角を丸くする 93">
            <a:extLst>
              <a:ext uri="{FF2B5EF4-FFF2-40B4-BE49-F238E27FC236}">
                <a16:creationId xmlns:a16="http://schemas.microsoft.com/office/drawing/2014/main" id="{8B208360-60BB-ABA2-ADEA-076C5D8CA3C5}"/>
              </a:ext>
            </a:extLst>
          </p:cNvPr>
          <p:cNvSpPr/>
          <p:nvPr/>
        </p:nvSpPr>
        <p:spPr>
          <a:xfrm>
            <a:off x="43861" y="7990"/>
            <a:ext cx="12103265" cy="6821206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6" name="グループ化 95">
            <a:extLst>
              <a:ext uri="{FF2B5EF4-FFF2-40B4-BE49-F238E27FC236}">
                <a16:creationId xmlns:a16="http://schemas.microsoft.com/office/drawing/2014/main" id="{12F9C482-E943-E5EA-F961-EBDA83E1829C}"/>
              </a:ext>
            </a:extLst>
          </p:cNvPr>
          <p:cNvGrpSpPr/>
          <p:nvPr/>
        </p:nvGrpSpPr>
        <p:grpSpPr>
          <a:xfrm>
            <a:off x="188332" y="78173"/>
            <a:ext cx="1543203" cy="464514"/>
            <a:chOff x="188332" y="78173"/>
            <a:chExt cx="1543203" cy="464514"/>
          </a:xfrm>
        </p:grpSpPr>
        <p:sp>
          <p:nvSpPr>
            <p:cNvPr id="97" name="Shape 2">
              <a:extLst>
                <a:ext uri="{FF2B5EF4-FFF2-40B4-BE49-F238E27FC236}">
                  <a16:creationId xmlns:a16="http://schemas.microsoft.com/office/drawing/2014/main" id="{FB491154-080A-A31C-3261-D44BEE8BC7BA}"/>
                </a:ext>
              </a:extLst>
            </p:cNvPr>
            <p:cNvSpPr/>
            <p:nvPr/>
          </p:nvSpPr>
          <p:spPr>
            <a:xfrm>
              <a:off x="188332" y="78173"/>
              <a:ext cx="1543203" cy="464514"/>
            </a:xfrm>
            <a:prstGeom prst="roundRect">
              <a:avLst>
                <a:gd name="adj" fmla="val 266667"/>
              </a:avLst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8" name="Text 3">
              <a:extLst>
                <a:ext uri="{FF2B5EF4-FFF2-40B4-BE49-F238E27FC236}">
                  <a16:creationId xmlns:a16="http://schemas.microsoft.com/office/drawing/2014/main" id="{5DA92909-1533-3A6E-6ACA-CEB13D8FBB44}"/>
                </a:ext>
              </a:extLst>
            </p:cNvPr>
            <p:cNvSpPr txBox="1"/>
            <p:nvPr/>
          </p:nvSpPr>
          <p:spPr>
            <a:xfrm>
              <a:off x="348708" y="184194"/>
              <a:ext cx="131762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kern="0" spc="38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Vol.29</a:t>
              </a:r>
              <a:endParaRPr lang="en-US" sz="3200" dirty="0"/>
            </a:p>
          </p:txBody>
        </p:sp>
      </p:grpSp>
      <p:pic>
        <p:nvPicPr>
          <p:cNvPr id="99" name="図 98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EBE07A22-2A2F-8398-7078-081131137DC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43982" y="588294"/>
            <a:ext cx="663502" cy="663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Image 5" descr="preencoded.png">
            <a:extLst>
              <a:ext uri="{FF2B5EF4-FFF2-40B4-BE49-F238E27FC236}">
                <a16:creationId xmlns:a16="http://schemas.microsoft.com/office/drawing/2014/main" id="{5A5BA2C2-A95A-A737-AD0B-84148A922AF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364844" y="2585923"/>
            <a:ext cx="296759" cy="322564"/>
          </a:xfrm>
          <a:prstGeom prst="rect">
            <a:avLst/>
          </a:prstGeom>
        </p:spPr>
      </p:pic>
      <p:pic>
        <p:nvPicPr>
          <p:cNvPr id="3" name="Image 5" descr="preencoded.png">
            <a:extLst>
              <a:ext uri="{FF2B5EF4-FFF2-40B4-BE49-F238E27FC236}">
                <a16:creationId xmlns:a16="http://schemas.microsoft.com/office/drawing/2014/main" id="{DB578397-204C-88CC-75AC-1365E0A70C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355452" y="3288623"/>
            <a:ext cx="296759" cy="322564"/>
          </a:xfrm>
          <a:prstGeom prst="rect">
            <a:avLst/>
          </a:prstGeom>
        </p:spPr>
      </p:pic>
      <p:pic>
        <p:nvPicPr>
          <p:cNvPr id="5" name="Image 5" descr="preencoded.png">
            <a:extLst>
              <a:ext uri="{FF2B5EF4-FFF2-40B4-BE49-F238E27FC236}">
                <a16:creationId xmlns:a16="http://schemas.microsoft.com/office/drawing/2014/main" id="{32117AB2-32FF-A6BB-7928-F55ABA34A9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384087" y="3937059"/>
            <a:ext cx="296759" cy="322564"/>
          </a:xfrm>
          <a:prstGeom prst="rect">
            <a:avLst/>
          </a:prstGeom>
        </p:spPr>
      </p:pic>
      <p:cxnSp>
        <p:nvCxnSpPr>
          <p:cNvPr id="101" name="コネクタ: カギ線 100">
            <a:extLst>
              <a:ext uri="{FF2B5EF4-FFF2-40B4-BE49-F238E27FC236}">
                <a16:creationId xmlns:a16="http://schemas.microsoft.com/office/drawing/2014/main" id="{11D6D878-50DF-1F05-124D-25C4369DAE00}"/>
              </a:ext>
            </a:extLst>
          </p:cNvPr>
          <p:cNvCxnSpPr>
            <a:cxnSpLocks/>
            <a:stCxn id="27" idx="1"/>
            <a:endCxn id="30" idx="1"/>
          </p:cNvCxnSpPr>
          <p:nvPr/>
        </p:nvCxnSpPr>
        <p:spPr>
          <a:xfrm rot="10800000" flipH="1" flipV="1">
            <a:off x="3702402" y="2680509"/>
            <a:ext cx="367213" cy="904504"/>
          </a:xfrm>
          <a:prstGeom prst="bentConnector3">
            <a:avLst>
              <a:gd name="adj1" fmla="val -62253"/>
            </a:avLst>
          </a:prstGeom>
          <a:ln w="349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コネクタ: カギ線 103">
            <a:extLst>
              <a:ext uri="{FF2B5EF4-FFF2-40B4-BE49-F238E27FC236}">
                <a16:creationId xmlns:a16="http://schemas.microsoft.com/office/drawing/2014/main" id="{665501A4-5D23-A23A-D807-5C2F1BE6CA11}"/>
              </a:ext>
            </a:extLst>
          </p:cNvPr>
          <p:cNvCxnSpPr>
            <a:cxnSpLocks/>
            <a:stCxn id="27" idx="1"/>
            <a:endCxn id="33" idx="1"/>
          </p:cNvCxnSpPr>
          <p:nvPr/>
        </p:nvCxnSpPr>
        <p:spPr>
          <a:xfrm rot="10800000" flipH="1" flipV="1">
            <a:off x="3702402" y="2680509"/>
            <a:ext cx="318241" cy="1810674"/>
          </a:xfrm>
          <a:prstGeom prst="bentConnector3">
            <a:avLst>
              <a:gd name="adj1" fmla="val -71832"/>
            </a:avLst>
          </a:prstGeom>
          <a:ln w="349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Shape 15">
            <a:extLst>
              <a:ext uri="{FF2B5EF4-FFF2-40B4-BE49-F238E27FC236}">
                <a16:creationId xmlns:a16="http://schemas.microsoft.com/office/drawing/2014/main" id="{4A72E84C-EB39-F047-6677-B03D4D3D0FA6}"/>
              </a:ext>
            </a:extLst>
          </p:cNvPr>
          <p:cNvSpPr/>
          <p:nvPr/>
        </p:nvSpPr>
        <p:spPr>
          <a:xfrm>
            <a:off x="8781467" y="1296886"/>
            <a:ext cx="3311626" cy="3748950"/>
          </a:xfrm>
          <a:prstGeom prst="roundRect">
            <a:avLst>
              <a:gd name="adj" fmla="val 2809"/>
            </a:avLst>
          </a:prstGeom>
          <a:noFill/>
          <a:ln w="41275">
            <a:solidFill>
              <a:srgbClr val="008000"/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48" name="Text 30"/>
          <p:cNvSpPr txBox="1"/>
          <p:nvPr/>
        </p:nvSpPr>
        <p:spPr>
          <a:xfrm>
            <a:off x="9348626" y="1096283"/>
            <a:ext cx="2326766" cy="47046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実務での利用例 </a:t>
            </a:r>
            <a:endParaRPr lang="en-US" sz="2400" dirty="0"/>
          </a:p>
        </p:txBody>
      </p:sp>
      <p:pic>
        <p:nvPicPr>
          <p:cNvPr id="49" name="Image 16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8946589" y="1143700"/>
            <a:ext cx="268419" cy="32615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1" name="図 110" descr="The image depicts two characters, one with blue hair and a blue dress, holding hands and wearing blue and pink heart-shaped decorations, with one character smiling and the other looking down.&#10;&#10;AI 生成コンテンツは誤りを含む可能性があります。">
            <a:extLst>
              <a:ext uri="{FF2B5EF4-FFF2-40B4-BE49-F238E27FC236}">
                <a16:creationId xmlns:a16="http://schemas.microsoft.com/office/drawing/2014/main" id="{F899778E-E57C-2CE6-45DC-630B60048B5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258961" y="-414920"/>
            <a:ext cx="1931471" cy="1742616"/>
          </a:xfrm>
          <a:prstGeom prst="rect">
            <a:avLst/>
          </a:prstGeom>
        </p:spPr>
      </p:pic>
      <p:pic>
        <p:nvPicPr>
          <p:cNvPr id="113" name="図 112" descr="The image depicts a cartoon character with a red shirt, blue face, and a black mask, holding their head in a pained expression against a contrasting grey, textured wall.&#10;&#10;AI 生成コンテンツは誤りを含む可能性があります。">
            <a:extLst>
              <a:ext uri="{FF2B5EF4-FFF2-40B4-BE49-F238E27FC236}">
                <a16:creationId xmlns:a16="http://schemas.microsoft.com/office/drawing/2014/main" id="{4709BB14-7A38-0507-54BA-990CD7709E8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625973" y="2950720"/>
            <a:ext cx="995573" cy="1063726"/>
          </a:xfrm>
          <a:prstGeom prst="rect">
            <a:avLst/>
          </a:prstGeom>
          <a:effectLst>
            <a:glow rad="63500">
              <a:schemeClr val="bg1">
                <a:alpha val="88000"/>
              </a:schemeClr>
            </a:glow>
          </a:effectLst>
        </p:spPr>
      </p:pic>
      <p:pic>
        <p:nvPicPr>
          <p:cNvPr id="115" name="図 114" descr="The image depicts a cartoon character with a red shirt, wearing a hood and holding a wet hand, suggesting sadness or distress.&#10;&#10;AI 生成コンテンツは誤りを含む可能性があります。">
            <a:extLst>
              <a:ext uri="{FF2B5EF4-FFF2-40B4-BE49-F238E27FC236}">
                <a16:creationId xmlns:a16="http://schemas.microsoft.com/office/drawing/2014/main" id="{3A14DF1B-C304-12DB-50AC-7BA974B6F6B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899062" y="4432077"/>
            <a:ext cx="577960" cy="78102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四角形: 角を丸くする 122">
            <a:extLst>
              <a:ext uri="{FF2B5EF4-FFF2-40B4-BE49-F238E27FC236}">
                <a16:creationId xmlns:a16="http://schemas.microsoft.com/office/drawing/2014/main" id="{50CF8A86-12F1-F683-AC41-8064A08B2440}"/>
              </a:ext>
            </a:extLst>
          </p:cNvPr>
          <p:cNvSpPr/>
          <p:nvPr/>
        </p:nvSpPr>
        <p:spPr>
          <a:xfrm>
            <a:off x="8700046" y="1392775"/>
            <a:ext cx="3384842" cy="4104695"/>
          </a:xfrm>
          <a:prstGeom prst="roundRect">
            <a:avLst>
              <a:gd name="adj" fmla="val 8746"/>
            </a:avLst>
          </a:prstGeom>
          <a:noFill/>
          <a:ln w="38100">
            <a:solidFill>
              <a:srgbClr val="33C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2" name="Shape 35">
            <a:extLst>
              <a:ext uri="{FF2B5EF4-FFF2-40B4-BE49-F238E27FC236}">
                <a16:creationId xmlns:a16="http://schemas.microsoft.com/office/drawing/2014/main" id="{5E34663B-7A77-AA1E-3CF5-5BEFDDC98B12}"/>
              </a:ext>
            </a:extLst>
          </p:cNvPr>
          <p:cNvSpPr/>
          <p:nvPr/>
        </p:nvSpPr>
        <p:spPr>
          <a:xfrm>
            <a:off x="8808720" y="4813232"/>
            <a:ext cx="3226502" cy="690641"/>
          </a:xfrm>
          <a:prstGeom prst="roundRect">
            <a:avLst>
              <a:gd name="adj" fmla="val 25467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7" name="四角形: 角を丸くする 116">
            <a:extLst>
              <a:ext uri="{FF2B5EF4-FFF2-40B4-BE49-F238E27FC236}">
                <a16:creationId xmlns:a16="http://schemas.microsoft.com/office/drawing/2014/main" id="{52D0FB02-B2BF-FEFB-6BA2-E91739BA6882}"/>
              </a:ext>
            </a:extLst>
          </p:cNvPr>
          <p:cNvSpPr/>
          <p:nvPr/>
        </p:nvSpPr>
        <p:spPr>
          <a:xfrm>
            <a:off x="3253475" y="2936995"/>
            <a:ext cx="5307927" cy="1103480"/>
          </a:xfrm>
          <a:prstGeom prst="roundRect">
            <a:avLst>
              <a:gd name="adj" fmla="val 8746"/>
            </a:avLst>
          </a:prstGeom>
          <a:noFill/>
          <a:ln w="38100">
            <a:solidFill>
              <a:srgbClr val="00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Shape 1">
            <a:extLst>
              <a:ext uri="{FF2B5EF4-FFF2-40B4-BE49-F238E27FC236}">
                <a16:creationId xmlns:a16="http://schemas.microsoft.com/office/drawing/2014/main" id="{D660E1FC-A454-3003-A374-1DC000134D5C}"/>
              </a:ext>
            </a:extLst>
          </p:cNvPr>
          <p:cNvSpPr/>
          <p:nvPr/>
        </p:nvSpPr>
        <p:spPr>
          <a:xfrm>
            <a:off x="-47718" y="-21511"/>
            <a:ext cx="12239718" cy="61495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 txBox="1"/>
          <p:nvPr/>
        </p:nvSpPr>
        <p:spPr>
          <a:xfrm>
            <a:off x="2039112" y="-80518"/>
            <a:ext cx="935543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空欄のせいでフローが止まる問題、</a:t>
            </a:r>
            <a:r>
              <a:rPr lang="ja-JP" altLang="en-US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だいたい</a:t>
            </a:r>
            <a:r>
              <a:rPr lang="en-US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これで解決。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647395" y="718176"/>
            <a:ext cx="12077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2800" b="1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「空欄のせいでフローが止まる…」</a:t>
            </a:r>
            <a:r>
              <a:rPr lang="en-US" sz="28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そんな日々と今日で決別</a:t>
            </a:r>
            <a:r>
              <a:rPr lang="en-US" sz="2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2800" dirty="0"/>
          </a:p>
        </p:txBody>
      </p:sp>
      <p:sp>
        <p:nvSpPr>
          <p:cNvPr id="11" name="Text 5"/>
          <p:cNvSpPr txBox="1"/>
          <p:nvPr/>
        </p:nvSpPr>
        <p:spPr>
          <a:xfrm>
            <a:off x="753287" y="1507489"/>
            <a:ext cx="2362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空欄トラブル </a:t>
            </a:r>
            <a:endParaRPr lang="en-US" sz="28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7805" y="1448589"/>
            <a:ext cx="367359" cy="367359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907086" y="2102205"/>
            <a:ext cx="2647188" cy="279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 列が空 </a:t>
            </a:r>
            <a:endParaRPr lang="en-US" dirty="0"/>
          </a:p>
          <a:p>
            <a:pPr marL="0" indent="0" algn="l">
              <a:buNone/>
            </a:pPr>
            <a:r>
              <a:rPr lang="en-US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null で停止</a:t>
            </a:r>
            <a:endParaRPr lang="en-US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412801" y="1986741"/>
            <a:ext cx="329869" cy="438654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907086" y="2862098"/>
            <a:ext cx="2771547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Excel セルが空 </a:t>
            </a:r>
            <a:endParaRPr lang="en-US" dirty="0"/>
          </a:p>
          <a:p>
            <a:pPr marL="0" indent="0" algn="l">
              <a:buNone/>
            </a:pPr>
            <a:r>
              <a:rPr lang="en-US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計算崩壊/エラー</a:t>
            </a:r>
            <a:endParaRPr lang="en-US" dirty="0"/>
          </a:p>
        </p:txBody>
      </p:sp>
      <p:sp>
        <p:nvSpPr>
          <p:cNvPr id="18" name="Text 8"/>
          <p:cNvSpPr txBox="1"/>
          <p:nvPr/>
        </p:nvSpPr>
        <p:spPr>
          <a:xfrm>
            <a:off x="857707" y="3594813"/>
            <a:ext cx="2607869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 キー欠損 </a:t>
            </a:r>
            <a:endParaRPr lang="en-US" dirty="0"/>
          </a:p>
          <a:p>
            <a:pPr marL="0" indent="0" algn="l">
              <a:buNone/>
            </a:pPr>
            <a:r>
              <a:rPr lang="en-US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undefined 爆発</a:t>
            </a:r>
            <a:endParaRPr lang="en-US" dirty="0"/>
          </a:p>
        </p:txBody>
      </p:sp>
      <p:sp>
        <p:nvSpPr>
          <p:cNvPr id="20" name="Text 9"/>
          <p:cNvSpPr txBox="1"/>
          <p:nvPr/>
        </p:nvSpPr>
        <p:spPr>
          <a:xfrm>
            <a:off x="927202" y="4547362"/>
            <a:ext cx="2733142" cy="54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件名が空で </a:t>
            </a:r>
            <a:endParaRPr lang="en-US" dirty="0"/>
          </a:p>
          <a:p>
            <a:pPr marL="0" indent="0" algn="l">
              <a:buNone/>
            </a:pPr>
            <a:r>
              <a:rPr lang="en-US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"__.xlsx" 事故</a:t>
            </a:r>
            <a:endParaRPr lang="en-US" dirty="0"/>
          </a:p>
        </p:txBody>
      </p:sp>
      <p:grpSp>
        <p:nvGrpSpPr>
          <p:cNvPr id="105" name="グループ化 104">
            <a:extLst>
              <a:ext uri="{FF2B5EF4-FFF2-40B4-BE49-F238E27FC236}">
                <a16:creationId xmlns:a16="http://schemas.microsoft.com/office/drawing/2014/main" id="{BAFF1337-8AC1-A904-F5D2-B14D5E65EC41}"/>
              </a:ext>
            </a:extLst>
          </p:cNvPr>
          <p:cNvGrpSpPr/>
          <p:nvPr/>
        </p:nvGrpSpPr>
        <p:grpSpPr>
          <a:xfrm>
            <a:off x="3225977" y="1513208"/>
            <a:ext cx="5118414" cy="1132015"/>
            <a:chOff x="3344161" y="1382402"/>
            <a:chExt cx="4191296" cy="655616"/>
          </a:xfrm>
        </p:grpSpPr>
        <p:grpSp>
          <p:nvGrpSpPr>
            <p:cNvPr id="104" name="グループ化 103">
              <a:extLst>
                <a:ext uri="{FF2B5EF4-FFF2-40B4-BE49-F238E27FC236}">
                  <a16:creationId xmlns:a16="http://schemas.microsoft.com/office/drawing/2014/main" id="{72148F2F-56F7-1AD1-1AD1-E5CAFC75AD96}"/>
                </a:ext>
              </a:extLst>
            </p:cNvPr>
            <p:cNvGrpSpPr/>
            <p:nvPr/>
          </p:nvGrpSpPr>
          <p:grpSpPr>
            <a:xfrm>
              <a:off x="3344161" y="1382402"/>
              <a:ext cx="4191296" cy="465143"/>
              <a:chOff x="3403187" y="1765155"/>
              <a:chExt cx="4191296" cy="465143"/>
            </a:xfrm>
          </p:grpSpPr>
          <p:sp>
            <p:nvSpPr>
              <p:cNvPr id="24" name="Shape 12"/>
              <p:cNvSpPr/>
              <p:nvPr/>
            </p:nvSpPr>
            <p:spPr>
              <a:xfrm>
                <a:off x="3510422" y="1766825"/>
                <a:ext cx="857609" cy="463473"/>
              </a:xfrm>
              <a:prstGeom prst="roundRect">
                <a:avLst>
                  <a:gd name="adj" fmla="val 35266"/>
                </a:avLst>
              </a:prstGeom>
              <a:solidFill>
                <a:srgbClr val="FEE2E2">
                  <a:alpha val="60000"/>
                </a:srgbClr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ja-JP" altLang="en-US" sz="3600"/>
              </a:p>
            </p:txBody>
          </p:sp>
          <p:sp>
            <p:nvSpPr>
              <p:cNvPr id="25" name="Text 13"/>
              <p:cNvSpPr txBox="1"/>
              <p:nvPr/>
            </p:nvSpPr>
            <p:spPr>
              <a:xfrm>
                <a:off x="3403187" y="1831450"/>
                <a:ext cx="1404624" cy="381305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76200" tIns="38100" rIns="76200" bIns="38100" rtlCol="0" anchor="ctr"/>
              <a:lstStyle/>
              <a:p>
                <a:pPr marL="0" indent="0" algn="l">
                  <a:buNone/>
                </a:pPr>
                <a:r>
                  <a:rPr lang="ja-JP" altLang="en-US" sz="2000" b="1">
                    <a:solidFill>
                      <a:srgbClr val="FF0000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条件分岐</a:t>
                </a:r>
                <a:endParaRPr lang="en-US" altLang="ja-JP" sz="2000" b="1">
                  <a:solidFill>
                    <a:srgbClr val="FF000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endParaRPr>
              </a:p>
              <a:p>
                <a:pPr marL="0" indent="0" algn="l">
                  <a:buNone/>
                </a:pPr>
                <a:r>
                  <a:rPr lang="en-US" sz="2000" b="1">
                    <a:solidFill>
                      <a:srgbClr val="FF0000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(Condition) </a:t>
                </a:r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  <p:pic>
            <p:nvPicPr>
              <p:cNvPr id="27" name="Image 10" descr="preencoded.png"/>
              <p:cNvPicPr>
                <a:picLocks noChangeAspect="1"/>
              </p:cNvPicPr>
              <p:nvPr/>
            </p:nvPicPr>
            <p:blipFill>
              <a:blip r:embed="rId5">
                <a:alphaModFix amt="60000"/>
              </a:blip>
              <a:srcRect l="-2571" r="-2571"/>
              <a:stretch/>
            </p:blipFill>
            <p:spPr>
              <a:xfrm>
                <a:off x="4978908" y="1837944"/>
                <a:ext cx="105156" cy="114300"/>
              </a:xfrm>
              <a:prstGeom prst="rect">
                <a:avLst/>
              </a:prstGeom>
            </p:spPr>
          </p:pic>
          <p:sp>
            <p:nvSpPr>
              <p:cNvPr id="28" name="Shape 15"/>
              <p:cNvSpPr/>
              <p:nvPr/>
            </p:nvSpPr>
            <p:spPr>
              <a:xfrm>
                <a:off x="4542178" y="1765155"/>
                <a:ext cx="980326" cy="213348"/>
              </a:xfrm>
              <a:prstGeom prst="roundRect">
                <a:avLst>
                  <a:gd name="adj" fmla="val 236407"/>
                </a:avLst>
              </a:prstGeom>
              <a:solidFill>
                <a:srgbClr val="FFFFFF">
                  <a:alpha val="60000"/>
                </a:srgbClr>
              </a:solidFill>
              <a:ln w="22225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ja-JP" altLang="en-US" sz="3600"/>
              </a:p>
            </p:txBody>
          </p:sp>
          <p:sp>
            <p:nvSpPr>
              <p:cNvPr id="30" name="Shape 17"/>
              <p:cNvSpPr/>
              <p:nvPr/>
            </p:nvSpPr>
            <p:spPr>
              <a:xfrm>
                <a:off x="5926340" y="1784727"/>
                <a:ext cx="1522983" cy="194315"/>
              </a:xfrm>
              <a:prstGeom prst="roundRect">
                <a:avLst>
                  <a:gd name="adj" fmla="val 236407"/>
                </a:avLst>
              </a:prstGeom>
              <a:solidFill>
                <a:srgbClr val="FFFFFF">
                  <a:alpha val="60000"/>
                </a:srgbClr>
              </a:solidFill>
              <a:ln w="22225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ja-JP" altLang="en-US" sz="3600"/>
              </a:p>
            </p:txBody>
          </p:sp>
          <p:sp>
            <p:nvSpPr>
              <p:cNvPr id="26" name="Text 14"/>
              <p:cNvSpPr txBox="1"/>
              <p:nvPr/>
            </p:nvSpPr>
            <p:spPr>
              <a:xfrm>
                <a:off x="4670451" y="1784925"/>
                <a:ext cx="865643" cy="1928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値が空?</a:t>
                </a:r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9" name="Text 16"/>
              <p:cNvSpPr txBox="1"/>
              <p:nvPr/>
            </p:nvSpPr>
            <p:spPr>
              <a:xfrm>
                <a:off x="6069222" y="1784727"/>
                <a:ext cx="1525261" cy="192808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38100" tIns="0" rIns="38100" bIns="0" rtlCol="0" anchor="ctr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Yes: '未設定'</a:t>
                </a:r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07" name="Shape 17">
                <a:extLst>
                  <a:ext uri="{FF2B5EF4-FFF2-40B4-BE49-F238E27FC236}">
                    <a16:creationId xmlns:a16="http://schemas.microsoft.com/office/drawing/2014/main" id="{6928AAD6-B5A5-4321-7275-E40BA35ACE05}"/>
                  </a:ext>
                </a:extLst>
              </p:cNvPr>
              <p:cNvSpPr/>
              <p:nvPr/>
            </p:nvSpPr>
            <p:spPr>
              <a:xfrm>
                <a:off x="5913669" y="2010962"/>
                <a:ext cx="925713" cy="188758"/>
              </a:xfrm>
              <a:prstGeom prst="roundRect">
                <a:avLst>
                  <a:gd name="adj" fmla="val 236407"/>
                </a:avLst>
              </a:prstGeom>
              <a:solidFill>
                <a:srgbClr val="FFFFFF">
                  <a:alpha val="60000"/>
                </a:srgbClr>
              </a:solidFill>
              <a:ln w="22225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ja-JP" altLang="en-US" sz="3600"/>
              </a:p>
            </p:txBody>
          </p:sp>
          <p:sp>
            <p:nvSpPr>
              <p:cNvPr id="31" name="Text 18"/>
              <p:cNvSpPr txBox="1"/>
              <p:nvPr/>
            </p:nvSpPr>
            <p:spPr>
              <a:xfrm>
                <a:off x="6079560" y="2033965"/>
                <a:ext cx="833191" cy="155346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38100" tIns="0" rIns="38100" bIns="0" rtlCol="0" anchor="ctr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No: 値</a:t>
                </a:r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32" name="Text 19"/>
            <p:cNvSpPr txBox="1"/>
            <p:nvPr/>
          </p:nvSpPr>
          <p:spPr>
            <a:xfrm>
              <a:off x="4911291" y="1825573"/>
              <a:ext cx="2456349" cy="2124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ja-JP" altLang="en-US" sz="2000" b="1">
                  <a:solidFill>
                    <a:srgbClr val="FF000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▲ちょっと大げさ？</a:t>
              </a:r>
              <a:endParaRPr lang="en-US" sz="2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5" name="Shape 20"/>
          <p:cNvSpPr/>
          <p:nvPr/>
        </p:nvSpPr>
        <p:spPr>
          <a:xfrm>
            <a:off x="3396723" y="3058191"/>
            <a:ext cx="1096188" cy="805678"/>
          </a:xfrm>
          <a:prstGeom prst="roundRect">
            <a:avLst>
              <a:gd name="adj" fmla="val 2784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 b="1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6" name="Text 21"/>
          <p:cNvSpPr txBox="1"/>
          <p:nvPr/>
        </p:nvSpPr>
        <p:spPr>
          <a:xfrm>
            <a:off x="3519627" y="3105838"/>
            <a:ext cx="945109" cy="74910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if()</a:t>
            </a: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関数</a:t>
            </a:r>
            <a:r>
              <a:rPr lang="en-US" sz="2800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 </a:t>
            </a:r>
            <a:endParaRPr lang="en-US" sz="28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3230582" y="3178750"/>
            <a:ext cx="279425" cy="554417"/>
          </a:xfrm>
          <a:prstGeom prst="rect">
            <a:avLst/>
          </a:prstGeom>
        </p:spPr>
      </p:pic>
      <p:sp>
        <p:nvSpPr>
          <p:cNvPr id="38" name="Shape 22"/>
          <p:cNvSpPr/>
          <p:nvPr/>
        </p:nvSpPr>
        <p:spPr>
          <a:xfrm>
            <a:off x="4588853" y="3083398"/>
            <a:ext cx="3709707" cy="396992"/>
          </a:xfrm>
          <a:prstGeom prst="roundRect">
            <a:avLst>
              <a:gd name="adj" fmla="val 8519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3200" b="1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9" name="Text 23"/>
          <p:cNvSpPr txBox="1"/>
          <p:nvPr/>
        </p:nvSpPr>
        <p:spPr>
          <a:xfrm>
            <a:off x="4701889" y="3138968"/>
            <a:ext cx="3685534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if(equals(値,''), '未設定', 値)</a:t>
            </a:r>
            <a:endParaRPr lang="en-US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0" name="Text 24"/>
          <p:cNvSpPr txBox="1"/>
          <p:nvPr/>
        </p:nvSpPr>
        <p:spPr>
          <a:xfrm>
            <a:off x="4436669" y="3570148"/>
            <a:ext cx="4372051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60A5FA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△ まだ長い…同じ値を2回書くのが無駄</a:t>
            </a:r>
            <a:endParaRPr 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5" name="Shape 27"/>
          <p:cNvSpPr/>
          <p:nvPr/>
        </p:nvSpPr>
        <p:spPr>
          <a:xfrm>
            <a:off x="8921761" y="1903852"/>
            <a:ext cx="771754" cy="267005"/>
          </a:xfrm>
          <a:prstGeom prst="roundRect">
            <a:avLst>
              <a:gd name="adj" fmla="val 9784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26"/>
          <p:cNvSpPr txBox="1"/>
          <p:nvPr/>
        </p:nvSpPr>
        <p:spPr>
          <a:xfrm>
            <a:off x="9018935" y="1248719"/>
            <a:ext cx="2851139" cy="267005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実務での使いどころ </a:t>
            </a:r>
            <a:endParaRPr lang="en-US" sz="2400" dirty="0"/>
          </a:p>
        </p:txBody>
      </p:sp>
      <p:sp>
        <p:nvSpPr>
          <p:cNvPr id="47" name="Text 29"/>
          <p:cNvSpPr txBox="1"/>
          <p:nvPr/>
        </p:nvSpPr>
        <p:spPr>
          <a:xfrm>
            <a:off x="10123515" y="1871794"/>
            <a:ext cx="1844995" cy="171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空欄 → "-" に置換</a:t>
            </a:r>
            <a:endParaRPr lang="en-US" sz="1600" dirty="0"/>
          </a:p>
        </p:txBody>
      </p:sp>
      <p:sp>
        <p:nvSpPr>
          <p:cNvPr id="51" name="Shape 32"/>
          <p:cNvSpPr/>
          <p:nvPr/>
        </p:nvSpPr>
        <p:spPr>
          <a:xfrm>
            <a:off x="8759911" y="3105838"/>
            <a:ext cx="1102066" cy="378107"/>
          </a:xfrm>
          <a:prstGeom prst="roundRect">
            <a:avLst>
              <a:gd name="adj" fmla="val 9784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33"/>
          <p:cNvSpPr txBox="1"/>
          <p:nvPr/>
        </p:nvSpPr>
        <p:spPr>
          <a:xfrm>
            <a:off x="8858122" y="3173719"/>
            <a:ext cx="1015659" cy="25080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Excel</a:t>
            </a:r>
            <a:endParaRPr lang="en-US" sz="2400" dirty="0"/>
          </a:p>
        </p:txBody>
      </p:sp>
      <p:sp>
        <p:nvSpPr>
          <p:cNvPr id="53" name="Text 34"/>
          <p:cNvSpPr txBox="1"/>
          <p:nvPr/>
        </p:nvSpPr>
        <p:spPr>
          <a:xfrm>
            <a:off x="10025160" y="3246527"/>
            <a:ext cx="2047585" cy="167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空欄 → 0 (計算用)</a:t>
            </a:r>
            <a:endParaRPr lang="en-US" sz="1600" dirty="0"/>
          </a:p>
        </p:txBody>
      </p:sp>
      <p:sp>
        <p:nvSpPr>
          <p:cNvPr id="54" name="Shape 35"/>
          <p:cNvSpPr/>
          <p:nvPr/>
        </p:nvSpPr>
        <p:spPr>
          <a:xfrm>
            <a:off x="8708780" y="3525514"/>
            <a:ext cx="3226502" cy="690641"/>
          </a:xfrm>
          <a:prstGeom prst="roundRect">
            <a:avLst>
              <a:gd name="adj" fmla="val 25467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36"/>
          <p:cNvSpPr txBox="1"/>
          <p:nvPr/>
        </p:nvSpPr>
        <p:spPr>
          <a:xfrm>
            <a:off x="8854868" y="3583272"/>
            <a:ext cx="3467405" cy="5324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Coalesce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(</a:t>
            </a:r>
            <a:r>
              <a:rPr lang="en-US" sz="2000" b="1" dirty="0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変数['金額'], 0)</a:t>
            </a:r>
            <a:endParaRPr lang="en-US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7" name="Shape 37"/>
          <p:cNvSpPr/>
          <p:nvPr/>
        </p:nvSpPr>
        <p:spPr>
          <a:xfrm>
            <a:off x="8831003" y="4489090"/>
            <a:ext cx="1099780" cy="310864"/>
          </a:xfrm>
          <a:prstGeom prst="roundRect">
            <a:avLst>
              <a:gd name="adj" fmla="val 9784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41"/>
          <p:cNvSpPr txBox="1"/>
          <p:nvPr/>
        </p:nvSpPr>
        <p:spPr>
          <a:xfrm>
            <a:off x="8820461" y="4833792"/>
            <a:ext cx="3353105" cy="56835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Coalesce</a:t>
            </a:r>
          </a:p>
          <a:p>
            <a:pPr marL="0" indent="0" algn="l">
              <a:buNone/>
            </a:pPr>
            <a:r>
              <a:rPr lang="en-US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(</a:t>
            </a:r>
            <a:r>
              <a:rPr lang="en-US" b="1" dirty="0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body()?['name'], '名称なし')</a:t>
            </a:r>
            <a:endParaRPr 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8" name="Text 38"/>
          <p:cNvSpPr txBox="1"/>
          <p:nvPr/>
        </p:nvSpPr>
        <p:spPr>
          <a:xfrm>
            <a:off x="8877199" y="4513650"/>
            <a:ext cx="1189494" cy="26336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endParaRPr lang="en-US" sz="2400" dirty="0"/>
          </a:p>
        </p:txBody>
      </p:sp>
      <p:sp>
        <p:nvSpPr>
          <p:cNvPr id="59" name="Text 39"/>
          <p:cNvSpPr txBox="1"/>
          <p:nvPr/>
        </p:nvSpPr>
        <p:spPr>
          <a:xfrm>
            <a:off x="10085039" y="4509204"/>
            <a:ext cx="1451184" cy="2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欠損値の補完</a:t>
            </a:r>
            <a:endParaRPr lang="en-US" sz="1600" dirty="0"/>
          </a:p>
        </p:txBody>
      </p:sp>
      <p:pic>
        <p:nvPicPr>
          <p:cNvPr id="68" name="Image 19" descr="preencoded.png"/>
          <p:cNvPicPr>
            <a:picLocks noChangeAspect="1"/>
          </p:cNvPicPr>
          <p:nvPr/>
        </p:nvPicPr>
        <p:blipFill>
          <a:blip r:embed="rId7"/>
          <a:srcRect l="-15" r="-15"/>
          <a:stretch/>
        </p:blipFill>
        <p:spPr>
          <a:xfrm>
            <a:off x="168416" y="5497470"/>
            <a:ext cx="11971280" cy="1203468"/>
          </a:xfrm>
          <a:prstGeom prst="rect">
            <a:avLst/>
          </a:prstGeom>
        </p:spPr>
      </p:pic>
      <p:pic>
        <p:nvPicPr>
          <p:cNvPr id="69" name="Image 20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rcRect/>
          <a:stretch/>
        </p:blipFill>
        <p:spPr>
          <a:xfrm>
            <a:off x="11772900" y="6676949"/>
            <a:ext cx="152705" cy="152705"/>
          </a:xfrm>
          <a:prstGeom prst="rect">
            <a:avLst/>
          </a:prstGeom>
        </p:spPr>
      </p:pic>
      <p:pic>
        <p:nvPicPr>
          <p:cNvPr id="71" name="Image 21" descr="preencoded.png"/>
          <p:cNvPicPr>
            <a:picLocks noChangeAspect="1"/>
          </p:cNvPicPr>
          <p:nvPr/>
        </p:nvPicPr>
        <p:blipFill>
          <a:blip r:embed="rId9"/>
          <a:srcRect t="-16" b="-16"/>
          <a:stretch/>
        </p:blipFill>
        <p:spPr>
          <a:xfrm>
            <a:off x="273250" y="5552676"/>
            <a:ext cx="3694622" cy="1154745"/>
          </a:xfrm>
          <a:prstGeom prst="rect">
            <a:avLst/>
          </a:prstGeom>
        </p:spPr>
      </p:pic>
      <p:sp>
        <p:nvSpPr>
          <p:cNvPr id="72" name="Text 48"/>
          <p:cNvSpPr txBox="1"/>
          <p:nvPr/>
        </p:nvSpPr>
        <p:spPr>
          <a:xfrm>
            <a:off x="774647" y="5694032"/>
            <a:ext cx="3067812" cy="23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0A5FA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coalesce</a:t>
            </a:r>
            <a:r>
              <a:rPr lang="en-US" sz="2400" b="1" dirty="0">
                <a:solidFill>
                  <a:srgbClr val="9CA3A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(</a:t>
            </a:r>
            <a:r>
              <a:rPr lang="en-US" sz="2400" b="1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値1</a:t>
            </a:r>
            <a:r>
              <a:rPr lang="en-US" sz="2400" b="1" dirty="0">
                <a:solidFill>
                  <a:srgbClr val="9CA3A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,</a:t>
            </a:r>
            <a:r>
              <a:rPr lang="en-US" sz="2400" b="1" dirty="0">
                <a:solidFill>
                  <a:srgbClr val="34D399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値2</a:t>
            </a:r>
            <a:r>
              <a:rPr lang="en-US" sz="2400" b="1" dirty="0">
                <a:solidFill>
                  <a:srgbClr val="9CA3A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)</a:t>
            </a:r>
            <a:endParaRPr lang="en-US" sz="2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3" name="Text 49"/>
          <p:cNvSpPr txBox="1"/>
          <p:nvPr/>
        </p:nvSpPr>
        <p:spPr>
          <a:xfrm>
            <a:off x="702244" y="6122228"/>
            <a:ext cx="3534307" cy="530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値1 が空なら 値2 </a:t>
            </a:r>
            <a:r>
              <a:rPr lang="en-US" sz="2000" b="1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を返す。</a:t>
            </a:r>
          </a:p>
          <a:p>
            <a:pPr marL="0" indent="0" algn="l">
              <a:buNone/>
            </a:pPr>
            <a:r>
              <a:rPr lang="en-US" sz="2000" b="1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値</a:t>
            </a:r>
            <a:r>
              <a:rPr lang="en-US" sz="20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1 があればそのまま返す。</a:t>
            </a:r>
            <a:endParaRPr lang="en-US" sz="2000" b="1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74" name="Image 22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295340" y="5587535"/>
            <a:ext cx="248341" cy="330239"/>
          </a:xfrm>
          <a:prstGeom prst="rect">
            <a:avLst/>
          </a:prstGeom>
        </p:spPr>
      </p:pic>
      <p:sp>
        <p:nvSpPr>
          <p:cNvPr id="75" name="Text 50"/>
          <p:cNvSpPr txBox="1"/>
          <p:nvPr/>
        </p:nvSpPr>
        <p:spPr>
          <a:xfrm>
            <a:off x="11075213" y="6210605"/>
            <a:ext cx="553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5" dirty="0">
                <a:solidFill>
                  <a:srgbClr val="6B7280">
                    <a:alpha val="50000"/>
                  </a:srgbClr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#PA45</a:t>
            </a:r>
            <a:endParaRPr lang="en-US" sz="1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8" name="Shape 51"/>
          <p:cNvSpPr/>
          <p:nvPr/>
        </p:nvSpPr>
        <p:spPr>
          <a:xfrm>
            <a:off x="4146804" y="5710428"/>
            <a:ext cx="9144" cy="972007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800" b="1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79" name="Image 25" descr="preencoded.png"/>
          <p:cNvPicPr>
            <a:picLocks noChangeAspect="1"/>
          </p:cNvPicPr>
          <p:nvPr/>
        </p:nvPicPr>
        <p:blipFill>
          <a:blip r:embed="rId11"/>
          <a:srcRect t="-842" b="-842"/>
          <a:stretch/>
        </p:blipFill>
        <p:spPr>
          <a:xfrm>
            <a:off x="4163215" y="5728070"/>
            <a:ext cx="360439" cy="325781"/>
          </a:xfrm>
          <a:prstGeom prst="rect">
            <a:avLst/>
          </a:prstGeom>
        </p:spPr>
      </p:pic>
      <p:sp>
        <p:nvSpPr>
          <p:cNvPr id="80" name="Text 52"/>
          <p:cNvSpPr txBox="1"/>
          <p:nvPr/>
        </p:nvSpPr>
        <p:spPr>
          <a:xfrm>
            <a:off x="4606759" y="5803161"/>
            <a:ext cx="535460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複数渡せる＝「最初に空じゃない値」を返す</a:t>
            </a:r>
            <a:endParaRPr 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81" name="Image 2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155948" y="6179644"/>
            <a:ext cx="325781" cy="325781"/>
          </a:xfrm>
          <a:prstGeom prst="rect">
            <a:avLst/>
          </a:prstGeom>
        </p:spPr>
      </p:pic>
      <p:sp>
        <p:nvSpPr>
          <p:cNvPr id="82" name="Text 53"/>
          <p:cNvSpPr txBox="1"/>
          <p:nvPr/>
        </p:nvSpPr>
        <p:spPr>
          <a:xfrm>
            <a:off x="4613714" y="6188111"/>
            <a:ext cx="4802612" cy="32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Condition も if() も不要。たった1行。</a:t>
            </a:r>
            <a:endParaRPr 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83" name="Shape 54"/>
          <p:cNvSpPr/>
          <p:nvPr/>
        </p:nvSpPr>
        <p:spPr>
          <a:xfrm>
            <a:off x="9296618" y="5667110"/>
            <a:ext cx="2800746" cy="934796"/>
          </a:xfrm>
          <a:prstGeom prst="roundRect">
            <a:avLst>
              <a:gd name="adj" fmla="val 21712"/>
            </a:avLst>
          </a:prstGeom>
          <a:noFill/>
          <a:ln w="349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2800" b="1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84" name="Text 55"/>
          <p:cNvSpPr txBox="1"/>
          <p:nvPr/>
        </p:nvSpPr>
        <p:spPr>
          <a:xfrm>
            <a:off x="9149299" y="5854921"/>
            <a:ext cx="3115361" cy="583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CD34D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一言で覚えるなら：</a:t>
            </a:r>
          </a:p>
          <a:p>
            <a:pPr marL="0" indent="0" algn="ctr">
              <a:buNone/>
            </a:pPr>
            <a:r>
              <a:rPr lang="en-US" b="1">
                <a:solidFill>
                  <a:srgbClr val="FCD34D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「</a:t>
            </a:r>
            <a:r>
              <a:rPr lang="en-US" b="1" dirty="0">
                <a:solidFill>
                  <a:srgbClr val="FCD34D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空ならこっち使っといて」</a:t>
            </a:r>
            <a:endParaRPr 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85" name="Image 27" descr="preencoded.png"/>
          <p:cNvPicPr>
            <a:picLocks noChangeAspect="1"/>
          </p:cNvPicPr>
          <p:nvPr/>
        </p:nvPicPr>
        <p:blipFill>
          <a:blip r:embed="rId13"/>
          <a:srcRect t="-17" b="-17"/>
          <a:stretch/>
        </p:blipFill>
        <p:spPr>
          <a:xfrm>
            <a:off x="3159621" y="4339928"/>
            <a:ext cx="5514337" cy="1065500"/>
          </a:xfrm>
          <a:prstGeom prst="rect">
            <a:avLst/>
          </a:prstGeom>
        </p:spPr>
      </p:pic>
      <p:pic>
        <p:nvPicPr>
          <p:cNvPr id="86" name="Image 28" descr="preencoded.png"/>
          <p:cNvPicPr>
            <a:picLocks noChangeAspect="1"/>
          </p:cNvPicPr>
          <p:nvPr/>
        </p:nvPicPr>
        <p:blipFill>
          <a:blip r:embed="rId14"/>
          <a:srcRect t="-374" b="-374"/>
          <a:stretch/>
        </p:blipFill>
        <p:spPr>
          <a:xfrm>
            <a:off x="3277924" y="4693295"/>
            <a:ext cx="1706625" cy="381258"/>
          </a:xfrm>
          <a:prstGeom prst="rect">
            <a:avLst/>
          </a:prstGeom>
        </p:spPr>
      </p:pic>
      <p:sp>
        <p:nvSpPr>
          <p:cNvPr id="87" name="Text 56"/>
          <p:cNvSpPr txBox="1"/>
          <p:nvPr/>
        </p:nvSpPr>
        <p:spPr>
          <a:xfrm>
            <a:off x="3356198" y="4660877"/>
            <a:ext cx="1644751" cy="41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coalesce </a:t>
            </a:r>
            <a:endParaRPr lang="en-US" sz="2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88" name="Image 29" descr="preencoded.png"/>
          <p:cNvPicPr>
            <a:picLocks noChangeAspect="1"/>
          </p:cNvPicPr>
          <p:nvPr/>
        </p:nvPicPr>
        <p:blipFill>
          <a:blip r:embed="rId15"/>
          <a:srcRect t="-549" b="-549"/>
          <a:stretch/>
        </p:blipFill>
        <p:spPr>
          <a:xfrm>
            <a:off x="5069967" y="4460123"/>
            <a:ext cx="3572406" cy="466344"/>
          </a:xfrm>
          <a:prstGeom prst="rect">
            <a:avLst/>
          </a:prstGeom>
        </p:spPr>
      </p:pic>
      <p:sp>
        <p:nvSpPr>
          <p:cNvPr id="89" name="Text 57"/>
          <p:cNvSpPr txBox="1"/>
          <p:nvPr/>
        </p:nvSpPr>
        <p:spPr>
          <a:xfrm>
            <a:off x="5114433" y="4456620"/>
            <a:ext cx="346146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 coalesce( </a:t>
            </a:r>
            <a:r>
              <a:rPr lang="en-US" sz="2400" b="1" dirty="0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値</a:t>
            </a:r>
            <a:r>
              <a:rPr lang="en-US" sz="2400" b="1" dirty="0">
                <a:solidFill>
                  <a:srgbClr val="1F2937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 , </a:t>
            </a:r>
            <a:r>
              <a:rPr lang="en-US" sz="2400" b="1" dirty="0">
                <a:solidFill>
                  <a:srgbClr val="059669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'未設定'</a:t>
            </a:r>
            <a:r>
              <a:rPr lang="en-US" sz="2400" b="1" dirty="0">
                <a:solidFill>
                  <a:srgbClr val="1F2937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 ) </a:t>
            </a:r>
            <a:endParaRPr 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0" name="Text 58"/>
          <p:cNvSpPr txBox="1"/>
          <p:nvPr/>
        </p:nvSpPr>
        <p:spPr>
          <a:xfrm>
            <a:off x="5439541" y="4986991"/>
            <a:ext cx="3347901" cy="344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これ</a:t>
            </a:r>
            <a:r>
              <a:rPr lang="en-US" sz="2000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1行で解決</a:t>
            </a:r>
            <a:r>
              <a:rPr lang="en-US" sz="2000" b="1" dirty="0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！ </a:t>
            </a:r>
            <a:endParaRPr lang="en-US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93" name="Image 32" descr="preencoded.png"/>
          <p:cNvPicPr>
            <a:picLocks noChangeAspect="1"/>
          </p:cNvPicPr>
          <p:nvPr/>
        </p:nvPicPr>
        <p:blipFill>
          <a:blip r:embed="rId16"/>
          <a:srcRect l="-382" r="-382"/>
          <a:stretch/>
        </p:blipFill>
        <p:spPr>
          <a:xfrm>
            <a:off x="3215903" y="4140831"/>
            <a:ext cx="1610096" cy="450978"/>
          </a:xfrm>
          <a:prstGeom prst="rect">
            <a:avLst/>
          </a:prstGeom>
        </p:spPr>
      </p:pic>
      <p:sp>
        <p:nvSpPr>
          <p:cNvPr id="94" name="Text 59"/>
          <p:cNvSpPr/>
          <p:nvPr/>
        </p:nvSpPr>
        <p:spPr>
          <a:xfrm>
            <a:off x="3340522" y="4094532"/>
            <a:ext cx="1349436" cy="505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最短・最強</a:t>
            </a:r>
            <a:endParaRPr lang="en-US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5" name="四角形: 角を丸くする 94">
            <a:extLst>
              <a:ext uri="{FF2B5EF4-FFF2-40B4-BE49-F238E27FC236}">
                <a16:creationId xmlns:a16="http://schemas.microsoft.com/office/drawing/2014/main" id="{84A51C24-B183-579B-E24D-F226393FE71B}"/>
              </a:ext>
            </a:extLst>
          </p:cNvPr>
          <p:cNvSpPr/>
          <p:nvPr/>
        </p:nvSpPr>
        <p:spPr>
          <a:xfrm>
            <a:off x="44269" y="-50800"/>
            <a:ext cx="12103265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58AB91C4-67B4-49DD-92A6-D9B76BF9C9D3}"/>
              </a:ext>
            </a:extLst>
          </p:cNvPr>
          <p:cNvGrpSpPr/>
          <p:nvPr/>
        </p:nvGrpSpPr>
        <p:grpSpPr>
          <a:xfrm>
            <a:off x="188332" y="78173"/>
            <a:ext cx="1543203" cy="464514"/>
            <a:chOff x="188332" y="78173"/>
            <a:chExt cx="1543203" cy="464514"/>
          </a:xfrm>
        </p:grpSpPr>
        <p:sp>
          <p:nvSpPr>
            <p:cNvPr id="98" name="Shape 2">
              <a:extLst>
                <a:ext uri="{FF2B5EF4-FFF2-40B4-BE49-F238E27FC236}">
                  <a16:creationId xmlns:a16="http://schemas.microsoft.com/office/drawing/2014/main" id="{512F1304-18EA-93DE-8108-492AE674E1F3}"/>
                </a:ext>
              </a:extLst>
            </p:cNvPr>
            <p:cNvSpPr/>
            <p:nvPr/>
          </p:nvSpPr>
          <p:spPr>
            <a:xfrm>
              <a:off x="188332" y="78173"/>
              <a:ext cx="1543203" cy="464514"/>
            </a:xfrm>
            <a:prstGeom prst="roundRect">
              <a:avLst>
                <a:gd name="adj" fmla="val 266667"/>
              </a:avLst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9" name="Text 3">
              <a:extLst>
                <a:ext uri="{FF2B5EF4-FFF2-40B4-BE49-F238E27FC236}">
                  <a16:creationId xmlns:a16="http://schemas.microsoft.com/office/drawing/2014/main" id="{B40684D0-8092-8F0C-B69E-A84F804323B6}"/>
                </a:ext>
              </a:extLst>
            </p:cNvPr>
            <p:cNvSpPr txBox="1"/>
            <p:nvPr/>
          </p:nvSpPr>
          <p:spPr>
            <a:xfrm>
              <a:off x="348708" y="184194"/>
              <a:ext cx="131762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kern="0" spc="38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Vol.30</a:t>
              </a:r>
              <a:endParaRPr lang="en-US" sz="3200" dirty="0"/>
            </a:p>
          </p:txBody>
        </p:sp>
      </p:grpSp>
      <p:pic>
        <p:nvPicPr>
          <p:cNvPr id="100" name="図 99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2124A276-C22E-6C18-C825-E8E2C4C98C0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168" y="573709"/>
            <a:ext cx="663502" cy="663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図 2" descr="The image depicts a character holding a red flower with a Japanese character on a whit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5D910BDD-AF89-37F4-088B-027034E564B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92428" y="-214038"/>
            <a:ext cx="1588149" cy="1633059"/>
          </a:xfrm>
          <a:prstGeom prst="rect">
            <a:avLst/>
          </a:prstGeom>
        </p:spPr>
      </p:pic>
      <p:pic>
        <p:nvPicPr>
          <p:cNvPr id="5" name="Image 6" descr="preencoded.png">
            <a:extLst>
              <a:ext uri="{FF2B5EF4-FFF2-40B4-BE49-F238E27FC236}">
                <a16:creationId xmlns:a16="http://schemas.microsoft.com/office/drawing/2014/main" id="{F6D4BF0C-36AE-2DC7-17B1-657B381076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334889" y="2912547"/>
            <a:ext cx="329869" cy="438654"/>
          </a:xfrm>
          <a:prstGeom prst="rect">
            <a:avLst/>
          </a:prstGeom>
        </p:spPr>
      </p:pic>
      <p:pic>
        <p:nvPicPr>
          <p:cNvPr id="101" name="Image 6" descr="preencoded.png">
            <a:extLst>
              <a:ext uri="{FF2B5EF4-FFF2-40B4-BE49-F238E27FC236}">
                <a16:creationId xmlns:a16="http://schemas.microsoft.com/office/drawing/2014/main" id="{73106039-F580-A370-8DF7-120BBA19D7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350598" y="3696006"/>
            <a:ext cx="329869" cy="438654"/>
          </a:xfrm>
          <a:prstGeom prst="rect">
            <a:avLst/>
          </a:prstGeom>
        </p:spPr>
      </p:pic>
      <p:pic>
        <p:nvPicPr>
          <p:cNvPr id="102" name="Image 6" descr="preencoded.png">
            <a:extLst>
              <a:ext uri="{FF2B5EF4-FFF2-40B4-BE49-F238E27FC236}">
                <a16:creationId xmlns:a16="http://schemas.microsoft.com/office/drawing/2014/main" id="{FDA37557-FB94-7FC9-360E-BDC25C54F4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344133" y="4648810"/>
            <a:ext cx="329869" cy="438654"/>
          </a:xfrm>
          <a:prstGeom prst="rect">
            <a:avLst/>
          </a:prstGeom>
        </p:spPr>
      </p:pic>
      <p:sp>
        <p:nvSpPr>
          <p:cNvPr id="103" name="四角形: 角を丸くする 102">
            <a:extLst>
              <a:ext uri="{FF2B5EF4-FFF2-40B4-BE49-F238E27FC236}">
                <a16:creationId xmlns:a16="http://schemas.microsoft.com/office/drawing/2014/main" id="{5B525013-C72F-377A-E8AE-A79ECC7384B5}"/>
              </a:ext>
            </a:extLst>
          </p:cNvPr>
          <p:cNvSpPr/>
          <p:nvPr/>
        </p:nvSpPr>
        <p:spPr>
          <a:xfrm>
            <a:off x="197511" y="1366513"/>
            <a:ext cx="2918586" cy="4082397"/>
          </a:xfrm>
          <a:prstGeom prst="roundRect">
            <a:avLst>
              <a:gd name="adj" fmla="val 35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8" name="四角形: 角を丸くする 117">
            <a:extLst>
              <a:ext uri="{FF2B5EF4-FFF2-40B4-BE49-F238E27FC236}">
                <a16:creationId xmlns:a16="http://schemas.microsoft.com/office/drawing/2014/main" id="{B49789EE-5B51-1690-A549-77C4CFE50B81}"/>
              </a:ext>
            </a:extLst>
          </p:cNvPr>
          <p:cNvSpPr/>
          <p:nvPr/>
        </p:nvSpPr>
        <p:spPr>
          <a:xfrm>
            <a:off x="3204220" y="1349617"/>
            <a:ext cx="5307927" cy="1341049"/>
          </a:xfrm>
          <a:prstGeom prst="roundRect">
            <a:avLst>
              <a:gd name="adj" fmla="val 8746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2E209DE0-F9FC-20BD-DE00-B1F980B2B255}"/>
              </a:ext>
            </a:extLst>
          </p:cNvPr>
          <p:cNvCxnSpPr>
            <a:cxnSpLocks/>
          </p:cNvCxnSpPr>
          <p:nvPr/>
        </p:nvCxnSpPr>
        <p:spPr>
          <a:xfrm>
            <a:off x="5740121" y="2645385"/>
            <a:ext cx="0" cy="412806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762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Shape 32">
            <a:extLst>
              <a:ext uri="{FF2B5EF4-FFF2-40B4-BE49-F238E27FC236}">
                <a16:creationId xmlns:a16="http://schemas.microsoft.com/office/drawing/2014/main" id="{DFE5B2FE-91C9-41B4-F91E-C6C623E2EC0E}"/>
              </a:ext>
            </a:extLst>
          </p:cNvPr>
          <p:cNvSpPr/>
          <p:nvPr/>
        </p:nvSpPr>
        <p:spPr>
          <a:xfrm>
            <a:off x="8710650" y="1809938"/>
            <a:ext cx="1214362" cy="331920"/>
          </a:xfrm>
          <a:prstGeom prst="roundRect">
            <a:avLst>
              <a:gd name="adj" fmla="val 9784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28"/>
          <p:cNvSpPr txBox="1"/>
          <p:nvPr/>
        </p:nvSpPr>
        <p:spPr>
          <a:xfrm>
            <a:off x="8758454" y="1821547"/>
            <a:ext cx="1505592" cy="2935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SPリスト</a:t>
            </a:r>
            <a:endParaRPr lang="en-US" sz="2000" dirty="0"/>
          </a:p>
        </p:txBody>
      </p:sp>
      <p:sp>
        <p:nvSpPr>
          <p:cNvPr id="121" name="Shape 35">
            <a:extLst>
              <a:ext uri="{FF2B5EF4-FFF2-40B4-BE49-F238E27FC236}">
                <a16:creationId xmlns:a16="http://schemas.microsoft.com/office/drawing/2014/main" id="{A1790BD3-5069-C7F5-D935-3E08F362E058}"/>
              </a:ext>
            </a:extLst>
          </p:cNvPr>
          <p:cNvSpPr/>
          <p:nvPr/>
        </p:nvSpPr>
        <p:spPr>
          <a:xfrm>
            <a:off x="8683425" y="2240132"/>
            <a:ext cx="3226502" cy="635795"/>
          </a:xfrm>
          <a:prstGeom prst="roundRect">
            <a:avLst>
              <a:gd name="adj" fmla="val 25467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31"/>
          <p:cNvSpPr txBox="1"/>
          <p:nvPr/>
        </p:nvSpPr>
        <p:spPr>
          <a:xfrm>
            <a:off x="8773042" y="2153058"/>
            <a:ext cx="3099896" cy="75253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Coalesce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(</a:t>
            </a:r>
            <a:r>
              <a:rPr lang="en-US" sz="2000" b="1" dirty="0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item</a:t>
            </a:r>
            <a:r>
              <a:rPr lang="en-US" sz="2000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()?['Title’],'-')</a:t>
            </a:r>
            <a:endParaRPr lang="en-US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612477" y="1186025"/>
            <a:ext cx="327183" cy="327183"/>
          </a:xfrm>
          <a:prstGeom prst="rect">
            <a:avLst/>
          </a:prstGeom>
        </p:spPr>
      </p:pic>
      <p:cxnSp>
        <p:nvCxnSpPr>
          <p:cNvPr id="125" name="直線矢印コネクタ 124">
            <a:extLst>
              <a:ext uri="{FF2B5EF4-FFF2-40B4-BE49-F238E27FC236}">
                <a16:creationId xmlns:a16="http://schemas.microsoft.com/office/drawing/2014/main" id="{2CC4ADB4-B03E-83F0-C0B6-F399E5F2CF1C}"/>
              </a:ext>
            </a:extLst>
          </p:cNvPr>
          <p:cNvCxnSpPr>
            <a:cxnSpLocks/>
          </p:cNvCxnSpPr>
          <p:nvPr/>
        </p:nvCxnSpPr>
        <p:spPr>
          <a:xfrm>
            <a:off x="5740121" y="3997690"/>
            <a:ext cx="0" cy="412806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762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5A3521F-35C5-473F-C984-722452D974EB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>
          <a:xfrm>
            <a:off x="5830685" y="1713800"/>
            <a:ext cx="476568" cy="959"/>
          </a:xfrm>
          <a:prstGeom prst="bentConnector3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コネクタ: カギ線 130">
            <a:extLst>
              <a:ext uri="{FF2B5EF4-FFF2-40B4-BE49-F238E27FC236}">
                <a16:creationId xmlns:a16="http://schemas.microsoft.com/office/drawing/2014/main" id="{478F55B6-347D-E362-2AE9-89157C2287A7}"/>
              </a:ext>
            </a:extLst>
          </p:cNvPr>
          <p:cNvCxnSpPr>
            <a:cxnSpLocks/>
            <a:stCxn id="26" idx="3"/>
            <a:endCxn id="107" idx="1"/>
          </p:cNvCxnSpPr>
          <p:nvPr/>
        </p:nvCxnSpPr>
        <p:spPr>
          <a:xfrm>
            <a:off x="5830685" y="1713800"/>
            <a:ext cx="461095" cy="386788"/>
          </a:xfrm>
          <a:prstGeom prst="bentConnector3">
            <a:avLst>
              <a:gd name="adj1" fmla="val 5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082b80-40be-459d-987c-6cf5e8622de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7A7D803F65517489933A6A846FB2A57" ma:contentTypeVersion="9" ma:contentTypeDescription="新しいドキュメントを作成します。" ma:contentTypeScope="" ma:versionID="e9b15f1cd6954dc984c05d574a16d7a6">
  <xsd:schema xmlns:xsd="http://www.w3.org/2001/XMLSchema" xmlns:xs="http://www.w3.org/2001/XMLSchema" xmlns:p="http://schemas.microsoft.com/office/2006/metadata/properties" xmlns:ns3="bf082b80-40be-459d-987c-6cf5e8622de1" targetNamespace="http://schemas.microsoft.com/office/2006/metadata/properties" ma:root="true" ma:fieldsID="ee993118d6041b26a5f22822f137ae7e" ns3:_="">
    <xsd:import namespace="bf082b80-40be-459d-987c-6cf5e8622de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082b80-40be-459d-987c-6cf5e8622de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F64DB4-EDF3-46A8-B3E8-521433C38D26}">
  <ds:schemaRefs>
    <ds:schemaRef ds:uri="http://purl.org/dc/terms/"/>
    <ds:schemaRef ds:uri="http://purl.org/dc/elements/1.1/"/>
    <ds:schemaRef ds:uri="http://schemas.microsoft.com/office/2006/documentManagement/types"/>
    <ds:schemaRef ds:uri="bf082b80-40be-459d-987c-6cf5e8622de1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0E7769A-73B2-42AF-B390-3BBE9E5F83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9C42B3-CA32-4CEC-8414-0B08DB95E4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082b80-40be-459d-987c-6cf5e8622d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8794</TotalTime>
  <Words>3088</Words>
  <Application>Microsoft Office PowerPoint</Application>
  <PresentationFormat>ワイド画面</PresentationFormat>
  <Paragraphs>845</Paragraphs>
  <Slides>21</Slides>
  <Notes>17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8" baseType="lpstr">
      <vt:lpstr>Noto Sans JP</vt:lpstr>
      <vt:lpstr>ui-monospace</vt:lpstr>
      <vt:lpstr>Arial</vt:lpstr>
      <vt:lpstr>Consolas</vt:lpstr>
      <vt:lpstr>Courier New</vt:lpstr>
      <vt:lpstr>Roboto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35</cp:revision>
  <dcterms:created xsi:type="dcterms:W3CDTF">2026-03-02T05:14:23Z</dcterms:created>
  <dcterms:modified xsi:type="dcterms:W3CDTF">2026-03-25T06:59:04Z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0x01010057A7D803F65517489933A6A846FB2A57</vt:lpwstr>
  </property>
</Properties>
</file>