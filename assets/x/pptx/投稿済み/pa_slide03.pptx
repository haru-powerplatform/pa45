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58" name="Image 2" descr="preencoded.png">
            <a:extLst>
              <a:ext uri="{FF2B5EF4-FFF2-40B4-BE49-F238E27FC236}">
                <a16:creationId xmlns:a16="http://schemas.microsoft.com/office/drawing/2014/main" id="{1815B6BE-2AC8-FB18-932E-A1EEE949B59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38748" y="704387"/>
            <a:ext cx="11430000" cy="61960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9570AF6-DFA9-A0D2-8DFD-5101CA7CDB02}"/>
              </a:ext>
            </a:extLst>
          </p:cNvPr>
          <p:cNvSpPr txBox="1"/>
          <p:nvPr/>
        </p:nvSpPr>
        <p:spPr>
          <a:xfrm>
            <a:off x="922148" y="768693"/>
            <a:ext cx="921245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4B5563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💡</a:t>
            </a:r>
            <a:r>
              <a:rPr lang="ja-JP" altLang="en-US" sz="3200" b="1">
                <a:solidFill>
                  <a:srgbClr val="4B5563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ここまでできる！送信</a:t>
            </a:r>
            <a:r>
              <a:rPr lang="en-US" altLang="ja-JP" sz="3200" b="1">
                <a:solidFill>
                  <a:srgbClr val="4B5563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1</a:t>
            </a:r>
            <a:r>
              <a:rPr lang="ja-JP" altLang="en-US" sz="3200" b="1">
                <a:solidFill>
                  <a:srgbClr val="4B5563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アクションの底力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6D3AEB5D-1179-4A3C-DDCB-A387BC8A98AD}"/>
              </a:ext>
            </a:extLst>
          </p:cNvPr>
          <p:cNvSpPr/>
          <p:nvPr/>
        </p:nvSpPr>
        <p:spPr>
          <a:xfrm>
            <a:off x="435927" y="3760512"/>
            <a:ext cx="274320" cy="27432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FFFFFF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①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A209E4CF-1B10-FC0E-BCAC-704969C46E24}"/>
              </a:ext>
            </a:extLst>
          </p:cNvPr>
          <p:cNvSpPr/>
          <p:nvPr/>
        </p:nvSpPr>
        <p:spPr>
          <a:xfrm>
            <a:off x="435927" y="4254288"/>
            <a:ext cx="274320" cy="27432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FFFFFF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②</a:t>
            </a: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17B92E95-5965-9257-CE73-A01DCE3FE31B}"/>
              </a:ext>
            </a:extLst>
          </p:cNvPr>
          <p:cNvSpPr/>
          <p:nvPr/>
        </p:nvSpPr>
        <p:spPr>
          <a:xfrm>
            <a:off x="435927" y="4748064"/>
            <a:ext cx="274320" cy="27432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FFFFFF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③</a:t>
            </a:r>
          </a:p>
        </p:txBody>
      </p:sp>
      <p:sp>
        <p:nvSpPr>
          <p:cNvPr id="45" name="Shape 1">
            <a:extLst>
              <a:ext uri="{FF2B5EF4-FFF2-40B4-BE49-F238E27FC236}">
                <a16:creationId xmlns:a16="http://schemas.microsoft.com/office/drawing/2014/main" id="{647B664D-32F5-F668-D244-32D5AA73589C}"/>
              </a:ext>
            </a:extLst>
          </p:cNvPr>
          <p:cNvSpPr/>
          <p:nvPr/>
        </p:nvSpPr>
        <p:spPr>
          <a:xfrm>
            <a:off x="6858" y="-69952"/>
            <a:ext cx="12191695" cy="664313"/>
          </a:xfrm>
          <a:prstGeom prst="rect">
            <a:avLst/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46" name="Text 3">
            <a:extLst>
              <a:ext uri="{FF2B5EF4-FFF2-40B4-BE49-F238E27FC236}">
                <a16:creationId xmlns:a16="http://schemas.microsoft.com/office/drawing/2014/main" id="{52A3B5A8-7A36-5C55-187E-0CBCEBF4836F}"/>
              </a:ext>
            </a:extLst>
          </p:cNvPr>
          <p:cNvSpPr txBox="1"/>
          <p:nvPr/>
        </p:nvSpPr>
        <p:spPr>
          <a:xfrm>
            <a:off x="348708" y="184194"/>
            <a:ext cx="1317625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kern="0" spc="38">
                <a:solidFill>
                  <a:srgbClr val="FFFFFF"/>
                </a:solidFill>
                <a:latin typeface="Noto Sans JP" panose="020B0200000000000000" pitchFamily="50" charset="-128"/>
                <a:ea typeface="Noto Sans JP" panose="020B0200000000000000" pitchFamily="50" charset="-128"/>
                <a:cs typeface="Roboto" pitchFamily="34" charset="-120"/>
              </a:rPr>
              <a:t>Vol.14</a:t>
            </a:r>
            <a:endParaRPr lang="en-US" sz="3200" dirty="0"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47" name="Text 4">
            <a:extLst>
              <a:ext uri="{FF2B5EF4-FFF2-40B4-BE49-F238E27FC236}">
                <a16:creationId xmlns:a16="http://schemas.microsoft.com/office/drawing/2014/main" id="{B2BF6B28-2754-9B63-32AF-596B48655E1B}"/>
              </a:ext>
            </a:extLst>
          </p:cNvPr>
          <p:cNvSpPr txBox="1"/>
          <p:nvPr/>
        </p:nvSpPr>
        <p:spPr>
          <a:xfrm>
            <a:off x="1826709" y="116687"/>
            <a:ext cx="787246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altLang="ja-JP" sz="2700" b="1" kern="0" spc="68">
                <a:solidFill>
                  <a:srgbClr val="FFFFFF"/>
                </a:solidFill>
                <a:latin typeface="Noto Sans JP" panose="020B0200000000000000" pitchFamily="50" charset="-128"/>
                <a:ea typeface="Noto Sans JP" panose="020B0200000000000000" pitchFamily="50" charset="-128"/>
                <a:cs typeface="Noto Sans JP" pitchFamily="34" charset="-120"/>
              </a:rPr>
              <a:t>【</a:t>
            </a:r>
            <a:r>
              <a:rPr lang="ja-JP" altLang="en-US" sz="2700" b="1" kern="0" spc="68">
                <a:solidFill>
                  <a:srgbClr val="FFFFFF"/>
                </a:solidFill>
                <a:latin typeface="Noto Sans JP" panose="020B0200000000000000" pitchFamily="50" charset="-128"/>
                <a:ea typeface="Noto Sans JP" panose="020B0200000000000000" pitchFamily="50" charset="-128"/>
                <a:cs typeface="Noto Sans JP" pitchFamily="34" charset="-120"/>
              </a:rPr>
              <a:t>活用 </a:t>
            </a:r>
            <a:r>
              <a:rPr lang="en-US" altLang="ja-JP" sz="4400" b="1" kern="0" spc="68">
                <a:solidFill>
                  <a:srgbClr val="FFFFFF"/>
                </a:solidFill>
                <a:latin typeface="Noto Sans JP" panose="020B0200000000000000" pitchFamily="50" charset="-128"/>
                <a:ea typeface="Noto Sans JP" panose="020B0200000000000000" pitchFamily="50" charset="-128"/>
                <a:cs typeface="Noto Sans JP" pitchFamily="34" charset="-120"/>
              </a:rPr>
              <a:t>7</a:t>
            </a:r>
            <a:r>
              <a:rPr lang="ja-JP" altLang="en-US" sz="4400" b="1" kern="0" spc="68">
                <a:solidFill>
                  <a:srgbClr val="FFFFFF"/>
                </a:solidFill>
                <a:latin typeface="Noto Sans JP" panose="020B0200000000000000" pitchFamily="50" charset="-128"/>
                <a:ea typeface="Noto Sans JP" panose="020B0200000000000000" pitchFamily="50" charset="-128"/>
                <a:cs typeface="Noto Sans JP" pitchFamily="34" charset="-120"/>
              </a:rPr>
              <a:t>選 </a:t>
            </a:r>
            <a:r>
              <a:rPr lang="en-US" altLang="ja-JP" sz="2700" b="1" kern="0" spc="68">
                <a:solidFill>
                  <a:srgbClr val="FFFFFF"/>
                </a:solidFill>
                <a:latin typeface="Noto Sans JP" panose="020B0200000000000000" pitchFamily="50" charset="-128"/>
                <a:ea typeface="Noto Sans JP" panose="020B0200000000000000" pitchFamily="50" charset="-128"/>
                <a:cs typeface="Noto Sans JP" pitchFamily="34" charset="-120"/>
              </a:rPr>
              <a:t>】Teams</a:t>
            </a:r>
            <a:r>
              <a:rPr lang="ja-JP" altLang="en-US" sz="2700" b="1" kern="0" spc="68">
                <a:solidFill>
                  <a:srgbClr val="FFFFFF"/>
                </a:solidFill>
                <a:latin typeface="Noto Sans JP" panose="020B0200000000000000" pitchFamily="50" charset="-128"/>
                <a:ea typeface="Noto Sans JP" panose="020B0200000000000000" pitchFamily="50" charset="-128"/>
                <a:cs typeface="Noto Sans JP" pitchFamily="34" charset="-120"/>
              </a:rPr>
              <a:t>チャット送信アクション</a:t>
            </a:r>
          </a:p>
        </p:txBody>
      </p:sp>
      <p:sp>
        <p:nvSpPr>
          <p:cNvPr id="49" name="Shape 2">
            <a:extLst>
              <a:ext uri="{FF2B5EF4-FFF2-40B4-BE49-F238E27FC236}">
                <a16:creationId xmlns:a16="http://schemas.microsoft.com/office/drawing/2014/main" id="{9835CEB6-E68F-AB1A-5BFE-190D04542FF3}"/>
              </a:ext>
            </a:extLst>
          </p:cNvPr>
          <p:cNvSpPr/>
          <p:nvPr/>
        </p:nvSpPr>
        <p:spPr>
          <a:xfrm>
            <a:off x="214046" y="55762"/>
            <a:ext cx="1543203" cy="464514"/>
          </a:xfrm>
          <a:prstGeom prst="roundRect">
            <a:avLst>
              <a:gd name="adj" fmla="val 266667"/>
            </a:avLst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48" name="四角形: 角を丸くする 47">
            <a:extLst>
              <a:ext uri="{FF2B5EF4-FFF2-40B4-BE49-F238E27FC236}">
                <a16:creationId xmlns:a16="http://schemas.microsoft.com/office/drawing/2014/main" id="{0DDB3D25-0B3E-1DE5-EC52-BAA7A4BACA9D}"/>
              </a:ext>
            </a:extLst>
          </p:cNvPr>
          <p:cNvSpPr/>
          <p:nvPr/>
        </p:nvSpPr>
        <p:spPr>
          <a:xfrm>
            <a:off x="20683" y="-50800"/>
            <a:ext cx="12133218" cy="6858000"/>
          </a:xfrm>
          <a:prstGeom prst="roundRect">
            <a:avLst>
              <a:gd name="adj" fmla="val 3966"/>
            </a:avLst>
          </a:prstGeom>
          <a:noFill/>
          <a:ln w="1174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pic>
        <p:nvPicPr>
          <p:cNvPr id="50" name="図 49" descr="The image depicts a stylized, blue and white arrow symbol.&#10;&#10;AI 生成コンテンツは誤りを含む可能性があります。">
            <a:extLst>
              <a:ext uri="{FF2B5EF4-FFF2-40B4-BE49-F238E27FC236}">
                <a16:creationId xmlns:a16="http://schemas.microsoft.com/office/drawing/2014/main" id="{EDCA681B-D0FD-C336-4758-D69F25C1F6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275" y="567793"/>
            <a:ext cx="888786" cy="888786"/>
          </a:xfrm>
          <a:prstGeom prst="rect">
            <a:avLst/>
          </a:prstGeom>
        </p:spPr>
      </p:pic>
      <p:pic>
        <p:nvPicPr>
          <p:cNvPr id="62" name="図 61" descr="テキスト, 手紙&#10;&#10;AI 生成コンテンツは誤りを含む可能性があります。">
            <a:extLst>
              <a:ext uri="{FF2B5EF4-FFF2-40B4-BE49-F238E27FC236}">
                <a16:creationId xmlns:a16="http://schemas.microsoft.com/office/drawing/2014/main" id="{0BC09F54-996F-70C8-4346-22A7072DB16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88485" y="613591"/>
            <a:ext cx="1622957" cy="739877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4" name="Rounded Rectangle 7">
            <a:extLst>
              <a:ext uri="{FF2B5EF4-FFF2-40B4-BE49-F238E27FC236}">
                <a16:creationId xmlns:a16="http://schemas.microsoft.com/office/drawing/2014/main" id="{7E1982A1-9BC2-0FA3-CBD4-E80EC1B70498}"/>
              </a:ext>
            </a:extLst>
          </p:cNvPr>
          <p:cNvSpPr/>
          <p:nvPr/>
        </p:nvSpPr>
        <p:spPr>
          <a:xfrm>
            <a:off x="275908" y="1463040"/>
            <a:ext cx="2816352" cy="1941482"/>
          </a:xfrm>
          <a:prstGeom prst="roundRect">
            <a:avLst>
              <a:gd name="adj" fmla="val 10000"/>
            </a:avLst>
          </a:prstGeom>
          <a:solidFill>
            <a:srgbClr val="F8F9FA"/>
          </a:solidFill>
          <a:ln w="22860">
            <a:solidFill>
              <a:srgbClr val="16A34A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5" name="Rounded Rectangle 8">
            <a:extLst>
              <a:ext uri="{FF2B5EF4-FFF2-40B4-BE49-F238E27FC236}">
                <a16:creationId xmlns:a16="http://schemas.microsoft.com/office/drawing/2014/main" id="{746D6208-B52C-E11F-7C66-0AE9833EEF0E}"/>
              </a:ext>
            </a:extLst>
          </p:cNvPr>
          <p:cNvSpPr/>
          <p:nvPr/>
        </p:nvSpPr>
        <p:spPr>
          <a:xfrm>
            <a:off x="153473" y="1528928"/>
            <a:ext cx="932588" cy="384048"/>
          </a:xfrm>
          <a:prstGeom prst="roundRect">
            <a:avLst>
              <a:gd name="adj" fmla="val 16000"/>
            </a:avLst>
          </a:prstGeom>
          <a:solidFill>
            <a:srgbClr val="16A34A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10000"/>
              </a:lnSpc>
            </a:pPr>
            <a:r>
              <a:rPr sz="2800" b="1">
                <a:solidFill>
                  <a:srgbClr val="FFFFFF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Lv.1</a:t>
            </a:r>
          </a:p>
        </p:txBody>
      </p:sp>
      <p:sp>
        <p:nvSpPr>
          <p:cNvPr id="7" name="TextBox 9">
            <a:extLst>
              <a:ext uri="{FF2B5EF4-FFF2-40B4-BE49-F238E27FC236}">
                <a16:creationId xmlns:a16="http://schemas.microsoft.com/office/drawing/2014/main" id="{42381004-0A38-3409-2D39-E3C08E692D44}"/>
              </a:ext>
            </a:extLst>
          </p:cNvPr>
          <p:cNvSpPr txBox="1"/>
          <p:nvPr/>
        </p:nvSpPr>
        <p:spPr>
          <a:xfrm>
            <a:off x="1016572" y="1572768"/>
            <a:ext cx="2075688" cy="707886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4B5563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① フォーム送信→即時通知</a:t>
            </a:r>
          </a:p>
        </p:txBody>
      </p:sp>
      <p:sp>
        <p:nvSpPr>
          <p:cNvPr id="9" name="Rounded Rectangle 10">
            <a:extLst>
              <a:ext uri="{FF2B5EF4-FFF2-40B4-BE49-F238E27FC236}">
                <a16:creationId xmlns:a16="http://schemas.microsoft.com/office/drawing/2014/main" id="{956DF5C5-1F39-2FB4-9297-E8A1392D1192}"/>
              </a:ext>
            </a:extLst>
          </p:cNvPr>
          <p:cNvSpPr/>
          <p:nvPr/>
        </p:nvSpPr>
        <p:spPr>
          <a:xfrm>
            <a:off x="-13241" y="2294828"/>
            <a:ext cx="1577295" cy="384048"/>
          </a:xfrm>
          <a:prstGeom prst="roundRect">
            <a:avLst>
              <a:gd name="adj" fmla="val 12000"/>
            </a:avLst>
          </a:prstGeom>
          <a:solidFill>
            <a:srgbClr val="4B5563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10000"/>
              </a:lnSpc>
            </a:pPr>
            <a:r>
              <a:rPr sz="1600" b="1">
                <a:solidFill>
                  <a:srgbClr val="FFFFFF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Forms回答</a:t>
            </a:r>
          </a:p>
        </p:txBody>
      </p:sp>
      <p:cxnSp>
        <p:nvCxnSpPr>
          <p:cNvPr id="11" name="Connector 11">
            <a:extLst>
              <a:ext uri="{FF2B5EF4-FFF2-40B4-BE49-F238E27FC236}">
                <a16:creationId xmlns:a16="http://schemas.microsoft.com/office/drawing/2014/main" id="{CA855997-7218-CCEB-A899-04385C72D608}"/>
              </a:ext>
            </a:extLst>
          </p:cNvPr>
          <p:cNvCxnSpPr/>
          <p:nvPr/>
        </p:nvCxnSpPr>
        <p:spPr>
          <a:xfrm>
            <a:off x="1654366" y="2486852"/>
            <a:ext cx="256032" cy="0"/>
          </a:xfrm>
          <a:prstGeom prst="line">
            <a:avLst/>
          </a:prstGeom>
          <a:ln w="25400">
            <a:solidFill>
              <a:srgbClr val="2563EB"/>
            </a:solidFill>
            <a:headEnd type="none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12">
            <a:extLst>
              <a:ext uri="{FF2B5EF4-FFF2-40B4-BE49-F238E27FC236}">
                <a16:creationId xmlns:a16="http://schemas.microsoft.com/office/drawing/2014/main" id="{DFCEFE01-2CE4-797C-E5BA-7CF2B083B5F7}"/>
              </a:ext>
            </a:extLst>
          </p:cNvPr>
          <p:cNvSpPr/>
          <p:nvPr/>
        </p:nvSpPr>
        <p:spPr>
          <a:xfrm>
            <a:off x="1594159" y="2294828"/>
            <a:ext cx="1669864" cy="384048"/>
          </a:xfrm>
          <a:prstGeom prst="roundRect">
            <a:avLst>
              <a:gd name="adj" fmla="val 12000"/>
            </a:avLst>
          </a:prstGeom>
          <a:solidFill>
            <a:srgbClr val="2563EB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10000"/>
              </a:lnSpc>
            </a:pPr>
            <a:r>
              <a:rPr sz="1600" b="1">
                <a:solidFill>
                  <a:srgbClr val="FFFFFF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Teamsチャット</a:t>
            </a:r>
          </a:p>
        </p:txBody>
      </p:sp>
      <p:sp>
        <p:nvSpPr>
          <p:cNvPr id="25" name="TextBox 13">
            <a:extLst>
              <a:ext uri="{FF2B5EF4-FFF2-40B4-BE49-F238E27FC236}">
                <a16:creationId xmlns:a16="http://schemas.microsoft.com/office/drawing/2014/main" id="{567E2E79-2F97-E0FF-D442-889A77DE1938}"/>
              </a:ext>
            </a:extLst>
          </p:cNvPr>
          <p:cNvSpPr txBox="1"/>
          <p:nvPr/>
        </p:nvSpPr>
        <p:spPr>
          <a:xfrm>
            <a:off x="423343" y="2719534"/>
            <a:ext cx="2578608" cy="707886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4B5563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問い合わせを</a:t>
            </a:r>
            <a:endParaRPr lang="en-US" sz="2000" b="1">
              <a:solidFill>
                <a:srgbClr val="4B5563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  <a:p>
            <a:r>
              <a:rPr sz="2000" b="1">
                <a:solidFill>
                  <a:srgbClr val="4B5563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見逃さない！</a:t>
            </a:r>
          </a:p>
        </p:txBody>
      </p:sp>
      <p:sp>
        <p:nvSpPr>
          <p:cNvPr id="26" name="Rounded Rectangle 14">
            <a:extLst>
              <a:ext uri="{FF2B5EF4-FFF2-40B4-BE49-F238E27FC236}">
                <a16:creationId xmlns:a16="http://schemas.microsoft.com/office/drawing/2014/main" id="{E5B258C6-B04B-D113-9276-7CEE8099F623}"/>
              </a:ext>
            </a:extLst>
          </p:cNvPr>
          <p:cNvSpPr/>
          <p:nvPr/>
        </p:nvSpPr>
        <p:spPr>
          <a:xfrm>
            <a:off x="3230663" y="1463039"/>
            <a:ext cx="2816352" cy="1934935"/>
          </a:xfrm>
          <a:prstGeom prst="roundRect">
            <a:avLst>
              <a:gd name="adj" fmla="val 10000"/>
            </a:avLst>
          </a:prstGeom>
          <a:solidFill>
            <a:srgbClr val="F8F9FA"/>
          </a:solidFill>
          <a:ln w="22860">
            <a:solidFill>
              <a:srgbClr val="16A34A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27" name="Rounded Rectangle 15">
            <a:extLst>
              <a:ext uri="{FF2B5EF4-FFF2-40B4-BE49-F238E27FC236}">
                <a16:creationId xmlns:a16="http://schemas.microsoft.com/office/drawing/2014/main" id="{258E9962-AC43-B2AA-5AFD-A7454927CDA9}"/>
              </a:ext>
            </a:extLst>
          </p:cNvPr>
          <p:cNvSpPr/>
          <p:nvPr/>
        </p:nvSpPr>
        <p:spPr>
          <a:xfrm>
            <a:off x="3070424" y="1528928"/>
            <a:ext cx="932588" cy="384048"/>
          </a:xfrm>
          <a:prstGeom prst="roundRect">
            <a:avLst>
              <a:gd name="adj" fmla="val 14583"/>
            </a:avLst>
          </a:prstGeom>
          <a:solidFill>
            <a:srgbClr val="16A34A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10000"/>
              </a:lnSpc>
            </a:pPr>
            <a:r>
              <a:rPr sz="2800" b="1">
                <a:solidFill>
                  <a:srgbClr val="FFFFFF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Lv.1</a:t>
            </a:r>
          </a:p>
        </p:txBody>
      </p:sp>
      <p:sp>
        <p:nvSpPr>
          <p:cNvPr id="28" name="TextBox 16">
            <a:extLst>
              <a:ext uri="{FF2B5EF4-FFF2-40B4-BE49-F238E27FC236}">
                <a16:creationId xmlns:a16="http://schemas.microsoft.com/office/drawing/2014/main" id="{2D387827-3C4E-A9C0-D3A6-A39FDF0CC130}"/>
              </a:ext>
            </a:extLst>
          </p:cNvPr>
          <p:cNvSpPr txBox="1"/>
          <p:nvPr/>
        </p:nvSpPr>
        <p:spPr>
          <a:xfrm>
            <a:off x="3938079" y="1572769"/>
            <a:ext cx="2075688" cy="707886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4B5563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② 承認完了→</a:t>
            </a:r>
            <a:endParaRPr lang="en-US" sz="2000" b="1">
              <a:solidFill>
                <a:srgbClr val="4B5563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  <a:p>
            <a:pPr algn="l"/>
            <a:r>
              <a:rPr lang="en-US" sz="2000" b="1">
                <a:solidFill>
                  <a:srgbClr val="4B5563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      </a:t>
            </a:r>
            <a:r>
              <a:rPr sz="2000" b="1">
                <a:solidFill>
                  <a:srgbClr val="4B5563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結果をDM</a:t>
            </a:r>
          </a:p>
        </p:txBody>
      </p:sp>
      <p:sp>
        <p:nvSpPr>
          <p:cNvPr id="29" name="Rounded Rectangle 17">
            <a:extLst>
              <a:ext uri="{FF2B5EF4-FFF2-40B4-BE49-F238E27FC236}">
                <a16:creationId xmlns:a16="http://schemas.microsoft.com/office/drawing/2014/main" id="{00F57EF2-B2C8-02B7-F6FC-DD67FE636946}"/>
              </a:ext>
            </a:extLst>
          </p:cNvPr>
          <p:cNvSpPr/>
          <p:nvPr/>
        </p:nvSpPr>
        <p:spPr>
          <a:xfrm>
            <a:off x="3270574" y="2291389"/>
            <a:ext cx="1298190" cy="384048"/>
          </a:xfrm>
          <a:prstGeom prst="roundRect">
            <a:avLst>
              <a:gd name="adj" fmla="val 12000"/>
            </a:avLst>
          </a:prstGeom>
          <a:solidFill>
            <a:srgbClr val="4B5563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10000"/>
              </a:lnSpc>
            </a:pPr>
            <a:r>
              <a:rPr sz="1600" b="1">
                <a:solidFill>
                  <a:srgbClr val="FFFFFF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承認フロー</a:t>
            </a:r>
          </a:p>
        </p:txBody>
      </p:sp>
      <p:sp>
        <p:nvSpPr>
          <p:cNvPr id="31" name="Rounded Rectangle 19">
            <a:extLst>
              <a:ext uri="{FF2B5EF4-FFF2-40B4-BE49-F238E27FC236}">
                <a16:creationId xmlns:a16="http://schemas.microsoft.com/office/drawing/2014/main" id="{397437CD-4966-98E9-F3A7-95A665183194}"/>
              </a:ext>
            </a:extLst>
          </p:cNvPr>
          <p:cNvSpPr/>
          <p:nvPr/>
        </p:nvSpPr>
        <p:spPr>
          <a:xfrm>
            <a:off x="4629597" y="2288814"/>
            <a:ext cx="1552103" cy="384048"/>
          </a:xfrm>
          <a:prstGeom prst="roundRect">
            <a:avLst>
              <a:gd name="adj" fmla="val 12000"/>
            </a:avLst>
          </a:prstGeom>
          <a:solidFill>
            <a:srgbClr val="16A34A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10000"/>
              </a:lnSpc>
            </a:pPr>
            <a:r>
              <a:rPr sz="1600" b="1">
                <a:solidFill>
                  <a:srgbClr val="FFFFFF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申請者へDM</a:t>
            </a:r>
          </a:p>
        </p:txBody>
      </p:sp>
      <p:sp>
        <p:nvSpPr>
          <p:cNvPr id="32" name="TextBox 20">
            <a:extLst>
              <a:ext uri="{FF2B5EF4-FFF2-40B4-BE49-F238E27FC236}">
                <a16:creationId xmlns:a16="http://schemas.microsoft.com/office/drawing/2014/main" id="{32CFC2D0-CBEF-0FBF-3262-15CA50265219}"/>
              </a:ext>
            </a:extLst>
          </p:cNvPr>
          <p:cNvSpPr txBox="1"/>
          <p:nvPr/>
        </p:nvSpPr>
        <p:spPr>
          <a:xfrm>
            <a:off x="3311604" y="2800119"/>
            <a:ext cx="2578608" cy="369332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r>
              <a:rPr b="1">
                <a:solidFill>
                  <a:srgbClr val="4B5563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✅/❌を即座に本人へ</a:t>
            </a:r>
          </a:p>
        </p:txBody>
      </p:sp>
      <p:sp>
        <p:nvSpPr>
          <p:cNvPr id="33" name="Rounded Rectangle 21">
            <a:extLst>
              <a:ext uri="{FF2B5EF4-FFF2-40B4-BE49-F238E27FC236}">
                <a16:creationId xmlns:a16="http://schemas.microsoft.com/office/drawing/2014/main" id="{7AA12569-73C5-BEB1-6071-972FD120748A}"/>
              </a:ext>
            </a:extLst>
          </p:cNvPr>
          <p:cNvSpPr/>
          <p:nvPr/>
        </p:nvSpPr>
        <p:spPr>
          <a:xfrm>
            <a:off x="6118924" y="1463039"/>
            <a:ext cx="2816352" cy="1921271"/>
          </a:xfrm>
          <a:prstGeom prst="roundRect">
            <a:avLst>
              <a:gd name="adj" fmla="val 10000"/>
            </a:avLst>
          </a:prstGeom>
          <a:solidFill>
            <a:srgbClr val="F8F9FA"/>
          </a:solidFill>
          <a:ln w="22860">
            <a:solidFill>
              <a:srgbClr val="2563EB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51" name="Rounded Rectangle 22">
            <a:extLst>
              <a:ext uri="{FF2B5EF4-FFF2-40B4-BE49-F238E27FC236}">
                <a16:creationId xmlns:a16="http://schemas.microsoft.com/office/drawing/2014/main" id="{A1DBFE02-A77D-52A5-FAA1-34F2289168DF}"/>
              </a:ext>
            </a:extLst>
          </p:cNvPr>
          <p:cNvSpPr/>
          <p:nvPr/>
        </p:nvSpPr>
        <p:spPr>
          <a:xfrm>
            <a:off x="6031032" y="1541069"/>
            <a:ext cx="1007697" cy="384048"/>
          </a:xfrm>
          <a:prstGeom prst="roundRect">
            <a:avLst>
              <a:gd name="adj" fmla="val 16000"/>
            </a:avLst>
          </a:prstGeom>
          <a:solidFill>
            <a:srgbClr val="2563EB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10000"/>
              </a:lnSpc>
            </a:pPr>
            <a:r>
              <a:rPr sz="2800" b="1">
                <a:solidFill>
                  <a:srgbClr val="FFFFFF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Lv.2</a:t>
            </a:r>
          </a:p>
        </p:txBody>
      </p:sp>
      <p:sp>
        <p:nvSpPr>
          <p:cNvPr id="52" name="TextBox 23">
            <a:extLst>
              <a:ext uri="{FF2B5EF4-FFF2-40B4-BE49-F238E27FC236}">
                <a16:creationId xmlns:a16="http://schemas.microsoft.com/office/drawing/2014/main" id="{66FC5B7F-4CFA-D839-F9C3-5D58C09090E0}"/>
              </a:ext>
            </a:extLst>
          </p:cNvPr>
          <p:cNvSpPr txBox="1"/>
          <p:nvPr/>
        </p:nvSpPr>
        <p:spPr>
          <a:xfrm>
            <a:off x="7038729" y="1561787"/>
            <a:ext cx="2075688" cy="707886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4B5563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③ 自分へDM＝通知ハブ化</a:t>
            </a:r>
          </a:p>
        </p:txBody>
      </p:sp>
      <p:sp>
        <p:nvSpPr>
          <p:cNvPr id="54" name="Rounded Rectangle 24">
            <a:extLst>
              <a:ext uri="{FF2B5EF4-FFF2-40B4-BE49-F238E27FC236}">
                <a16:creationId xmlns:a16="http://schemas.microsoft.com/office/drawing/2014/main" id="{9A4FC44E-7C33-0CA2-E83C-72830BB48A2D}"/>
              </a:ext>
            </a:extLst>
          </p:cNvPr>
          <p:cNvSpPr/>
          <p:nvPr/>
        </p:nvSpPr>
        <p:spPr>
          <a:xfrm>
            <a:off x="6162867" y="2294828"/>
            <a:ext cx="1367028" cy="384048"/>
          </a:xfrm>
          <a:prstGeom prst="roundRect">
            <a:avLst>
              <a:gd name="adj" fmla="val 12000"/>
            </a:avLst>
          </a:prstGeom>
          <a:solidFill>
            <a:srgbClr val="4B5563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10000"/>
              </a:lnSpc>
            </a:pPr>
            <a:r>
              <a:rPr sz="1600" b="1">
                <a:solidFill>
                  <a:srgbClr val="FFFFFF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フロー完了</a:t>
            </a:r>
          </a:p>
        </p:txBody>
      </p:sp>
      <p:sp>
        <p:nvSpPr>
          <p:cNvPr id="61" name="TextBox 27">
            <a:extLst>
              <a:ext uri="{FF2B5EF4-FFF2-40B4-BE49-F238E27FC236}">
                <a16:creationId xmlns:a16="http://schemas.microsoft.com/office/drawing/2014/main" id="{7666EE73-C59E-1875-7B9B-779202DD896E}"/>
              </a:ext>
            </a:extLst>
          </p:cNvPr>
          <p:cNvSpPr txBox="1"/>
          <p:nvPr/>
        </p:nvSpPr>
        <p:spPr>
          <a:xfrm>
            <a:off x="6563847" y="2725284"/>
            <a:ext cx="2578608" cy="646331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r>
              <a:rPr b="1">
                <a:solidFill>
                  <a:srgbClr val="4B5563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💡 UPNを入れる</a:t>
            </a:r>
            <a:endParaRPr lang="en-US" b="1">
              <a:solidFill>
                <a:srgbClr val="4B5563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  <a:p>
            <a:r>
              <a:rPr lang="ja-JP" altLang="en-US" b="1">
                <a:solidFill>
                  <a:srgbClr val="4B5563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　 </a:t>
            </a:r>
            <a:r>
              <a:rPr b="1">
                <a:solidFill>
                  <a:srgbClr val="4B5563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だけでOK</a:t>
            </a:r>
          </a:p>
        </p:txBody>
      </p:sp>
      <p:sp>
        <p:nvSpPr>
          <p:cNvPr id="63" name="Rounded Rectangle 28">
            <a:extLst>
              <a:ext uri="{FF2B5EF4-FFF2-40B4-BE49-F238E27FC236}">
                <a16:creationId xmlns:a16="http://schemas.microsoft.com/office/drawing/2014/main" id="{DF23009C-261C-143D-1E2C-626F99DA343C}"/>
              </a:ext>
            </a:extLst>
          </p:cNvPr>
          <p:cNvSpPr/>
          <p:nvPr/>
        </p:nvSpPr>
        <p:spPr>
          <a:xfrm>
            <a:off x="9040432" y="1463040"/>
            <a:ext cx="2816352" cy="1921270"/>
          </a:xfrm>
          <a:prstGeom prst="roundRect">
            <a:avLst>
              <a:gd name="adj" fmla="val 10000"/>
            </a:avLst>
          </a:prstGeom>
          <a:solidFill>
            <a:srgbClr val="F8F9FA"/>
          </a:solidFill>
          <a:ln w="22860">
            <a:solidFill>
              <a:srgbClr val="2563EB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65" name="Rounded Rectangle 29">
            <a:extLst>
              <a:ext uri="{FF2B5EF4-FFF2-40B4-BE49-F238E27FC236}">
                <a16:creationId xmlns:a16="http://schemas.microsoft.com/office/drawing/2014/main" id="{608280B2-89EE-CE44-5C28-219D3A01A844}"/>
              </a:ext>
            </a:extLst>
          </p:cNvPr>
          <p:cNvSpPr/>
          <p:nvPr/>
        </p:nvSpPr>
        <p:spPr>
          <a:xfrm>
            <a:off x="8998451" y="1523094"/>
            <a:ext cx="932588" cy="384048"/>
          </a:xfrm>
          <a:prstGeom prst="roundRect">
            <a:avLst>
              <a:gd name="adj" fmla="val 16000"/>
            </a:avLst>
          </a:prstGeom>
          <a:solidFill>
            <a:srgbClr val="2563EB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10000"/>
              </a:lnSpc>
            </a:pPr>
            <a:r>
              <a:rPr sz="2800" b="1">
                <a:solidFill>
                  <a:srgbClr val="FFFFFF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Lv.2</a:t>
            </a:r>
          </a:p>
        </p:txBody>
      </p:sp>
      <p:sp>
        <p:nvSpPr>
          <p:cNvPr id="67" name="TextBox 30">
            <a:extLst>
              <a:ext uri="{FF2B5EF4-FFF2-40B4-BE49-F238E27FC236}">
                <a16:creationId xmlns:a16="http://schemas.microsoft.com/office/drawing/2014/main" id="{C8EC9E95-F547-7874-8E78-72F87E668C31}"/>
              </a:ext>
            </a:extLst>
          </p:cNvPr>
          <p:cNvSpPr txBox="1"/>
          <p:nvPr/>
        </p:nvSpPr>
        <p:spPr>
          <a:xfrm>
            <a:off x="9972483" y="1555659"/>
            <a:ext cx="2075688" cy="707886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4B5563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④ 送信先を</a:t>
            </a:r>
            <a:endParaRPr lang="en-US" sz="2000" b="1">
              <a:solidFill>
                <a:srgbClr val="4B5563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  <a:p>
            <a:pPr algn="l"/>
            <a:r>
              <a:rPr sz="2000" b="1">
                <a:solidFill>
                  <a:srgbClr val="4B5563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データから決定</a:t>
            </a:r>
          </a:p>
        </p:txBody>
      </p:sp>
      <p:sp>
        <p:nvSpPr>
          <p:cNvPr id="71" name="Rounded Rectangle 31">
            <a:extLst>
              <a:ext uri="{FF2B5EF4-FFF2-40B4-BE49-F238E27FC236}">
                <a16:creationId xmlns:a16="http://schemas.microsoft.com/office/drawing/2014/main" id="{14A810CA-CB32-5600-12B7-5B294650832D}"/>
              </a:ext>
            </a:extLst>
          </p:cNvPr>
          <p:cNvSpPr/>
          <p:nvPr/>
        </p:nvSpPr>
        <p:spPr>
          <a:xfrm>
            <a:off x="9142455" y="2260641"/>
            <a:ext cx="1289304" cy="384048"/>
          </a:xfrm>
          <a:prstGeom prst="roundRect">
            <a:avLst>
              <a:gd name="adj" fmla="val 12000"/>
            </a:avLst>
          </a:prstGeom>
          <a:solidFill>
            <a:srgbClr val="4B5563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10000"/>
              </a:lnSpc>
            </a:pPr>
            <a:r>
              <a:rPr sz="1600" b="1">
                <a:solidFill>
                  <a:srgbClr val="FFFFFF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SP担当者列</a:t>
            </a:r>
          </a:p>
        </p:txBody>
      </p:sp>
      <p:sp>
        <p:nvSpPr>
          <p:cNvPr id="75" name="Rounded Rectangle 33">
            <a:extLst>
              <a:ext uri="{FF2B5EF4-FFF2-40B4-BE49-F238E27FC236}">
                <a16:creationId xmlns:a16="http://schemas.microsoft.com/office/drawing/2014/main" id="{C2D372B1-86E9-917F-0685-6B41C97529F7}"/>
              </a:ext>
            </a:extLst>
          </p:cNvPr>
          <p:cNvSpPr/>
          <p:nvPr/>
        </p:nvSpPr>
        <p:spPr>
          <a:xfrm>
            <a:off x="10530656" y="2242226"/>
            <a:ext cx="1466285" cy="384048"/>
          </a:xfrm>
          <a:prstGeom prst="roundRect">
            <a:avLst>
              <a:gd name="adj" fmla="val 12000"/>
            </a:avLst>
          </a:prstGeom>
          <a:solidFill>
            <a:srgbClr val="2563EB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10000"/>
              </a:lnSpc>
            </a:pPr>
            <a:r>
              <a:rPr sz="1600" b="1">
                <a:solidFill>
                  <a:srgbClr val="FFFFFF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その人へDM</a:t>
            </a:r>
          </a:p>
        </p:txBody>
      </p:sp>
      <p:sp>
        <p:nvSpPr>
          <p:cNvPr id="76" name="TextBox 34">
            <a:extLst>
              <a:ext uri="{FF2B5EF4-FFF2-40B4-BE49-F238E27FC236}">
                <a16:creationId xmlns:a16="http://schemas.microsoft.com/office/drawing/2014/main" id="{2B7806F5-F741-29ED-A38C-1170AE302D93}"/>
              </a:ext>
            </a:extLst>
          </p:cNvPr>
          <p:cNvSpPr txBox="1"/>
          <p:nvPr/>
        </p:nvSpPr>
        <p:spPr>
          <a:xfrm>
            <a:off x="9142455" y="2707011"/>
            <a:ext cx="2578608" cy="646331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r>
              <a:rPr b="1">
                <a:solidFill>
                  <a:srgbClr val="4B5563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💡 担当者変更も</a:t>
            </a:r>
            <a:endParaRPr lang="en-US" b="1">
              <a:solidFill>
                <a:srgbClr val="4B5563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  <a:p>
            <a:r>
              <a:rPr lang="en-US" b="1">
                <a:solidFill>
                  <a:srgbClr val="4B5563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       </a:t>
            </a:r>
            <a:r>
              <a:rPr b="1">
                <a:solidFill>
                  <a:srgbClr val="4B5563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自動対応</a:t>
            </a:r>
          </a:p>
        </p:txBody>
      </p:sp>
      <p:sp>
        <p:nvSpPr>
          <p:cNvPr id="77" name="Rounded Rectangle 35">
            <a:extLst>
              <a:ext uri="{FF2B5EF4-FFF2-40B4-BE49-F238E27FC236}">
                <a16:creationId xmlns:a16="http://schemas.microsoft.com/office/drawing/2014/main" id="{83FC9B28-9C15-5547-3A7B-4A184737EF13}"/>
              </a:ext>
            </a:extLst>
          </p:cNvPr>
          <p:cNvSpPr/>
          <p:nvPr/>
        </p:nvSpPr>
        <p:spPr>
          <a:xfrm>
            <a:off x="310561" y="3749311"/>
            <a:ext cx="3767328" cy="1664208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22860">
            <a:solidFill>
              <a:srgbClr val="DC2626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78" name="Rounded Rectangle 36">
            <a:extLst>
              <a:ext uri="{FF2B5EF4-FFF2-40B4-BE49-F238E27FC236}">
                <a16:creationId xmlns:a16="http://schemas.microsoft.com/office/drawing/2014/main" id="{6F2386AB-35B5-6DA1-D92E-C3DE874DB895}"/>
              </a:ext>
            </a:extLst>
          </p:cNvPr>
          <p:cNvSpPr/>
          <p:nvPr/>
        </p:nvSpPr>
        <p:spPr>
          <a:xfrm>
            <a:off x="138748" y="3851599"/>
            <a:ext cx="916295" cy="374536"/>
          </a:xfrm>
          <a:prstGeom prst="roundRect">
            <a:avLst>
              <a:gd name="adj" fmla="val 16000"/>
            </a:avLst>
          </a:prstGeom>
          <a:solidFill>
            <a:srgbClr val="DC2626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10000"/>
              </a:lnSpc>
            </a:pPr>
            <a:r>
              <a:rPr sz="2800" b="1">
                <a:solidFill>
                  <a:srgbClr val="FFFFFF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Lv.3</a:t>
            </a:r>
          </a:p>
        </p:txBody>
      </p:sp>
      <p:sp>
        <p:nvSpPr>
          <p:cNvPr id="79" name="TextBox 37">
            <a:extLst>
              <a:ext uri="{FF2B5EF4-FFF2-40B4-BE49-F238E27FC236}">
                <a16:creationId xmlns:a16="http://schemas.microsoft.com/office/drawing/2014/main" id="{384DBDAC-B643-2018-B875-00F5E2E42067}"/>
              </a:ext>
            </a:extLst>
          </p:cNvPr>
          <p:cNvSpPr txBox="1"/>
          <p:nvPr/>
        </p:nvSpPr>
        <p:spPr>
          <a:xfrm>
            <a:off x="1036830" y="3809681"/>
            <a:ext cx="2901249" cy="1015663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chemeClr val="tx1">
                    <a:lumMod val="75000"/>
                    <a:lumOff val="25000"/>
                  </a:schemeClr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⑤ 期限切れ検出×</a:t>
            </a:r>
            <a:endParaRPr lang="en-US" sz="2000" b="1">
              <a:solidFill>
                <a:schemeClr val="tx1">
                  <a:lumMod val="75000"/>
                  <a:lumOff val="25000"/>
                </a:schemeClr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  <a:p>
            <a:pPr algn="l"/>
            <a:r>
              <a:rPr lang="ja-JP" altLang="en-US" sz="2000" b="1">
                <a:solidFill>
                  <a:schemeClr val="tx1">
                    <a:lumMod val="75000"/>
                    <a:lumOff val="25000"/>
                  </a:schemeClr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　　　　</a:t>
            </a:r>
            <a:r>
              <a:rPr sz="2000" b="1">
                <a:solidFill>
                  <a:schemeClr val="tx1">
                    <a:lumMod val="75000"/>
                    <a:lumOff val="25000"/>
                  </a:schemeClr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個別DM自動送信</a:t>
            </a:r>
          </a:p>
        </p:txBody>
      </p:sp>
      <p:sp>
        <p:nvSpPr>
          <p:cNvPr id="80" name="Rounded Rectangle 38">
            <a:extLst>
              <a:ext uri="{FF2B5EF4-FFF2-40B4-BE49-F238E27FC236}">
                <a16:creationId xmlns:a16="http://schemas.microsoft.com/office/drawing/2014/main" id="{1A050346-76B3-0657-E0E4-2E4B20B3B543}"/>
              </a:ext>
            </a:extLst>
          </p:cNvPr>
          <p:cNvSpPr/>
          <p:nvPr/>
        </p:nvSpPr>
        <p:spPr>
          <a:xfrm>
            <a:off x="356000" y="4547900"/>
            <a:ext cx="1084474" cy="402336"/>
          </a:xfrm>
          <a:prstGeom prst="roundRect">
            <a:avLst>
              <a:gd name="adj" fmla="val 12000"/>
            </a:avLst>
          </a:prstGeom>
          <a:solidFill>
            <a:srgbClr val="4B5563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10000"/>
              </a:lnSpc>
            </a:pPr>
            <a:r>
              <a:rPr sz="1400" b="1">
                <a:solidFill>
                  <a:srgbClr val="FFFFFF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毎朝9時</a:t>
            </a:r>
          </a:p>
        </p:txBody>
      </p:sp>
      <p:cxnSp>
        <p:nvCxnSpPr>
          <p:cNvPr id="81" name="Connector 39">
            <a:extLst>
              <a:ext uri="{FF2B5EF4-FFF2-40B4-BE49-F238E27FC236}">
                <a16:creationId xmlns:a16="http://schemas.microsoft.com/office/drawing/2014/main" id="{8F680C96-F406-241D-3393-92108780FE55}"/>
              </a:ext>
            </a:extLst>
          </p:cNvPr>
          <p:cNvCxnSpPr/>
          <p:nvPr/>
        </p:nvCxnSpPr>
        <p:spPr>
          <a:xfrm>
            <a:off x="1529545" y="4756757"/>
            <a:ext cx="219456" cy="0"/>
          </a:xfrm>
          <a:prstGeom prst="line">
            <a:avLst/>
          </a:prstGeom>
          <a:ln w="25400">
            <a:solidFill>
              <a:srgbClr val="2563EB"/>
            </a:solidFill>
            <a:headEnd type="none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Rounded Rectangle 40">
            <a:extLst>
              <a:ext uri="{FF2B5EF4-FFF2-40B4-BE49-F238E27FC236}">
                <a16:creationId xmlns:a16="http://schemas.microsoft.com/office/drawing/2014/main" id="{37522F00-0789-9B87-5BFF-23AD267817E2}"/>
              </a:ext>
            </a:extLst>
          </p:cNvPr>
          <p:cNvSpPr/>
          <p:nvPr/>
        </p:nvSpPr>
        <p:spPr>
          <a:xfrm>
            <a:off x="1666333" y="4560040"/>
            <a:ext cx="1084474" cy="402336"/>
          </a:xfrm>
          <a:prstGeom prst="roundRect">
            <a:avLst>
              <a:gd name="adj" fmla="val 12000"/>
            </a:avLst>
          </a:prstGeom>
          <a:solidFill>
            <a:srgbClr val="4B5563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10000"/>
              </a:lnSpc>
            </a:pPr>
            <a:r>
              <a:rPr sz="1400" b="1">
                <a:solidFill>
                  <a:srgbClr val="FFFFFF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Excel確認</a:t>
            </a:r>
          </a:p>
        </p:txBody>
      </p:sp>
      <p:sp>
        <p:nvSpPr>
          <p:cNvPr id="84" name="Rounded Rectangle 42">
            <a:extLst>
              <a:ext uri="{FF2B5EF4-FFF2-40B4-BE49-F238E27FC236}">
                <a16:creationId xmlns:a16="http://schemas.microsoft.com/office/drawing/2014/main" id="{DE067008-69BC-9EA4-EE73-1CAA2CAFCAB7}"/>
              </a:ext>
            </a:extLst>
          </p:cNvPr>
          <p:cNvSpPr/>
          <p:nvPr/>
        </p:nvSpPr>
        <p:spPr>
          <a:xfrm>
            <a:off x="2944496" y="4537277"/>
            <a:ext cx="1084474" cy="402336"/>
          </a:xfrm>
          <a:prstGeom prst="roundRect">
            <a:avLst>
              <a:gd name="adj" fmla="val 12000"/>
            </a:avLst>
          </a:prstGeom>
          <a:solidFill>
            <a:srgbClr val="2563EB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10000"/>
              </a:lnSpc>
            </a:pPr>
            <a:r>
              <a:rPr sz="1400" b="1">
                <a:solidFill>
                  <a:srgbClr val="FFFFFF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担当者DM</a:t>
            </a:r>
          </a:p>
        </p:txBody>
      </p:sp>
      <p:sp>
        <p:nvSpPr>
          <p:cNvPr id="85" name="TextBox 43">
            <a:extLst>
              <a:ext uri="{FF2B5EF4-FFF2-40B4-BE49-F238E27FC236}">
                <a16:creationId xmlns:a16="http://schemas.microsoft.com/office/drawing/2014/main" id="{233C03AF-1D82-F777-D41A-8E1B242EC318}"/>
              </a:ext>
            </a:extLst>
          </p:cNvPr>
          <p:cNvSpPr txBox="1"/>
          <p:nvPr/>
        </p:nvSpPr>
        <p:spPr>
          <a:xfrm>
            <a:off x="379601" y="5086012"/>
            <a:ext cx="3529584" cy="307777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DC2626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🔥 催促メールを手で送る時代は終わり！</a:t>
            </a:r>
          </a:p>
        </p:txBody>
      </p:sp>
      <p:sp>
        <p:nvSpPr>
          <p:cNvPr id="86" name="Rounded Rectangle 44">
            <a:extLst>
              <a:ext uri="{FF2B5EF4-FFF2-40B4-BE49-F238E27FC236}">
                <a16:creationId xmlns:a16="http://schemas.microsoft.com/office/drawing/2014/main" id="{F76FAEF6-837B-3A5A-008D-5968BAAD0332}"/>
              </a:ext>
            </a:extLst>
          </p:cNvPr>
          <p:cNvSpPr/>
          <p:nvPr/>
        </p:nvSpPr>
        <p:spPr>
          <a:xfrm>
            <a:off x="4207827" y="3749311"/>
            <a:ext cx="3767328" cy="1664208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22860">
            <a:solidFill>
              <a:srgbClr val="DC2626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88" name="TextBox 46">
            <a:extLst>
              <a:ext uri="{FF2B5EF4-FFF2-40B4-BE49-F238E27FC236}">
                <a16:creationId xmlns:a16="http://schemas.microsoft.com/office/drawing/2014/main" id="{B332A649-A8DE-DF44-1A5E-D952F74C4F27}"/>
              </a:ext>
            </a:extLst>
          </p:cNvPr>
          <p:cNvSpPr txBox="1"/>
          <p:nvPr/>
        </p:nvSpPr>
        <p:spPr>
          <a:xfrm>
            <a:off x="5034068" y="3813499"/>
            <a:ext cx="2889504" cy="707886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chemeClr val="tx1">
                    <a:lumMod val="75000"/>
                    <a:lumOff val="25000"/>
                  </a:schemeClr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⑥ フロー失敗時の</a:t>
            </a:r>
            <a:endParaRPr lang="en-US" sz="2000" b="1">
              <a:solidFill>
                <a:schemeClr val="tx1">
                  <a:lumMod val="75000"/>
                  <a:lumOff val="25000"/>
                </a:schemeClr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  <a:p>
            <a:pPr algn="l"/>
            <a:r>
              <a:rPr lang="ja-JP" altLang="en-US" sz="2000" b="1">
                <a:solidFill>
                  <a:schemeClr val="tx1">
                    <a:lumMod val="75000"/>
                    <a:lumOff val="25000"/>
                  </a:schemeClr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　　　</a:t>
            </a:r>
            <a:r>
              <a:rPr sz="2000" b="1">
                <a:solidFill>
                  <a:schemeClr val="tx1">
                    <a:lumMod val="75000"/>
                    <a:lumOff val="25000"/>
                  </a:schemeClr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自己通知ハック</a:t>
            </a:r>
          </a:p>
        </p:txBody>
      </p:sp>
      <p:sp>
        <p:nvSpPr>
          <p:cNvPr id="89" name="Rounded Rectangle 47">
            <a:extLst>
              <a:ext uri="{FF2B5EF4-FFF2-40B4-BE49-F238E27FC236}">
                <a16:creationId xmlns:a16="http://schemas.microsoft.com/office/drawing/2014/main" id="{3BE7A549-A717-2A83-9015-68F08EAC83C4}"/>
              </a:ext>
            </a:extLst>
          </p:cNvPr>
          <p:cNvSpPr/>
          <p:nvPr/>
        </p:nvSpPr>
        <p:spPr>
          <a:xfrm>
            <a:off x="4281466" y="4569316"/>
            <a:ext cx="1084600" cy="402336"/>
          </a:xfrm>
          <a:prstGeom prst="roundRect">
            <a:avLst>
              <a:gd name="adj" fmla="val 12000"/>
            </a:avLst>
          </a:prstGeom>
          <a:solidFill>
            <a:srgbClr val="DC2626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10000"/>
              </a:lnSpc>
            </a:pPr>
            <a:r>
              <a:rPr sz="1600" b="1">
                <a:solidFill>
                  <a:srgbClr val="FFFFFF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処理失敗</a:t>
            </a:r>
          </a:p>
        </p:txBody>
      </p:sp>
      <p:cxnSp>
        <p:nvCxnSpPr>
          <p:cNvPr id="90" name="Connector 48">
            <a:extLst>
              <a:ext uri="{FF2B5EF4-FFF2-40B4-BE49-F238E27FC236}">
                <a16:creationId xmlns:a16="http://schemas.microsoft.com/office/drawing/2014/main" id="{A527F34F-AECB-A874-C951-4F6CFA245C7A}"/>
              </a:ext>
            </a:extLst>
          </p:cNvPr>
          <p:cNvCxnSpPr/>
          <p:nvPr/>
        </p:nvCxnSpPr>
        <p:spPr>
          <a:xfrm>
            <a:off x="5451412" y="4770484"/>
            <a:ext cx="219456" cy="0"/>
          </a:xfrm>
          <a:prstGeom prst="line">
            <a:avLst/>
          </a:prstGeom>
          <a:ln w="25400">
            <a:solidFill>
              <a:srgbClr val="2563EB"/>
            </a:solidFill>
            <a:headEnd type="none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" name="Rounded Rectangle 49">
            <a:extLst>
              <a:ext uri="{FF2B5EF4-FFF2-40B4-BE49-F238E27FC236}">
                <a16:creationId xmlns:a16="http://schemas.microsoft.com/office/drawing/2014/main" id="{420B8084-D02D-539A-1D19-5453313BB132}"/>
              </a:ext>
            </a:extLst>
          </p:cNvPr>
          <p:cNvSpPr/>
          <p:nvPr/>
        </p:nvSpPr>
        <p:spPr>
          <a:xfrm>
            <a:off x="5556452" y="4494382"/>
            <a:ext cx="1084600" cy="477270"/>
          </a:xfrm>
          <a:prstGeom prst="roundRect">
            <a:avLst>
              <a:gd name="adj" fmla="val 12000"/>
            </a:avLst>
          </a:prstGeom>
          <a:solidFill>
            <a:srgbClr val="4B5563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10000"/>
              </a:lnSpc>
            </a:pPr>
            <a:r>
              <a:rPr sz="1600" b="1">
                <a:solidFill>
                  <a:srgbClr val="FFFFFF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Run After</a:t>
            </a:r>
          </a:p>
        </p:txBody>
      </p:sp>
      <p:sp>
        <p:nvSpPr>
          <p:cNvPr id="93" name="Rounded Rectangle 51">
            <a:extLst>
              <a:ext uri="{FF2B5EF4-FFF2-40B4-BE49-F238E27FC236}">
                <a16:creationId xmlns:a16="http://schemas.microsoft.com/office/drawing/2014/main" id="{E5920876-2DCA-E948-B91D-CE4E392BE00D}"/>
              </a:ext>
            </a:extLst>
          </p:cNvPr>
          <p:cNvSpPr/>
          <p:nvPr/>
        </p:nvSpPr>
        <p:spPr>
          <a:xfrm>
            <a:off x="6935290" y="4567945"/>
            <a:ext cx="988282" cy="402336"/>
          </a:xfrm>
          <a:prstGeom prst="roundRect">
            <a:avLst>
              <a:gd name="adj" fmla="val 12000"/>
            </a:avLst>
          </a:prstGeom>
          <a:solidFill>
            <a:srgbClr val="2563EB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10000"/>
              </a:lnSpc>
            </a:pPr>
            <a:r>
              <a:rPr sz="1600" b="1">
                <a:solidFill>
                  <a:srgbClr val="FFFFFF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自分DM</a:t>
            </a:r>
          </a:p>
        </p:txBody>
      </p:sp>
      <p:sp>
        <p:nvSpPr>
          <p:cNvPr id="94" name="TextBox 52">
            <a:extLst>
              <a:ext uri="{FF2B5EF4-FFF2-40B4-BE49-F238E27FC236}">
                <a16:creationId xmlns:a16="http://schemas.microsoft.com/office/drawing/2014/main" id="{E024FE8F-F238-D58A-5DD4-F1BF9F83BB84}"/>
              </a:ext>
            </a:extLst>
          </p:cNvPr>
          <p:cNvSpPr txBox="1"/>
          <p:nvPr/>
        </p:nvSpPr>
        <p:spPr>
          <a:xfrm>
            <a:off x="4215415" y="5073211"/>
            <a:ext cx="3840427" cy="33855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C2626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🔥 自動化の"壊れ"も自動で気づける！</a:t>
            </a:r>
          </a:p>
        </p:txBody>
      </p:sp>
      <p:sp>
        <p:nvSpPr>
          <p:cNvPr id="95" name="Rounded Rectangle 53">
            <a:extLst>
              <a:ext uri="{FF2B5EF4-FFF2-40B4-BE49-F238E27FC236}">
                <a16:creationId xmlns:a16="http://schemas.microsoft.com/office/drawing/2014/main" id="{AC057049-06F3-9743-7317-BF8A841F29A3}"/>
              </a:ext>
            </a:extLst>
          </p:cNvPr>
          <p:cNvSpPr/>
          <p:nvPr/>
        </p:nvSpPr>
        <p:spPr>
          <a:xfrm>
            <a:off x="8126031" y="3749311"/>
            <a:ext cx="3767328" cy="1664208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22860">
            <a:solidFill>
              <a:srgbClr val="DC2626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97" name="TextBox 55">
            <a:extLst>
              <a:ext uri="{FF2B5EF4-FFF2-40B4-BE49-F238E27FC236}">
                <a16:creationId xmlns:a16="http://schemas.microsoft.com/office/drawing/2014/main" id="{C91B7E20-44B5-7947-1ED6-FEB6C382D5E4}"/>
              </a:ext>
            </a:extLst>
          </p:cNvPr>
          <p:cNvSpPr txBox="1"/>
          <p:nvPr/>
        </p:nvSpPr>
        <p:spPr>
          <a:xfrm>
            <a:off x="8866695" y="3820940"/>
            <a:ext cx="3052200" cy="1015663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chemeClr val="tx1">
                    <a:lumMod val="75000"/>
                    <a:lumOff val="25000"/>
                  </a:schemeClr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⑦ 条件分岐×</a:t>
            </a:r>
            <a:endParaRPr lang="en-US" sz="2000" b="1">
              <a:solidFill>
                <a:schemeClr val="tx1">
                  <a:lumMod val="75000"/>
                  <a:lumOff val="25000"/>
                </a:schemeClr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  <a:p>
            <a:pPr algn="l"/>
            <a:r>
              <a:rPr lang="ja-JP" altLang="en-US" sz="2000" b="1">
                <a:solidFill>
                  <a:schemeClr val="tx1">
                    <a:lumMod val="75000"/>
                    <a:lumOff val="25000"/>
                  </a:schemeClr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　　</a:t>
            </a:r>
            <a:r>
              <a:rPr sz="2000" b="1">
                <a:solidFill>
                  <a:schemeClr val="tx1">
                    <a:lumMod val="75000"/>
                    <a:lumOff val="25000"/>
                  </a:schemeClr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自動エスカレーション</a:t>
            </a:r>
          </a:p>
        </p:txBody>
      </p:sp>
      <p:sp>
        <p:nvSpPr>
          <p:cNvPr id="98" name="Rounded Rectangle 56">
            <a:extLst>
              <a:ext uri="{FF2B5EF4-FFF2-40B4-BE49-F238E27FC236}">
                <a16:creationId xmlns:a16="http://schemas.microsoft.com/office/drawing/2014/main" id="{4AD95294-666D-FEB9-A57B-A07BD56E173D}"/>
              </a:ext>
            </a:extLst>
          </p:cNvPr>
          <p:cNvSpPr/>
          <p:nvPr/>
        </p:nvSpPr>
        <p:spPr>
          <a:xfrm>
            <a:off x="8284029" y="4552318"/>
            <a:ext cx="1043402" cy="402336"/>
          </a:xfrm>
          <a:prstGeom prst="roundRect">
            <a:avLst>
              <a:gd name="adj" fmla="val 12000"/>
            </a:avLst>
          </a:prstGeom>
          <a:solidFill>
            <a:srgbClr val="DC2626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10000"/>
              </a:lnSpc>
            </a:pPr>
            <a:r>
              <a:rPr sz="1600" b="1">
                <a:solidFill>
                  <a:srgbClr val="FFFFFF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24h放置</a:t>
            </a:r>
          </a:p>
        </p:txBody>
      </p:sp>
      <p:cxnSp>
        <p:nvCxnSpPr>
          <p:cNvPr id="99" name="Connector 57">
            <a:extLst>
              <a:ext uri="{FF2B5EF4-FFF2-40B4-BE49-F238E27FC236}">
                <a16:creationId xmlns:a16="http://schemas.microsoft.com/office/drawing/2014/main" id="{2AAD3973-EA96-C3AD-00B3-B430FDCADF08}"/>
              </a:ext>
            </a:extLst>
          </p:cNvPr>
          <p:cNvCxnSpPr>
            <a:cxnSpLocks/>
          </p:cNvCxnSpPr>
          <p:nvPr/>
        </p:nvCxnSpPr>
        <p:spPr>
          <a:xfrm>
            <a:off x="9292435" y="4753486"/>
            <a:ext cx="263596" cy="0"/>
          </a:xfrm>
          <a:prstGeom prst="line">
            <a:avLst/>
          </a:prstGeom>
          <a:ln w="25400">
            <a:solidFill>
              <a:srgbClr val="2563EB"/>
            </a:solidFill>
            <a:headEnd type="none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" name="Rounded Rectangle 58">
            <a:extLst>
              <a:ext uri="{FF2B5EF4-FFF2-40B4-BE49-F238E27FC236}">
                <a16:creationId xmlns:a16="http://schemas.microsoft.com/office/drawing/2014/main" id="{7D782288-2901-7BD5-F47C-1A99B5F02B2A}"/>
              </a:ext>
            </a:extLst>
          </p:cNvPr>
          <p:cNvSpPr/>
          <p:nvPr/>
        </p:nvSpPr>
        <p:spPr>
          <a:xfrm>
            <a:off x="9390453" y="4552318"/>
            <a:ext cx="1043402" cy="402336"/>
          </a:xfrm>
          <a:prstGeom prst="roundRect">
            <a:avLst>
              <a:gd name="adj" fmla="val 12000"/>
            </a:avLst>
          </a:prstGeom>
          <a:solidFill>
            <a:srgbClr val="4B5563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10000"/>
              </a:lnSpc>
            </a:pPr>
            <a:r>
              <a:rPr sz="1600" b="1">
                <a:solidFill>
                  <a:srgbClr val="FFFFFF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DM再送</a:t>
            </a:r>
          </a:p>
        </p:txBody>
      </p:sp>
      <p:cxnSp>
        <p:nvCxnSpPr>
          <p:cNvPr id="101" name="Connector 59">
            <a:extLst>
              <a:ext uri="{FF2B5EF4-FFF2-40B4-BE49-F238E27FC236}">
                <a16:creationId xmlns:a16="http://schemas.microsoft.com/office/drawing/2014/main" id="{1217CD42-81FD-E3E7-9553-301D41933E30}"/>
              </a:ext>
            </a:extLst>
          </p:cNvPr>
          <p:cNvCxnSpPr>
            <a:cxnSpLocks/>
          </p:cNvCxnSpPr>
          <p:nvPr/>
        </p:nvCxnSpPr>
        <p:spPr>
          <a:xfrm>
            <a:off x="10398859" y="4753486"/>
            <a:ext cx="263596" cy="0"/>
          </a:xfrm>
          <a:prstGeom prst="line">
            <a:avLst/>
          </a:prstGeom>
          <a:ln w="25400">
            <a:solidFill>
              <a:srgbClr val="2563EB"/>
            </a:solidFill>
            <a:headEnd type="none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2" name="Rounded Rectangle 60">
            <a:extLst>
              <a:ext uri="{FF2B5EF4-FFF2-40B4-BE49-F238E27FC236}">
                <a16:creationId xmlns:a16="http://schemas.microsoft.com/office/drawing/2014/main" id="{DE809F1A-4DE0-AFD1-1177-823191E046CC}"/>
              </a:ext>
            </a:extLst>
          </p:cNvPr>
          <p:cNvSpPr/>
          <p:nvPr/>
        </p:nvSpPr>
        <p:spPr>
          <a:xfrm>
            <a:off x="10496877" y="4552318"/>
            <a:ext cx="1259322" cy="402336"/>
          </a:xfrm>
          <a:prstGeom prst="roundRect">
            <a:avLst>
              <a:gd name="adj" fmla="val 12000"/>
            </a:avLst>
          </a:prstGeom>
          <a:solidFill>
            <a:srgbClr val="DC2626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10000"/>
              </a:lnSpc>
            </a:pPr>
            <a:r>
              <a:rPr sz="1600" b="1">
                <a:solidFill>
                  <a:srgbClr val="FFFFFF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上長へ通知</a:t>
            </a:r>
          </a:p>
        </p:txBody>
      </p:sp>
      <p:sp>
        <p:nvSpPr>
          <p:cNvPr id="103" name="TextBox 61">
            <a:extLst>
              <a:ext uri="{FF2B5EF4-FFF2-40B4-BE49-F238E27FC236}">
                <a16:creationId xmlns:a16="http://schemas.microsoft.com/office/drawing/2014/main" id="{3867EE9D-E264-7CDA-D6FC-695CC3F235F6}"/>
              </a:ext>
            </a:extLst>
          </p:cNvPr>
          <p:cNvSpPr txBox="1"/>
          <p:nvPr/>
        </p:nvSpPr>
        <p:spPr>
          <a:xfrm>
            <a:off x="8100495" y="5050894"/>
            <a:ext cx="3774578" cy="33855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C2626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🔥 承認の"放置問題"を根絶できる！</a:t>
            </a:r>
          </a:p>
        </p:txBody>
      </p:sp>
      <p:cxnSp>
        <p:nvCxnSpPr>
          <p:cNvPr id="104" name="Connector 62">
            <a:extLst>
              <a:ext uri="{FF2B5EF4-FFF2-40B4-BE49-F238E27FC236}">
                <a16:creationId xmlns:a16="http://schemas.microsoft.com/office/drawing/2014/main" id="{EC6A86E5-6B3C-BA2A-D3A6-CFBD7E6204E1}"/>
              </a:ext>
            </a:extLst>
          </p:cNvPr>
          <p:cNvCxnSpPr/>
          <p:nvPr/>
        </p:nvCxnSpPr>
        <p:spPr>
          <a:xfrm>
            <a:off x="207264" y="5551932"/>
            <a:ext cx="11777472" cy="0"/>
          </a:xfrm>
          <a:prstGeom prst="line">
            <a:avLst/>
          </a:prstGeom>
          <a:ln w="10160">
            <a:solidFill>
              <a:srgbClr val="4B556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6" name="Rounded Rectangle 64">
            <a:extLst>
              <a:ext uri="{FF2B5EF4-FFF2-40B4-BE49-F238E27FC236}">
                <a16:creationId xmlns:a16="http://schemas.microsoft.com/office/drawing/2014/main" id="{B4D3B754-E4E7-D6CA-89E0-6943CB42D70F}"/>
              </a:ext>
            </a:extLst>
          </p:cNvPr>
          <p:cNvSpPr/>
          <p:nvPr/>
        </p:nvSpPr>
        <p:spPr>
          <a:xfrm>
            <a:off x="435927" y="5799353"/>
            <a:ext cx="3671316" cy="74980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5400">
            <a:solidFill>
              <a:srgbClr val="16A34A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107" name="TextBox 65">
            <a:extLst>
              <a:ext uri="{FF2B5EF4-FFF2-40B4-BE49-F238E27FC236}">
                <a16:creationId xmlns:a16="http://schemas.microsoft.com/office/drawing/2014/main" id="{53D275D1-73EE-D607-9A4F-44AD807B1E83}"/>
              </a:ext>
            </a:extLst>
          </p:cNvPr>
          <p:cNvSpPr txBox="1"/>
          <p:nvPr/>
        </p:nvSpPr>
        <p:spPr>
          <a:xfrm>
            <a:off x="429375" y="5807837"/>
            <a:ext cx="3218687" cy="461665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6A34A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🟢 Lv.1  基本</a:t>
            </a:r>
          </a:p>
        </p:txBody>
      </p:sp>
      <p:sp>
        <p:nvSpPr>
          <p:cNvPr id="108" name="TextBox 66">
            <a:extLst>
              <a:ext uri="{FF2B5EF4-FFF2-40B4-BE49-F238E27FC236}">
                <a16:creationId xmlns:a16="http://schemas.microsoft.com/office/drawing/2014/main" id="{02C325E8-4847-8ED5-B1FF-7EE78874B7E1}"/>
              </a:ext>
            </a:extLst>
          </p:cNvPr>
          <p:cNvSpPr txBox="1"/>
          <p:nvPr/>
        </p:nvSpPr>
        <p:spPr>
          <a:xfrm>
            <a:off x="943420" y="6174257"/>
            <a:ext cx="3218687" cy="369332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l"/>
            <a:r>
              <a:rPr b="1">
                <a:solidFill>
                  <a:srgbClr val="4B5563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まずはここから挑戦</a:t>
            </a:r>
          </a:p>
        </p:txBody>
      </p:sp>
      <p:sp>
        <p:nvSpPr>
          <p:cNvPr id="109" name="Rounded Rectangle 67">
            <a:extLst>
              <a:ext uri="{FF2B5EF4-FFF2-40B4-BE49-F238E27FC236}">
                <a16:creationId xmlns:a16="http://schemas.microsoft.com/office/drawing/2014/main" id="{D2F4B50E-3605-0CD2-7B64-B3B9EDC095A1}"/>
              </a:ext>
            </a:extLst>
          </p:cNvPr>
          <p:cNvSpPr/>
          <p:nvPr/>
        </p:nvSpPr>
        <p:spPr>
          <a:xfrm>
            <a:off x="4335842" y="5793327"/>
            <a:ext cx="3474720" cy="74980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5400">
            <a:solidFill>
              <a:srgbClr val="2563EB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110" name="TextBox 68">
            <a:extLst>
              <a:ext uri="{FF2B5EF4-FFF2-40B4-BE49-F238E27FC236}">
                <a16:creationId xmlns:a16="http://schemas.microsoft.com/office/drawing/2014/main" id="{799451E5-C477-EE69-96B6-D0BCDF031482}"/>
              </a:ext>
            </a:extLst>
          </p:cNvPr>
          <p:cNvSpPr txBox="1"/>
          <p:nvPr/>
        </p:nvSpPr>
        <p:spPr>
          <a:xfrm>
            <a:off x="4329290" y="5788915"/>
            <a:ext cx="3218687" cy="461665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2563EB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🔵 Lv.2  応用</a:t>
            </a:r>
          </a:p>
        </p:txBody>
      </p:sp>
      <p:sp>
        <p:nvSpPr>
          <p:cNvPr id="111" name="TextBox 69">
            <a:extLst>
              <a:ext uri="{FF2B5EF4-FFF2-40B4-BE49-F238E27FC236}">
                <a16:creationId xmlns:a16="http://schemas.microsoft.com/office/drawing/2014/main" id="{46633153-5A36-0F44-B00A-954D1B4143AC}"/>
              </a:ext>
            </a:extLst>
          </p:cNvPr>
          <p:cNvSpPr txBox="1"/>
          <p:nvPr/>
        </p:nvSpPr>
        <p:spPr>
          <a:xfrm>
            <a:off x="4965299" y="6185195"/>
            <a:ext cx="2544994" cy="369332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l"/>
            <a:r>
              <a:rPr b="1">
                <a:solidFill>
                  <a:srgbClr val="4B5563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一歩進んだ活用術</a:t>
            </a:r>
          </a:p>
        </p:txBody>
      </p:sp>
      <p:sp>
        <p:nvSpPr>
          <p:cNvPr id="112" name="Rounded Rectangle 70">
            <a:extLst>
              <a:ext uri="{FF2B5EF4-FFF2-40B4-BE49-F238E27FC236}">
                <a16:creationId xmlns:a16="http://schemas.microsoft.com/office/drawing/2014/main" id="{061C1971-5387-19CE-CEF3-EA02880BEB62}"/>
              </a:ext>
            </a:extLst>
          </p:cNvPr>
          <p:cNvSpPr/>
          <p:nvPr/>
        </p:nvSpPr>
        <p:spPr>
          <a:xfrm>
            <a:off x="8348396" y="5788518"/>
            <a:ext cx="3474720" cy="74980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5400">
            <a:solidFill>
              <a:srgbClr val="DC2626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113" name="TextBox 71">
            <a:extLst>
              <a:ext uri="{FF2B5EF4-FFF2-40B4-BE49-F238E27FC236}">
                <a16:creationId xmlns:a16="http://schemas.microsoft.com/office/drawing/2014/main" id="{98BD5023-13EE-C59C-E1BE-2EAAFB47F025}"/>
              </a:ext>
            </a:extLst>
          </p:cNvPr>
          <p:cNvSpPr txBox="1"/>
          <p:nvPr/>
        </p:nvSpPr>
        <p:spPr>
          <a:xfrm>
            <a:off x="8304951" y="5769634"/>
            <a:ext cx="3218687" cy="461665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DC2626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🔴 Lv.3  上級</a:t>
            </a:r>
          </a:p>
        </p:txBody>
      </p:sp>
      <p:sp>
        <p:nvSpPr>
          <p:cNvPr id="114" name="TextBox 72">
            <a:extLst>
              <a:ext uri="{FF2B5EF4-FFF2-40B4-BE49-F238E27FC236}">
                <a16:creationId xmlns:a16="http://schemas.microsoft.com/office/drawing/2014/main" id="{3FD0D4FB-B82E-999F-7C87-DFD4579E5552}"/>
              </a:ext>
            </a:extLst>
          </p:cNvPr>
          <p:cNvSpPr txBox="1"/>
          <p:nvPr/>
        </p:nvSpPr>
        <p:spPr>
          <a:xfrm>
            <a:off x="9244509" y="6180067"/>
            <a:ext cx="2745749" cy="369332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l"/>
            <a:r>
              <a:rPr b="1">
                <a:solidFill>
                  <a:srgbClr val="4B5563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保証テクニック</a:t>
            </a:r>
          </a:p>
        </p:txBody>
      </p:sp>
      <p:pic>
        <p:nvPicPr>
          <p:cNvPr id="118" name="Image 10" descr="preencoded.png">
            <a:extLst>
              <a:ext uri="{FF2B5EF4-FFF2-40B4-BE49-F238E27FC236}">
                <a16:creationId xmlns:a16="http://schemas.microsoft.com/office/drawing/2014/main" id="{BBB2D79F-E15C-90B9-07C0-F89F494A9FE9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-80" r="-80"/>
          <a:stretch/>
        </p:blipFill>
        <p:spPr>
          <a:xfrm>
            <a:off x="1410899" y="4500994"/>
            <a:ext cx="250991" cy="50118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19" name="Image 10" descr="preencoded.png">
            <a:extLst>
              <a:ext uri="{FF2B5EF4-FFF2-40B4-BE49-F238E27FC236}">
                <a16:creationId xmlns:a16="http://schemas.microsoft.com/office/drawing/2014/main" id="{0A86281D-963D-911C-F3EE-BB3F92BC2D8D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-80" r="-80"/>
          <a:stretch/>
        </p:blipFill>
        <p:spPr>
          <a:xfrm>
            <a:off x="2697640" y="4505371"/>
            <a:ext cx="250991" cy="50118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20" name="Image 10" descr="preencoded.png">
            <a:extLst>
              <a:ext uri="{FF2B5EF4-FFF2-40B4-BE49-F238E27FC236}">
                <a16:creationId xmlns:a16="http://schemas.microsoft.com/office/drawing/2014/main" id="{49EE2223-093E-BC4F-1C2B-2E1366D51C82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-80" r="-80"/>
          <a:stretch/>
        </p:blipFill>
        <p:spPr>
          <a:xfrm>
            <a:off x="5333497" y="4526416"/>
            <a:ext cx="250991" cy="50118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21" name="Image 10" descr="preencoded.png">
            <a:extLst>
              <a:ext uri="{FF2B5EF4-FFF2-40B4-BE49-F238E27FC236}">
                <a16:creationId xmlns:a16="http://schemas.microsoft.com/office/drawing/2014/main" id="{5CFB4660-7E41-154A-6F76-077BDF2DD7A3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-80" r="-80"/>
          <a:stretch/>
        </p:blipFill>
        <p:spPr>
          <a:xfrm>
            <a:off x="6645494" y="4533206"/>
            <a:ext cx="250991" cy="50118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22" name="Rounded Rectangle 36">
            <a:extLst>
              <a:ext uri="{FF2B5EF4-FFF2-40B4-BE49-F238E27FC236}">
                <a16:creationId xmlns:a16="http://schemas.microsoft.com/office/drawing/2014/main" id="{C6CCBFE8-A63E-03CB-F884-6CC55597A6A1}"/>
              </a:ext>
            </a:extLst>
          </p:cNvPr>
          <p:cNvSpPr/>
          <p:nvPr/>
        </p:nvSpPr>
        <p:spPr>
          <a:xfrm>
            <a:off x="4138300" y="3851599"/>
            <a:ext cx="916295" cy="374536"/>
          </a:xfrm>
          <a:prstGeom prst="roundRect">
            <a:avLst>
              <a:gd name="adj" fmla="val 16000"/>
            </a:avLst>
          </a:prstGeom>
          <a:solidFill>
            <a:srgbClr val="DC2626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10000"/>
              </a:lnSpc>
            </a:pPr>
            <a:r>
              <a:rPr sz="2800" b="1">
                <a:solidFill>
                  <a:srgbClr val="FFFFFF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Lv.3</a:t>
            </a:r>
          </a:p>
        </p:txBody>
      </p:sp>
      <p:sp>
        <p:nvSpPr>
          <p:cNvPr id="123" name="Rounded Rectangle 36">
            <a:extLst>
              <a:ext uri="{FF2B5EF4-FFF2-40B4-BE49-F238E27FC236}">
                <a16:creationId xmlns:a16="http://schemas.microsoft.com/office/drawing/2014/main" id="{644917AF-2E5D-0BF6-BC35-9764D091FED2}"/>
              </a:ext>
            </a:extLst>
          </p:cNvPr>
          <p:cNvSpPr/>
          <p:nvPr/>
        </p:nvSpPr>
        <p:spPr>
          <a:xfrm>
            <a:off x="7982005" y="3851599"/>
            <a:ext cx="916295" cy="374536"/>
          </a:xfrm>
          <a:prstGeom prst="roundRect">
            <a:avLst>
              <a:gd name="adj" fmla="val 16000"/>
            </a:avLst>
          </a:prstGeom>
          <a:solidFill>
            <a:srgbClr val="DC2626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10000"/>
              </a:lnSpc>
            </a:pPr>
            <a:r>
              <a:rPr sz="2800" b="1">
                <a:solidFill>
                  <a:srgbClr val="FFFFFF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Lv.3</a:t>
            </a:r>
          </a:p>
        </p:txBody>
      </p:sp>
      <p:sp>
        <p:nvSpPr>
          <p:cNvPr id="60" name="Rounded Rectangle 26">
            <a:extLst>
              <a:ext uri="{FF2B5EF4-FFF2-40B4-BE49-F238E27FC236}">
                <a16:creationId xmlns:a16="http://schemas.microsoft.com/office/drawing/2014/main" id="{4F97F8B6-CD9E-2853-13C7-4561537343C1}"/>
              </a:ext>
            </a:extLst>
          </p:cNvPr>
          <p:cNvSpPr/>
          <p:nvPr/>
        </p:nvSpPr>
        <p:spPr>
          <a:xfrm>
            <a:off x="7592886" y="2277114"/>
            <a:ext cx="1447539" cy="384048"/>
          </a:xfrm>
          <a:prstGeom prst="roundRect">
            <a:avLst>
              <a:gd name="adj" fmla="val 12000"/>
            </a:avLst>
          </a:prstGeom>
          <a:solidFill>
            <a:srgbClr val="2563EB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10000"/>
              </a:lnSpc>
            </a:pPr>
            <a:r>
              <a:rPr sz="1600" b="1">
                <a:solidFill>
                  <a:srgbClr val="FFFFFF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自分チャット</a:t>
            </a:r>
          </a:p>
        </p:txBody>
      </p:sp>
      <p:pic>
        <p:nvPicPr>
          <p:cNvPr id="124" name="Image 10" descr="preencoded.png">
            <a:extLst>
              <a:ext uri="{FF2B5EF4-FFF2-40B4-BE49-F238E27FC236}">
                <a16:creationId xmlns:a16="http://schemas.microsoft.com/office/drawing/2014/main" id="{678D5B23-1D32-581C-CF8C-0C47D88A448D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-80" r="-80"/>
          <a:stretch/>
        </p:blipFill>
        <p:spPr>
          <a:xfrm>
            <a:off x="1396823" y="2247138"/>
            <a:ext cx="250991" cy="50118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25" name="Image 10" descr="preencoded.png">
            <a:extLst>
              <a:ext uri="{FF2B5EF4-FFF2-40B4-BE49-F238E27FC236}">
                <a16:creationId xmlns:a16="http://schemas.microsoft.com/office/drawing/2014/main" id="{621802D7-BEB4-8054-E01E-38DF73E28542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-80" r="-80"/>
          <a:stretch/>
        </p:blipFill>
        <p:spPr>
          <a:xfrm>
            <a:off x="4551474" y="2239585"/>
            <a:ext cx="250991" cy="50118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26" name="Image 10" descr="preencoded.png">
            <a:extLst>
              <a:ext uri="{FF2B5EF4-FFF2-40B4-BE49-F238E27FC236}">
                <a16:creationId xmlns:a16="http://schemas.microsoft.com/office/drawing/2014/main" id="{879E3807-19FF-FCD9-B872-9C67BE3D86AC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-80" r="-80"/>
          <a:stretch/>
        </p:blipFill>
        <p:spPr>
          <a:xfrm>
            <a:off x="7419292" y="2226391"/>
            <a:ext cx="250991" cy="50118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27" name="Image 10" descr="preencoded.png">
            <a:extLst>
              <a:ext uri="{FF2B5EF4-FFF2-40B4-BE49-F238E27FC236}">
                <a16:creationId xmlns:a16="http://schemas.microsoft.com/office/drawing/2014/main" id="{D0058E73-301D-46D0-40FD-752D64342B10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-80" r="-80"/>
          <a:stretch/>
        </p:blipFill>
        <p:spPr>
          <a:xfrm>
            <a:off x="10340296" y="2206496"/>
            <a:ext cx="250991" cy="50118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28" name="図 127" descr="The image depicts a simple, stylized representation of a human figure with two people in a heart shape, featuring a prominent 't' character on a purple background.&#10;&#10;AI 生成コンテンツは誤りを含む可能性があります。">
            <a:extLst>
              <a:ext uri="{FF2B5EF4-FFF2-40B4-BE49-F238E27FC236}">
                <a16:creationId xmlns:a16="http://schemas.microsoft.com/office/drawing/2014/main" id="{EC4E091D-4695-0C69-E249-6D98B63F049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7000" b="90000" l="9083" r="90000">
                        <a14:foregroundMark x1="40750" y1="23167" x2="43250" y2="15167"/>
                        <a14:foregroundMark x1="43250" y1="15167" x2="41083" y2="23167"/>
                        <a14:foregroundMark x1="41083" y1="23167" x2="39333" y2="23167"/>
                        <a14:foregroundMark x1="74750" y1="30833" x2="73750" y2="23750"/>
                        <a14:foregroundMark x1="73750" y1="23750" x2="75667" y2="19583"/>
                        <a14:foregroundMark x1="78250" y1="23333" x2="74000" y2="28083"/>
                        <a14:foregroundMark x1="46000" y1="12500" x2="30750" y2="14333"/>
                        <a14:foregroundMark x1="30750" y1="14333" x2="29583" y2="20000"/>
                        <a14:foregroundMark x1="38667" y1="7083" x2="38667" y2="7083"/>
                        <a14:foregroundMark x1="20750" y1="57917" x2="31750" y2="58583"/>
                        <a14:foregroundMark x1="31750" y1="58583" x2="39333" y2="57917"/>
                        <a14:foregroundMark x1="26750" y1="60667" x2="27083" y2="75250"/>
                        <a14:foregroundMark x1="9500" y1="54917" x2="9083" y2="74417"/>
                        <a14:foregroundMark x1="9083" y1="74417" x2="9667" y2="7516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811442" y="30611"/>
            <a:ext cx="1452468" cy="1452468"/>
          </a:xfrm>
          <a:prstGeom prst="rect">
            <a:avLst/>
          </a:prstGeom>
          <a:effectLst>
            <a:glow rad="127000">
              <a:schemeClr val="bg1">
                <a:alpha val="98000"/>
              </a:schemeClr>
            </a:glow>
          </a:effectLst>
        </p:spPr>
      </p:pic>
      <p:pic>
        <p:nvPicPr>
          <p:cNvPr id="2" name="Image 10" descr="preencoded.png">
            <a:extLst>
              <a:ext uri="{FF2B5EF4-FFF2-40B4-BE49-F238E27FC236}">
                <a16:creationId xmlns:a16="http://schemas.microsoft.com/office/drawing/2014/main" id="{6837FA55-F42D-5282-EED8-374A8ECB73F0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-80" r="-80"/>
          <a:stretch/>
        </p:blipFill>
        <p:spPr>
          <a:xfrm>
            <a:off x="9206658" y="4500994"/>
            <a:ext cx="250991" cy="50118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3" name="Image 10" descr="preencoded.png">
            <a:extLst>
              <a:ext uri="{FF2B5EF4-FFF2-40B4-BE49-F238E27FC236}">
                <a16:creationId xmlns:a16="http://schemas.microsoft.com/office/drawing/2014/main" id="{C4BEFA34-CD92-12D8-FC35-168B4A36F4A8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-80" r="-80"/>
          <a:stretch/>
        </p:blipFill>
        <p:spPr>
          <a:xfrm>
            <a:off x="10336331" y="4517099"/>
            <a:ext cx="250991" cy="50118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0" name="図 9" descr="The image depicts a cute, green, backpack-wearing character with a cheerful smile.&#10;&#10;AI 生成コンテンツは誤りを含む可能性があります。">
            <a:extLst>
              <a:ext uri="{FF2B5EF4-FFF2-40B4-BE49-F238E27FC236}">
                <a16:creationId xmlns:a16="http://schemas.microsoft.com/office/drawing/2014/main" id="{619D313E-A699-BC38-DBC6-BA4664A32A0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155244" y="5397946"/>
            <a:ext cx="1073521" cy="1669922"/>
          </a:xfrm>
          <a:prstGeom prst="rect">
            <a:avLst/>
          </a:prstGeom>
        </p:spPr>
      </p:pic>
      <p:pic>
        <p:nvPicPr>
          <p:cNvPr id="13" name="図 12" descr="A child sits at a desk, dressed in a blue skirt and white shoes, writing, with a red bowtie and a star on her desk.&#10;&#10;AI 生成コンテンツは誤りを含む可能性があります。">
            <a:extLst>
              <a:ext uri="{FF2B5EF4-FFF2-40B4-BE49-F238E27FC236}">
                <a16:creationId xmlns:a16="http://schemas.microsoft.com/office/drawing/2014/main" id="{AAA1BEDE-08D9-9ED8-5DA6-91222F8DA32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186689" y="5426271"/>
            <a:ext cx="1233976" cy="1661920"/>
          </a:xfrm>
          <a:prstGeom prst="rect">
            <a:avLst/>
          </a:prstGeom>
        </p:spPr>
      </p:pic>
      <p:pic>
        <p:nvPicPr>
          <p:cNvPr id="16" name="図 15" descr="The image depicts a character in a suit and tie holding a book and a conductor's baton, suggesting a role in a presentation or teaching scenario.&#10;&#10;AI 生成コンテンツは誤りを含む可能性があります。">
            <a:extLst>
              <a:ext uri="{FF2B5EF4-FFF2-40B4-BE49-F238E27FC236}">
                <a16:creationId xmlns:a16="http://schemas.microsoft.com/office/drawing/2014/main" id="{7541DCE1-0F6D-F263-82C8-15640B75412B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941563" y="5509759"/>
            <a:ext cx="1167479" cy="185641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