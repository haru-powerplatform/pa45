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832F73D-81AE-4FFC-6CDF-309699DEAE8F}"/>
              </a:ext>
            </a:extLst>
          </p:cNvPr>
          <p:cNvSpPr/>
          <p:nvPr/>
        </p:nvSpPr>
        <p:spPr>
          <a:xfrm>
            <a:off x="1253706" y="845389"/>
            <a:ext cx="9569855" cy="229425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76200">
              <a:schemeClr val="tx1">
                <a:lumMod val="65000"/>
                <a:lumOff val="35000"/>
                <a:alpha val="69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817DDB4-33D0-FE2B-B95F-7EB4FEFCB8A3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7】『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選択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(Select)』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アクションについて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A322440-4069-E3FE-A357-E398416D0C1F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BDA8C2F-3701-5F2B-49A1-928D199EE0A0}"/>
              </a:ext>
            </a:extLst>
          </p:cNvPr>
          <p:cNvSpPr txBox="1"/>
          <p:nvPr/>
        </p:nvSpPr>
        <p:spPr>
          <a:xfrm>
            <a:off x="2203902" y="698617"/>
            <a:ext cx="8619659" cy="844205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89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データを好きな形に成型する加工職人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F6C91C7D-D3FC-EF13-D3D3-7B40A501F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367" y="170956"/>
            <a:ext cx="1348575" cy="1348575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6D917D9-71DC-F125-6CDE-C99ED8677CFD}"/>
              </a:ext>
            </a:extLst>
          </p:cNvPr>
          <p:cNvCxnSpPr>
            <a:cxnSpLocks/>
          </p:cNvCxnSpPr>
          <p:nvPr/>
        </p:nvCxnSpPr>
        <p:spPr>
          <a:xfrm>
            <a:off x="5906307" y="3940462"/>
            <a:ext cx="0" cy="2624148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図 7" descr="白いバックグラウンドの前に座っている人形&#10;&#10;AI 生成コンテンツは誤りを含む可能性があります。">
            <a:extLst>
              <a:ext uri="{FF2B5EF4-FFF2-40B4-BE49-F238E27FC236}">
                <a16:creationId xmlns:a16="http://schemas.microsoft.com/office/drawing/2014/main" id="{E190AA39-B93D-3508-B49B-3FB4F203C8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3" y="797286"/>
            <a:ext cx="2013206" cy="2294251"/>
          </a:xfrm>
          <a:prstGeom prst="rect">
            <a:avLst/>
          </a:prstGeom>
        </p:spPr>
      </p:pic>
      <p:pic>
        <p:nvPicPr>
          <p:cNvPr id="21" name="図 20" descr="グラフィカル ユーザー インターフェイス, アプリケーション, Word&#10;&#10;AI 生成コンテンツは誤りを含む可能性があります。">
            <a:extLst>
              <a:ext uri="{FF2B5EF4-FFF2-40B4-BE49-F238E27FC236}">
                <a16:creationId xmlns:a16="http://schemas.microsoft.com/office/drawing/2014/main" id="{17DC12F3-2D1D-47A3-8E8C-7A9AF80735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1010"/>
          <a:stretch>
            <a:fillRect/>
          </a:stretch>
        </p:blipFill>
        <p:spPr>
          <a:xfrm>
            <a:off x="1800165" y="1621265"/>
            <a:ext cx="2813253" cy="13445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0ACCC48-77C9-D9CD-A4CD-FD3494A28F24}"/>
              </a:ext>
            </a:extLst>
          </p:cNvPr>
          <p:cNvSpPr txBox="1"/>
          <p:nvPr/>
        </p:nvSpPr>
        <p:spPr>
          <a:xfrm>
            <a:off x="4729682" y="1477281"/>
            <a:ext cx="59136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✅何を残すか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✅どういう名前にするか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✅どんな構造にするか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E1BCF73-C7CE-2AB9-D9AF-CCF402A7CBFC}"/>
              </a:ext>
            </a:extLst>
          </p:cNvPr>
          <p:cNvSpPr txBox="1"/>
          <p:nvPr/>
        </p:nvSpPr>
        <p:spPr>
          <a:xfrm>
            <a:off x="333452" y="3294131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65B6E3B-A059-41CF-BF1D-A126105B0936}"/>
              </a:ext>
            </a:extLst>
          </p:cNvPr>
          <p:cNvSpPr txBox="1"/>
          <p:nvPr/>
        </p:nvSpPr>
        <p:spPr>
          <a:xfrm>
            <a:off x="6057619" y="3164964"/>
            <a:ext cx="2591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8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after</a:t>
            </a: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87293F38-8BFB-45F2-3447-38C08001882A}"/>
              </a:ext>
            </a:extLst>
          </p:cNvPr>
          <p:cNvSpPr/>
          <p:nvPr/>
        </p:nvSpPr>
        <p:spPr>
          <a:xfrm>
            <a:off x="5199755" y="3524094"/>
            <a:ext cx="706552" cy="353323"/>
          </a:xfrm>
          <a:prstGeom prst="rightArrow">
            <a:avLst/>
          </a:prstGeom>
          <a:solidFill>
            <a:srgbClr val="FFFF00"/>
          </a:solidFill>
          <a:ln w="476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F987361-80D3-9E3F-7BBA-CB63C1994E2E}"/>
              </a:ext>
            </a:extLst>
          </p:cNvPr>
          <p:cNvSpPr txBox="1"/>
          <p:nvPr/>
        </p:nvSpPr>
        <p:spPr>
          <a:xfrm>
            <a:off x="138909" y="390134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},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花子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30,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総務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</a:t>
            </a:r>
          </a:p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5" name="図 34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BA6D2D9-FBC9-69EF-C75F-4158E6A911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0" y="5417485"/>
            <a:ext cx="1361344" cy="1516818"/>
          </a:xfrm>
          <a:prstGeom prst="rect">
            <a:avLst/>
          </a:prstGeom>
          <a:effectLst>
            <a:glow rad="88900">
              <a:schemeClr val="bg1">
                <a:alpha val="91000"/>
              </a:schemeClr>
            </a:glow>
          </a:effec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67A212F-70A2-0022-FFD1-7CD22DB856ED}"/>
              </a:ext>
            </a:extLst>
          </p:cNvPr>
          <p:cNvSpPr txBox="1"/>
          <p:nvPr/>
        </p:nvSpPr>
        <p:spPr>
          <a:xfrm>
            <a:off x="1593493" y="5671598"/>
            <a:ext cx="41387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不要なデータが多い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,,,</a:t>
            </a:r>
          </a:p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あと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『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年齢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』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は不要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,,,</a:t>
            </a:r>
          </a:p>
        </p:txBody>
      </p:sp>
      <p:pic>
        <p:nvPicPr>
          <p:cNvPr id="38" name="図 37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A121362-AE92-E4F9-2D46-43EAD280EE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3608" y="5018381"/>
            <a:ext cx="5524353" cy="13064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A83C9E5-5857-E4A9-39F9-60C94DB0F2D9}"/>
              </a:ext>
            </a:extLst>
          </p:cNvPr>
          <p:cNvSpPr txBox="1"/>
          <p:nvPr/>
        </p:nvSpPr>
        <p:spPr>
          <a:xfrm rot="159197">
            <a:off x="7722437" y="3285852"/>
            <a:ext cx="4596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氏名と部門だけで再構築出来るのが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『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選択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』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アクション！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7B9A32F-1C61-D8FF-6556-138773B7741A}"/>
              </a:ext>
            </a:extLst>
          </p:cNvPr>
          <p:cNvSpPr txBox="1"/>
          <p:nvPr/>
        </p:nvSpPr>
        <p:spPr>
          <a:xfrm>
            <a:off x="6355911" y="410313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氏名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},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氏名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花子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総務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073C903-C59C-5F42-53DF-DC9838DC7E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212" y="5244485"/>
            <a:ext cx="1152623" cy="1364051"/>
          </a:xfrm>
          <a:prstGeom prst="rect">
            <a:avLst/>
          </a:prstGeom>
          <a:effectLst>
            <a:glow rad="88900">
              <a:schemeClr val="bg1">
                <a:alpha val="83000"/>
              </a:schemeClr>
            </a:glow>
          </a:effectLst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2101957-1E33-9609-DB41-89D4D46C2383}"/>
              </a:ext>
            </a:extLst>
          </p:cNvPr>
          <p:cNvSpPr txBox="1"/>
          <p:nvPr/>
        </p:nvSpPr>
        <p:spPr>
          <a:xfrm>
            <a:off x="6095999" y="6324816"/>
            <a:ext cx="6278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後続フローでデータが扱いやすくなった！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17496A27-6B23-25E3-6F22-7BBE7A9B5A86}"/>
              </a:ext>
            </a:extLst>
          </p:cNvPr>
          <p:cNvSpPr/>
          <p:nvPr/>
        </p:nvSpPr>
        <p:spPr>
          <a:xfrm>
            <a:off x="6034287" y="5881138"/>
            <a:ext cx="912223" cy="322275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50800">
              <a:srgbClr val="0000CC">
                <a:alpha val="9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2A32FEFC-02B4-84DA-50BB-A20F2A165501}"/>
              </a:ext>
            </a:extLst>
          </p:cNvPr>
          <p:cNvSpPr/>
          <p:nvPr/>
        </p:nvSpPr>
        <p:spPr>
          <a:xfrm>
            <a:off x="6057619" y="5419473"/>
            <a:ext cx="912223" cy="322275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50800">
              <a:srgbClr val="0000CC">
                <a:alpha val="9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