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F9A8E4C-C504-39B9-51ED-37B0EB5D9C30}"/>
              </a:ext>
            </a:extLst>
          </p:cNvPr>
          <p:cNvSpPr txBox="1"/>
          <p:nvPr/>
        </p:nvSpPr>
        <p:spPr>
          <a:xfrm>
            <a:off x="364029" y="197292"/>
            <a:ext cx="110778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40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｜ツール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エージェントフロー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の役割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2201D7FC-147D-4DC7-8D17-DD9F88AB2872}"/>
              </a:ext>
            </a:extLst>
          </p:cNvPr>
          <p:cNvSpPr/>
          <p:nvPr/>
        </p:nvSpPr>
        <p:spPr>
          <a:xfrm>
            <a:off x="72315" y="65312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F19E8D3-B5C3-4D2F-DF14-621814D1CC61}"/>
              </a:ext>
            </a:extLst>
          </p:cNvPr>
          <p:cNvSpPr txBox="1"/>
          <p:nvPr/>
        </p:nvSpPr>
        <p:spPr>
          <a:xfrm>
            <a:off x="1254725" y="1734972"/>
            <a:ext cx="19469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5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会話</a:t>
            </a:r>
            <a:endParaRPr lang="en-US" altLang="ja-JP" sz="54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F95418F-D2EB-761E-00E5-6CBA3BEC62E3}"/>
              </a:ext>
            </a:extLst>
          </p:cNvPr>
          <p:cNvSpPr txBox="1"/>
          <p:nvPr/>
        </p:nvSpPr>
        <p:spPr>
          <a:xfrm>
            <a:off x="9963820" y="1656438"/>
            <a:ext cx="19469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54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実行</a:t>
            </a:r>
            <a:endParaRPr lang="en-US" altLang="ja-JP" sz="5400" b="1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8EA21978-0B11-9816-531C-70429F487EDF}"/>
              </a:ext>
            </a:extLst>
          </p:cNvPr>
          <p:cNvSpPr/>
          <p:nvPr/>
        </p:nvSpPr>
        <p:spPr>
          <a:xfrm>
            <a:off x="3286758" y="1880961"/>
            <a:ext cx="551888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397C36A-93B1-DF72-5287-B2B9EE7241B9}"/>
              </a:ext>
            </a:extLst>
          </p:cNvPr>
          <p:cNvSpPr txBox="1"/>
          <p:nvPr/>
        </p:nvSpPr>
        <p:spPr>
          <a:xfrm>
            <a:off x="478854" y="1008297"/>
            <a:ext cx="112700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ツール：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の「会話」を「現実の行動」に変換する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矢印: 右 1">
            <a:extLst>
              <a:ext uri="{FF2B5EF4-FFF2-40B4-BE49-F238E27FC236}">
                <a16:creationId xmlns:a16="http://schemas.microsoft.com/office/drawing/2014/main" id="{5AC3F265-77B4-B091-62E5-94FF57D73CCD}"/>
              </a:ext>
            </a:extLst>
          </p:cNvPr>
          <p:cNvSpPr/>
          <p:nvPr/>
        </p:nvSpPr>
        <p:spPr>
          <a:xfrm>
            <a:off x="8091392" y="1854731"/>
            <a:ext cx="551888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FF4DCCF-95CD-5206-3088-794744CBB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320" y="1705218"/>
            <a:ext cx="886397" cy="9233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図 5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83914E02-FC9F-5203-3DFE-D61724030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64" y="2842606"/>
            <a:ext cx="8092281" cy="37062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EEC7DE8-010C-1EA2-5EE8-F495250DBCFD}"/>
              </a:ext>
            </a:extLst>
          </p:cNvPr>
          <p:cNvSpPr/>
          <p:nvPr/>
        </p:nvSpPr>
        <p:spPr>
          <a:xfrm>
            <a:off x="553398" y="4313618"/>
            <a:ext cx="2040277" cy="1040510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3A5BEB5-61EE-E60C-EDFF-6AC3C16F43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010" y="2761494"/>
            <a:ext cx="1386531" cy="1640866"/>
          </a:xfrm>
          <a:prstGeom prst="rect">
            <a:avLst/>
          </a:prstGeom>
        </p:spPr>
      </p:pic>
      <p:pic>
        <p:nvPicPr>
          <p:cNvPr id="52" name="図 5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0836A91E-7307-2BED-A0B9-DBA62D09AD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148" b="95370" l="7588" r="95331">
                        <a14:foregroundMark x1="29377" y1="38148" x2="29377" y2="38148"/>
                        <a14:foregroundMark x1="17315" y1="33519" x2="21012" y2="68704"/>
                        <a14:foregroundMark x1="13619" y1="37593" x2="14397" y2="59444"/>
                        <a14:foregroundMark x1="14397" y1="59444" x2="14786" y2="59444"/>
                        <a14:foregroundMark x1="11673" y1="44074" x2="11284" y2="62407"/>
                        <a14:foregroundMark x1="9144" y1="43333" x2="9144" y2="43333"/>
                        <a14:foregroundMark x1="9339" y1="49259" x2="7782" y2="41667"/>
                        <a14:foregroundMark x1="90467" y1="31481" x2="81907" y2="67037"/>
                        <a14:foregroundMark x1="81907" y1="67037" x2="53307" y2="91667"/>
                        <a14:foregroundMark x1="52529" y1="7407" x2="52529" y2="7407"/>
                        <a14:foregroundMark x1="95525" y1="23148" x2="95525" y2="23148"/>
                        <a14:foregroundMark x1="51556" y1="3333" x2="51556" y2="3333"/>
                        <a14:foregroundMark x1="50778" y1="95370" x2="50778" y2="95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6280" y="1802309"/>
            <a:ext cx="673802" cy="707886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13" name="図 12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52FB5B48-BFE8-29DF-2013-2793602C9C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9858" y="1656438"/>
            <a:ext cx="2124209" cy="9996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5A1F170-8A22-62D9-61D5-37FB463A4471}"/>
              </a:ext>
            </a:extLst>
          </p:cNvPr>
          <p:cNvSpPr txBox="1"/>
          <p:nvPr/>
        </p:nvSpPr>
        <p:spPr>
          <a:xfrm>
            <a:off x="9078064" y="3447276"/>
            <a:ext cx="301253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判断 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↓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条件分岐 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↓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Teams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投稿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 ＋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ja-JP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Dataverse</a:t>
            </a:r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登録</a:t>
            </a:r>
            <a:endParaRPr lang="en-US" altLang="ja-JP"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D1A6F0E-72DC-B51D-0E39-59E6A918151A}"/>
              </a:ext>
            </a:extLst>
          </p:cNvPr>
          <p:cNvSpPr txBox="1"/>
          <p:nvPr/>
        </p:nvSpPr>
        <p:spPr>
          <a:xfrm>
            <a:off x="9559332" y="2825950"/>
            <a:ext cx="24862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行動例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】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A60C69B9-538A-2655-A7ED-645CC621A6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0605" y="1705218"/>
            <a:ext cx="916688" cy="757264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A9D69E26-2566-86AC-7250-C8483C9DDA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4988" y="3950699"/>
            <a:ext cx="652836" cy="539299"/>
          </a:xfrm>
          <a:prstGeom prst="rect">
            <a:avLst/>
          </a:prstGeom>
        </p:spPr>
      </p:pic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16E4BC79-B27D-6723-8DF5-B2EDBB8C8EA5}"/>
              </a:ext>
            </a:extLst>
          </p:cNvPr>
          <p:cNvSpPr/>
          <p:nvPr/>
        </p:nvSpPr>
        <p:spPr>
          <a:xfrm>
            <a:off x="9207260" y="2761494"/>
            <a:ext cx="2791658" cy="3802703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矢印: 右 22">
            <a:extLst>
              <a:ext uri="{FF2B5EF4-FFF2-40B4-BE49-F238E27FC236}">
                <a16:creationId xmlns:a16="http://schemas.microsoft.com/office/drawing/2014/main" id="{7E6CD163-389A-616F-2949-1E0FBDA2BD99}"/>
              </a:ext>
            </a:extLst>
          </p:cNvPr>
          <p:cNvSpPr/>
          <p:nvPr/>
        </p:nvSpPr>
        <p:spPr>
          <a:xfrm>
            <a:off x="8608745" y="4358970"/>
            <a:ext cx="551888" cy="537226"/>
          </a:xfrm>
          <a:prstGeom prst="rightArrow">
            <a:avLst/>
          </a:prstGeom>
          <a:solidFill>
            <a:schemeClr val="bg1"/>
          </a:solidFill>
          <a:ln w="28575"/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C04AFB5-B054-4291-C3B4-4DBF41CE3F94}"/>
              </a:ext>
            </a:extLst>
          </p:cNvPr>
          <p:cNvSpPr txBox="1"/>
          <p:nvPr/>
        </p:nvSpPr>
        <p:spPr>
          <a:xfrm>
            <a:off x="862193" y="6127731"/>
            <a:ext cx="83926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複数の行動を、</a:t>
            </a:r>
            <a:r>
              <a:rPr lang="en-US" altLang="ja-JP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1</a:t>
            </a:r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つの“仕事”としてまとめる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