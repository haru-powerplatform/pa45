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BBFE6CF8-D7CF-1A23-2793-C9080102732B}"/>
              </a:ext>
            </a:extLst>
          </p:cNvPr>
          <p:cNvGrpSpPr/>
          <p:nvPr/>
        </p:nvGrpSpPr>
        <p:grpSpPr>
          <a:xfrm>
            <a:off x="3265322" y="1737351"/>
            <a:ext cx="4325112" cy="1918741"/>
            <a:chOff x="3370479" y="1314907"/>
            <a:chExt cx="4325112" cy="1918741"/>
          </a:xfrm>
        </p:grpSpPr>
        <p:pic>
          <p:nvPicPr>
            <p:cNvPr id="71" name="Image 11" descr="preencoded.png"/>
            <p:cNvPicPr>
              <a:picLocks noChangeAspect="1"/>
            </p:cNvPicPr>
            <p:nvPr/>
          </p:nvPicPr>
          <p:blipFill>
            <a:blip r:embed="rId3"/>
            <a:srcRect t="-7" b="-7"/>
            <a:stretch/>
          </p:blipFill>
          <p:spPr>
            <a:xfrm>
              <a:off x="3370479" y="1338097"/>
              <a:ext cx="4325112" cy="1895551"/>
            </a:xfrm>
            <a:prstGeom prst="rect">
              <a:avLst/>
            </a:prstGeom>
          </p:spPr>
        </p:pic>
        <p:sp>
          <p:nvSpPr>
            <p:cNvPr id="73" name="Text 59"/>
            <p:cNvSpPr txBox="1"/>
            <p:nvPr/>
          </p:nvSpPr>
          <p:spPr>
            <a:xfrm>
              <a:off x="3770986" y="1314907"/>
              <a:ext cx="118231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棚（元の配列）</a:t>
              </a:r>
              <a:endParaRPr lang="en-US" sz="1200" dirty="0"/>
            </a:p>
          </p:txBody>
        </p:sp>
        <p:pic>
          <p:nvPicPr>
            <p:cNvPr id="80" name="Image 14" descr="preencoded.png"/>
            <p:cNvPicPr>
              <a:picLocks noChangeAspect="1"/>
            </p:cNvPicPr>
            <p:nvPr/>
          </p:nvPicPr>
          <p:blipFill>
            <a:blip r:embed="rId4"/>
            <a:srcRect l="-33" r="-33"/>
            <a:stretch/>
          </p:blipFill>
          <p:spPr>
            <a:xfrm>
              <a:off x="3523183" y="1362456"/>
              <a:ext cx="171907" cy="152705"/>
            </a:xfrm>
            <a:prstGeom prst="rect">
              <a:avLst/>
            </a:prstGeom>
          </p:spPr>
        </p:pic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9227513F-B21C-EA29-C67C-03DF90ABACC1}"/>
                </a:ext>
              </a:extLst>
            </p:cNvPr>
            <p:cNvGrpSpPr/>
            <p:nvPr/>
          </p:nvGrpSpPr>
          <p:grpSpPr>
            <a:xfrm>
              <a:off x="3523183" y="1705356"/>
              <a:ext cx="4067251" cy="1238097"/>
              <a:chOff x="3523183" y="1705356"/>
              <a:chExt cx="4067251" cy="1238097"/>
            </a:xfrm>
          </p:grpSpPr>
          <p:sp>
            <p:nvSpPr>
              <p:cNvPr id="74" name="Shape 60"/>
              <p:cNvSpPr/>
              <p:nvPr/>
            </p:nvSpPr>
            <p:spPr>
              <a:xfrm>
                <a:off x="3523183" y="1705356"/>
                <a:ext cx="4067251" cy="362102"/>
              </a:xfrm>
              <a:prstGeom prst="roundRect">
                <a:avLst>
                  <a:gd name="adj" fmla="val 53163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pic>
            <p:nvPicPr>
              <p:cNvPr id="75" name="Image 12" descr="preencoded.png"/>
              <p:cNvPicPr>
                <a:picLocks noChangeAspect="1"/>
              </p:cNvPicPr>
              <p:nvPr/>
            </p:nvPicPr>
            <p:blipFill>
              <a:blip r:embed="rId5"/>
              <a:srcRect t="-100" b="-100"/>
              <a:stretch/>
            </p:blipFill>
            <p:spPr>
              <a:xfrm>
                <a:off x="3608222" y="1809598"/>
                <a:ext cx="114300" cy="152705"/>
              </a:xfrm>
              <a:prstGeom prst="rect">
                <a:avLst/>
              </a:prstGeom>
            </p:spPr>
          </p:pic>
          <p:sp>
            <p:nvSpPr>
              <p:cNvPr id="76" name="Text 61"/>
              <p:cNvSpPr txBox="1"/>
              <p:nvPr/>
            </p:nvSpPr>
            <p:spPr>
              <a:xfrm>
                <a:off x="3799332" y="1705356"/>
                <a:ext cx="943661" cy="3621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374151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Title: "会議A"</a:t>
                </a:r>
                <a:endParaRPr lang="en-US" sz="1000" dirty="0"/>
              </a:p>
            </p:txBody>
          </p:sp>
          <p:sp>
            <p:nvSpPr>
              <p:cNvPr id="77" name="Shape 62"/>
              <p:cNvSpPr/>
              <p:nvPr/>
            </p:nvSpPr>
            <p:spPr>
              <a:xfrm>
                <a:off x="3523183" y="2581351"/>
                <a:ext cx="4067251" cy="362102"/>
              </a:xfrm>
              <a:prstGeom prst="roundRect">
                <a:avLst>
                  <a:gd name="adj" fmla="val 53163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pic>
            <p:nvPicPr>
              <p:cNvPr id="78" name="Image 13" descr="preencoded.png"/>
              <p:cNvPicPr>
                <a:picLocks noChangeAspect="1"/>
              </p:cNvPicPr>
              <p:nvPr/>
            </p:nvPicPr>
            <p:blipFill>
              <a:blip r:embed="rId5"/>
              <a:srcRect t="-100" b="-100"/>
              <a:stretch/>
            </p:blipFill>
            <p:spPr>
              <a:xfrm>
                <a:off x="3608222" y="2686507"/>
                <a:ext cx="114300" cy="152705"/>
              </a:xfrm>
              <a:prstGeom prst="rect">
                <a:avLst/>
              </a:prstGeom>
            </p:spPr>
          </p:pic>
          <p:sp>
            <p:nvSpPr>
              <p:cNvPr id="79" name="Text 63"/>
              <p:cNvSpPr txBox="1"/>
              <p:nvPr/>
            </p:nvSpPr>
            <p:spPr>
              <a:xfrm>
                <a:off x="3799332" y="2581351"/>
                <a:ext cx="943661" cy="3621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374151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Title: "会議B"</a:t>
                </a:r>
                <a:endParaRPr lang="en-US" sz="1000" dirty="0"/>
              </a:p>
            </p:txBody>
          </p:sp>
          <p:sp>
            <p:nvSpPr>
              <p:cNvPr id="81" name="Shape 64"/>
              <p:cNvSpPr/>
              <p:nvPr/>
            </p:nvSpPr>
            <p:spPr>
              <a:xfrm>
                <a:off x="3523183" y="2143354"/>
                <a:ext cx="4067251" cy="362102"/>
              </a:xfrm>
              <a:prstGeom prst="roundRect">
                <a:avLst>
                  <a:gd name="adj" fmla="val 53163"/>
                </a:avLst>
              </a:prstGeom>
              <a:solidFill>
                <a:srgbClr val="FEF2F2">
                  <a:alpha val="60000"/>
                </a:srgbClr>
              </a:solidFill>
              <a:ln w="12700">
                <a:solidFill>
                  <a:srgbClr val="FEE2E2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3" name="Text 65"/>
              <p:cNvSpPr txBox="1"/>
              <p:nvPr/>
            </p:nvSpPr>
            <p:spPr>
              <a:xfrm>
                <a:off x="3799332" y="2143354"/>
                <a:ext cx="857707" cy="3621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6B7280">
                        <a:alpha val="60000"/>
                      </a:srgb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Title: "日報"</a:t>
                </a:r>
                <a:endParaRPr lang="en-US" sz="1000" dirty="0"/>
              </a:p>
            </p:txBody>
          </p:sp>
        </p:grpSp>
      </p:grp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04495"/>
            <a:ext cx="676656" cy="267005"/>
          </a:xfrm>
          <a:prstGeom prst="roundRect">
            <a:avLst>
              <a:gd name="adj" fmla="val 34246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428854" y="304495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245413" y="304495"/>
            <a:ext cx="187269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45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"/>
            <a:ext cx="924732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Filter array：棚の中から</a:t>
            </a:r>
            <a:r>
              <a:rPr lang="en-US" sz="27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“必要な引き出しだけ”</a:t>
            </a: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残す 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47979" y="1114654"/>
            <a:ext cx="81107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「条件」に合うデータだけをスパッと抜き出す魔法のアクション 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57200" y="1157630"/>
            <a:ext cx="171907" cy="19019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8"/>
          <a:srcRect l="-9" r="-9"/>
          <a:stretch/>
        </p:blipFill>
        <p:spPr>
          <a:xfrm>
            <a:off x="457200" y="1447495"/>
            <a:ext cx="2703881" cy="361919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/>
          <a:srcRect l="-382" r="-382"/>
          <a:stretch/>
        </p:blipFill>
        <p:spPr>
          <a:xfrm>
            <a:off x="629107" y="1314907"/>
            <a:ext cx="1457554" cy="3044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0412" y="1314907"/>
            <a:ext cx="11932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よくある悩み 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898" y="1399946"/>
            <a:ext cx="152705" cy="152705"/>
          </a:xfrm>
          <a:prstGeom prst="rect">
            <a:avLst/>
          </a:prstGeom>
        </p:spPr>
      </p:pic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0736F207-D50B-747A-9B6D-707A99AA2DD9}"/>
              </a:ext>
            </a:extLst>
          </p:cNvPr>
          <p:cNvGrpSpPr/>
          <p:nvPr/>
        </p:nvGrpSpPr>
        <p:grpSpPr>
          <a:xfrm>
            <a:off x="666598" y="1809598"/>
            <a:ext cx="2336292" cy="761695"/>
            <a:chOff x="666598" y="1809598"/>
            <a:chExt cx="2336292" cy="761695"/>
          </a:xfrm>
        </p:grpSpPr>
        <p:pic>
          <p:nvPicPr>
            <p:cNvPr id="15" name="Image 5" descr="preencoded.png"/>
            <p:cNvPicPr>
              <a:picLocks noChangeAspect="1"/>
            </p:cNvPicPr>
            <p:nvPr/>
          </p:nvPicPr>
          <p:blipFill>
            <a:blip r:embed="rId11"/>
            <a:srcRect l="-13" r="-13"/>
            <a:stretch/>
          </p:blipFill>
          <p:spPr>
            <a:xfrm>
              <a:off x="666598" y="1809598"/>
              <a:ext cx="2284171" cy="761695"/>
            </a:xfrm>
            <a:prstGeom prst="rect">
              <a:avLst/>
            </a:prstGeom>
          </p:spPr>
        </p:pic>
        <p:sp>
          <p:nvSpPr>
            <p:cNvPr id="16" name="Text 8"/>
            <p:cNvSpPr txBox="1"/>
            <p:nvPr/>
          </p:nvSpPr>
          <p:spPr>
            <a:xfrm>
              <a:off x="780898" y="1923898"/>
              <a:ext cx="222199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😩 データが多すぎる…</a:t>
              </a:r>
              <a:endParaRPr lang="en-US" sz="1000" dirty="0"/>
            </a:p>
          </p:txBody>
        </p:sp>
        <p:sp>
          <p:nvSpPr>
            <p:cNvPr id="17" name="Text 9"/>
            <p:cNvSpPr txBox="1"/>
            <p:nvPr/>
          </p:nvSpPr>
          <p:spPr>
            <a:xfrm>
              <a:off x="780898" y="2152498"/>
              <a:ext cx="2134210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全部ループすると時間がかかるしエラーの元！</a:t>
              </a:r>
              <a:endParaRPr lang="en-US" sz="900" dirty="0"/>
            </a:p>
          </p:txBody>
        </p:sp>
      </p:grp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1"/>
          <a:srcRect l="-13" r="-13"/>
          <a:stretch/>
        </p:blipFill>
        <p:spPr>
          <a:xfrm>
            <a:off x="666598" y="2723998"/>
            <a:ext cx="2284171" cy="76169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80898" y="2838298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🤔 条件分岐が面倒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780898" y="3066898"/>
            <a:ext cx="2134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「もし〜なら」を何個も書きたくない…</a:t>
            </a:r>
            <a:endParaRPr lang="en-US" sz="900" dirty="0"/>
          </a:p>
        </p:txBody>
      </p: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9A5EBBA1-625B-2D17-7F31-B84BD44F7101}"/>
              </a:ext>
            </a:extLst>
          </p:cNvPr>
          <p:cNvGrpSpPr/>
          <p:nvPr/>
        </p:nvGrpSpPr>
        <p:grpSpPr>
          <a:xfrm>
            <a:off x="666598" y="3638398"/>
            <a:ext cx="2286000" cy="780898"/>
            <a:chOff x="666598" y="3638398"/>
            <a:chExt cx="2286000" cy="780898"/>
          </a:xfrm>
        </p:grpSpPr>
        <p:sp>
          <p:nvSpPr>
            <p:cNvPr id="21" name="Shape 12"/>
            <p:cNvSpPr/>
            <p:nvPr/>
          </p:nvSpPr>
          <p:spPr>
            <a:xfrm>
              <a:off x="666598" y="3638398"/>
              <a:ext cx="2286000" cy="780898"/>
            </a:xfrm>
            <a:prstGeom prst="roundRect">
              <a:avLst>
                <a:gd name="adj" fmla="val 22848"/>
              </a:avLst>
            </a:prstGeom>
            <a:solidFill>
              <a:srgbClr val="F3F4F6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Text 13"/>
            <p:cNvSpPr txBox="1"/>
            <p:nvPr/>
          </p:nvSpPr>
          <p:spPr>
            <a:xfrm>
              <a:off x="708660" y="3762756"/>
              <a:ext cx="220187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混ざったデータ(配列)</a:t>
              </a:r>
              <a:endParaRPr lang="en-US" sz="900" dirty="0"/>
            </a:p>
          </p:txBody>
        </p:sp>
        <p:sp>
          <p:nvSpPr>
            <p:cNvPr id="23" name="Shape 14"/>
            <p:cNvSpPr/>
            <p:nvPr/>
          </p:nvSpPr>
          <p:spPr>
            <a:xfrm>
              <a:off x="11420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Text 15"/>
            <p:cNvSpPr txBox="1"/>
            <p:nvPr/>
          </p:nvSpPr>
          <p:spPr>
            <a:xfrm>
              <a:off x="11137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900" dirty="0"/>
            </a:p>
          </p:txBody>
        </p:sp>
        <p:sp>
          <p:nvSpPr>
            <p:cNvPr id="25" name="Shape 16"/>
            <p:cNvSpPr/>
            <p:nvPr/>
          </p:nvSpPr>
          <p:spPr>
            <a:xfrm>
              <a:off x="14849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ECAC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Text 17"/>
            <p:cNvSpPr txBox="1"/>
            <p:nvPr/>
          </p:nvSpPr>
          <p:spPr>
            <a:xfrm>
              <a:off x="14566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91B1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B</a:t>
              </a:r>
              <a:endParaRPr lang="en-US" sz="900" dirty="0"/>
            </a:p>
          </p:txBody>
        </p:sp>
        <p:sp>
          <p:nvSpPr>
            <p:cNvPr id="27" name="Shape 18"/>
            <p:cNvSpPr/>
            <p:nvPr/>
          </p:nvSpPr>
          <p:spPr>
            <a:xfrm>
              <a:off x="18278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Text 19"/>
            <p:cNvSpPr txBox="1"/>
            <p:nvPr/>
          </p:nvSpPr>
          <p:spPr>
            <a:xfrm>
              <a:off x="17995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900" dirty="0"/>
            </a:p>
          </p:txBody>
        </p:sp>
        <p:sp>
          <p:nvSpPr>
            <p:cNvPr id="29" name="Shape 20"/>
            <p:cNvSpPr/>
            <p:nvPr/>
          </p:nvSpPr>
          <p:spPr>
            <a:xfrm>
              <a:off x="21707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BF7D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Text 21"/>
            <p:cNvSpPr txBox="1"/>
            <p:nvPr/>
          </p:nvSpPr>
          <p:spPr>
            <a:xfrm>
              <a:off x="21424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</a:t>
              </a:r>
              <a:endParaRPr lang="en-US" sz="900" dirty="0"/>
            </a:p>
          </p:txBody>
        </p:sp>
      </p:grpSp>
      <p:sp>
        <p:nvSpPr>
          <p:cNvPr id="31" name="Shape 22"/>
          <p:cNvSpPr/>
          <p:nvPr/>
        </p:nvSpPr>
        <p:spPr>
          <a:xfrm>
            <a:off x="8096098" y="1447495"/>
            <a:ext cx="3648456" cy="3619195"/>
          </a:xfrm>
          <a:prstGeom prst="roundRect">
            <a:avLst>
              <a:gd name="adj" fmla="val 212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2"/>
          <a:srcRect l="-126" r="-126"/>
          <a:stretch/>
        </p:blipFill>
        <p:spPr>
          <a:xfrm>
            <a:off x="9499702" y="1304849"/>
            <a:ext cx="2076602" cy="30449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900209" y="1304849"/>
            <a:ext cx="184251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式を書かずにできる！ </a:t>
            </a:r>
            <a:endParaRPr lang="en-US" sz="12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3"/>
          <a:srcRect l="-33" r="-33"/>
          <a:stretch/>
        </p:blipFill>
        <p:spPr>
          <a:xfrm>
            <a:off x="9651492" y="1390802"/>
            <a:ext cx="171907" cy="15270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296351" y="1723644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設定画面のイメージ </a:t>
            </a:r>
            <a:endParaRPr lang="en-US" sz="13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4"/>
          <a:srcRect t="-5" b="-5"/>
          <a:stretch/>
        </p:blipFill>
        <p:spPr>
          <a:xfrm>
            <a:off x="8296351" y="2143354"/>
            <a:ext cx="3238805" cy="150510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2295144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差出人（From）</a:t>
            </a: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8458200" y="2495398"/>
            <a:ext cx="2924251" cy="362102"/>
          </a:xfrm>
          <a:prstGeom prst="roundRect">
            <a:avLst>
              <a:gd name="adj" fmla="val 53163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27"/>
          <p:cNvSpPr/>
          <p:nvPr/>
        </p:nvSpPr>
        <p:spPr>
          <a:xfrm>
            <a:off x="8581644" y="2581351"/>
            <a:ext cx="295351" cy="190195"/>
          </a:xfrm>
          <a:prstGeom prst="roundRect">
            <a:avLst>
              <a:gd name="adj" fmla="val 192308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28"/>
          <p:cNvSpPr txBox="1"/>
          <p:nvPr/>
        </p:nvSpPr>
        <p:spPr>
          <a:xfrm>
            <a:off x="8581644" y="2581351"/>
            <a:ext cx="3721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E2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⚡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8952890" y="2581351"/>
            <a:ext cx="884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本文 (Value)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8458200" y="2962656"/>
            <a:ext cx="12646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条件（Filter Query）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8458200" y="3161995"/>
            <a:ext cx="923544" cy="323698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32"/>
          <p:cNvSpPr txBox="1"/>
          <p:nvPr/>
        </p:nvSpPr>
        <p:spPr>
          <a:xfrm>
            <a:off x="8458200" y="3161995"/>
            <a:ext cx="9811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2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⚡</a:t>
            </a: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Title 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8505749" y="3247949"/>
            <a:ext cx="219456" cy="152705"/>
          </a:xfrm>
          <a:prstGeom prst="roundRect">
            <a:avLst>
              <a:gd name="adj" fmla="val 299401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4"/>
          <p:cNvSpPr txBox="1"/>
          <p:nvPr/>
        </p:nvSpPr>
        <p:spPr>
          <a:xfrm>
            <a:off x="8505749" y="3247949"/>
            <a:ext cx="295351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2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⚡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9454896" y="3161995"/>
            <a:ext cx="92354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36"/>
          <p:cNvSpPr txBox="1"/>
          <p:nvPr/>
        </p:nvSpPr>
        <p:spPr>
          <a:xfrm>
            <a:off x="9426550" y="3161995"/>
            <a:ext cx="9811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を含む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10452506" y="3161995"/>
            <a:ext cx="92354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38"/>
          <p:cNvSpPr txBox="1"/>
          <p:nvPr/>
        </p:nvSpPr>
        <p:spPr>
          <a:xfrm>
            <a:off x="10452506" y="3161995"/>
            <a:ext cx="9811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</a:t>
            </a:r>
            <a:endParaRPr lang="en-US" sz="900" dirty="0"/>
          </a:p>
        </p:txBody>
      </p:sp>
      <p:sp>
        <p:nvSpPr>
          <p:cNvPr id="51" name="Text 39"/>
          <p:cNvSpPr txBox="1"/>
          <p:nvPr/>
        </p:nvSpPr>
        <p:spPr>
          <a:xfrm>
            <a:off x="8296351" y="3877056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覚えるのはこの3つ 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8296351" y="4219956"/>
            <a:ext cx="3247949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41"/>
          <p:cNvSpPr/>
          <p:nvPr/>
        </p:nvSpPr>
        <p:spPr>
          <a:xfrm>
            <a:off x="8381390" y="4304995"/>
            <a:ext cx="228600" cy="2286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42"/>
          <p:cNvSpPr/>
          <p:nvPr/>
        </p:nvSpPr>
        <p:spPr>
          <a:xfrm>
            <a:off x="8353044" y="430499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8724290" y="4324198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等しい </a:t>
            </a: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(完全一致)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8296351" y="4695444"/>
            <a:ext cx="3247949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45"/>
          <p:cNvSpPr/>
          <p:nvPr/>
        </p:nvSpPr>
        <p:spPr>
          <a:xfrm>
            <a:off x="8381390" y="4781398"/>
            <a:ext cx="228600" cy="2286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46"/>
          <p:cNvSpPr/>
          <p:nvPr/>
        </p:nvSpPr>
        <p:spPr>
          <a:xfrm>
            <a:off x="8353044" y="4781398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8724290" y="4800600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を含む </a:t>
            </a: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(部分一致)</a:t>
            </a:r>
            <a:endParaRPr lang="en-US" sz="1000" dirty="0"/>
          </a:p>
        </p:txBody>
      </p:sp>
      <p:sp>
        <p:nvSpPr>
          <p:cNvPr id="60" name="Shape 48"/>
          <p:cNvSpPr/>
          <p:nvPr/>
        </p:nvSpPr>
        <p:spPr>
          <a:xfrm>
            <a:off x="8296351" y="5171846"/>
            <a:ext cx="3247949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49"/>
          <p:cNvSpPr/>
          <p:nvPr/>
        </p:nvSpPr>
        <p:spPr>
          <a:xfrm>
            <a:off x="8381390" y="5257800"/>
            <a:ext cx="228600" cy="2286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50"/>
          <p:cNvSpPr/>
          <p:nvPr/>
        </p:nvSpPr>
        <p:spPr>
          <a:xfrm>
            <a:off x="8353044" y="5257800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51"/>
          <p:cNvSpPr txBox="1"/>
          <p:nvPr/>
        </p:nvSpPr>
        <p:spPr>
          <a:xfrm>
            <a:off x="8724290" y="5277002"/>
            <a:ext cx="16852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より大きい </a:t>
            </a: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(数値・日付)</a:t>
            </a:r>
            <a:endParaRPr lang="en-US" sz="1000" dirty="0"/>
          </a:p>
        </p:txBody>
      </p:sp>
      <p:sp>
        <p:nvSpPr>
          <p:cNvPr id="64" name="Shape 52"/>
          <p:cNvSpPr/>
          <p:nvPr/>
        </p:nvSpPr>
        <p:spPr>
          <a:xfrm>
            <a:off x="0" y="5143500"/>
            <a:ext cx="12191695" cy="1714500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53"/>
          <p:cNvSpPr/>
          <p:nvPr/>
        </p:nvSpPr>
        <p:spPr>
          <a:xfrm>
            <a:off x="8906256" y="5411419"/>
            <a:ext cx="9144" cy="118140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54"/>
          <p:cNvSpPr txBox="1"/>
          <p:nvPr/>
        </p:nvSpPr>
        <p:spPr>
          <a:xfrm>
            <a:off x="676656" y="5411419"/>
            <a:ext cx="8115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ACC1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まとめ：まずは減らす！ </a:t>
            </a:r>
            <a:endParaRPr lang="en-US" sz="150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57200" y="5454396"/>
            <a:ext cx="142646" cy="190195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457200" y="5754319"/>
            <a:ext cx="8220456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棚（配列）は、そのままでは使いづらい。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まずは</a:t>
            </a:r>
            <a:r>
              <a:rPr lang="en-US" sz="1300" b="1" dirty="0">
                <a:solidFill>
                  <a:srgbClr val="FACC1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“必要な引き出しだけ”</a:t>
            </a: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に減らすのが鉄則。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Filter array は JSON で迷わないための必須スキルです。 </a:t>
            </a:r>
            <a:endParaRPr lang="en-US" sz="1300" dirty="0"/>
          </a:p>
        </p:txBody>
      </p:sp>
      <p:sp>
        <p:nvSpPr>
          <p:cNvPr id="69" name="Text 56"/>
          <p:cNvSpPr txBox="1"/>
          <p:nvPr/>
        </p:nvSpPr>
        <p:spPr>
          <a:xfrm>
            <a:off x="9832543" y="5715000"/>
            <a:ext cx="1910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初心者講座</a:t>
            </a:r>
            <a:endParaRPr lang="en-US" sz="1000" dirty="0"/>
          </a:p>
        </p:txBody>
      </p:sp>
      <p:sp>
        <p:nvSpPr>
          <p:cNvPr id="70" name="Text 57"/>
          <p:cNvSpPr txBox="1"/>
          <p:nvPr/>
        </p:nvSpPr>
        <p:spPr>
          <a:xfrm>
            <a:off x="9933127" y="594360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225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2200" dirty="0"/>
          </a:p>
        </p:txBody>
      </p:sp>
      <p:sp>
        <p:nvSpPr>
          <p:cNvPr id="72" name="Shape 58"/>
          <p:cNvSpPr/>
          <p:nvPr/>
        </p:nvSpPr>
        <p:spPr>
          <a:xfrm>
            <a:off x="3523183" y="1620317"/>
            <a:ext cx="40672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2" name="Image 15" descr="preencoded.png"/>
          <p:cNvPicPr>
            <a:picLocks noChangeAspect="1"/>
          </p:cNvPicPr>
          <p:nvPr/>
        </p:nvPicPr>
        <p:blipFill>
          <a:blip r:embed="rId16">
            <a:alphaModFix amt="60000"/>
          </a:blip>
          <a:srcRect t="-100" b="-100"/>
          <a:stretch/>
        </p:blipFill>
        <p:spPr>
          <a:xfrm>
            <a:off x="3608222" y="2247595"/>
            <a:ext cx="114300" cy="152705"/>
          </a:xfrm>
          <a:prstGeom prst="rect">
            <a:avLst/>
          </a:prstGeom>
        </p:spPr>
      </p:pic>
      <p:pic>
        <p:nvPicPr>
          <p:cNvPr id="84" name="Image 16" descr="preencoded.png"/>
          <p:cNvPicPr>
            <a:picLocks noChangeAspect="1"/>
          </p:cNvPicPr>
          <p:nvPr/>
        </p:nvPicPr>
        <p:blipFill>
          <a:blip r:embed="rId17"/>
          <a:srcRect t="-13" b="-13"/>
          <a:stretch/>
        </p:blipFill>
        <p:spPr>
          <a:xfrm>
            <a:off x="3389681" y="3877056"/>
            <a:ext cx="4325112" cy="1457554"/>
          </a:xfrm>
          <a:prstGeom prst="rect">
            <a:avLst/>
          </a:prstGeom>
        </p:spPr>
      </p:pic>
      <p:sp>
        <p:nvSpPr>
          <p:cNvPr id="85" name="Shape 66"/>
          <p:cNvSpPr/>
          <p:nvPr/>
        </p:nvSpPr>
        <p:spPr>
          <a:xfrm>
            <a:off x="3523183" y="4315054"/>
            <a:ext cx="4067251" cy="91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67"/>
          <p:cNvSpPr txBox="1"/>
          <p:nvPr/>
        </p:nvSpPr>
        <p:spPr>
          <a:xfrm>
            <a:off x="3732581" y="4009644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必要な引き出しだけ残る！</a:t>
            </a:r>
            <a:endParaRPr lang="en-US" sz="1200" dirty="0"/>
          </a:p>
        </p:txBody>
      </p:sp>
      <p:sp>
        <p:nvSpPr>
          <p:cNvPr id="87" name="Shape 68"/>
          <p:cNvSpPr/>
          <p:nvPr/>
        </p:nvSpPr>
        <p:spPr>
          <a:xfrm>
            <a:off x="3523183" y="4401007"/>
            <a:ext cx="4067251" cy="362102"/>
          </a:xfrm>
          <a:prstGeom prst="roundRect">
            <a:avLst>
              <a:gd name="adj" fmla="val 5316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8" name="Image 17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3608222" y="4505249"/>
            <a:ext cx="114300" cy="152705"/>
          </a:xfrm>
          <a:prstGeom prst="rect">
            <a:avLst/>
          </a:prstGeom>
        </p:spPr>
      </p:pic>
      <p:sp>
        <p:nvSpPr>
          <p:cNvPr id="89" name="Text 69"/>
          <p:cNvSpPr txBox="1"/>
          <p:nvPr/>
        </p:nvSpPr>
        <p:spPr>
          <a:xfrm>
            <a:off x="3799332" y="4401007"/>
            <a:ext cx="943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Title: "会議A"</a:t>
            </a:r>
            <a:endParaRPr lang="en-US" sz="1000" dirty="0"/>
          </a:p>
        </p:txBody>
      </p:sp>
      <p:sp>
        <p:nvSpPr>
          <p:cNvPr id="90" name="Shape 70"/>
          <p:cNvSpPr/>
          <p:nvPr/>
        </p:nvSpPr>
        <p:spPr>
          <a:xfrm>
            <a:off x="3523183" y="4839005"/>
            <a:ext cx="4067251" cy="362102"/>
          </a:xfrm>
          <a:prstGeom prst="roundRect">
            <a:avLst>
              <a:gd name="adj" fmla="val 5316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1" name="Image 18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3608222" y="4943246"/>
            <a:ext cx="114300" cy="152705"/>
          </a:xfrm>
          <a:prstGeom prst="rect">
            <a:avLst/>
          </a:prstGeom>
        </p:spPr>
      </p:pic>
      <p:sp>
        <p:nvSpPr>
          <p:cNvPr id="92" name="Text 71"/>
          <p:cNvSpPr txBox="1"/>
          <p:nvPr/>
        </p:nvSpPr>
        <p:spPr>
          <a:xfrm>
            <a:off x="3799332" y="4839005"/>
            <a:ext cx="943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Title: "会議B"</a:t>
            </a:r>
            <a:endParaRPr lang="en-US" sz="1000" dirty="0"/>
          </a:p>
        </p:txBody>
      </p:sp>
      <p:pic>
        <p:nvPicPr>
          <p:cNvPr id="93" name="Image 19" descr="preencoded.png"/>
          <p:cNvPicPr>
            <a:picLocks noChangeAspect="1"/>
          </p:cNvPicPr>
          <p:nvPr/>
        </p:nvPicPr>
        <p:blipFill>
          <a:blip r:embed="rId19"/>
          <a:srcRect t="-43" b="-43"/>
          <a:stretch/>
        </p:blipFill>
        <p:spPr>
          <a:xfrm>
            <a:off x="3523183" y="4058107"/>
            <a:ext cx="133502" cy="152705"/>
          </a:xfrm>
          <a:prstGeom prst="rect">
            <a:avLst/>
          </a:prstGeom>
        </p:spPr>
      </p:pic>
      <p:pic>
        <p:nvPicPr>
          <p:cNvPr id="94" name="Image 20" descr="preencoded.png"/>
          <p:cNvPicPr>
            <a:picLocks noChangeAspect="1"/>
          </p:cNvPicPr>
          <p:nvPr/>
        </p:nvPicPr>
        <p:blipFill>
          <a:blip r:embed="rId20">
            <a:alphaModFix amt="30000"/>
          </a:blip>
          <a:srcRect l="-400" r="-400"/>
          <a:stretch/>
        </p:blipFill>
        <p:spPr>
          <a:xfrm>
            <a:off x="5533034" y="3191256"/>
            <a:ext cx="38405" cy="571500"/>
          </a:xfrm>
          <a:prstGeom prst="rect">
            <a:avLst/>
          </a:prstGeom>
        </p:spPr>
      </p:pic>
      <p:grpSp>
        <p:nvGrpSpPr>
          <p:cNvPr id="103" name="グループ化 102">
            <a:extLst>
              <a:ext uri="{FF2B5EF4-FFF2-40B4-BE49-F238E27FC236}">
                <a16:creationId xmlns:a16="http://schemas.microsoft.com/office/drawing/2014/main" id="{D663C3BA-DCA2-DE2A-B013-4673618790C6}"/>
              </a:ext>
            </a:extLst>
          </p:cNvPr>
          <p:cNvGrpSpPr/>
          <p:nvPr/>
        </p:nvGrpSpPr>
        <p:grpSpPr>
          <a:xfrm>
            <a:off x="4587544" y="2485339"/>
            <a:ext cx="2820010" cy="629107"/>
            <a:chOff x="4270248" y="3191256"/>
            <a:chExt cx="2820010" cy="629107"/>
          </a:xfrm>
        </p:grpSpPr>
        <p:pic>
          <p:nvPicPr>
            <p:cNvPr id="95" name="Image 21" descr="preencoded.png"/>
            <p:cNvPicPr>
              <a:picLocks noChangeAspect="1"/>
            </p:cNvPicPr>
            <p:nvPr/>
          </p:nvPicPr>
          <p:blipFill>
            <a:blip r:embed="rId21"/>
            <a:srcRect t="-35" b="-35"/>
            <a:stretch/>
          </p:blipFill>
          <p:spPr>
            <a:xfrm>
              <a:off x="4270248" y="3191256"/>
              <a:ext cx="2820010" cy="629107"/>
            </a:xfrm>
            <a:prstGeom prst="rect">
              <a:avLst/>
            </a:prstGeom>
          </p:spPr>
        </p:pic>
        <p:pic>
          <p:nvPicPr>
            <p:cNvPr id="96" name="Image 22" descr="preencoded.png"/>
            <p:cNvPicPr>
              <a:picLocks noChangeAspect="1"/>
            </p:cNvPicPr>
            <p:nvPr/>
          </p:nvPicPr>
          <p:blipFill>
            <a:blip r:embed="rId22"/>
            <a:srcRect t="-17218" b="-17218"/>
            <a:stretch/>
          </p:blipFill>
          <p:spPr>
            <a:xfrm>
              <a:off x="4393692" y="3293669"/>
              <a:ext cx="276149" cy="371246"/>
            </a:xfrm>
            <a:prstGeom prst="rect">
              <a:avLst/>
            </a:prstGeom>
          </p:spPr>
        </p:pic>
        <p:sp>
          <p:nvSpPr>
            <p:cNvPr id="97" name="Text 72"/>
            <p:cNvSpPr txBox="1"/>
            <p:nvPr/>
          </p:nvSpPr>
          <p:spPr>
            <a:xfrm>
              <a:off x="4791456" y="3455518"/>
              <a:ext cx="2045513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条件：Title が "会議" を含む</a:t>
              </a:r>
              <a:endParaRPr lang="en-US" sz="1000" dirty="0"/>
            </a:p>
          </p:txBody>
        </p:sp>
        <p:sp>
          <p:nvSpPr>
            <p:cNvPr id="98" name="Text 73"/>
            <p:cNvSpPr txBox="1"/>
            <p:nvPr/>
          </p:nvSpPr>
          <p:spPr>
            <a:xfrm>
              <a:off x="4791456" y="3288182"/>
              <a:ext cx="207843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>
                      <a:alpha val="80000"/>
                    </a:srgb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アレイのフィルター処理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