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79" r:id="rId2"/>
    <p:sldId id="259" r:id="rId3"/>
    <p:sldId id="257" r:id="rId4"/>
    <p:sldId id="256" r:id="rId5"/>
    <p:sldId id="271" r:id="rId6"/>
    <p:sldId id="261" r:id="rId7"/>
    <p:sldId id="280" r:id="rId8"/>
    <p:sldId id="282" r:id="rId9"/>
    <p:sldId id="281" r:id="rId10"/>
    <p:sldId id="283" r:id="rId11"/>
    <p:sldId id="284" r:id="rId12"/>
    <p:sldId id="272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31A18-F8DF-4B0F-95F3-441F5794CAA8}" v="11" dt="2026-04-17T02:48:52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8" d="100"/>
          <a:sy n="118" d="100"/>
        </p:scale>
        <p:origin x="561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17T11:58:09.756" v="646" actId="20577"/>
      <pc:docMkLst>
        <pc:docMk/>
      </pc:docMkLst>
      <pc:sldChg chg="modSp mod">
        <pc:chgData name="Ueda Isamu" userId="35289799e0376f2e" providerId="LiveId" clId="{DD31E282-B62B-4911-91B6-43B1B98908F9}" dt="2026-04-17T02:13:28.377" v="23" actId="20577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58:09.756" v="646" actId="20577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05:56.530" v="641" actId="20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17T11:05:56.530" v="641" actId="20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add mod">
        <pc:chgData name="Ueda Isamu" userId="35289799e0376f2e" providerId="LiveId" clId="{DD31E282-B62B-4911-91B6-43B1B98908F9}" dt="2026-04-17T02:47:36.616" v="459" actId="1076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spChg chg="del">
          <ac:chgData name="Ueda Isamu" userId="35289799e0376f2e" providerId="LiveId" clId="{DD31E282-B62B-4911-91B6-43B1B98908F9}" dt="2026-04-17T02:14:56.587" v="133" actId="478"/>
          <ac:spMkLst>
            <pc:docMk/>
            <pc:sldMk cId="2459475835" sldId="281"/>
            <ac:spMk id="44" creationId="{F9B91B76-7920-EE96-CB51-D8B32827C982}"/>
          </ac:spMkLst>
        </pc:spChg>
        <pc:spChg chg="del">
          <ac:chgData name="Ueda Isamu" userId="35289799e0376f2e" providerId="LiveId" clId="{DD31E282-B62B-4911-91B6-43B1B98908F9}" dt="2026-04-17T02:14:51.542" v="131" actId="478"/>
          <ac:spMkLst>
            <pc:docMk/>
            <pc:sldMk cId="2459475835" sldId="281"/>
            <ac:spMk id="51" creationId="{F34FF253-528E-97DF-BF89-4A55B2E7EBC4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del mod">
          <ac:chgData name="Ueda Isamu" userId="35289799e0376f2e" providerId="LiveId" clId="{DD31E282-B62B-4911-91B6-43B1B98908F9}" dt="2026-04-17T02:21:19.453" v="195" actId="478"/>
          <ac:picMkLst>
            <pc:docMk/>
            <pc:sldMk cId="2459475835" sldId="281"/>
            <ac:picMk id="14" creationId="{A872EEC3-0079-B857-A352-13B0525469F2}"/>
          </ac:picMkLst>
        </pc:picChg>
        <pc:picChg chg="add del mod">
          <ac:chgData name="Ueda Isamu" userId="35289799e0376f2e" providerId="LiveId" clId="{DD31E282-B62B-4911-91B6-43B1B98908F9}" dt="2026-04-17T02:21:14.537" v="192" actId="478"/>
          <ac:picMkLst>
            <pc:docMk/>
            <pc:sldMk cId="2459475835" sldId="281"/>
            <ac:picMk id="16" creationId="{7B3B07E8-D558-44C5-F536-149592DC9066}"/>
          </ac:picMkLst>
        </pc:picChg>
        <pc:picChg chg="add del mod">
          <ac:chgData name="Ueda Isamu" userId="35289799e0376f2e" providerId="LiveId" clId="{DD31E282-B62B-4911-91B6-43B1B98908F9}" dt="2026-04-17T02:21:15.842" v="193" actId="478"/>
          <ac:picMkLst>
            <pc:docMk/>
            <pc:sldMk cId="2459475835" sldId="281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  <pc:picChg chg="del">
          <ac:chgData name="Ueda Isamu" userId="35289799e0376f2e" providerId="LiveId" clId="{DD31E282-B62B-4911-91B6-43B1B98908F9}" dt="2026-04-17T02:14:57.340" v="134" actId="478"/>
          <ac:picMkLst>
            <pc:docMk/>
            <pc:sldMk cId="2459475835" sldId="281"/>
            <ac:picMk id="43" creationId="{C2A29B6F-3C93-A1C3-76A2-A2F9DE2BAF70}"/>
          </ac:picMkLst>
        </pc:picChg>
      </pc:sldChg>
      <pc:sldChg chg="del">
        <pc:chgData name="Ueda Isamu" userId="35289799e0376f2e" providerId="LiveId" clId="{DD31E282-B62B-4911-91B6-43B1B98908F9}" dt="2026-04-17T01:08:17.011" v="0" actId="47"/>
        <pc:sldMkLst>
          <pc:docMk/>
          <pc:sldMk cId="0" sldId="282"/>
        </pc:sldMkLst>
      </pc:sldChg>
      <pc:sldChg chg="addSp modSp add mod ord">
        <pc:chgData name="Ueda Isamu" userId="35289799e0376f2e" providerId="LiveId" clId="{DD31E282-B62B-4911-91B6-43B1B98908F9}" dt="2026-04-17T02:21:10.454" v="191" actId="1076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17T02:21:10.454" v="191" actId="1076"/>
          <ac:spMkLst>
            <pc:docMk/>
            <pc:sldMk cId="3861659691" sldId="282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20:50.359" v="185" actId="1076"/>
          <ac:spMkLst>
            <pc:docMk/>
            <pc:sldMk cId="3861659691" sldId="282"/>
            <ac:spMk id="12" creationId="{B61745D9-8D46-A514-CF17-682EE8BDCFC1}"/>
          </ac:spMkLst>
        </pc:spChg>
        <pc:picChg chg="mod">
          <ac:chgData name="Ueda Isamu" userId="35289799e0376f2e" providerId="LiveId" clId="{DD31E282-B62B-4911-91B6-43B1B98908F9}" dt="2026-04-17T02:20:51.531" v="186" actId="1076"/>
          <ac:picMkLst>
            <pc:docMk/>
            <pc:sldMk cId="3861659691" sldId="282"/>
            <ac:picMk id="16" creationId="{7B3B07E8-D558-44C5-F536-149592DC9066}"/>
          </ac:picMkLst>
        </pc:picChg>
        <pc:picChg chg="mod">
          <ac:chgData name="Ueda Isamu" userId="35289799e0376f2e" providerId="LiveId" clId="{DD31E282-B62B-4911-91B6-43B1B98908F9}" dt="2026-04-17T02:20:53.535" v="187" actId="1076"/>
          <ac:picMkLst>
            <pc:docMk/>
            <pc:sldMk cId="3861659691" sldId="282"/>
            <ac:picMk id="18" creationId="{97FD49C7-206D-6C4B-3177-E4037E3C63D6}"/>
          </ac:picMkLst>
        </pc:picChg>
      </pc:sldChg>
      <pc:sldChg chg="addSp delSp modSp add mod">
        <pc:chgData name="Ueda Isamu" userId="35289799e0376f2e" providerId="LiveId" clId="{DD31E282-B62B-4911-91B6-43B1B98908F9}" dt="2026-04-17T02:48:27.942" v="511" actId="13926"/>
        <pc:sldMkLst>
          <pc:docMk/>
          <pc:sldMk cId="2686875315" sldId="283"/>
        </pc:sldMkLst>
        <pc:spChg chg="del">
          <ac:chgData name="Ueda Isamu" userId="35289799e0376f2e" providerId="LiveId" clId="{DD31E282-B62B-4911-91B6-43B1B98908F9}" dt="2026-04-17T02:42:39.360" v="251" actId="478"/>
          <ac:spMkLst>
            <pc:docMk/>
            <pc:sldMk cId="2686875315" sldId="283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  <pc:picChg chg="del">
          <ac:chgData name="Ueda Isamu" userId="35289799e0376f2e" providerId="LiveId" clId="{DD31E282-B62B-4911-91B6-43B1B98908F9}" dt="2026-04-17T02:42:36.546" v="248" actId="478"/>
          <ac:picMkLst>
            <pc:docMk/>
            <pc:sldMk cId="2686875315" sldId="283"/>
            <ac:picMk id="20" creationId="{73095EBC-5E6E-5317-87A5-17E37B58CC5E}"/>
          </ac:picMkLst>
        </pc:picChg>
        <pc:picChg chg="del">
          <ac:chgData name="Ueda Isamu" userId="35289799e0376f2e" providerId="LiveId" clId="{DD31E282-B62B-4911-91B6-43B1B98908F9}" dt="2026-04-17T02:42:37.963" v="250" actId="478"/>
          <ac:picMkLst>
            <pc:docMk/>
            <pc:sldMk cId="2686875315" sldId="283"/>
            <ac:picMk id="22" creationId="{79F3BB5C-856E-FA0C-3333-92328AEDB18C}"/>
          </ac:picMkLst>
        </pc:picChg>
        <pc:picChg chg="del">
          <ac:chgData name="Ueda Isamu" userId="35289799e0376f2e" providerId="LiveId" clId="{DD31E282-B62B-4911-91B6-43B1B98908F9}" dt="2026-04-17T02:42:52.661" v="253" actId="478"/>
          <ac:picMkLst>
            <pc:docMk/>
            <pc:sldMk cId="2686875315" sldId="283"/>
            <ac:picMk id="25" creationId="{24B8273A-79BB-524B-B355-12D0488F8274}"/>
          </ac:picMkLst>
        </pc:picChg>
        <pc:picChg chg="del">
          <ac:chgData name="Ueda Isamu" userId="35289799e0376f2e" providerId="LiveId" clId="{DD31E282-B62B-4911-91B6-43B1B98908F9}" dt="2026-04-17T02:42:37.130" v="249" actId="478"/>
          <ac:picMkLst>
            <pc:docMk/>
            <pc:sldMk cId="2686875315" sldId="283"/>
            <ac:picMk id="26" creationId="{90BB8993-B660-880F-C455-A312D2B2E10C}"/>
          </ac:picMkLst>
        </pc:picChg>
        <pc:picChg chg="del">
          <ac:chgData name="Ueda Isamu" userId="35289799e0376f2e" providerId="LiveId" clId="{DD31E282-B62B-4911-91B6-43B1B98908F9}" dt="2026-04-17T02:42:40.098" v="252" actId="478"/>
          <ac:picMkLst>
            <pc:docMk/>
            <pc:sldMk cId="2686875315" sldId="283"/>
            <ac:picMk id="27" creationId="{1540BB72-A70B-4993-9B89-22A2C53B10B1}"/>
          </ac:picMkLst>
        </pc:picChg>
      </pc:sldChg>
      <pc:sldChg chg="addSp delSp modSp add mod">
        <pc:chgData name="Ueda Isamu" userId="35289799e0376f2e" providerId="LiveId" clId="{DD31E282-B62B-4911-91B6-43B1B98908F9}" dt="2026-04-17T02:49:36.811" v="596" actId="478"/>
        <pc:sldMkLst>
          <pc:docMk/>
          <pc:sldMk cId="1541831861" sldId="284"/>
        </pc:sldMkLst>
        <pc:spChg chg="del mod">
          <ac:chgData name="Ueda Isamu" userId="35289799e0376f2e" providerId="LiveId" clId="{DD31E282-B62B-4911-91B6-43B1B98908F9}" dt="2026-04-17T02:48:54.791" v="522" actId="478"/>
          <ac:spMkLst>
            <pc:docMk/>
            <pc:sldMk cId="1541831861" sldId="284"/>
            <ac:spMk id="7" creationId="{00000000-0000-0000-0000-000000000000}"/>
          </ac:spMkLst>
        </pc:spChg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spChg chg="del">
          <ac:chgData name="Ueda Isamu" userId="35289799e0376f2e" providerId="LiveId" clId="{DD31E282-B62B-4911-91B6-43B1B98908F9}" dt="2026-04-17T02:48:43.215" v="514" actId="478"/>
          <ac:spMkLst>
            <pc:docMk/>
            <pc:sldMk cId="1541831861" sldId="284"/>
            <ac:spMk id="15" creationId="{B5DBE15C-3F0E-995C-C955-5A890D5C4AD0}"/>
          </ac:spMkLst>
        </pc:spChg>
        <pc:spChg chg="del">
          <ac:chgData name="Ueda Isamu" userId="35289799e0376f2e" providerId="LiveId" clId="{DD31E282-B62B-4911-91B6-43B1B98908F9}" dt="2026-04-17T02:48:49.830" v="519" actId="478"/>
          <ac:spMkLst>
            <pc:docMk/>
            <pc:sldMk cId="1541831861" sldId="284"/>
            <ac:spMk id="18" creationId="{7CBEC746-521C-9E2B-7D90-711E9905A4D7}"/>
          </ac:spMkLst>
        </pc:spChg>
        <pc:spChg chg="del">
          <ac:chgData name="Ueda Isamu" userId="35289799e0376f2e" providerId="LiveId" clId="{DD31E282-B62B-4911-91B6-43B1B98908F9}" dt="2026-04-17T02:49:36.811" v="596" actId="478"/>
          <ac:spMkLst>
            <pc:docMk/>
            <pc:sldMk cId="1541831861" sldId="284"/>
            <ac:spMk id="19" creationId="{B5110F6F-46C1-8584-E321-1DE91CADF579}"/>
          </ac:spMkLst>
        </pc:spChg>
        <pc:picChg chg="del">
          <ac:chgData name="Ueda Isamu" userId="35289799e0376f2e" providerId="LiveId" clId="{DD31E282-B62B-4911-91B6-43B1B98908F9}" dt="2026-04-17T02:48:41.561" v="513" actId="478"/>
          <ac:picMkLst>
            <pc:docMk/>
            <pc:sldMk cId="1541831861" sldId="284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17T02:48:47.863" v="518" actId="478"/>
          <ac:picMkLst>
            <pc:docMk/>
            <pc:sldMk cId="1541831861" sldId="284"/>
            <ac:picMk id="14" creationId="{25F6D668-986E-7313-5F03-1BEC504E4B18}"/>
          </ac:picMkLst>
        </pc:picChg>
        <pc:picChg chg="del">
          <ac:chgData name="Ueda Isamu" userId="35289799e0376f2e" providerId="LiveId" clId="{DD31E282-B62B-4911-91B6-43B1B98908F9}" dt="2026-04-17T02:48:44.024" v="515" actId="478"/>
          <ac:picMkLst>
            <pc:docMk/>
            <pc:sldMk cId="1541831861" sldId="284"/>
            <ac:picMk id="17" creationId="{F566F71E-C914-B0FA-ED5D-DC027EE1184D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【オープニング】</a:t>
            </a:r>
          </a:p>
          <a:p>
            <a:r>
              <a:rPr sz="1300"/>
              <a:t>第5回へようこそ！今日はついに「総復習回」です。</a:t>
            </a:r>
          </a:p>
          <a:p>
            <a:endParaRPr sz="1300"/>
          </a:p>
          <a:p>
            <a:r>
              <a:rPr sz="1300"/>
              <a:t>第1〜4回で学んだ4つのアクション、</a:t>
            </a:r>
          </a:p>
          <a:p>
            <a:r>
              <a:rPr sz="1300"/>
              <a:t>Initialize variable・Set variable・Condition・Apply to each、</a:t>
            </a:r>
          </a:p>
          <a:p>
            <a:r>
              <a:rPr sz="1300"/>
              <a:t>今日はこれを全部つなげて1本のフローを作ります。</a:t>
            </a:r>
          </a:p>
          <a:p>
            <a:endParaRPr sz="1300"/>
          </a:p>
          <a:p>
            <a:r>
              <a:rPr sz="1300"/>
              <a:t>料理に例えると——</a:t>
            </a:r>
          </a:p>
          <a:p>
            <a:r>
              <a:rPr sz="1300"/>
              <a:t>バラバラに覚えた食材を、今日初めて一つの料理として仕上げる日です。</a:t>
            </a:r>
          </a:p>
          <a:p>
            <a:r>
              <a:rPr sz="1300"/>
              <a:t>今日が終わると「あ、自動化ってこういうことか！」という感覚がつかめると思います。</a:t>
            </a:r>
          </a:p>
          <a:p>
            <a:endParaRPr sz="1300"/>
          </a:p>
          <a:p>
            <a:r>
              <a:rPr sz="1300"/>
              <a:t>それでは早速いきましょう！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【PA45の紹介】</a:t>
            </a:r>
          </a:p>
          <a:p>
            <a:r>
              <a:rPr sz="1300"/>
              <a:t>PA45は毎週木曜夜に開いている、45分完結のPower Automateハンズオン勉強会です。</a:t>
            </a:r>
          </a:p>
          <a:p>
            <a:endParaRPr sz="1300"/>
          </a:p>
          <a:p>
            <a:r>
              <a:rPr sz="1300"/>
              <a:t>3つの特徴をおさらいします。</a:t>
            </a:r>
          </a:p>
          <a:p>
            <a:r>
              <a:rPr sz="1300"/>
              <a:t>・45分完結：長い研修は不要。要点だけ凝縮しています。</a:t>
            </a:r>
          </a:p>
          <a:p>
            <a:r>
              <a:rPr sz="1300"/>
              <a:t>・実践型：座学ではなく、今日この場で実際に手を動かします。</a:t>
            </a:r>
          </a:p>
          <a:p>
            <a:r>
              <a:rPr sz="1300"/>
              <a:t>・一緒に作る：ゼロから一緒に作ることで、仕組みを体感で理解できます。</a:t>
            </a:r>
          </a:p>
          <a:p>
            <a:endParaRPr sz="1300"/>
          </a:p>
          <a:p>
            <a:r>
              <a:rPr sz="1300"/>
              <a:t>プログラミング経験はまったく必要ありません。</a:t>
            </a:r>
          </a:p>
          <a:p>
            <a:r>
              <a:rPr sz="1300"/>
              <a:t>むしろ「全然知らない」という方が一番伸びます。安心して進めてください。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【ルールの説明】</a:t>
            </a:r>
          </a:p>
          <a:p>
            <a:r>
              <a:rPr sz="1300"/>
              <a:t>ルールはシンプルです。</a:t>
            </a:r>
          </a:p>
          <a:p>
            <a:endParaRPr sz="1300"/>
          </a:p>
          <a:p>
            <a:r>
              <a:rPr sz="1300"/>
              <a:t>📌 学び合うために</a:t>
            </a:r>
          </a:p>
          <a:p>
            <a:r>
              <a:rPr sz="1300"/>
              <a:t>・誹謗中傷・不適切な発言はNG。みんなで気持ちよく学びましょう。</a:t>
            </a:r>
          </a:p>
          <a:p>
            <a:r>
              <a:rPr sz="1300"/>
              <a:t>・質問はチャットへ。「できた！」の声も大歓迎です。</a:t>
            </a:r>
          </a:p>
          <a:p>
            <a:endParaRPr sz="1300"/>
          </a:p>
          <a:p>
            <a:r>
              <a:rPr sz="1300"/>
              <a:t>📌 録画について</a:t>
            </a:r>
          </a:p>
          <a:p>
            <a:r>
              <a:rPr sz="1300"/>
              <a:t>後日YouTubeで公開予定です。表が映る場合があります。</a:t>
            </a:r>
          </a:p>
          <a:p>
            <a:r>
              <a:rPr sz="1300"/>
              <a:t>匿名参加の方はご安心ください（名前非表示にできます）。</a:t>
            </a:r>
          </a:p>
          <a:p>
            <a:endParaRPr sz="1300"/>
          </a:p>
          <a:p>
            <a:r>
              <a:rPr sz="1300"/>
              <a:t>📌 アウトプットで学びが定着！</a:t>
            </a:r>
          </a:p>
          <a:p>
            <a:r>
              <a:rPr sz="1300"/>
              <a:t>・#PA45 でXに投稿してみましょう。</a:t>
            </a:r>
          </a:p>
          <a:p>
            <a:r>
              <a:rPr sz="1300"/>
              <a:t>・「作ったフロー」「気づき」など何でもOKです。</a:t>
            </a:r>
          </a:p>
          <a:p>
            <a:endParaRPr sz="1300"/>
          </a:p>
          <a:p>
            <a:r>
              <a:rPr sz="1300"/>
              <a:t>初心者大歓迎の講座なので、分からなくて当然。</a:t>
            </a:r>
          </a:p>
          <a:p>
            <a:r>
              <a:rPr sz="1300"/>
              <a:t>遠慮なく「？」を投げてください！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【今日のゴール説明】</a:t>
            </a:r>
          </a:p>
          <a:p>
            <a:r>
              <a:rPr sz="1300"/>
              <a:t>今日やることは3つだけです。</a:t>
            </a:r>
          </a:p>
          <a:p>
            <a:endParaRPr sz="1300"/>
          </a:p>
          <a:p>
            <a:r>
              <a:rPr sz="1300"/>
              <a:t>① 4つのアクションの役割を整理する</a:t>
            </a:r>
          </a:p>
          <a:p>
            <a:r>
              <a:rPr sz="1300"/>
              <a:t xml:space="preserve">  Initialize variable・Set variable・Condition・Apply to each、</a:t>
            </a:r>
          </a:p>
          <a:p>
            <a:r>
              <a:rPr sz="1300"/>
              <a:t xml:space="preserve">  それぞれが何をするものか、ざっと復習します。</a:t>
            </a:r>
          </a:p>
          <a:p>
            <a:endParaRPr sz="1300"/>
          </a:p>
          <a:p>
            <a:r>
              <a:rPr sz="1300"/>
              <a:t>② フローの全体像を組み立てる</a:t>
            </a:r>
          </a:p>
          <a:p>
            <a:r>
              <a:rPr sz="1300"/>
              <a:t xml:space="preserve">  4つのアクションをどうつなぐか、流れをステップで理解します。</a:t>
            </a:r>
          </a:p>
          <a:p>
            <a:endParaRPr sz="1300"/>
          </a:p>
          <a:p>
            <a:r>
              <a:rPr sz="1300"/>
              <a:t>③ 組み合わせフローを実際に動かす</a:t>
            </a:r>
          </a:p>
          <a:p>
            <a:r>
              <a:rPr sz="1300"/>
              <a:t xml:space="preserve">  未対応件数をカウントするフローを完成させます。</a:t>
            </a:r>
          </a:p>
          <a:p>
            <a:endParaRPr sz="1300"/>
          </a:p>
          <a:p>
            <a:r>
              <a:rPr sz="1300"/>
              <a:t>「全部分からなくて当然」という前提で進めます。</a:t>
            </a:r>
          </a:p>
          <a:p>
            <a:r>
              <a:rPr sz="1300"/>
              <a:t>「あ、こういうことか」が1つでも増えれば今日は大成功です！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【今日の核心・先出し】</a:t>
            </a:r>
          </a:p>
          <a:p>
            <a:r>
              <a:rPr sz="1300"/>
              <a:t>結論から先にお伝えします。今日の最重要ポイントは3つです。</a:t>
            </a:r>
          </a:p>
          <a:p>
            <a:endParaRPr sz="1300"/>
          </a:p>
          <a:p>
            <a:r>
              <a:rPr sz="1300"/>
              <a:t>① アクションは組み合わせて初めて「本当の自動化」になる</a:t>
            </a:r>
          </a:p>
          <a:p>
            <a:r>
              <a:rPr sz="1300"/>
              <a:t xml:space="preserve">  変数・繰り返し・条件分岐、それぞれ単体でも使えますが、</a:t>
            </a:r>
          </a:p>
          <a:p>
            <a:r>
              <a:rPr sz="1300"/>
              <a:t xml:space="preserve">  組み合わさったとき、複雑な業務を1本のフローで自動化できます。</a:t>
            </a:r>
          </a:p>
          <a:p>
            <a:r>
              <a:rPr sz="1300"/>
              <a:t xml:space="preserve">  「これ自動化できる！」の判断基準が今日つかめます。</a:t>
            </a:r>
          </a:p>
          <a:p>
            <a:endParaRPr sz="1300"/>
          </a:p>
          <a:p>
            <a:r>
              <a:rPr sz="1300"/>
              <a:t>② 変数はフロー全体で使えるメモ帳</a:t>
            </a:r>
          </a:p>
          <a:p>
            <a:r>
              <a:rPr sz="1300"/>
              <a:t xml:space="preserve">  Apply to eachのループの中でも外でも使えます。</a:t>
            </a:r>
          </a:p>
          <a:p>
            <a:r>
              <a:rPr sz="1300"/>
              <a:t xml:space="preserve">  「今いくつカウントしたか」を覚えておく役割です。</a:t>
            </a:r>
          </a:p>
          <a:p>
            <a:endParaRPr sz="1300"/>
          </a:p>
          <a:p>
            <a:r>
              <a:rPr sz="1300"/>
              <a:t>③ Apply to eachの中にConditionを入れると「絞り込み繰り返し」ができる</a:t>
            </a:r>
          </a:p>
          <a:p>
            <a:r>
              <a:rPr sz="1300"/>
              <a:t xml:space="preserve">  リストを1件ずつ見ながら、条件に合うものだけ処理する、</a:t>
            </a:r>
          </a:p>
          <a:p>
            <a:r>
              <a:rPr sz="1300"/>
              <a:t xml:space="preserve">  この組み合わせが実務で超よく使うパターンです。</a:t>
            </a:r>
          </a:p>
          <a:p>
            <a:endParaRPr sz="1300"/>
          </a:p>
          <a:p>
            <a:r>
              <a:rPr sz="1300"/>
              <a:t>この3つを体感するのが今日のミッションです！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【実務への応用】</a:t>
            </a:r>
          </a:p>
          <a:p>
            <a:r>
              <a:rPr sz="1300"/>
              <a:t>今日覚えたパターン——</a:t>
            </a:r>
          </a:p>
          <a:p>
            <a:r>
              <a:rPr sz="1300"/>
              <a:t>Apply to each ＋ Condition ＋ 変数の組み合わせは、</a:t>
            </a:r>
          </a:p>
          <a:p>
            <a:r>
              <a:rPr sz="1300"/>
              <a:t>実はたくさんの実務に使えます。</a:t>
            </a:r>
          </a:p>
          <a:p>
            <a:endParaRPr sz="1300"/>
          </a:p>
          <a:p>
            <a:r>
              <a:rPr sz="1300"/>
              <a:t>3つの例を見てください。</a:t>
            </a:r>
          </a:p>
          <a:p>
            <a:endParaRPr sz="1300"/>
          </a:p>
          <a:p>
            <a:r>
              <a:rPr sz="1300"/>
              <a:t>📊 勤怠集計</a:t>
            </a:r>
          </a:p>
          <a:p>
            <a:r>
              <a:rPr sz="1300"/>
              <a:t xml:space="preserve">  出勤リストをループして、Conditionで出勤判定、Set variableでカウント。</a:t>
            </a:r>
          </a:p>
          <a:p>
            <a:r>
              <a:rPr sz="1300"/>
              <a:t xml:space="preserve">  今日作ったフローとほぼ同じ構造です。</a:t>
            </a:r>
          </a:p>
          <a:p>
            <a:endParaRPr sz="1300"/>
          </a:p>
          <a:p>
            <a:r>
              <a:rPr sz="1300"/>
              <a:t>📋 申請振り分け</a:t>
            </a:r>
          </a:p>
          <a:p>
            <a:r>
              <a:rPr sz="1300"/>
              <a:t xml:space="preserve">  申請リストをループして、Conditionでカテゴリ判定、変数で合計を加算。</a:t>
            </a:r>
          </a:p>
          <a:p>
            <a:endParaRPr sz="1300"/>
          </a:p>
          <a:p>
            <a:r>
              <a:rPr sz="1300"/>
              <a:t>📝 テスト結果集計</a:t>
            </a:r>
          </a:p>
          <a:p>
            <a:r>
              <a:rPr sz="1300"/>
              <a:t xml:space="preserve">  点数リストをループして、Conditionで合否判定、合格者数をカウント。</a:t>
            </a:r>
          </a:p>
          <a:p>
            <a:endParaRPr sz="1300"/>
          </a:p>
          <a:p>
            <a:r>
              <a:rPr sz="1300"/>
              <a:t>全部「同じ型」です。</a:t>
            </a:r>
          </a:p>
          <a:p>
            <a:r>
              <a:rPr sz="1300"/>
              <a:t>今日作ったフローが「テンプレート」になります。</a:t>
            </a:r>
          </a:p>
          <a:p>
            <a:r>
              <a:rPr sz="1300"/>
              <a:t>中身の条件と変数を変えるだけで、様々な業務に応用できます。</a:t>
            </a:r>
          </a:p>
          <a:p>
            <a:endParaRPr sz="1300"/>
          </a:p>
          <a:p>
            <a:r>
              <a:rPr sz="1300"/>
              <a:t>「これ、職場で使えそう」と思ったものはありましたか？</a:t>
            </a:r>
          </a:p>
          <a:p>
            <a:r>
              <a:rPr sz="1300"/>
              <a:t>ぜひ#PA45でシェアしてください！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【クロージング】</a:t>
            </a:r>
          </a:p>
          <a:p>
            <a:r>
              <a:rPr sz="1300"/>
              <a:t>お疲れさまでした！今日も一緒に作り切りましたね。</a:t>
            </a:r>
          </a:p>
          <a:p>
            <a:endParaRPr sz="1300"/>
          </a:p>
          <a:p>
            <a:r>
              <a:rPr sz="1300"/>
              <a:t>今日のおさらいを30秒で——</a:t>
            </a:r>
          </a:p>
          <a:p>
            <a:r>
              <a:rPr sz="1300"/>
              <a:t>・Initialize variable：最初に変数を0でリセット（空の箱を用意）</a:t>
            </a:r>
          </a:p>
          <a:p>
            <a:r>
              <a:rPr sz="1300"/>
              <a:t>・Apply to each：Excelを1行ずつ処理（コンベアベルト）</a:t>
            </a:r>
          </a:p>
          <a:p>
            <a:r>
              <a:rPr sz="1300"/>
              <a:t>・Condition：未対応かどうかを判定（条件おじさん）</a:t>
            </a:r>
          </a:p>
          <a:p>
            <a:r>
              <a:rPr sz="1300"/>
              <a:t>・Set variable：件数を+1してカウントアップ</a:t>
            </a:r>
          </a:p>
          <a:p>
            <a:endParaRPr sz="1300"/>
          </a:p>
          <a:p>
            <a:r>
              <a:rPr sz="1300"/>
              <a:t>この4つが合わさって「自動集計フロー」になりました。</a:t>
            </a:r>
          </a:p>
          <a:p>
            <a:endParaRPr sz="1300"/>
          </a:p>
          <a:p>
            <a:r>
              <a:rPr sz="1300"/>
              <a:t>最後にアンケートへのご協力をお願いします！</a:t>
            </a:r>
          </a:p>
          <a:p>
            <a:r>
              <a:rPr sz="1300"/>
              <a:t>チャット欄にURLを貼ります。1分で終わります。</a:t>
            </a:r>
          </a:p>
          <a:p>
            <a:r>
              <a:rPr sz="1300"/>
              <a:t>メールアドレスを入力してくださった方にはPA45バッジをXのDMでお届けします。</a:t>
            </a:r>
          </a:p>
          <a:p>
            <a:endParaRPr sz="1300"/>
          </a:p>
          <a:p>
            <a:r>
              <a:rPr sz="1300"/>
              <a:t>今日の気づきや感想を #PA45 でポストしてもらえると嬉しいです。</a:t>
            </a:r>
          </a:p>
          <a:p>
            <a:r>
              <a:rPr sz="1300"/>
              <a:t>来週もお待ちしています！ありがとうございました！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microsoft.com/office/2007/relationships/hdphoto" Target="../media/hdphoto1.wdp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image" Target="../media/image24.png"/><Relationship Id="rId10" Type="http://schemas.openxmlformats.org/officeDocument/2006/relationships/image" Target="../media/image25.png"/><Relationship Id="rId11" Type="http://schemas.openxmlformats.org/officeDocument/2006/relationships/image" Target="../media/image26.png"/><Relationship Id="rId12" Type="http://schemas.openxmlformats.org/officeDocument/2006/relationships/image" Target="../media/image27.png"/><Relationship Id="rId13" Type="http://schemas.openxmlformats.org/officeDocument/2006/relationships/image" Target="../media/image28.png"/><Relationship Id="rId14" Type="http://schemas.openxmlformats.org/officeDocument/2006/relationships/image" Target="../media/image29.png"/><Relationship Id="rId15" Type="http://schemas.openxmlformats.org/officeDocument/2006/relationships/image" Target="../media/image30.png"/><Relationship Id="rId16" Type="http://schemas.openxmlformats.org/officeDocument/2006/relationships/image" Target="../media/image31.png"/><Relationship Id="rId17" Type="http://schemas.openxmlformats.org/officeDocument/2006/relationships/image" Target="../media/image32.png"/><Relationship Id="rId18" Type="http://schemas.openxmlformats.org/officeDocument/2006/relationships/image" Target="../media/image33.png"/><Relationship Id="rId19" Type="http://schemas.openxmlformats.org/officeDocument/2006/relationships/image" Target="../media/image34.png"/><Relationship Id="rId20" Type="http://schemas.openxmlformats.org/officeDocument/2006/relationships/image" Target="../media/image35.png"/><Relationship Id="rId21" Type="http://schemas.openxmlformats.org/officeDocument/2006/relationships/image" Target="../media/image36.png"/><Relationship Id="rId22" Type="http://schemas.openxmlformats.org/officeDocument/2006/relationships/image" Target="../media/image37.png"/><Relationship Id="rId23" Type="http://schemas.openxmlformats.org/officeDocument/2006/relationships/image" Target="../media/image38.png"/><Relationship Id="rId24" Type="http://schemas.openxmlformats.org/officeDocument/2006/relationships/image" Target="../media/image39.png"/><Relationship Id="rId25" Type="http://schemas.openxmlformats.org/officeDocument/2006/relationships/image" Target="../media/image40.png"/><Relationship Id="rId26" Type="http://schemas.openxmlformats.org/officeDocument/2006/relationships/image" Target="../media/image41.png"/><Relationship Id="rId27" Type="http://schemas.openxmlformats.org/officeDocument/2006/relationships/image" Target="../media/image42.png"/><Relationship Id="rId28" Type="http://schemas.openxmlformats.org/officeDocument/2006/relationships/image" Target="../media/image43.png"/><Relationship Id="rId29" Type="http://schemas.openxmlformats.org/officeDocument/2006/relationships/image" Target="../media/image44.png"/><Relationship Id="rId30" Type="http://schemas.openxmlformats.org/officeDocument/2006/relationships/image" Target="../media/image45.png"/><Relationship Id="rId31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Relationship Id="rId6" Type="http://schemas.openxmlformats.org/officeDocument/2006/relationships/image" Target="../media/image49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53.png"/><Relationship Id="rId11" Type="http://schemas.openxmlformats.org/officeDocument/2006/relationships/image" Target="../media/image54.png"/><Relationship Id="rId12" Type="http://schemas.openxmlformats.org/officeDocument/2006/relationships/image" Target="../media/image55.png"/><Relationship Id="rId13" Type="http://schemas.openxmlformats.org/officeDocument/2006/relationships/image" Target="../media/image56.png"/><Relationship Id="rId14" Type="http://schemas.openxmlformats.org/officeDocument/2006/relationships/image" Target="../media/image57.png"/><Relationship Id="rId15" Type="http://schemas.openxmlformats.org/officeDocument/2006/relationships/image" Target="../media/image58.png"/><Relationship Id="rId16" Type="http://schemas.openxmlformats.org/officeDocument/2006/relationships/image" Target="../media/image59.png"/><Relationship Id="rId17" Type="http://schemas.openxmlformats.org/officeDocument/2006/relationships/image" Target="../media/image60.png"/><Relationship Id="rId18" Type="http://schemas.openxmlformats.org/officeDocument/2006/relationships/image" Target="../media/image61.png"/><Relationship Id="rId19" Type="http://schemas.openxmlformats.org/officeDocument/2006/relationships/image" Target="../media/image62.png"/><Relationship Id="rId20" Type="http://schemas.microsoft.com/office/2007/relationships/hdphoto" Target="../media/hdphoto1.wdp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Relationship Id="rId7" Type="http://schemas.openxmlformats.org/officeDocument/2006/relationships/image" Target="../media/image67.png"/><Relationship Id="rId8" Type="http://schemas.openxmlformats.org/officeDocument/2006/relationships/image" Target="../media/image68.png"/><Relationship Id="rId9" Type="http://schemas.openxmlformats.org/officeDocument/2006/relationships/image" Target="../media/image69.png"/><Relationship Id="rId10" Type="http://schemas.openxmlformats.org/officeDocument/2006/relationships/image" Target="../media/image70.png"/><Relationship Id="rId11" Type="http://schemas.openxmlformats.org/officeDocument/2006/relationships/image" Target="../media/image71.png"/><Relationship Id="rId12" Type="http://schemas.openxmlformats.org/officeDocument/2006/relationships/image" Target="../media/image72.png"/><Relationship Id="rId1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5.png"/><Relationship Id="rId4" Type="http://schemas.openxmlformats.org/officeDocument/2006/relationships/image" Target="../media/image76.png"/><Relationship Id="rId5" Type="http://schemas.openxmlformats.org/officeDocument/2006/relationships/image" Target="../media/image7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3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8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6.png"/><Relationship Id="rId4" Type="http://schemas.openxmlformats.org/officeDocument/2006/relationships/image" Target="../media/image87.png"/><Relationship Id="rId5" Type="http://schemas.openxmlformats.org/officeDocument/2006/relationships/image" Target="../media/image88.png"/><Relationship Id="rId6" Type="http://schemas.openxmlformats.org/officeDocument/2006/relationships/image" Target="../media/image45.png"/><Relationship Id="rId7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89.png"/><Relationship Id="rId5" Type="http://schemas.openxmlformats.org/officeDocument/2006/relationships/image" Target="../media/image7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7009479-6313-ABD6-833D-A3E138A01A61}"/>
              </a:ext>
            </a:extLst>
          </p:cNvPr>
          <p:cNvSpPr txBox="1"/>
          <p:nvPr/>
        </p:nvSpPr>
        <p:spPr>
          <a:xfrm>
            <a:off x="337457" y="338916"/>
            <a:ext cx="11765280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/>
              <a:t>20:15</a:t>
            </a:r>
            <a:r>
              <a:rPr kumimoji="1" lang="ja-JP" altLang="en-US" sz="4000"/>
              <a:t>～スタートします</a:t>
            </a:r>
            <a:endParaRPr kumimoji="1" lang="en-US" altLang="ja-JP" sz="4000"/>
          </a:p>
          <a:p>
            <a:endParaRPr kumimoji="1" lang="en-US" altLang="ja-JP" sz="4000"/>
          </a:p>
          <a:p>
            <a:r>
              <a:rPr kumimoji="1" lang="en-US" altLang="ja-JP" sz="4000">
                <a:solidFill>
                  <a:srgbClr val="FF0000"/>
                </a:solidFill>
              </a:rPr>
              <a:t>Microsoft Forms</a:t>
            </a:r>
            <a:r>
              <a:rPr kumimoji="1" lang="ja-JP" altLang="en-US" sz="4000"/>
              <a:t>・</a:t>
            </a:r>
            <a:r>
              <a:rPr kumimoji="1" lang="en-US" altLang="ja-JP" sz="4000">
                <a:solidFill>
                  <a:srgbClr val="FF0000"/>
                </a:solidFill>
              </a:rPr>
              <a:t>SharePoint・Teams</a:t>
            </a:r>
            <a:r>
              <a:rPr kumimoji="1" lang="ja-JP" altLang="en-US" sz="4000"/>
              <a:t xml:space="preserve"> を使いますので</a:t>
            </a:r>
            <a:endParaRPr kumimoji="1" lang="en-US" altLang="ja-JP" sz="4000"/>
          </a:p>
          <a:p>
            <a:r>
              <a:rPr kumimoji="1" lang="ja-JP" altLang="en-US" sz="4000"/>
              <a:t>ハンズオンされる方は、事前に立ち上げておくと</a:t>
            </a:r>
            <a:endParaRPr kumimoji="1" lang="en-US" altLang="ja-JP" sz="4000"/>
          </a:p>
          <a:p>
            <a:r>
              <a:rPr kumimoji="1" lang="ja-JP" altLang="en-US" sz="4000"/>
              <a:t>スムーズです！</a:t>
            </a:r>
            <a:r>
              <a:rPr kumimoji="1" lang="en-US" altLang="ja-JP" sz="4000"/>
              <a:t>(●´ω</a:t>
            </a:r>
            <a:r>
              <a:rPr kumimoji="1" lang="ja-JP" altLang="en-US" sz="4000"/>
              <a:t>｀●</a:t>
            </a:r>
            <a:r>
              <a:rPr kumimoji="1" lang="en-US" altLang="ja-JP" sz="4000"/>
              <a:t>)</a:t>
            </a:r>
          </a:p>
          <a:p>
            <a:endParaRPr kumimoji="1" lang="en-US" altLang="ja-JP" sz="4000"/>
          </a:p>
          <a:p>
            <a:r>
              <a:rPr kumimoji="1" lang="ja-JP" altLang="en-US" sz="3200"/>
              <a:t>後日アーカイブ動画を公開予定です。</a:t>
            </a:r>
            <a:endParaRPr kumimoji="1" lang="en-US" altLang="ja-JP" sz="3200"/>
          </a:p>
          <a:p>
            <a:r>
              <a:rPr kumimoji="1" lang="en-US" altLang="ja-JP" sz="3200"/>
              <a:t>Teams</a:t>
            </a:r>
            <a:r>
              <a:rPr kumimoji="1" lang="ja-JP" altLang="en-US" sz="3200"/>
              <a:t>表示名が映る場合がありますので、</a:t>
            </a:r>
            <a:endParaRPr kumimoji="1" lang="en-US" altLang="ja-JP" sz="3200"/>
          </a:p>
          <a:p>
            <a:r>
              <a:rPr kumimoji="1" lang="ja-JP" altLang="en-US" sz="3200"/>
              <a:t>お名前が表示</a:t>
            </a:r>
            <a:r>
              <a:rPr kumimoji="1" lang="en-US" altLang="ja-JP" sz="3200"/>
              <a:t>NG</a:t>
            </a:r>
            <a:r>
              <a:rPr kumimoji="1" lang="ja-JP" altLang="en-US" sz="3200"/>
              <a:t>の場合は、匿名での</a:t>
            </a:r>
            <a:endParaRPr kumimoji="1" lang="en-US" altLang="ja-JP" sz="3200"/>
          </a:p>
          <a:p>
            <a:r>
              <a:rPr kumimoji="1" lang="ja-JP" altLang="en-US" sz="3200"/>
              <a:t>参加をお願い致します。</a:t>
            </a:r>
          </a:p>
        </p:txBody>
      </p:sp>
    </p:spTree>
    <p:extLst>
      <p:ext uri="{BB962C8B-B14F-4D97-AF65-F5344CB8AC3E}">
        <p14:creationId xmlns:p14="http://schemas.microsoft.com/office/powerpoint/2010/main" val="1581914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-915" y="-5028"/>
            <a:ext cx="12191695" cy="68580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2"/>
          <p:cNvSpPr/>
          <p:nvPr/>
        </p:nvSpPr>
        <p:spPr>
          <a:xfrm>
            <a:off x="5986150" y="-33783"/>
            <a:ext cx="6096305" cy="6858000"/>
          </a:xfrm>
          <a:prstGeom prst="rect">
            <a:avLst/>
          </a:prstGeom>
          <a:solidFill>
            <a:srgbClr val="EFF6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9753905" y="0"/>
            <a:ext cx="2438705" cy="24387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762805"/>
            <a:ext cx="12191695" cy="152705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4"/>
          <p:cNvSpPr/>
          <p:nvPr/>
        </p:nvSpPr>
        <p:spPr>
          <a:xfrm>
            <a:off x="436031" y="217298"/>
            <a:ext cx="7869289" cy="604873"/>
          </a:xfrm>
          <a:prstGeom prst="roundRect">
            <a:avLst>
              <a:gd name="adj" fmla="val 239808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5"/>
          <p:cNvSpPr/>
          <p:nvPr/>
        </p:nvSpPr>
        <p:spPr>
          <a:xfrm>
            <a:off x="308848" y="427340"/>
            <a:ext cx="7996472" cy="22333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× </a:t>
            </a:r>
            <a:r>
              <a:rPr lang="en-US" sz="4400" b="1" kern="0" spc="30" dirty="0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400" b="1" kern="0" spc="30" dirty="0">
                <a:solidFill>
                  <a:srgbClr val="1E40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4400" dirty="0"/>
          </a:p>
        </p:txBody>
      </p:sp>
      <p:sp>
        <p:nvSpPr>
          <p:cNvPr id="10" name="Shape 6"/>
          <p:cNvSpPr/>
          <p:nvPr/>
        </p:nvSpPr>
        <p:spPr>
          <a:xfrm>
            <a:off x="8978012" y="217298"/>
            <a:ext cx="2285093" cy="774651"/>
          </a:xfrm>
          <a:prstGeom prst="roundRect">
            <a:avLst>
              <a:gd name="adj" fmla="val 239808"/>
            </a:avLst>
          </a:prstGeom>
          <a:solidFill>
            <a:schemeClr val="bg1">
              <a:lumMod val="8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7"/>
          <p:cNvSpPr/>
          <p:nvPr/>
        </p:nvSpPr>
        <p:spPr>
          <a:xfrm>
            <a:off x="8996224" y="230202"/>
            <a:ext cx="2360005" cy="77720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52400" tIns="76200" rIns="152400" bIns="76200" rtlCol="0" anchor="ctr"/>
          <a:lstStyle/>
          <a:p>
            <a:pPr marL="0" indent="0" algn="ctr">
              <a:buNone/>
            </a:pPr>
            <a:r>
              <a:rPr lang="en-US" sz="4800" b="1" kern="0" spc="3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Vol.28</a:t>
            </a:r>
            <a:endParaRPr lang="en-US" sz="4800" dirty="0"/>
          </a:p>
        </p:txBody>
      </p:sp>
      <p:sp>
        <p:nvSpPr>
          <p:cNvPr id="12" name="Text 8"/>
          <p:cNvSpPr txBox="1"/>
          <p:nvPr/>
        </p:nvSpPr>
        <p:spPr>
          <a:xfrm>
            <a:off x="684391" y="1363842"/>
            <a:ext cx="1100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　【カード×</a:t>
            </a:r>
            <a:r>
              <a:rPr lang="en-US" sz="4000" b="1" kern="0" spc="-112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000" b="1" kern="0" spc="-112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編】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84391" y="2865204"/>
            <a:ext cx="1253629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第28回：</a:t>
            </a:r>
            <a:r>
              <a:rPr lang="en-US" sz="4500" b="1" dirty="0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に聞きながら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やること3件をまとめて完了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JSONと式は</a:t>
            </a:r>
            <a:r>
              <a:rPr lang="en-US" sz="4500" b="1">
                <a:solidFill>
                  <a:srgbClr val="7C3AE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Copilot</a:t>
            </a: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</a:t>
            </a:r>
            <a:endParaRPr lang="en-US" sz="4500" dirty="0"/>
          </a:p>
        </p:txBody>
      </p:sp>
      <p:sp>
        <p:nvSpPr>
          <p:cNvPr id="15" name="Shape 11"/>
          <p:cNvSpPr/>
          <p:nvPr/>
        </p:nvSpPr>
        <p:spPr>
          <a:xfrm>
            <a:off x="685800" y="4682893"/>
            <a:ext cx="75895" cy="14666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2"/>
          <p:cNvSpPr txBox="1"/>
          <p:nvPr/>
        </p:nvSpPr>
        <p:spPr>
          <a:xfrm>
            <a:off x="1067105" y="4660782"/>
            <a:ext cx="7929119" cy="285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Theme　手が止まるJSONと式はCopilotに聞いて、チェックした分だけ完了にする</a:t>
            </a:r>
            <a:endParaRPr lang="en-US" dirty="0"/>
          </a:p>
        </p:txBody>
      </p:sp>
      <p:sp>
        <p:nvSpPr>
          <p:cNvPr id="17" name="Text 13"/>
          <p:cNvSpPr txBox="1"/>
          <p:nvPr/>
        </p:nvSpPr>
        <p:spPr>
          <a:xfrm>
            <a:off x="1143000" y="5273596"/>
            <a:ext cx="66486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Target　非IT・毎日の確認作業をまとめたい方・初参加の方</a:t>
            </a:r>
          </a:p>
          <a:p>
            <a:pPr marL="0" indent="0" algn="l">
              <a:buNone/>
            </a:pP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　（プログラミング知識ゼロでOK・見るだけの参加も歓迎）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dirty="0"/>
          </a:p>
        </p:txBody>
      </p:sp>
      <p:sp>
        <p:nvSpPr>
          <p:cNvPr id="18" name="Text 14"/>
          <p:cNvSpPr txBox="1"/>
          <p:nvPr/>
        </p:nvSpPr>
        <p:spPr>
          <a:xfrm>
            <a:off x="1143000" y="5861812"/>
            <a:ext cx="65727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Time 　夜45分ハンズオン </a:t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r>
              <a:rPr lang="ja-JP" alt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/>
            </a:r>
            <a:endParaRPr lang="en-US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5"/>
          <a:srcRect t="-56" b="-56"/>
          <a:stretch/>
        </p:blipFill>
        <p:spPr>
          <a:xfrm>
            <a:off x="11249193" y="2736665"/>
            <a:ext cx="647395" cy="652882"/>
          </a:xfrm>
          <a:prstGeom prst="rect">
            <a:avLst/>
          </a:prstGeom>
        </p:spPr>
      </p:pic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401898" y="2889370"/>
            <a:ext cx="342900" cy="342900"/>
          </a:xfrm>
          <a:prstGeom prst="rect">
            <a:avLst/>
          </a:prstGeom>
        </p:spPr>
      </p:pic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7"/>
          <a:srcRect t="-7" b="-7"/>
          <a:stretch/>
        </p:blipFill>
        <p:spPr>
          <a:xfrm>
            <a:off x="8226217" y="5376956"/>
            <a:ext cx="609905" cy="652882"/>
          </a:xfrm>
          <a:prstGeom prst="rect">
            <a:avLst/>
          </a:prstGeom>
        </p:spPr>
      </p:pic>
      <p:pic>
        <p:nvPicPr>
          <p:cNvPr id="28" name="Image 9" descr="preencoded.png"/>
          <p:cNvPicPr>
            <a:picLocks noChangeAspect="1"/>
          </p:cNvPicPr>
          <p:nvPr/>
        </p:nvPicPr>
        <p:blipFill>
          <a:blip r:embed="rId8"/>
          <a:srcRect l="-743" r="-743"/>
          <a:stretch/>
        </p:blipFill>
        <p:spPr>
          <a:xfrm>
            <a:off x="8378921" y="5528746"/>
            <a:ext cx="304495" cy="342900"/>
          </a:xfrm>
          <a:prstGeom prst="rect">
            <a:avLst/>
          </a:prstGeom>
        </p:spPr>
      </p:pic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F62F2BB1-FC9A-9BF5-5863-AC5C7020B0F7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1" name="Shape 31">
              <a:extLst>
                <a:ext uri="{FF2B5EF4-FFF2-40B4-BE49-F238E27FC236}">
                  <a16:creationId xmlns:a16="http://schemas.microsoft.com/office/drawing/2014/main" id="{E330C5C1-44AB-B83C-FC54-E15E76393B08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2" name="Text 21">
              <a:extLst>
                <a:ext uri="{FF2B5EF4-FFF2-40B4-BE49-F238E27FC236}">
                  <a16:creationId xmlns:a16="http://schemas.microsoft.com/office/drawing/2014/main" id="{53E96C5C-B4CA-6382-053D-33B08C4E9626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3" name="Image 2" descr="preencoded.png">
              <a:extLst>
                <a:ext uri="{FF2B5EF4-FFF2-40B4-BE49-F238E27FC236}">
                  <a16:creationId xmlns:a16="http://schemas.microsoft.com/office/drawing/2014/main" id="{08EBD2AE-13BF-C3DE-E2D6-955D3ED4F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29" name="図 28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0A5D2121-E3AD-8CFB-9A1D-21A7BE0B192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2734" b="96973" l="4590" r="98047">
                        <a14:foregroundMark x1="51758" y1="13281" x2="24121" y2="14941"/>
                        <a14:foregroundMark x1="24121" y1="14941" x2="13965" y2="53516"/>
                        <a14:foregroundMark x1="13965" y1="53516" x2="41309" y2="76953"/>
                        <a14:foregroundMark x1="41309" y1="76953" x2="69727" y2="85059"/>
                        <a14:foregroundMark x1="69727" y1="85059" x2="92188" y2="74902"/>
                        <a14:foregroundMark x1="92188" y1="74902" x2="89648" y2="30664"/>
                        <a14:foregroundMark x1="56738" y1="12402" x2="17773" y2="38574"/>
                        <a14:foregroundMark x1="17773" y1="38574" x2="26758" y2="73926"/>
                        <a14:foregroundMark x1="26758" y1="73926" x2="31445" y2="33105"/>
                        <a14:foregroundMark x1="31445" y1="33105" x2="28027" y2="61230"/>
                        <a14:foregroundMark x1="28027" y1="61230" x2="15820" y2="30371"/>
                        <a14:foregroundMark x1="15820" y1="30371" x2="9277" y2="52734"/>
                        <a14:foregroundMark x1="9277" y1="52734" x2="18066" y2="77344"/>
                        <a14:foregroundMark x1="18066" y1="77344" x2="57129" y2="85059"/>
                        <a14:foregroundMark x1="57129" y1="85059" x2="78125" y2="82715"/>
                        <a14:foregroundMark x1="53809" y1="98926" x2="13379" y2="66309"/>
                        <a14:foregroundMark x1="13379" y1="66309" x2="10840" y2="25391"/>
                        <a14:foregroundMark x1="10840" y1="25391" x2="24414" y2="8789"/>
                        <a14:foregroundMark x1="24414" y1="8789" x2="30664" y2="8594"/>
                        <a14:foregroundMark x1="60742" y1="7715" x2="61914" y2="13867"/>
                        <a14:foregroundMark x1="61914" y1="15039" x2="65332" y2="16113"/>
                        <a14:foregroundMark x1="59277" y1="23633" x2="38867" y2="72266"/>
                        <a14:foregroundMark x1="38867" y1="72266" x2="63477" y2="90625"/>
                        <a14:foregroundMark x1="63477" y1="90625" x2="72363" y2="85645"/>
                        <a14:foregroundMark x1="31934" y1="92383" x2="31934" y2="92383"/>
                        <a14:foregroundMark x1="28516" y1="91309" x2="25488" y2="89063"/>
                        <a14:foregroundMark x1="22363" y1="86914" x2="22070" y2="86230"/>
                        <a14:foregroundMark x1="20898" y1="83789" x2="18652" y2="82227"/>
                        <a14:foregroundMark x1="16406" y1="79980" x2="15625" y2="78613"/>
                        <a14:foregroundMark x1="6152" y1="33984" x2="17676" y2="74023"/>
                        <a14:foregroundMark x1="17676" y1="74023" x2="20703" y2="77246"/>
                        <a14:foregroundMark x1="92676" y1="35547" x2="56934" y2="11133"/>
                        <a14:foregroundMark x1="56934" y1="11133" x2="76953" y2="16113"/>
                        <a14:foregroundMark x1="80273" y1="23340" x2="68848" y2="43555"/>
                        <a14:foregroundMark x1="68848" y1="43555" x2="69629" y2="43750"/>
                        <a14:foregroundMark x1="76270" y1="14844" x2="97168" y2="38965"/>
                        <a14:foregroundMark x1="97168" y1="38965" x2="93750" y2="67969"/>
                        <a14:foregroundMark x1="93750" y1="67969" x2="92383" y2="69629"/>
                        <a14:foregroundMark x1="87891" y1="61035" x2="84570" y2="81152"/>
                        <a14:foregroundMark x1="65527" y1="95605" x2="40820" y2="96973"/>
                        <a14:foregroundMark x1="40820" y1="96973" x2="40039" y2="96289"/>
                        <a14:foregroundMark x1="98047" y1="42871" x2="96094" y2="60352"/>
                        <a14:foregroundMark x1="44141" y1="2832" x2="54980" y2="22949"/>
                        <a14:foregroundMark x1="4590" y1="44043" x2="11621" y2="70410"/>
                        <a14:foregroundMark x1="11621" y1="70410" x2="16699" y2="715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10094" y="3534536"/>
            <a:ext cx="2600296" cy="260029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31">
            <a:extLst>
              <a:ext uri="{FF2B5EF4-FFF2-40B4-BE49-F238E27FC236}">
                <a16:creationId xmlns:a16="http://schemas.microsoft.com/office/drawing/2014/main" id="{E5E8C8BD-7816-5C3C-C635-2DE5D831334E}"/>
              </a:ext>
            </a:extLst>
          </p:cNvPr>
          <p:cNvSpPr/>
          <p:nvPr/>
        </p:nvSpPr>
        <p:spPr>
          <a:xfrm>
            <a:off x="8162239" y="923544"/>
            <a:ext cx="3648456" cy="267005"/>
          </a:xfrm>
          <a:prstGeom prst="roundRect">
            <a:avLst>
              <a:gd name="adj" fmla="val 342465"/>
            </a:avLst>
          </a:prstGeom>
          <a:solidFill>
            <a:srgbClr val="EFF6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333195"/>
            <a:ext cx="12191695" cy="49149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10362895" y="-495605"/>
            <a:ext cx="3657600" cy="365760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rcRect/>
          <a:stretch/>
        </p:blipFill>
        <p:spPr>
          <a:xfrm>
            <a:off x="-1828800" y="4419295"/>
            <a:ext cx="3657600" cy="3657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95351" y="1433779"/>
            <a:ext cx="1160190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忙しい人のための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45分ハンズオン</a:t>
            </a:r>
            <a:endParaRPr lang="en-US" sz="3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381305" y="2881274"/>
            <a:ext cx="3657600" cy="2409444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9046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rcRect l="-107" r="-107"/>
          <a:stretch/>
        </p:blipFill>
        <p:spPr>
          <a:xfrm>
            <a:off x="2076602" y="3271723"/>
            <a:ext cx="267005" cy="30449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93495" y="3897738"/>
            <a:ext cx="121005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45分完結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1077998" y="4426262"/>
            <a:ext cx="2531218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長時間の研修は不要。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要点だけを凝縮して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最短でスキル習得。 </a:t>
            </a:r>
            <a:endParaRPr lang="en-US" sz="140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4222672" y="2905049"/>
            <a:ext cx="3657600" cy="2409444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57908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0E7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7"/>
          <a:srcRect l="-90" r="-90"/>
          <a:stretch/>
        </p:blipFill>
        <p:spPr>
          <a:xfrm>
            <a:off x="5905195" y="3271723"/>
            <a:ext cx="381305" cy="304495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860431" y="3897738"/>
            <a:ext cx="2294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実践型ハンズオン</a:t>
            </a:r>
            <a:endParaRPr lang="en-US" sz="2000" dirty="0"/>
          </a:p>
        </p:txBody>
      </p:sp>
      <p:sp>
        <p:nvSpPr>
          <p:cNvPr id="17" name="Text 9"/>
          <p:cNvSpPr txBox="1"/>
          <p:nvPr/>
        </p:nvSpPr>
        <p:spPr>
          <a:xfrm>
            <a:off x="4727029" y="4405579"/>
            <a:ext cx="2869023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座学だけではありません。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その場で実際に手を動かし</a:t>
            </a: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「使える」技術を学びます。 </a:t>
            </a:r>
            <a:endParaRPr lang="en-US" sz="140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5"/>
          <a:srcRect l="-8" r="-8"/>
          <a:stretch/>
        </p:blipFill>
        <p:spPr>
          <a:xfrm>
            <a:off x="8153705" y="2881274"/>
            <a:ext cx="3657600" cy="2409444"/>
          </a:xfrm>
          <a:prstGeom prst="rect">
            <a:avLst/>
          </a:prstGeom>
        </p:spPr>
      </p:pic>
      <p:sp>
        <p:nvSpPr>
          <p:cNvPr id="19" name="Shape 10"/>
          <p:cNvSpPr/>
          <p:nvPr/>
        </p:nvSpPr>
        <p:spPr>
          <a:xfrm>
            <a:off x="9677095" y="3119018"/>
            <a:ext cx="609905" cy="609905"/>
          </a:xfrm>
          <a:prstGeom prst="roundRect">
            <a:avLst>
              <a:gd name="adj" fmla="val 74962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rcRect l="-90" r="-90"/>
          <a:stretch/>
        </p:blipFill>
        <p:spPr>
          <a:xfrm>
            <a:off x="9791395" y="3271723"/>
            <a:ext cx="381305" cy="304495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235001" y="3897738"/>
            <a:ext cx="143421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一緒に作る</a:t>
            </a:r>
            <a:endParaRPr lang="en-US" sz="2000" dirty="0"/>
          </a:p>
        </p:txBody>
      </p:sp>
      <p:sp>
        <p:nvSpPr>
          <p:cNvPr id="22" name="Text 12"/>
          <p:cNvSpPr txBox="1"/>
          <p:nvPr/>
        </p:nvSpPr>
        <p:spPr>
          <a:xfrm>
            <a:off x="8794671" y="4348702"/>
            <a:ext cx="2628797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ゼロから一緒に作ることで</a:t>
            </a:r>
            <a:endParaRPr lang="en-US" sz="1400" dirty="0"/>
          </a:p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仕組みを理解します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。 </a:t>
            </a:r>
            <a:endParaRPr lang="en-US" sz="1400" dirty="0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9"/>
          <a:srcRect t="-40" b="-40"/>
          <a:stretch/>
        </p:blipFill>
        <p:spPr>
          <a:xfrm>
            <a:off x="3625596" y="5471770"/>
            <a:ext cx="4939589" cy="629107"/>
          </a:xfrm>
          <a:prstGeom prst="rect">
            <a:avLst/>
          </a:prstGeom>
        </p:spPr>
      </p:pic>
      <p:sp>
        <p:nvSpPr>
          <p:cNvPr id="24" name="Shape 13"/>
          <p:cNvSpPr/>
          <p:nvPr/>
        </p:nvSpPr>
        <p:spPr>
          <a:xfrm>
            <a:off x="3940150" y="5596128"/>
            <a:ext cx="323698" cy="381305"/>
          </a:xfrm>
          <a:prstGeom prst="roundRect">
            <a:avLst>
              <a:gd name="adj" fmla="val 282486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14"/>
          <p:cNvSpPr txBox="1"/>
          <p:nvPr/>
        </p:nvSpPr>
        <p:spPr>
          <a:xfrm>
            <a:off x="4416552" y="5652821"/>
            <a:ext cx="475357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未経験・知識ゼロでも大丈夫！</a:t>
            </a:r>
            <a:endParaRPr lang="en-US" sz="13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0"/>
          <a:srcRect l="-1648" r="-1648"/>
          <a:stretch/>
        </p:blipFill>
        <p:spPr>
          <a:xfrm>
            <a:off x="4016959" y="5686654"/>
            <a:ext cx="171907" cy="190195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0" y="0"/>
            <a:ext cx="12191695" cy="13331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Shape 16"/>
          <p:cNvSpPr/>
          <p:nvPr/>
        </p:nvSpPr>
        <p:spPr>
          <a:xfrm>
            <a:off x="0" y="13240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17"/>
          <p:cNvSpPr txBox="1"/>
          <p:nvPr/>
        </p:nvSpPr>
        <p:spPr>
          <a:xfrm>
            <a:off x="457200" y="152705"/>
            <a:ext cx="231800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INTRODUCTION</a:t>
            </a:r>
            <a:endParaRPr lang="en-US" sz="1500" dirty="0"/>
          </a:p>
        </p:txBody>
      </p:sp>
      <p:sp>
        <p:nvSpPr>
          <p:cNvPr id="30" name="Text 18"/>
          <p:cNvSpPr txBox="1"/>
          <p:nvPr/>
        </p:nvSpPr>
        <p:spPr>
          <a:xfrm>
            <a:off x="457200" y="457200"/>
            <a:ext cx="3439058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</a:t>
            </a:r>
            <a:r>
              <a:rPr lang="en-US" sz="18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とは？</a:t>
            </a:r>
            <a:endParaRPr lang="en-US" sz="4500" dirty="0"/>
          </a:p>
        </p:txBody>
      </p:sp>
      <p:sp>
        <p:nvSpPr>
          <p:cNvPr id="31" name="Shape 19"/>
          <p:cNvSpPr/>
          <p:nvPr/>
        </p:nvSpPr>
        <p:spPr>
          <a:xfrm>
            <a:off x="10669220" y="266700"/>
            <a:ext cx="152705" cy="152705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20"/>
          <p:cNvSpPr txBox="1"/>
          <p:nvPr/>
        </p:nvSpPr>
        <p:spPr>
          <a:xfrm>
            <a:off x="10935310" y="210007"/>
            <a:ext cx="8860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35" name="Shape 22"/>
          <p:cNvSpPr/>
          <p:nvPr/>
        </p:nvSpPr>
        <p:spPr>
          <a:xfrm>
            <a:off x="0" y="6248095"/>
            <a:ext cx="1219169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6" name="Shape 23"/>
          <p:cNvSpPr/>
          <p:nvPr/>
        </p:nvSpPr>
        <p:spPr>
          <a:xfrm>
            <a:off x="0" y="624809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24"/>
          <p:cNvSpPr txBox="1"/>
          <p:nvPr/>
        </p:nvSpPr>
        <p:spPr>
          <a:xfrm>
            <a:off x="457200" y="6443777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38" name="Text 25"/>
          <p:cNvSpPr txBox="1"/>
          <p:nvPr/>
        </p:nvSpPr>
        <p:spPr>
          <a:xfrm>
            <a:off x="10490911" y="6443777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pic>
        <p:nvPicPr>
          <p:cNvPr id="39" name="Image 11" descr="preencoded.png"/>
          <p:cNvPicPr>
            <a:picLocks noChangeAspect="1"/>
          </p:cNvPicPr>
          <p:nvPr/>
        </p:nvPicPr>
        <p:blipFill>
          <a:blip r:embed="rId11"/>
          <a:srcRect t="-1" b="-1"/>
          <a:stretch/>
        </p:blipFill>
        <p:spPr>
          <a:xfrm>
            <a:off x="0" y="6743700"/>
            <a:ext cx="12191695" cy="114300"/>
          </a:xfrm>
          <a:prstGeom prst="rect">
            <a:avLst/>
          </a:prstGeom>
        </p:spPr>
      </p:pic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573DEEFF-2E18-F859-557D-46C5895E5E23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9" name="Shape 31">
              <a:extLst>
                <a:ext uri="{FF2B5EF4-FFF2-40B4-BE49-F238E27FC236}">
                  <a16:creationId xmlns:a16="http://schemas.microsoft.com/office/drawing/2014/main" id="{EB34D72B-3BD9-5C6D-172D-3C12236AFA7F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0" name="Text 21">
              <a:extLst>
                <a:ext uri="{FF2B5EF4-FFF2-40B4-BE49-F238E27FC236}">
                  <a16:creationId xmlns:a16="http://schemas.microsoft.com/office/drawing/2014/main" id="{60D4689B-59D1-541B-9719-C75A816A4F1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1" name="Image 2" descr="preencoded.png">
              <a:extLst>
                <a:ext uri="{FF2B5EF4-FFF2-40B4-BE49-F238E27FC236}">
                  <a16:creationId xmlns:a16="http://schemas.microsoft.com/office/drawing/2014/main" id="{91D0F47D-91FD-FF45-2771-9D7B634F6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067105"/>
            <a:ext cx="12191695" cy="525780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381305" y="1295705"/>
            <a:ext cx="3683203" cy="2305202"/>
          </a:xfrm>
          <a:prstGeom prst="rect">
            <a:avLst/>
          </a:prstGeom>
        </p:spPr>
      </p:pic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85800" y="1524305"/>
            <a:ext cx="533095" cy="533095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rcRect l="-607" r="-607"/>
          <a:stretch/>
        </p:blipFill>
        <p:spPr>
          <a:xfrm>
            <a:off x="771754" y="1647749"/>
            <a:ext cx="362102" cy="286207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371599" y="1524305"/>
            <a:ext cx="244671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みんなで気持ちよく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学ぶために</a:t>
            </a:r>
            <a:endParaRPr lang="en-US" sz="1600" dirty="0"/>
          </a:p>
        </p:txBody>
      </p:sp>
      <p:sp>
        <p:nvSpPr>
          <p:cNvPr id="11" name="Text 4"/>
          <p:cNvSpPr txBox="1"/>
          <p:nvPr/>
        </p:nvSpPr>
        <p:spPr>
          <a:xfrm>
            <a:off x="895197" y="254603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誹謗中傷・不適切な発言は</a:t>
            </a: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禁止</a:t>
            </a:r>
            <a:endParaRPr lang="en-US" sz="140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9904" y="2553004"/>
            <a:ext cx="209398" cy="209398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902429" y="2999232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お互いを尊重し合いましょう</a:t>
            </a:r>
            <a:endParaRPr lang="en-US" sz="140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17136" y="2956725"/>
            <a:ext cx="209398" cy="209398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rcRect t="-1" b="-1"/>
          <a:stretch/>
        </p:blipFill>
        <p:spPr>
          <a:xfrm>
            <a:off x="4254703" y="1295705"/>
            <a:ext cx="3683203" cy="2305202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59198" y="1524305"/>
            <a:ext cx="533095" cy="533095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8"/>
          <a:srcRect l="-266" r="-266"/>
          <a:stretch/>
        </p:blipFill>
        <p:spPr>
          <a:xfrm>
            <a:off x="4664354" y="1647749"/>
            <a:ext cx="323698" cy="286207"/>
          </a:xfrm>
          <a:prstGeom prst="rect">
            <a:avLst/>
          </a:prstGeom>
        </p:spPr>
      </p:pic>
      <p:sp>
        <p:nvSpPr>
          <p:cNvPr id="20" name="Text 7"/>
          <p:cNvSpPr txBox="1"/>
          <p:nvPr/>
        </p:nvSpPr>
        <p:spPr>
          <a:xfrm>
            <a:off x="5274259" y="1673670"/>
            <a:ext cx="2540817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講座の録画について</a:t>
            </a:r>
            <a:endParaRPr lang="en-US" sz="1600" dirty="0"/>
          </a:p>
        </p:txBody>
      </p:sp>
      <p:sp>
        <p:nvSpPr>
          <p:cNvPr id="21" name="Text 8"/>
          <p:cNvSpPr txBox="1"/>
          <p:nvPr/>
        </p:nvSpPr>
        <p:spPr>
          <a:xfrm>
            <a:off x="480060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</a:t>
            </a:r>
            <a:r>
              <a:rPr 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YouTube公開</a:t>
            </a:r>
            <a:r>
              <a:rPr lang="ja-JP" altLang="en-US" sz="160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予定</a:t>
            </a:r>
            <a:endParaRPr lang="en-US" sz="1400" dirty="0"/>
          </a:p>
        </p:txBody>
      </p:sp>
      <p:pic>
        <p:nvPicPr>
          <p:cNvPr id="22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4459755" y="2316941"/>
            <a:ext cx="222199" cy="222199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4799966" y="2759178"/>
            <a:ext cx="309615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表示名が映る場合があります</a:t>
            </a:r>
            <a:endParaRPr lang="en-US" sz="140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10"/>
          <a:srcRect l="-1507" r="-1507"/>
          <a:stretch/>
        </p:blipFill>
        <p:spPr>
          <a:xfrm>
            <a:off x="4444986" y="2768803"/>
            <a:ext cx="286120" cy="222199"/>
          </a:xfrm>
          <a:prstGeom prst="rect">
            <a:avLst/>
          </a:prstGeom>
        </p:spPr>
      </p:pic>
      <p:sp>
        <p:nvSpPr>
          <p:cNvPr id="25" name="Text 10"/>
          <p:cNvSpPr txBox="1"/>
          <p:nvPr/>
        </p:nvSpPr>
        <p:spPr>
          <a:xfrm>
            <a:off x="4794577" y="3183750"/>
            <a:ext cx="311536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匿名参加で非表示にできます</a:t>
            </a:r>
            <a:endParaRPr lang="en-US" sz="140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11"/>
          <a:srcRect l="-837" r="-837"/>
          <a:stretch/>
        </p:blipFill>
        <p:spPr>
          <a:xfrm>
            <a:off x="4467442" y="3183750"/>
            <a:ext cx="236379" cy="206654"/>
          </a:xfrm>
          <a:prstGeom prst="rect">
            <a:avLst/>
          </a:prstGeom>
        </p:spPr>
      </p:pic>
      <p:pic>
        <p:nvPicPr>
          <p:cNvPr id="27" name="Image 14" descr="preencoded.png"/>
          <p:cNvPicPr>
            <a:picLocks noChangeAspect="1"/>
          </p:cNvPicPr>
          <p:nvPr/>
        </p:nvPicPr>
        <p:blipFill>
          <a:blip r:embed="rId12"/>
          <a:srcRect l="-1" r="-1"/>
          <a:stretch/>
        </p:blipFill>
        <p:spPr>
          <a:xfrm>
            <a:off x="8128102" y="1295705"/>
            <a:ext cx="3683203" cy="2305202"/>
          </a:xfrm>
          <a:prstGeom prst="rect">
            <a:avLst/>
          </a:prstGeom>
        </p:spPr>
      </p:pic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32597" y="1524305"/>
            <a:ext cx="533095" cy="533095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3"/>
          <a:srcRect l="-607" r="-607"/>
          <a:stretch/>
        </p:blipFill>
        <p:spPr>
          <a:xfrm>
            <a:off x="8518550" y="1647749"/>
            <a:ext cx="362102" cy="286207"/>
          </a:xfrm>
          <a:prstGeom prst="rect">
            <a:avLst/>
          </a:prstGeom>
        </p:spPr>
      </p:pic>
      <p:sp>
        <p:nvSpPr>
          <p:cNvPr id="30" name="Text 11"/>
          <p:cNvSpPr txBox="1"/>
          <p:nvPr/>
        </p:nvSpPr>
        <p:spPr>
          <a:xfrm>
            <a:off x="9118396" y="1524305"/>
            <a:ext cx="2175693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チャットは気軽に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どうぞ</a:t>
            </a:r>
            <a:endParaRPr lang="en-US" sz="1600" dirty="0"/>
          </a:p>
        </p:txBody>
      </p:sp>
      <p:sp>
        <p:nvSpPr>
          <p:cNvPr id="31" name="Text 12"/>
          <p:cNvSpPr txBox="1"/>
          <p:nvPr/>
        </p:nvSpPr>
        <p:spPr>
          <a:xfrm>
            <a:off x="8638960" y="2366540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「できました！」の声など大歓迎</a:t>
            </a:r>
            <a:endParaRPr lang="en-US" sz="14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4"/>
          <a:srcRect/>
          <a:stretch/>
        </p:blipFill>
        <p:spPr>
          <a:xfrm>
            <a:off x="8323811" y="2357209"/>
            <a:ext cx="242288" cy="242288"/>
          </a:xfrm>
          <a:prstGeom prst="rect">
            <a:avLst/>
          </a:prstGeom>
        </p:spPr>
      </p:pic>
      <p:sp>
        <p:nvSpPr>
          <p:cNvPr id="33" name="Text 13"/>
          <p:cNvSpPr txBox="1"/>
          <p:nvPr/>
        </p:nvSpPr>
        <p:spPr>
          <a:xfrm>
            <a:off x="8722752" y="2735885"/>
            <a:ext cx="3134563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小さな質問でも</a:t>
            </a:r>
            <a:r>
              <a:rPr lang="en-US" sz="16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OK</a:t>
            </a: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です</a:t>
            </a:r>
            <a:endParaRPr lang="en-US" sz="140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5"/>
          <a:srcRect/>
          <a:stretch/>
        </p:blipFill>
        <p:spPr>
          <a:xfrm>
            <a:off x="8323811" y="2748714"/>
            <a:ext cx="242288" cy="242288"/>
          </a:xfrm>
          <a:prstGeom prst="rect">
            <a:avLst/>
          </a:prstGeom>
        </p:spPr>
      </p:pic>
      <p:sp>
        <p:nvSpPr>
          <p:cNvPr id="35" name="Text 14"/>
          <p:cNvSpPr txBox="1"/>
          <p:nvPr/>
        </p:nvSpPr>
        <p:spPr>
          <a:xfrm>
            <a:off x="8641994" y="3161995"/>
            <a:ext cx="3134563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反応があると講師も嬉しいです</a:t>
            </a:r>
            <a:endParaRPr lang="en-US" sz="140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6"/>
          <a:srcRect/>
          <a:stretch/>
        </p:blipFill>
        <p:spPr>
          <a:xfrm>
            <a:off x="8343442" y="3148206"/>
            <a:ext cx="216712" cy="216712"/>
          </a:xfrm>
          <a:prstGeom prst="rect">
            <a:avLst/>
          </a:prstGeom>
        </p:spPr>
      </p:pic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7"/>
          <a:srcRect t="-1" b="-1"/>
          <a:stretch/>
        </p:blipFill>
        <p:spPr>
          <a:xfrm>
            <a:off x="381305" y="3791102"/>
            <a:ext cx="5619902" cy="2305202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8">
            <a:alphaModFix amt="10000"/>
          </a:blip>
          <a:srcRect/>
          <a:stretch/>
        </p:blipFill>
        <p:spPr>
          <a:xfrm>
            <a:off x="4914900" y="5009998"/>
            <a:ext cx="1218895" cy="1218895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29107" y="4038905"/>
            <a:ext cx="609905" cy="609905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20"/>
          <a:srcRect/>
          <a:stretch/>
        </p:blipFill>
        <p:spPr>
          <a:xfrm>
            <a:off x="790956" y="4200754"/>
            <a:ext cx="286207" cy="286207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21"/>
          <a:srcRect t="-2" b="-2"/>
          <a:stretch/>
        </p:blipFill>
        <p:spPr>
          <a:xfrm>
            <a:off x="6191402" y="3791102"/>
            <a:ext cx="5619902" cy="2305202"/>
          </a:xfrm>
          <a:prstGeom prst="rect">
            <a:avLst/>
          </a:prstGeom>
        </p:spPr>
      </p:pic>
      <p:pic>
        <p:nvPicPr>
          <p:cNvPr id="42" name="Image 25" descr="preencoded.png"/>
          <p:cNvPicPr>
            <a:picLocks noChangeAspect="1"/>
          </p:cNvPicPr>
          <p:nvPr/>
        </p:nvPicPr>
        <p:blipFill>
          <a:blip r:embed="rId22">
            <a:alphaModFix amt="10000"/>
          </a:blip>
          <a:srcRect l="-23" r="-23"/>
          <a:stretch/>
        </p:blipFill>
        <p:spPr>
          <a:xfrm>
            <a:off x="10420502" y="5009998"/>
            <a:ext cx="1524305" cy="1218895"/>
          </a:xfrm>
          <a:prstGeom prst="rect">
            <a:avLst/>
          </a:prstGeom>
        </p:spPr>
      </p:pic>
      <p:pic>
        <p:nvPicPr>
          <p:cNvPr id="43" name="Image 26" descr="preencoded.png"/>
          <p:cNvPicPr>
            <a:picLocks noChangeAspect="1"/>
          </p:cNvPicPr>
          <p:nvPr/>
        </p:nvPicPr>
        <p:blipFill>
          <a:blip r:embed="rId19"/>
          <a:srcRect/>
          <a:stretch/>
        </p:blipFill>
        <p:spPr>
          <a:xfrm>
            <a:off x="6439205" y="4038905"/>
            <a:ext cx="609905" cy="609905"/>
          </a:xfrm>
          <a:prstGeom prst="rect">
            <a:avLst/>
          </a:prstGeom>
        </p:spPr>
      </p:pic>
      <p:pic>
        <p:nvPicPr>
          <p:cNvPr id="44" name="Image 27" descr="preencoded.png"/>
          <p:cNvPicPr>
            <a:picLocks noChangeAspect="1"/>
          </p:cNvPicPr>
          <p:nvPr/>
        </p:nvPicPr>
        <p:blipFill>
          <a:blip r:embed="rId23"/>
          <a:srcRect t="-530" b="-530"/>
          <a:stretch/>
        </p:blipFill>
        <p:spPr>
          <a:xfrm>
            <a:off x="6619342" y="4200754"/>
            <a:ext cx="247802" cy="286207"/>
          </a:xfrm>
          <a:prstGeom prst="rect">
            <a:avLst/>
          </a:prstGeom>
        </p:spPr>
      </p:pic>
      <p:sp>
        <p:nvSpPr>
          <p:cNvPr id="45" name="Shape 15"/>
          <p:cNvSpPr/>
          <p:nvPr/>
        </p:nvSpPr>
        <p:spPr>
          <a:xfrm>
            <a:off x="1429207" y="4644238"/>
            <a:ext cx="4324198" cy="19202"/>
          </a:xfrm>
          <a:prstGeom prst="rect">
            <a:avLst/>
          </a:prstGeom>
          <a:solidFill>
            <a:srgbClr val="DDD6FE"/>
          </a:solidFill>
          <a:ln w="12700">
            <a:solidFill>
              <a:srgbClr val="DDD6F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16"/>
          <p:cNvSpPr txBox="1"/>
          <p:nvPr/>
        </p:nvSpPr>
        <p:spPr>
          <a:xfrm>
            <a:off x="1429207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アウトプットで学びが定着</a:t>
            </a:r>
            <a:endParaRPr lang="en-US" sz="2400" dirty="0"/>
          </a:p>
        </p:txBody>
      </p:sp>
      <p:sp>
        <p:nvSpPr>
          <p:cNvPr id="47" name="Text 17"/>
          <p:cNvSpPr txBox="1"/>
          <p:nvPr/>
        </p:nvSpPr>
        <p:spPr>
          <a:xfrm>
            <a:off x="1580997" y="4777740"/>
            <a:ext cx="421081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4C1D9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をつけて投稿しよう！</a:t>
            </a:r>
            <a:endParaRPr lang="en-US" sz="1600" dirty="0"/>
          </a:p>
        </p:txBody>
      </p:sp>
      <p:sp>
        <p:nvSpPr>
          <p:cNvPr id="48" name="Text 18"/>
          <p:cNvSpPr txBox="1"/>
          <p:nvPr/>
        </p:nvSpPr>
        <p:spPr>
          <a:xfrm>
            <a:off x="1580997" y="5183398"/>
            <a:ext cx="4325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「作ったフロー」「気づき」など何でもOK</a:t>
            </a:r>
            <a:endParaRPr lang="en-US" sz="1600" dirty="0"/>
          </a:p>
        </p:txBody>
      </p:sp>
      <p:sp>
        <p:nvSpPr>
          <p:cNvPr id="49" name="Text 19"/>
          <p:cNvSpPr txBox="1"/>
          <p:nvPr/>
        </p:nvSpPr>
        <p:spPr>
          <a:xfrm>
            <a:off x="1580997" y="5591735"/>
            <a:ext cx="4286707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投稿は</a:t>
            </a:r>
            <a:r>
              <a:rPr lang="ja-JP" alt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運営</a:t>
            </a:r>
            <a:r>
              <a:rPr lang="en-US" sz="160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の励みになります</a:t>
            </a:r>
            <a:r>
              <a:rPr lang="en-US" sz="1600" dirty="0">
                <a:solidFill>
                  <a:srgbClr val="5B21B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！</a:t>
            </a:r>
            <a:endParaRPr lang="en-US" sz="160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24"/>
          <a:srcRect l="-760" r="-760"/>
          <a:stretch/>
        </p:blipFill>
        <p:spPr>
          <a:xfrm>
            <a:off x="1179048" y="4768333"/>
            <a:ext cx="228601" cy="25734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25"/>
          <a:srcRect t="-100" b="-100"/>
          <a:stretch/>
        </p:blipFill>
        <p:spPr>
          <a:xfrm>
            <a:off x="1179048" y="5181514"/>
            <a:ext cx="171108" cy="228601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26"/>
          <a:srcRect/>
          <a:stretch/>
        </p:blipFill>
        <p:spPr>
          <a:xfrm>
            <a:off x="1179048" y="5589309"/>
            <a:ext cx="228601" cy="228601"/>
          </a:xfrm>
          <a:prstGeom prst="rect">
            <a:avLst/>
          </a:prstGeom>
        </p:spPr>
      </p:pic>
      <p:sp>
        <p:nvSpPr>
          <p:cNvPr id="53" name="Shape 20"/>
          <p:cNvSpPr/>
          <p:nvPr/>
        </p:nvSpPr>
        <p:spPr>
          <a:xfrm>
            <a:off x="7239305" y="4644238"/>
            <a:ext cx="4324198" cy="19202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4" name="Text 21"/>
          <p:cNvSpPr txBox="1"/>
          <p:nvPr/>
        </p:nvSpPr>
        <p:spPr>
          <a:xfrm>
            <a:off x="7239305" y="4268392"/>
            <a:ext cx="4515307" cy="30449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初心者大歓迎の講座です</a:t>
            </a:r>
            <a:endParaRPr lang="en-US" sz="2400" dirty="0"/>
          </a:p>
        </p:txBody>
      </p:sp>
      <p:sp>
        <p:nvSpPr>
          <p:cNvPr id="55" name="Text 22"/>
          <p:cNvSpPr txBox="1"/>
          <p:nvPr/>
        </p:nvSpPr>
        <p:spPr>
          <a:xfrm>
            <a:off x="7487107" y="4777740"/>
            <a:ext cx="426750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難しい専門用語は使いません</a:t>
            </a:r>
            <a:endParaRPr lang="en-US" sz="1600" dirty="0"/>
          </a:p>
        </p:txBody>
      </p:sp>
      <p:sp>
        <p:nvSpPr>
          <p:cNvPr id="56" name="Text 23"/>
          <p:cNvSpPr txBox="1"/>
          <p:nvPr/>
        </p:nvSpPr>
        <p:spPr>
          <a:xfrm>
            <a:off x="7487107" y="5187602"/>
            <a:ext cx="4343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置いてけぼりにならないようゆっくり進行</a:t>
            </a:r>
            <a:endParaRPr lang="en-US" sz="1600" dirty="0"/>
          </a:p>
        </p:txBody>
      </p:sp>
      <p:sp>
        <p:nvSpPr>
          <p:cNvPr id="57" name="Text 24"/>
          <p:cNvSpPr txBox="1"/>
          <p:nvPr/>
        </p:nvSpPr>
        <p:spPr>
          <a:xfrm>
            <a:off x="7487107" y="5569117"/>
            <a:ext cx="42108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>
                <a:solidFill>
                  <a:srgbClr val="064E3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</a:t>
            </a:r>
            <a:r>
              <a:rPr lang="en-US" sz="1600">
                <a:solidFill>
                  <a:srgbClr val="065F46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してご参加ください</a:t>
            </a:r>
            <a:endParaRPr lang="en-US" sz="1600" dirty="0"/>
          </a:p>
        </p:txBody>
      </p:sp>
      <p:pic>
        <p:nvPicPr>
          <p:cNvPr id="58" name="Image 31" descr="preencoded.png"/>
          <p:cNvPicPr>
            <a:picLocks noChangeAspect="1"/>
          </p:cNvPicPr>
          <p:nvPr/>
        </p:nvPicPr>
        <p:blipFill>
          <a:blip r:embed="rId27"/>
          <a:srcRect/>
          <a:stretch/>
        </p:blipFill>
        <p:spPr>
          <a:xfrm rot="21065181">
            <a:off x="7152519" y="4767307"/>
            <a:ext cx="258514" cy="258514"/>
          </a:xfrm>
          <a:prstGeom prst="rect">
            <a:avLst/>
          </a:prstGeom>
        </p:spPr>
      </p:pic>
      <p:pic>
        <p:nvPicPr>
          <p:cNvPr id="59" name="Image 32" descr="preencoded.png"/>
          <p:cNvPicPr>
            <a:picLocks noChangeAspect="1"/>
          </p:cNvPicPr>
          <p:nvPr/>
        </p:nvPicPr>
        <p:blipFill>
          <a:blip r:embed="rId28"/>
          <a:srcRect t="-180" b="-180"/>
          <a:stretch/>
        </p:blipFill>
        <p:spPr>
          <a:xfrm rot="21065181">
            <a:off x="7150980" y="5180425"/>
            <a:ext cx="143009" cy="229638"/>
          </a:xfrm>
          <a:prstGeom prst="rect">
            <a:avLst/>
          </a:prstGeom>
        </p:spPr>
      </p:pic>
      <p:pic>
        <p:nvPicPr>
          <p:cNvPr id="60" name="Image 33" descr="preencoded.png"/>
          <p:cNvPicPr>
            <a:picLocks noChangeAspect="1"/>
          </p:cNvPicPr>
          <p:nvPr/>
        </p:nvPicPr>
        <p:blipFill>
          <a:blip r:embed="rId29"/>
          <a:srcRect/>
          <a:stretch/>
        </p:blipFill>
        <p:spPr>
          <a:xfrm rot="21065181">
            <a:off x="7150457" y="5564667"/>
            <a:ext cx="229638" cy="229638"/>
          </a:xfrm>
          <a:prstGeom prst="rect">
            <a:avLst/>
          </a:prstGeom>
        </p:spPr>
      </p:pic>
      <p:sp>
        <p:nvSpPr>
          <p:cNvPr id="61" name="Shape 25"/>
          <p:cNvSpPr/>
          <p:nvPr/>
        </p:nvSpPr>
        <p:spPr>
          <a:xfrm>
            <a:off x="0" y="0"/>
            <a:ext cx="12191695" cy="10671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2" name="Shape 26"/>
          <p:cNvSpPr/>
          <p:nvPr/>
        </p:nvSpPr>
        <p:spPr>
          <a:xfrm>
            <a:off x="0" y="105796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3" name="Text 27"/>
          <p:cNvSpPr txBox="1"/>
          <p:nvPr/>
        </p:nvSpPr>
        <p:spPr>
          <a:xfrm>
            <a:off x="381305" y="-9144"/>
            <a:ext cx="53913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35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Online Course</a:t>
            </a:r>
            <a:endParaRPr lang="en-US" sz="1300" dirty="0"/>
          </a:p>
        </p:txBody>
      </p:sp>
      <p:sp>
        <p:nvSpPr>
          <p:cNvPr id="64" name="Text 28"/>
          <p:cNvSpPr txBox="1"/>
          <p:nvPr/>
        </p:nvSpPr>
        <p:spPr>
          <a:xfrm>
            <a:off x="344647" y="385241"/>
            <a:ext cx="7565291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ご参加にあたっての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お願い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（ルール）</a:t>
            </a:r>
            <a:endParaRPr lang="en-US" sz="3600" dirty="0"/>
          </a:p>
        </p:txBody>
      </p:sp>
      <p:sp>
        <p:nvSpPr>
          <p:cNvPr id="65" name="Shape 29"/>
          <p:cNvSpPr/>
          <p:nvPr/>
        </p:nvSpPr>
        <p:spPr>
          <a:xfrm>
            <a:off x="10477195" y="295351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6" name="Text 30"/>
          <p:cNvSpPr txBox="1"/>
          <p:nvPr/>
        </p:nvSpPr>
        <p:spPr>
          <a:xfrm>
            <a:off x="10667390" y="219456"/>
            <a:ext cx="12289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Guidelines</a:t>
            </a:r>
            <a:endParaRPr lang="en-US" sz="1500" dirty="0"/>
          </a:p>
        </p:txBody>
      </p:sp>
      <p:sp>
        <p:nvSpPr>
          <p:cNvPr id="70" name="Shape 33"/>
          <p:cNvSpPr/>
          <p:nvPr/>
        </p:nvSpPr>
        <p:spPr>
          <a:xfrm>
            <a:off x="0" y="6324905"/>
            <a:ext cx="12191695" cy="53309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1" name="Shape 34"/>
          <p:cNvSpPr/>
          <p:nvPr/>
        </p:nvSpPr>
        <p:spPr>
          <a:xfrm>
            <a:off x="0" y="6324905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2" name="Text 35"/>
          <p:cNvSpPr txBox="1"/>
          <p:nvPr/>
        </p:nvSpPr>
        <p:spPr>
          <a:xfrm>
            <a:off x="381305" y="6500470"/>
            <a:ext cx="23015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73" name="Text 36"/>
          <p:cNvSpPr txBox="1"/>
          <p:nvPr/>
        </p:nvSpPr>
        <p:spPr>
          <a:xfrm>
            <a:off x="10696651" y="6500470"/>
            <a:ext cx="132496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74" name="Image 35" descr="preencoded.png"/>
          <p:cNvPicPr>
            <a:picLocks noChangeAspect="1"/>
          </p:cNvPicPr>
          <p:nvPr/>
        </p:nvPicPr>
        <p:blipFill>
          <a:blip r:embed="rId30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81" name="グループ化 80">
            <a:extLst>
              <a:ext uri="{FF2B5EF4-FFF2-40B4-BE49-F238E27FC236}">
                <a16:creationId xmlns:a16="http://schemas.microsoft.com/office/drawing/2014/main" id="{8E4ED06A-AC89-9A5E-A038-C0DE0C4BEAAA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82" name="Shape 31">
              <a:extLst>
                <a:ext uri="{FF2B5EF4-FFF2-40B4-BE49-F238E27FC236}">
                  <a16:creationId xmlns:a16="http://schemas.microsoft.com/office/drawing/2014/main" id="{816E518C-775F-CF5E-F78F-7DC8A323C86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83" name="Text 21">
              <a:extLst>
                <a:ext uri="{FF2B5EF4-FFF2-40B4-BE49-F238E27FC236}">
                  <a16:creationId xmlns:a16="http://schemas.microsoft.com/office/drawing/2014/main" id="{C48EAE25-B3A2-44BF-FDA3-59AEEDA2C263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84" name="Image 2" descr="preencoded.png">
              <a:extLst>
                <a:ext uri="{FF2B5EF4-FFF2-40B4-BE49-F238E27FC236}">
                  <a16:creationId xmlns:a16="http://schemas.microsoft.com/office/drawing/2014/main" id="{23CC5DF4-18BE-DCF5-C8FA-FBF931AFDA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 xml:space="preserve"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今日やること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（3つだけ）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Agenda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457200" y="2093976"/>
            <a:ext cx="3606394" cy="369783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35554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>
            <a:alphaModFix amt="20000"/>
          </a:blip>
          <a:srcRect l="-9464" r="-9464"/>
          <a:stretch/>
        </p:blipFill>
        <p:spPr>
          <a:xfrm>
            <a:off x="2618842" y="2199132"/>
            <a:ext cx="1419149" cy="1591056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t="-3" b="-3"/>
          <a:stretch/>
        </p:blipFill>
        <p:spPr>
          <a:xfrm>
            <a:off x="4292194" y="2093976"/>
            <a:ext cx="3606394" cy="3697834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670548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>
            <a:alphaModFix amt="20000"/>
          </a:blip>
          <a:srcRect t="-3661" b="-3661"/>
          <a:stretch/>
        </p:blipFill>
        <p:spPr>
          <a:xfrm>
            <a:off x="6010351" y="2154326"/>
            <a:ext cx="1867205" cy="1781251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8128102" y="2093976"/>
            <a:ext cx="3606394" cy="3697834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10505542" y="1847088"/>
            <a:ext cx="1524305" cy="1524305"/>
          </a:xfrm>
          <a:prstGeom prst="ellipse">
            <a:avLst/>
          </a:prstGeom>
          <a:solidFill>
            <a:srgbClr val="EFF6FF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7">
            <a:alphaModFix amt="20000"/>
          </a:blip>
          <a:srcRect/>
          <a:stretch/>
        </p:blipFill>
        <p:spPr>
          <a:xfrm>
            <a:off x="10163556" y="2237537"/>
            <a:ext cx="1476756" cy="1476756"/>
          </a:xfrm>
          <a:prstGeom prst="rect">
            <a:avLst/>
          </a:prstGeom>
        </p:spPr>
      </p:pic>
      <p:pic>
        <p:nvPicPr>
          <p:cNvPr id="23" name="Image 8" descr="preencoded.png"/>
          <p:cNvPicPr>
            <a:picLocks noChangeAspect="1"/>
          </p:cNvPicPr>
          <p:nvPr/>
        </p:nvPicPr>
        <p:blipFill>
          <a:blip r:embed="rId8"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955902" y="2380183"/>
            <a:ext cx="609905" cy="609905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1927555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</a:t>
            </a:r>
            <a:endParaRPr lang="en-US" sz="2200" dirty="0"/>
          </a:p>
        </p:txBody>
      </p:sp>
      <p:sp>
        <p:nvSpPr>
          <p:cNvPr id="26" name="Text 14"/>
          <p:cNvSpPr txBox="1"/>
          <p:nvPr/>
        </p:nvSpPr>
        <p:spPr>
          <a:xfrm>
            <a:off x="901005" y="3931919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Formsトリガーで申請を受け取る</a:t>
            </a:r>
            <a:endParaRPr lang="en-US" sz="1400" dirty="0"/>
          </a:p>
        </p:txBody>
      </p:sp>
      <p:sp>
        <p:nvSpPr>
          <p:cNvPr id="27" name="Text 15"/>
          <p:cNvSpPr txBox="1"/>
          <p:nvPr/>
        </p:nvSpPr>
        <p:spPr>
          <a:xfrm>
            <a:off x="1175032" y="4542282"/>
            <a:ext cx="2557549" cy="13203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「新しい応答が送信されたとき」を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トリガーにフローを起動します。</a:t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975104" y="3213202"/>
            <a:ext cx="571500" cy="571500"/>
          </a:xfrm>
          <a:prstGeom prst="rect">
            <a:avLst/>
          </a:prstGeom>
        </p:spPr>
      </p:pic>
      <p:pic>
        <p:nvPicPr>
          <p:cNvPr id="29" name="Image 11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5790895" y="2380183"/>
            <a:ext cx="609905" cy="609905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5762549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</a:t>
            </a:r>
            <a:endParaRPr lang="en-US" sz="2200" dirty="0"/>
          </a:p>
        </p:txBody>
      </p:sp>
      <p:sp>
        <p:nvSpPr>
          <p:cNvPr id="31" name="Text 17"/>
          <p:cNvSpPr txBox="1"/>
          <p:nvPr/>
        </p:nvSpPr>
        <p:spPr>
          <a:xfrm>
            <a:off x="4663706" y="393740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SharePointリストへ自動登録する</a:t>
            </a:r>
            <a:endParaRPr lang="en-US" sz="1400" dirty="0"/>
          </a:p>
        </p:txBody>
      </p:sp>
      <p:sp>
        <p:nvSpPr>
          <p:cNvPr id="32" name="Text 18"/>
          <p:cNvSpPr txBox="1"/>
          <p:nvPr/>
        </p:nvSpPr>
        <p:spPr>
          <a:xfrm>
            <a:off x="4673600" y="4718304"/>
            <a:ext cx="2665375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「アイテムを作成」アクションで</a:t>
            </a:r>
          </a:p>
          <a:p>
            <a:pPr marL="0" indent="0" algn="ctr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回答内容をリストの列にマッピングします。</a:t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5810098" y="3213202"/>
            <a:ext cx="571500" cy="571500"/>
          </a:xfrm>
          <a:prstGeom prst="rect">
            <a:avLst/>
          </a:prstGeom>
        </p:spPr>
      </p:pic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9626803" y="2380183"/>
            <a:ext cx="609905" cy="609905"/>
          </a:xfrm>
          <a:prstGeom prst="rect">
            <a:avLst/>
          </a:prstGeom>
        </p:spPr>
      </p:pic>
      <p:sp>
        <p:nvSpPr>
          <p:cNvPr id="35" name="Text 19"/>
          <p:cNvSpPr/>
          <p:nvPr/>
        </p:nvSpPr>
        <p:spPr>
          <a:xfrm>
            <a:off x="9597542" y="2380183"/>
            <a:ext cx="667512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078D4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3</a:t>
            </a:r>
            <a:endParaRPr lang="en-US" sz="2200" dirty="0"/>
          </a:p>
        </p:txBody>
      </p:sp>
      <p:sp>
        <p:nvSpPr>
          <p:cNvPr id="36" name="Text 20"/>
          <p:cNvSpPr txBox="1"/>
          <p:nvPr/>
        </p:nvSpPr>
        <p:spPr>
          <a:xfrm>
            <a:off x="8490995" y="4077736"/>
            <a:ext cx="2800000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Teamsで担当者に通知する</a:t>
            </a:r>
            <a:endParaRPr lang="en-US" sz="1400" dirty="0"/>
          </a:p>
        </p:txBody>
      </p:sp>
      <p:sp>
        <p:nvSpPr>
          <p:cNvPr id="37" name="Text 21"/>
          <p:cNvSpPr txBox="1"/>
          <p:nvPr/>
        </p:nvSpPr>
        <p:spPr>
          <a:xfrm>
            <a:off x="8212590" y="4718304"/>
            <a:ext cx="3218324" cy="8385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ja-JP" alt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160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→ SharePoint → Teamsで申請フローが完成！</a:t>
            </a: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  <a:p>
            <a:pPr marL="0" indent="0" algn="ctr">
              <a:buNone/>
            </a:pPr>
            <a:endParaRPr lang="en-US" sz="1400" dirty="0"/>
          </a:p>
        </p:txBody>
      </p:sp>
      <p:pic>
        <p:nvPicPr>
          <p:cNvPr id="38" name="Image 14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9645091" y="3213202"/>
            <a:ext cx="571500" cy="571500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33095"/>
            <a:ext cx="7781544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テーマ解説</a:t>
            </a:r>
            <a:r>
              <a:rPr lang="en-US" sz="2700" b="1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（仕組みを理解しよう）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6912" y="146180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43" name="図 42" descr="The image shows a diagram with a question prompting whether something occurred before 12 PM, with options to select 'True' or 'False', and includes an action to post a message in chat or channel.  AI 生成コンテンツは誤りを含む可能性があります。">
            <a:extLst>
              <a:ext uri="{FF2B5EF4-FFF2-40B4-BE49-F238E27FC236}">
                <a16:creationId xmlns:a16="http://schemas.microsoft.com/office/drawing/2014/main" id="{C2A29B6F-3C93-A1C3-76A2-A2F9DE2BAF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9" y="2558206"/>
            <a:ext cx="3895055" cy="26696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4" name="フリーフォーム: 図形 43">
            <a:extLst>
              <a:ext uri="{FF2B5EF4-FFF2-40B4-BE49-F238E27FC236}">
                <a16:creationId xmlns:a16="http://schemas.microsoft.com/office/drawing/2014/main" id="{F9B91B76-7920-EE96-CB51-D8B32827C982}"/>
              </a:ext>
            </a:extLst>
          </p:cNvPr>
          <p:cNvSpPr/>
          <p:nvPr/>
        </p:nvSpPr>
        <p:spPr>
          <a:xfrm>
            <a:off x="6002970" y="1626078"/>
            <a:ext cx="3973286" cy="4996543"/>
          </a:xfrm>
          <a:custGeom>
            <a:avLst/>
            <a:gdLst>
              <a:gd name="csX0" fmla="*/ 0 w 3973286"/>
              <a:gd name="csY0" fmla="*/ 4675414 h 4996543"/>
              <a:gd name="csX1" fmla="*/ 0 w 3973286"/>
              <a:gd name="csY1" fmla="*/ 4996543 h 4996543"/>
              <a:gd name="csX2" fmla="*/ 1665515 w 3973286"/>
              <a:gd name="csY2" fmla="*/ 4996543 h 4996543"/>
              <a:gd name="csX3" fmla="*/ 1670957 w 3973286"/>
              <a:gd name="csY3" fmla="*/ 4713514 h 4996543"/>
              <a:gd name="csX4" fmla="*/ 1670957 w 3973286"/>
              <a:gd name="csY4" fmla="*/ 0 h 4996543"/>
              <a:gd name="csX5" fmla="*/ 3973286 w 3973286"/>
              <a:gd name="csY5" fmla="*/ 0 h 4996543"/>
              <a:gd name="csX6" fmla="*/ 3973286 w 3973286"/>
              <a:gd name="csY6" fmla="*/ 854529 h 49965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973286" h="4996543">
                <a:moveTo>
                  <a:pt x="0" y="4675414"/>
                </a:moveTo>
                <a:lnTo>
                  <a:pt x="0" y="4996543"/>
                </a:lnTo>
                <a:lnTo>
                  <a:pt x="1665515" y="4996543"/>
                </a:lnTo>
                <a:lnTo>
                  <a:pt x="1670957" y="4713514"/>
                </a:lnTo>
                <a:lnTo>
                  <a:pt x="1670957" y="0"/>
                </a:lnTo>
                <a:lnTo>
                  <a:pt x="3973286" y="0"/>
                </a:lnTo>
                <a:lnTo>
                  <a:pt x="3973286" y="854529"/>
                </a:lnTo>
              </a:path>
            </a:pathLst>
          </a:custGeom>
          <a:noFill/>
          <a:ln w="38100">
            <a:solidFill>
              <a:srgbClr val="C0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Text 5">
            <a:extLst>
              <a:ext uri="{FF2B5EF4-FFF2-40B4-BE49-F238E27FC236}">
                <a16:creationId xmlns:a16="http://schemas.microsoft.com/office/drawing/2014/main" id="{F34FF253-528E-97DF-BF89-4A55B2E7EBC4}"/>
              </a:ext>
            </a:extLst>
          </p:cNvPr>
          <p:cNvSpPr txBox="1"/>
          <p:nvPr/>
        </p:nvSpPr>
        <p:spPr>
          <a:xfrm>
            <a:off x="126433" y="1890979"/>
            <a:ext cx="4780479" cy="3947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Microsoft Forms </a:t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に申請が送信されたタイミングでフローを起動し、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②「応答の詳細を取得」で回答データを取り出す。</a:t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③SharePointリストの「アイテムを作成」で申請内容を自動登録し、</a:t>
            </a:r>
          </a:p>
          <a:p>
            <a:pPr marL="0" indent="0" algn="l">
              <a:buNone/>
            </a:pP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④Teamsにメッセージを投稿して、担当者にリアルタイムで知らせるフロー。</a:t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ja-JP" altLang="en-US" sz="20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en-US" altLang="ja-JP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</a:p>
          <a:p>
            <a:pPr marL="0" indent="0" algn="l">
              <a:buNone/>
            </a:pPr>
            <a:r>
              <a:rPr lang="ja-JP" altLang="en-US" sz="20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ja-JP" altLang="en-US" sz="2000" b="1" dirty="0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927202" cy="276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275778" y="3813714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The image is a screenshot from a software interface displaying a time zone conversion setting, with input fields for base time, submission time, source time zone (UTC), and destination time zone (Japan Standard Time), and a sorting feature for date and time patterns.  AI 生成コンテンツは誤りを含む可能性があります。">
            <a:extLst>
              <a:ext uri="{FF2B5EF4-FFF2-40B4-BE49-F238E27FC236}">
                <a16:creationId xmlns:a16="http://schemas.microsoft.com/office/drawing/2014/main" id="{A872EEC3-0079-B857-A352-13B0525469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65" y="1574708"/>
            <a:ext cx="7176146" cy="453717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図 15" descr="The image depicts a stylized, blue silhouette of the iconic Big Ben clock tower with a small clock face and a blue sky background.  AI 生成コンテンツは誤りを含む可能性があります。">
            <a:extLst>
              <a:ext uri="{FF2B5EF4-FFF2-40B4-BE49-F238E27FC236}">
                <a16:creationId xmlns:a16="http://schemas.microsoft.com/office/drawing/2014/main" id="{7B3B07E8-D558-44C5-F536-149592DC90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2878" y="3015855"/>
            <a:ext cx="807220" cy="1544918"/>
          </a:xfrm>
          <a:prstGeom prst="rect">
            <a:avLst/>
          </a:prstGeom>
        </p:spPr>
      </p:pic>
      <p:pic>
        <p:nvPicPr>
          <p:cNvPr id="18" name="図 17" descr="The image depicts a green map highlighting Japan, with its various regions and cities distinctly marked.  AI 生成コンテンツは誤りを含む可能性があります。">
            <a:extLst>
              <a:ext uri="{FF2B5EF4-FFF2-40B4-BE49-F238E27FC236}">
                <a16:creationId xmlns:a16="http://schemas.microsoft.com/office/drawing/2014/main" id="{97FD49C7-206D-6C4B-3177-E4037E3C6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27943" y="4627001"/>
            <a:ext cx="1151709" cy="1151709"/>
          </a:xfrm>
          <a:prstGeom prst="rect">
            <a:avLst/>
          </a:prstGeom>
        </p:spPr>
      </p:pic>
      <p:sp>
        <p:nvSpPr>
          <p:cNvPr id="12" name="矢印: U ターン 11">
            <a:extLst>
              <a:ext uri="{FF2B5EF4-FFF2-40B4-BE49-F238E27FC236}">
                <a16:creationId xmlns:a16="http://schemas.microsoft.com/office/drawing/2014/main" id="{B61745D9-8D46-A514-CF17-682EE8BDCFC1}"/>
              </a:ext>
            </a:extLst>
          </p:cNvPr>
          <p:cNvSpPr/>
          <p:nvPr/>
        </p:nvSpPr>
        <p:spPr>
          <a:xfrm rot="5400000">
            <a:off x="9871502" y="4213256"/>
            <a:ext cx="807220" cy="975532"/>
          </a:xfrm>
          <a:prstGeom prst="uturnArrow">
            <a:avLst>
              <a:gd name="adj1" fmla="val 19336"/>
              <a:gd name="adj2" fmla="val 25000"/>
              <a:gd name="adj3" fmla="val 37137"/>
              <a:gd name="adj4" fmla="val 43750"/>
              <a:gd name="adj5" fmla="val 87721"/>
            </a:avLst>
          </a:prstGeom>
          <a:solidFill>
            <a:schemeClr val="bg1">
              <a:lumMod val="95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659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図 19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73095EBC-5E6E-5317-87A5-17E37B58C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400" y="3836834"/>
            <a:ext cx="8105004" cy="22566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2" name="図 21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79F3BB5C-856E-FA0C-3333-92328AEDB1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7264" y="1380548"/>
            <a:ext cx="6181272" cy="12019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図 24" descr="￣ﾁﾄ  AI 生成コンテンツは誤りを含む可能性があります。">
            <a:extLst>
              <a:ext uri="{FF2B5EF4-FFF2-40B4-BE49-F238E27FC236}">
                <a16:creationId xmlns:a16="http://schemas.microsoft.com/office/drawing/2014/main" id="{24B8273A-79BB-524B-B355-12D0488F82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5265" y="149396"/>
            <a:ext cx="3025224" cy="3399128"/>
          </a:xfrm>
          <a:prstGeom prst="rect">
            <a:avLst/>
          </a:prstGeom>
        </p:spPr>
      </p:pic>
      <p:pic>
        <p:nvPicPr>
          <p:cNvPr id="26" name="図 25" descr="2009-06-15T13:45:30  AI 生成コンテンツは誤りを含む可能性があります。">
            <a:extLst>
              <a:ext uri="{FF2B5EF4-FFF2-40B4-BE49-F238E27FC236}">
                <a16:creationId xmlns:a16="http://schemas.microsoft.com/office/drawing/2014/main" id="{90BB8993-B660-880F-C455-A312D2B2E10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5689" t="35383" b="18386"/>
          <a:stretch>
            <a:fillRect/>
          </a:stretch>
        </p:blipFill>
        <p:spPr>
          <a:xfrm>
            <a:off x="6504442" y="2551604"/>
            <a:ext cx="2909480" cy="10758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5E06D86B-F8D9-20E7-3D67-0EF3882034F2}"/>
              </a:ext>
            </a:extLst>
          </p:cNvPr>
          <p:cNvSpPr/>
          <p:nvPr/>
        </p:nvSpPr>
        <p:spPr>
          <a:xfrm>
            <a:off x="6758141" y="2898486"/>
            <a:ext cx="452555" cy="530514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7" name="図 26" descr="The image depicts a computer screen showing a code snippet in Japanese, specifically a function `formatDateTime` that converts UTC time to Japan Standard Time, with parameters and a detailed code view.  AI 生成コンテンツは誤りを含む可能性があります。">
            <a:extLst>
              <a:ext uri="{FF2B5EF4-FFF2-40B4-BE49-F238E27FC236}">
                <a16:creationId xmlns:a16="http://schemas.microsoft.com/office/drawing/2014/main" id="{1540BB72-A70B-4993-9B89-22A2C53B10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7562" t="10272" b="65939"/>
          <a:stretch>
            <a:fillRect/>
          </a:stretch>
        </p:blipFill>
        <p:spPr>
          <a:xfrm>
            <a:off x="3790940" y="5776265"/>
            <a:ext cx="8108134" cy="102412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四角形: 角を丸くする 27">
            <a:extLst>
              <a:ext uri="{FF2B5EF4-FFF2-40B4-BE49-F238E27FC236}">
                <a16:creationId xmlns:a16="http://schemas.microsoft.com/office/drawing/2014/main" id="{C16EA426-E783-A598-7EF5-C60F79944EA6}"/>
              </a:ext>
            </a:extLst>
          </p:cNvPr>
          <p:cNvSpPr/>
          <p:nvPr/>
        </p:nvSpPr>
        <p:spPr>
          <a:xfrm>
            <a:off x="334607" y="4741177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94758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199" y="533095"/>
            <a:ext cx="10220249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ポイントとなるアクション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（</a:t>
            </a:r>
            <a:r>
              <a:rPr lang="ja-JP" alt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抜粋解説</a:t>
            </a:r>
            <a:r>
              <a:rPr lang="en-US" sz="27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）</a:t>
            </a:r>
            <a:endParaRPr lang="en-US" sz="4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05" y="1485900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pic>
        <p:nvPicPr>
          <p:cNvPr id="11" name="図 10" descr="The text describes a workflow where a new response is sent, and upon receiving it, the details are extracted, time zone conversion is performed, and the hour (HH) is extracted and converted from a string to a numerical format.  AI 生成コンテンツは誤りを含む可能性があります。">
            <a:extLst>
              <a:ext uri="{FF2B5EF4-FFF2-40B4-BE49-F238E27FC236}">
                <a16:creationId xmlns:a16="http://schemas.microsoft.com/office/drawing/2014/main" id="{F68FB933-EA39-0DBF-9AF9-8148DEDB9C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12" y="1538935"/>
            <a:ext cx="2366966" cy="477305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図 13" descr="The image depicts a blue-clad figure with a stern expression, hands clenched into fists, and a backward bowed head.  AI 生成コンテンツは誤りを含む可能性があります。">
            <a:extLst>
              <a:ext uri="{FF2B5EF4-FFF2-40B4-BE49-F238E27FC236}">
                <a16:creationId xmlns:a16="http://schemas.microsoft.com/office/drawing/2014/main" id="{25F6D668-986E-7313-5F03-1BEC504E4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8335" y="1587308"/>
            <a:ext cx="1915069" cy="2293496"/>
          </a:xfrm>
          <a:prstGeom prst="rect">
            <a:avLst/>
          </a:prstGeom>
        </p:spPr>
      </p:pic>
      <p:sp>
        <p:nvSpPr>
          <p:cNvPr id="15" name="Text 5">
            <a:extLst>
              <a:ext uri="{FF2B5EF4-FFF2-40B4-BE49-F238E27FC236}">
                <a16:creationId xmlns:a16="http://schemas.microsoft.com/office/drawing/2014/main" id="{B5DBE15C-3F0E-995C-C955-5A890D5C4AD0}"/>
              </a:ext>
            </a:extLst>
          </p:cNvPr>
          <p:cNvSpPr txBox="1"/>
          <p:nvPr/>
        </p:nvSpPr>
        <p:spPr>
          <a:xfrm>
            <a:off x="3257550" y="1555509"/>
            <a:ext cx="6416866" cy="2849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SharePointリストの「アイテムを作成」で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Formsの回答（申請者名・申請内容）を</a:t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リストの各列にマッピングします。</a:t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C0000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  <a:p>
            <a:pPr marL="0" indent="0" algn="l">
              <a:buNone/>
            </a:pPr>
            <a:r>
              <a:rPr lang="ja-JP" altLang="en-US" sz="28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/>
            </a:r>
            <a:endParaRPr lang="en-US" altLang="ja-JP" sz="2800" b="1">
              <a:solidFill>
                <a:srgbClr val="1F2937"/>
              </a:solidFill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  <p:pic>
        <p:nvPicPr>
          <p:cNvPr id="17" name="図 16" descr="The image shows a text snippet from a software interface, displaying a Japanese prompt to convert a string into an integer and a parameter input field with a placeholder for code.  AI 生成コンテンツは誤りを含む可能性があります。">
            <a:extLst>
              <a:ext uri="{FF2B5EF4-FFF2-40B4-BE49-F238E27FC236}">
                <a16:creationId xmlns:a16="http://schemas.microsoft.com/office/drawing/2014/main" id="{F566F71E-C914-B0FA-ED5D-DC027EE118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956" y="4417074"/>
            <a:ext cx="7342663" cy="23710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7CBEC746-521C-9E2B-7D90-711E9905A4D7}"/>
              </a:ext>
            </a:extLst>
          </p:cNvPr>
          <p:cNvSpPr/>
          <p:nvPr/>
        </p:nvSpPr>
        <p:spPr>
          <a:xfrm>
            <a:off x="325486" y="5641708"/>
            <a:ext cx="2306688" cy="747059"/>
          </a:xfrm>
          <a:prstGeom prst="roundRect">
            <a:avLst/>
          </a:prstGeom>
          <a:noFill/>
          <a:ln w="41275"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B5110F6F-46C1-8584-E321-1DE91CADF579}"/>
              </a:ext>
            </a:extLst>
          </p:cNvPr>
          <p:cNvSpPr txBox="1"/>
          <p:nvPr/>
        </p:nvSpPr>
        <p:spPr>
          <a:xfrm>
            <a:off x="8092296" y="5918786"/>
            <a:ext cx="3774218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ja-JP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Title列 → </a:t>
            </a:r>
            <a:r>
              <a:rPr lang="ja-JP" altLang="en-US" sz="2800" b="1">
                <a:solidFill>
                  <a:srgbClr val="1F2937"/>
                </a:solidFill>
                <a:highlight>
                  <a:srgbClr val="FFFF00"/>
                </a:highlight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申請者名の回答</a:t>
            </a:r>
            <a:endParaRPr lang="en-US" altLang="ja-JP" sz="2800" b="1">
              <a:solidFill>
                <a:srgbClr val="1F2937"/>
              </a:solidFill>
              <a:highlight>
                <a:srgbClr val="FFFF00"/>
              </a:highlight>
              <a:latin typeface="Noto Sans JP" pitchFamily="34" charset="0"/>
              <a:ea typeface="Noto Sans JP" pitchFamily="34" charset="-122"/>
              <a:cs typeface="Noto Sans JP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68753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91695" cy="14859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0" y="1476756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457200" y="228600"/>
            <a:ext cx="56007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858500" y="828446"/>
            <a:ext cx="114300" cy="1143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11048695" y="752551"/>
            <a:ext cx="77175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Concept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-1" y="1501341"/>
            <a:ext cx="12191695" cy="4914900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3" name="Image 8" descr="preencoded.png"/>
          <p:cNvPicPr>
            <a:picLocks noChangeAspect="1"/>
          </p:cNvPicPr>
          <p:nvPr/>
        </p:nvPicPr>
        <p:blipFill>
          <a:blip/>
          <a:srcRect t="-401" b="-401"/>
          <a:stretch/>
        </p:blipFill>
        <p:spPr>
          <a:xfrm>
            <a:off x="0" y="6801307"/>
            <a:ext cx="12191695" cy="57607"/>
          </a:xfrm>
          <a:prstGeom prst="rect">
            <a:avLst/>
          </a:prstGeom>
        </p:spPr>
      </p:pic>
      <p:sp>
        <p:nvSpPr>
          <p:cNvPr id="39" name="Shape 22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3"/>
          <p:cNvSpPr/>
          <p:nvPr/>
        </p:nvSpPr>
        <p:spPr>
          <a:xfrm>
            <a:off x="0" y="6400800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4"/>
          <p:cNvSpPr txBox="1"/>
          <p:nvPr/>
        </p:nvSpPr>
        <p:spPr>
          <a:xfrm>
            <a:off x="457200" y="6519672"/>
            <a:ext cx="25731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200" dirty="0"/>
          </a:p>
        </p:txBody>
      </p:sp>
      <p:sp>
        <p:nvSpPr>
          <p:cNvPr id="42" name="Text 25"/>
          <p:cNvSpPr txBox="1"/>
          <p:nvPr/>
        </p:nvSpPr>
        <p:spPr>
          <a:xfrm>
            <a:off x="10490911" y="6519672"/>
            <a:ext cx="14849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200" dirty="0"/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722FBEAE-8CB7-7493-F595-CD1F2E21BD05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48" name="Shape 31">
              <a:extLst>
                <a:ext uri="{FF2B5EF4-FFF2-40B4-BE49-F238E27FC236}">
                  <a16:creationId xmlns:a16="http://schemas.microsoft.com/office/drawing/2014/main" id="{DD44BB3C-F859-7A5E-7E34-CC1C35ECEA4D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9" name="Text 21">
              <a:extLst>
                <a:ext uri="{FF2B5EF4-FFF2-40B4-BE49-F238E27FC236}">
                  <a16:creationId xmlns:a16="http://schemas.microsoft.com/office/drawing/2014/main" id="{A7F44BB1-1667-BB85-557B-D7C1AAD8A0FA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0" name="Image 2" descr="preencoded.png">
              <a:extLst>
                <a:ext uri="{FF2B5EF4-FFF2-40B4-BE49-F238E27FC236}">
                  <a16:creationId xmlns:a16="http://schemas.microsoft.com/office/drawing/2014/main" id="{003A3C3D-15E3-1F1A-D918-AB2472E8059D}"/>
                </a:ext>
              </a:extLst>
            </p:cNvPr>
            <p:cNvPicPr>
              <a:picLocks noChangeAspect="1"/>
            </p:cNvPicPr>
            <p:nvPr/>
          </p:nvPicPr>
          <p:blipFill>
            <a:blip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0" name="Text 5">
            <a:extLst>
              <a:ext uri="{FF2B5EF4-FFF2-40B4-BE49-F238E27FC236}">
                <a16:creationId xmlns:a16="http://schemas.microsoft.com/office/drawing/2014/main" id="{0DA7D246-5DFE-385C-DC4F-E8A338DB3505}"/>
              </a:ext>
            </a:extLst>
          </p:cNvPr>
          <p:cNvSpPr txBox="1"/>
          <p:nvPr/>
        </p:nvSpPr>
        <p:spPr>
          <a:xfrm>
            <a:off x="3030322" y="3331497"/>
            <a:ext cx="8169837" cy="810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4400" b="1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</a:rPr>
              <a:t>ハンズオン行きましょう。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1541831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71500" y="571500"/>
            <a:ext cx="1333195" cy="476402"/>
          </a:xfrm>
          <a:prstGeom prst="roundRect">
            <a:avLst>
              <a:gd name="adj" fmla="val 191939"/>
            </a:avLst>
          </a:prstGeom>
          <a:solidFill>
            <a:srgbClr val="256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895196" y="1558137"/>
            <a:ext cx="11194477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952805" y="152430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952805" y="3143707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952805" y="3143707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952805" y="4762195"/>
            <a:ext cx="11136868" cy="1429207"/>
          </a:xfrm>
          <a:prstGeom prst="roundRect">
            <a:avLst>
              <a:gd name="adj" fmla="val 17061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52805" y="4762195"/>
            <a:ext cx="114300" cy="1429207"/>
          </a:xfrm>
          <a:prstGeom prst="roundRect">
            <a:avLst>
              <a:gd name="adj" fmla="val 213333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91540" y="642823"/>
            <a:ext cx="703174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Vol.14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2190902" y="523951"/>
            <a:ext cx="9354312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 sz="31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</a:rPr>
              <a:t>今日のポイント　３つ</a:t>
            </a:r>
            <a:endParaRPr lang="en-US" sz="3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l="-469" r="-469"/>
          <a:stretch/>
        </p:blipFill>
        <p:spPr>
          <a:xfrm>
            <a:off x="1462126" y="2024482"/>
            <a:ext cx="504749" cy="57150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2381098" y="1570939"/>
            <a:ext cx="87636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トリガーは「何かが起きたとき」に動く仕組み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2381098" y="2124151"/>
            <a:ext cx="9063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 xml:space="preserve"> Forms回答・メール受信など「イベント」を起点にフローが自動で動き始めます。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「あ、これ自動化できる」と気づける第一歩です。</a:t>
            </a:r>
            <a:endParaRPr lang="en-US" sz="18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429207" y="3642970"/>
            <a:ext cx="571500" cy="5715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381098" y="3286354"/>
            <a:ext cx="868680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SharePointリストは「自動で書き込めるデータベース」</a:t>
            </a:r>
            <a:endParaRPr lang="en-US" sz="2100" dirty="0"/>
          </a:p>
        </p:txBody>
      </p:sp>
      <p:sp>
        <p:nvSpPr>
          <p:cNvPr id="18" name="Text 14"/>
          <p:cNvSpPr txBox="1"/>
          <p:nvPr/>
        </p:nvSpPr>
        <p:spPr>
          <a:xfrm>
            <a:off x="2381097" y="3743554"/>
            <a:ext cx="98109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Formsの回答は動的コンテンツとしてSPの列にそのままマッピングできます。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一度登録すれば検索・集計・管理がしやすくなります。</a:t>
            </a:r>
            <a:endParaRPr lang="en-US" sz="18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rcRect l="-469" r="-469"/>
          <a:stretch/>
        </p:blipFill>
        <p:spPr>
          <a:xfrm>
            <a:off x="1462126" y="5262372"/>
            <a:ext cx="504749" cy="5715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2381098" y="4905756"/>
            <a:ext cx="954420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Forms → SharePoint → Teamsは申請自動化の基本パターン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2381097" y="5362956"/>
            <a:ext cx="981059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申請データはSPに蓄積され、Teams通知で「誰かが気づける」仕組みが完成します。</a:t>
            </a:r>
            <a:endParaRPr lang="en-US" sz="18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今日作ったフローが、あなたの最初の「申請自動化」です。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306202" y="6191402"/>
            <a:ext cx="1505102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0" y="1447495"/>
            <a:ext cx="12191695" cy="5266944"/>
          </a:xfrm>
          <a:prstGeom prst="rect">
            <a:avLst/>
          </a:prstGeom>
          <a:solidFill>
            <a:srgbClr val="F9FA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304495" y="1752905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619049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9244" y="2257654"/>
            <a:ext cx="304495" cy="304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107734" y="2066544"/>
            <a:ext cx="1592843" cy="495605"/>
          </a:xfrm>
          <a:prstGeom prst="roundRect">
            <a:avLst>
              <a:gd name="adj" fmla="val 112613"/>
            </a:avLst>
          </a:prstGeom>
          <a:solidFill>
            <a:srgbClr val="EDE9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9" name="Text 6"/>
          <p:cNvSpPr txBox="1"/>
          <p:nvPr/>
        </p:nvSpPr>
        <p:spPr>
          <a:xfrm>
            <a:off x="1428292" y="2138930"/>
            <a:ext cx="2520089" cy="39902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6D28D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備品発注申請の自動化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426923" y="2980944"/>
            <a:ext cx="3542488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発注フォームに回答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→SPリストに自動登録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374650" y="3891350"/>
            <a:ext cx="3594761" cy="100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→アイテムを作成（SP）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→Teamsで発注通知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12" name="Shape 9"/>
          <p:cNvSpPr/>
          <p:nvPr/>
        </p:nvSpPr>
        <p:spPr>
          <a:xfrm>
            <a:off x="304494" y="5309921"/>
            <a:ext cx="3622853" cy="1052474"/>
          </a:xfrm>
          <a:prstGeom prst="roundRect">
            <a:avLst>
              <a:gd name="adj" fmla="val 22848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13" name="Text 10"/>
          <p:cNvSpPr txBox="1"/>
          <p:nvPr/>
        </p:nvSpPr>
        <p:spPr>
          <a:xfrm>
            <a:off x="934516" y="5379112"/>
            <a:ext cx="2873045" cy="883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A78BFA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16" name="Shape 12"/>
          <p:cNvSpPr/>
          <p:nvPr/>
        </p:nvSpPr>
        <p:spPr>
          <a:xfrm>
            <a:off x="4267505" y="175453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17" name="Shape 13"/>
          <p:cNvSpPr/>
          <p:nvPr/>
        </p:nvSpPr>
        <p:spPr>
          <a:xfrm>
            <a:off x="4556455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46650" y="2257654"/>
            <a:ext cx="304495" cy="304495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850076" y="2066544"/>
            <a:ext cx="1792480" cy="495605"/>
          </a:xfrm>
          <a:prstGeom prst="roundRect">
            <a:avLst>
              <a:gd name="adj" fmla="val 112613"/>
            </a:avLst>
          </a:prstGeom>
          <a:solidFill>
            <a:srgbClr val="D1FAE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20" name="Text 15"/>
          <p:cNvSpPr txBox="1"/>
          <p:nvPr/>
        </p:nvSpPr>
        <p:spPr>
          <a:xfrm>
            <a:off x="5918614" y="2138930"/>
            <a:ext cx="1940655" cy="33421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0478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稟議・申請フローの自動化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4457242" y="3031102"/>
            <a:ext cx="3277210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申請フォーム受信</a:t>
            </a:r>
            <a:endParaRPr lang="en-US" sz="4000" dirty="0"/>
          </a:p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→承認者にTeams通知</a:t>
            </a:r>
            <a:endParaRPr lang="en-US" sz="4000" dirty="0"/>
          </a:p>
        </p:txBody>
      </p:sp>
      <p:sp>
        <p:nvSpPr>
          <p:cNvPr id="22" name="Text 17"/>
          <p:cNvSpPr txBox="1"/>
          <p:nvPr/>
        </p:nvSpPr>
        <p:spPr>
          <a:xfrm>
            <a:off x="4312056" y="3873215"/>
            <a:ext cx="3594761" cy="11059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→Teamsで承認者通知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23" name="Shape 18"/>
          <p:cNvSpPr/>
          <p:nvPr/>
        </p:nvSpPr>
        <p:spPr>
          <a:xfrm>
            <a:off x="4402836" y="5309921"/>
            <a:ext cx="3477463" cy="1052474"/>
          </a:xfrm>
          <a:prstGeom prst="roundRect">
            <a:avLst>
              <a:gd name="adj" fmla="val 22848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24" name="Text 19"/>
          <p:cNvSpPr txBox="1"/>
          <p:nvPr/>
        </p:nvSpPr>
        <p:spPr>
          <a:xfrm>
            <a:off x="5142585" y="5398054"/>
            <a:ext cx="2873045" cy="792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</a:t>
            </a:r>
            <a:r>
              <a:rPr lang="en-US" sz="2000" b="1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→SharePoint</a:t>
            </a:r>
          </a:p>
          <a:p>
            <a:pPr marL="0" indent="0" algn="l">
              <a:buNone/>
            </a:pPr>
            <a:r>
              <a:rPr lang="en-US" sz="2000" b="1" dirty="0">
                <a:solidFill>
                  <a:srgbClr val="34D39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</a:t>
            </a:r>
            <a:endParaRPr lang="en-US" sz="2800" dirty="0"/>
          </a:p>
        </p:txBody>
      </p:sp>
      <p:sp>
        <p:nvSpPr>
          <p:cNvPr id="27" name="Shape 21"/>
          <p:cNvSpPr/>
          <p:nvPr/>
        </p:nvSpPr>
        <p:spPr>
          <a:xfrm>
            <a:off x="8194852" y="1766683"/>
            <a:ext cx="3715207" cy="4657954"/>
          </a:xfrm>
          <a:prstGeom prst="roundRect">
            <a:avLst>
              <a:gd name="adj" fmla="val 20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63500" dist="38100" dir="16200000" algn="bl" rotWithShape="0">
              <a:srgbClr val="000000">
                <a:alpha val="5000"/>
              </a:srgbClr>
            </a:outerShdw>
          </a:effectLst>
        </p:spPr>
        <p:txBody>
          <a:bodyPr wrap="square"/>
          <a:lstStyle/>
          <a:p>
            <a:endParaRPr lang="ja-JP" altLang="en-US"/>
          </a:p>
        </p:txBody>
      </p:sp>
      <p:sp>
        <p:nvSpPr>
          <p:cNvPr id="28" name="Shape 22"/>
          <p:cNvSpPr/>
          <p:nvPr/>
        </p:nvSpPr>
        <p:spPr>
          <a:xfrm>
            <a:off x="8492947" y="2066544"/>
            <a:ext cx="685800" cy="685800"/>
          </a:xfrm>
          <a:prstGeom prst="roundRect">
            <a:avLst>
              <a:gd name="adj" fmla="val 59259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5"/>
          <a:srcRect l="-90" r="-90"/>
          <a:stretch/>
        </p:blipFill>
        <p:spPr>
          <a:xfrm>
            <a:off x="8645652" y="2257654"/>
            <a:ext cx="381305" cy="304495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9640007" y="2042347"/>
            <a:ext cx="1968754" cy="495605"/>
          </a:xfrm>
          <a:prstGeom prst="roundRect">
            <a:avLst>
              <a:gd name="adj" fmla="val 112613"/>
            </a:avLst>
          </a:prstGeom>
          <a:solidFill>
            <a:srgbClr val="DBEAF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31" name="Text 24"/>
          <p:cNvSpPr txBox="1"/>
          <p:nvPr/>
        </p:nvSpPr>
        <p:spPr>
          <a:xfrm>
            <a:off x="9618668" y="1851053"/>
            <a:ext cx="2215199" cy="7759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14300" tIns="38100" rIns="114300" bIns="38100" rtlCol="0" anchor="ctr"/>
          <a:lstStyle/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外部問い合わせ管理</a:t>
            </a:r>
          </a:p>
          <a:p>
            <a:pPr marL="0" indent="0" algn="l">
              <a:buNone/>
            </a:pPr>
            <a:r>
              <a:rPr lang="en-US" sz="2000" b="1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r>
              <a:rPr lang="en-US" sz="2000" b="1" dirty="0">
                <a:solidFill>
                  <a:srgbClr val="1D4ED8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承認者通知</a:t>
            </a:r>
            <a:endParaRPr lang="en-US" sz="3600" dirty="0"/>
          </a:p>
        </p:txBody>
      </p:sp>
      <p:sp>
        <p:nvSpPr>
          <p:cNvPr id="32" name="Text 25"/>
          <p:cNvSpPr txBox="1"/>
          <p:nvPr/>
        </p:nvSpPr>
        <p:spPr>
          <a:xfrm>
            <a:off x="8356532" y="3059349"/>
            <a:ext cx="3294686" cy="503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問い合わせ受信</a:t>
            </a:r>
          </a:p>
          <a:p>
            <a:pPr marL="0" indent="0" algn="l">
              <a:buNone/>
            </a:pPr>
            <a:r>
              <a:rPr lang="en-US" sz="24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→担当者にリアルタイム通知</a:t>
            </a:r>
            <a:endParaRPr lang="en-US" sz="4000" dirty="0"/>
          </a:p>
        </p:txBody>
      </p:sp>
      <p:sp>
        <p:nvSpPr>
          <p:cNvPr id="33" name="Text 26"/>
          <p:cNvSpPr txBox="1"/>
          <p:nvPr/>
        </p:nvSpPr>
        <p:spPr>
          <a:xfrm>
            <a:off x="8287207" y="3957087"/>
            <a:ext cx="3467202" cy="1415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Formsトリガー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→SP登録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→Teamsで担当者通知</a:t>
            </a: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  <a:p>
            <a:pPr marL="0" indent="0" algn="l">
              <a:lnSpc>
                <a:spcPct val="150000"/>
              </a:lnSpc>
              <a:buNone/>
            </a:pPr>
            <a:endParaRPr lang="en-US" sz="1600" b="1" dirty="0"/>
          </a:p>
        </p:txBody>
      </p:sp>
      <p:sp>
        <p:nvSpPr>
          <p:cNvPr id="35" name="Text 28"/>
          <p:cNvSpPr txBox="1"/>
          <p:nvPr/>
        </p:nvSpPr>
        <p:spPr>
          <a:xfrm>
            <a:off x="8425281" y="5426075"/>
            <a:ext cx="287304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38" name="Shape 30"/>
          <p:cNvSpPr/>
          <p:nvPr/>
        </p:nvSpPr>
        <p:spPr>
          <a:xfrm>
            <a:off x="0" y="28803"/>
            <a:ext cx="12191695" cy="144749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39" name="Shape 31"/>
          <p:cNvSpPr/>
          <p:nvPr/>
        </p:nvSpPr>
        <p:spPr>
          <a:xfrm>
            <a:off x="0" y="1438351"/>
            <a:ext cx="12191695" cy="9144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/>
          </a:p>
        </p:txBody>
      </p:sp>
      <p:sp>
        <p:nvSpPr>
          <p:cNvPr id="41" name="Text 33"/>
          <p:cNvSpPr txBox="1"/>
          <p:nvPr/>
        </p:nvSpPr>
        <p:spPr>
          <a:xfrm>
            <a:off x="421292" y="526048"/>
            <a:ext cx="11030407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Forms × SharePoint × Teams</a:t>
            </a:r>
          </a:p>
          <a:p>
            <a:pPr marL="0" indent="0" algn="l">
              <a:buNone/>
            </a:pPr>
            <a:r>
              <a:rPr lang="en-US" sz="4500" b="1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申請自動化の第一歩</a:t>
            </a:r>
            <a:endParaRPr lang="en-US" sz="4500" dirty="0"/>
          </a:p>
        </p:txBody>
      </p:sp>
      <p:sp>
        <p:nvSpPr>
          <p:cNvPr id="43" name="Text 35"/>
          <p:cNvSpPr txBox="1"/>
          <p:nvPr/>
        </p:nvSpPr>
        <p:spPr>
          <a:xfrm>
            <a:off x="10911535" y="212905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Use Cases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0" y="6710782"/>
            <a:ext cx="12191695" cy="20025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/>
          <a:lstStyle/>
          <a:p>
            <a:endParaRPr lang="ja-JP" altLang="en-US"/>
          </a:p>
        </p:txBody>
      </p:sp>
      <p:sp>
        <p:nvSpPr>
          <p:cNvPr id="47" name="Shape 38"/>
          <p:cNvSpPr/>
          <p:nvPr/>
        </p:nvSpPr>
        <p:spPr>
          <a:xfrm>
            <a:off x="0" y="6710782"/>
            <a:ext cx="12191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 wrap="square"/>
          <a:lstStyle/>
          <a:p>
            <a:endParaRPr lang="ja-JP" altLang="en-US" sz="3200"/>
          </a:p>
        </p:txBody>
      </p:sp>
      <p:sp>
        <p:nvSpPr>
          <p:cNvPr id="48" name="Text 39"/>
          <p:cNvSpPr txBox="1"/>
          <p:nvPr/>
        </p:nvSpPr>
        <p:spPr>
          <a:xfrm>
            <a:off x="457200" y="6719926"/>
            <a:ext cx="224485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10646359" y="6719926"/>
            <a:ext cx="13039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6"/>
          <a:srcRect l="-200" r="-200"/>
          <a:stretch/>
        </p:blipFill>
        <p:spPr>
          <a:xfrm>
            <a:off x="0" y="6782105"/>
            <a:ext cx="12191695" cy="75895"/>
          </a:xfrm>
          <a:prstGeom prst="rect">
            <a:avLst/>
          </a:prstGeom>
        </p:spPr>
      </p:pic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F7690295-1154-A342-6B81-03B3E5B49ED6}"/>
              </a:ext>
            </a:extLst>
          </p:cNvPr>
          <p:cNvGrpSpPr/>
          <p:nvPr/>
        </p:nvGrpSpPr>
        <p:grpSpPr>
          <a:xfrm>
            <a:off x="4773516" y="6453440"/>
            <a:ext cx="7350682" cy="405017"/>
            <a:chOff x="5861349" y="604238"/>
            <a:chExt cx="6035909" cy="405017"/>
          </a:xfrm>
        </p:grpSpPr>
        <p:sp>
          <p:nvSpPr>
            <p:cNvPr id="56" name="Shape 31">
              <a:extLst>
                <a:ext uri="{FF2B5EF4-FFF2-40B4-BE49-F238E27FC236}">
                  <a16:creationId xmlns:a16="http://schemas.microsoft.com/office/drawing/2014/main" id="{A6315A21-492C-5343-0D62-6269B78C81F1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57" name="Text 21">
              <a:extLst>
                <a:ext uri="{FF2B5EF4-FFF2-40B4-BE49-F238E27FC236}">
                  <a16:creationId xmlns:a16="http://schemas.microsoft.com/office/drawing/2014/main" id="{CC8E7B5D-12F5-D155-68AA-50C8A94C417F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58" name="Image 2" descr="preencoded.png">
              <a:extLst>
                <a:ext uri="{FF2B5EF4-FFF2-40B4-BE49-F238E27FC236}">
                  <a16:creationId xmlns:a16="http://schemas.microsoft.com/office/drawing/2014/main" id="{7DCBFAF5-3DBE-80E1-29A0-F367DA25D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rcRect t="-1" b="-1"/>
          <a:stretch/>
        </p:blipFill>
        <p:spPr>
          <a:xfrm>
            <a:off x="76352" y="-21387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61976" y="301467"/>
            <a:ext cx="5410505" cy="675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6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Next Action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571500" y="1581825"/>
            <a:ext cx="5600700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アンケートのお願い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71500" y="2124151"/>
            <a:ext cx="54864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所要時間：約1分</a:t>
            </a:r>
            <a:endParaRPr lang="en-US" sz="15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 t="-15" b="-15"/>
          <a:stretch/>
        </p:blipFill>
        <p:spPr>
          <a:xfrm>
            <a:off x="571500" y="2695651"/>
            <a:ext cx="5296205" cy="838505"/>
          </a:xfrm>
          <a:prstGeom prst="rect">
            <a:avLst/>
          </a:prstGeom>
        </p:spPr>
      </p:pic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58326" y="2763275"/>
            <a:ext cx="389576" cy="38957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200607" y="2828588"/>
            <a:ext cx="3657600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チャットをご確認ください</a:t>
            </a:r>
            <a:endParaRPr lang="en-US" sz="2400" dirty="0"/>
          </a:p>
        </p:txBody>
      </p:sp>
      <p:sp>
        <p:nvSpPr>
          <p:cNvPr id="10" name="Text 5"/>
          <p:cNvSpPr txBox="1"/>
          <p:nvPr/>
        </p:nvSpPr>
        <p:spPr>
          <a:xfrm>
            <a:off x="1014527" y="3261122"/>
            <a:ext cx="4819803" cy="206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このあとチャット欄にアンケートURLを貼ります。</a:t>
            </a:r>
            <a:endParaRPr lang="en-US" sz="12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t="-15" b="-15"/>
          <a:stretch/>
        </p:blipFill>
        <p:spPr>
          <a:xfrm>
            <a:off x="571500" y="3762756"/>
            <a:ext cx="5296205" cy="838505"/>
          </a:xfrm>
          <a:prstGeom prst="rect">
            <a:avLst/>
          </a:prstGeom>
        </p:spPr>
      </p:pic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35722" y="3790544"/>
            <a:ext cx="365759" cy="36575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104595" y="3914546"/>
            <a:ext cx="413400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安心の匿名フォーム</a:t>
            </a:r>
            <a:endParaRPr lang="en-US" sz="2400" dirty="0"/>
          </a:p>
        </p:txBody>
      </p:sp>
      <p:sp>
        <p:nvSpPr>
          <p:cNvPr id="14" name="Text 7"/>
          <p:cNvSpPr txBox="1"/>
          <p:nvPr/>
        </p:nvSpPr>
        <p:spPr>
          <a:xfrm>
            <a:off x="888705" y="4226973"/>
            <a:ext cx="4991405" cy="5908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バッジ送付ご希望の方のみ送信用の</a:t>
            </a:r>
            <a:endParaRPr lang="en-US" altLang="ja-JP"/>
          </a:p>
          <a:p>
            <a:pPr marL="0" indent="0" algn="l">
              <a:buNone/>
            </a:pPr>
            <a:r>
              <a:rPr lang="ja-JP" altLang="en-US"/>
              <a:t>メールアドレスを記入（任意）</a:t>
            </a:r>
            <a:endParaRPr lang="en-US" dirty="0"/>
          </a:p>
        </p:txBody>
      </p:sp>
      <p:sp>
        <p:nvSpPr>
          <p:cNvPr id="17" name="Text 9"/>
          <p:cNvSpPr txBox="1"/>
          <p:nvPr/>
        </p:nvSpPr>
        <p:spPr>
          <a:xfrm>
            <a:off x="6172200" y="351214"/>
            <a:ext cx="541050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🎁 </a:t>
            </a:r>
            <a:r>
              <a:rPr lang="en-US" sz="2400" kern="0" spc="6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Special </a:t>
            </a:r>
            <a:r>
              <a:rPr lang="en-US" sz="2400" kern="0" spc="6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Gift</a:t>
            </a:r>
            <a:endParaRPr lang="en-US" sz="2400" dirty="0"/>
          </a:p>
        </p:txBody>
      </p:sp>
      <p:sp>
        <p:nvSpPr>
          <p:cNvPr id="18" name="Shape 10"/>
          <p:cNvSpPr/>
          <p:nvPr/>
        </p:nvSpPr>
        <p:spPr>
          <a:xfrm>
            <a:off x="6324905" y="943661"/>
            <a:ext cx="5296205" cy="4819802"/>
          </a:xfrm>
          <a:prstGeom prst="roundRect">
            <a:avLst>
              <a:gd name="adj" fmla="val 900"/>
            </a:avLst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3"/>
          <p:cNvSpPr txBox="1"/>
          <p:nvPr/>
        </p:nvSpPr>
        <p:spPr>
          <a:xfrm>
            <a:off x="7308298" y="1501051"/>
            <a:ext cx="3328503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 バッジ</a:t>
            </a:r>
            <a:endParaRPr lang="en-US" sz="3200" dirty="0"/>
          </a:p>
        </p:txBody>
      </p:sp>
      <p:sp>
        <p:nvSpPr>
          <p:cNvPr id="22" name="Text 14"/>
          <p:cNvSpPr txBox="1"/>
          <p:nvPr/>
        </p:nvSpPr>
        <p:spPr>
          <a:xfrm>
            <a:off x="7149084" y="2023610"/>
            <a:ext cx="3646932" cy="45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今日のアクション名 ＋ 開催日入り</a:t>
            </a:r>
            <a:endParaRPr lang="en-US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58607" y="2553005"/>
            <a:ext cx="1828800" cy="1828800"/>
          </a:xfrm>
          <a:prstGeom prst="rect">
            <a:avLst/>
          </a:prstGeom>
        </p:spPr>
      </p:pic>
      <p:sp>
        <p:nvSpPr>
          <p:cNvPr id="25" name="Shape 15"/>
          <p:cNvSpPr/>
          <p:nvPr/>
        </p:nvSpPr>
        <p:spPr>
          <a:xfrm>
            <a:off x="9581998" y="2400300"/>
            <a:ext cx="457200" cy="457200"/>
          </a:xfrm>
          <a:prstGeom prst="ellipse">
            <a:avLst/>
          </a:prstGeom>
          <a:solidFill>
            <a:srgbClr val="FBBF24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16"/>
          <p:cNvSpPr/>
          <p:nvPr/>
        </p:nvSpPr>
        <p:spPr>
          <a:xfrm>
            <a:off x="7981798" y="4153205"/>
            <a:ext cx="304495" cy="304495"/>
          </a:xfrm>
          <a:prstGeom prst="ellipse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9"/>
          <a:srcRect t="-27" b="-27"/>
          <a:stretch/>
        </p:blipFill>
        <p:spPr>
          <a:xfrm>
            <a:off x="6964029" y="4572915"/>
            <a:ext cx="3887691" cy="608989"/>
          </a:xfrm>
          <a:prstGeom prst="rect">
            <a:avLst/>
          </a:prstGeom>
        </p:spPr>
      </p:pic>
      <p:sp>
        <p:nvSpPr>
          <p:cNvPr id="29" name="Text 17"/>
          <p:cNvSpPr txBox="1"/>
          <p:nvPr/>
        </p:nvSpPr>
        <p:spPr>
          <a:xfrm>
            <a:off x="7610856" y="4703859"/>
            <a:ext cx="3185160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>
                <a:solidFill>
                  <a:srgbClr val="37415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後日、お届けします</a:t>
            </a:r>
            <a:endParaRPr lang="en-US" dirty="0"/>
          </a:p>
        </p:txBody>
      </p:sp>
      <p:sp>
        <p:nvSpPr>
          <p:cNvPr id="30" name="Shape 18"/>
          <p:cNvSpPr/>
          <p:nvPr/>
        </p:nvSpPr>
        <p:spPr>
          <a:xfrm>
            <a:off x="571500" y="6059946"/>
            <a:ext cx="11048695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9"/>
          <p:cNvSpPr txBox="1"/>
          <p:nvPr/>
        </p:nvSpPr>
        <p:spPr>
          <a:xfrm>
            <a:off x="416605" y="6310922"/>
            <a:ext cx="1745831" cy="305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PA45｜第11回</a:t>
            </a:r>
            <a:endParaRPr lang="en-US" sz="1000" dirty="0"/>
          </a:p>
        </p:txBody>
      </p:sp>
      <p:sp>
        <p:nvSpPr>
          <p:cNvPr id="32" name="Text 20"/>
          <p:cNvSpPr txBox="1"/>
          <p:nvPr/>
        </p:nvSpPr>
        <p:spPr>
          <a:xfrm>
            <a:off x="1789857" y="6332753"/>
            <a:ext cx="1143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|</a:t>
            </a:r>
            <a:endParaRPr lang="en-US" sz="1000" dirty="0"/>
          </a:p>
        </p:txBody>
      </p:sp>
      <p:sp>
        <p:nvSpPr>
          <p:cNvPr id="33" name="Text 21"/>
          <p:cNvSpPr txBox="1"/>
          <p:nvPr/>
        </p:nvSpPr>
        <p:spPr>
          <a:xfrm>
            <a:off x="1952726" y="6322778"/>
            <a:ext cx="1137514" cy="248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563E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#PA45</a:t>
            </a:r>
            <a:endParaRPr lang="en-US" sz="1000" dirty="0"/>
          </a:p>
        </p:txBody>
      </p:sp>
      <p:sp>
        <p:nvSpPr>
          <p:cNvPr id="34" name="Text 22"/>
          <p:cNvSpPr txBox="1"/>
          <p:nvPr/>
        </p:nvSpPr>
        <p:spPr>
          <a:xfrm>
            <a:off x="5314493" y="6086939"/>
            <a:ext cx="3905707" cy="215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kern="0" spc="26" dirty="0">
                <a:solidFill>
                  <a:srgbClr val="6B7280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Power Automate for Beginners</a:t>
            </a:r>
            <a:endParaRPr lang="en-US" sz="1000" dirty="0"/>
          </a:p>
        </p:txBody>
      </p:sp>
      <p:sp>
        <p:nvSpPr>
          <p:cNvPr id="35" name="Text 23"/>
          <p:cNvSpPr txBox="1"/>
          <p:nvPr/>
        </p:nvSpPr>
        <p:spPr>
          <a:xfrm>
            <a:off x="9970657" y="6081059"/>
            <a:ext cx="1948586" cy="305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CA3AF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Copyright © PA45</a:t>
            </a:r>
            <a:endParaRPr lang="en-US" sz="1000" dirty="0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B861E8B3-E3DD-C84F-65D8-8D354C918F83}"/>
              </a:ext>
            </a:extLst>
          </p:cNvPr>
          <p:cNvSpPr/>
          <p:nvPr/>
        </p:nvSpPr>
        <p:spPr>
          <a:xfrm>
            <a:off x="147676" y="1572681"/>
            <a:ext cx="114300" cy="4569257"/>
          </a:xfrm>
          <a:prstGeom prst="rect">
            <a:avLst/>
          </a:prstGeom>
          <a:solidFill>
            <a:srgbClr val="0078D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AE478BF-D1A4-1FF1-7F4F-D75181898C42}"/>
              </a:ext>
            </a:extLst>
          </p:cNvPr>
          <p:cNvSpPr txBox="1"/>
          <p:nvPr/>
        </p:nvSpPr>
        <p:spPr>
          <a:xfrm>
            <a:off x="8511823" y="3258573"/>
            <a:ext cx="96765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4400" kern="0" spc="60">
                <a:solidFill>
                  <a:schemeClr val="bg1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？</a:t>
            </a:r>
            <a:endParaRPr lang="en-US" sz="4400" dirty="0">
              <a:solidFill>
                <a:schemeClr val="bg1"/>
              </a:solidFill>
            </a:endParaRPr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18F671B6-865B-825E-58B6-45733630EC64}"/>
              </a:ext>
            </a:extLst>
          </p:cNvPr>
          <p:cNvGrpSpPr/>
          <p:nvPr/>
        </p:nvGrpSpPr>
        <p:grpSpPr>
          <a:xfrm>
            <a:off x="4603551" y="6322778"/>
            <a:ext cx="7350682" cy="405017"/>
            <a:chOff x="5861349" y="604238"/>
            <a:chExt cx="6035909" cy="405017"/>
          </a:xfrm>
        </p:grpSpPr>
        <p:sp>
          <p:nvSpPr>
            <p:cNvPr id="39" name="Shape 31">
              <a:extLst>
                <a:ext uri="{FF2B5EF4-FFF2-40B4-BE49-F238E27FC236}">
                  <a16:creationId xmlns:a16="http://schemas.microsoft.com/office/drawing/2014/main" id="{09F6BD02-AAED-4AE4-1723-76C382164EFB}"/>
                </a:ext>
              </a:extLst>
            </p:cNvPr>
            <p:cNvSpPr/>
            <p:nvPr/>
          </p:nvSpPr>
          <p:spPr>
            <a:xfrm>
              <a:off x="6034969" y="604238"/>
              <a:ext cx="5854549" cy="386057"/>
            </a:xfrm>
            <a:prstGeom prst="roundRect">
              <a:avLst>
                <a:gd name="adj" fmla="val 342465"/>
              </a:avLst>
            </a:prstGeom>
            <a:solidFill>
              <a:srgbClr val="EFF6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40" name="Text 21">
              <a:extLst>
                <a:ext uri="{FF2B5EF4-FFF2-40B4-BE49-F238E27FC236}">
                  <a16:creationId xmlns:a16="http://schemas.microsoft.com/office/drawing/2014/main" id="{3D079374-4B86-0A08-8A21-A5F6A82AFA61}"/>
                </a:ext>
              </a:extLst>
            </p:cNvPr>
            <p:cNvSpPr txBox="1"/>
            <p:nvPr/>
          </p:nvSpPr>
          <p:spPr>
            <a:xfrm>
              <a:off x="6287649" y="612651"/>
              <a:ext cx="5609609" cy="39659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400" b="1" dirty="0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学んだこと・気づいたことを #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PA45 で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リアルタイムに</a:t>
              </a:r>
              <a:r>
                <a:rPr 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投稿しよう！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スクショ</a:t>
              </a:r>
              <a:r>
                <a:rPr lang="en-US" altLang="ja-JP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OK</a:t>
              </a:r>
              <a:r>
                <a:rPr lang="ja-JP" altLang="en-US" sz="1400" b="1">
                  <a:solidFill>
                    <a:srgbClr val="2563EB"/>
                  </a:solidFill>
                  <a:latin typeface="Noto Sans JP" pitchFamily="34" charset="0"/>
                  <a:ea typeface="Noto Sans JP" pitchFamily="34" charset="-122"/>
                  <a:cs typeface="Noto Sans JP" pitchFamily="34" charset="-120"/>
                </a:rPr>
                <a:t>！</a:t>
              </a:r>
              <a:endParaRPr lang="en-US" sz="1400" dirty="0"/>
            </a:p>
          </p:txBody>
        </p:sp>
        <p:pic>
          <p:nvPicPr>
            <p:cNvPr id="41" name="Image 2" descr="preencoded.png">
              <a:extLst>
                <a:ext uri="{FF2B5EF4-FFF2-40B4-BE49-F238E27FC236}">
                  <a16:creationId xmlns:a16="http://schemas.microsoft.com/office/drawing/2014/main" id="{C6953FA1-8653-2010-F17C-64622806C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/>
          </p:blipFill>
          <p:spPr>
            <a:xfrm>
              <a:off x="5861349" y="619679"/>
              <a:ext cx="263236" cy="389576"/>
            </a:xfrm>
            <a:prstGeom prst="rect">
              <a:avLst/>
            </a:prstGeom>
          </p:spPr>
        </p:pic>
      </p:grpSp>
      <p:sp>
        <p:nvSpPr>
          <p:cNvPr id="15" name="Text 2">
            <a:extLst>
              <a:ext uri="{FF2B5EF4-FFF2-40B4-BE49-F238E27FC236}">
                <a16:creationId xmlns:a16="http://schemas.microsoft.com/office/drawing/2014/main" id="{59D5E270-E6AD-E457-0DD1-D6D69BCDC2F3}"/>
              </a:ext>
            </a:extLst>
          </p:cNvPr>
          <p:cNvSpPr txBox="1"/>
          <p:nvPr/>
        </p:nvSpPr>
        <p:spPr>
          <a:xfrm>
            <a:off x="489102" y="4817454"/>
            <a:ext cx="4028469" cy="4664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ja-JP" altLang="en-US"/>
              <a:t>チャット欄に</a:t>
            </a:r>
            <a:r>
              <a:rPr lang="en-US" altLang="ja-JP"/>
              <a:t>URL</a:t>
            </a:r>
            <a:r>
              <a:rPr lang="ja-JP" altLang="en-US"/>
              <a:t>を貼り付けます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2146</TotalTime>
  <Words>1423</Words>
  <Application>Microsoft Office PowerPoint</Application>
  <PresentationFormat>ワイド画面</PresentationFormat>
  <Paragraphs>343</Paragraphs>
  <Slides>14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BIZ UDGothic</vt:lpstr>
      <vt:lpstr>Noto Sans JP</vt:lpstr>
      <vt:lpstr>ui-monospace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16</cp:revision>
  <dcterms:created xsi:type="dcterms:W3CDTF">2026-03-02T01:22:39Z</dcterms:created>
  <dcterms:modified xsi:type="dcterms:W3CDTF">2026-04-17T11:58:17Z</dcterms:modified>
</cp:coreProperties>
</file>