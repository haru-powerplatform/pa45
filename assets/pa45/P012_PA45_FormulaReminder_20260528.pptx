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9" r:id="rId2"/>
    <p:sldId id="285" r:id="rId3"/>
    <p:sldId id="259" r:id="rId4"/>
    <p:sldId id="257" r:id="rId5"/>
    <p:sldId id="256" r:id="rId6"/>
    <p:sldId id="271" r:id="rId7"/>
    <p:sldId id="261" r:id="rId8"/>
    <p:sldId id="280" r:id="rId9"/>
    <p:sldId id="291" r:id="rId10"/>
    <p:sldId id="289" r:id="rId11"/>
    <p:sldId id="290" r:id="rId12"/>
    <p:sldId id="286" r:id="rId13"/>
    <p:sldId id="284" r:id="rId14"/>
    <p:sldId id="272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F58AFA-D1AA-4A9A-9800-8FBA641FEB0E}" v="1" dt="2026-04-28T05:42:15.0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0" d="100"/>
          <a:sy n="110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28T05:44:53.299" v="713" actId="14100"/>
      <pc:docMkLst>
        <pc:docMk/>
      </pc:docMkLst>
      <pc:sldChg chg="modSp mod">
        <pc:chgData name="Ueda Isamu" userId="35289799e0376f2e" providerId="LiveId" clId="{DD31E282-B62B-4911-91B6-43B1B98908F9}" dt="2026-04-28T05:44:19.288" v="709" actId="1076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28T05:43:48.753" v="697" actId="14100"/>
          <ac:spMkLst>
            <pc:docMk/>
            <pc:sldMk cId="0" sldId="268"/>
            <ac:spMk id="8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3:23.458" v="686" actId="14100"/>
          <ac:spMkLst>
            <pc:docMk/>
            <pc:sldMk cId="0" sldId="268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06.656" v="704" actId="404"/>
          <ac:spMkLst>
            <pc:docMk/>
            <pc:sldMk cId="0" sldId="268"/>
            <ac:spMk id="10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0.382" v="705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3:41.371" v="694" actId="107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7.038" v="708" actId="1076"/>
          <ac:spMkLst>
            <pc:docMk/>
            <pc:sldMk cId="0" sldId="268"/>
            <ac:spMk id="19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9.288" v="709" actId="107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06.656" v="704" actId="404"/>
          <ac:spMkLst>
            <pc:docMk/>
            <pc:sldMk cId="0" sldId="268"/>
            <ac:spMk id="21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3.850" v="707" actId="1076"/>
          <ac:spMkLst>
            <pc:docMk/>
            <pc:sldMk cId="0" sldId="268"/>
            <ac:spMk id="27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3:57.940" v="702" actId="14100"/>
          <ac:spMkLst>
            <pc:docMk/>
            <pc:sldMk cId="0" sldId="268"/>
            <ac:spMk id="30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3:51.722" v="698" actId="1076"/>
          <ac:spMkLst>
            <pc:docMk/>
            <pc:sldMk cId="0" sldId="268"/>
            <ac:spMk id="31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06.656" v="704" actId="404"/>
          <ac:spMkLst>
            <pc:docMk/>
            <pc:sldMk cId="0" sldId="268"/>
            <ac:spMk id="32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2.771" v="706" actId="1076"/>
          <ac:spMkLst>
            <pc:docMk/>
            <pc:sldMk cId="0" sldId="268"/>
            <ac:spMk id="33" creationId="{00000000-0000-0000-0000-000000000000}"/>
          </ac:spMkLst>
        </pc:spChg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  <pc:picChg chg="mod">
          <ac:chgData name="Ueda Isamu" userId="35289799e0376f2e" providerId="LiveId" clId="{DD31E282-B62B-4911-91B6-43B1B98908F9}" dt="2026-04-28T05:43:41.371" v="694" actId="1076"/>
          <ac:picMkLst>
            <pc:docMk/>
            <pc:sldMk cId="0" sldId="268"/>
            <ac:picMk id="18" creationId="{00000000-0000-0000-0000-000000000000}"/>
          </ac:picMkLst>
        </pc:picChg>
      </pc:sldChg>
      <pc:sldChg chg="modSp mod">
        <pc:chgData name="Ueda Isamu" userId="35289799e0376f2e" providerId="LiveId" clId="{DD31E282-B62B-4911-91B6-43B1B98908F9}" dt="2026-04-28T05:44:29.094" v="711" actId="1076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28T05:44:29.094" v="711" actId="1076"/>
          <ac:spMkLst>
            <pc:docMk/>
            <pc:sldMk cId="0" sldId="269"/>
            <ac:spMk id="15" creationId="{59D5E270-E6AD-E457-0DD1-D6D69BCDC2F3}"/>
          </ac:spMkLst>
        </pc:spChg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  <pc:picChg chg="mod">
          <ac:chgData name="Ueda Isamu" userId="35289799e0376f2e" providerId="LiveId" clId="{DD31E282-B62B-4911-91B6-43B1B98908F9}" dt="2026-04-28T05:44:26.522" v="710" actId="14100"/>
          <ac:picMkLst>
            <pc:docMk/>
            <pc:sldMk cId="0" sldId="269"/>
            <ac:picMk id="11" creationId="{00000000-0000-0000-0000-000000000000}"/>
          </ac:picMkLst>
        </pc:picChg>
      </pc:sldChg>
      <pc:sldChg chg="modSp mod">
        <pc:chgData name="Ueda Isamu" userId="35289799e0376f2e" providerId="LiveId" clId="{DD31E282-B62B-4911-91B6-43B1B98908F9}" dt="2026-04-28T05:44:40.569" v="712" actId="2057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28T05:44:40.569" v="712" actId="2057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mod">
        <pc:chgData name="Ueda Isamu" userId="35289799e0376f2e" providerId="LiveId" clId="{DD31E282-B62B-4911-91B6-43B1B98908F9}" dt="2026-04-28T05:44:53.299" v="713" actId="14100"/>
        <pc:sldMkLst>
          <pc:docMk/>
          <pc:sldMk cId="0" sldId="280"/>
        </pc:sldMkLst>
        <pc:spChg chg="mod">
          <ac:chgData name="Ueda Isamu" userId="35289799e0376f2e" providerId="LiveId" clId="{DD31E282-B62B-4911-91B6-43B1B98908F9}" dt="2026-04-28T05:41:40.549" v="656" actId="962"/>
          <ac:spMkLst>
            <pc:docMk/>
            <pc:sldMk cId="0" sldId="280"/>
            <ac:spMk id="13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53.299" v="713" actId="14100"/>
          <ac:spMkLst>
            <pc:docMk/>
            <pc:sldMk cId="0" sldId="280"/>
            <ac:spMk id="44" creationId="{F9B91B76-7920-EE96-CB51-D8B32827C982}"/>
          </ac:spMkLst>
        </pc:spChg>
        <pc:spChg chg="mod">
          <ac:chgData name="Ueda Isamu" userId="35289799e0376f2e" providerId="LiveId" clId="{DD31E282-B62B-4911-91B6-43B1B98908F9}" dt="2026-04-28T05:40:39.439" v="649" actId="20577"/>
          <ac:spMkLst>
            <pc:docMk/>
            <pc:sldMk cId="0" sldId="280"/>
            <ac:spMk id="51" creationId="{F34FF253-528E-97DF-BF89-4A55B2E7EBC4}"/>
          </ac:spMkLst>
        </pc:spChg>
        <pc:picChg chg="del">
          <ac:chgData name="Ueda Isamu" userId="35289799e0376f2e" providerId="LiveId" clId="{DD31E282-B62B-4911-91B6-43B1B98908F9}" dt="2026-04-28T05:40:34.040" v="647" actId="478"/>
          <ac:picMkLst>
            <pc:docMk/>
            <pc:sldMk cId="0" sldId="280"/>
            <ac:picMk id="11" creationId="{F68FB933-EA39-0DBF-9AF9-8148DEDB9C4B}"/>
          </ac:picMkLst>
        </pc:picChg>
        <pc:picChg chg="add mod">
          <ac:chgData name="Ueda Isamu" userId="35289799e0376f2e" providerId="LiveId" clId="{DD31E282-B62B-4911-91B6-43B1B98908F9}" dt="2026-04-28T05:41:40.549" v="655" actId="27614"/>
          <ac:picMkLst>
            <pc:docMk/>
            <pc:sldMk cId="0" sldId="280"/>
            <ac:picMk id="12" creationId="{3E6630DE-036E-A137-BB8D-3B6889FA8E99}"/>
          </ac:picMkLst>
        </pc:picChg>
        <pc:picChg chg="add mod">
          <ac:chgData name="Ueda Isamu" userId="35289799e0376f2e" providerId="LiveId" clId="{DD31E282-B62B-4911-91B6-43B1B98908F9}" dt="2026-04-28T05:42:04.299" v="664" actId="14100"/>
          <ac:picMkLst>
            <pc:docMk/>
            <pc:sldMk cId="0" sldId="280"/>
            <ac:picMk id="15" creationId="{0A496CAA-10CA-2625-8307-AD86EA5E849F}"/>
          </ac:picMkLst>
        </pc:picChg>
        <pc:picChg chg="del">
          <ac:chgData name="Ueda Isamu" userId="35289799e0376f2e" providerId="LiveId" clId="{DD31E282-B62B-4911-91B6-43B1B98908F9}" dt="2026-04-28T05:40:34.591" v="648" actId="478"/>
          <ac:picMkLst>
            <pc:docMk/>
            <pc:sldMk cId="0" sldId="280"/>
            <ac:picMk id="43" creationId="{C2A29B6F-3C93-A1C3-76A2-A2F9DE2BAF70}"/>
          </ac:picMkLst>
        </pc:picChg>
      </pc:sldChg>
      <pc:sldChg chg="addSp delSp modSp add del mod">
        <pc:chgData name="Ueda Isamu" userId="35289799e0376f2e" providerId="LiveId" clId="{DD31E282-B62B-4911-91B6-43B1B98908F9}" dt="2026-04-28T05:43:04.861" v="683" actId="47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</pc:sldChg>
      <pc:sldChg chg="addSp delSp modSp add mod ord">
        <pc:chgData name="Ueda Isamu" userId="35289799e0376f2e" providerId="LiveId" clId="{DD31E282-B62B-4911-91B6-43B1B98908F9}" dt="2026-04-28T05:43:02.947" v="682" actId="27614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 ord">
          <ac:chgData name="Ueda Isamu" userId="35289799e0376f2e" providerId="LiveId" clId="{DD31E282-B62B-4911-91B6-43B1B98908F9}" dt="2026-04-28T05:42:28.090" v="672" actId="14100"/>
          <ac:spMkLst>
            <pc:docMk/>
            <pc:sldMk cId="3861659691" sldId="282"/>
            <ac:spMk id="10" creationId="{5E06D86B-F8D9-20E7-3D67-0EF3882034F2}"/>
          </ac:spMkLst>
        </pc:spChg>
        <pc:spChg chg="add del mod">
          <ac:chgData name="Ueda Isamu" userId="35289799e0376f2e" providerId="LiveId" clId="{DD31E282-B62B-4911-91B6-43B1B98908F9}" dt="2026-04-28T05:42:30.118" v="675" actId="478"/>
          <ac:spMkLst>
            <pc:docMk/>
            <pc:sldMk cId="3861659691" sldId="282"/>
            <ac:spMk id="12" creationId="{B61745D9-8D46-A514-CF17-682EE8BDCFC1}"/>
          </ac:spMkLst>
        </pc:spChg>
        <pc:picChg chg="del">
          <ac:chgData name="Ueda Isamu" userId="35289799e0376f2e" providerId="LiveId" clId="{DD31E282-B62B-4911-91B6-43B1B98908F9}" dt="2026-04-28T05:40:48.240" v="650" actId="478"/>
          <ac:picMkLst>
            <pc:docMk/>
            <pc:sldMk cId="3861659691" sldId="282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28T05:40:48.724" v="651" actId="478"/>
          <ac:picMkLst>
            <pc:docMk/>
            <pc:sldMk cId="3861659691" sldId="282"/>
            <ac:picMk id="14" creationId="{A872EEC3-0079-B857-A352-13B0525469F2}"/>
          </ac:picMkLst>
        </pc:picChg>
        <pc:picChg chg="add mod">
          <ac:chgData name="Ueda Isamu" userId="35289799e0376f2e" providerId="LiveId" clId="{DD31E282-B62B-4911-91B6-43B1B98908F9}" dt="2026-04-28T05:42:18.290" v="668" actId="1076"/>
          <ac:picMkLst>
            <pc:docMk/>
            <pc:sldMk cId="3861659691" sldId="282"/>
            <ac:picMk id="15" creationId="{35AE861C-8197-5C83-2921-F09023E68B00}"/>
          </ac:picMkLst>
        </pc:picChg>
        <pc:picChg chg="del mod">
          <ac:chgData name="Ueda Isamu" userId="35289799e0376f2e" providerId="LiveId" clId="{DD31E282-B62B-4911-91B6-43B1B98908F9}" dt="2026-04-28T05:42:29.623" v="673" actId="478"/>
          <ac:picMkLst>
            <pc:docMk/>
            <pc:sldMk cId="3861659691" sldId="282"/>
            <ac:picMk id="16" creationId="{7B3B07E8-D558-44C5-F536-149592DC9066}"/>
          </ac:picMkLst>
        </pc:picChg>
        <pc:picChg chg="del mod">
          <ac:chgData name="Ueda Isamu" userId="35289799e0376f2e" providerId="LiveId" clId="{DD31E282-B62B-4911-91B6-43B1B98908F9}" dt="2026-04-28T05:42:30.626" v="676" actId="478"/>
          <ac:picMkLst>
            <pc:docMk/>
            <pc:sldMk cId="3861659691" sldId="282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28T05:43:02.947" v="682" actId="27614"/>
          <ac:picMkLst>
            <pc:docMk/>
            <pc:sldMk cId="3861659691" sldId="282"/>
            <ac:picMk id="19" creationId="{80851CBC-6CCA-A916-ED75-20FD89A52C05}"/>
          </ac:picMkLst>
        </pc:picChg>
      </pc:sldChg>
      <pc:sldChg chg="addSp delSp modSp add del mod">
        <pc:chgData name="Ueda Isamu" userId="35289799e0376f2e" providerId="LiveId" clId="{DD31E282-B62B-4911-91B6-43B1B98908F9}" dt="2026-04-28T05:43:06.594" v="684" actId="47"/>
        <pc:sldMkLst>
          <pc:docMk/>
          <pc:sldMk cId="2686875315" sldId="283"/>
        </pc:sldMkLst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</pc:sldChg>
      <pc:sldChg chg="addSp delSp modSp add mod">
        <pc:chgData name="Ueda Isamu" userId="35289799e0376f2e" providerId="LiveId" clId="{DD31E282-B62B-4911-91B6-43B1B98908F9}" dt="2026-04-28T05:43:12.100" v="685" actId="478"/>
        <pc:sldMkLst>
          <pc:docMk/>
          <pc:sldMk cId="1541831861" sldId="284"/>
        </pc:sldMkLst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picChg chg="del">
          <ac:chgData name="Ueda Isamu" userId="35289799e0376f2e" providerId="LiveId" clId="{DD31E282-B62B-4911-91B6-43B1B98908F9}" dt="2026-04-28T05:43:12.100" v="685" actId="478"/>
          <ac:picMkLst>
            <pc:docMk/>
            <pc:sldMk cId="1541831861" sldId="284"/>
            <ac:picMk id="50" creationId="{003A3C3D-15E3-1F1A-D918-AB2472E8059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>  Initialize variable・Set variable・Condition・Apply to each、</a:t>
            </a:r>
          </a:p>
          <a:p>
            <a:r>
              <a:rPr sz="1300"/>
              <a:t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>  変数・繰り返し・条件分岐、それぞれ単体でも使えますが、</a:t>
            </a:r>
          </a:p>
          <a:p>
            <a:r>
              <a:rPr sz="1300"/>
              <a:t>  組み合わさったとき、複雑な業務を1本のフローで自動化できます。</a:t>
            </a:r>
          </a:p>
          <a:p>
            <a:r>
              <a:rPr sz="1300"/>
              <a:t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>  Apply to eachのループの中でも外でも使えます。</a:t>
            </a:r>
          </a:p>
          <a:p>
            <a:r>
              <a:rPr sz="1300"/>
              <a:t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>  リストを1件ずつ見ながら、条件に合うものだけ処理する、</a:t>
            </a:r>
          </a:p>
          <a:p>
            <a:r>
              <a:rPr sz="1300"/>
              <a:t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>  出勤リストをループして、Conditionで出勤判定、Set variableでカウント。</a:t>
            </a:r>
          </a:p>
          <a:p>
            <a:r>
              <a:rPr sz="1300"/>
              <a:t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Relationship Id="rId17" Type="http://schemas.openxmlformats.org/officeDocument/2006/relationships/image" Target="../media/image30.png"/><Relationship Id="rId18" Type="http://schemas.openxmlformats.org/officeDocument/2006/relationships/image" Target="../media/image31.png"/><Relationship Id="rId19" Type="http://schemas.openxmlformats.org/officeDocument/2006/relationships/image" Target="../media/image32.png"/><Relationship Id="rId20" Type="http://schemas.openxmlformats.org/officeDocument/2006/relationships/image" Target="../media/image33.png"/><Relationship Id="rId21" Type="http://schemas.openxmlformats.org/officeDocument/2006/relationships/image" Target="../media/image34.png"/><Relationship Id="rId22" Type="http://schemas.openxmlformats.org/officeDocument/2006/relationships/image" Target="../media/image35.png"/><Relationship Id="rId23" Type="http://schemas.openxmlformats.org/officeDocument/2006/relationships/image" Target="../media/image36.png"/><Relationship Id="rId24" Type="http://schemas.openxmlformats.org/officeDocument/2006/relationships/image" Target="../media/image37.png"/><Relationship Id="rId25" Type="http://schemas.openxmlformats.org/officeDocument/2006/relationships/image" Target="../media/image38.png"/><Relationship Id="rId26" Type="http://schemas.openxmlformats.org/officeDocument/2006/relationships/image" Target="../media/image39.png"/><Relationship Id="rId27" Type="http://schemas.openxmlformats.org/officeDocument/2006/relationships/image" Target="../media/image40.png"/><Relationship Id="rId28" Type="http://schemas.openxmlformats.org/officeDocument/2006/relationships/image" Target="../media/image41.png"/><Relationship Id="rId29" Type="http://schemas.openxmlformats.org/officeDocument/2006/relationships/image" Target="../media/image42.png"/><Relationship Id="rId30" Type="http://schemas.openxmlformats.org/officeDocument/2006/relationships/image" Target="../media/image43.png"/><Relationship Id="rId31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55.png"/><Relationship Id="rId15" Type="http://schemas.openxmlformats.org/officeDocument/2006/relationships/image" Target="../media/image56.png"/><Relationship Id="rId16" Type="http://schemas.openxmlformats.org/officeDocument/2006/relationships/image" Target="../media/image57.png"/><Relationship Id="rId17" Type="http://schemas.openxmlformats.org/officeDocument/2006/relationships/image" Target="../media/image58.png"/><Relationship Id="rId18" Type="http://schemas.openxmlformats.org/officeDocument/2006/relationships/image" Target="../media/image59.png"/><Relationship Id="rId19" Type="http://schemas.openxmlformats.org/officeDocument/2006/relationships/image" Target="../media/image60.png"/><Relationship Id="rId20" Type="http://schemas.microsoft.com/office/2007/relationships/hdphoto" Target="../media/hdphoto1.wdp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image" Target="../media/image70.png"/><Relationship Id="rId1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43.png"/><Relationship Id="rId7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4.png"/><Relationship Id="rId5" Type="http://schemas.openxmlformats.org/officeDocument/2006/relationships/image" Target="../media/image7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Relationship Id="rId9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35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 UI"/>
                <a:ea typeface="Meiryo UI"/>
              </a:rPr>
              <a:t>PA45 — Power Automate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34800" y="0"/>
            <a:ext cx="35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r"/>
            <a:r>
              <a:rPr sz="1400" b="0">
                <a:solidFill>
                  <a:srgbClr val="C7D8FF"/>
                </a:solidFill>
                <a:latin typeface="Meiryo UI"/>
                <a:ea typeface="Meiryo UI"/>
              </a:rPr>
              <a:t>第12回 / Vol.12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100000"/>
            <a:ext cx="12192000" cy="3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2200" b="0">
                <a:solidFill>
                  <a:srgbClr val="475569"/>
                </a:solidFill>
                <a:latin typeface="Meiryo UI"/>
                <a:ea typeface="Meiryo UI"/>
              </a:rPr>
              <a:t>まもなく開始します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700000"/>
            <a:ext cx="12192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9600" b="1">
                <a:solidFill>
                  <a:srgbClr val="1E3A8A"/>
                </a:solidFill>
                <a:latin typeface="Meiryo UI"/>
                <a:ea typeface="Meiryo UI"/>
              </a:rPr>
              <a:t>20:15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749945"/>
            <a:ext cx="12192000" cy="40011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2600" b="1">
                <a:solidFill>
                  <a:srgbClr val="0F172A"/>
                </a:solidFill>
                <a:latin typeface="Meiryo UI"/>
                <a:ea typeface="Meiryo UI"/>
              </a:rPr>
              <a:t>第11回｜実行履歴</a:t>
            </a:r>
            <a:r>
              <a:rPr lang="ja-JP" altLang="en-US" sz="2600" b="1">
                <a:solidFill>
                  <a:srgbClr val="0F172A"/>
                </a:solidFill>
                <a:latin typeface="Meiryo UI"/>
                <a:ea typeface="Meiryo UI"/>
              </a:rPr>
              <a:t>と出力</a:t>
            </a:r>
            <a:r>
              <a:rPr sz="2600" b="1">
                <a:solidFill>
                  <a:srgbClr val="0F172A"/>
                </a:solidFill>
                <a:latin typeface="Meiryo UI"/>
                <a:ea typeface="Meiryo UI"/>
              </a:rPr>
              <a:t>を読めると自動化が楽しくなる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250000"/>
            <a:ext cx="12192000" cy="4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1600" b="0">
                <a:solidFill>
                  <a:srgbClr val="475569"/>
                </a:solidFill>
                <a:latin typeface="Meiryo UI"/>
                <a:ea typeface="Meiryo UI"/>
              </a:rPr>
              <a:t>申請から3営業日後リマインド｜addDays() 1個で書ける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6000" y="5300000"/>
            <a:ext cx="3400000" cy="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6000" y="5300000"/>
            <a:ext cx="55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2200" b="0">
                <a:solidFill>
                  <a:srgbClr val="1E3A8A"/>
                </a:solidFill>
                <a:latin typeface="Meiryo UI"/>
                <a:ea typeface="Meiryo UI"/>
              </a:rPr>
              <a:t>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6000" y="5300000"/>
            <a:ext cx="27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eiryo UI"/>
                <a:ea typeface="Meiryo UI"/>
              </a:rPr>
              <a:t>Power Automate と Outlook を</a:t>
            </a:r>
          </a:p>
          <a:p>
            <a:r>
              <a:rPr sz="1100" b="1">
                <a:solidFill>
                  <a:srgbClr val="0F172A"/>
                </a:solidFill>
                <a:latin typeface="Meiryo UI"/>
                <a:ea typeface="Meiryo UI"/>
              </a:rPr>
              <a:t>事前に起動しておくとスムーズ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6000" y="5300000"/>
            <a:ext cx="3400000" cy="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6000" y="5300000"/>
            <a:ext cx="55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2200" b="0">
                <a:solidFill>
                  <a:srgbClr val="1E3A8A"/>
                </a:solidFill>
                <a:latin typeface="Meiryo UI"/>
                <a:ea typeface="Meiryo UI"/>
              </a:rPr>
              <a:t>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6000" y="5300000"/>
            <a:ext cx="27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eiryo UI"/>
                <a:ea typeface="Meiryo UI"/>
              </a:rPr>
              <a:t>後日YouTubeで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Meiryo UI"/>
                <a:ea typeface="Meiryo UI"/>
              </a:rPr>
              <a:t>アーカイブ動画を公開予定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6000" y="5300000"/>
            <a:ext cx="3400000" cy="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6000" y="5300000"/>
            <a:ext cx="55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2200" b="0">
                <a:solidFill>
                  <a:srgbClr val="1E3A8A"/>
                </a:solidFill>
                <a:latin typeface="Meiryo UI"/>
                <a:ea typeface="Meiryo UI"/>
              </a:rPr>
              <a:t>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6000" y="5300000"/>
            <a:ext cx="27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eiryo UI"/>
                <a:ea typeface="Meiryo UI"/>
              </a:rPr>
              <a:t>Teams表示名がNGの方は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Meiryo UI"/>
                <a:ea typeface="Meiryo UI"/>
              </a:rPr>
              <a:t>匿名参加でOKです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478000"/>
            <a:ext cx="12192000" cy="3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Meiryo UI"/>
                <a:ea typeface="Meiryo UI"/>
              </a:rPr>
              <a:t>Power Automate 45  |  Copyright © PA45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2A7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22860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eiryo UI"/>
                <a:ea typeface="Meiryo UI"/>
              </a:rPr>
              <a:t>事前準備（今回はほぼ不要です）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96600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Meiryo UI"/>
                <a:ea typeface="Meiryo UI"/>
              </a:rPr>
              <a:t>今回のハンズオンは特別な準備が要りません。下の2つだけ確認しておきましょう。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110947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/>
            <a:r>
              <a:rPr sz="2000" b="1">
                <a:solidFill>
                  <a:srgbClr val="2A7DD4"/>
                </a:solidFill>
                <a:latin typeface="Meiryo UI"/>
                <a:ea typeface="Meiryo UI"/>
              </a:rPr>
              <a:t>STEP 1   Power Automate にサインインできる</a:t>
            </a:r>
          </a:p>
          <a:p>
            <a:r>
              <a:rPr sz="2000" b="1">
                <a:solidFill>
                  <a:srgbClr val="2A7DD4"/>
                </a:solidFill>
                <a:latin typeface="Meiryo UI"/>
                <a:ea typeface="Meiryo UI"/>
              </a:rPr>
              <a:t>👉 make.powerautomate.com を開いて、サインインできる状態にしておきます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749039"/>
            <a:ext cx="1109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/>
            <a:r>
              <a:rPr sz="2000" b="1">
                <a:solidFill>
                  <a:srgbClr val="2A7DD4"/>
                </a:solidFill>
                <a:latin typeface="Meiryo UI"/>
                <a:ea typeface="Meiryo UI"/>
              </a:rPr>
              <a:t>STEP 2   自分のメール（Outlook）が使える</a:t>
            </a:r>
          </a:p>
          <a:p>
            <a:r>
              <a:rPr sz="2000" b="1">
                <a:solidFill>
                  <a:srgbClr val="2A7DD4"/>
                </a:solidFill>
                <a:latin typeface="Meiryo UI"/>
                <a:ea typeface="Meiryo UI"/>
              </a:rPr>
              <a:t>👉 ハンズオン中、自分から自分へ1通メールを送ってフローを動かします。それだけです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01205" y="220370"/>
            <a:ext cx="24387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Vol.12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269842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PA45【式 addDays × 申請 × リマインド】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1515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200" b="1">
                <a:solidFill>
                  <a:srgbClr val="1F2937"/>
                </a:solidFill>
              </a:rPr>
              <a:t>第12回：</a:t>
            </a:r>
          </a:p>
          <a:p>
            <a:r>
              <a:rPr sz="3200" b="1">
                <a:solidFill>
                  <a:srgbClr val="1F2937"/>
                </a:solidFill>
              </a:rPr>
              <a:t>「式」アレルギー卒業</a:t>
            </a:r>
          </a:p>
          <a:p>
            <a:r>
              <a:rPr sz="3200" b="1">
                <a:solidFill>
                  <a:srgbClr val="1F2937"/>
                </a:solidFill>
              </a:rPr>
              <a:t>addDays() で日付計算を体験</a:t>
            </a:r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Theme　申請から3営業日後リマインド｜式 addDays() を初体験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2999" y="5273596"/>
            <a:ext cx="779502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Target　式に触れたことがない方／式を復習したい方も歓迎</a:t>
            </a:r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Time</a:t>
            </a:r>
            <a:r>
              <a:rPr lang="en-US">
                <a:solidFill>
                  <a:srgbClr val="374151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</a:t>
            </a:r>
            <a:r>
              <a:rPr lang="ja-JP" altLang="en-US">
                <a:solidFill>
                  <a:srgbClr val="374151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約</a:t>
            </a:r>
            <a:r>
              <a:rPr lang="en-US" dirty="0">
                <a:solidFill>
                  <a:srgbClr val="374151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10分ハンズオン </a:t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6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仕組みを理解します</a:t>
            </a:r>
            <a:r>
              <a:rPr lang="en-US" sz="16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7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9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・広島コミュニティ </a:t>
            </a:r>
            <a:r>
              <a:rPr lang="en-US" sz="160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PLUG </a:t>
            </a:r>
            <a:r>
              <a:rPr lang="ja-JP" altLang="en-US" sz="160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Power </a:t>
            </a:r>
            <a:r>
              <a:rPr lang="en-US" sz="1600" b="1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Automate 支援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PA45｜第12回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今日やること（3つだけ）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申請日を入力するフローを作る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768937" y="4828031"/>
            <a:ext cx="3269054" cy="79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手動トリガーで「申請日」を入力。</a:t>
            </a:r>
          </a:p>
          <a:p>
            <a:r>
              <a:rPr sz="1600">
                <a:solidFill>
                  <a:srgbClr val="6B7280"/>
                </a:solidFill>
                <a:latin typeface="Meiryo UI"/>
                <a:ea typeface="Meiryo UI"/>
              </a:rPr>
              <a:t>Power Automate に日付を渡すところから始めます。</a:t>
            </a:r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addDays() で3日後を計算する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790106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「式」タブから addDays() を使って、</a:t>
            </a:r>
          </a:p>
          <a:p>
            <a:r>
              <a:rPr sz="1600">
                <a:solidFill>
                  <a:srgbClr val="6B7280"/>
                </a:solidFill>
                <a:latin typeface="Meiryo UI"/>
                <a:ea typeface="Meiryo UI"/>
              </a:rPr>
              <a:t>申請日から3日後を出します。</a:t>
            </a:r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実行履歴</a:t>
            </a:r>
            <a:r>
              <a:rPr lang="ja-JP" altLang="en-US" sz="1400" b="1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と</a:t>
            </a:r>
            <a:r>
              <a:rPr lang="en-US" sz="1400" b="1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出力を読む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427722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計算した日付をリマインド文に組み込んで、</a:t>
            </a: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sz="1600" b="1">
                <a:latin typeface="Meiryo UI"/>
                <a:ea typeface="Meiryo UI"/>
              </a:rPr>
              <a:t>自分宛にメールやTeamsで通知します。</a:t>
            </a:r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PA45｜第12回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852951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テーマ解説 (1/2)：「式」って怖くない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814990" y="6322778"/>
            <a:ext cx="7139243" cy="405006"/>
            <a:chOff x="6034969" y="604238"/>
            <a:chExt cx="5862289" cy="405006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342678" y="1807073"/>
            <a:ext cx="6583680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1000"/>
              </a:spcBef>
              <a:buNone/>
            </a:pPr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①「式」はちょっとした計算ルールです。動的コンテンツの隣にある「fx 式」タブから書けます。</a:t>
            </a:r>
            <a:endParaRPr lang="en-US" sz="2000" b="0">
              <a:solidFill>
                <a:srgbClr val="1F2937"/>
              </a:solidFill>
              <a:latin typeface="Meiryo UI"/>
              <a:ea typeface="Meiryo UI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601097" y="1737360"/>
            <a:ext cx="5486400" cy="4114800"/>
          </a:xfrm>
          <a:prstGeom prst="roundRect">
            <a:avLst>
              <a:gd name="adj" fmla="val 10741"/>
            </a:avLst>
          </a:prstGeom>
          <a:solidFill>
            <a:srgbClr val="F1F5FB"/>
          </a:solidFill>
          <a:ln w="19050">
            <a:solidFill>
              <a:srgbClr val="9CB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A5E9E"/>
                </a:solidFill>
                <a:latin typeface="Meiryo UI"/>
                <a:ea typeface="Meiryo UI"/>
              </a:rPr>
              <a:t>📷 ここにスクショを貼る</a:t>
            </a:r>
          </a:p>
          <a:p>
            <a:pPr algn="ctr"/>
            <a:r>
              <a:rPr sz="1400">
                <a:latin typeface="Meiryo UI"/>
                <a:ea typeface="Meiryo UI"/>
              </a:rPr>
              <a:t>「式」タブを開いた画面</a:t>
            </a:r>
          </a:p>
          <a:p>
            <a:r>
              <a:rPr sz="1400">
                <a:latin typeface="Meiryo UI"/>
                <a:ea typeface="Meiryo UI"/>
              </a:rPr>
              <a:t>（fx ボタンの場所がわかる画面）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PA45｜第12回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81527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テーマ解説 (2/2)：addDays() の使い方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8961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82880" y="2107458"/>
            <a:ext cx="6583680" cy="3265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1000"/>
              </a:spcBef>
              <a:buNone/>
            </a:pPr>
            <a:r>
              <a:rPr sz="2000" b="1">
                <a:solidFill>
                  <a:srgbClr val="C00000"/>
                </a:solidFill>
                <a:latin typeface="Meiryo UI"/>
                <a:ea typeface="Meiryo UI"/>
              </a:rPr>
              <a:t>④addDays(基準日, 加算日数, 書式) という3つを書きます。</a:t>
            </a:r>
            <a:br>
              <a:rPr lang="en-US" sz="2000" b="1">
                <a:solidFill>
                  <a:srgbClr val="C00000"/>
                </a:solidFill>
                <a:latin typeface="Meiryo UI"/>
                <a:ea typeface="Meiryo UI"/>
              </a:rPr>
            </a:b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040880" y="1737360"/>
            <a:ext cx="4572000" cy="4114800"/>
          </a:xfrm>
          <a:prstGeom prst="roundRect">
            <a:avLst/>
          </a:prstGeom>
          <a:solidFill>
            <a:srgbClr val="F1F5FB"/>
          </a:solidFill>
          <a:ln w="19050">
            <a:solidFill>
              <a:srgbClr val="9CB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A5E9E"/>
                </a:solidFill>
                <a:latin typeface="Meiryo UI"/>
                <a:ea typeface="Meiryo UI"/>
              </a:rPr>
              <a:t>📷 ここにスクショを貼る</a:t>
            </a:r>
          </a:p>
          <a:p>
            <a:pPr algn="ctr"/>
            <a:r>
              <a:rPr sz="1400">
                <a:latin typeface="Meiryo UI"/>
                <a:ea typeface="Meiryo UI"/>
              </a:rPr>
              <a:t>addDays() の式を書いている画面</a:t>
            </a:r>
          </a:p>
          <a:p>
            <a:r>
              <a:rPr sz="1400">
                <a:latin typeface="Meiryo UI"/>
                <a:ea typeface="Meiryo UI"/>
              </a:rPr>
              <a:t>（補完候補が出ている状態）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EC4BE0E6-C887-3F7B-7B2A-B7AB36E89626}"/>
              </a:ext>
            </a:extLst>
          </p:cNvPr>
          <p:cNvSpPr/>
          <p:nvPr/>
        </p:nvSpPr>
        <p:spPr>
          <a:xfrm>
            <a:off x="9805851" y="4119154"/>
            <a:ext cx="1306286" cy="348343"/>
          </a:xfrm>
          <a:prstGeom prst="round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05" y="-9144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PA45｜第12回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2110" y="628650"/>
            <a:ext cx="96012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「式」を書く場所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82880" y="1781251"/>
            <a:ext cx="6583680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1000"/>
              </a:spcBef>
              <a:buNone/>
            </a:pPr>
            <a:r>
              <a:rPr sz="2000" b="1">
                <a:solidFill>
                  <a:srgbClr val="1F2937"/>
                </a:solidFill>
                <a:latin typeface="Meiryo UI"/>
                <a:ea typeface="Meiryo UI"/>
              </a:rPr>
              <a:t>🎯 式は「動的コンテンツ」の隣の「fx」タブから書きます</a:t>
            </a:r>
            <a:br>
              <a:rPr lang="en-US" sz="2000" b="0">
                <a:solidFill>
                  <a:srgbClr val="1F2937"/>
                </a:solidFill>
                <a:latin typeface="Meiryo UI"/>
                <a:ea typeface="Meiryo UI"/>
              </a:rPr>
            </a:b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444343" y="1737360"/>
            <a:ext cx="5634446" cy="4114800"/>
          </a:xfrm>
          <a:prstGeom prst="roundRect">
            <a:avLst/>
          </a:prstGeom>
          <a:solidFill>
            <a:srgbClr val="F1F5FB"/>
          </a:solidFill>
          <a:ln w="19050">
            <a:solidFill>
              <a:srgbClr val="9CB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A5E9E"/>
                </a:solidFill>
                <a:latin typeface="Meiryo UI"/>
                <a:ea typeface="Meiryo UI"/>
              </a:rPr>
              <a:t>📷 ここにスクショを貼る</a:t>
            </a:r>
          </a:p>
          <a:p>
            <a:pPr algn="ctr"/>
            <a:r>
              <a:rPr sz="1400">
                <a:latin typeface="Meiryo UI"/>
                <a:ea typeface="Meiryo UI"/>
              </a:rPr>
              <a:t>アクションの入力欄の右側</a:t>
            </a:r>
          </a:p>
          <a:p>
            <a:r>
              <a:rPr sz="1400">
                <a:latin typeface="Meiryo UI"/>
                <a:ea typeface="Meiryo UI"/>
              </a:rPr>
              <a:t>「動的なコンテンツ／式」タブ切り替え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05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PA45｜第12回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71551" y="636536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addDays() を実際に書いてみる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37948" y="1494313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82880" y="1664075"/>
            <a:ext cx="6583680" cy="4428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1000"/>
              </a:spcBef>
              <a:buNone/>
            </a:pPr>
            <a:r>
              <a:rPr sz="2000" b="1">
                <a:solidFill>
                  <a:srgbClr val="1F2937"/>
                </a:solidFill>
                <a:latin typeface="Meiryo UI"/>
                <a:ea typeface="Meiryo UI"/>
              </a:rPr>
              <a:t>・「式」タブで `addDays(` まで入力</a:t>
            </a:r>
            <a:endParaRPr lang="en-US" sz="2000" b="1">
              <a:solidFill>
                <a:srgbClr val="1F2937"/>
              </a:solidFill>
              <a:latin typeface="Meiryo UI"/>
              <a:ea typeface="Meiryo UI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217920" y="1737360"/>
            <a:ext cx="5394960" cy="4114800"/>
          </a:xfrm>
          <a:prstGeom prst="roundRect">
            <a:avLst/>
          </a:prstGeom>
          <a:solidFill>
            <a:srgbClr val="F1F5FB"/>
          </a:solidFill>
          <a:ln w="19050">
            <a:solidFill>
              <a:srgbClr val="9CB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A5E9E"/>
                </a:solidFill>
                <a:latin typeface="Meiryo UI"/>
                <a:ea typeface="Meiryo UI"/>
              </a:rPr>
              <a:t>📷 ここにスクショを貼る</a:t>
            </a:r>
          </a:p>
          <a:p>
            <a:pPr algn="ctr"/>
            <a:r>
              <a:rPr sz="1400">
                <a:latin typeface="Meiryo UI"/>
                <a:ea typeface="Meiryo UI"/>
              </a:rPr>
              <a:t>addDays(動的コンテンツ, 3, 書式)</a:t>
            </a:r>
          </a:p>
          <a:p>
            <a:r>
              <a:rPr sz="1400">
                <a:latin typeface="Meiryo UI"/>
                <a:ea typeface="Meiryo UI"/>
              </a:rPr>
              <a:t>を書き終えた完成画面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CFCC7EF-7393-925D-E760-242DDE64CAA5}"/>
              </a:ext>
            </a:extLst>
          </p:cNvPr>
          <p:cNvSpPr/>
          <p:nvPr/>
        </p:nvSpPr>
        <p:spPr>
          <a:xfrm>
            <a:off x="8536577" y="4130061"/>
            <a:ext cx="1306286" cy="348343"/>
          </a:xfrm>
          <a:prstGeom prst="round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PA45｜第12回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フロー解説 ①  申請日 → addDays → 通知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82880" y="1705357"/>
            <a:ext cx="6583680" cy="4260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1000"/>
              </a:spcBef>
              <a:buNone/>
            </a:pPr>
            <a:r>
              <a:rPr b="1">
                <a:solidFill>
                  <a:srgbClr val="1F2937"/>
                </a:solidFill>
                <a:latin typeface="Meiryo UI"/>
                <a:ea typeface="Meiryo UI"/>
              </a:rPr>
              <a:t>🎯 目的：申請日を受け取って、3日後にリマインドを通知する</a:t>
            </a:r>
            <a:endParaRPr lang="en-US" altLang="ja-JP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431242" y="1737360"/>
            <a:ext cx="5181638" cy="4114800"/>
          </a:xfrm>
          <a:prstGeom prst="roundRect">
            <a:avLst>
              <a:gd name="adj" fmla="val 11164"/>
            </a:avLst>
          </a:prstGeom>
          <a:solidFill>
            <a:srgbClr val="F1F5FB"/>
          </a:solidFill>
          <a:ln w="19050">
            <a:solidFill>
              <a:srgbClr val="9CB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A5E9E"/>
                </a:solidFill>
                <a:latin typeface="Meiryo UI"/>
                <a:ea typeface="Meiryo UI"/>
              </a:rPr>
              <a:t>📷 ここにスクショを貼る</a:t>
            </a:r>
          </a:p>
          <a:p>
            <a:pPr algn="ctr"/>
            <a:r>
              <a:rPr sz="1400">
                <a:latin typeface="Meiryo UI"/>
                <a:ea typeface="Meiryo UI"/>
              </a:rPr>
              <a:t>完成フロー全体</a:t>
            </a:r>
          </a:p>
          <a:p>
            <a:r>
              <a:rPr sz="1400">
                <a:latin typeface="Meiryo UI"/>
                <a:ea typeface="Meiryo UI"/>
              </a:rPr>
              <a:t>（トリガー→addDays→リマインド送信）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PA45｜第12回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814990" y="6322778"/>
            <a:ext cx="7139243" cy="405006"/>
            <a:chOff x="6034969" y="604238"/>
            <a:chExt cx="5862289" cy="405006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Meiryo UI" pitchFamily="34" charset="0"/>
                <a:ea typeface="Meiryo UI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365760" y="642823"/>
            <a:ext cx="1371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Vol.12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000" b="1">
                <a:solidFill>
                  <a:srgbClr val="1F2937"/>
                </a:solidFill>
                <a:latin typeface="Meiryo UI" pitchFamily="34" charset="0"/>
                <a:ea typeface="Meiryo UI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① 「式」は怖くない、動的コンテンツの「隣」にある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5442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「式」タブは fx ボタンを押すだけで開きます。書くのは関数1個から。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71953" y="3163346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② addDays() 1個覚えれば、日付計算は怖くない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444844" y="3742639"/>
            <a:ext cx="101720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addDays(基準日, 加算日数, 書式) のパターンさえ覚えれば、応用が一気に広がります。</a:t>
            </a:r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③ 困ったときは、実行履歴で「式の結果」を確認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出力を開けば、式が計算した結果が見えます。式が思いどおりかどうかは、出力でチェック。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417320" y="2066544"/>
            <a:ext cx="2468880" cy="637793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17320" y="2181647"/>
            <a:ext cx="2468880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提出期限リマインド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申請日から3日後を</a:t>
            </a:r>
          </a:p>
          <a:p>
            <a:r>
              <a:rPr sz="2000" b="1">
                <a:solidFill>
                  <a:srgbClr val="1F2937"/>
                </a:solidFill>
                <a:latin typeface="Meiryo UI"/>
                <a:ea typeface="Meiryo UI"/>
              </a:rPr>
              <a:t>自動で通知</a:t>
            </a:r>
          </a:p>
        </p:txBody>
      </p:sp>
      <p:sp>
        <p:nvSpPr>
          <p:cNvPr id="11" name="Text 8"/>
          <p:cNvSpPr txBox="1"/>
          <p:nvPr/>
        </p:nvSpPr>
        <p:spPr>
          <a:xfrm>
            <a:off x="619049" y="3858372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申請日を受け取る</a:t>
            </a:r>
          </a:p>
          <a:p>
            <a:r>
              <a:rPr sz="1600" b="1">
                <a:solidFill>
                  <a:srgbClr val="4B5563"/>
                </a:solidFill>
                <a:latin typeface="Meiryo UI"/>
                <a:ea typeface="Meiryo UI"/>
              </a:rPr>
              <a:t>→ addDays(+3日)</a:t>
            </a:r>
          </a:p>
          <a:p>
            <a:r>
              <a:rPr sz="1600" b="1">
                <a:solidFill>
                  <a:srgbClr val="4B5563"/>
                </a:solidFill>
                <a:latin typeface="Meiryo UI"/>
                <a:ea typeface="Meiryo UI"/>
              </a:rPr>
              <a:t>→ Teamsで通知</a:t>
            </a:r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申請日 → addDays → 通知</a:t>
            </a:r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479687" y="1917917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9882" y="2109027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440680" y="1998232"/>
            <a:ext cx="2468880" cy="588606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440680" y="2125428"/>
            <a:ext cx="2468880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契約更新前の通知</a:t>
            </a:r>
          </a:p>
        </p:txBody>
      </p:sp>
      <p:sp>
        <p:nvSpPr>
          <p:cNvPr id="21" name="Text 16"/>
          <p:cNvSpPr txBox="1"/>
          <p:nvPr/>
        </p:nvSpPr>
        <p:spPr>
          <a:xfrm>
            <a:off x="4416094" y="3038477"/>
            <a:ext cx="3829965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契約日から1年後の30日前に</a:t>
            </a:r>
            <a:endParaRPr lang="en-US" sz="3600" dirty="0"/>
          </a:p>
          <a:p>
            <a:r>
              <a:rPr sz="2000" b="1">
                <a:solidFill>
                  <a:srgbClr val="1F2937"/>
                </a:solidFill>
                <a:latin typeface="Meiryo UI"/>
                <a:ea typeface="Meiryo UI"/>
              </a:rPr>
              <a:t>更新検討のリマインド</a:t>
            </a:r>
          </a:p>
        </p:txBody>
      </p:sp>
      <p:sp>
        <p:nvSpPr>
          <p:cNvPr id="22" name="Text 17"/>
          <p:cNvSpPr txBox="1"/>
          <p:nvPr/>
        </p:nvSpPr>
        <p:spPr>
          <a:xfrm>
            <a:off x="4509813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契約日を受け取る</a:t>
            </a:r>
          </a:p>
          <a:p>
            <a:r>
              <a:rPr sz="1600" b="1">
                <a:solidFill>
                  <a:srgbClr val="4B5563"/>
                </a:solidFill>
                <a:latin typeface="Meiryo UI"/>
                <a:ea typeface="Meiryo UI"/>
              </a:rPr>
              <a:t>→ addDays(+335日)</a:t>
            </a:r>
          </a:p>
          <a:p>
            <a:r>
              <a:rPr sz="1600" b="1">
                <a:solidFill>
                  <a:srgbClr val="4B5563"/>
                </a:solidFill>
                <a:latin typeface="Meiryo UI"/>
                <a:ea typeface="Meiryo UI"/>
              </a:rPr>
              <a:t>→ メールで通知</a:t>
            </a:r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4714569" y="5398054"/>
            <a:ext cx="3301062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契約日 → addDays → 通知</a:t>
            </a:r>
          </a:p>
        </p:txBody>
      </p:sp>
      <p:sp>
        <p:nvSpPr>
          <p:cNvPr id="27" name="Shape 21"/>
          <p:cNvSpPr/>
          <p:nvPr/>
        </p:nvSpPr>
        <p:spPr>
          <a:xfrm>
            <a:off x="8246059" y="1790914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372600" y="1952181"/>
            <a:ext cx="2468880" cy="775966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372600" y="2215734"/>
            <a:ext cx="2468880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受講期限リマインド</a:t>
            </a:r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研修や健康診断の受講期限が</a:t>
            </a:r>
          </a:p>
          <a:p>
            <a:r>
              <a:rPr sz="2000" b="1">
                <a:solidFill>
                  <a:srgbClr val="1F2937"/>
                </a:solidFill>
                <a:latin typeface="Meiryo UI"/>
                <a:ea typeface="Meiryo UI"/>
              </a:rPr>
              <a:t>近づいたら自動で通知</a:t>
            </a:r>
          </a:p>
        </p:txBody>
      </p:sp>
      <p:sp>
        <p:nvSpPr>
          <p:cNvPr id="33" name="Text 26"/>
          <p:cNvSpPr txBox="1"/>
          <p:nvPr/>
        </p:nvSpPr>
        <p:spPr>
          <a:xfrm>
            <a:off x="8516611" y="3885659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受講日を受け取る</a:t>
            </a:r>
          </a:p>
          <a:p>
            <a:r>
              <a:rPr sz="1600" b="1">
                <a:solidFill>
                  <a:srgbClr val="4B5563"/>
                </a:solidFill>
                <a:latin typeface="Meiryo UI"/>
                <a:ea typeface="Meiryo UI"/>
              </a:rPr>
              <a:t>→ addDays(-7日)</a:t>
            </a:r>
          </a:p>
          <a:p>
            <a:r>
              <a:rPr sz="1600" b="1">
                <a:solidFill>
                  <a:srgbClr val="4B5563"/>
                </a:solidFill>
                <a:latin typeface="Meiryo UI"/>
                <a:ea typeface="Meiryo UI"/>
              </a:rPr>
              <a:t>→ リマインドメール</a:t>
            </a:r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日付の計算は応用がきく</a:t>
            </a:r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1113609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>
                <a:latin typeface="Meiryo UI"/>
                <a:ea typeface="Meiryo UI"/>
              </a:rPr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>
                <a:latin typeface="Meiryo UI"/>
                <a:ea typeface="Meiryo UI"/>
              </a:rPr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PA45｜第12回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575082" y="5283885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>
                <a:latin typeface="Meiryo UI"/>
                <a:ea typeface="Meiryo UI"/>
              </a:rPr>
              <a:t>チャット欄に</a:t>
            </a:r>
            <a:r>
              <a:rPr lang="en-US" altLang="ja-JP">
                <a:latin typeface="Meiryo UI"/>
                <a:ea typeface="Meiryo UI"/>
              </a:rPr>
              <a:t>URL</a:t>
            </a:r>
            <a:r>
              <a:rPr lang="ja-JP" altLang="en-US">
                <a:latin typeface="Meiryo UI"/>
                <a:ea typeface="Meiryo UI"/>
              </a:rPr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2376</TotalTime>
  <Words>1656</Words>
  <Application>Microsoft Office PowerPoint</Application>
  <PresentationFormat>ワイド画面</PresentationFormat>
  <Paragraphs>374</Paragraphs>
  <Slides>16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Meiryo UI</vt:lpstr>
      <vt:lpstr>Noto Sans JP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30</cp:revision>
  <dcterms:created xsi:type="dcterms:W3CDTF">2026-03-02T01:22:39Z</dcterms:created>
  <dcterms:modified xsi:type="dcterms:W3CDTF">2026-05-20T04:46:35Z</dcterms:modified>
</cp:coreProperties>
</file>