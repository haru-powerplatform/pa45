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72" r:id="rId10"/>
    <p:sldId id="271" r:id="rId6"/>
    <p:sldId id="273" r:id="rId11"/>
    <p:sldId id="274" r:id="rId12"/>
    <p:sldId id="275" r:id="rId13"/>
    <p:sldId id="276" r:id="rId14"/>
    <p:sldId id="277" r:id="rId15"/>
    <p:sldId id="278" r:id="rId9"/>
    <p:sldId id="279" r:id="rId8"/>
    <p:sldId id="280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31A18-F8DF-4B0F-95F3-441F5794CAA8}" v="11" dt="2026-04-17T02:48:52.5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8" d="100"/>
          <a:sy n="118" d="100"/>
        </p:scale>
        <p:origin x="561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10.xml"/><Relationship Id="rId8" Type="http://schemas.openxmlformats.org/officeDocument/2006/relationships/slide" Target="slides/slide9.xml"/><Relationship Id="rId9" Type="http://schemas.openxmlformats.org/officeDocument/2006/relationships/slide" Target="slides/slide8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17T11:58:09.756" v="646" actId="20577"/>
      <pc:docMkLst>
        <pc:docMk/>
      </pc:docMkLst>
      <pc:sldChg chg="modSp mod">
        <pc:chgData name="Ueda Isamu" userId="35289799e0376f2e" providerId="LiveId" clId="{DD31E282-B62B-4911-91B6-43B1B98908F9}" dt="2026-04-17T02:13:28.377" v="23" actId="20577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58:09.756" v="646" actId="20577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05:56.530" v="641" actId="20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17T11:05:56.530" v="641" actId="20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add mod">
        <pc:chgData name="Ueda Isamu" userId="35289799e0376f2e" providerId="LiveId" clId="{DD31E282-B62B-4911-91B6-43B1B98908F9}" dt="2026-04-17T02:47:36.616" v="459" actId="1076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spChg chg="del">
          <ac:chgData name="Ueda Isamu" userId="35289799e0376f2e" providerId="LiveId" clId="{DD31E282-B62B-4911-91B6-43B1B98908F9}" dt="2026-04-17T02:14:56.587" v="133" actId="478"/>
          <ac:spMkLst>
            <pc:docMk/>
            <pc:sldMk cId="2459475835" sldId="281"/>
            <ac:spMk id="44" creationId="{F9B91B76-7920-EE96-CB51-D8B32827C982}"/>
          </ac:spMkLst>
        </pc:spChg>
        <pc:spChg chg="del">
          <ac:chgData name="Ueda Isamu" userId="35289799e0376f2e" providerId="LiveId" clId="{DD31E282-B62B-4911-91B6-43B1B98908F9}" dt="2026-04-17T02:14:51.542" v="131" actId="478"/>
          <ac:spMkLst>
            <pc:docMk/>
            <pc:sldMk cId="2459475835" sldId="281"/>
            <ac:spMk id="51" creationId="{F34FF253-528E-97DF-BF89-4A55B2E7EBC4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del mod">
          <ac:chgData name="Ueda Isamu" userId="35289799e0376f2e" providerId="LiveId" clId="{DD31E282-B62B-4911-91B6-43B1B98908F9}" dt="2026-04-17T02:21:19.453" v="195" actId="478"/>
          <ac:picMkLst>
            <pc:docMk/>
            <pc:sldMk cId="2459475835" sldId="281"/>
            <ac:picMk id="14" creationId="{A872EEC3-0079-B857-A352-13B0525469F2}"/>
          </ac:picMkLst>
        </pc:picChg>
        <pc:picChg chg="add del mod">
          <ac:chgData name="Ueda Isamu" userId="35289799e0376f2e" providerId="LiveId" clId="{DD31E282-B62B-4911-91B6-43B1B98908F9}" dt="2026-04-17T02:21:14.537" v="192" actId="478"/>
          <ac:picMkLst>
            <pc:docMk/>
            <pc:sldMk cId="2459475835" sldId="281"/>
            <ac:picMk id="16" creationId="{7B3B07E8-D558-44C5-F536-149592DC9066}"/>
          </ac:picMkLst>
        </pc:picChg>
        <pc:picChg chg="add del mod">
          <ac:chgData name="Ueda Isamu" userId="35289799e0376f2e" providerId="LiveId" clId="{DD31E282-B62B-4911-91B6-43B1B98908F9}" dt="2026-04-17T02:21:15.842" v="193" actId="478"/>
          <ac:picMkLst>
            <pc:docMk/>
            <pc:sldMk cId="2459475835" sldId="281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  <pc:picChg chg="del">
          <ac:chgData name="Ueda Isamu" userId="35289799e0376f2e" providerId="LiveId" clId="{DD31E282-B62B-4911-91B6-43B1B98908F9}" dt="2026-04-17T02:14:57.340" v="134" actId="478"/>
          <ac:picMkLst>
            <pc:docMk/>
            <pc:sldMk cId="2459475835" sldId="281"/>
            <ac:picMk id="43" creationId="{C2A29B6F-3C93-A1C3-76A2-A2F9DE2BAF70}"/>
          </ac:picMkLst>
        </pc:picChg>
      </pc:sldChg>
      <pc:sldChg chg="del">
        <pc:chgData name="Ueda Isamu" userId="35289799e0376f2e" providerId="LiveId" clId="{DD31E282-B62B-4911-91B6-43B1B98908F9}" dt="2026-04-17T01:08:17.011" v="0" actId="47"/>
        <pc:sldMkLst>
          <pc:docMk/>
          <pc:sldMk cId="0" sldId="282"/>
        </pc:sldMkLst>
      </pc:sldChg>
      <pc:sldChg chg="addSp modSp add mod ord">
        <pc:chgData name="Ueda Isamu" userId="35289799e0376f2e" providerId="LiveId" clId="{DD31E282-B62B-4911-91B6-43B1B98908F9}" dt="2026-04-17T02:21:10.454" v="191" actId="1076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17T02:21:10.454" v="191" actId="1076"/>
          <ac:spMkLst>
            <pc:docMk/>
            <pc:sldMk cId="3861659691" sldId="282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20:50.359" v="185" actId="1076"/>
          <ac:spMkLst>
            <pc:docMk/>
            <pc:sldMk cId="3861659691" sldId="282"/>
            <ac:spMk id="12" creationId="{B61745D9-8D46-A514-CF17-682EE8BDCFC1}"/>
          </ac:spMkLst>
        </pc:spChg>
        <pc:picChg chg="mod">
          <ac:chgData name="Ueda Isamu" userId="35289799e0376f2e" providerId="LiveId" clId="{DD31E282-B62B-4911-91B6-43B1B98908F9}" dt="2026-04-17T02:20:51.531" v="186" actId="1076"/>
          <ac:picMkLst>
            <pc:docMk/>
            <pc:sldMk cId="3861659691" sldId="282"/>
            <ac:picMk id="16" creationId="{7B3B07E8-D558-44C5-F536-149592DC9066}"/>
          </ac:picMkLst>
        </pc:picChg>
        <pc:picChg chg="mod">
          <ac:chgData name="Ueda Isamu" userId="35289799e0376f2e" providerId="LiveId" clId="{DD31E282-B62B-4911-91B6-43B1B98908F9}" dt="2026-04-17T02:20:53.535" v="187" actId="1076"/>
          <ac:picMkLst>
            <pc:docMk/>
            <pc:sldMk cId="3861659691" sldId="282"/>
            <ac:picMk id="18" creationId="{97FD49C7-206D-6C4B-3177-E4037E3C63D6}"/>
          </ac:picMkLst>
        </pc:picChg>
      </pc:sldChg>
      <pc:sldChg chg="addSp delSp modSp add mod">
        <pc:chgData name="Ueda Isamu" userId="35289799e0376f2e" providerId="LiveId" clId="{DD31E282-B62B-4911-91B6-43B1B98908F9}" dt="2026-04-17T02:48:27.942" v="511" actId="13926"/>
        <pc:sldMkLst>
          <pc:docMk/>
          <pc:sldMk cId="2686875315" sldId="283"/>
        </pc:sldMkLst>
        <pc:spChg chg="del">
          <ac:chgData name="Ueda Isamu" userId="35289799e0376f2e" providerId="LiveId" clId="{DD31E282-B62B-4911-91B6-43B1B98908F9}" dt="2026-04-17T02:42:39.360" v="251" actId="478"/>
          <ac:spMkLst>
            <pc:docMk/>
            <pc:sldMk cId="2686875315" sldId="283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  <pc:picChg chg="del">
          <ac:chgData name="Ueda Isamu" userId="35289799e0376f2e" providerId="LiveId" clId="{DD31E282-B62B-4911-91B6-43B1B98908F9}" dt="2026-04-17T02:42:36.546" v="248" actId="478"/>
          <ac:picMkLst>
            <pc:docMk/>
            <pc:sldMk cId="2686875315" sldId="283"/>
            <ac:picMk id="20" creationId="{73095EBC-5E6E-5317-87A5-17E37B58CC5E}"/>
          </ac:picMkLst>
        </pc:picChg>
        <pc:picChg chg="del">
          <ac:chgData name="Ueda Isamu" userId="35289799e0376f2e" providerId="LiveId" clId="{DD31E282-B62B-4911-91B6-43B1B98908F9}" dt="2026-04-17T02:42:37.963" v="250" actId="478"/>
          <ac:picMkLst>
            <pc:docMk/>
            <pc:sldMk cId="2686875315" sldId="283"/>
            <ac:picMk id="22" creationId="{79F3BB5C-856E-FA0C-3333-92328AEDB18C}"/>
          </ac:picMkLst>
        </pc:picChg>
        <pc:picChg chg="del">
          <ac:chgData name="Ueda Isamu" userId="35289799e0376f2e" providerId="LiveId" clId="{DD31E282-B62B-4911-91B6-43B1B98908F9}" dt="2026-04-17T02:42:52.661" v="253" actId="478"/>
          <ac:picMkLst>
            <pc:docMk/>
            <pc:sldMk cId="2686875315" sldId="283"/>
            <ac:picMk id="25" creationId="{24B8273A-79BB-524B-B355-12D0488F8274}"/>
          </ac:picMkLst>
        </pc:picChg>
        <pc:picChg chg="del">
          <ac:chgData name="Ueda Isamu" userId="35289799e0376f2e" providerId="LiveId" clId="{DD31E282-B62B-4911-91B6-43B1B98908F9}" dt="2026-04-17T02:42:37.130" v="249" actId="478"/>
          <ac:picMkLst>
            <pc:docMk/>
            <pc:sldMk cId="2686875315" sldId="283"/>
            <ac:picMk id="26" creationId="{90BB8993-B660-880F-C455-A312D2B2E10C}"/>
          </ac:picMkLst>
        </pc:picChg>
        <pc:picChg chg="del">
          <ac:chgData name="Ueda Isamu" userId="35289799e0376f2e" providerId="LiveId" clId="{DD31E282-B62B-4911-91B6-43B1B98908F9}" dt="2026-04-17T02:42:40.098" v="252" actId="478"/>
          <ac:picMkLst>
            <pc:docMk/>
            <pc:sldMk cId="2686875315" sldId="283"/>
            <ac:picMk id="27" creationId="{1540BB72-A70B-4993-9B89-22A2C53B10B1}"/>
          </ac:picMkLst>
        </pc:picChg>
      </pc:sldChg>
      <pc:sldChg chg="addSp delSp modSp add mod">
        <pc:chgData name="Ueda Isamu" userId="35289799e0376f2e" providerId="LiveId" clId="{DD31E282-B62B-4911-91B6-43B1B98908F9}" dt="2026-04-17T02:49:36.811" v="596" actId="478"/>
        <pc:sldMkLst>
          <pc:docMk/>
          <pc:sldMk cId="1541831861" sldId="284"/>
        </pc:sldMkLst>
        <pc:spChg chg="del mod">
          <ac:chgData name="Ueda Isamu" userId="35289799e0376f2e" providerId="LiveId" clId="{DD31E282-B62B-4911-91B6-43B1B98908F9}" dt="2026-04-17T02:48:54.791" v="522" actId="478"/>
          <ac:spMkLst>
            <pc:docMk/>
            <pc:sldMk cId="1541831861" sldId="284"/>
            <ac:spMk id="7" creationId="{00000000-0000-0000-0000-000000000000}"/>
          </ac:spMkLst>
        </pc:spChg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spChg chg="del">
          <ac:chgData name="Ueda Isamu" userId="35289799e0376f2e" providerId="LiveId" clId="{DD31E282-B62B-4911-91B6-43B1B98908F9}" dt="2026-04-17T02:48:43.215" v="514" actId="478"/>
          <ac:spMkLst>
            <pc:docMk/>
            <pc:sldMk cId="1541831861" sldId="284"/>
            <ac:spMk id="15" creationId="{B5DBE15C-3F0E-995C-C955-5A890D5C4AD0}"/>
          </ac:spMkLst>
        </pc:spChg>
        <pc:spChg chg="del">
          <ac:chgData name="Ueda Isamu" userId="35289799e0376f2e" providerId="LiveId" clId="{DD31E282-B62B-4911-91B6-43B1B98908F9}" dt="2026-04-17T02:48:49.830" v="519" actId="478"/>
          <ac:spMkLst>
            <pc:docMk/>
            <pc:sldMk cId="1541831861" sldId="284"/>
            <ac:spMk id="18" creationId="{7CBEC746-521C-9E2B-7D90-711E9905A4D7}"/>
          </ac:spMkLst>
        </pc:spChg>
        <pc:spChg chg="del">
          <ac:chgData name="Ueda Isamu" userId="35289799e0376f2e" providerId="LiveId" clId="{DD31E282-B62B-4911-91B6-43B1B98908F9}" dt="2026-04-17T02:49:36.811" v="596" actId="478"/>
          <ac:spMkLst>
            <pc:docMk/>
            <pc:sldMk cId="1541831861" sldId="284"/>
            <ac:spMk id="19" creationId="{B5110F6F-46C1-8584-E321-1DE91CADF579}"/>
          </ac:spMkLst>
        </pc:spChg>
        <pc:picChg chg="del">
          <ac:chgData name="Ueda Isamu" userId="35289799e0376f2e" providerId="LiveId" clId="{DD31E282-B62B-4911-91B6-43B1B98908F9}" dt="2026-04-17T02:48:41.561" v="513" actId="478"/>
          <ac:picMkLst>
            <pc:docMk/>
            <pc:sldMk cId="1541831861" sldId="284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17T02:48:47.863" v="518" actId="478"/>
          <ac:picMkLst>
            <pc:docMk/>
            <pc:sldMk cId="1541831861" sldId="284"/>
            <ac:picMk id="14" creationId="{25F6D668-986E-7313-5F03-1BEC504E4B18}"/>
          </ac:picMkLst>
        </pc:picChg>
        <pc:picChg chg="del">
          <ac:chgData name="Ueda Isamu" userId="35289799e0376f2e" providerId="LiveId" clId="{DD31E282-B62B-4911-91B6-43B1B98908F9}" dt="2026-04-17T02:48:44.024" v="515" actId="478"/>
          <ac:picMkLst>
            <pc:docMk/>
            <pc:sldMk cId="1541831861" sldId="284"/>
            <ac:picMk id="17" creationId="{F566F71E-C914-B0FA-ED5D-DC027EE1184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image" Target="../media/image58.png"/><Relationship Id="rId16" Type="http://schemas.openxmlformats.org/officeDocument/2006/relationships/image" Target="../media/image59.png"/><Relationship Id="rId17" Type="http://schemas.openxmlformats.org/officeDocument/2006/relationships/image" Target="../media/image60.png"/><Relationship Id="rId18" Type="http://schemas.openxmlformats.org/officeDocument/2006/relationships/image" Target="../media/image61.png"/><Relationship Id="rId19" Type="http://schemas.openxmlformats.org/officeDocument/2006/relationships/image" Target="../media/image62.png"/><Relationship Id="rId20" Type="http://schemas.microsoft.com/office/2007/relationships/hdphoto" Target="../media/hdphoto1.wd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320040" cy="685800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643360" y="0"/>
            <a:ext cx="548640" cy="182880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3657600" cy="411480"/>
          </a:xfrm>
          <a:prstGeom prst="roundRect">
            <a:avLst>
              <a:gd name="adj" fmla="val 10000"/>
            </a:avLst>
          </a:prstGeom>
          <a:solidFill>
            <a:srgbClr val="E8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373E99"/>
                </a:solidFill>
                <a:latin typeface="Yu Gothic"/>
              </a:rPr>
              <a:t>⚡ LIGHTNING TALK  ×  COPILOT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Copilotに「会議減らしたい」と</a:t>
            </a:r>
          </a:p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泣きついたら、Power Automateで</a:t>
            </a:r>
          </a:p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会議コストBotを生み出す羽目</a:t>
            </a:r>
          </a:p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になった話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029200"/>
            <a:ext cx="54864" cy="5029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02920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605E5C"/>
                </a:solidFill>
                <a:latin typeface="Yu Gothic"/>
              </a:rPr>
              <a:t>Copilot × Power Automate で7アクションのBotを作った話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852160"/>
            <a:ext cx="54864" cy="50292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8521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373E99"/>
                </a:solidFill>
                <a:latin typeface="Yu Gothic"/>
              </a:rPr>
              <a:t>Haru (ism136)  /  Power Automate 45 主催</a:t>
            </a:r>
          </a:p>
        </p:txBody>
      </p:sp>
      <p:sp>
        <p:nvSpPr>
          <p:cNvPr id="12" name="Oval 11"/>
          <p:cNvSpPr/>
          <p:nvPr/>
        </p:nvSpPr>
        <p:spPr>
          <a:xfrm>
            <a:off x="11094720" y="5989320"/>
            <a:ext cx="146304" cy="14630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77600" y="5989320"/>
            <a:ext cx="146304" cy="146304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60481" y="5989320"/>
            <a:ext cx="146304" cy="146304"/>
          </a:xfrm>
          <a:prstGeom prst="ellipse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643361" y="5989320"/>
            <a:ext cx="146304" cy="146304"/>
          </a:xfrm>
          <a:prstGeom prst="ellipse">
            <a:avLst/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ある日、自分のカレンダーを見たら…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usy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0058400" cy="4206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698480" y="1828800"/>
            <a:ext cx="1280160" cy="2194560"/>
          </a:xfrm>
          <a:prstGeom prst="roundRect">
            <a:avLst>
              <a:gd name="adj" fmla="val 8000"/>
            </a:avLst>
          </a:prstGeom>
          <a:solidFill>
            <a:srgbClr val="D83B01"/>
          </a:solidFill>
          <a:ln w="6350">
            <a:solidFill>
              <a:srgbClr val="D83B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0" y="1828800"/>
            <a:ext cx="128016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うわ…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669280"/>
            <a:ext cx="54864" cy="45720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今週、会議42本。隙間ほぼなし。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そこに、追い討ちの会議招集。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owded_inv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686800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18320" y="137160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83B01"/>
                </a:solidFill>
                <a:latin typeface="Yu Gothic"/>
              </a:rPr>
              <a:t>🔴 気になるポイント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0" y="1920240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418320" y="192024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55480" y="19659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必須参加者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221284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D83B01"/>
                </a:solidFill>
                <a:latin typeface="Yu Gothic"/>
              </a:rPr>
              <a:t>70人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0" y="2834640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418320" y="283464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605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55480" y="28803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任意参加者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5480" y="312724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605E5C"/>
                </a:solidFill>
                <a:latin typeface="Yu Gothic"/>
              </a:rPr>
              <a:t>0人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3749039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418320" y="3749039"/>
            <a:ext cx="54864" cy="77724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5480" y="379475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時間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4041647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078D4"/>
                </a:solidFill>
                <a:latin typeface="Yu Gothic"/>
              </a:rPr>
              <a:t>120分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0" y="4663440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18320" y="466344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5480" y="47091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推定コスト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495604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D83B01"/>
                </a:solidFill>
                <a:latin typeface="Yu Gothic"/>
              </a:rPr>
              <a:t>700,000円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669280"/>
            <a:ext cx="54864" cy="45720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必須70人。任意ゼロ。…これ、本当に全員いる？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Copilotに泣きついた。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EEE9FB"/>
          </a:solidFill>
          <a:ln w="12700">
            <a:solidFill>
              <a:srgbClr val="7460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373E99"/>
                </a:solidFill>
                <a:latin typeface="Yu Gothic"/>
              </a:rPr>
              <a:t>🙋   会議減らしたいんですけど…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60320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DEECF9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323130"/>
                </a:solidFill>
                <a:latin typeface="Yu Gothic"/>
              </a:rPr>
              <a:t>🤖   優先度を見直して、必要な会議だけに絞りましょう。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35204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605E5C"/>
                </a:solidFill>
                <a:latin typeface="Yu Gothic"/>
              </a:rPr>
              <a:t>💭 モヤッ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D83B01"/>
                </a:solidFill>
                <a:latin typeface="Yu Gothic"/>
              </a:rPr>
              <a:t>いや、そういうんじゃなくて。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754880"/>
            <a:ext cx="5486400" cy="4572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05E5C"/>
                </a:solidFill>
                <a:latin typeface="Yu Gothic"/>
              </a:rPr>
              <a:t>本音：会議そのものはなくならない。だから「減らせ」って言われても困る。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57784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05E5C"/>
                </a:solidFill>
                <a:latin typeface="Yu Gothic"/>
              </a:rPr>
              <a:t>もっと「呼ぶ前にひと呼吸」を入れたい。それも、誰かを責めずに、自然に。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聞き方を変えてみた。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577840" cy="45720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💬  Copilotとの会話 (やり直し)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493776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1">
                <a:solidFill>
                  <a:srgbClr val="323130"/>
                </a:solidFill>
                <a:latin typeface="Yu Gothic"/>
              </a:rPr>
              <a:t>自分:</a:t>
            </a:r>
          </a:p>
          <a:p>
            <a:pPr algn="l"/>
            <a:r>
              <a:rPr sz="1400" b="0">
                <a:solidFill>
                  <a:srgbClr val="323130"/>
                </a:solidFill>
                <a:latin typeface="Yu Gothic"/>
              </a:rPr>
              <a:t>「会議のコストを可視化したい」</a:t>
            </a:r>
          </a:p>
          <a:p>
            <a:pPr algn="l"/>
            <a:r>
              <a:rPr sz="600" b="0">
                <a:solidFill>
                  <a:srgbClr val="323130"/>
                </a:solidFill>
                <a:latin typeface="Yu Gothic"/>
              </a:rPr>
              <a:t/>
            </a:r>
          </a:p>
          <a:p>
            <a:pPr algn="l"/>
            <a:r>
              <a:rPr sz="1100" b="1">
                <a:solidFill>
                  <a:srgbClr val="323130"/>
                </a:solidFill>
                <a:latin typeface="Yu Gothic"/>
              </a:rPr>
              <a:t>Copilot:</a:t>
            </a:r>
          </a:p>
          <a:p>
            <a:pPr algn="l"/>
            <a:r>
              <a:rPr sz="1300" b="0">
                <a:solidFill>
                  <a:srgbClr val="323130"/>
                </a:solidFill>
                <a:latin typeface="Yu Gothic"/>
              </a:rPr>
              <a:t>「Power Automateで作れますよ」</a:t>
            </a:r>
          </a:p>
          <a:p>
            <a:pPr algn="l"/>
            <a:r>
              <a:rPr sz="1300" b="0">
                <a:solidFill>
                  <a:srgbClr val="323130"/>
                </a:solidFill>
                <a:latin typeface="Yu Gothic"/>
              </a:rPr>
              <a:t>「Outlookトリガー＋7アクションでOK」</a:t>
            </a:r>
          </a:p>
          <a:p>
            <a:pPr algn="l"/>
            <a:r>
              <a:rPr sz="600" b="0">
                <a:solidFill>
                  <a:srgbClr val="323130"/>
                </a:solidFill>
                <a:latin typeface="Yu Gothic"/>
              </a:rPr>
              <a:t/>
            </a:r>
          </a:p>
          <a:p>
            <a:pPr algn="l"/>
            <a:r>
              <a:rPr sz="1100" b="1">
                <a:solidFill>
                  <a:srgbClr val="323130"/>
                </a:solidFill>
                <a:latin typeface="Yu Gothic"/>
              </a:rPr>
              <a:t>自分:</a:t>
            </a:r>
          </a:p>
          <a:p>
            <a:pPr algn="l"/>
            <a:r>
              <a:rPr sz="1400" b="0">
                <a:solidFill>
                  <a:srgbClr val="323130"/>
                </a:solidFill>
                <a:latin typeface="Yu Gothic"/>
              </a:rPr>
              <a:t>「式どう書くの？」</a:t>
            </a:r>
          </a:p>
          <a:p>
            <a:pPr algn="l"/>
            <a:r>
              <a:rPr sz="600" b="0">
                <a:solidFill>
                  <a:srgbClr val="323130"/>
                </a:solidFill>
                <a:latin typeface="Yu Gothic"/>
              </a:rPr>
              <a:t/>
            </a:r>
          </a:p>
          <a:p>
            <a:pPr algn="l"/>
            <a:r>
              <a:rPr sz="1100" b="1">
                <a:solidFill>
                  <a:srgbClr val="323130"/>
                </a:solidFill>
                <a:latin typeface="Yu Gothic"/>
              </a:rPr>
              <a:t>Copilot:</a:t>
            </a:r>
          </a:p>
          <a:p>
            <a:pPr algn="l"/>
            <a:r>
              <a:rPr sz="1100" b="0">
                <a:solidFill>
                  <a:srgbClr val="323130"/>
                </a:solidFill>
                <a:latin typeface="Yu Gothic"/>
              </a:rPr>
              <a:t>div(sub(ticks(end),ticks(start)),</a:t>
            </a:r>
          </a:p>
          <a:p>
            <a:pPr algn="l"/>
            <a:r>
              <a:rPr sz="1100" b="0">
                <a:solidFill>
                  <a:srgbClr val="323130"/>
                </a:solidFill>
                <a:latin typeface="Yu Gothic"/>
              </a:rPr>
              <a:t>  600000000)</a:t>
            </a:r>
          </a:p>
          <a:p>
            <a:pPr algn="l"/>
            <a:r>
              <a:rPr sz="600" b="0">
                <a:solidFill>
                  <a:srgbClr val="323130"/>
                </a:solidFill>
                <a:latin typeface="Yu Gothic"/>
              </a:rPr>
              <a:t/>
            </a:r>
          </a:p>
          <a:p>
            <a:pPr algn="l"/>
            <a:r>
              <a:rPr sz="1100" b="1">
                <a:solidFill>
                  <a:srgbClr val="323130"/>
                </a:solidFill>
                <a:latin typeface="Yu Gothic"/>
              </a:rPr>
              <a:t>自分:</a:t>
            </a:r>
          </a:p>
          <a:p>
            <a:pPr algn="l"/>
            <a:r>
              <a:rPr sz="1400" b="0">
                <a:solidFill>
                  <a:srgbClr val="323130"/>
                </a:solidFill>
                <a:latin typeface="Yu Gothic"/>
              </a:rPr>
              <a:t>「（読めないけど動いた）」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28016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1280160"/>
            <a:ext cx="557784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2801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✅  Copilotが提案したフロー(7アクション)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965960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96596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1965960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323130"/>
                </a:solidFill>
                <a:latin typeface="Yu Gothic"/>
              </a:rPr>
              <a:t>トリガー：新しいイベント (Outlook)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2532888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5328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532888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323130"/>
                </a:solidFill>
                <a:latin typeface="Yu Gothic"/>
              </a:rPr>
              <a:t>参加者数_必須 (split + length)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3099815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309981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099815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323130"/>
                </a:solidFill>
                <a:latin typeface="Yu Gothic"/>
              </a:rPr>
              <a:t>参加者数_任意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3666744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36667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666744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323130"/>
                </a:solidFill>
                <a:latin typeface="Yu Gothic"/>
              </a:rPr>
              <a:t>合計参加者数 (主催者+1)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4233672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423367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233672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323130"/>
                </a:solidFill>
                <a:latin typeface="Yu Gothic"/>
              </a:rPr>
              <a:t>会議時間_分 (ticks計算)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37960" y="4800600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48006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800600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323130"/>
                </a:solidFill>
                <a:latin typeface="Yu Gothic"/>
              </a:rPr>
              <a:t>コスト = 人数×分×(時給÷60)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5367527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5367527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5367527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323130"/>
                </a:solidFill>
                <a:latin typeface="Yu Gothic"/>
              </a:rPr>
              <a:t>Teams投稿 (Flowbot)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実装してみた：Power Automateの全体像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430000" cy="4206240"/>
          </a:xfrm>
          <a:prstGeom prst="roundRect">
            <a:avLst>
              <a:gd name="adj" fmla="val 8000"/>
            </a:avLst>
          </a:prstGeom>
          <a:solidFill>
            <a:srgbClr val="F3F2F1"/>
          </a:solidFill>
          <a:ln w="19050">
            <a:solidFill>
              <a:srgbClr val="C8C6C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11430000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605E5C"/>
                </a:solidFill>
                <a:latin typeface="Yu Gothic"/>
              </a:rPr>
              <a:t>📸  ここにPower Automateフロー全体のスクショを貼り付け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120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05E5C"/>
                </a:solidFill>
                <a:latin typeface="Yu Gothic"/>
              </a:rPr>
              <a:t>👉 推奨：フロー全体が見えるスクショ → トリミングして横配置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76072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5760720"/>
            <a:ext cx="54864" cy="64008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790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73E99"/>
                </a:solidFill>
                <a:latin typeface="Yu Gothic"/>
              </a:rPr>
              <a:t>Outlook トリガー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新しい会議が作られた瞬間に発火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576072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97680" y="5760720"/>
            <a:ext cx="54864" cy="64008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57790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73E99"/>
                </a:solidFill>
                <a:latin typeface="Yu Gothic"/>
              </a:rPr>
              <a:t>ticks() 計算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05332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100ナノ秒単位の時間差を分に変換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576072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38160" y="5760720"/>
            <a:ext cx="54864" cy="64008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57790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73E99"/>
                </a:solidFill>
                <a:latin typeface="Yu Gothic"/>
              </a:rPr>
              <a:t>Teams投稿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605332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Flowbotから自分のチャットに通知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結果：空気が変わった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57784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57784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🚨  Teams通知 (Flowbot)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502920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323130"/>
                </a:solidFill>
                <a:latin typeface="Yu Gothic"/>
              </a:rPr>
              <a:t>📅 件名：定例MTG</a:t>
            </a:r>
          </a:p>
          <a:p>
            <a:pPr algn="l"/>
            <a:r>
              <a:rPr sz="1300" b="0">
                <a:solidFill>
                  <a:srgbClr val="323130"/>
                </a:solidFill>
                <a:latin typeface="Yu Gothic"/>
              </a:rPr>
              <a:t>👥 参加者：6人</a:t>
            </a:r>
          </a:p>
          <a:p>
            <a:pPr algn="l"/>
            <a:r>
              <a:rPr sz="1300" b="0">
                <a:solidFill>
                  <a:srgbClr val="323130"/>
                </a:solidFill>
                <a:latin typeface="Yu Gothic"/>
              </a:rPr>
              <a:t>⏰ 時間：60分</a:t>
            </a:r>
          </a:p>
          <a:p>
            <a:pPr algn="l"/>
            <a:r>
              <a:rPr sz="600" b="0">
                <a:solidFill>
                  <a:srgbClr val="323130"/>
                </a:solidFill>
                <a:latin typeface="Yu Gothic"/>
              </a:rPr>
              <a:t/>
            </a:r>
          </a:p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💰 推定コスト：30,000円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86200"/>
            <a:ext cx="5029200" cy="411480"/>
          </a:xfrm>
          <a:prstGeom prst="roundRect">
            <a:avLst>
              <a:gd name="adj" fmla="val 10000"/>
            </a:avLst>
          </a:prstGeom>
          <a:solidFill>
            <a:srgbClr val="FFF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3886200"/>
            <a:ext cx="54864" cy="411480"/>
          </a:xfrm>
          <a:prstGeom prst="roundRect">
            <a:avLst>
              <a:gd name="adj" fmla="val 10000"/>
            </a:avLst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862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23130"/>
                </a:solidFill>
                <a:latin typeface="Yu Gothic"/>
              </a:rPr>
              <a:t>⚠ 本当にこの人数必要ですか？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280160"/>
            <a:ext cx="5577840" cy="1554480"/>
          </a:xfrm>
          <a:prstGeom prst="roundRect">
            <a:avLst>
              <a:gd name="adj" fmla="val 10000"/>
            </a:avLst>
          </a:prstGeom>
          <a:solidFill>
            <a:srgbClr val="373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3716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会議は減らなかった。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116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B900"/>
                </a:solidFill>
                <a:latin typeface="Yu Gothic"/>
              </a:rPr>
              <a:t>でも、空気が変わった。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17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73E99"/>
                </a:solidFill>
                <a:latin typeface="Yu Gothic"/>
              </a:rPr>
              <a:t>💡 今日の学び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566160"/>
            <a:ext cx="292608" cy="292608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5204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323130"/>
                </a:solidFill>
                <a:latin typeface="Yu Gothic"/>
              </a:rPr>
              <a:t>Copilotは"何を作るか"も提案してくれる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069080"/>
            <a:ext cx="292608" cy="292608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40690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02336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323130"/>
                </a:solidFill>
                <a:latin typeface="Yu Gothic"/>
              </a:rPr>
              <a:t>式が読めなくても動く（理解は後で追いつく）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572000"/>
            <a:ext cx="292608" cy="292608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45720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5262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323130"/>
                </a:solidFill>
                <a:latin typeface="Yu Gothic"/>
              </a:rPr>
              <a:t>数字を見せると、人は動く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029200"/>
            <a:ext cx="11430000" cy="128016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7200" y="5029200"/>
            <a:ext cx="137160" cy="128016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1663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B900"/>
                </a:solidFill>
                <a:latin typeface="Yu Gothic"/>
              </a:rPr>
              <a:t>🎁  Power Automate 45 (PA45)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623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Yu Gothic"/>
              </a:rPr>
              <a:t>毎週木曜 20:15〜  /  45分の "1粒ハンズオン"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9893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8E9F7"/>
                </a:solidFill>
                <a:latin typeface="Yu Gothic"/>
              </a:rPr>
              <a:t>powerautomate-create.connpass.com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自分が考える × Copilotが手伝う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605E5C"/>
                </a:solidFill>
                <a:latin typeface="Yu Gothic"/>
              </a:rPr>
              <a:t>全部を自分で作る必要はない。でも、全部をCopilotに任せることもできない。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55778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202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</a:rPr>
              <a:t>🧠  自分にしかできないこと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9748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現場の困りごとに気づくこと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632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「会議多すぎ問題」を肌で感じるのは現場の自分だけ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5760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"こういうの欲しい" のアイデア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0233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数字で見せたい・呼ぶ前にひと呼吸 という発想は人間側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61772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617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各職場にミートした業務改善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834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時給5,000円・ハッシュタグ・通知文も現場の文脈次第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920240"/>
            <a:ext cx="55778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9360" y="192024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9202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</a:rPr>
              <a:t>🤖  Copilotに手伝ってもらえること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269748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26974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関数・式の書き方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0632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ticks() ・ split() ・ length() の組み合わせは即答してくれる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365760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フローの構造提案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0233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「○○したい」と話しかけるだけで7アクション分の設計を出してくれる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37960" y="461772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4617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シンタックスやエラーの解消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9834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「読めない式」も丁寧に説明してくれるので学習にもなる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760720"/>
            <a:ext cx="11430000" cy="640080"/>
          </a:xfrm>
          <a:prstGeom prst="roundRect">
            <a:avLst>
              <a:gd name="adj" fmla="val 10000"/>
            </a:avLst>
          </a:prstGeom>
          <a:solidFill>
            <a:srgbClr val="373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7607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B900"/>
                </a:solidFill>
                <a:latin typeface="Yu Gothic"/>
              </a:rPr>
              <a:t>💡  アイデアは現場から、実装はCopilotと。これが一番強い。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3048000" cy="164592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048000" y="0"/>
            <a:ext cx="3048000" cy="164592"/>
          </a:xfrm>
          <a:prstGeom prst="roundRect">
            <a:avLst>
              <a:gd name="adj" fmla="val 10000"/>
            </a:avLst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96000" y="0"/>
            <a:ext cx="3048000" cy="164592"/>
          </a:xfrm>
          <a:prstGeom prst="roundRect">
            <a:avLst>
              <a:gd name="adj" fmla="val 10000"/>
            </a:avLst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0" y="0"/>
            <a:ext cx="3048000" cy="164592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4864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486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🎉  COMING SOON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09728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200" b="0">
                <a:solidFill>
                  <a:srgbClr val="323130"/>
                </a:solidFill>
                <a:latin typeface="Yu Gothic"/>
              </a:rPr>
              <a:t>そして、Botの次は</a:t>
            </a:r>
          </a:p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「あなたの今月の会議コスト」</a:t>
            </a:r>
          </a:p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ダッシュボードも作成中です。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57600"/>
            <a:ext cx="11430000" cy="457200"/>
          </a:xfrm>
          <a:prstGeom prst="roundRect">
            <a:avLst>
              <a:gd name="adj" fmla="val 10000"/>
            </a:avLst>
          </a:prstGeom>
          <a:solidFill>
            <a:srgbClr val="373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657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📊  Power BI:  あなたの今月の会議コスト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0624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4206240"/>
            <a:ext cx="3657600" cy="54864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297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05E5C"/>
                </a:solidFill>
                <a:latin typeface="Yu Gothic"/>
              </a:rPr>
              <a:t>💰 今月のコスト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09160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83B01"/>
                </a:solidFill>
                <a:latin typeface="Yu Gothic"/>
              </a:rPr>
              <a:t>284,500円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20624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7680" y="4206240"/>
            <a:ext cx="3657600" cy="54864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297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05E5C"/>
                </a:solidFill>
                <a:latin typeface="Yu Gothic"/>
              </a:rPr>
              <a:t>⏰ 会議時間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709160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078D4"/>
                </a:solidFill>
                <a:latin typeface="Yu Gothic"/>
              </a:rPr>
              <a:t>62時間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420624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38160" y="4206240"/>
            <a:ext cx="3657600" cy="54864"/>
          </a:xfrm>
          <a:prstGeom prst="roundRect">
            <a:avLst>
              <a:gd name="adj" fmla="val 10000"/>
            </a:avLst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4297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05E5C"/>
                </a:solidFill>
                <a:latin typeface="Yu Gothic"/>
              </a:rPr>
              <a:t>👥 のべ参加者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709160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107C10"/>
                </a:solidFill>
                <a:latin typeface="Yu Gothic"/>
              </a:rPr>
              <a:t>187人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852160"/>
            <a:ext cx="54864" cy="36576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73E99"/>
                </a:solidFill>
                <a:latin typeface="Yu Gothic"/>
              </a:rPr>
              <a:t>真面目すぎず、ニヤッと笑える数字の見せ方で作ってます 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2146</TotalTime>
  <Words>1423</Words>
  <Application>Microsoft Office PowerPoint</Application>
  <PresentationFormat>ワイド画面</PresentationFormat>
  <Paragraphs>343</Paragraphs>
  <Slides>14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16</cp:revision>
  <dcterms:created xsi:type="dcterms:W3CDTF">2026-03-02T01:22:39Z</dcterms:created>
  <dcterms:modified xsi:type="dcterms:W3CDTF">2026-04-17T11:58:17Z</dcterms:modified>
</cp:coreProperties>
</file>