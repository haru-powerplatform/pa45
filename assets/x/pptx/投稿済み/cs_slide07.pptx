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2" name="図 5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EA00FC6F-D28A-698B-78D5-D8ED7D86F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48" b="95370" l="7588" r="95331">
                        <a14:foregroundMark x1="29377" y1="38148" x2="29377" y2="38148"/>
                        <a14:foregroundMark x1="17315" y1="33519" x2="21012" y2="68704"/>
                        <a14:foregroundMark x1="13619" y1="37593" x2="14397" y2="59444"/>
                        <a14:foregroundMark x1="14397" y1="59444" x2="14786" y2="59444"/>
                        <a14:foregroundMark x1="11673" y1="44074" x2="11284" y2="62407"/>
                        <a14:foregroundMark x1="9144" y1="43333" x2="9144" y2="43333"/>
                        <a14:foregroundMark x1="9339" y1="49259" x2="7782" y2="41667"/>
                        <a14:foregroundMark x1="90467" y1="31481" x2="81907" y2="67037"/>
                        <a14:foregroundMark x1="81907" y1="67037" x2="53307" y2="91667"/>
                        <a14:foregroundMark x1="52529" y1="7407" x2="52529" y2="7407"/>
                        <a14:foregroundMark x1="95525" y1="23148" x2="95525" y2="23148"/>
                        <a14:foregroundMark x1="51556" y1="3333" x2="51556" y2="3333"/>
                        <a14:foregroundMark x1="50778" y1="95370" x2="50778" y2="95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2794" y="734039"/>
            <a:ext cx="1676891" cy="1761716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3" name="図 2" descr="ダイアグラム, 概略図&#10;&#10;AI 生成コンテンツは誤りを含む可能性があります。">
            <a:extLst>
              <a:ext uri="{FF2B5EF4-FFF2-40B4-BE49-F238E27FC236}">
                <a16:creationId xmlns:a16="http://schemas.microsoft.com/office/drawing/2014/main" id="{C165D28F-4E54-FD9A-5E00-1238268001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5656"/>
          <a:stretch>
            <a:fillRect/>
          </a:stretch>
        </p:blipFill>
        <p:spPr>
          <a:xfrm>
            <a:off x="364029" y="863285"/>
            <a:ext cx="1420594" cy="55287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279C2ED-BBE2-05FD-38A5-0656C8A26C51}"/>
              </a:ext>
            </a:extLst>
          </p:cNvPr>
          <p:cNvSpPr txBox="1"/>
          <p:nvPr/>
        </p:nvSpPr>
        <p:spPr>
          <a:xfrm>
            <a:off x="1971948" y="1982868"/>
            <a:ext cx="44025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🏠 ホーム：入口・ダッシュボード</a:t>
            </a:r>
            <a:b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補足：最近使ったものを一覧表示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D047FFB-D291-1443-2204-C446A67B2D02}"/>
              </a:ext>
            </a:extLst>
          </p:cNvPr>
          <p:cNvSpPr txBox="1"/>
          <p:nvPr/>
        </p:nvSpPr>
        <p:spPr>
          <a:xfrm>
            <a:off x="364029" y="197292"/>
            <a:ext cx="110778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40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｜ホーム画面の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つのアイコンの役割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8E2D17AA-62EB-FA1C-D5A1-757B44343BAC}"/>
              </a:ext>
            </a:extLst>
          </p:cNvPr>
          <p:cNvSpPr/>
          <p:nvPr/>
        </p:nvSpPr>
        <p:spPr>
          <a:xfrm>
            <a:off x="72315" y="65312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EE23C9D-53B8-D054-5C7D-8FB99B65796C}"/>
              </a:ext>
            </a:extLst>
          </p:cNvPr>
          <p:cNvSpPr/>
          <p:nvPr/>
        </p:nvSpPr>
        <p:spPr>
          <a:xfrm>
            <a:off x="460968" y="1836107"/>
            <a:ext cx="7696740" cy="983294"/>
          </a:xfrm>
          <a:prstGeom prst="roundRect">
            <a:avLst>
              <a:gd name="adj" fmla="val 6918"/>
            </a:avLst>
          </a:prstGeom>
          <a:noFill/>
          <a:ln w="41275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A73D9DA-DAE0-3362-B11A-16FB78E2087E}"/>
              </a:ext>
            </a:extLst>
          </p:cNvPr>
          <p:cNvSpPr txBox="1"/>
          <p:nvPr/>
        </p:nvSpPr>
        <p:spPr>
          <a:xfrm>
            <a:off x="1971948" y="3084337"/>
            <a:ext cx="58766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AI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の「会話」と「判断役」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新規作成はここ！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 「司令塔」「オーケストレーター」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D4B9814-6C5E-3D12-1B98-3B3304D8E281}"/>
              </a:ext>
            </a:extLst>
          </p:cNvPr>
          <p:cNvSpPr txBox="1"/>
          <p:nvPr/>
        </p:nvSpPr>
        <p:spPr>
          <a:xfrm>
            <a:off x="2000295" y="4295495"/>
            <a:ext cx="61574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Power Automate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フロー作成はここ！</a:t>
            </a:r>
            <a:b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メール・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Teams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通知承認・分岐・外部サービス連携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AD76DCD-C219-2D0F-22BF-399AF5DD39D1}"/>
              </a:ext>
            </a:extLst>
          </p:cNvPr>
          <p:cNvSpPr/>
          <p:nvPr/>
        </p:nvSpPr>
        <p:spPr>
          <a:xfrm>
            <a:off x="460967" y="3005477"/>
            <a:ext cx="7725088" cy="983294"/>
          </a:xfrm>
          <a:prstGeom prst="roundRect">
            <a:avLst>
              <a:gd name="adj" fmla="val 6918"/>
            </a:avLst>
          </a:prstGeom>
          <a:noFill/>
          <a:ln w="41275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6811D7BF-CB1A-1614-BF87-AF61C02A6459}"/>
              </a:ext>
            </a:extLst>
          </p:cNvPr>
          <p:cNvSpPr/>
          <p:nvPr/>
        </p:nvSpPr>
        <p:spPr>
          <a:xfrm>
            <a:off x="460967" y="4174847"/>
            <a:ext cx="7725089" cy="983294"/>
          </a:xfrm>
          <a:prstGeom prst="roundRect">
            <a:avLst>
              <a:gd name="adj" fmla="val 6918"/>
            </a:avLst>
          </a:prstGeom>
          <a:noFill/>
          <a:ln w="41275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5F65D3F-9B89-C944-2596-85F9D14E3A06}"/>
              </a:ext>
            </a:extLst>
          </p:cNvPr>
          <p:cNvSpPr/>
          <p:nvPr/>
        </p:nvSpPr>
        <p:spPr>
          <a:xfrm>
            <a:off x="388600" y="5310105"/>
            <a:ext cx="7797454" cy="983294"/>
          </a:xfrm>
          <a:prstGeom prst="roundRect">
            <a:avLst>
              <a:gd name="adj" fmla="val 6918"/>
            </a:avLst>
          </a:prstGeom>
          <a:noFill/>
          <a:ln w="41275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11D33F6-EA5A-5994-9EEA-DBBEC48527CC}"/>
              </a:ext>
            </a:extLst>
          </p:cNvPr>
          <p:cNvSpPr txBox="1"/>
          <p:nvPr/>
        </p:nvSpPr>
        <p:spPr>
          <a:xfrm>
            <a:off x="1971948" y="5446655"/>
            <a:ext cx="62141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エージェントが「実行できる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AI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・処理」の一覧</a:t>
            </a:r>
            <a:b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エージェントが呼び出せる実行機能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2186D9F-EDF5-BD78-9B10-93B7F9B7296A}"/>
              </a:ext>
            </a:extLst>
          </p:cNvPr>
          <p:cNvSpPr txBox="1"/>
          <p:nvPr/>
        </p:nvSpPr>
        <p:spPr>
          <a:xfrm>
            <a:off x="8912637" y="3031736"/>
            <a:ext cx="19469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5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会話</a:t>
            </a:r>
            <a:endParaRPr lang="en-US" altLang="ja-JP" sz="54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7C0E624-B31D-7042-A836-8451FC79EABF}"/>
              </a:ext>
            </a:extLst>
          </p:cNvPr>
          <p:cNvSpPr txBox="1"/>
          <p:nvPr/>
        </p:nvSpPr>
        <p:spPr>
          <a:xfrm>
            <a:off x="8912637" y="1896071"/>
            <a:ext cx="19469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5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管理</a:t>
            </a:r>
            <a:endParaRPr lang="en-US" altLang="ja-JP" sz="54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F17DEB6-792F-D0DE-BEAD-F87AEF47EAEE}"/>
              </a:ext>
            </a:extLst>
          </p:cNvPr>
          <p:cNvSpPr txBox="1"/>
          <p:nvPr/>
        </p:nvSpPr>
        <p:spPr>
          <a:xfrm>
            <a:off x="8912637" y="4167401"/>
            <a:ext cx="19469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5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実行</a:t>
            </a:r>
            <a:endParaRPr lang="en-US" altLang="ja-JP" sz="54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B4403A7-721A-4EF6-5381-D7E7E4174F55}"/>
              </a:ext>
            </a:extLst>
          </p:cNvPr>
          <p:cNvSpPr txBox="1"/>
          <p:nvPr/>
        </p:nvSpPr>
        <p:spPr>
          <a:xfrm>
            <a:off x="8912637" y="5303067"/>
            <a:ext cx="19469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5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処理</a:t>
            </a:r>
            <a:endParaRPr lang="en-US" altLang="ja-JP" sz="54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245F1E4A-C991-FB91-C0AF-30E5BE87571F}"/>
              </a:ext>
            </a:extLst>
          </p:cNvPr>
          <p:cNvSpPr/>
          <p:nvPr/>
        </p:nvSpPr>
        <p:spPr>
          <a:xfrm>
            <a:off x="8345033" y="2094737"/>
            <a:ext cx="551888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FC3627E0-2E62-89AC-6063-57C6CB9A0CB1}"/>
              </a:ext>
            </a:extLst>
          </p:cNvPr>
          <p:cNvSpPr/>
          <p:nvPr/>
        </p:nvSpPr>
        <p:spPr>
          <a:xfrm>
            <a:off x="8360749" y="3237459"/>
            <a:ext cx="551888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E184F67B-18DD-C735-E0BC-BCB125FEDDCF}"/>
              </a:ext>
            </a:extLst>
          </p:cNvPr>
          <p:cNvSpPr/>
          <p:nvPr/>
        </p:nvSpPr>
        <p:spPr>
          <a:xfrm>
            <a:off x="8373379" y="4360453"/>
            <a:ext cx="551888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2D79A725-00F0-3448-A3CB-C8D7693F4F14}"/>
              </a:ext>
            </a:extLst>
          </p:cNvPr>
          <p:cNvSpPr/>
          <p:nvPr/>
        </p:nvSpPr>
        <p:spPr>
          <a:xfrm>
            <a:off x="8373379" y="5509641"/>
            <a:ext cx="551888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D5665B8-534F-8722-3203-E0185D4404C8}"/>
              </a:ext>
            </a:extLst>
          </p:cNvPr>
          <p:cNvSpPr txBox="1"/>
          <p:nvPr/>
        </p:nvSpPr>
        <p:spPr>
          <a:xfrm>
            <a:off x="2076337" y="1014563"/>
            <a:ext cx="8395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最初の画面で躓かないための役割まとめ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7" name="図 26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51AF90F-329A-F1C5-E70F-02C2DA31FE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05" y="4694433"/>
            <a:ext cx="1693584" cy="2004243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0C401347-803C-4CAD-F53F-0D39AF66A7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5030" y="4076215"/>
            <a:ext cx="730117" cy="6031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