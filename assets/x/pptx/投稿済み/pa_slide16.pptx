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E88749F8-6871-4D17-065E-F130EF1043F4}"/>
              </a:ext>
            </a:extLst>
          </p:cNvPr>
          <p:cNvSpPr/>
          <p:nvPr/>
        </p:nvSpPr>
        <p:spPr>
          <a:xfrm>
            <a:off x="3294911" y="1514752"/>
            <a:ext cx="5629455" cy="3941292"/>
          </a:xfrm>
          <a:prstGeom prst="roundRect">
            <a:avLst>
              <a:gd name="adj" fmla="val 3422"/>
            </a:avLst>
          </a:prstGeom>
          <a:noFill/>
          <a:ln w="317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86C47B32-C0D3-10A7-0FCD-CC1611884B64}"/>
              </a:ext>
            </a:extLst>
          </p:cNvPr>
          <p:cNvSpPr/>
          <p:nvPr/>
        </p:nvSpPr>
        <p:spPr>
          <a:xfrm>
            <a:off x="190354" y="1792857"/>
            <a:ext cx="3009726" cy="3492909"/>
          </a:xfrm>
          <a:prstGeom prst="roundRect">
            <a:avLst>
              <a:gd name="adj" fmla="val 6483"/>
            </a:avLst>
          </a:prstGeom>
          <a:noFill/>
          <a:ln w="31750"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CE514C33-3F27-A3FB-B990-0ED2FC3DBB86}"/>
              </a:ext>
            </a:extLst>
          </p:cNvPr>
          <p:cNvSpPr/>
          <p:nvPr/>
        </p:nvSpPr>
        <p:spPr>
          <a:xfrm>
            <a:off x="9010650" y="1775454"/>
            <a:ext cx="2993018" cy="3578604"/>
          </a:xfrm>
          <a:prstGeom prst="roundRect">
            <a:avLst>
              <a:gd name="adj" fmla="val 6483"/>
            </a:avLst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Shape 1">
            <a:extLst>
              <a:ext uri="{FF2B5EF4-FFF2-40B4-BE49-F238E27FC236}">
                <a16:creationId xmlns:a16="http://schemas.microsoft.com/office/drawing/2014/main" id="{C2E1D9AD-8F30-7B09-4B34-50BBD0132392}"/>
              </a:ext>
            </a:extLst>
          </p:cNvPr>
          <p:cNvSpPr/>
          <p:nvPr/>
        </p:nvSpPr>
        <p:spPr>
          <a:xfrm>
            <a:off x="-51325" y="9971"/>
            <a:ext cx="12243325" cy="64656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917446" y="23774"/>
            <a:ext cx="80705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</a:t>
            </a:r>
            <a:r>
              <a:rPr lang="ja-JP" alt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</a:t>
            </a:r>
            <a:r>
              <a:rPr lang="en-US" sz="2700" b="1" kern="0" spc="-67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1日を毎月自動で出す方法 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95605" y="1244143"/>
            <a:ext cx="11430000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 txBox="1"/>
          <p:nvPr/>
        </p:nvSpPr>
        <p:spPr>
          <a:xfrm>
            <a:off x="722200" y="679322"/>
            <a:ext cx="11636756" cy="56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 → +1日</a:t>
            </a:r>
            <a:r>
              <a:rPr 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」のシンプル発想</a:t>
            </a:r>
            <a:r>
              <a:rPr lang="ja-JP" alt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翌月処理が一番安定する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280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200396" y="1728673"/>
            <a:ext cx="2982976" cy="3552444"/>
          </a:xfrm>
          <a:prstGeom prst="rect">
            <a:avLst/>
          </a:prstGeom>
          <a:ln>
            <a:noFill/>
          </a:ln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188332" y="1736425"/>
            <a:ext cx="2995508" cy="1628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7628" y="1347694"/>
            <a:ext cx="3048005" cy="32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どんな時に必要？ 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812190" y="1944342"/>
            <a:ext cx="23609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翌月の定例会案内を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自動送信したい</a:t>
            </a:r>
            <a:endParaRPr lang="en-US" b="1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42455" y="2025497"/>
            <a:ext cx="306300" cy="35775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26402" y="2689221"/>
            <a:ext cx="32296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翌月フォルダや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ファイル名を自動生成</a:t>
            </a:r>
            <a:endParaRPr lang="en-US" b="1" dirty="0"/>
          </a:p>
        </p:txBody>
      </p:sp>
      <p:sp>
        <p:nvSpPr>
          <p:cNvPr id="19" name="Text 10"/>
          <p:cNvSpPr txBox="1"/>
          <p:nvPr/>
        </p:nvSpPr>
        <p:spPr>
          <a:xfrm>
            <a:off x="797000" y="3446797"/>
            <a:ext cx="31466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月初処理の開始日を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自動判定したい</a:t>
            </a:r>
            <a:endParaRPr lang="en-US" b="1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rcRect l="-19" r="-19"/>
          <a:stretch/>
        </p:blipFill>
        <p:spPr>
          <a:xfrm>
            <a:off x="308932" y="4295850"/>
            <a:ext cx="2759929" cy="780898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6219" y="4171328"/>
            <a:ext cx="1145567" cy="32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dirty="0"/>
          </a:p>
        </p:txBody>
      </p:sp>
      <p:sp>
        <p:nvSpPr>
          <p:cNvPr id="23" name="Text 12"/>
          <p:cNvSpPr txBox="1"/>
          <p:nvPr/>
        </p:nvSpPr>
        <p:spPr>
          <a:xfrm>
            <a:off x="259627" y="4372014"/>
            <a:ext cx="2897022" cy="689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“翌月1日” は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処理開始の必須条件！</a:t>
            </a:r>
            <a:endParaRPr lang="en-US" sz="2000" dirty="0"/>
          </a:p>
        </p:txBody>
      </p:sp>
      <p:sp>
        <p:nvSpPr>
          <p:cNvPr id="24" name="Shape 13"/>
          <p:cNvSpPr/>
          <p:nvPr/>
        </p:nvSpPr>
        <p:spPr>
          <a:xfrm>
            <a:off x="3357593" y="1599590"/>
            <a:ext cx="5495544" cy="3715207"/>
          </a:xfrm>
          <a:prstGeom prst="roundRect">
            <a:avLst>
              <a:gd name="adj" fmla="val 30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7"/>
          <a:srcRect t="-60" b="-60"/>
          <a:stretch/>
        </p:blipFill>
        <p:spPr>
          <a:xfrm>
            <a:off x="3365643" y="1303192"/>
            <a:ext cx="5495544" cy="44971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785577" y="1311223"/>
            <a:ext cx="4479189" cy="44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図解</a:t>
            </a: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：安定の「階段」ロジック</a:t>
            </a:r>
            <a:endParaRPr lang="en-US" sz="2400" dirty="0"/>
          </a:p>
        </p:txBody>
      </p:sp>
      <p:sp>
        <p:nvSpPr>
          <p:cNvPr id="27" name="Shape 15"/>
          <p:cNvSpPr/>
          <p:nvPr/>
        </p:nvSpPr>
        <p:spPr>
          <a:xfrm>
            <a:off x="4683033" y="2647007"/>
            <a:ext cx="74697" cy="271814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28" name="Shape 16"/>
          <p:cNvSpPr/>
          <p:nvPr/>
        </p:nvSpPr>
        <p:spPr>
          <a:xfrm>
            <a:off x="6163056" y="2628900"/>
            <a:ext cx="647395" cy="161849"/>
          </a:xfrm>
          <a:prstGeom prst="roundRect">
            <a:avLst>
              <a:gd name="adj" fmla="val 26586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29" name="Text 17"/>
          <p:cNvSpPr txBox="1"/>
          <p:nvPr/>
        </p:nvSpPr>
        <p:spPr>
          <a:xfrm>
            <a:off x="5127446" y="2661150"/>
            <a:ext cx="1786584" cy="29144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-1日 (戻る)</a:t>
            </a:r>
            <a:endParaRPr lang="en-US" sz="2000" dirty="0"/>
          </a:p>
        </p:txBody>
      </p:sp>
      <p:sp>
        <p:nvSpPr>
          <p:cNvPr id="31" name="Shape 19"/>
          <p:cNvSpPr/>
          <p:nvPr/>
        </p:nvSpPr>
        <p:spPr>
          <a:xfrm>
            <a:off x="4692634" y="3744725"/>
            <a:ext cx="74697" cy="271814"/>
          </a:xfrm>
          <a:prstGeom prst="rect">
            <a:avLst/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33" name="Text 21"/>
          <p:cNvSpPr txBox="1"/>
          <p:nvPr/>
        </p:nvSpPr>
        <p:spPr>
          <a:xfrm>
            <a:off x="5131039" y="3861331"/>
            <a:ext cx="1723644" cy="14099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+1日 (進む)</a:t>
            </a:r>
            <a:endParaRPr lang="en-US" sz="2000" dirty="0"/>
          </a:p>
        </p:txBody>
      </p:sp>
      <p:sp>
        <p:nvSpPr>
          <p:cNvPr id="37" name="Text 23"/>
          <p:cNvSpPr txBox="1"/>
          <p:nvPr/>
        </p:nvSpPr>
        <p:spPr>
          <a:xfrm>
            <a:off x="9289171" y="1339794"/>
            <a:ext cx="2763897" cy="2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実務でこう使う</a:t>
            </a:r>
            <a:r>
              <a:rPr lang="en-US" sz="28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2800" dirty="0"/>
          </a:p>
        </p:txBody>
      </p:sp>
      <p:sp>
        <p:nvSpPr>
          <p:cNvPr id="39" name="Text 24"/>
          <p:cNvSpPr txBox="1"/>
          <p:nvPr/>
        </p:nvSpPr>
        <p:spPr>
          <a:xfrm>
            <a:off x="9558585" y="1947251"/>
            <a:ext cx="24944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翌月の案内メールを</a:t>
            </a:r>
            <a:endParaRPr lang="en-US" sz="2000" b="1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自動送信</a:t>
            </a:r>
            <a:endParaRPr lang="en-US" sz="2000" b="1" dirty="0"/>
          </a:p>
        </p:txBody>
      </p:sp>
      <p:sp>
        <p:nvSpPr>
          <p:cNvPr id="41" name="Text 25"/>
          <p:cNvSpPr txBox="1"/>
          <p:nvPr/>
        </p:nvSpPr>
        <p:spPr>
          <a:xfrm>
            <a:off x="9516661" y="2668721"/>
            <a:ext cx="2524659" cy="63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フォルダ名生成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ui-monospace" pitchFamily="34" charset="-120"/>
              </a:rPr>
              <a:t>/2026年04月/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3" name="Text 26"/>
          <p:cNvSpPr txBox="1"/>
          <p:nvPr/>
        </p:nvSpPr>
        <p:spPr>
          <a:xfrm>
            <a:off x="9542292" y="3499411"/>
            <a:ext cx="22576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月初処理フローの</a:t>
            </a:r>
            <a:endParaRPr lang="en-US" sz="2000" b="1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開始トリガー設定</a:t>
            </a:r>
            <a:endParaRPr lang="en-US" sz="2000" b="1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06024" y="4230880"/>
            <a:ext cx="2677044" cy="1067220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9372035" y="4373325"/>
            <a:ext cx="22631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👍</a:t>
            </a:r>
            <a:r>
              <a:rPr lang="en-US" sz="20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2000" b="1" dirty="0"/>
          </a:p>
        </p:txBody>
      </p:sp>
      <p:sp>
        <p:nvSpPr>
          <p:cNvPr id="47" name="Text 28"/>
          <p:cNvSpPr txBox="1"/>
          <p:nvPr/>
        </p:nvSpPr>
        <p:spPr>
          <a:xfrm>
            <a:off x="9367250" y="4794241"/>
            <a:ext cx="24569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のルーティンが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完全自動化！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Shape 29"/>
          <p:cNvSpPr/>
          <p:nvPr/>
        </p:nvSpPr>
        <p:spPr>
          <a:xfrm>
            <a:off x="404164" y="5746266"/>
            <a:ext cx="38405" cy="73334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9"/>
          <a:srcRect l="-14" r="-14"/>
          <a:stretch/>
        </p:blipFill>
        <p:spPr>
          <a:xfrm>
            <a:off x="232310" y="5475105"/>
            <a:ext cx="11814531" cy="1218895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0"/>
          <a:srcRect t="-188" b="-188"/>
          <a:stretch/>
        </p:blipFill>
        <p:spPr>
          <a:xfrm>
            <a:off x="232310" y="5475105"/>
            <a:ext cx="252334" cy="121889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22400" y="5646890"/>
            <a:ext cx="7135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完成形の式（コピペ用）</a:t>
            </a:r>
            <a:r>
              <a:rPr lang="en-US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addDays活用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4" name="Text 32"/>
          <p:cNvSpPr txBox="1"/>
          <p:nvPr/>
        </p:nvSpPr>
        <p:spPr>
          <a:xfrm>
            <a:off x="5206934" y="5603168"/>
            <a:ext cx="3562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今月末を経由して…</a:t>
            </a:r>
            <a:endParaRPr lang="en-US" dirty="0"/>
          </a:p>
        </p:txBody>
      </p:sp>
      <p:sp>
        <p:nvSpPr>
          <p:cNvPr id="55" name="Shape 33"/>
          <p:cNvSpPr/>
          <p:nvPr/>
        </p:nvSpPr>
        <p:spPr>
          <a:xfrm>
            <a:off x="541365" y="6264419"/>
            <a:ext cx="6570635" cy="476402"/>
          </a:xfrm>
          <a:prstGeom prst="roundRect">
            <a:avLst>
              <a:gd name="adj" fmla="val 3071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56" name="Text 34"/>
          <p:cNvSpPr txBox="1"/>
          <p:nvPr/>
        </p:nvSpPr>
        <p:spPr>
          <a:xfrm>
            <a:off x="974337" y="6323489"/>
            <a:ext cx="6417970" cy="26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addDays(startOfMonth(addMonths(utcNow(),1)), -1)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Text 35"/>
          <p:cNvSpPr txBox="1"/>
          <p:nvPr/>
        </p:nvSpPr>
        <p:spPr>
          <a:xfrm>
            <a:off x="8382055" y="5951677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EE7B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翌月1日（完成）</a:t>
            </a:r>
            <a:endParaRPr lang="en-US" dirty="0"/>
          </a:p>
        </p:txBody>
      </p:sp>
      <p:sp>
        <p:nvSpPr>
          <p:cNvPr id="59" name="Shape 36"/>
          <p:cNvSpPr/>
          <p:nvPr/>
        </p:nvSpPr>
        <p:spPr>
          <a:xfrm>
            <a:off x="7493000" y="6200546"/>
            <a:ext cx="4550563" cy="476402"/>
          </a:xfrm>
          <a:prstGeom prst="roundRect">
            <a:avLst>
              <a:gd name="adj" fmla="val 3071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60" name="Text 37"/>
          <p:cNvSpPr txBox="1"/>
          <p:nvPr/>
        </p:nvSpPr>
        <p:spPr>
          <a:xfrm>
            <a:off x="7667899" y="6335513"/>
            <a:ext cx="4200763" cy="194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 ...上記の式... , 1)</a:t>
            </a:r>
            <a:endParaRPr lang="en-US" sz="2000" dirty="0"/>
          </a:p>
        </p:txBody>
      </p:sp>
      <p:sp>
        <p:nvSpPr>
          <p:cNvPr id="61" name="Text 38"/>
          <p:cNvSpPr txBox="1"/>
          <p:nvPr/>
        </p:nvSpPr>
        <p:spPr>
          <a:xfrm>
            <a:off x="737706" y="6015481"/>
            <a:ext cx="5753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覚え方： </a:t>
            </a:r>
            <a:r>
              <a:rPr lang="en-US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 → +1ヶ月 → -1日 → +1日 ＝ 翌月1日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11"/>
          <a:srcRect t="-18" b="-18"/>
          <a:stretch/>
        </p:blipFill>
        <p:spPr>
          <a:xfrm>
            <a:off x="3485740" y="1870653"/>
            <a:ext cx="4693060" cy="754592"/>
          </a:xfrm>
          <a:prstGeom prst="rect">
            <a:avLst/>
          </a:prstGeom>
          <a:ln>
            <a:noFill/>
          </a:ln>
        </p:spPr>
      </p:pic>
      <p:sp>
        <p:nvSpPr>
          <p:cNvPr id="64" name="Text 40"/>
          <p:cNvSpPr txBox="1"/>
          <p:nvPr/>
        </p:nvSpPr>
        <p:spPr>
          <a:xfrm>
            <a:off x="3701177" y="2223720"/>
            <a:ext cx="421072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startOfMonth(addMonths(今日,1))</a:t>
            </a:r>
            <a:endParaRPr lang="en-US" b="1" dirty="0"/>
          </a:p>
        </p:txBody>
      </p:sp>
      <p:sp>
        <p:nvSpPr>
          <p:cNvPr id="65" name="Text 41"/>
          <p:cNvSpPr txBox="1"/>
          <p:nvPr/>
        </p:nvSpPr>
        <p:spPr>
          <a:xfrm>
            <a:off x="3947576" y="1813890"/>
            <a:ext cx="4132444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翌月の基準日（仮）</a:t>
            </a:r>
            <a:endParaRPr lang="en-US" sz="2400" dirty="0"/>
          </a:p>
        </p:txBody>
      </p:sp>
      <p:pic>
        <p:nvPicPr>
          <p:cNvPr id="66" name="Image 22" descr="preencoded.png"/>
          <p:cNvPicPr>
            <a:picLocks noChangeAspect="1"/>
          </p:cNvPicPr>
          <p:nvPr/>
        </p:nvPicPr>
        <p:blipFill>
          <a:blip r:embed="rId12"/>
          <a:srcRect t="-5" b="-5"/>
          <a:stretch/>
        </p:blipFill>
        <p:spPr>
          <a:xfrm>
            <a:off x="3493211" y="2952596"/>
            <a:ext cx="3047695" cy="749191"/>
          </a:xfrm>
          <a:prstGeom prst="rect">
            <a:avLst/>
          </a:prstGeom>
        </p:spPr>
      </p:pic>
      <p:sp>
        <p:nvSpPr>
          <p:cNvPr id="67" name="Text 42"/>
          <p:cNvSpPr txBox="1"/>
          <p:nvPr/>
        </p:nvSpPr>
        <p:spPr>
          <a:xfrm>
            <a:off x="3492972" y="3085989"/>
            <a:ext cx="2971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今月末</a:t>
            </a:r>
            <a:endParaRPr lang="en-US" sz="2400" dirty="0"/>
          </a:p>
        </p:txBody>
      </p:sp>
      <p:sp>
        <p:nvSpPr>
          <p:cNvPr id="68" name="Text 43"/>
          <p:cNvSpPr txBox="1"/>
          <p:nvPr/>
        </p:nvSpPr>
        <p:spPr>
          <a:xfrm>
            <a:off x="3581604" y="3367330"/>
            <a:ext cx="2971800" cy="326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（ここで一度確定させる）</a:t>
            </a:r>
            <a:endParaRPr lang="en-US" dirty="0"/>
          </a:p>
        </p:txBody>
      </p:sp>
      <p:pic>
        <p:nvPicPr>
          <p:cNvPr id="71" name="Image 24" descr="preencoded.png"/>
          <p:cNvPicPr>
            <a:picLocks noChangeAspect="1"/>
          </p:cNvPicPr>
          <p:nvPr/>
        </p:nvPicPr>
        <p:blipFill>
          <a:blip r:embed="rId13"/>
          <a:srcRect l="-15" r="-15"/>
          <a:stretch/>
        </p:blipFill>
        <p:spPr>
          <a:xfrm>
            <a:off x="3365643" y="4098436"/>
            <a:ext cx="3004033" cy="1293781"/>
          </a:xfrm>
          <a:prstGeom prst="rect">
            <a:avLst/>
          </a:prstGeom>
        </p:spPr>
      </p:pic>
      <p:sp>
        <p:nvSpPr>
          <p:cNvPr id="72" name="Text 45"/>
          <p:cNvSpPr txBox="1"/>
          <p:nvPr/>
        </p:nvSpPr>
        <p:spPr>
          <a:xfrm>
            <a:off x="3871689" y="4189640"/>
            <a:ext cx="1953007" cy="265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GOAL</a:t>
            </a:r>
            <a:endParaRPr lang="en-US" sz="2400" dirty="0"/>
          </a:p>
        </p:txBody>
      </p:sp>
      <p:sp>
        <p:nvSpPr>
          <p:cNvPr id="73" name="Text 46"/>
          <p:cNvSpPr txBox="1"/>
          <p:nvPr/>
        </p:nvSpPr>
        <p:spPr>
          <a:xfrm>
            <a:off x="3885303" y="4586361"/>
            <a:ext cx="21871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翌月1日</a:t>
            </a:r>
            <a:endParaRPr lang="en-US" sz="3600" dirty="0"/>
          </a:p>
        </p:txBody>
      </p:sp>
      <p:sp>
        <p:nvSpPr>
          <p:cNvPr id="74" name="Shape 47"/>
          <p:cNvSpPr/>
          <p:nvPr/>
        </p:nvSpPr>
        <p:spPr>
          <a:xfrm>
            <a:off x="3448456" y="5029845"/>
            <a:ext cx="2812899" cy="203148"/>
          </a:xfrm>
          <a:prstGeom prst="roundRect">
            <a:avLst>
              <a:gd name="adj" fmla="val 1923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75" name="Text 48"/>
          <p:cNvSpPr txBox="1"/>
          <p:nvPr/>
        </p:nvSpPr>
        <p:spPr>
          <a:xfrm>
            <a:off x="3140002" y="4994172"/>
            <a:ext cx="3762181" cy="2541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25400" rIns="114300" bIns="254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どんな月でも絶対にズレない！</a:t>
            </a:r>
            <a:endParaRPr lang="en-US" dirty="0"/>
          </a:p>
        </p:txBody>
      </p:sp>
      <p:sp>
        <p:nvSpPr>
          <p:cNvPr id="76" name="Text 49"/>
          <p:cNvSpPr txBox="1"/>
          <p:nvPr/>
        </p:nvSpPr>
        <p:spPr>
          <a:xfrm>
            <a:off x="6914030" y="4487108"/>
            <a:ext cx="1995749" cy="8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月末が確定すれば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その翌日は必ず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7" name="Image 25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467100" y="4571614"/>
            <a:ext cx="393373" cy="449956"/>
          </a:xfrm>
          <a:prstGeom prst="rect">
            <a:avLst/>
          </a:prstGeom>
        </p:spPr>
      </p:pic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2AB0FAB7-0D54-B2D2-61CC-0EA7EF0D4F6E}"/>
              </a:ext>
            </a:extLst>
          </p:cNvPr>
          <p:cNvSpPr/>
          <p:nvPr/>
        </p:nvSpPr>
        <p:spPr>
          <a:xfrm>
            <a:off x="44269" y="23774"/>
            <a:ext cx="12103265" cy="6815176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B0ED3BB8-E1CE-AC5D-D324-8AE26312B009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82" name="Shape 2">
              <a:extLst>
                <a:ext uri="{FF2B5EF4-FFF2-40B4-BE49-F238E27FC236}">
                  <a16:creationId xmlns:a16="http://schemas.microsoft.com/office/drawing/2014/main" id="{8146CE6F-6F50-2F28-77F8-E1D18A6E5640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3">
              <a:extLst>
                <a:ext uri="{FF2B5EF4-FFF2-40B4-BE49-F238E27FC236}">
                  <a16:creationId xmlns:a16="http://schemas.microsoft.com/office/drawing/2014/main" id="{31BF8581-7365-4726-54E1-4E88881C7F23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Vol.25</a:t>
              </a:r>
              <a:endParaRPr lang="en-US" sz="3200" dirty="0"/>
            </a:p>
          </p:txBody>
        </p:sp>
      </p:grpSp>
      <p:pic>
        <p:nvPicPr>
          <p:cNvPr id="84" name="図 8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8F67D716-D06E-BB16-4392-BF6488C205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698" y="662581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Image 5" descr="preencoded.png">
            <a:extLst>
              <a:ext uri="{FF2B5EF4-FFF2-40B4-BE49-F238E27FC236}">
                <a16:creationId xmlns:a16="http://schemas.microsoft.com/office/drawing/2014/main" id="{DC38D243-188D-E468-8B3E-E557926E1D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35522" y="2763649"/>
            <a:ext cx="306300" cy="357757"/>
          </a:xfrm>
          <a:prstGeom prst="rect">
            <a:avLst/>
          </a:prstGeom>
        </p:spPr>
      </p:pic>
      <p:pic>
        <p:nvPicPr>
          <p:cNvPr id="86" name="Image 5" descr="preencoded.png">
            <a:extLst>
              <a:ext uri="{FF2B5EF4-FFF2-40B4-BE49-F238E27FC236}">
                <a16:creationId xmlns:a16="http://schemas.microsoft.com/office/drawing/2014/main" id="{D9029D6F-B50F-ABDC-33CE-68A29F7290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57628" y="3503574"/>
            <a:ext cx="306300" cy="357757"/>
          </a:xfrm>
          <a:prstGeom prst="rect">
            <a:avLst/>
          </a:prstGeom>
        </p:spPr>
      </p:pic>
      <p:sp>
        <p:nvSpPr>
          <p:cNvPr id="87" name="Text 44">
            <a:extLst>
              <a:ext uri="{FF2B5EF4-FFF2-40B4-BE49-F238E27FC236}">
                <a16:creationId xmlns:a16="http://schemas.microsoft.com/office/drawing/2014/main" id="{E6979876-3BF3-2DCA-076E-681371B01ED7}"/>
              </a:ext>
            </a:extLst>
          </p:cNvPr>
          <p:cNvSpPr txBox="1"/>
          <p:nvPr/>
        </p:nvSpPr>
        <p:spPr>
          <a:xfrm>
            <a:off x="6600390" y="3139334"/>
            <a:ext cx="205416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月末日は28〜31日で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変動するが… </a:t>
            </a:r>
            <a:endParaRPr lang="en-US" sz="1600" b="1" dirty="0"/>
          </a:p>
        </p:txBody>
      </p:sp>
      <p:pic>
        <p:nvPicPr>
          <p:cNvPr id="91" name="図 90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0AC98E76-8C31-4475-1ADE-FE2FDF7C28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4671" y="3355431"/>
            <a:ext cx="1380033" cy="1293781"/>
          </a:xfrm>
          <a:prstGeom prst="rect">
            <a:avLst/>
          </a:prstGeom>
        </p:spPr>
      </p:pic>
      <p:pic>
        <p:nvPicPr>
          <p:cNvPr id="93" name="図 92" descr="3&#10;&#10;AI 生成コンテンツは誤りを含む可能性があります。">
            <a:extLst>
              <a:ext uri="{FF2B5EF4-FFF2-40B4-BE49-F238E27FC236}">
                <a16:creationId xmlns:a16="http://schemas.microsoft.com/office/drawing/2014/main" id="{271AE164-6224-3BB2-30D6-FA7CB57E5F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16564" y="-128730"/>
            <a:ext cx="1573981" cy="1566111"/>
          </a:xfrm>
          <a:prstGeom prst="rect">
            <a:avLst/>
          </a:prstGeom>
        </p:spPr>
      </p:pic>
      <p:sp>
        <p:nvSpPr>
          <p:cNvPr id="95" name="四角形: 上の 2 つの角を丸める 94">
            <a:extLst>
              <a:ext uri="{FF2B5EF4-FFF2-40B4-BE49-F238E27FC236}">
                <a16:creationId xmlns:a16="http://schemas.microsoft.com/office/drawing/2014/main" id="{081F1B26-C198-6D99-D332-89895BFC6D7A}"/>
              </a:ext>
            </a:extLst>
          </p:cNvPr>
          <p:cNvSpPr/>
          <p:nvPr/>
        </p:nvSpPr>
        <p:spPr>
          <a:xfrm>
            <a:off x="9107586" y="1669202"/>
            <a:ext cx="2792038" cy="193860"/>
          </a:xfrm>
          <a:prstGeom prst="round2SameRect">
            <a:avLst>
              <a:gd name="adj1" fmla="val 24983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Text 32">
            <a:extLst>
              <a:ext uri="{FF2B5EF4-FFF2-40B4-BE49-F238E27FC236}">
                <a16:creationId xmlns:a16="http://schemas.microsoft.com/office/drawing/2014/main" id="{8909D971-40EB-D499-3CBE-0136C33F480C}"/>
              </a:ext>
            </a:extLst>
          </p:cNvPr>
          <p:cNvSpPr txBox="1"/>
          <p:nvPr/>
        </p:nvSpPr>
        <p:spPr>
          <a:xfrm>
            <a:off x="9099536" y="1906681"/>
            <a:ext cx="747239" cy="42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3C5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8" name="Text 32">
            <a:extLst>
              <a:ext uri="{FF2B5EF4-FFF2-40B4-BE49-F238E27FC236}">
                <a16:creationId xmlns:a16="http://schemas.microsoft.com/office/drawing/2014/main" id="{A7953FD5-9562-02CC-3523-D2EA5BD45E70}"/>
              </a:ext>
            </a:extLst>
          </p:cNvPr>
          <p:cNvSpPr txBox="1"/>
          <p:nvPr/>
        </p:nvSpPr>
        <p:spPr>
          <a:xfrm>
            <a:off x="9057502" y="2617984"/>
            <a:ext cx="747239" cy="42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3C5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DDF649D8-365D-8FD9-B3FA-D3A6EBE73169}"/>
              </a:ext>
            </a:extLst>
          </p:cNvPr>
          <p:cNvSpPr txBox="1"/>
          <p:nvPr/>
        </p:nvSpPr>
        <p:spPr>
          <a:xfrm>
            <a:off x="9025238" y="3475549"/>
            <a:ext cx="747239" cy="42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3C5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