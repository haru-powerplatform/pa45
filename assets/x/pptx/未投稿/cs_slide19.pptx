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5" name="図 24" descr="テキスト, 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83DD4DB0-9F8F-65CC-BA81-11C4F2D69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5278" y="4497643"/>
            <a:ext cx="2354822" cy="57434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図 8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7F5A7FFD-41F1-8C2D-DDCD-0601B68696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454" y="4389383"/>
            <a:ext cx="2279430" cy="220407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DDABEFA-86B0-B545-099F-858E714A9464}"/>
              </a:ext>
            </a:extLst>
          </p:cNvPr>
          <p:cNvSpPr txBox="1"/>
          <p:nvPr/>
        </p:nvSpPr>
        <p:spPr>
          <a:xfrm>
            <a:off x="-143692" y="-60623"/>
            <a:ext cx="12335692" cy="844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【Vol.</a:t>
            </a:r>
            <a:r>
              <a:rPr lang="ja-JP" altLang="en-US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ja-JP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6】Apply to each </a:t>
            </a:r>
            <a:r>
              <a:rPr lang="ja-JP" altLang="en-US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が「勝手に出てくる」問題</a:t>
            </a:r>
            <a:endParaRPr lang="en-US" altLang="ja-JP" sz="36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04099B41-02BE-D904-3064-D19134847B5F}"/>
              </a:ext>
            </a:extLst>
          </p:cNvPr>
          <p:cNvSpPr/>
          <p:nvPr/>
        </p:nvSpPr>
        <p:spPr>
          <a:xfrm>
            <a:off x="54428" y="59109"/>
            <a:ext cx="12083143" cy="6727372"/>
          </a:xfrm>
          <a:prstGeom prst="roundRect">
            <a:avLst>
              <a:gd name="adj" fmla="val 3966"/>
            </a:avLst>
          </a:prstGeom>
          <a:noFill/>
          <a:ln w="142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2C4BB0D-0D26-45C8-53BA-ED2F74CA3849}"/>
              </a:ext>
            </a:extLst>
          </p:cNvPr>
          <p:cNvSpPr txBox="1"/>
          <p:nvPr/>
        </p:nvSpPr>
        <p:spPr>
          <a:xfrm>
            <a:off x="1534836" y="558274"/>
            <a:ext cx="10484631" cy="844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3600" b="1">
                <a:solidFill>
                  <a:schemeClr val="tx1">
                    <a:lumMod val="65000"/>
                    <a:lumOff val="35000"/>
                  </a:schemeClr>
                </a:solidFill>
              </a:rPr>
              <a:t>なぜ出てこない時と、出てくる時がある？</a:t>
            </a:r>
            <a:endParaRPr lang="en-US" altLang="ja-JP" sz="36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A8DB32B5-10FB-9F70-5551-35B6DAC45BEA}"/>
              </a:ext>
            </a:extLst>
          </p:cNvPr>
          <p:cNvSpPr txBox="1"/>
          <p:nvPr/>
        </p:nvSpPr>
        <p:spPr>
          <a:xfrm>
            <a:off x="54428" y="3077416"/>
            <a:ext cx="6459917" cy="58477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ja-JP" altLang="en-US" sz="32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✅単一データ→</a:t>
            </a:r>
            <a:r>
              <a:rPr lang="en-US" altLang="ja-JP" sz="32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Apply </a:t>
            </a:r>
            <a:r>
              <a:rPr lang="ja-JP" altLang="en-US" sz="32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出ない</a:t>
            </a:r>
            <a:endParaRPr lang="en-US" altLang="ja-JP" sz="32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pic>
        <p:nvPicPr>
          <p:cNvPr id="29" name="図 28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E0360DC7-5211-7376-C834-3F87CA5FE9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6968" y="59109"/>
            <a:ext cx="1165032" cy="1165032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0D8A0D1-3B55-3A23-399C-9289E9E6462E}"/>
              </a:ext>
            </a:extLst>
          </p:cNvPr>
          <p:cNvSpPr txBox="1"/>
          <p:nvPr/>
        </p:nvSpPr>
        <p:spPr>
          <a:xfrm>
            <a:off x="130385" y="3583269"/>
            <a:ext cx="3380444" cy="76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 b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 { "Title": "A" }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5DE6C5D-8A8A-02FF-FC48-127FFDB11E0F}"/>
              </a:ext>
            </a:extLst>
          </p:cNvPr>
          <p:cNvSpPr txBox="1"/>
          <p:nvPr/>
        </p:nvSpPr>
        <p:spPr>
          <a:xfrm>
            <a:off x="6103084" y="3084328"/>
            <a:ext cx="54421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✅複数データ→</a:t>
            </a:r>
            <a:r>
              <a:rPr lang="en-US" altLang="ja-JP" sz="32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Apply </a:t>
            </a:r>
            <a:r>
              <a:rPr lang="ja-JP" altLang="en-US" sz="32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出る</a:t>
            </a:r>
            <a:endParaRPr lang="en-US" altLang="ja-JP" sz="3200" b="1">
              <a:solidFill>
                <a:schemeClr val="bg1"/>
              </a:solidFill>
              <a:effectLst>
                <a:glow rad="101600">
                  <a:srgbClr val="0000CC"/>
                </a:glow>
              </a:effectLst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A08912E-7469-330C-66A3-6348DAAFE081}"/>
              </a:ext>
            </a:extLst>
          </p:cNvPr>
          <p:cNvSpPr txBox="1"/>
          <p:nvPr/>
        </p:nvSpPr>
        <p:spPr>
          <a:xfrm>
            <a:off x="6249980" y="3534952"/>
            <a:ext cx="3609102" cy="76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 b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 [ {A}, {B}, {C} ] </a:t>
            </a:r>
          </a:p>
        </p:txBody>
      </p:sp>
      <p:pic>
        <p:nvPicPr>
          <p:cNvPr id="15" name="図 1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C05856A6-60F5-95E3-C64C-A6C56DD2BC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3569" y="4699785"/>
            <a:ext cx="2520615" cy="112161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8" name="図 17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5538604A-6D99-EAF3-51E5-2F9B9687F8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309" y="4695756"/>
            <a:ext cx="2214749" cy="112967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A38F3B9C-7E09-2F29-A8F4-7471F5D1BBE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7292" b="94792" l="8696" r="86957">
                        <a14:foregroundMark x1="50000" y1="8333" x2="28261" y2="26042"/>
                        <a14:foregroundMark x1="28261" y1="26042" x2="36957" y2="77083"/>
                        <a14:foregroundMark x1="36957" y1="77083" x2="73913" y2="44792"/>
                        <a14:foregroundMark x1="73913" y1="44792" x2="71739" y2="7292"/>
                        <a14:foregroundMark x1="71739" y1="7292" x2="50000" y2="7292"/>
                        <a14:foregroundMark x1="73913" y1="73958" x2="54348" y2="88542"/>
                        <a14:foregroundMark x1="54348" y1="88542" x2="26087" y2="80208"/>
                        <a14:foregroundMark x1="26087" y1="80208" x2="26087" y2="73958"/>
                        <a14:foregroundMark x1="43478" y1="94792" x2="60870" y2="937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8661" y="4510532"/>
            <a:ext cx="467018" cy="9746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8EF9FFD1-3DE2-D77D-8F84-328079858A5E}"/>
              </a:ext>
            </a:extLst>
          </p:cNvPr>
          <p:cNvCxnSpPr>
            <a:cxnSpLocks/>
          </p:cNvCxnSpPr>
          <p:nvPr/>
        </p:nvCxnSpPr>
        <p:spPr>
          <a:xfrm>
            <a:off x="6024154" y="3077416"/>
            <a:ext cx="0" cy="3611621"/>
          </a:xfrm>
          <a:prstGeom prst="line">
            <a:avLst/>
          </a:prstGeom>
          <a:ln w="53975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図 29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66B6827C-0BBB-5F8B-969E-7F08BC4361A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86659" y="5092687"/>
            <a:ext cx="1903468" cy="116858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A089FE11-C19A-830A-7153-E23FFE92D82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7292" b="94792" l="8696" r="86957">
                        <a14:foregroundMark x1="50000" y1="8333" x2="28261" y2="26042"/>
                        <a14:foregroundMark x1="28261" y1="26042" x2="36957" y2="77083"/>
                        <a14:foregroundMark x1="36957" y1="77083" x2="73913" y2="44792"/>
                        <a14:foregroundMark x1="73913" y1="44792" x2="71739" y2="7292"/>
                        <a14:foregroundMark x1="71739" y1="7292" x2="50000" y2="7292"/>
                        <a14:foregroundMark x1="73913" y1="73958" x2="54348" y2="88542"/>
                        <a14:foregroundMark x1="54348" y1="88542" x2="26087" y2="80208"/>
                        <a14:foregroundMark x1="26087" y1="80208" x2="26087" y2="73958"/>
                        <a14:foregroundMark x1="43478" y1="94792" x2="60870" y2="937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78231" y="4655351"/>
            <a:ext cx="467018" cy="9746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B6DE12FD-0AF5-2A0B-BB62-06C07727CB0E}"/>
              </a:ext>
            </a:extLst>
          </p:cNvPr>
          <p:cNvSpPr txBox="1"/>
          <p:nvPr/>
        </p:nvSpPr>
        <p:spPr>
          <a:xfrm>
            <a:off x="3184914" y="3777351"/>
            <a:ext cx="31050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8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オブジェクト型</a:t>
            </a:r>
            <a:endParaRPr lang="en-US" altLang="ja-JP" sz="28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427D8B4-98D5-1D44-C8C6-A6A4F937D059}"/>
              </a:ext>
            </a:extLst>
          </p:cNvPr>
          <p:cNvSpPr txBox="1"/>
          <p:nvPr/>
        </p:nvSpPr>
        <p:spPr>
          <a:xfrm>
            <a:off x="130385" y="1376888"/>
            <a:ext cx="11049715" cy="1569660"/>
          </a:xfrm>
          <a:prstGeom prst="rect">
            <a:avLst/>
          </a:prstGeom>
          <a:noFill/>
          <a:ln w="38100">
            <a:solidFill>
              <a:schemeClr val="bg1"/>
            </a:solidFill>
          </a:ln>
          <a:effectLst>
            <a:glow rad="50800">
              <a:schemeClr val="tx1">
                <a:lumMod val="65000"/>
                <a:lumOff val="35000"/>
                <a:alpha val="91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en-US" altLang="ja-JP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【</a:t>
            </a:r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結論</a:t>
            </a:r>
            <a:r>
              <a:rPr lang="en-US" altLang="ja-JP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】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使用する動的コンテンツの内部データ（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JSON) </a:t>
            </a:r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が</a:t>
            </a:r>
            <a:endParaRPr lang="en-US" altLang="ja-JP" sz="32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ja-JP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{ } </a:t>
            </a:r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は単一データなので </a:t>
            </a:r>
            <a:r>
              <a:rPr lang="en-US" altLang="ja-JP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Apply </a:t>
            </a:r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は出ない。</a:t>
            </a:r>
            <a:endParaRPr lang="en-US" altLang="ja-JP" sz="32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ja-JP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[ ]</a:t>
            </a:r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のときだけ “配列” と判断して </a:t>
            </a:r>
            <a:r>
              <a:rPr lang="en-US" altLang="ja-JP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Apply </a:t>
            </a:r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を自動で付ける。</a:t>
            </a:r>
            <a:endParaRPr lang="en-US" altLang="ja-JP" sz="32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8561196-A718-9271-184D-B5BB34B0DFF8}"/>
              </a:ext>
            </a:extLst>
          </p:cNvPr>
          <p:cNvSpPr txBox="1"/>
          <p:nvPr/>
        </p:nvSpPr>
        <p:spPr>
          <a:xfrm>
            <a:off x="9486109" y="3750724"/>
            <a:ext cx="19722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8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アレイ型</a:t>
            </a:r>
            <a:endParaRPr lang="en-US" altLang="ja-JP" sz="2800" b="1">
              <a:solidFill>
                <a:schemeClr val="bg1"/>
              </a:solidFill>
              <a:effectLst>
                <a:glow rad="101600">
                  <a:srgbClr val="0000CC"/>
                </a:glow>
              </a:effectLst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303875C-B2BC-8C0C-3B7E-E51B8EFBB71B}"/>
              </a:ext>
            </a:extLst>
          </p:cNvPr>
          <p:cNvSpPr txBox="1"/>
          <p:nvPr/>
        </p:nvSpPr>
        <p:spPr>
          <a:xfrm>
            <a:off x="3006518" y="6080122"/>
            <a:ext cx="30176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Apply</a:t>
            </a:r>
            <a:r>
              <a:rPr lang="ja-JP" altLang="en-US" sz="28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出ない</a:t>
            </a:r>
            <a:endParaRPr lang="en-US" altLang="ja-JP" sz="28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2A7A170-241F-B697-BC22-F563377C001F}"/>
              </a:ext>
            </a:extLst>
          </p:cNvPr>
          <p:cNvSpPr txBox="1"/>
          <p:nvPr/>
        </p:nvSpPr>
        <p:spPr>
          <a:xfrm>
            <a:off x="8689791" y="6123571"/>
            <a:ext cx="23385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Apply </a:t>
            </a:r>
            <a:r>
              <a:rPr lang="ja-JP" altLang="en-US" sz="28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出る</a:t>
            </a:r>
            <a:endParaRPr lang="en-US" altLang="ja-JP" sz="2800" b="1">
              <a:solidFill>
                <a:schemeClr val="bg1"/>
              </a:solidFill>
              <a:effectLst>
                <a:glow rad="101600">
                  <a:srgbClr val="0000CC"/>
                </a:glow>
              </a:effectLst>
            </a:endParaRPr>
          </a:p>
        </p:txBody>
      </p:sp>
      <p:pic>
        <p:nvPicPr>
          <p:cNvPr id="61" name="図 60" descr="部屋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6337CEFE-01B5-073A-5940-BC62CEB2472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9950" y="1860882"/>
            <a:ext cx="1152623" cy="13640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