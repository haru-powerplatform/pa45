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rcRect l="-13" r="-13"/>
          <a:stretch/>
        </p:blipFill>
        <p:spPr>
          <a:xfrm>
            <a:off x="10439705" y="1143000"/>
            <a:ext cx="1371600" cy="121889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 t="-5" b="-5"/>
          <a:stretch/>
        </p:blipFill>
        <p:spPr>
          <a:xfrm>
            <a:off x="457200" y="990295"/>
            <a:ext cx="11277295" cy="1848002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067105" y="1245413"/>
            <a:ext cx="60396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変数の初期化アクション </a:t>
            </a:r>
            <a:endParaRPr lang="en-US" sz="18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4205" y="1283818"/>
            <a:ext cx="228600" cy="2286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724205" y="1626718"/>
            <a:ext cx="62682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変数はフロー内で値を一時保存する「箱」です。使用するには、フローの最上層で必ず</a:t>
            </a:r>
            <a:r>
              <a:rPr lang="en-US" sz="13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「変数の初期化」</a:t>
            </a:r>
            <a:r>
              <a:rPr lang="en-US" sz="13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を行う必要があります。 </a:t>
            </a: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724205" y="2297887"/>
            <a:ext cx="3819449" cy="286207"/>
          </a:xfrm>
          <a:prstGeom prst="roundRect">
            <a:avLst>
              <a:gd name="adj" fmla="val 8519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7649" y="2373782"/>
            <a:ext cx="133502" cy="133502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057046" y="2297887"/>
            <a:ext cx="34390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ループ処理（Apply to each）の中では初期化できません</a:t>
            </a:r>
            <a:endParaRPr lang="en-US" sz="10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 l="-3" r="-3"/>
          <a:stretch/>
        </p:blipFill>
        <p:spPr>
          <a:xfrm>
            <a:off x="7216445" y="1181405"/>
            <a:ext cx="4327855" cy="1466698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 l="-306" r="-306"/>
          <a:stretch/>
        </p:blipFill>
        <p:spPr>
          <a:xfrm>
            <a:off x="7111289" y="1076249"/>
            <a:ext cx="514807" cy="228600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7111289" y="1076249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339889" y="1304849"/>
            <a:ext cx="228600" cy="228600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378294" y="1343254"/>
            <a:ext cx="152705" cy="152705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7645298" y="1324051"/>
            <a:ext cx="876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変数の初期化</a:t>
            </a:r>
            <a:endParaRPr lang="en-US" sz="1000" dirty="0"/>
          </a:p>
        </p:txBody>
      </p:sp>
      <p:sp>
        <p:nvSpPr>
          <p:cNvPr id="18" name="Text 7"/>
          <p:cNvSpPr txBox="1"/>
          <p:nvPr/>
        </p:nvSpPr>
        <p:spPr>
          <a:xfrm>
            <a:off x="7568489" y="1666951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</a:t>
            </a:r>
            <a:endParaRPr lang="en-US" sz="90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/>
          <a:srcRect l="-32" r="-32"/>
          <a:stretch/>
        </p:blipFill>
        <p:spPr>
          <a:xfrm>
            <a:off x="8025689" y="1609344"/>
            <a:ext cx="3400654" cy="267005"/>
          </a:xfrm>
          <a:prstGeom prst="rect">
            <a:avLst/>
          </a:prstGeom>
        </p:spPr>
      </p:pic>
      <p:sp>
        <p:nvSpPr>
          <p:cNvPr id="20" name="Text 8"/>
          <p:cNvSpPr txBox="1"/>
          <p:nvPr/>
        </p:nvSpPr>
        <p:spPr>
          <a:xfrm>
            <a:off x="8025689" y="1609344"/>
            <a:ext cx="3477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MyVariable</a:t>
            </a:r>
            <a:endParaRPr lang="en-US" sz="900" dirty="0"/>
          </a:p>
        </p:txBody>
      </p:sp>
      <p:sp>
        <p:nvSpPr>
          <p:cNvPr id="21" name="Text 9"/>
          <p:cNvSpPr txBox="1"/>
          <p:nvPr/>
        </p:nvSpPr>
        <p:spPr>
          <a:xfrm>
            <a:off x="7568489" y="1990649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種類</a:t>
            </a:r>
            <a:endParaRPr lang="en-US" sz="9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2"/>
          <a:srcRect t="-63" b="-63"/>
          <a:stretch/>
        </p:blipFill>
        <p:spPr>
          <a:xfrm>
            <a:off x="8025689" y="1933956"/>
            <a:ext cx="3394253" cy="267005"/>
          </a:xfrm>
          <a:prstGeom prst="rect">
            <a:avLst/>
          </a:prstGeom>
        </p:spPr>
      </p:pic>
      <p:sp>
        <p:nvSpPr>
          <p:cNvPr id="23" name="Text 10"/>
          <p:cNvSpPr txBox="1"/>
          <p:nvPr/>
        </p:nvSpPr>
        <p:spPr>
          <a:xfrm>
            <a:off x="8111642" y="1933956"/>
            <a:ext cx="4096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文字列</a:t>
            </a:r>
            <a:endParaRPr lang="en-US" sz="90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1220602" y="2009851"/>
            <a:ext cx="114300" cy="114300"/>
          </a:xfrm>
          <a:prstGeom prst="rect">
            <a:avLst/>
          </a:prstGeom>
        </p:spPr>
      </p:pic>
      <p:sp>
        <p:nvSpPr>
          <p:cNvPr id="25" name="Text 11"/>
          <p:cNvSpPr txBox="1"/>
          <p:nvPr/>
        </p:nvSpPr>
        <p:spPr>
          <a:xfrm>
            <a:off x="7568489" y="2314346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値</a:t>
            </a:r>
            <a:endParaRPr lang="en-US" sz="90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12"/>
          <a:srcRect l="-32" r="-32"/>
          <a:stretch/>
        </p:blipFill>
        <p:spPr>
          <a:xfrm>
            <a:off x="8025689" y="2257654"/>
            <a:ext cx="3400654" cy="267005"/>
          </a:xfrm>
          <a:prstGeom prst="rect">
            <a:avLst/>
          </a:prstGeom>
        </p:spPr>
      </p:pic>
      <p:sp>
        <p:nvSpPr>
          <p:cNvPr id="27" name="Text 12"/>
          <p:cNvSpPr txBox="1"/>
          <p:nvPr/>
        </p:nvSpPr>
        <p:spPr>
          <a:xfrm>
            <a:off x="8025689" y="2257654"/>
            <a:ext cx="3477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初期値（省略可）</a:t>
            </a:r>
            <a:endParaRPr lang="en-US" sz="900" dirty="0"/>
          </a:p>
        </p:txBody>
      </p:sp>
      <p:sp>
        <p:nvSpPr>
          <p:cNvPr id="28" name="Text 13"/>
          <p:cNvSpPr txBox="1"/>
          <p:nvPr/>
        </p:nvSpPr>
        <p:spPr>
          <a:xfrm>
            <a:off x="457200" y="3029407"/>
            <a:ext cx="114684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r>
              <a:rPr lang="en-US" sz="13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変数の種類（データ型） </a:t>
            </a:r>
            <a:endParaRPr lang="en-US" sz="1300" dirty="0"/>
          </a:p>
        </p:txBody>
      </p:sp>
      <p:sp>
        <p:nvSpPr>
          <p:cNvPr id="29" name="Shape 14"/>
          <p:cNvSpPr/>
          <p:nvPr/>
        </p:nvSpPr>
        <p:spPr>
          <a:xfrm>
            <a:off x="457200" y="3409798"/>
            <a:ext cx="3685946" cy="1362456"/>
          </a:xfrm>
          <a:prstGeom prst="roundRect">
            <a:avLst>
              <a:gd name="adj" fmla="val 7509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0" name="Image 13" descr="preencoded.png"/>
          <p:cNvPicPr>
            <a:picLocks noChangeAspect="1"/>
          </p:cNvPicPr>
          <p:nvPr/>
        </p:nvPicPr>
        <p:blipFill>
          <a:blip r:embed="rId14"/>
          <a:srcRect t="-530" b="-530"/>
          <a:stretch/>
        </p:blipFill>
        <p:spPr>
          <a:xfrm>
            <a:off x="3806647" y="3540557"/>
            <a:ext cx="247802" cy="286207"/>
          </a:xfrm>
          <a:prstGeom prst="rect">
            <a:avLst/>
          </a:prstGeom>
        </p:spPr>
      </p:pic>
      <p:sp>
        <p:nvSpPr>
          <p:cNvPr id="31" name="Text 15"/>
          <p:cNvSpPr txBox="1"/>
          <p:nvPr/>
        </p:nvSpPr>
        <p:spPr>
          <a:xfrm>
            <a:off x="580644" y="3719779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文字列 (String)</a:t>
            </a:r>
            <a:endParaRPr lang="en-US" sz="1200" dirty="0"/>
          </a:p>
        </p:txBody>
      </p:sp>
      <p:sp>
        <p:nvSpPr>
          <p:cNvPr id="32" name="Text 16"/>
          <p:cNvSpPr txBox="1"/>
          <p:nvPr/>
        </p:nvSpPr>
        <p:spPr>
          <a:xfrm>
            <a:off x="580644" y="3985870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最も一般的なテキストデータ</a:t>
            </a:r>
            <a:endParaRPr lang="en-US" sz="900" dirty="0"/>
          </a:p>
        </p:txBody>
      </p:sp>
      <p:sp>
        <p:nvSpPr>
          <p:cNvPr id="33" name="Shape 17"/>
          <p:cNvSpPr/>
          <p:nvPr/>
        </p:nvSpPr>
        <p:spPr>
          <a:xfrm>
            <a:off x="580644" y="4214470"/>
            <a:ext cx="34381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18"/>
          <p:cNvSpPr txBox="1"/>
          <p:nvPr/>
        </p:nvSpPr>
        <p:spPr>
          <a:xfrm>
            <a:off x="580644" y="4214470"/>
            <a:ext cx="3514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"あいうえお", "abc"</a:t>
            </a:r>
            <a:endParaRPr lang="en-US" sz="900" dirty="0"/>
          </a:p>
        </p:txBody>
      </p:sp>
      <p:sp>
        <p:nvSpPr>
          <p:cNvPr id="35" name="Shape 19"/>
          <p:cNvSpPr/>
          <p:nvPr/>
        </p:nvSpPr>
        <p:spPr>
          <a:xfrm>
            <a:off x="4254703" y="3409798"/>
            <a:ext cx="3685946" cy="1362456"/>
          </a:xfrm>
          <a:prstGeom prst="roundRect">
            <a:avLst>
              <a:gd name="adj" fmla="val 7509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5"/>
          <a:srcRect t="-530" b="-530"/>
          <a:stretch/>
        </p:blipFill>
        <p:spPr>
          <a:xfrm>
            <a:off x="7604150" y="3540557"/>
            <a:ext cx="247802" cy="286207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4378147" y="3719779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整数 (Integer)</a:t>
            </a:r>
            <a:endParaRPr lang="en-US" sz="1200" dirty="0"/>
          </a:p>
        </p:txBody>
      </p:sp>
      <p:sp>
        <p:nvSpPr>
          <p:cNvPr id="38" name="Text 21"/>
          <p:cNvSpPr txBox="1"/>
          <p:nvPr/>
        </p:nvSpPr>
        <p:spPr>
          <a:xfrm>
            <a:off x="4378147" y="3985870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計算可能な数値（小数なし）</a:t>
            </a:r>
            <a:endParaRPr lang="en-US" sz="900" dirty="0"/>
          </a:p>
        </p:txBody>
      </p:sp>
      <p:sp>
        <p:nvSpPr>
          <p:cNvPr id="39" name="Shape 22"/>
          <p:cNvSpPr/>
          <p:nvPr/>
        </p:nvSpPr>
        <p:spPr>
          <a:xfrm>
            <a:off x="4378147" y="4214470"/>
            <a:ext cx="34381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23"/>
          <p:cNvSpPr txBox="1"/>
          <p:nvPr/>
        </p:nvSpPr>
        <p:spPr>
          <a:xfrm>
            <a:off x="4378147" y="4214470"/>
            <a:ext cx="3514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10, -100, 0</a:t>
            </a:r>
            <a:endParaRPr lang="en-US" sz="900" dirty="0"/>
          </a:p>
        </p:txBody>
      </p:sp>
      <p:sp>
        <p:nvSpPr>
          <p:cNvPr id="41" name="Shape 24"/>
          <p:cNvSpPr/>
          <p:nvPr/>
        </p:nvSpPr>
        <p:spPr>
          <a:xfrm>
            <a:off x="8052206" y="3409798"/>
            <a:ext cx="3685946" cy="1362456"/>
          </a:xfrm>
          <a:prstGeom prst="roundRect">
            <a:avLst>
              <a:gd name="adj" fmla="val 7509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6"/>
          <a:srcRect t="-530" b="-530"/>
          <a:stretch/>
        </p:blipFill>
        <p:spPr>
          <a:xfrm>
            <a:off x="11401654" y="3540557"/>
            <a:ext cx="247802" cy="286207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8175650" y="3719779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ブール値 (Boolean)</a:t>
            </a:r>
            <a:endParaRPr lang="en-US" sz="1200" dirty="0"/>
          </a:p>
        </p:txBody>
      </p:sp>
      <p:sp>
        <p:nvSpPr>
          <p:cNvPr id="44" name="Text 26"/>
          <p:cNvSpPr txBox="1"/>
          <p:nvPr/>
        </p:nvSpPr>
        <p:spPr>
          <a:xfrm>
            <a:off x="8175650" y="3985870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はい/いいえ、真/偽</a:t>
            </a:r>
            <a:endParaRPr lang="en-US" sz="900" dirty="0"/>
          </a:p>
        </p:txBody>
      </p:sp>
      <p:sp>
        <p:nvSpPr>
          <p:cNvPr id="45" name="Shape 27"/>
          <p:cNvSpPr/>
          <p:nvPr/>
        </p:nvSpPr>
        <p:spPr>
          <a:xfrm>
            <a:off x="8175650" y="4214470"/>
            <a:ext cx="34381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28"/>
          <p:cNvSpPr txBox="1"/>
          <p:nvPr/>
        </p:nvSpPr>
        <p:spPr>
          <a:xfrm>
            <a:off x="8175650" y="4214470"/>
            <a:ext cx="3514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true, false</a:t>
            </a:r>
            <a:endParaRPr lang="en-US" sz="900" dirty="0"/>
          </a:p>
        </p:txBody>
      </p:sp>
      <p:sp>
        <p:nvSpPr>
          <p:cNvPr id="47" name="Shape 29"/>
          <p:cNvSpPr/>
          <p:nvPr/>
        </p:nvSpPr>
        <p:spPr>
          <a:xfrm>
            <a:off x="457200" y="4886554"/>
            <a:ext cx="3685946" cy="1362456"/>
          </a:xfrm>
          <a:prstGeom prst="roundRect">
            <a:avLst>
              <a:gd name="adj" fmla="val 7509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17"/>
          <a:srcRect l="-1118" r="-1118"/>
          <a:stretch/>
        </p:blipFill>
        <p:spPr>
          <a:xfrm>
            <a:off x="3834994" y="5017313"/>
            <a:ext cx="219456" cy="286207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580644" y="5195621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Float (浮動小数点)</a:t>
            </a:r>
            <a:endParaRPr lang="en-US" sz="1200" dirty="0"/>
          </a:p>
        </p:txBody>
      </p:sp>
      <p:sp>
        <p:nvSpPr>
          <p:cNvPr id="50" name="Text 31"/>
          <p:cNvSpPr txBox="1"/>
          <p:nvPr/>
        </p:nvSpPr>
        <p:spPr>
          <a:xfrm>
            <a:off x="580644" y="5462626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小数点を含む数値</a:t>
            </a:r>
            <a:endParaRPr lang="en-US" sz="900" dirty="0"/>
          </a:p>
        </p:txBody>
      </p:sp>
      <p:sp>
        <p:nvSpPr>
          <p:cNvPr id="51" name="Shape 32"/>
          <p:cNvSpPr/>
          <p:nvPr/>
        </p:nvSpPr>
        <p:spPr>
          <a:xfrm>
            <a:off x="580644" y="5691226"/>
            <a:ext cx="34381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33"/>
          <p:cNvSpPr txBox="1"/>
          <p:nvPr/>
        </p:nvSpPr>
        <p:spPr>
          <a:xfrm>
            <a:off x="580644" y="5691226"/>
            <a:ext cx="3514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3.14, -0.01</a:t>
            </a:r>
            <a:endParaRPr lang="en-US" sz="900" dirty="0"/>
          </a:p>
        </p:txBody>
      </p:sp>
      <p:sp>
        <p:nvSpPr>
          <p:cNvPr id="53" name="Shape 34"/>
          <p:cNvSpPr/>
          <p:nvPr/>
        </p:nvSpPr>
        <p:spPr>
          <a:xfrm>
            <a:off x="4254703" y="4886554"/>
            <a:ext cx="3685946" cy="1362456"/>
          </a:xfrm>
          <a:prstGeom prst="roundRect">
            <a:avLst>
              <a:gd name="adj" fmla="val 7509"/>
            </a:avLst>
          </a:prstGeom>
          <a:solidFill>
            <a:srgbClr val="FDF2F8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4" name="Image 1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565746" y="5017313"/>
            <a:ext cx="286207" cy="286207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4378147" y="5195621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D174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アレイ (Array)</a:t>
            </a:r>
            <a:endParaRPr lang="en-US" sz="1200" dirty="0"/>
          </a:p>
        </p:txBody>
      </p:sp>
      <p:sp>
        <p:nvSpPr>
          <p:cNvPr id="56" name="Text 36"/>
          <p:cNvSpPr txBox="1"/>
          <p:nvPr/>
        </p:nvSpPr>
        <p:spPr>
          <a:xfrm>
            <a:off x="4378147" y="5462626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データのリスト（配列）</a:t>
            </a:r>
            <a:endParaRPr lang="en-US" sz="900" dirty="0"/>
          </a:p>
        </p:txBody>
      </p:sp>
      <p:sp>
        <p:nvSpPr>
          <p:cNvPr id="57" name="Shape 37"/>
          <p:cNvSpPr/>
          <p:nvPr/>
        </p:nvSpPr>
        <p:spPr>
          <a:xfrm>
            <a:off x="4378147" y="5691226"/>
            <a:ext cx="34381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38"/>
          <p:cNvSpPr txBox="1"/>
          <p:nvPr/>
        </p:nvSpPr>
        <p:spPr>
          <a:xfrm>
            <a:off x="4378147" y="5691226"/>
            <a:ext cx="3514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[1, 2, 3], ["A", "B"]</a:t>
            </a:r>
            <a:endParaRPr lang="en-US" sz="900" dirty="0"/>
          </a:p>
        </p:txBody>
      </p:sp>
      <p:sp>
        <p:nvSpPr>
          <p:cNvPr id="59" name="Shape 39"/>
          <p:cNvSpPr/>
          <p:nvPr/>
        </p:nvSpPr>
        <p:spPr>
          <a:xfrm>
            <a:off x="8052206" y="4886554"/>
            <a:ext cx="3685946" cy="1362456"/>
          </a:xfrm>
          <a:prstGeom prst="roundRect">
            <a:avLst>
              <a:gd name="adj" fmla="val 7509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19"/>
          <a:srcRect l="-266" r="-266"/>
          <a:stretch/>
        </p:blipFill>
        <p:spPr>
          <a:xfrm>
            <a:off x="11324844" y="5017313"/>
            <a:ext cx="323698" cy="286207"/>
          </a:xfrm>
          <a:prstGeom prst="rect">
            <a:avLst/>
          </a:prstGeom>
        </p:spPr>
      </p:pic>
      <p:sp>
        <p:nvSpPr>
          <p:cNvPr id="61" name="Text 40"/>
          <p:cNvSpPr txBox="1"/>
          <p:nvPr/>
        </p:nvSpPr>
        <p:spPr>
          <a:xfrm>
            <a:off x="8175650" y="5195621"/>
            <a:ext cx="35533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730A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オブジェクト (Object)</a:t>
            </a:r>
            <a:endParaRPr lang="en-US" sz="1200" dirty="0"/>
          </a:p>
        </p:txBody>
      </p:sp>
      <p:sp>
        <p:nvSpPr>
          <p:cNvPr id="62" name="Text 41"/>
          <p:cNvSpPr txBox="1"/>
          <p:nvPr/>
        </p:nvSpPr>
        <p:spPr>
          <a:xfrm>
            <a:off x="8175650" y="5462626"/>
            <a:ext cx="36292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複雑な構造データ (JSON)</a:t>
            </a:r>
            <a:endParaRPr lang="en-US" sz="900" dirty="0"/>
          </a:p>
        </p:txBody>
      </p:sp>
      <p:sp>
        <p:nvSpPr>
          <p:cNvPr id="63" name="Shape 42"/>
          <p:cNvSpPr/>
          <p:nvPr/>
        </p:nvSpPr>
        <p:spPr>
          <a:xfrm>
            <a:off x="8175650" y="5691226"/>
            <a:ext cx="3438144" cy="247802"/>
          </a:xfrm>
          <a:prstGeom prst="roundRect">
            <a:avLst>
              <a:gd name="adj" fmla="val 11354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Text 43"/>
          <p:cNvSpPr txBox="1"/>
          <p:nvPr/>
        </p:nvSpPr>
        <p:spPr>
          <a:xfrm>
            <a:off x="8175650" y="5691226"/>
            <a:ext cx="35149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{"id": 1, "name": "Tanaka"}</a:t>
            </a:r>
            <a:endParaRPr lang="en-US" sz="900" dirty="0"/>
          </a:p>
        </p:txBody>
      </p:sp>
      <p:sp>
        <p:nvSpPr>
          <p:cNvPr id="65" name="Shape 4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6" name="Shape 45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46"/>
          <p:cNvSpPr txBox="1"/>
          <p:nvPr/>
        </p:nvSpPr>
        <p:spPr>
          <a:xfrm>
            <a:off x="457200" y="6577279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Basic Training</a:t>
            </a:r>
            <a:endParaRPr lang="en-US" sz="1000" dirty="0"/>
          </a:p>
        </p:txBody>
      </p:sp>
      <p:sp>
        <p:nvSpPr>
          <p:cNvPr id="68" name="Text 47"/>
          <p:cNvSpPr txBox="1"/>
          <p:nvPr/>
        </p:nvSpPr>
        <p:spPr>
          <a:xfrm>
            <a:off x="10629900" y="6577279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2026</a:t>
            </a:r>
            <a:endParaRPr lang="en-US" sz="1000" dirty="0"/>
          </a:p>
        </p:txBody>
      </p:sp>
      <p:pic>
        <p:nvPicPr>
          <p:cNvPr id="69" name="Image 19" descr="preencoded.png"/>
          <p:cNvPicPr>
            <a:picLocks noChangeAspect="1"/>
          </p:cNvPicPr>
          <p:nvPr/>
        </p:nvPicPr>
        <p:blipFill>
          <a:blip r:embed="rId20"/>
          <a:srcRect l="-19" r="-19"/>
          <a:stretch/>
        </p:blipFill>
        <p:spPr>
          <a:xfrm>
            <a:off x="0" y="0"/>
            <a:ext cx="12191695" cy="761695"/>
          </a:xfrm>
          <a:prstGeom prst="rect">
            <a:avLst/>
          </a:prstGeom>
        </p:spPr>
      </p:pic>
      <p:sp>
        <p:nvSpPr>
          <p:cNvPr id="70" name="Shape 48"/>
          <p:cNvSpPr/>
          <p:nvPr/>
        </p:nvSpPr>
        <p:spPr>
          <a:xfrm>
            <a:off x="10134295" y="0"/>
            <a:ext cx="2438705" cy="761695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49"/>
          <p:cNvSpPr/>
          <p:nvPr/>
        </p:nvSpPr>
        <p:spPr>
          <a:xfrm>
            <a:off x="11277295" y="0"/>
            <a:ext cx="152705" cy="761695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2" name="Image 20" descr="preencoded.png"/>
          <p:cNvPicPr>
            <a:picLocks noChangeAspect="1"/>
          </p:cNvPicPr>
          <p:nvPr/>
        </p:nvPicPr>
        <p:blipFill>
          <a:blip r:embed="rId21"/>
          <a:srcRect l="-42" r="-42"/>
          <a:stretch/>
        </p:blipFill>
        <p:spPr>
          <a:xfrm>
            <a:off x="457200" y="209398"/>
            <a:ext cx="724205" cy="342900"/>
          </a:xfrm>
          <a:prstGeom prst="rect">
            <a:avLst/>
          </a:prstGeom>
        </p:spPr>
      </p:pic>
      <p:sp>
        <p:nvSpPr>
          <p:cNvPr id="73" name="Text 50"/>
          <p:cNvSpPr txBox="1"/>
          <p:nvPr/>
        </p:nvSpPr>
        <p:spPr>
          <a:xfrm>
            <a:off x="457200" y="209398"/>
            <a:ext cx="800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Basic</a:t>
            </a:r>
            <a:endParaRPr lang="en-US" sz="1500" dirty="0"/>
          </a:p>
        </p:txBody>
      </p:sp>
      <p:sp>
        <p:nvSpPr>
          <p:cNvPr id="74" name="Text 51"/>
          <p:cNvSpPr txBox="1"/>
          <p:nvPr/>
        </p:nvSpPr>
        <p:spPr>
          <a:xfrm>
            <a:off x="1333195" y="209398"/>
            <a:ext cx="54873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56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変数の初期化と種類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