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" name="Shape 39">
            <a:extLst>
              <a:ext uri="{FF2B5EF4-FFF2-40B4-BE49-F238E27FC236}">
                <a16:creationId xmlns:a16="http://schemas.microsoft.com/office/drawing/2014/main" id="{A1E89FD3-AA12-98CE-EFE9-27F605AB7666}"/>
              </a:ext>
            </a:extLst>
          </p:cNvPr>
          <p:cNvSpPr/>
          <p:nvPr/>
        </p:nvSpPr>
        <p:spPr>
          <a:xfrm>
            <a:off x="6095999" y="1771650"/>
            <a:ext cx="5886398" cy="4931536"/>
          </a:xfrm>
          <a:prstGeom prst="roundRect">
            <a:avLst>
              <a:gd name="adj" fmla="val 3861"/>
            </a:avLst>
          </a:prstGeom>
          <a:solidFill>
            <a:srgbClr val="EFF6FF"/>
          </a:solidFill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2DE91AA0-94AF-11F6-B53F-551375292E41}"/>
              </a:ext>
            </a:extLst>
          </p:cNvPr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353EA0B-2C92-7BA1-90FA-8BFB6B3AC0CF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9F7532D-042C-8B99-4351-68DC29059DFE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Vol.22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269DAA6-B638-B80A-6314-B4A2D4AE8E46}"/>
              </a:ext>
            </a:extLst>
          </p:cNvPr>
          <p:cNvSpPr txBox="1"/>
          <p:nvPr/>
        </p:nvSpPr>
        <p:spPr>
          <a:xfrm>
            <a:off x="1926963" y="15481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: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(Condition)】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の勘違い</a:t>
            </a:r>
            <a:endParaRPr lang="en-US" sz="3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3C17289D-9062-429D-8E62-1CCAA4D946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461" y="709333"/>
            <a:ext cx="8314039" cy="849731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B81690D-100B-A483-CFA3-AA2411D96475}"/>
              </a:ext>
            </a:extLst>
          </p:cNvPr>
          <p:cNvSpPr txBox="1"/>
          <p:nvPr/>
        </p:nvSpPr>
        <p:spPr>
          <a:xfrm>
            <a:off x="867634" y="831144"/>
            <a:ext cx="7835495" cy="67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 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 </a:t>
            </a: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、なんとなくで選んでいませんか？ 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条件が合わない</a:t>
            </a:r>
            <a:r>
              <a:rPr lang="en-US" altLang="ja-JP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…</a:t>
            </a:r>
            <a:r>
              <a:rPr lang="ja-JP" altLang="en-US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その原因、比較の“勘違い”かも</a:t>
            </a:r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411D2972-ED2E-D79E-E1F1-C40185D07374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B95EECBA-EB1E-A088-59AD-CCBEE955AE5A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33DA2AB8-0AAF-DFF7-EEAA-BDCFF6782AA6}"/>
              </a:ext>
            </a:extLst>
          </p:cNvPr>
          <p:cNvSpPr/>
          <p:nvPr/>
        </p:nvSpPr>
        <p:spPr>
          <a:xfrm>
            <a:off x="58783" y="-50800"/>
            <a:ext cx="12077233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CDBE720A-DBA8-A376-60BD-FA43DD5DEB23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0E57291F-B18B-4EE3-CF9B-9ED0694AA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6" y="746053"/>
            <a:ext cx="784945" cy="784945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4DC9241-D5A3-AFEB-0D0C-406DFC4AA272}"/>
              </a:ext>
            </a:extLst>
          </p:cNvPr>
          <p:cNvSpPr/>
          <p:nvPr/>
        </p:nvSpPr>
        <p:spPr>
          <a:xfrm>
            <a:off x="157823" y="1698465"/>
            <a:ext cx="5811764" cy="5004721"/>
          </a:xfrm>
          <a:prstGeom prst="roundRect">
            <a:avLst>
              <a:gd name="adj" fmla="val 35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C804D7CE-1149-9A07-0344-CA8556448ABB}"/>
              </a:ext>
            </a:extLst>
          </p:cNvPr>
          <p:cNvSpPr/>
          <p:nvPr/>
        </p:nvSpPr>
        <p:spPr>
          <a:xfrm>
            <a:off x="346433" y="1625360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34B08150-32E4-DD26-3C30-DC1258DED67F}"/>
              </a:ext>
            </a:extLst>
          </p:cNvPr>
          <p:cNvSpPr txBox="1"/>
          <p:nvPr/>
        </p:nvSpPr>
        <p:spPr>
          <a:xfrm>
            <a:off x="587622" y="1712072"/>
            <a:ext cx="2981048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よくある勘違い</a:t>
            </a:r>
            <a:endParaRPr lang="en-US" altLang="ja-JP" sz="3200" b="1">
              <a:solidFill>
                <a:srgbClr val="DC2626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4977F3AE-2A2D-B8F3-6EE7-B74A033B3C95}"/>
              </a:ext>
            </a:extLst>
          </p:cNvPr>
          <p:cNvGrpSpPr/>
          <p:nvPr/>
        </p:nvGrpSpPr>
        <p:grpSpPr>
          <a:xfrm>
            <a:off x="6061279" y="1582770"/>
            <a:ext cx="3079891" cy="513892"/>
            <a:chOff x="3873773" y="1873957"/>
            <a:chExt cx="3485106" cy="513892"/>
          </a:xfrm>
        </p:grpSpPr>
        <p:sp>
          <p:nvSpPr>
            <p:cNvPr id="84" name="Shape 7">
              <a:extLst>
                <a:ext uri="{FF2B5EF4-FFF2-40B4-BE49-F238E27FC236}">
                  <a16:creationId xmlns:a16="http://schemas.microsoft.com/office/drawing/2014/main" id="{CB670B50-9500-6CFA-2E28-59DE3EE9ED9E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BAC84FE2-CCF8-92C4-4FCD-CD1D86C51A0A}"/>
                </a:ext>
              </a:extLst>
            </p:cNvPr>
            <p:cNvSpPr txBox="1"/>
            <p:nvPr/>
          </p:nvSpPr>
          <p:spPr>
            <a:xfrm>
              <a:off x="4304719" y="1880414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正しい理解</a:t>
              </a:r>
              <a:endParaRPr lang="en-US" sz="3600" dirty="0"/>
            </a:p>
          </p:txBody>
        </p:sp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C7857D93-AF17-D3C9-6B58-5A4415931A0E}"/>
              </a:ext>
            </a:extLst>
          </p:cNvPr>
          <p:cNvSpPr/>
          <p:nvPr/>
        </p:nvSpPr>
        <p:spPr>
          <a:xfrm>
            <a:off x="8731428" y="779156"/>
            <a:ext cx="3227113" cy="685800"/>
          </a:xfrm>
          <a:prstGeom prst="roundRect">
            <a:avLst>
              <a:gd name="adj" fmla="val 14815"/>
            </a:avLst>
          </a:prstGeom>
          <a:solidFill>
            <a:srgbClr val="EFF6FF"/>
          </a:solidFill>
          <a:ln w="3175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A1A563E-211B-7120-AC87-4CC5D24D2E2A}"/>
              </a:ext>
            </a:extLst>
          </p:cNvPr>
          <p:cNvSpPr txBox="1"/>
          <p:nvPr/>
        </p:nvSpPr>
        <p:spPr>
          <a:xfrm>
            <a:off x="9207830" y="855966"/>
            <a:ext cx="277456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equals は“</a:t>
            </a:r>
            <a:r>
              <a:rPr lang="en-US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完全一致”、</a:t>
            </a:r>
          </a:p>
          <a:p>
            <a:pPr marL="0" indent="0" algn="l">
              <a:buNone/>
            </a:pPr>
            <a:r>
              <a:rPr lang="en-US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</a:t>
            </a: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は“含まれるか” </a:t>
            </a:r>
            <a:endParaRPr lang="en-US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9A458936-B725-8ABE-02C3-7F2A15C067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21623" y="915402"/>
            <a:ext cx="171907" cy="171907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D991EE79-D9E5-2D3B-6E7E-EB82C2A0EE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66529" y="2371954"/>
            <a:ext cx="352520" cy="470967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296AF3A1-2B72-A5AA-354F-9394369A3928}"/>
              </a:ext>
            </a:extLst>
          </p:cNvPr>
          <p:cNvSpPr txBox="1"/>
          <p:nvPr/>
        </p:nvSpPr>
        <p:spPr>
          <a:xfrm>
            <a:off x="694944" y="2314345"/>
            <a:ext cx="4962906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</a:t>
            </a:r>
            <a:r>
              <a:rPr lang="en-US" sz="24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部分一致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37C81AF-C4FE-783B-A675-2A12DE719307}"/>
              </a:ext>
            </a:extLst>
          </p:cNvPr>
          <p:cNvSpPr txBox="1"/>
          <p:nvPr/>
        </p:nvSpPr>
        <p:spPr>
          <a:xfrm>
            <a:off x="684491" y="3043593"/>
            <a:ext cx="5380800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文字に空白があると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判定できない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EFCB1073-7C7B-D3D6-E581-F7BBF7B9A792}"/>
              </a:ext>
            </a:extLst>
          </p:cNvPr>
          <p:cNvSpPr txBox="1"/>
          <p:nvPr/>
        </p:nvSpPr>
        <p:spPr>
          <a:xfrm>
            <a:off x="580293" y="3749033"/>
            <a:ext cx="5330652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を使えば全部解決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pic>
        <p:nvPicPr>
          <p:cNvPr id="33" name="Image 6" descr="preencoded.png">
            <a:extLst>
              <a:ext uri="{FF2B5EF4-FFF2-40B4-BE49-F238E27FC236}">
                <a16:creationId xmlns:a16="http://schemas.microsoft.com/office/drawing/2014/main" id="{0240F49F-F1C3-D0B8-5121-96CF1A3350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40388" y="3076699"/>
            <a:ext cx="352520" cy="470967"/>
          </a:xfrm>
          <a:prstGeom prst="rect">
            <a:avLst/>
          </a:prstGeom>
        </p:spPr>
      </p:pic>
      <p:pic>
        <p:nvPicPr>
          <p:cNvPr id="34" name="Image 6" descr="preencoded.png">
            <a:extLst>
              <a:ext uri="{FF2B5EF4-FFF2-40B4-BE49-F238E27FC236}">
                <a16:creationId xmlns:a16="http://schemas.microsoft.com/office/drawing/2014/main" id="{9D9AD460-3B23-AB4D-63AB-C67166B328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49515" y="3805728"/>
            <a:ext cx="352520" cy="470967"/>
          </a:xfrm>
          <a:prstGeom prst="rect">
            <a:avLst/>
          </a:prstGeom>
        </p:spPr>
      </p:pic>
      <p:pic>
        <p:nvPicPr>
          <p:cNvPr id="36" name="Image 9" descr="preencoded.png">
            <a:extLst>
              <a:ext uri="{FF2B5EF4-FFF2-40B4-BE49-F238E27FC236}">
                <a16:creationId xmlns:a16="http://schemas.microsoft.com/office/drawing/2014/main" id="{79E6FA9D-98B5-3FB5-16E7-D7F29799C50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296985" y="4567078"/>
            <a:ext cx="5551733" cy="2003766"/>
          </a:xfrm>
          <a:prstGeom prst="rect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38" name="Text 15">
            <a:extLst>
              <a:ext uri="{FF2B5EF4-FFF2-40B4-BE49-F238E27FC236}">
                <a16:creationId xmlns:a16="http://schemas.microsoft.com/office/drawing/2014/main" id="{ABE7760F-C328-A67D-146E-1AEDA397C34C}"/>
              </a:ext>
            </a:extLst>
          </p:cNvPr>
          <p:cNvSpPr txBox="1"/>
          <p:nvPr/>
        </p:nvSpPr>
        <p:spPr>
          <a:xfrm>
            <a:off x="521303" y="4664155"/>
            <a:ext cx="4926498" cy="21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NG例：</a:t>
            </a:r>
            <a:r>
              <a:rPr lang="en-US" sz="3200" b="1" dirty="0">
                <a:solidFill>
                  <a:srgbClr val="FF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 </a:t>
            </a: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で部分一致を期待</a:t>
            </a:r>
            <a:endParaRPr lang="en-US" sz="2400" dirty="0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0C4C64BC-416D-C2C4-2EE2-305B8F03071C}"/>
              </a:ext>
            </a:extLst>
          </p:cNvPr>
          <p:cNvGrpSpPr/>
          <p:nvPr/>
        </p:nvGrpSpPr>
        <p:grpSpPr>
          <a:xfrm>
            <a:off x="394803" y="5004358"/>
            <a:ext cx="2699444" cy="891980"/>
            <a:chOff x="394803" y="5004358"/>
            <a:chExt cx="1454017" cy="891980"/>
          </a:xfrm>
        </p:grpSpPr>
        <p:sp>
          <p:nvSpPr>
            <p:cNvPr id="39" name="Shape 16">
              <a:extLst>
                <a:ext uri="{FF2B5EF4-FFF2-40B4-BE49-F238E27FC236}">
                  <a16:creationId xmlns:a16="http://schemas.microsoft.com/office/drawing/2014/main" id="{B51F8E85-0998-43FF-54A3-B4C38CA106C5}"/>
                </a:ext>
              </a:extLst>
            </p:cNvPr>
            <p:cNvSpPr/>
            <p:nvPr/>
          </p:nvSpPr>
          <p:spPr>
            <a:xfrm>
              <a:off x="394803" y="5004358"/>
              <a:ext cx="1446303" cy="891980"/>
            </a:xfrm>
            <a:prstGeom prst="roundRect">
              <a:avLst>
                <a:gd name="adj" fmla="val 24504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3156C629-4D7E-31E8-BB77-9F8C171F9E26}"/>
                </a:ext>
              </a:extLst>
            </p:cNvPr>
            <p:cNvSpPr txBox="1"/>
            <p:nvPr/>
          </p:nvSpPr>
          <p:spPr>
            <a:xfrm>
              <a:off x="405839" y="5095896"/>
              <a:ext cx="1442981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入力値</a:t>
              </a:r>
              <a:endParaRPr lang="en-US" sz="2000" b="1" dirty="0"/>
            </a:p>
          </p:txBody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B4D02583-DF87-5BBC-45B9-FBF6245138DB}"/>
                </a:ext>
              </a:extLst>
            </p:cNvPr>
            <p:cNvSpPr txBox="1"/>
            <p:nvPr/>
          </p:nvSpPr>
          <p:spPr>
            <a:xfrm>
              <a:off x="422705" y="5388293"/>
              <a:ext cx="1391161" cy="388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7415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 Hands-on"</a:t>
              </a:r>
              <a:endParaRPr lang="en-US" sz="2400" dirty="0"/>
            </a:p>
          </p:txBody>
        </p:sp>
      </p:grpSp>
      <p:sp>
        <p:nvSpPr>
          <p:cNvPr id="42" name="Text 19">
            <a:extLst>
              <a:ext uri="{FF2B5EF4-FFF2-40B4-BE49-F238E27FC236}">
                <a16:creationId xmlns:a16="http://schemas.microsoft.com/office/drawing/2014/main" id="{663AF69C-C049-5614-DC30-459BF957E7C9}"/>
              </a:ext>
            </a:extLst>
          </p:cNvPr>
          <p:cNvSpPr txBox="1"/>
          <p:nvPr/>
        </p:nvSpPr>
        <p:spPr>
          <a:xfrm>
            <a:off x="3209622" y="5264768"/>
            <a:ext cx="437297" cy="37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2800" dirty="0"/>
          </a:p>
        </p:txBody>
      </p: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BA73386D-7022-7E2C-4DA3-C9FACD6DC72B}"/>
              </a:ext>
            </a:extLst>
          </p:cNvPr>
          <p:cNvGrpSpPr/>
          <p:nvPr/>
        </p:nvGrpSpPr>
        <p:grpSpPr>
          <a:xfrm>
            <a:off x="3740362" y="4994443"/>
            <a:ext cx="2063538" cy="949993"/>
            <a:chOff x="3175782" y="5113327"/>
            <a:chExt cx="1446303" cy="744785"/>
          </a:xfrm>
        </p:grpSpPr>
        <p:sp>
          <p:nvSpPr>
            <p:cNvPr id="43" name="Shape 20">
              <a:extLst>
                <a:ext uri="{FF2B5EF4-FFF2-40B4-BE49-F238E27FC236}">
                  <a16:creationId xmlns:a16="http://schemas.microsoft.com/office/drawing/2014/main" id="{1CE02075-3507-1E48-0D4D-9BE2BE1578B9}"/>
                </a:ext>
              </a:extLst>
            </p:cNvPr>
            <p:cNvSpPr/>
            <p:nvPr/>
          </p:nvSpPr>
          <p:spPr>
            <a:xfrm>
              <a:off x="3175782" y="5113327"/>
              <a:ext cx="1446303" cy="744785"/>
            </a:xfrm>
            <a:prstGeom prst="roundRect">
              <a:avLst>
                <a:gd name="adj" fmla="val 22836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44" name="Text 21">
              <a:extLst>
                <a:ext uri="{FF2B5EF4-FFF2-40B4-BE49-F238E27FC236}">
                  <a16:creationId xmlns:a16="http://schemas.microsoft.com/office/drawing/2014/main" id="{8AC8506C-4612-DA21-9610-20CCA07B5E78}"/>
                </a:ext>
              </a:extLst>
            </p:cNvPr>
            <p:cNvSpPr txBox="1"/>
            <p:nvPr/>
          </p:nvSpPr>
          <p:spPr>
            <a:xfrm>
              <a:off x="3210328" y="5229238"/>
              <a:ext cx="1377209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3B82F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 (equals)</a:t>
              </a:r>
              <a:endParaRPr lang="en-US" sz="2000" b="1" dirty="0"/>
            </a:p>
          </p:txBody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CA44F67B-E760-064B-1CFD-282BE782058D}"/>
                </a:ext>
              </a:extLst>
            </p:cNvPr>
            <p:cNvSpPr txBox="1"/>
            <p:nvPr/>
          </p:nvSpPr>
          <p:spPr>
            <a:xfrm>
              <a:off x="3210328" y="5485720"/>
              <a:ext cx="1377209" cy="2577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563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"PA45"</a:t>
              </a:r>
              <a:endParaRPr lang="en-US" sz="2400" dirty="0"/>
            </a:p>
          </p:txBody>
        </p:sp>
      </p:grpSp>
      <p:sp>
        <p:nvSpPr>
          <p:cNvPr id="46" name="Shape 23">
            <a:extLst>
              <a:ext uri="{FF2B5EF4-FFF2-40B4-BE49-F238E27FC236}">
                <a16:creationId xmlns:a16="http://schemas.microsoft.com/office/drawing/2014/main" id="{18CF1B5F-7E38-2C62-64A5-B8A4DFB4034C}"/>
              </a:ext>
            </a:extLst>
          </p:cNvPr>
          <p:cNvSpPr/>
          <p:nvPr/>
        </p:nvSpPr>
        <p:spPr>
          <a:xfrm>
            <a:off x="382270" y="6076778"/>
            <a:ext cx="5179498" cy="410618"/>
          </a:xfrm>
          <a:prstGeom prst="roundRect">
            <a:avLst>
              <a:gd name="adj" fmla="val 750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62191F3-1A42-B18B-DAEC-457372B4E761}"/>
              </a:ext>
            </a:extLst>
          </p:cNvPr>
          <p:cNvSpPr txBox="1"/>
          <p:nvPr/>
        </p:nvSpPr>
        <p:spPr>
          <a:xfrm>
            <a:off x="1314694" y="6133714"/>
            <a:ext cx="4001441" cy="30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結果：false </a:t>
            </a:r>
            <a:r>
              <a:rPr lang="en-US" sz="16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（想定と違う！）</a:t>
            </a:r>
            <a:endParaRPr lang="en-US" sz="2800" dirty="0"/>
          </a:p>
        </p:txBody>
      </p:sp>
      <p:pic>
        <p:nvPicPr>
          <p:cNvPr id="48" name="Image 10" descr="preencoded.png">
            <a:extLst>
              <a:ext uri="{FF2B5EF4-FFF2-40B4-BE49-F238E27FC236}">
                <a16:creationId xmlns:a16="http://schemas.microsoft.com/office/drawing/2014/main" id="{B6730C36-2F69-3F4A-CDB6-B5B20286387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8177" y="6084047"/>
            <a:ext cx="365490" cy="396080"/>
          </a:xfrm>
          <a:prstGeom prst="rect">
            <a:avLst/>
          </a:prstGeom>
        </p:spPr>
      </p:pic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BC49D07C-3744-D34A-9949-16DE009EF859}"/>
              </a:ext>
            </a:extLst>
          </p:cNvPr>
          <p:cNvGrpSpPr/>
          <p:nvPr/>
        </p:nvGrpSpPr>
        <p:grpSpPr>
          <a:xfrm>
            <a:off x="6147034" y="2275586"/>
            <a:ext cx="5770477" cy="2115112"/>
            <a:chOff x="6533259" y="2307911"/>
            <a:chExt cx="3781347" cy="973296"/>
          </a:xfrm>
        </p:grpSpPr>
        <p:pic>
          <p:nvPicPr>
            <p:cNvPr id="66" name="Image 14" descr="preencoded.png">
              <a:extLst>
                <a:ext uri="{FF2B5EF4-FFF2-40B4-BE49-F238E27FC236}">
                  <a16:creationId xmlns:a16="http://schemas.microsoft.com/office/drawing/2014/main" id="{B49A2823-B0A0-D3C9-8D32-6FE0B1A72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6533259" y="3009750"/>
              <a:ext cx="228600" cy="152705"/>
            </a:xfrm>
            <a:prstGeom prst="rect">
              <a:avLst/>
            </a:prstGeom>
          </p:spPr>
        </p:pic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6EABA9BB-7489-18E7-AC40-59F60D4D8708}"/>
                </a:ext>
              </a:extLst>
            </p:cNvPr>
            <p:cNvGrpSpPr/>
            <p:nvPr/>
          </p:nvGrpSpPr>
          <p:grpSpPr>
            <a:xfrm>
              <a:off x="6581658" y="2307911"/>
              <a:ext cx="3732948" cy="973296"/>
              <a:chOff x="6581658" y="2307911"/>
              <a:chExt cx="3732948" cy="973296"/>
            </a:xfrm>
          </p:grpSpPr>
          <p:pic>
            <p:nvPicPr>
              <p:cNvPr id="68" name="Image 12" descr="preencoded.png">
                <a:extLst>
                  <a:ext uri="{FF2B5EF4-FFF2-40B4-BE49-F238E27FC236}">
                    <a16:creationId xmlns:a16="http://schemas.microsoft.com/office/drawing/2014/main" id="{02EA6479-5528-B866-CDA9-9D6F8B51E7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t="-43" b="-43"/>
              <a:stretch/>
            </p:blipFill>
            <p:spPr>
              <a:xfrm>
                <a:off x="6581658" y="2307911"/>
                <a:ext cx="133502" cy="152705"/>
              </a:xfrm>
              <a:prstGeom prst="rect">
                <a:avLst/>
              </a:prstGeom>
            </p:spPr>
          </p:pic>
          <p:sp>
            <p:nvSpPr>
              <p:cNvPr id="74" name="Text 28">
                <a:extLst>
                  <a:ext uri="{FF2B5EF4-FFF2-40B4-BE49-F238E27FC236}">
                    <a16:creationId xmlns:a16="http://schemas.microsoft.com/office/drawing/2014/main" id="{F0BDE9E7-9FF7-8D90-D23B-BC8D93422521}"/>
                  </a:ext>
                </a:extLst>
              </p:cNvPr>
              <p:cNvSpPr txBox="1"/>
              <p:nvPr/>
            </p:nvSpPr>
            <p:spPr>
              <a:xfrm>
                <a:off x="6810451" y="2314346"/>
                <a:ext cx="324154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2563EB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equals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 は“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完全一致”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6B728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（</a:t>
                </a:r>
                <a:r>
                  <a:rPr lang="en-US" sz="2400" b="1" dirty="0">
                    <a:solidFill>
                      <a:srgbClr val="6B728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1文字でも違えばNG）</a:t>
                </a:r>
                <a:endParaRPr lang="en-US" sz="2400" b="1" dirty="0"/>
              </a:p>
            </p:txBody>
          </p:sp>
          <p:pic>
            <p:nvPicPr>
              <p:cNvPr id="75" name="Image 13" descr="preencoded.png">
                <a:extLst>
                  <a:ext uri="{FF2B5EF4-FFF2-40B4-BE49-F238E27FC236}">
                    <a16:creationId xmlns:a16="http://schemas.microsoft.com/office/drawing/2014/main" id="{8D4184E3-6127-1CEC-A539-6E0D408842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t="-43" b="-43"/>
              <a:stretch/>
            </p:blipFill>
            <p:spPr>
              <a:xfrm>
                <a:off x="6588641" y="2700999"/>
                <a:ext cx="133502" cy="152705"/>
              </a:xfrm>
              <a:prstGeom prst="rect">
                <a:avLst/>
              </a:prstGeom>
            </p:spPr>
          </p:pic>
          <p:sp>
            <p:nvSpPr>
              <p:cNvPr id="76" name="Text 29">
                <a:extLst>
                  <a:ext uri="{FF2B5EF4-FFF2-40B4-BE49-F238E27FC236}">
                    <a16:creationId xmlns:a16="http://schemas.microsoft.com/office/drawing/2014/main" id="{6A44A7C2-F36B-FD25-280E-B8A73BE2D803}"/>
                  </a:ext>
                </a:extLst>
              </p:cNvPr>
              <p:cNvSpPr txBox="1"/>
              <p:nvPr/>
            </p:nvSpPr>
            <p:spPr>
              <a:xfrm>
                <a:off x="6806457" y="2686814"/>
                <a:ext cx="350814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2563EB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contains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 は“含まれるか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”を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判定する</a:t>
                </a:r>
                <a:endParaRPr lang="en-US" sz="2400" b="1" dirty="0"/>
              </a:p>
            </p:txBody>
          </p:sp>
          <p:sp>
            <p:nvSpPr>
              <p:cNvPr id="77" name="Text 30">
                <a:extLst>
                  <a:ext uri="{FF2B5EF4-FFF2-40B4-BE49-F238E27FC236}">
                    <a16:creationId xmlns:a16="http://schemas.microsoft.com/office/drawing/2014/main" id="{8CBCF2CD-F23F-4028-B3A1-75457343B89B}"/>
                  </a:ext>
                </a:extLst>
              </p:cNvPr>
              <p:cNvSpPr txBox="1"/>
              <p:nvPr/>
            </p:nvSpPr>
            <p:spPr>
              <a:xfrm>
                <a:off x="6821821" y="3052607"/>
                <a:ext cx="340065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数値・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日付は、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型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（データの種類）に特に注意</a:t>
                </a:r>
                <a:endParaRPr lang="en-US" sz="2400" b="1" dirty="0"/>
              </a:p>
            </p:txBody>
          </p:sp>
        </p:grpSp>
      </p:grpSp>
      <p:pic>
        <p:nvPicPr>
          <p:cNvPr id="80" name="Image 9" descr="preencoded.png">
            <a:extLst>
              <a:ext uri="{FF2B5EF4-FFF2-40B4-BE49-F238E27FC236}">
                <a16:creationId xmlns:a16="http://schemas.microsoft.com/office/drawing/2014/main" id="{18938D34-E18F-77C3-9383-E5060842483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6241811" y="4564685"/>
            <a:ext cx="5551733" cy="2003766"/>
          </a:xfrm>
          <a:prstGeom prst="rect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81" name="Text 15">
            <a:extLst>
              <a:ext uri="{FF2B5EF4-FFF2-40B4-BE49-F238E27FC236}">
                <a16:creationId xmlns:a16="http://schemas.microsoft.com/office/drawing/2014/main" id="{1B1B6E33-6002-8F74-29E5-378576A7D5DC}"/>
              </a:ext>
            </a:extLst>
          </p:cNvPr>
          <p:cNvSpPr txBox="1"/>
          <p:nvPr/>
        </p:nvSpPr>
        <p:spPr>
          <a:xfrm>
            <a:off x="6315475" y="4592809"/>
            <a:ext cx="6819009" cy="358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OK例：</a:t>
            </a:r>
            <a:r>
              <a:rPr lang="en-US" sz="32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</a:t>
            </a: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で部分一致を期待</a:t>
            </a:r>
            <a:endParaRPr lang="en-US" sz="2400" dirty="0"/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13EB85CB-C053-3336-5660-70EB30C53679}"/>
              </a:ext>
            </a:extLst>
          </p:cNvPr>
          <p:cNvGrpSpPr/>
          <p:nvPr/>
        </p:nvGrpSpPr>
        <p:grpSpPr>
          <a:xfrm>
            <a:off x="6185781" y="5086353"/>
            <a:ext cx="2814819" cy="891980"/>
            <a:chOff x="324944" y="5004358"/>
            <a:chExt cx="1516162" cy="891980"/>
          </a:xfrm>
        </p:grpSpPr>
        <p:sp>
          <p:nvSpPr>
            <p:cNvPr id="88" name="Shape 16">
              <a:extLst>
                <a:ext uri="{FF2B5EF4-FFF2-40B4-BE49-F238E27FC236}">
                  <a16:creationId xmlns:a16="http://schemas.microsoft.com/office/drawing/2014/main" id="{FAEB60DF-01E1-D4C4-657C-8CA369321B40}"/>
                </a:ext>
              </a:extLst>
            </p:cNvPr>
            <p:cNvSpPr/>
            <p:nvPr/>
          </p:nvSpPr>
          <p:spPr>
            <a:xfrm>
              <a:off x="394803" y="5004358"/>
              <a:ext cx="1446303" cy="891980"/>
            </a:xfrm>
            <a:prstGeom prst="roundRect">
              <a:avLst>
                <a:gd name="adj" fmla="val 24504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89" name="Text 17">
              <a:extLst>
                <a:ext uri="{FF2B5EF4-FFF2-40B4-BE49-F238E27FC236}">
                  <a16:creationId xmlns:a16="http://schemas.microsoft.com/office/drawing/2014/main" id="{AD84029D-26C5-DE48-39A2-56D5A55811B6}"/>
                </a:ext>
              </a:extLst>
            </p:cNvPr>
            <p:cNvSpPr txBox="1"/>
            <p:nvPr/>
          </p:nvSpPr>
          <p:spPr>
            <a:xfrm>
              <a:off x="324944" y="5087927"/>
              <a:ext cx="1442981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入力値</a:t>
              </a:r>
              <a:endParaRPr lang="en-US" sz="2000" b="1" dirty="0"/>
            </a:p>
          </p:txBody>
        </p:sp>
        <p:sp>
          <p:nvSpPr>
            <p:cNvPr id="92" name="Text 18">
              <a:extLst>
                <a:ext uri="{FF2B5EF4-FFF2-40B4-BE49-F238E27FC236}">
                  <a16:creationId xmlns:a16="http://schemas.microsoft.com/office/drawing/2014/main" id="{14E57B36-78BB-FEEA-DFD3-22A72F0415FE}"/>
                </a:ext>
              </a:extLst>
            </p:cNvPr>
            <p:cNvSpPr txBox="1"/>
            <p:nvPr/>
          </p:nvSpPr>
          <p:spPr>
            <a:xfrm>
              <a:off x="434856" y="5406251"/>
              <a:ext cx="1391161" cy="388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7415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 Hands-on"</a:t>
              </a:r>
              <a:endParaRPr lang="en-US" sz="2400" dirty="0"/>
            </a:p>
          </p:txBody>
        </p:sp>
      </p:grpSp>
      <p:sp>
        <p:nvSpPr>
          <p:cNvPr id="95" name="Text 19">
            <a:extLst>
              <a:ext uri="{FF2B5EF4-FFF2-40B4-BE49-F238E27FC236}">
                <a16:creationId xmlns:a16="http://schemas.microsoft.com/office/drawing/2014/main" id="{95D7F401-6876-6B46-0449-86F82EC7C84E}"/>
              </a:ext>
            </a:extLst>
          </p:cNvPr>
          <p:cNvSpPr txBox="1"/>
          <p:nvPr/>
        </p:nvSpPr>
        <p:spPr>
          <a:xfrm>
            <a:off x="9130296" y="5346763"/>
            <a:ext cx="437297" cy="37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2800" dirty="0"/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85A0B1D9-6128-3581-F270-ABD8F6DCA659}"/>
              </a:ext>
            </a:extLst>
          </p:cNvPr>
          <p:cNvGrpSpPr/>
          <p:nvPr/>
        </p:nvGrpSpPr>
        <p:grpSpPr>
          <a:xfrm>
            <a:off x="9661035" y="5076438"/>
            <a:ext cx="2045113" cy="901895"/>
            <a:chOff x="3175782" y="5113327"/>
            <a:chExt cx="1446303" cy="744785"/>
          </a:xfrm>
        </p:grpSpPr>
        <p:sp>
          <p:nvSpPr>
            <p:cNvPr id="97" name="Shape 20">
              <a:extLst>
                <a:ext uri="{FF2B5EF4-FFF2-40B4-BE49-F238E27FC236}">
                  <a16:creationId xmlns:a16="http://schemas.microsoft.com/office/drawing/2014/main" id="{8BCF789A-E9FD-D13A-956E-0531B4C4232B}"/>
                </a:ext>
              </a:extLst>
            </p:cNvPr>
            <p:cNvSpPr/>
            <p:nvPr/>
          </p:nvSpPr>
          <p:spPr>
            <a:xfrm>
              <a:off x="3175782" y="5113327"/>
              <a:ext cx="1446303" cy="744785"/>
            </a:xfrm>
            <a:prstGeom prst="roundRect">
              <a:avLst>
                <a:gd name="adj" fmla="val 22836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100" name="Text 21">
              <a:extLst>
                <a:ext uri="{FF2B5EF4-FFF2-40B4-BE49-F238E27FC236}">
                  <a16:creationId xmlns:a16="http://schemas.microsoft.com/office/drawing/2014/main" id="{79A6EB0A-9C57-C934-D805-41912502BB36}"/>
                </a:ext>
              </a:extLst>
            </p:cNvPr>
            <p:cNvSpPr txBox="1"/>
            <p:nvPr/>
          </p:nvSpPr>
          <p:spPr>
            <a:xfrm>
              <a:off x="3210328" y="5229238"/>
              <a:ext cx="1377209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3B82F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 (equals)</a:t>
              </a:r>
              <a:endParaRPr lang="en-US" sz="2000" b="1" dirty="0"/>
            </a:p>
          </p:txBody>
        </p:sp>
        <p:sp>
          <p:nvSpPr>
            <p:cNvPr id="101" name="Text 22">
              <a:extLst>
                <a:ext uri="{FF2B5EF4-FFF2-40B4-BE49-F238E27FC236}">
                  <a16:creationId xmlns:a16="http://schemas.microsoft.com/office/drawing/2014/main" id="{BFA46F6E-130B-EE64-CC4D-F444B17719D7}"/>
                </a:ext>
              </a:extLst>
            </p:cNvPr>
            <p:cNvSpPr txBox="1"/>
            <p:nvPr/>
          </p:nvSpPr>
          <p:spPr>
            <a:xfrm>
              <a:off x="3210328" y="5485720"/>
              <a:ext cx="1377209" cy="2577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563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"PA45"</a:t>
              </a:r>
              <a:endParaRPr lang="en-US" sz="2400" dirty="0"/>
            </a:p>
          </p:txBody>
        </p:sp>
      </p:grpSp>
      <p:sp>
        <p:nvSpPr>
          <p:cNvPr id="117" name="Shape 23">
            <a:extLst>
              <a:ext uri="{FF2B5EF4-FFF2-40B4-BE49-F238E27FC236}">
                <a16:creationId xmlns:a16="http://schemas.microsoft.com/office/drawing/2014/main" id="{B4D99BFF-EAAB-B213-049A-B9F780058908}"/>
              </a:ext>
            </a:extLst>
          </p:cNvPr>
          <p:cNvSpPr/>
          <p:nvPr/>
        </p:nvSpPr>
        <p:spPr>
          <a:xfrm>
            <a:off x="6314603" y="6083263"/>
            <a:ext cx="5179498" cy="410618"/>
          </a:xfrm>
          <a:prstGeom prst="roundRect">
            <a:avLst>
              <a:gd name="adj" fmla="val 75075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1B00BB4E-787B-DA1F-F95E-BC45467CC5D4}"/>
              </a:ext>
            </a:extLst>
          </p:cNvPr>
          <p:cNvSpPr txBox="1"/>
          <p:nvPr/>
        </p:nvSpPr>
        <p:spPr>
          <a:xfrm>
            <a:off x="7415834" y="6133714"/>
            <a:ext cx="4290315" cy="30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8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結果：True </a:t>
            </a:r>
            <a:r>
              <a:rPr 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狙い通り</a:t>
            </a:r>
            <a:r>
              <a:rPr 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！）</a:t>
            </a:r>
            <a:endParaRPr lang="en-US" sz="2800" dirty="0">
              <a:solidFill>
                <a:srgbClr val="0000CC"/>
              </a:solidFill>
            </a:endParaRPr>
          </a:p>
        </p:txBody>
      </p:sp>
      <p:pic>
        <p:nvPicPr>
          <p:cNvPr id="119" name="Image 19" descr="preencoded.png">
            <a:extLst>
              <a:ext uri="{FF2B5EF4-FFF2-40B4-BE49-F238E27FC236}">
                <a16:creationId xmlns:a16="http://schemas.microsoft.com/office/drawing/2014/main" id="{98263A22-83EE-81C8-F180-BD60A4164B8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6591430" y="6094089"/>
            <a:ext cx="358519" cy="410088"/>
          </a:xfrm>
          <a:prstGeom prst="rect">
            <a:avLst/>
          </a:prstGeom>
        </p:spPr>
      </p:pic>
      <p:pic>
        <p:nvPicPr>
          <p:cNvPr id="125" name="図 124" descr="The image depicts a cartoon character with a pale blue shirt and a blue collar, standing in a thoughtful pose with an open mouth and a question mark.&#10;&#10;AI 生成コンテンツは誤りを含む可能性があります。">
            <a:extLst>
              <a:ext uri="{FF2B5EF4-FFF2-40B4-BE49-F238E27FC236}">
                <a16:creationId xmlns:a16="http://schemas.microsoft.com/office/drawing/2014/main" id="{63B00FAB-CADF-FA9A-4FEB-C445CB6B21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7589" y="2139252"/>
            <a:ext cx="1485545" cy="17010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8" name="図 127" descr="The image depicts a cartoon character with a blue shirt, yellow hair, and a heart symbol above its eyes.&#10;&#10;AI 生成コンテンツは誤りを含む可能性があります。">
            <a:extLst>
              <a:ext uri="{FF2B5EF4-FFF2-40B4-BE49-F238E27FC236}">
                <a16:creationId xmlns:a16="http://schemas.microsoft.com/office/drawing/2014/main" id="{E32E76A0-E3C5-6E2B-7D8A-D758BF50D4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56506" y="2138419"/>
            <a:ext cx="1634298" cy="18713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FDDDFBE5-2C23-9207-1CD1-1C6FB5F655F1}"/>
              </a:ext>
            </a:extLst>
          </p:cNvPr>
          <p:cNvCxnSpPr>
            <a:cxnSpLocks/>
          </p:cNvCxnSpPr>
          <p:nvPr/>
        </p:nvCxnSpPr>
        <p:spPr>
          <a:xfrm>
            <a:off x="4110210" y="1712072"/>
            <a:ext cx="1875058" cy="28253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