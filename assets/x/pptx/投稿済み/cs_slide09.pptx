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図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363340E9-78D1-4A60-8A50-D960B94F06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19"/>
          <a:stretch>
            <a:fillRect/>
          </a:stretch>
        </p:blipFill>
        <p:spPr>
          <a:xfrm>
            <a:off x="1984469" y="1624755"/>
            <a:ext cx="7979351" cy="49467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CE7C2D9-7C7D-DB3C-EF00-0850C1347A81}"/>
              </a:ext>
            </a:extLst>
          </p:cNvPr>
          <p:cNvSpPr txBox="1"/>
          <p:nvPr/>
        </p:nvSpPr>
        <p:spPr>
          <a:xfrm>
            <a:off x="364029" y="197292"/>
            <a:ext cx="110778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4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｜カスタムプロンプト画面の役割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7D5C4CC-3391-6766-DCEA-FDE0EB449C60}"/>
              </a:ext>
            </a:extLst>
          </p:cNvPr>
          <p:cNvSpPr/>
          <p:nvPr/>
        </p:nvSpPr>
        <p:spPr>
          <a:xfrm>
            <a:off x="72315" y="65312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45B4D0A-7B1C-9244-6FAC-3ADAD4478CFC}"/>
              </a:ext>
            </a:extLst>
          </p:cNvPr>
          <p:cNvSpPr txBox="1"/>
          <p:nvPr/>
        </p:nvSpPr>
        <p:spPr>
          <a:xfrm>
            <a:off x="10062878" y="1858135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結果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C3A3FFF1-CA60-8854-509D-951CE5CCC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36928" y="916869"/>
            <a:ext cx="673802" cy="70788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4A253526-3F2C-8DC8-4026-55BF535FAEBA}"/>
              </a:ext>
            </a:extLst>
          </p:cNvPr>
          <p:cNvSpPr/>
          <p:nvPr/>
        </p:nvSpPr>
        <p:spPr>
          <a:xfrm>
            <a:off x="2228179" y="2454696"/>
            <a:ext cx="3572227" cy="1101304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D058285A-0E11-939A-1162-A5BD8AB908AD}"/>
              </a:ext>
            </a:extLst>
          </p:cNvPr>
          <p:cNvSpPr/>
          <p:nvPr/>
        </p:nvSpPr>
        <p:spPr>
          <a:xfrm>
            <a:off x="1775165" y="2054005"/>
            <a:ext cx="551888" cy="410964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61C76BD-6C7A-642E-E090-F7B37FAB679F}"/>
              </a:ext>
            </a:extLst>
          </p:cNvPr>
          <p:cNvSpPr txBox="1"/>
          <p:nvPr/>
        </p:nvSpPr>
        <p:spPr>
          <a:xfrm>
            <a:off x="2366809" y="2510839"/>
            <a:ext cx="33244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Copilot</a:t>
            </a: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に守らせたいこと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・役割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・やって</a:t>
            </a:r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OK</a:t>
            </a: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</a:t>
            </a:r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NG</a:t>
            </a: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なこと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CD58472-C7EF-AA66-C641-156CF6E69E0D}"/>
              </a:ext>
            </a:extLst>
          </p:cNvPr>
          <p:cNvSpPr/>
          <p:nvPr/>
        </p:nvSpPr>
        <p:spPr>
          <a:xfrm>
            <a:off x="2294328" y="3990588"/>
            <a:ext cx="3572227" cy="479337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F242AA6-7E7D-6154-3B4B-52B22376AE5B}"/>
              </a:ext>
            </a:extLst>
          </p:cNvPr>
          <p:cNvSpPr txBox="1"/>
          <p:nvPr/>
        </p:nvSpPr>
        <p:spPr>
          <a:xfrm>
            <a:off x="2418192" y="4079777"/>
            <a:ext cx="3490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プロンプトに渡す材料の追加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F9DADD2-D234-D6A9-73DA-C484E21243A9}"/>
              </a:ext>
            </a:extLst>
          </p:cNvPr>
          <p:cNvSpPr/>
          <p:nvPr/>
        </p:nvSpPr>
        <p:spPr>
          <a:xfrm>
            <a:off x="6220696" y="2454695"/>
            <a:ext cx="3826333" cy="2567973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F20DB68-1562-B2D3-731D-49156A83F53A}"/>
              </a:ext>
            </a:extLst>
          </p:cNvPr>
          <p:cNvSpPr txBox="1"/>
          <p:nvPr/>
        </p:nvSpPr>
        <p:spPr>
          <a:xfrm>
            <a:off x="6288809" y="2556645"/>
            <a:ext cx="3837566" cy="2356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テスト結果を見る場所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チェックポイントは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・支持を守っているか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・出力形式が崩れてないか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・余計なことを言っていないか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8BC50A7-54EC-722E-A7E4-B5B84A916B73}"/>
              </a:ext>
            </a:extLst>
          </p:cNvPr>
          <p:cNvSpPr txBox="1"/>
          <p:nvPr/>
        </p:nvSpPr>
        <p:spPr>
          <a:xfrm>
            <a:off x="182212" y="1825148"/>
            <a:ext cx="17284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指示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" name="図 29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80D66D78-4B41-955B-1C22-21197AB16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226" y="900403"/>
            <a:ext cx="608166" cy="584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B2A491A-1D71-BAF7-AB96-2D21895ED62E}"/>
              </a:ext>
            </a:extLst>
          </p:cNvPr>
          <p:cNvSpPr txBox="1"/>
          <p:nvPr/>
        </p:nvSpPr>
        <p:spPr>
          <a:xfrm>
            <a:off x="1077566" y="950791"/>
            <a:ext cx="105091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「実行」ではなく「思考・生成の設計」をする画面</a:t>
            </a:r>
            <a:endParaRPr lang="en-US" altLang="ja-JP" sz="24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6BF14B5-533C-B871-1840-BA00D27EB023}"/>
              </a:ext>
            </a:extLst>
          </p:cNvPr>
          <p:cNvSpPr txBox="1"/>
          <p:nvPr/>
        </p:nvSpPr>
        <p:spPr>
          <a:xfrm>
            <a:off x="156985" y="3843886"/>
            <a:ext cx="17284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材料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4" name="図 3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4FBF71B5-21E8-9EEE-8035-5F2F78D829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5625" b="83789" l="15430" r="86719">
                        <a14:foregroundMark x1="15430" y1="35547" x2="15820" y2="64844"/>
                        <a14:foregroundMark x1="35352" y1="42383" x2="35547" y2="56250"/>
                        <a14:foregroundMark x1="35547" y1="56250" x2="27344" y2="57422"/>
                        <a14:foregroundMark x1="29297" y1="43555" x2="35156" y2="58008"/>
                        <a14:foregroundMark x1="35156" y1="58008" x2="26953" y2="57617"/>
                        <a14:foregroundMark x1="33398" y1="43750" x2="31641" y2="43750"/>
                        <a14:foregroundMark x1="27734" y1="44727" x2="26563" y2="46680"/>
                        <a14:foregroundMark x1="48047" y1="18555" x2="48047" y2="18555"/>
                        <a14:foregroundMark x1="47070" y1="15625" x2="47070" y2="15625"/>
                        <a14:foregroundMark x1="83789" y1="54492" x2="83789" y2="54492"/>
                        <a14:foregroundMark x1="86914" y1="54883" x2="86914" y2="54883"/>
                        <a14:foregroundMark x1="53906" y1="83789" x2="53906" y2="83789"/>
                        <a14:foregroundMark x1="34961" y1="42773" x2="34961" y2="42773"/>
                        <a14:foregroundMark x1="29883" y1="42969" x2="29883" y2="42969"/>
                        <a14:foregroundMark x1="31250" y1="60547" x2="31250" y2="605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16" t="13004" r="10134" b="13004"/>
          <a:stretch>
            <a:fillRect/>
          </a:stretch>
        </p:blipFill>
        <p:spPr>
          <a:xfrm>
            <a:off x="364029" y="5245106"/>
            <a:ext cx="796297" cy="748196"/>
          </a:xfrm>
          <a:prstGeom prst="rect">
            <a:avLst/>
          </a:prstGeom>
        </p:spPr>
      </p:pic>
      <p:pic>
        <p:nvPicPr>
          <p:cNvPr id="36" name="図 35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F180F42F-6132-833A-00E0-74F9B6256D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47" y="5789635"/>
            <a:ext cx="778838" cy="681557"/>
          </a:xfrm>
          <a:prstGeom prst="rect">
            <a:avLst/>
          </a:prstGeom>
        </p:spPr>
      </p:pic>
      <p:sp>
        <p:nvSpPr>
          <p:cNvPr id="37" name="矢印: 右 36">
            <a:extLst>
              <a:ext uri="{FF2B5EF4-FFF2-40B4-BE49-F238E27FC236}">
                <a16:creationId xmlns:a16="http://schemas.microsoft.com/office/drawing/2014/main" id="{D7E9B25A-D493-E0EB-9472-CDB1303B16E6}"/>
              </a:ext>
            </a:extLst>
          </p:cNvPr>
          <p:cNvSpPr/>
          <p:nvPr/>
        </p:nvSpPr>
        <p:spPr>
          <a:xfrm>
            <a:off x="1742438" y="4058961"/>
            <a:ext cx="551888" cy="410964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370E9EB-FB65-EE23-72AF-5B58B81DEBD5}"/>
              </a:ext>
            </a:extLst>
          </p:cNvPr>
          <p:cNvSpPr txBox="1"/>
          <p:nvPr/>
        </p:nvSpPr>
        <p:spPr>
          <a:xfrm>
            <a:off x="545812" y="2680044"/>
            <a:ext cx="1353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はココ！</a:t>
            </a:r>
            <a:endParaRPr lang="en-US" altLang="ja-JP" sz="1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85D4AEB-7567-129C-1730-BC4B42D55A20}"/>
              </a:ext>
            </a:extLst>
          </p:cNvPr>
          <p:cNvSpPr txBox="1"/>
          <p:nvPr/>
        </p:nvSpPr>
        <p:spPr>
          <a:xfrm>
            <a:off x="589311" y="4715807"/>
            <a:ext cx="1353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はココ！</a:t>
            </a:r>
            <a:endParaRPr lang="en-US" altLang="ja-JP" sz="1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CAF391-66DD-6C5A-A656-A69FEC12C56C}"/>
              </a:ext>
            </a:extLst>
          </p:cNvPr>
          <p:cNvSpPr txBox="1"/>
          <p:nvPr/>
        </p:nvSpPr>
        <p:spPr>
          <a:xfrm>
            <a:off x="10496687" y="2710732"/>
            <a:ext cx="1353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はココ！</a:t>
            </a:r>
            <a:endParaRPr lang="en-US" altLang="ja-JP" sz="1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図 6" descr="おもちゃ, 人形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A15433E-28F3-85E1-E3D2-954D9345C2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993" y="4642033"/>
            <a:ext cx="1855720" cy="185572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F13F99-10FF-7DE4-5650-2E0FBE990B48}"/>
              </a:ext>
            </a:extLst>
          </p:cNvPr>
          <p:cNvSpPr txBox="1"/>
          <p:nvPr/>
        </p:nvSpPr>
        <p:spPr>
          <a:xfrm rot="352564">
            <a:off x="10397856" y="3705649"/>
            <a:ext cx="18894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各エリアの</a:t>
            </a:r>
            <a:endParaRPr lang="en-US" altLang="ja-JP" sz="16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役割を覚えよ～</a:t>
            </a:r>
            <a:endParaRPr lang="en-US" altLang="ja-JP" sz="1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0A90206-507F-E992-012C-B560C7BEF05A}"/>
              </a:ext>
            </a:extLst>
          </p:cNvPr>
          <p:cNvCxnSpPr>
            <a:cxnSpLocks/>
          </p:cNvCxnSpPr>
          <p:nvPr/>
        </p:nvCxnSpPr>
        <p:spPr>
          <a:xfrm flipH="1">
            <a:off x="11494191" y="4352097"/>
            <a:ext cx="185126" cy="235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9B9A4B1-7969-2F3A-E09F-7C3D2B351CEC}"/>
              </a:ext>
            </a:extLst>
          </p:cNvPr>
          <p:cNvCxnSpPr/>
          <p:nvPr/>
        </p:nvCxnSpPr>
        <p:spPr>
          <a:xfrm>
            <a:off x="10770493" y="4338889"/>
            <a:ext cx="212436" cy="2664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