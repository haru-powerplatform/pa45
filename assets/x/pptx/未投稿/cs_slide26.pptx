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図 20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00A4FA0-EFBF-8E85-CBE9-2CAE086CF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73" y="3045615"/>
            <a:ext cx="3439163" cy="36323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D8A399B-DB06-C563-95B7-A49328EE8FD4}"/>
              </a:ext>
            </a:extLst>
          </p:cNvPr>
          <p:cNvSpPr txBox="1"/>
          <p:nvPr/>
        </p:nvSpPr>
        <p:spPr>
          <a:xfrm>
            <a:off x="261260" y="-60623"/>
            <a:ext cx="12335692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【】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DE22FAC-6221-1575-07E3-AE6DCCB2EFEB}"/>
              </a:ext>
            </a:extLst>
          </p:cNvPr>
          <p:cNvSpPr/>
          <p:nvPr/>
        </p:nvSpPr>
        <p:spPr>
          <a:xfrm>
            <a:off x="54428" y="65314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D45900EE-5ACB-796A-2ACE-99AE1D76A5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9267" y="177076"/>
            <a:ext cx="1091521" cy="109152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CEA7FF-DAED-9262-CFA7-6FDEDEE56DCC}"/>
              </a:ext>
            </a:extLst>
          </p:cNvPr>
          <p:cNvSpPr txBox="1"/>
          <p:nvPr/>
        </p:nvSpPr>
        <p:spPr>
          <a:xfrm>
            <a:off x="276973" y="1375259"/>
            <a:ext cx="3439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動的コンテンツで選ぶ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ACA0B9-C3B1-B410-0E80-D6C155AF6D4D}"/>
              </a:ext>
            </a:extLst>
          </p:cNvPr>
          <p:cNvSpPr txBox="1"/>
          <p:nvPr/>
        </p:nvSpPr>
        <p:spPr>
          <a:xfrm>
            <a:off x="215866" y="496976"/>
            <a:ext cx="1192170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動的コンテンツを使うと式を理解してなくても使えてしまう問題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812C434-21EA-6190-76A5-7AC528701070}"/>
              </a:ext>
            </a:extLst>
          </p:cNvPr>
          <p:cNvSpPr/>
          <p:nvPr/>
        </p:nvSpPr>
        <p:spPr>
          <a:xfrm>
            <a:off x="8591810" y="2501100"/>
            <a:ext cx="1018016" cy="350362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429671A-9EB3-51ED-5287-90934AF22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492" y="2265947"/>
            <a:ext cx="5336402" cy="3306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7F78099-1956-2FC1-AF37-FCD6957DFA79}"/>
              </a:ext>
            </a:extLst>
          </p:cNvPr>
          <p:cNvSpPr txBox="1"/>
          <p:nvPr/>
        </p:nvSpPr>
        <p:spPr>
          <a:xfrm>
            <a:off x="5016492" y="1305585"/>
            <a:ext cx="65598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自分で式を書いてみると、、。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式の意味が理解できるので、応用が利く！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F914BB2-8CA5-9200-F8C3-14DA9083E8DF}"/>
              </a:ext>
            </a:extLst>
          </p:cNvPr>
          <p:cNvSpPr txBox="1"/>
          <p:nvPr/>
        </p:nvSpPr>
        <p:spPr>
          <a:xfrm>
            <a:off x="205765" y="1871834"/>
            <a:ext cx="43662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選ぶだけだから、簡単！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でも、、、、。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式の中身の理解が進まない。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B3BB8328-A5F5-A98B-7352-D4F654A5BCDE}"/>
              </a:ext>
            </a:extLst>
          </p:cNvPr>
          <p:cNvSpPr/>
          <p:nvPr/>
        </p:nvSpPr>
        <p:spPr>
          <a:xfrm>
            <a:off x="2665087" y="6336207"/>
            <a:ext cx="987880" cy="423124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F523A945-D626-3DE4-BC4E-D7A2AFBAC138}"/>
              </a:ext>
            </a:extLst>
          </p:cNvPr>
          <p:cNvSpPr/>
          <p:nvPr/>
        </p:nvSpPr>
        <p:spPr>
          <a:xfrm>
            <a:off x="3728107" y="1303449"/>
            <a:ext cx="843893" cy="533475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18DA992-8209-7620-FA06-07217921C4BB}"/>
              </a:ext>
            </a:extLst>
          </p:cNvPr>
          <p:cNvSpPr/>
          <p:nvPr/>
        </p:nvSpPr>
        <p:spPr>
          <a:xfrm>
            <a:off x="8384255" y="2659617"/>
            <a:ext cx="1951287" cy="423124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7480D9C-E201-CC05-5EE9-58675459D262}"/>
              </a:ext>
            </a:extLst>
          </p:cNvPr>
          <p:cNvSpPr txBox="1"/>
          <p:nvPr/>
        </p:nvSpPr>
        <p:spPr>
          <a:xfrm>
            <a:off x="6595768" y="3919357"/>
            <a:ext cx="5148123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item()?['Status’] </a:t>
            </a: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＝“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1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行分のデータ”の中から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Status 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という列の値を取り出している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74BDF15B-75E9-9B93-321B-C3280E29D5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13" y="5431467"/>
            <a:ext cx="1178815" cy="13866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7" name="図 36" descr="帽子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0BC22D4-6DC0-01CE-900A-8850CC085A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7386" y="5210107"/>
            <a:ext cx="1268735" cy="1492390"/>
          </a:xfrm>
          <a:prstGeom prst="rect">
            <a:avLst/>
          </a:prstGeom>
        </p:spPr>
      </p:pic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8E5EB50D-C1F8-67D5-62E5-9A62F0F68F75}"/>
              </a:ext>
            </a:extLst>
          </p:cNvPr>
          <p:cNvCxnSpPr>
            <a:cxnSpLocks/>
          </p:cNvCxnSpPr>
          <p:nvPr/>
        </p:nvCxnSpPr>
        <p:spPr>
          <a:xfrm flipV="1">
            <a:off x="8891339" y="3134264"/>
            <a:ext cx="278490" cy="80057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0B8ACC0-5728-1E42-172D-5932F49C10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905" y="5698704"/>
            <a:ext cx="4421846" cy="875466"/>
          </a:xfrm>
          <a:prstGeom prst="rect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46" name="図 45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5BBAC0BD-721F-1745-0C9E-E498E6AF0F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5625" b="83789" l="15430" r="86719">
                        <a14:foregroundMark x1="15430" y1="35547" x2="15820" y2="64844"/>
                        <a14:foregroundMark x1="35352" y1="42383" x2="35547" y2="56250"/>
                        <a14:foregroundMark x1="35547" y1="56250" x2="27344" y2="57422"/>
                        <a14:foregroundMark x1="29297" y1="43555" x2="35156" y2="58008"/>
                        <a14:foregroundMark x1="35156" y1="58008" x2="26953" y2="57617"/>
                        <a14:foregroundMark x1="33398" y1="43750" x2="31641" y2="43750"/>
                        <a14:foregroundMark x1="27734" y1="44727" x2="26563" y2="46680"/>
                        <a14:foregroundMark x1="48047" y1="18555" x2="48047" y2="18555"/>
                        <a14:foregroundMark x1="47070" y1="15625" x2="47070" y2="15625"/>
                        <a14:foregroundMark x1="83789" y1="54492" x2="83789" y2="54492"/>
                        <a14:foregroundMark x1="86914" y1="54883" x2="86914" y2="54883"/>
                        <a14:foregroundMark x1="53906" y1="83789" x2="53906" y2="83789"/>
                        <a14:foregroundMark x1="34961" y1="42773" x2="34961" y2="42773"/>
                        <a14:foregroundMark x1="29883" y1="42969" x2="29883" y2="42969"/>
                        <a14:foregroundMark x1="31250" y1="60547" x2="31250" y2="60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16" t="13004" r="10134" b="13004"/>
          <a:stretch>
            <a:fillRect/>
          </a:stretch>
        </p:blipFill>
        <p:spPr>
          <a:xfrm>
            <a:off x="5134548" y="5825974"/>
            <a:ext cx="796297" cy="748196"/>
          </a:xfrm>
          <a:prstGeom prst="rect">
            <a:avLst/>
          </a:prstGeom>
        </p:spPr>
      </p:pic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1A782FA5-E865-60BC-5690-4D661E20AC81}"/>
              </a:ext>
            </a:extLst>
          </p:cNvPr>
          <p:cNvSpPr/>
          <p:nvPr/>
        </p:nvSpPr>
        <p:spPr>
          <a:xfrm>
            <a:off x="9599498" y="5656562"/>
            <a:ext cx="852254" cy="917607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FAD3B47F-F23F-25F2-BC5A-EA4EB279B02B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9633452" y="5161828"/>
            <a:ext cx="392173" cy="4947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