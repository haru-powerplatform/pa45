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77BAC5B-CCAF-578A-FF7D-A42AB75D49F8}"/>
              </a:ext>
            </a:extLst>
          </p:cNvPr>
          <p:cNvSpPr/>
          <p:nvPr/>
        </p:nvSpPr>
        <p:spPr>
          <a:xfrm>
            <a:off x="58783" y="451199"/>
            <a:ext cx="12133217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CF981C4C-46CF-8ADD-9E23-4626F461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2148" y="76869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B5563"/>
                </a:solidFill>
              </a:rPr>
              <a:t>💡 手動連絡をゼロに！1アクションでTeams通知を自動化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51" y="1468523"/>
            <a:ext cx="2834640" cy="88878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🔔 トリガー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（承認完了・フォーム送信など）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2553" y="1463604"/>
            <a:ext cx="3224628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⚙️ アクション設定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「チャットでメッセージを送信する」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311" y="1458976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Teams送信 完了！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チャットにメッセージ着信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620" y="2553233"/>
            <a:ext cx="5120640" cy="20299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2563EB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7348" y="2619355"/>
            <a:ext cx="438912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🔧 設定する3つの項目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46" y="3134755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送信先の種類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0464" y="3124673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「チャット」を選択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67" y="3505879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受信者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058" y="3536134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 or 名前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34" y="3937128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メッセージ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058" y="3984190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テキスト or 動的コンテンツ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16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66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6736" y="481190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⚠️ つまずきポイント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36" y="5323843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・「チャット」と「チャンネル」を混同しない！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736" y="5743449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・サインインの権限を事前に確認する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36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・動的コンテンツの型（テキスト）に注意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52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25248" y="481919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これができるようになる！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5248" y="5328704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・通知漏れゼロ・手動連絡が不要に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5248" y="574588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・リアルタイムで情報共有が可能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5248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・承認結果などを即座にチームへ通知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F0602F30-B817-86A3-CB16-4C3FF558A1F5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D74DBED6-F512-2E3A-3101-EF143A62C498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Vol.13</a:t>
            </a:r>
            <a:endParaRPr lang="en-US" sz="3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71F5E08F-7BAD-BA9E-7782-299F14CAB777}"/>
              </a:ext>
            </a:extLst>
          </p:cNvPr>
          <p:cNvSpPr txBox="1"/>
          <p:nvPr/>
        </p:nvSpPr>
        <p:spPr>
          <a:xfrm>
            <a:off x="1826709" y="129388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のチャットへ自動でメッセージを送る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61A7CB62-666A-2421-2A91-0513D9130910}"/>
              </a:ext>
            </a:extLst>
          </p:cNvPr>
          <p:cNvSpPr/>
          <p:nvPr/>
        </p:nvSpPr>
        <p:spPr>
          <a:xfrm>
            <a:off x="171145" y="84127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6404868D-E989-A2E8-B582-D52F90A9FAFD}"/>
              </a:ext>
            </a:extLst>
          </p:cNvPr>
          <p:cNvSpPr/>
          <p:nvPr/>
        </p:nvSpPr>
        <p:spPr>
          <a:xfrm>
            <a:off x="587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70568B00-A950-F767-4CC9-9FDD18AE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2F8A503-DFC7-0736-A475-CFE2C01ECA50}"/>
              </a:ext>
            </a:extLst>
          </p:cNvPr>
          <p:cNvGrpSpPr/>
          <p:nvPr/>
        </p:nvGrpSpPr>
        <p:grpSpPr>
          <a:xfrm>
            <a:off x="165494" y="4709911"/>
            <a:ext cx="495147" cy="474885"/>
            <a:chOff x="267005" y="4036906"/>
            <a:chExt cx="304495" cy="304495"/>
          </a:xfrm>
        </p:grpSpPr>
        <p:pic>
          <p:nvPicPr>
            <p:cNvPr id="56" name="Image 28" descr="preencoded.png">
              <a:extLst>
                <a:ext uri="{FF2B5EF4-FFF2-40B4-BE49-F238E27FC236}">
                  <a16:creationId xmlns:a16="http://schemas.microsoft.com/office/drawing/2014/main" id="{F7BE6C86-5988-4A7B-550A-5ACDAD40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57" name="Text 37">
              <a:extLst>
                <a:ext uri="{FF2B5EF4-FFF2-40B4-BE49-F238E27FC236}">
                  <a16:creationId xmlns:a16="http://schemas.microsoft.com/office/drawing/2014/main" id="{86532462-AA2A-44BF-0E4B-EAF038C26E92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pic>
        <p:nvPicPr>
          <p:cNvPr id="62" name="図 6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2D5C8DF-8B71-C39A-D6C4-9AC0EB926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218" y="2431"/>
            <a:ext cx="2966999" cy="13526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4" name="図 6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C014BC69-848B-AD75-4D4A-D97C3A4032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683"/>
          <a:stretch>
            <a:fillRect/>
          </a:stretch>
        </p:blipFill>
        <p:spPr>
          <a:xfrm>
            <a:off x="6052994" y="2541968"/>
            <a:ext cx="2540222" cy="2036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6" name="図 65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D988CB25-724F-BDB5-68A8-1E59A97A15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4704" y="2268819"/>
            <a:ext cx="1293084" cy="1293084"/>
          </a:xfrm>
          <a:prstGeom prst="rect">
            <a:avLst/>
          </a:prstGeom>
        </p:spPr>
      </p:pic>
      <p:pic>
        <p:nvPicPr>
          <p:cNvPr id="68" name="図 6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2551C1F-5A74-CA20-1290-075F68BD03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53" y="3121087"/>
            <a:ext cx="2902375" cy="1457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A47B4947-D04A-E16F-1361-87F85958B36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7149146" y="1425861"/>
            <a:ext cx="520848" cy="1040033"/>
          </a:xfrm>
          <a:prstGeom prst="rect">
            <a:avLst/>
          </a:prstGeom>
        </p:spPr>
      </p:pic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0B549F69-C066-54B9-41A9-27D27AA00C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3132901" y="1381245"/>
            <a:ext cx="520848" cy="1040033"/>
          </a:xfrm>
          <a:prstGeom prst="rect">
            <a:avLst/>
          </a:prstGeom>
        </p:spPr>
      </p:pic>
      <p:pic>
        <p:nvPicPr>
          <p:cNvPr id="72" name="図 71" descr="A cheerful blue bird is perched on a red mailbox, peering curiously at a blue envelope inside.&#10;&#10;AI 生成コンテンツは誤りを含む可能性があります。">
            <a:extLst>
              <a:ext uri="{FF2B5EF4-FFF2-40B4-BE49-F238E27FC236}">
                <a16:creationId xmlns:a16="http://schemas.microsoft.com/office/drawing/2014/main" id="{04B4027E-3D0C-2CF4-5175-E367AD36E7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0351" y="2030775"/>
            <a:ext cx="1791880" cy="1921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4" name="図 73" descr="A cartoon child with orange hair, a smiling face, and a question mark above their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93039BE6-FAF5-B21F-C809-87BD2379B6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0717" y="4704278"/>
            <a:ext cx="1954128" cy="2067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