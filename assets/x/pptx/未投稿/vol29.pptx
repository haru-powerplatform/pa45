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6"/>
  </p:notesMasterIdLst>
  <p:sldIdLst>
    <p:sldId id="256" r:id="rId_slide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_rels/presentation.xml.rels><?xml version='1.0' encoding='UTF-8' standalone='yes'?>
<Relationships xmlns="http://schemas.openxmlformats.org/package/2006/relationships"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" Type="http://schemas.openxmlformats.org/officeDocument/2006/relationships/customXml" Target="../customXml/item2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28" Type="http://schemas.openxmlformats.org/officeDocument/2006/relationships/viewProps" Target="viewProps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_slide1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617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4.png"/><Relationship Id="rId13" Type="http://schemas.openxmlformats.org/officeDocument/2006/relationships/image" Target="../media/image209.png"/><Relationship Id="rId18" Type="http://schemas.openxmlformats.org/officeDocument/2006/relationships/image" Target="../media/image214.png"/><Relationship Id="rId26" Type="http://schemas.openxmlformats.org/officeDocument/2006/relationships/image" Target="../media/image221.png"/><Relationship Id="rId3" Type="http://schemas.openxmlformats.org/officeDocument/2006/relationships/image" Target="../media/image200.png"/><Relationship Id="rId21" Type="http://schemas.openxmlformats.org/officeDocument/2006/relationships/image" Target="../media/image217.png"/><Relationship Id="rId7" Type="http://schemas.openxmlformats.org/officeDocument/2006/relationships/image" Target="../media/image203.png"/><Relationship Id="rId12" Type="http://schemas.openxmlformats.org/officeDocument/2006/relationships/image" Target="../media/image208.png"/><Relationship Id="rId17" Type="http://schemas.openxmlformats.org/officeDocument/2006/relationships/image" Target="../media/image213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212.png"/><Relationship Id="rId20" Type="http://schemas.openxmlformats.org/officeDocument/2006/relationships/image" Target="../media/image216.png"/><Relationship Id="rId29" Type="http://schemas.openxmlformats.org/officeDocument/2006/relationships/image" Target="../media/image9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9.png"/><Relationship Id="rId11" Type="http://schemas.openxmlformats.org/officeDocument/2006/relationships/image" Target="../media/image207.png"/><Relationship Id="rId24" Type="http://schemas.openxmlformats.org/officeDocument/2006/relationships/image" Target="../media/image220.png"/><Relationship Id="rId5" Type="http://schemas.openxmlformats.org/officeDocument/2006/relationships/image" Target="../media/image202.png"/><Relationship Id="rId15" Type="http://schemas.openxmlformats.org/officeDocument/2006/relationships/image" Target="../media/image211.png"/><Relationship Id="rId23" Type="http://schemas.openxmlformats.org/officeDocument/2006/relationships/image" Target="../media/image219.png"/><Relationship Id="rId28" Type="http://schemas.openxmlformats.org/officeDocument/2006/relationships/image" Target="../media/image223.png"/><Relationship Id="rId10" Type="http://schemas.openxmlformats.org/officeDocument/2006/relationships/image" Target="../media/image206.png"/><Relationship Id="rId19" Type="http://schemas.openxmlformats.org/officeDocument/2006/relationships/image" Target="../media/image215.png"/><Relationship Id="rId4" Type="http://schemas.openxmlformats.org/officeDocument/2006/relationships/image" Target="../media/image201.png"/><Relationship Id="rId9" Type="http://schemas.openxmlformats.org/officeDocument/2006/relationships/image" Target="../media/image205.png"/><Relationship Id="rId14" Type="http://schemas.openxmlformats.org/officeDocument/2006/relationships/image" Target="../media/image210.png"/><Relationship Id="rId22" Type="http://schemas.openxmlformats.org/officeDocument/2006/relationships/image" Target="../media/image218.png"/><Relationship Id="rId27" Type="http://schemas.openxmlformats.org/officeDocument/2006/relationships/image" Target="../media/image2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1">
            <a:extLst>
              <a:ext uri="{FF2B5EF4-FFF2-40B4-BE49-F238E27FC236}">
                <a16:creationId xmlns:a16="http://schemas.microsoft.com/office/drawing/2014/main" id="{572DE491-8C53-8AAE-4762-7DD36E63993E}"/>
              </a:ext>
            </a:extLst>
          </p:cNvPr>
          <p:cNvSpPr/>
          <p:nvPr/>
        </p:nvSpPr>
        <p:spPr>
          <a:xfrm>
            <a:off x="-17574" y="7990"/>
            <a:ext cx="12239718" cy="614955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1"/>
          <p:cNvSpPr/>
          <p:nvPr/>
        </p:nvSpPr>
        <p:spPr>
          <a:xfrm>
            <a:off x="457200" y="1162202"/>
            <a:ext cx="112772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3"/>
          <p:cNvSpPr txBox="1"/>
          <p:nvPr/>
        </p:nvSpPr>
        <p:spPr>
          <a:xfrm>
            <a:off x="2216049" y="692670"/>
            <a:ext cx="8356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ja-JP" sz="2800" b="1" u="sng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そんな時こそ</a:t>
            </a:r>
            <a:r>
              <a:rPr lang="en-US" altLang="ja-JP" sz="3600" b="1" u="sng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  if() </a:t>
            </a:r>
            <a:r>
              <a:rPr lang="ja-JP" altLang="en-US" sz="3600" b="1" u="sng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</a:t>
            </a:r>
            <a:r>
              <a:rPr lang="en-US" altLang="ja-JP" sz="2800" b="1" u="sng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が</a:t>
            </a:r>
            <a:r>
              <a:rPr lang="ja-JP" altLang="en-US" sz="2800" b="1" u="sng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おススメ！！</a:t>
            </a:r>
            <a:endParaRPr lang="en-US" sz="3600" u="sng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xt 4"/>
          <p:cNvSpPr txBox="1"/>
          <p:nvPr/>
        </p:nvSpPr>
        <p:spPr>
          <a:xfrm>
            <a:off x="1946337" y="101776"/>
            <a:ext cx="10003849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3200" b="1">
                <a:solidFill>
                  <a:schemeClr val="bg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「条件分岐を</a:t>
            </a:r>
            <a:r>
              <a:rPr lang="en-US" sz="3200" b="1">
                <a:solidFill>
                  <a:schemeClr val="bg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使うほどじゃないんだけど…」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 t="-8" b="-8"/>
          <a:stretch/>
        </p:blipFill>
        <p:spPr>
          <a:xfrm>
            <a:off x="261557" y="1309954"/>
            <a:ext cx="3023882" cy="3881628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rcRect l="-400" r="-400"/>
          <a:stretch/>
        </p:blipFill>
        <p:spPr>
          <a:xfrm>
            <a:off x="194766" y="1319479"/>
            <a:ext cx="122530" cy="3862426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942746" y="1481328"/>
            <a:ext cx="23628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どんな時？ </a:t>
            </a:r>
            <a:endParaRPr lang="en-US" sz="24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51383" y="1433322"/>
            <a:ext cx="333756" cy="333756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6"/>
          <a:srcRect l="-2571" r="-2571"/>
          <a:stretch/>
        </p:blipFill>
        <p:spPr>
          <a:xfrm>
            <a:off x="345733" y="1914297"/>
            <a:ext cx="296759" cy="322564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757706" y="1957539"/>
            <a:ext cx="249539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曜日に合わせて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「平日 / 休日」</a:t>
            </a: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を出したい</a:t>
            </a:r>
            <a:endParaRPr lang="en-US" sz="1600" dirty="0"/>
          </a:p>
        </p:txBody>
      </p:sp>
      <p:sp>
        <p:nvSpPr>
          <p:cNvPr id="16" name="Text 7"/>
          <p:cNvSpPr txBox="1"/>
          <p:nvPr/>
        </p:nvSpPr>
        <p:spPr>
          <a:xfrm>
            <a:off x="836837" y="2612123"/>
            <a:ext cx="2178908" cy="36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空欄なら</a:t>
            </a: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「未設定</a:t>
            </a:r>
            <a:r>
              <a:rPr lang="en-US" sz="16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」</a:t>
            </a:r>
            <a:r>
              <a:rPr lang="en-US" sz="16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</a:t>
            </a:r>
          </a:p>
          <a:p>
            <a:pPr marL="0" indent="0" algn="l">
              <a:buNone/>
            </a:pPr>
            <a:r>
              <a:rPr lang="en-US" sz="16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返したい</a:t>
            </a:r>
            <a:endParaRPr lang="en-US" sz="1600" dirty="0"/>
          </a:p>
        </p:txBody>
      </p:sp>
      <p:sp>
        <p:nvSpPr>
          <p:cNvPr id="18" name="Text 8"/>
          <p:cNvSpPr txBox="1"/>
          <p:nvPr/>
        </p:nvSpPr>
        <p:spPr>
          <a:xfrm>
            <a:off x="801620" y="3267792"/>
            <a:ext cx="228455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true/false を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「承認 / 未承認」</a:t>
            </a: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に変換</a:t>
            </a:r>
            <a:endParaRPr lang="en-US" sz="1600" dirty="0"/>
          </a:p>
        </p:txBody>
      </p:sp>
      <p:sp>
        <p:nvSpPr>
          <p:cNvPr id="20" name="Text 9"/>
          <p:cNvSpPr txBox="1"/>
          <p:nvPr/>
        </p:nvSpPr>
        <p:spPr>
          <a:xfrm>
            <a:off x="898097" y="3966318"/>
            <a:ext cx="215417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“失敗したら別の値” を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返したいだけ</a:t>
            </a:r>
            <a:endParaRPr lang="en-US" sz="1600" dirty="0"/>
          </a:p>
        </p:txBody>
      </p:sp>
      <p:sp>
        <p:nvSpPr>
          <p:cNvPr id="21" name="Shape 10"/>
          <p:cNvSpPr/>
          <p:nvPr/>
        </p:nvSpPr>
        <p:spPr>
          <a:xfrm>
            <a:off x="409397" y="4491183"/>
            <a:ext cx="2776716" cy="559506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11"/>
          <p:cNvSpPr txBox="1"/>
          <p:nvPr/>
        </p:nvSpPr>
        <p:spPr>
          <a:xfrm>
            <a:off x="632765" y="4663021"/>
            <a:ext cx="24195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値を返すだけなら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Condition は重すぎる！</a:t>
            </a:r>
            <a:endParaRPr lang="en-US" sz="1600" dirty="0"/>
          </a:p>
        </p:txBody>
      </p:sp>
      <p:pic>
        <p:nvPicPr>
          <p:cNvPr id="23" name="Image 9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396282" y="1348798"/>
            <a:ext cx="2000709" cy="3801882"/>
          </a:xfrm>
          <a:prstGeom prst="rect">
            <a:avLst/>
          </a:prstGeom>
        </p:spPr>
      </p:pic>
      <p:sp>
        <p:nvSpPr>
          <p:cNvPr id="24" name="Shape 12"/>
          <p:cNvSpPr/>
          <p:nvPr/>
        </p:nvSpPr>
        <p:spPr>
          <a:xfrm>
            <a:off x="3424098" y="1224382"/>
            <a:ext cx="2016252" cy="933172"/>
          </a:xfrm>
          <a:prstGeom prst="roundRect">
            <a:avLst>
              <a:gd name="adj" fmla="val 27186"/>
            </a:avLst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13"/>
          <p:cNvSpPr/>
          <p:nvPr/>
        </p:nvSpPr>
        <p:spPr>
          <a:xfrm>
            <a:off x="3731154" y="1500782"/>
            <a:ext cx="1776680" cy="3438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ja-JP" altLang="en-US" sz="2400" b="1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条件分岐</a:t>
            </a:r>
            <a:r>
              <a:rPr lang="en-US" sz="2400" b="1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Condition </a:t>
            </a:r>
          </a:p>
        </p:txBody>
      </p:sp>
      <p:pic>
        <p:nvPicPr>
          <p:cNvPr id="26" name="Image 10" descr="preencoded.png"/>
          <p:cNvPicPr>
            <a:picLocks noChangeAspect="1"/>
          </p:cNvPicPr>
          <p:nvPr/>
        </p:nvPicPr>
        <p:blipFill>
          <a:blip r:embed="rId8"/>
          <a:srcRect l="-133" r="-133"/>
          <a:stretch/>
        </p:blipFill>
        <p:spPr>
          <a:xfrm>
            <a:off x="3467404" y="1295705"/>
            <a:ext cx="320041" cy="425584"/>
          </a:xfrm>
          <a:prstGeom prst="rect">
            <a:avLst/>
          </a:prstGeom>
        </p:spPr>
      </p:pic>
      <p:sp>
        <p:nvSpPr>
          <p:cNvPr id="27" name="Shape 14"/>
          <p:cNvSpPr/>
          <p:nvPr/>
        </p:nvSpPr>
        <p:spPr>
          <a:xfrm>
            <a:off x="3702403" y="2243827"/>
            <a:ext cx="1532536" cy="873363"/>
          </a:xfrm>
          <a:prstGeom prst="roundRect">
            <a:avLst>
              <a:gd name="adj" fmla="val 18741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15"/>
          <p:cNvSpPr txBox="1"/>
          <p:nvPr/>
        </p:nvSpPr>
        <p:spPr>
          <a:xfrm>
            <a:off x="3737849" y="2357323"/>
            <a:ext cx="1497788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2400" b="1">
                <a:solidFill>
                  <a:srgbClr val="6B7280"/>
                </a:solidFill>
                <a:latin typeface="ui-monospace" pitchFamily="34" charset="0"/>
              </a:rPr>
              <a:t>条件分岐</a:t>
            </a:r>
            <a:endParaRPr lang="en-US" sz="2400" b="1" dirty="0"/>
          </a:p>
        </p:txBody>
      </p:sp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9"/>
          <a:srcRect l="-57" r="-57"/>
          <a:stretch/>
        </p:blipFill>
        <p:spPr>
          <a:xfrm>
            <a:off x="4350641" y="2628675"/>
            <a:ext cx="336843" cy="384523"/>
          </a:xfrm>
          <a:prstGeom prst="rect">
            <a:avLst/>
          </a:prstGeom>
        </p:spPr>
      </p:pic>
      <p:sp>
        <p:nvSpPr>
          <p:cNvPr id="30" name="Shape 16"/>
          <p:cNvSpPr/>
          <p:nvPr/>
        </p:nvSpPr>
        <p:spPr>
          <a:xfrm>
            <a:off x="4069616" y="3203708"/>
            <a:ext cx="934061" cy="762610"/>
          </a:xfrm>
          <a:prstGeom prst="roundRect">
            <a:avLst>
              <a:gd name="adj" fmla="val 19357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ja-JP" altLang="en-US" sz="3600"/>
          </a:p>
        </p:txBody>
      </p:sp>
      <p:sp>
        <p:nvSpPr>
          <p:cNvPr id="31" name="Text 17"/>
          <p:cNvSpPr txBox="1"/>
          <p:nvPr/>
        </p:nvSpPr>
        <p:spPr>
          <a:xfrm>
            <a:off x="4073725" y="3305205"/>
            <a:ext cx="851765" cy="326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8717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True</a:t>
            </a:r>
            <a:endParaRPr lang="en-US" sz="2400" dirty="0"/>
          </a:p>
        </p:txBody>
      </p:sp>
      <p:sp>
        <p:nvSpPr>
          <p:cNvPr id="32" name="Text 18"/>
          <p:cNvSpPr txBox="1"/>
          <p:nvPr/>
        </p:nvSpPr>
        <p:spPr>
          <a:xfrm>
            <a:off x="4109125" y="3634392"/>
            <a:ext cx="851765" cy="272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"休日"</a:t>
            </a:r>
            <a:endParaRPr lang="en-US" sz="1600" dirty="0"/>
          </a:p>
        </p:txBody>
      </p:sp>
      <p:sp>
        <p:nvSpPr>
          <p:cNvPr id="33" name="Shape 19"/>
          <p:cNvSpPr/>
          <p:nvPr/>
        </p:nvSpPr>
        <p:spPr>
          <a:xfrm>
            <a:off x="4020644" y="4114449"/>
            <a:ext cx="1010412" cy="753467"/>
          </a:xfrm>
          <a:prstGeom prst="roundRect">
            <a:avLst>
              <a:gd name="adj" fmla="val 19357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ja-JP" altLang="en-US" sz="3600"/>
          </a:p>
        </p:txBody>
      </p:sp>
      <p:sp>
        <p:nvSpPr>
          <p:cNvPr id="34" name="Text 20"/>
          <p:cNvSpPr txBox="1"/>
          <p:nvPr/>
        </p:nvSpPr>
        <p:spPr>
          <a:xfrm>
            <a:off x="4133155" y="4165133"/>
            <a:ext cx="851765" cy="326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8717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False</a:t>
            </a:r>
            <a:endParaRPr lang="en-US" sz="2400" dirty="0"/>
          </a:p>
        </p:txBody>
      </p:sp>
      <p:sp>
        <p:nvSpPr>
          <p:cNvPr id="35" name="Text 21"/>
          <p:cNvSpPr txBox="1"/>
          <p:nvPr/>
        </p:nvSpPr>
        <p:spPr>
          <a:xfrm>
            <a:off x="4058952" y="4524461"/>
            <a:ext cx="851765" cy="272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"平日"</a:t>
            </a:r>
            <a:endParaRPr lang="en-US" sz="1600" dirty="0"/>
          </a:p>
        </p:txBody>
      </p:sp>
      <p:pic>
        <p:nvPicPr>
          <p:cNvPr id="36" name="Image 12" descr="preencoded.png"/>
          <p:cNvPicPr>
            <a:picLocks noChangeAspect="1"/>
          </p:cNvPicPr>
          <p:nvPr/>
        </p:nvPicPr>
        <p:blipFill>
          <a:blip r:embed="rId10"/>
          <a:srcRect t="-9" b="-9"/>
          <a:stretch/>
        </p:blipFill>
        <p:spPr>
          <a:xfrm>
            <a:off x="5556619" y="1287988"/>
            <a:ext cx="3156229" cy="3853548"/>
          </a:xfrm>
          <a:prstGeom prst="rect">
            <a:avLst/>
          </a:prstGeom>
        </p:spPr>
      </p:pic>
      <p:pic>
        <p:nvPicPr>
          <p:cNvPr id="37" name="Image 13" descr="preencoded.png"/>
          <p:cNvPicPr>
            <a:picLocks noChangeAspect="1"/>
          </p:cNvPicPr>
          <p:nvPr/>
        </p:nvPicPr>
        <p:blipFill>
          <a:blip r:embed="rId11"/>
          <a:srcRect l="-24" r="-24"/>
          <a:stretch/>
        </p:blipFill>
        <p:spPr>
          <a:xfrm>
            <a:off x="5636650" y="1224381"/>
            <a:ext cx="2876990" cy="665548"/>
          </a:xfrm>
          <a:prstGeom prst="rect">
            <a:avLst/>
          </a:prstGeom>
        </p:spPr>
      </p:pic>
      <p:sp>
        <p:nvSpPr>
          <p:cNvPr id="38" name="Text 22"/>
          <p:cNvSpPr/>
          <p:nvPr/>
        </p:nvSpPr>
        <p:spPr>
          <a:xfrm>
            <a:off x="6190521" y="1357809"/>
            <a:ext cx="2431025" cy="398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if() なら1行 </a:t>
            </a:r>
            <a:endParaRPr lang="en-US" sz="3200" dirty="0"/>
          </a:p>
        </p:txBody>
      </p:sp>
      <p:pic>
        <p:nvPicPr>
          <p:cNvPr id="39" name="Image 14" descr="preencoded.png"/>
          <p:cNvPicPr>
            <a:picLocks noChangeAspect="1"/>
          </p:cNvPicPr>
          <p:nvPr/>
        </p:nvPicPr>
        <p:blipFill>
          <a:blip r:embed="rId12"/>
          <a:srcRect l="-2571" r="-2571"/>
          <a:stretch/>
        </p:blipFill>
        <p:spPr>
          <a:xfrm>
            <a:off x="5738604" y="1393321"/>
            <a:ext cx="288644" cy="313743"/>
          </a:xfrm>
          <a:prstGeom prst="rect">
            <a:avLst/>
          </a:prstGeom>
        </p:spPr>
      </p:pic>
      <p:pic>
        <p:nvPicPr>
          <p:cNvPr id="40" name="Image 15" descr="preencoded.png"/>
          <p:cNvPicPr>
            <a:picLocks noChangeAspect="1"/>
          </p:cNvPicPr>
          <p:nvPr/>
        </p:nvPicPr>
        <p:blipFill>
          <a:blip r:embed="rId13"/>
          <a:srcRect l="-12" r="-12"/>
          <a:stretch/>
        </p:blipFill>
        <p:spPr>
          <a:xfrm>
            <a:off x="5679337" y="1948013"/>
            <a:ext cx="2885567" cy="2129883"/>
          </a:xfrm>
          <a:prstGeom prst="rect">
            <a:avLst/>
          </a:prstGeom>
        </p:spPr>
      </p:pic>
      <p:sp>
        <p:nvSpPr>
          <p:cNvPr id="41" name="Text 23"/>
          <p:cNvSpPr txBox="1"/>
          <p:nvPr/>
        </p:nvSpPr>
        <p:spPr>
          <a:xfrm>
            <a:off x="5814557" y="2045225"/>
            <a:ext cx="284784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if(</a:t>
            </a:r>
            <a:endParaRPr lang="en-US" sz="2000" b="1" dirty="0"/>
          </a:p>
        </p:txBody>
      </p:sp>
      <p:sp>
        <p:nvSpPr>
          <p:cNvPr id="42" name="Text 24"/>
          <p:cNvSpPr txBox="1"/>
          <p:nvPr/>
        </p:nvSpPr>
        <p:spPr>
          <a:xfrm>
            <a:off x="5807584" y="2462164"/>
            <a:ext cx="284784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or(equals(..),..),</a:t>
            </a:r>
            <a:endParaRPr lang="en-US" sz="2000" b="1" dirty="0"/>
          </a:p>
        </p:txBody>
      </p:sp>
      <p:sp>
        <p:nvSpPr>
          <p:cNvPr id="43" name="Text 25"/>
          <p:cNvSpPr txBox="1"/>
          <p:nvPr/>
        </p:nvSpPr>
        <p:spPr>
          <a:xfrm>
            <a:off x="5793638" y="2848033"/>
            <a:ext cx="284784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"休日",</a:t>
            </a:r>
            <a:endParaRPr lang="en-US" sz="2000" b="1" dirty="0"/>
          </a:p>
        </p:txBody>
      </p:sp>
      <p:sp>
        <p:nvSpPr>
          <p:cNvPr id="44" name="Text 26"/>
          <p:cNvSpPr txBox="1"/>
          <p:nvPr/>
        </p:nvSpPr>
        <p:spPr>
          <a:xfrm>
            <a:off x="5800611" y="3222713"/>
            <a:ext cx="284784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"平日"</a:t>
            </a:r>
            <a:endParaRPr lang="en-US" sz="2000" b="1" dirty="0"/>
          </a:p>
        </p:txBody>
      </p:sp>
      <p:sp>
        <p:nvSpPr>
          <p:cNvPr id="45" name="Text 27"/>
          <p:cNvSpPr txBox="1"/>
          <p:nvPr/>
        </p:nvSpPr>
        <p:spPr>
          <a:xfrm>
            <a:off x="5812347" y="3530714"/>
            <a:ext cx="284784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2000" b="1" dirty="0"/>
          </a:p>
        </p:txBody>
      </p:sp>
      <p:sp>
        <p:nvSpPr>
          <p:cNvPr id="46" name="Text 28"/>
          <p:cNvSpPr txBox="1"/>
          <p:nvPr/>
        </p:nvSpPr>
        <p:spPr>
          <a:xfrm>
            <a:off x="5636650" y="4331703"/>
            <a:ext cx="2626462" cy="60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分岐を作らず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そのまま値として使える </a:t>
            </a:r>
            <a:endParaRPr lang="en-US" dirty="0"/>
          </a:p>
        </p:txBody>
      </p:sp>
      <p:sp>
        <p:nvSpPr>
          <p:cNvPr id="47" name="Shape 29"/>
          <p:cNvSpPr/>
          <p:nvPr/>
        </p:nvSpPr>
        <p:spPr>
          <a:xfrm>
            <a:off x="8740470" y="1371940"/>
            <a:ext cx="9144" cy="388620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50" name="Image 17" descr="preencoded.png"/>
          <p:cNvPicPr>
            <a:picLocks noChangeAspect="1"/>
          </p:cNvPicPr>
          <p:nvPr/>
        </p:nvPicPr>
        <p:blipFill>
          <a:blip r:embed="rId14"/>
          <a:srcRect t="-47" b="-47"/>
          <a:stretch/>
        </p:blipFill>
        <p:spPr>
          <a:xfrm>
            <a:off x="8820414" y="1613232"/>
            <a:ext cx="3221391" cy="944431"/>
          </a:xfrm>
          <a:prstGeom prst="rect">
            <a:avLst/>
          </a:prstGeom>
        </p:spPr>
      </p:pic>
      <p:sp>
        <p:nvSpPr>
          <p:cNvPr id="51" name="Shape 31"/>
          <p:cNvSpPr/>
          <p:nvPr/>
        </p:nvSpPr>
        <p:spPr>
          <a:xfrm>
            <a:off x="8820414" y="1853313"/>
            <a:ext cx="475445" cy="536528"/>
          </a:xfrm>
          <a:prstGeom prst="ellipse">
            <a:avLst/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4000"/>
          </a:p>
        </p:txBody>
      </p:sp>
      <p:pic>
        <p:nvPicPr>
          <p:cNvPr id="52" name="Image 18" descr="preencoded.png"/>
          <p:cNvPicPr>
            <a:picLocks noChangeAspect="1"/>
          </p:cNvPicPr>
          <p:nvPr/>
        </p:nvPicPr>
        <p:blipFill>
          <a:blip r:embed="rId15"/>
          <a:srcRect t="-43" b="-43"/>
          <a:stretch/>
        </p:blipFill>
        <p:spPr>
          <a:xfrm>
            <a:off x="8949193" y="1975278"/>
            <a:ext cx="208453" cy="289724"/>
          </a:xfrm>
          <a:prstGeom prst="rect">
            <a:avLst/>
          </a:prstGeom>
        </p:spPr>
      </p:pic>
      <p:sp>
        <p:nvSpPr>
          <p:cNvPr id="53" name="Text 32"/>
          <p:cNvSpPr txBox="1"/>
          <p:nvPr/>
        </p:nvSpPr>
        <p:spPr>
          <a:xfrm>
            <a:off x="9400072" y="1689402"/>
            <a:ext cx="2569976" cy="269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478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曜日 → ラベル切替</a:t>
            </a:r>
            <a:endParaRPr lang="en-US" sz="2000" dirty="0"/>
          </a:p>
        </p:txBody>
      </p:sp>
      <p:sp>
        <p:nvSpPr>
          <p:cNvPr id="54" name="Text 33"/>
          <p:cNvSpPr txBox="1"/>
          <p:nvPr/>
        </p:nvSpPr>
        <p:spPr>
          <a:xfrm>
            <a:off x="9606280" y="2019732"/>
            <a:ext cx="2751303" cy="419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土日 → "休日</a:t>
            </a:r>
            <a:r>
              <a:rPr lang="en-US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", </a:t>
            </a:r>
          </a:p>
          <a:p>
            <a:pPr marL="0" indent="0" algn="l">
              <a:buNone/>
            </a:pPr>
            <a:r>
              <a:rPr lang="en-US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平日 </a:t>
            </a:r>
            <a:r>
              <a:rPr lang="en-US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"平日"</a:t>
            </a:r>
            <a:endParaRPr lang="en-US" b="1" dirty="0"/>
          </a:p>
        </p:txBody>
      </p:sp>
      <p:pic>
        <p:nvPicPr>
          <p:cNvPr id="55" name="Image 19" descr="preencoded.png"/>
          <p:cNvPicPr>
            <a:picLocks noChangeAspect="1"/>
          </p:cNvPicPr>
          <p:nvPr/>
        </p:nvPicPr>
        <p:blipFill>
          <a:blip r:embed="rId14"/>
          <a:srcRect t="-47" b="-47"/>
          <a:stretch/>
        </p:blipFill>
        <p:spPr>
          <a:xfrm>
            <a:off x="8777236" y="2699591"/>
            <a:ext cx="3230535" cy="1119772"/>
          </a:xfrm>
          <a:prstGeom prst="rect">
            <a:avLst/>
          </a:prstGeom>
        </p:spPr>
      </p:pic>
      <p:sp>
        <p:nvSpPr>
          <p:cNvPr id="56" name="Shape 34"/>
          <p:cNvSpPr/>
          <p:nvPr/>
        </p:nvSpPr>
        <p:spPr>
          <a:xfrm>
            <a:off x="8811049" y="2866868"/>
            <a:ext cx="475445" cy="508549"/>
          </a:xfrm>
          <a:prstGeom prst="ellipse">
            <a:avLst/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4000"/>
          </a:p>
        </p:txBody>
      </p:sp>
      <p:pic>
        <p:nvPicPr>
          <p:cNvPr id="57" name="Image 20" descr="preencoded.png"/>
          <p:cNvPicPr>
            <a:picLocks noChangeAspect="1"/>
          </p:cNvPicPr>
          <p:nvPr/>
        </p:nvPicPr>
        <p:blipFill>
          <a:blip r:embed="rId16"/>
          <a:srcRect t="-43" b="-43"/>
          <a:stretch/>
        </p:blipFill>
        <p:spPr>
          <a:xfrm>
            <a:off x="8966067" y="2938166"/>
            <a:ext cx="208453" cy="289724"/>
          </a:xfrm>
          <a:prstGeom prst="rect">
            <a:avLst/>
          </a:prstGeom>
        </p:spPr>
      </p:pic>
      <p:sp>
        <p:nvSpPr>
          <p:cNvPr id="58" name="Text 35"/>
          <p:cNvSpPr txBox="1"/>
          <p:nvPr/>
        </p:nvSpPr>
        <p:spPr>
          <a:xfrm>
            <a:off x="9480553" y="2834203"/>
            <a:ext cx="2972606" cy="2872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478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空文字チェック</a:t>
            </a:r>
            <a:endParaRPr lang="en-US" sz="2000" dirty="0"/>
          </a:p>
        </p:txBody>
      </p:sp>
      <p:sp>
        <p:nvSpPr>
          <p:cNvPr id="59" name="Text 36"/>
          <p:cNvSpPr txBox="1"/>
          <p:nvPr/>
        </p:nvSpPr>
        <p:spPr>
          <a:xfrm>
            <a:off x="9581727" y="3131435"/>
            <a:ext cx="2343878" cy="536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空 → "未設定</a:t>
            </a:r>
            <a:r>
              <a:rPr lang="en-US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", </a:t>
            </a:r>
          </a:p>
          <a:p>
            <a:pPr marL="0" indent="0" algn="l">
              <a:buNone/>
            </a:pPr>
            <a:r>
              <a:rPr lang="en-US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値あり </a:t>
            </a:r>
            <a:r>
              <a:rPr lang="en-US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そのまま</a:t>
            </a:r>
            <a:endParaRPr lang="en-US" b="1" dirty="0"/>
          </a:p>
        </p:txBody>
      </p:sp>
      <p:pic>
        <p:nvPicPr>
          <p:cNvPr id="60" name="Image 21" descr="preencoded.png"/>
          <p:cNvPicPr>
            <a:picLocks noChangeAspect="1"/>
          </p:cNvPicPr>
          <p:nvPr/>
        </p:nvPicPr>
        <p:blipFill>
          <a:blip r:embed="rId14"/>
          <a:srcRect t="-47" b="-47"/>
          <a:stretch/>
        </p:blipFill>
        <p:spPr>
          <a:xfrm>
            <a:off x="8790167" y="3953169"/>
            <a:ext cx="3230535" cy="957817"/>
          </a:xfrm>
          <a:prstGeom prst="rect">
            <a:avLst/>
          </a:prstGeom>
          <a:ln>
            <a:solidFill>
              <a:srgbClr val="FFFFFF"/>
            </a:solidFill>
          </a:ln>
        </p:spPr>
      </p:pic>
      <p:sp>
        <p:nvSpPr>
          <p:cNvPr id="61" name="Shape 37"/>
          <p:cNvSpPr/>
          <p:nvPr/>
        </p:nvSpPr>
        <p:spPr>
          <a:xfrm>
            <a:off x="8815698" y="4097918"/>
            <a:ext cx="475445" cy="536528"/>
          </a:xfrm>
          <a:prstGeom prst="ellipse">
            <a:avLst/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4000"/>
          </a:p>
        </p:txBody>
      </p:sp>
      <p:pic>
        <p:nvPicPr>
          <p:cNvPr id="62" name="Image 22" descr="preencoded.png"/>
          <p:cNvPicPr>
            <a:picLocks noChangeAspect="1"/>
          </p:cNvPicPr>
          <p:nvPr/>
        </p:nvPicPr>
        <p:blipFill>
          <a:blip r:embed="rId17"/>
          <a:srcRect l="-33" r="-33"/>
          <a:stretch/>
        </p:blipFill>
        <p:spPr>
          <a:xfrm>
            <a:off x="8919212" y="4210916"/>
            <a:ext cx="268419" cy="289724"/>
          </a:xfrm>
          <a:prstGeom prst="rect">
            <a:avLst/>
          </a:prstGeom>
        </p:spPr>
      </p:pic>
      <p:sp>
        <p:nvSpPr>
          <p:cNvPr id="63" name="Text 38"/>
          <p:cNvSpPr txBox="1"/>
          <p:nvPr/>
        </p:nvSpPr>
        <p:spPr>
          <a:xfrm>
            <a:off x="9475092" y="4011616"/>
            <a:ext cx="2779858" cy="269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478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ステータス変換</a:t>
            </a:r>
            <a:endParaRPr lang="en-US" sz="2000" dirty="0"/>
          </a:p>
        </p:txBody>
      </p:sp>
      <p:sp>
        <p:nvSpPr>
          <p:cNvPr id="64" name="Text 39"/>
          <p:cNvSpPr txBox="1"/>
          <p:nvPr/>
        </p:nvSpPr>
        <p:spPr>
          <a:xfrm>
            <a:off x="9606083" y="4442002"/>
            <a:ext cx="3062555" cy="269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true → "承認</a:t>
            </a:r>
            <a:r>
              <a:rPr lang="en-US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", </a:t>
            </a:r>
          </a:p>
          <a:p>
            <a:pPr marL="0" indent="0" algn="l">
              <a:buNone/>
            </a:pPr>
            <a:r>
              <a:rPr lang="en-US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false </a:t>
            </a:r>
            <a:r>
              <a:rPr lang="en-US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"未承認"</a:t>
            </a:r>
            <a:endParaRPr lang="en-US" b="1" dirty="0"/>
          </a:p>
        </p:txBody>
      </p:sp>
      <p:pic>
        <p:nvPicPr>
          <p:cNvPr id="70" name="Image 25" descr="preencoded.png"/>
          <p:cNvPicPr>
            <a:picLocks noChangeAspect="1"/>
          </p:cNvPicPr>
          <p:nvPr/>
        </p:nvPicPr>
        <p:blipFill>
          <a:blip r:embed="rId18"/>
          <a:srcRect t="-20" b="-20"/>
          <a:stretch/>
        </p:blipFill>
        <p:spPr>
          <a:xfrm>
            <a:off x="370634" y="5248051"/>
            <a:ext cx="11662027" cy="1336633"/>
          </a:xfrm>
          <a:prstGeom prst="rect">
            <a:avLst/>
          </a:prstGeom>
        </p:spPr>
      </p:pic>
      <p:pic>
        <p:nvPicPr>
          <p:cNvPr id="71" name="Image 26" descr="preencoded.png"/>
          <p:cNvPicPr>
            <a:picLocks noChangeAspect="1"/>
          </p:cNvPicPr>
          <p:nvPr/>
        </p:nvPicPr>
        <p:blipFill>
          <a:blip r:embed="rId19">
            <a:alphaModFix amt="20000"/>
          </a:blip>
          <a:srcRect t="-180" b="-180"/>
          <a:stretch/>
        </p:blipFill>
        <p:spPr>
          <a:xfrm>
            <a:off x="11925605" y="6752844"/>
            <a:ext cx="190195" cy="152705"/>
          </a:xfrm>
          <a:prstGeom prst="rect">
            <a:avLst/>
          </a:prstGeom>
        </p:spPr>
      </p:pic>
      <p:sp>
        <p:nvSpPr>
          <p:cNvPr id="72" name="Text 43"/>
          <p:cNvSpPr txBox="1"/>
          <p:nvPr/>
        </p:nvSpPr>
        <p:spPr>
          <a:xfrm>
            <a:off x="601676" y="5475299"/>
            <a:ext cx="32580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9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Basic Syntax</a:t>
            </a:r>
            <a:endParaRPr lang="en-US" sz="2400" dirty="0"/>
          </a:p>
        </p:txBody>
      </p:sp>
      <p:grpSp>
        <p:nvGrpSpPr>
          <p:cNvPr id="107" name="グループ化 106">
            <a:extLst>
              <a:ext uri="{FF2B5EF4-FFF2-40B4-BE49-F238E27FC236}">
                <a16:creationId xmlns:a16="http://schemas.microsoft.com/office/drawing/2014/main" id="{EACA020D-FF75-7EA1-C6C0-9E6738D03DA1}"/>
              </a:ext>
            </a:extLst>
          </p:cNvPr>
          <p:cNvGrpSpPr/>
          <p:nvPr/>
        </p:nvGrpSpPr>
        <p:grpSpPr>
          <a:xfrm>
            <a:off x="421458" y="5838902"/>
            <a:ext cx="5818174" cy="590702"/>
            <a:chOff x="647395" y="5772607"/>
            <a:chExt cx="3137306" cy="590702"/>
          </a:xfrm>
        </p:grpSpPr>
        <p:pic>
          <p:nvPicPr>
            <p:cNvPr id="73" name="Image 27" descr="preencoded.png"/>
            <p:cNvPicPr>
              <a:picLocks noChangeAspect="1"/>
            </p:cNvPicPr>
            <p:nvPr/>
          </p:nvPicPr>
          <p:blipFill>
            <a:blip r:embed="rId20"/>
            <a:srcRect t="-15" b="-15"/>
            <a:stretch/>
          </p:blipFill>
          <p:spPr>
            <a:xfrm>
              <a:off x="647395" y="5772607"/>
              <a:ext cx="3137306" cy="590702"/>
            </a:xfrm>
            <a:prstGeom prst="rect">
              <a:avLst/>
            </a:prstGeom>
          </p:spPr>
        </p:pic>
        <p:sp>
          <p:nvSpPr>
            <p:cNvPr id="74" name="Text 44"/>
            <p:cNvSpPr txBox="1"/>
            <p:nvPr/>
          </p:nvSpPr>
          <p:spPr>
            <a:xfrm>
              <a:off x="809244" y="5934456"/>
              <a:ext cx="286207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800" b="1" dirty="0">
                  <a:solidFill>
                    <a:srgbClr val="60A5FA"/>
                  </a:solidFill>
                  <a:latin typeface="ui-monospace" pitchFamily="34" charset="0"/>
                  <a:ea typeface="ui-monospace" pitchFamily="34" charset="-122"/>
                  <a:cs typeface="ui-monospace" pitchFamily="34" charset="-120"/>
                </a:rPr>
                <a:t>if</a:t>
              </a:r>
              <a:endParaRPr lang="en-US" sz="2800" dirty="0"/>
            </a:p>
          </p:txBody>
        </p:sp>
        <p:sp>
          <p:nvSpPr>
            <p:cNvPr id="75" name="Text 45"/>
            <p:cNvSpPr txBox="1"/>
            <p:nvPr/>
          </p:nvSpPr>
          <p:spPr>
            <a:xfrm>
              <a:off x="1053389" y="5934456"/>
              <a:ext cx="181051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800" dirty="0">
                  <a:solidFill>
                    <a:srgbClr val="9CA3AF"/>
                  </a:solidFill>
                  <a:latin typeface="ui-monospace" pitchFamily="34" charset="0"/>
                  <a:ea typeface="ui-monospace" pitchFamily="34" charset="-122"/>
                  <a:cs typeface="ui-monospace" pitchFamily="34" charset="-120"/>
                </a:rPr>
                <a:t>(</a:t>
              </a:r>
              <a:endParaRPr lang="en-US" sz="2800" dirty="0"/>
            </a:p>
          </p:txBody>
        </p:sp>
        <p:sp>
          <p:nvSpPr>
            <p:cNvPr id="76" name="Text 46"/>
            <p:cNvSpPr txBox="1"/>
            <p:nvPr/>
          </p:nvSpPr>
          <p:spPr>
            <a:xfrm>
              <a:off x="1194206" y="5934456"/>
              <a:ext cx="419710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800" dirty="0">
                  <a:solidFill>
                    <a:srgbClr val="A78BFA"/>
                  </a:solidFill>
                  <a:latin typeface="ui-monospace" pitchFamily="34" charset="0"/>
                  <a:ea typeface="ui-monospace" pitchFamily="34" charset="-122"/>
                  <a:cs typeface="ui-monospace" pitchFamily="34" charset="-120"/>
                </a:rPr>
                <a:t>条件</a:t>
              </a:r>
              <a:endParaRPr lang="en-US" sz="2800" dirty="0"/>
            </a:p>
          </p:txBody>
        </p:sp>
        <p:sp>
          <p:nvSpPr>
            <p:cNvPr id="77" name="Text 47"/>
            <p:cNvSpPr txBox="1"/>
            <p:nvPr/>
          </p:nvSpPr>
          <p:spPr>
            <a:xfrm>
              <a:off x="1613916" y="5934456"/>
              <a:ext cx="181051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800" dirty="0">
                  <a:solidFill>
                    <a:srgbClr val="9CA3AF"/>
                  </a:solidFill>
                  <a:latin typeface="ui-monospace" pitchFamily="34" charset="0"/>
                  <a:ea typeface="ui-monospace" pitchFamily="34" charset="-122"/>
                  <a:cs typeface="ui-monospace" pitchFamily="34" charset="-120"/>
                </a:rPr>
                <a:t>,</a:t>
              </a:r>
              <a:endParaRPr lang="en-US" sz="2800" dirty="0"/>
            </a:p>
          </p:txBody>
        </p:sp>
        <p:sp>
          <p:nvSpPr>
            <p:cNvPr id="78" name="Text 48"/>
            <p:cNvSpPr txBox="1"/>
            <p:nvPr/>
          </p:nvSpPr>
          <p:spPr>
            <a:xfrm>
              <a:off x="1793138" y="5934456"/>
              <a:ext cx="781812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800" dirty="0">
                  <a:solidFill>
                    <a:srgbClr val="34D399"/>
                  </a:solidFill>
                  <a:latin typeface="ui-monospace" pitchFamily="34" charset="0"/>
                  <a:ea typeface="ui-monospace" pitchFamily="34" charset="-122"/>
                  <a:cs typeface="ui-monospace" pitchFamily="34" charset="-120"/>
                </a:rPr>
                <a:t>真のとき</a:t>
              </a:r>
              <a:endParaRPr lang="en-US" sz="2800" dirty="0"/>
            </a:p>
          </p:txBody>
        </p:sp>
        <p:sp>
          <p:nvSpPr>
            <p:cNvPr id="79" name="Text 49"/>
            <p:cNvSpPr txBox="1"/>
            <p:nvPr/>
          </p:nvSpPr>
          <p:spPr>
            <a:xfrm>
              <a:off x="2566721" y="5934456"/>
              <a:ext cx="181051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800" dirty="0">
                  <a:solidFill>
                    <a:srgbClr val="9CA3AF"/>
                  </a:solidFill>
                  <a:latin typeface="ui-monospace" pitchFamily="34" charset="0"/>
                  <a:ea typeface="ui-monospace" pitchFamily="34" charset="-122"/>
                  <a:cs typeface="ui-monospace" pitchFamily="34" charset="-120"/>
                </a:rPr>
                <a:t>,</a:t>
              </a:r>
              <a:endParaRPr lang="en-US" sz="2800" dirty="0"/>
            </a:p>
          </p:txBody>
        </p:sp>
        <p:sp>
          <p:nvSpPr>
            <p:cNvPr id="80" name="Text 50"/>
            <p:cNvSpPr txBox="1"/>
            <p:nvPr/>
          </p:nvSpPr>
          <p:spPr>
            <a:xfrm>
              <a:off x="2745943" y="5934456"/>
              <a:ext cx="781812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800" dirty="0">
                  <a:solidFill>
                    <a:srgbClr val="F87171"/>
                  </a:solidFill>
                  <a:latin typeface="ui-monospace" pitchFamily="34" charset="0"/>
                  <a:ea typeface="ui-monospace" pitchFamily="34" charset="-122"/>
                  <a:cs typeface="ui-monospace" pitchFamily="34" charset="-120"/>
                </a:rPr>
                <a:t>偽のとき</a:t>
              </a:r>
              <a:endParaRPr lang="en-US" sz="2800" dirty="0"/>
            </a:p>
          </p:txBody>
        </p:sp>
        <p:sp>
          <p:nvSpPr>
            <p:cNvPr id="81" name="Text 51"/>
            <p:cNvSpPr txBox="1"/>
            <p:nvPr/>
          </p:nvSpPr>
          <p:spPr>
            <a:xfrm>
              <a:off x="3482035" y="5934456"/>
              <a:ext cx="181051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800" dirty="0">
                  <a:solidFill>
                    <a:srgbClr val="9CA3AF"/>
                  </a:solidFill>
                  <a:latin typeface="ui-monospace" pitchFamily="34" charset="0"/>
                  <a:ea typeface="ui-monospace" pitchFamily="34" charset="-122"/>
                  <a:cs typeface="ui-monospace" pitchFamily="34" charset="-120"/>
                </a:rPr>
                <a:t>)</a:t>
              </a:r>
              <a:endParaRPr lang="en-US" sz="2800" dirty="0"/>
            </a:p>
          </p:txBody>
        </p:sp>
      </p:grpSp>
      <p:sp>
        <p:nvSpPr>
          <p:cNvPr id="82" name="Text 52"/>
          <p:cNvSpPr txBox="1"/>
          <p:nvPr/>
        </p:nvSpPr>
        <p:spPr>
          <a:xfrm>
            <a:off x="11075213" y="6210605"/>
            <a:ext cx="5532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5" dirty="0">
                <a:solidFill>
                  <a:srgbClr val="6B7280">
                    <a:alpha val="5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endParaRPr lang="en-US" sz="1000" dirty="0"/>
          </a:p>
        </p:txBody>
      </p:sp>
      <p:pic>
        <p:nvPicPr>
          <p:cNvPr id="83" name="Image 28" descr="preencoded.png"/>
          <p:cNvPicPr>
            <a:picLocks noChangeAspect="1"/>
          </p:cNvPicPr>
          <p:nvPr/>
        </p:nvPicPr>
        <p:blipFill>
          <a:blip r:embed="rId21"/>
          <a:srcRect t="-530" b="-530"/>
          <a:stretch/>
        </p:blipFill>
        <p:spPr>
          <a:xfrm>
            <a:off x="5210505" y="3171361"/>
            <a:ext cx="463599" cy="535449"/>
          </a:xfrm>
          <a:prstGeom prst="rect">
            <a:avLst/>
          </a:prstGeom>
        </p:spPr>
      </p:pic>
      <p:grpSp>
        <p:nvGrpSpPr>
          <p:cNvPr id="108" name="グループ化 107">
            <a:extLst>
              <a:ext uri="{FF2B5EF4-FFF2-40B4-BE49-F238E27FC236}">
                <a16:creationId xmlns:a16="http://schemas.microsoft.com/office/drawing/2014/main" id="{0501CB00-1417-8014-FEC6-2F35E43AF30B}"/>
              </a:ext>
            </a:extLst>
          </p:cNvPr>
          <p:cNvGrpSpPr/>
          <p:nvPr/>
        </p:nvGrpSpPr>
        <p:grpSpPr>
          <a:xfrm>
            <a:off x="6269205" y="5349127"/>
            <a:ext cx="5948002" cy="1092005"/>
            <a:chOff x="4013302" y="5347780"/>
            <a:chExt cx="3576906" cy="1092005"/>
          </a:xfrm>
        </p:grpSpPr>
        <p:sp>
          <p:nvSpPr>
            <p:cNvPr id="84" name="Shape 53"/>
            <p:cNvSpPr/>
            <p:nvPr/>
          </p:nvSpPr>
          <p:spPr>
            <a:xfrm>
              <a:off x="4013302" y="5553151"/>
              <a:ext cx="9144" cy="800100"/>
            </a:xfrm>
            <a:prstGeom prst="rect">
              <a:avLst/>
            </a:prstGeom>
            <a:solidFill>
              <a:srgbClr val="4B5563"/>
            </a:solidFill>
            <a:ln w="12700">
              <a:solidFill>
                <a:srgbClr val="4B5563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 sz="4000"/>
            </a:p>
          </p:txBody>
        </p:sp>
        <p:pic>
          <p:nvPicPr>
            <p:cNvPr id="85" name="Image 29" descr="preencoded.png"/>
            <p:cNvPicPr>
              <a:picLocks noChangeAspect="1"/>
            </p:cNvPicPr>
            <p:nvPr/>
          </p:nvPicPr>
          <p:blipFill>
            <a:blip r:embed="rId22"/>
            <a:srcRect l="-760" r="-760"/>
            <a:stretch/>
          </p:blipFill>
          <p:spPr>
            <a:xfrm>
              <a:off x="4145380" y="5347780"/>
              <a:ext cx="153291" cy="302128"/>
            </a:xfrm>
            <a:prstGeom prst="rect">
              <a:avLst/>
            </a:prstGeom>
          </p:spPr>
        </p:pic>
        <p:sp>
          <p:nvSpPr>
            <p:cNvPr id="86" name="Text 54"/>
            <p:cNvSpPr txBox="1"/>
            <p:nvPr/>
          </p:nvSpPr>
          <p:spPr>
            <a:xfrm>
              <a:off x="4439186" y="5388300"/>
              <a:ext cx="3151022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>
                  <a:solidFill>
                    <a:srgbClr val="FFFFF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Conditionアクションより </a:t>
              </a:r>
              <a:r>
                <a:rPr lang="en-US" b="1" dirty="0">
                  <a:solidFill>
                    <a:srgbClr val="FCD34D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“値の扱い” が直感的</a:t>
              </a:r>
              <a:endParaRPr lang="en-US" dirty="0"/>
            </a:p>
          </p:txBody>
        </p:sp>
        <p:pic>
          <p:nvPicPr>
            <p:cNvPr id="87" name="Image 30" descr="preencoded.png"/>
            <p:cNvPicPr>
              <a:picLocks noChangeAspect="1"/>
            </p:cNvPicPr>
            <p:nvPr/>
          </p:nvPicPr>
          <p:blipFill>
            <a:blip r:embed="rId23"/>
            <a:srcRect t="-842" b="-842"/>
            <a:stretch/>
          </p:blipFill>
          <p:spPr>
            <a:xfrm>
              <a:off x="4137847" y="5732552"/>
              <a:ext cx="190924" cy="302128"/>
            </a:xfrm>
            <a:prstGeom prst="rect">
              <a:avLst/>
            </a:prstGeom>
          </p:spPr>
        </p:pic>
        <p:sp>
          <p:nvSpPr>
            <p:cNvPr id="88" name="Text 55"/>
            <p:cNvSpPr txBox="1"/>
            <p:nvPr/>
          </p:nvSpPr>
          <p:spPr>
            <a:xfrm>
              <a:off x="4480560" y="5802423"/>
              <a:ext cx="2304288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dirty="0">
                  <a:solidFill>
                    <a:srgbClr val="FFFFF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動的コンテンツ内でそのまま使える</a:t>
              </a:r>
              <a:endParaRPr lang="en-US" dirty="0"/>
            </a:p>
          </p:txBody>
        </p:sp>
        <p:pic>
          <p:nvPicPr>
            <p:cNvPr id="89" name="Image 31" descr="preencoded.png"/>
            <p:cNvPicPr>
              <a:picLocks noChangeAspect="1"/>
            </p:cNvPicPr>
            <p:nvPr/>
          </p:nvPicPr>
          <p:blipFill>
            <a:blip r:embed="rId24"/>
            <a:srcRect t="-842" b="-842"/>
            <a:stretch/>
          </p:blipFill>
          <p:spPr>
            <a:xfrm>
              <a:off x="4137847" y="6137657"/>
              <a:ext cx="190924" cy="302128"/>
            </a:xfrm>
            <a:prstGeom prst="rect">
              <a:avLst/>
            </a:prstGeom>
          </p:spPr>
        </p:pic>
        <p:sp>
          <p:nvSpPr>
            <p:cNvPr id="90" name="Text 56"/>
            <p:cNvSpPr txBox="1"/>
            <p:nvPr/>
          </p:nvSpPr>
          <p:spPr>
            <a:xfrm>
              <a:off x="4480560" y="6209258"/>
              <a:ext cx="2648102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dirty="0">
                  <a:solidFill>
                    <a:srgbClr val="FFFFF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組み合わせれば、</a:t>
              </a:r>
              <a:r>
                <a:rPr lang="en-US">
                  <a:solidFill>
                    <a:srgbClr val="FFFFF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Excelのような表現に</a:t>
              </a:r>
              <a:endParaRPr lang="en-US" dirty="0"/>
            </a:p>
          </p:txBody>
        </p:sp>
      </p:grpSp>
      <p:sp>
        <p:nvSpPr>
          <p:cNvPr id="94" name="四角形: 角を丸くする 93">
            <a:extLst>
              <a:ext uri="{FF2B5EF4-FFF2-40B4-BE49-F238E27FC236}">
                <a16:creationId xmlns:a16="http://schemas.microsoft.com/office/drawing/2014/main" id="{8B208360-60BB-ABA2-ADEA-076C5D8CA3C5}"/>
              </a:ext>
            </a:extLst>
          </p:cNvPr>
          <p:cNvSpPr/>
          <p:nvPr/>
        </p:nvSpPr>
        <p:spPr>
          <a:xfrm>
            <a:off x="43861" y="7990"/>
            <a:ext cx="12103265" cy="6821206"/>
          </a:xfrm>
          <a:prstGeom prst="roundRect">
            <a:avLst>
              <a:gd name="adj" fmla="val 3966"/>
            </a:avLst>
          </a:prstGeom>
          <a:noFill/>
          <a:ln w="1174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96" name="グループ化 95">
            <a:extLst>
              <a:ext uri="{FF2B5EF4-FFF2-40B4-BE49-F238E27FC236}">
                <a16:creationId xmlns:a16="http://schemas.microsoft.com/office/drawing/2014/main" id="{12F9C482-E943-E5EA-F961-EBDA83E1829C}"/>
              </a:ext>
            </a:extLst>
          </p:cNvPr>
          <p:cNvGrpSpPr/>
          <p:nvPr/>
        </p:nvGrpSpPr>
        <p:grpSpPr>
          <a:xfrm>
            <a:off x="188332" y="78173"/>
            <a:ext cx="1543203" cy="464514"/>
            <a:chOff x="188332" y="78173"/>
            <a:chExt cx="1543203" cy="464514"/>
          </a:xfrm>
        </p:grpSpPr>
        <p:sp>
          <p:nvSpPr>
            <p:cNvPr id="97" name="Shape 2">
              <a:extLst>
                <a:ext uri="{FF2B5EF4-FFF2-40B4-BE49-F238E27FC236}">
                  <a16:creationId xmlns:a16="http://schemas.microsoft.com/office/drawing/2014/main" id="{FB491154-080A-A31C-3261-D44BEE8BC7BA}"/>
                </a:ext>
              </a:extLst>
            </p:cNvPr>
            <p:cNvSpPr/>
            <p:nvPr/>
          </p:nvSpPr>
          <p:spPr>
            <a:xfrm>
              <a:off x="188332" y="78173"/>
              <a:ext cx="1543203" cy="464514"/>
            </a:xfrm>
            <a:prstGeom prst="roundRect">
              <a:avLst>
                <a:gd name="adj" fmla="val 266667"/>
              </a:avLst>
            </a:prstGeom>
            <a:solidFill>
              <a:srgbClr val="FFFFFF">
                <a:alpha val="2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8" name="Text 3">
              <a:extLst>
                <a:ext uri="{FF2B5EF4-FFF2-40B4-BE49-F238E27FC236}">
                  <a16:creationId xmlns:a16="http://schemas.microsoft.com/office/drawing/2014/main" id="{5DA92909-1533-3A6E-6ACA-CEB13D8FBB44}"/>
                </a:ext>
              </a:extLst>
            </p:cNvPr>
            <p:cNvSpPr txBox="1"/>
            <p:nvPr/>
          </p:nvSpPr>
          <p:spPr>
            <a:xfrm>
              <a:off x="348708" y="184194"/>
              <a:ext cx="1317625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3200" b="1" kern="0" spc="38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Vol.29</a:t>
              </a:r>
              <a:endParaRPr lang="en-US" sz="3200" dirty="0"/>
            </a:p>
          </p:txBody>
        </p:sp>
      </p:grpSp>
      <p:pic>
        <p:nvPicPr>
          <p:cNvPr id="99" name="図 98" descr="The image depicts a stylized, blue and white arrow symbol.&#10;&#10;AI 生成コンテンツは誤りを含む可能性があります。">
            <a:extLst>
              <a:ext uri="{FF2B5EF4-FFF2-40B4-BE49-F238E27FC236}">
                <a16:creationId xmlns:a16="http://schemas.microsoft.com/office/drawing/2014/main" id="{EBE07A22-2A2F-8398-7078-081131137DC5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43982" y="588294"/>
            <a:ext cx="663502" cy="6635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" name="Image 5" descr="preencoded.png">
            <a:extLst>
              <a:ext uri="{FF2B5EF4-FFF2-40B4-BE49-F238E27FC236}">
                <a16:creationId xmlns:a16="http://schemas.microsoft.com/office/drawing/2014/main" id="{5A5BA2C2-A95A-A737-AD0B-84148A922AF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2571" r="-2571"/>
          <a:stretch/>
        </p:blipFill>
        <p:spPr>
          <a:xfrm>
            <a:off x="364844" y="2585923"/>
            <a:ext cx="296759" cy="322564"/>
          </a:xfrm>
          <a:prstGeom prst="rect">
            <a:avLst/>
          </a:prstGeom>
        </p:spPr>
      </p:pic>
      <p:pic>
        <p:nvPicPr>
          <p:cNvPr id="3" name="Image 5" descr="preencoded.png">
            <a:extLst>
              <a:ext uri="{FF2B5EF4-FFF2-40B4-BE49-F238E27FC236}">
                <a16:creationId xmlns:a16="http://schemas.microsoft.com/office/drawing/2014/main" id="{DB578397-204C-88CC-75AC-1365E0A70C6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2571" r="-2571"/>
          <a:stretch/>
        </p:blipFill>
        <p:spPr>
          <a:xfrm>
            <a:off x="355452" y="3288623"/>
            <a:ext cx="296759" cy="322564"/>
          </a:xfrm>
          <a:prstGeom prst="rect">
            <a:avLst/>
          </a:prstGeom>
        </p:spPr>
      </p:pic>
      <p:pic>
        <p:nvPicPr>
          <p:cNvPr id="5" name="Image 5" descr="preencoded.png">
            <a:extLst>
              <a:ext uri="{FF2B5EF4-FFF2-40B4-BE49-F238E27FC236}">
                <a16:creationId xmlns:a16="http://schemas.microsoft.com/office/drawing/2014/main" id="{32117AB2-32FF-A6BB-7928-F55ABA34A99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2571" r="-2571"/>
          <a:stretch/>
        </p:blipFill>
        <p:spPr>
          <a:xfrm>
            <a:off x="384087" y="3937059"/>
            <a:ext cx="296759" cy="322564"/>
          </a:xfrm>
          <a:prstGeom prst="rect">
            <a:avLst/>
          </a:prstGeom>
        </p:spPr>
      </p:pic>
      <p:cxnSp>
        <p:nvCxnSpPr>
          <p:cNvPr id="101" name="コネクタ: カギ線 100">
            <a:extLst>
              <a:ext uri="{FF2B5EF4-FFF2-40B4-BE49-F238E27FC236}">
                <a16:creationId xmlns:a16="http://schemas.microsoft.com/office/drawing/2014/main" id="{11D6D878-50DF-1F05-124D-25C4369DAE00}"/>
              </a:ext>
            </a:extLst>
          </p:cNvPr>
          <p:cNvCxnSpPr>
            <a:cxnSpLocks/>
            <a:stCxn id="27" idx="1"/>
            <a:endCxn id="30" idx="1"/>
          </p:cNvCxnSpPr>
          <p:nvPr/>
        </p:nvCxnSpPr>
        <p:spPr>
          <a:xfrm rot="10800000" flipH="1" flipV="1">
            <a:off x="3702402" y="2680509"/>
            <a:ext cx="367213" cy="904504"/>
          </a:xfrm>
          <a:prstGeom prst="bentConnector3">
            <a:avLst>
              <a:gd name="adj1" fmla="val -62253"/>
            </a:avLst>
          </a:prstGeom>
          <a:ln w="349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コネクタ: カギ線 103">
            <a:extLst>
              <a:ext uri="{FF2B5EF4-FFF2-40B4-BE49-F238E27FC236}">
                <a16:creationId xmlns:a16="http://schemas.microsoft.com/office/drawing/2014/main" id="{665501A4-5D23-A23A-D807-5C2F1BE6CA11}"/>
              </a:ext>
            </a:extLst>
          </p:cNvPr>
          <p:cNvCxnSpPr>
            <a:cxnSpLocks/>
            <a:stCxn id="27" idx="1"/>
            <a:endCxn id="33" idx="1"/>
          </p:cNvCxnSpPr>
          <p:nvPr/>
        </p:nvCxnSpPr>
        <p:spPr>
          <a:xfrm rot="10800000" flipH="1" flipV="1">
            <a:off x="3702402" y="2680509"/>
            <a:ext cx="318241" cy="1810674"/>
          </a:xfrm>
          <a:prstGeom prst="bentConnector3">
            <a:avLst>
              <a:gd name="adj1" fmla="val -71832"/>
            </a:avLst>
          </a:prstGeom>
          <a:ln w="349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Shape 15">
            <a:extLst>
              <a:ext uri="{FF2B5EF4-FFF2-40B4-BE49-F238E27FC236}">
                <a16:creationId xmlns:a16="http://schemas.microsoft.com/office/drawing/2014/main" id="{4A72E84C-EB39-F047-6677-B03D4D3D0FA6}"/>
              </a:ext>
            </a:extLst>
          </p:cNvPr>
          <p:cNvSpPr/>
          <p:nvPr/>
        </p:nvSpPr>
        <p:spPr>
          <a:xfrm>
            <a:off x="8781467" y="1296886"/>
            <a:ext cx="3311626" cy="3748950"/>
          </a:xfrm>
          <a:prstGeom prst="roundRect">
            <a:avLst>
              <a:gd name="adj" fmla="val 2809"/>
            </a:avLst>
          </a:prstGeom>
          <a:noFill/>
          <a:ln w="41275">
            <a:solidFill>
              <a:srgbClr val="008000"/>
            </a:solidFill>
            <a:prstDash val="solid"/>
          </a:ln>
        </p:spPr>
        <p:txBody>
          <a:bodyPr/>
          <a:lstStyle/>
          <a:p>
            <a:endParaRPr lang="ja-JP" altLang="en-US" sz="4000"/>
          </a:p>
        </p:txBody>
      </p:sp>
      <p:sp>
        <p:nvSpPr>
          <p:cNvPr id="48" name="Text 30"/>
          <p:cNvSpPr txBox="1"/>
          <p:nvPr/>
        </p:nvSpPr>
        <p:spPr>
          <a:xfrm>
            <a:off x="9348626" y="1096283"/>
            <a:ext cx="2326766" cy="470469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596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実務での利用例 </a:t>
            </a:r>
            <a:endParaRPr lang="en-US" sz="2400" dirty="0"/>
          </a:p>
        </p:txBody>
      </p:sp>
      <p:pic>
        <p:nvPicPr>
          <p:cNvPr id="49" name="Image 16" descr="preencoded.png"/>
          <p:cNvPicPr>
            <a:picLocks noChangeAspect="1"/>
          </p:cNvPicPr>
          <p:nvPr/>
        </p:nvPicPr>
        <p:blipFill>
          <a:blip r:embed="rId26"/>
          <a:srcRect/>
          <a:stretch/>
        </p:blipFill>
        <p:spPr>
          <a:xfrm>
            <a:off x="8946589" y="1143700"/>
            <a:ext cx="268419" cy="326156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11" name="図 110" descr="The image depicts two characters, one with blue hair and a blue dress, holding hands and wearing blue and pink heart-shaped decorations, with one character smiling and the other looking down.&#10;&#10;AI 生成コンテンツは誤りを含む可能性があります。">
            <a:extLst>
              <a:ext uri="{FF2B5EF4-FFF2-40B4-BE49-F238E27FC236}">
                <a16:creationId xmlns:a16="http://schemas.microsoft.com/office/drawing/2014/main" id="{F899778E-E57C-2CE6-45DC-630B60048B59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258961" y="-414920"/>
            <a:ext cx="1931471" cy="1742616"/>
          </a:xfrm>
          <a:prstGeom prst="rect">
            <a:avLst/>
          </a:prstGeom>
        </p:spPr>
      </p:pic>
      <p:pic>
        <p:nvPicPr>
          <p:cNvPr id="113" name="図 112" descr="The image depicts a cartoon character with a red shirt, blue face, and a black mask, holding their head in a pained expression against a contrasting grey, textured wall.&#10;&#10;AI 生成コンテンツは誤りを含む可能性があります。">
            <a:extLst>
              <a:ext uri="{FF2B5EF4-FFF2-40B4-BE49-F238E27FC236}">
                <a16:creationId xmlns:a16="http://schemas.microsoft.com/office/drawing/2014/main" id="{4709BB14-7A38-0507-54BA-990CD7709E83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625973" y="2950720"/>
            <a:ext cx="995573" cy="1063726"/>
          </a:xfrm>
          <a:prstGeom prst="rect">
            <a:avLst/>
          </a:prstGeom>
          <a:effectLst>
            <a:glow rad="63500">
              <a:schemeClr val="bg1">
                <a:alpha val="88000"/>
              </a:schemeClr>
            </a:glow>
          </a:effectLst>
        </p:spPr>
      </p:pic>
      <p:pic>
        <p:nvPicPr>
          <p:cNvPr id="115" name="図 114" descr="The image depicts a cartoon character with a red shirt, wearing a hood and holding a wet hand, suggesting sadness or distress.&#10;&#10;AI 生成コンテンツは誤りを含む可能性があります。">
            <a:extLst>
              <a:ext uri="{FF2B5EF4-FFF2-40B4-BE49-F238E27FC236}">
                <a16:creationId xmlns:a16="http://schemas.microsoft.com/office/drawing/2014/main" id="{3A14DF1B-C304-12DB-50AC-7BA974B6F6B7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899062" y="4432077"/>
            <a:ext cx="577960" cy="78102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8794</TotalTime>
  <Words>3088</Words>
  <Application>Microsoft Office PowerPoint</Application>
  <PresentationFormat>ワイド画面</PresentationFormat>
  <Paragraphs>845</Paragraphs>
  <Slides>21</Slides>
  <Notes>17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21</vt:i4>
      </vt:variant>
    </vt:vector>
  </HeadingPairs>
  <TitlesOfParts>
    <vt:vector size="28" baseType="lpstr">
      <vt:lpstr>Noto Sans JP</vt:lpstr>
      <vt:lpstr>ui-monospace</vt:lpstr>
      <vt:lpstr>Arial</vt:lpstr>
      <vt:lpstr>Consolas</vt:lpstr>
      <vt:lpstr>Courier New</vt:lpstr>
      <vt:lpstr>Roboto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Ueda Isamu</cp:lastModifiedBy>
  <cp:revision>35</cp:revision>
  <dcterms:created xsi:type="dcterms:W3CDTF">2026-03-02T05:14:23Z</dcterms:created>
  <dcterms:modified xsi:type="dcterms:W3CDTF">2026-03-25T06:59:04Z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0x01010057A7D803F65517489933A6A846FB2A57</vt:lpwstr>
  </property>
</Properties>
</file>