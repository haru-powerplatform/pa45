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1" name="図 60" descr="帽子をかぶったクマ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21D07A29-3C61-4C0F-3BC7-34E969581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536" y="5071852"/>
            <a:ext cx="1800673" cy="2863261"/>
          </a:xfrm>
          <a:prstGeom prst="rect">
            <a:avLst/>
          </a:prstGeom>
        </p:spPr>
      </p:pic>
      <p:pic>
        <p:nvPicPr>
          <p:cNvPr id="26" name="図 2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7043027-948D-7009-9E08-9FA3A6FA2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797" y="2019736"/>
            <a:ext cx="3608230" cy="3373547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図 2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A5F4AEE-3212-B776-A596-16B5017FF2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519"/>
          <a:stretch>
            <a:fillRect/>
          </a:stretch>
        </p:blipFill>
        <p:spPr>
          <a:xfrm>
            <a:off x="320920" y="1608290"/>
            <a:ext cx="3489422" cy="2483536"/>
          </a:xfrm>
          <a:prstGeom prst="rect">
            <a:avLst/>
          </a:prstGeom>
          <a:solidFill>
            <a:schemeClr val="tx1">
              <a:lumMod val="65000"/>
              <a:lumOff val="35000"/>
              <a:alpha val="40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図 3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6C4BAFEB-1C55-6108-D92D-A336E5D55B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655"/>
          <a:stretch>
            <a:fillRect/>
          </a:stretch>
        </p:blipFill>
        <p:spPr>
          <a:xfrm>
            <a:off x="3955744" y="2055588"/>
            <a:ext cx="4026622" cy="3141389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B9CBEA2-6C3B-884C-8504-FE45C0D85DD0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変数の値を設定する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5F09C98-9661-4319-CA4C-DBF5EFE52D38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6AB58A8-6F0A-FF91-73B5-EE9A274FA0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4220" y="325697"/>
            <a:ext cx="1236510" cy="1299058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BD4697D-102B-A03A-80A6-48240ADC4AE0}"/>
              </a:ext>
            </a:extLst>
          </p:cNvPr>
          <p:cNvSpPr txBox="1"/>
          <p:nvPr/>
        </p:nvSpPr>
        <p:spPr>
          <a:xfrm>
            <a:off x="687559" y="922257"/>
            <a:ext cx="10509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混乱回避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カスタム変数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と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システム変数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の違い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677BB6-20CD-F9FB-FCEC-90930E658DEC}"/>
              </a:ext>
            </a:extLst>
          </p:cNvPr>
          <p:cNvSpPr txBox="1"/>
          <p:nvPr/>
        </p:nvSpPr>
        <p:spPr>
          <a:xfrm rot="352564">
            <a:off x="291642" y="4578102"/>
            <a:ext cx="40107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カスタム＝会話で作った値／</a:t>
            </a:r>
            <a:endParaRPr lang="en-US" altLang="ja-JP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システム＝最初から分かっている値」</a:t>
            </a:r>
            <a:endParaRPr lang="en-US" altLang="ja-JP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F9FF9B0-A4F2-1060-9E03-10DAACA70746}"/>
              </a:ext>
            </a:extLst>
          </p:cNvPr>
          <p:cNvSpPr/>
          <p:nvPr/>
        </p:nvSpPr>
        <p:spPr>
          <a:xfrm>
            <a:off x="3127431" y="2498733"/>
            <a:ext cx="579201" cy="41096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AD4D57BA-921A-310E-2311-8C597AA86993}"/>
              </a:ext>
            </a:extLst>
          </p:cNvPr>
          <p:cNvSpPr/>
          <p:nvPr/>
        </p:nvSpPr>
        <p:spPr>
          <a:xfrm>
            <a:off x="4058947" y="2618942"/>
            <a:ext cx="904703" cy="310735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AB8B57D5-5A1E-BA3F-5D7F-A56860284248}"/>
              </a:ext>
            </a:extLst>
          </p:cNvPr>
          <p:cNvSpPr/>
          <p:nvPr/>
        </p:nvSpPr>
        <p:spPr>
          <a:xfrm>
            <a:off x="9164209" y="2548848"/>
            <a:ext cx="810215" cy="310735"/>
          </a:xfrm>
          <a:prstGeom prst="roundRect">
            <a:avLst>
              <a:gd name="adj" fmla="val 691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D493238D-4118-6221-8C06-44581A4D8635}"/>
              </a:ext>
            </a:extLst>
          </p:cNvPr>
          <p:cNvSpPr/>
          <p:nvPr/>
        </p:nvSpPr>
        <p:spPr>
          <a:xfrm>
            <a:off x="931258" y="1719842"/>
            <a:ext cx="1489898" cy="391461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CE6EA645-005E-DD2A-C218-4014B3B3C658}"/>
              </a:ext>
            </a:extLst>
          </p:cNvPr>
          <p:cNvCxnSpPr>
            <a:cxnSpLocks/>
            <a:stCxn id="40" idx="3"/>
            <a:endCxn id="38" idx="0"/>
          </p:cNvCxnSpPr>
          <p:nvPr/>
        </p:nvCxnSpPr>
        <p:spPr>
          <a:xfrm>
            <a:off x="2421156" y="1915573"/>
            <a:ext cx="2090143" cy="703369"/>
          </a:xfrm>
          <a:prstGeom prst="bentConnector2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604944DC-F806-D491-5DB8-39F64967B3EC}"/>
              </a:ext>
            </a:extLst>
          </p:cNvPr>
          <p:cNvCxnSpPr>
            <a:cxnSpLocks/>
            <a:stCxn id="40" idx="3"/>
            <a:endCxn id="39" idx="0"/>
          </p:cNvCxnSpPr>
          <p:nvPr/>
        </p:nvCxnSpPr>
        <p:spPr>
          <a:xfrm>
            <a:off x="2421156" y="1915573"/>
            <a:ext cx="7148161" cy="633275"/>
          </a:xfrm>
          <a:prstGeom prst="bentConnector2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7BCD779-C028-8D33-A5A2-CDA3B1025414}"/>
              </a:ext>
            </a:extLst>
          </p:cNvPr>
          <p:cNvSpPr/>
          <p:nvPr/>
        </p:nvSpPr>
        <p:spPr>
          <a:xfrm>
            <a:off x="364029" y="3032449"/>
            <a:ext cx="3342603" cy="982249"/>
          </a:xfrm>
          <a:prstGeom prst="rect">
            <a:avLst/>
          </a:prstGeom>
          <a:solidFill>
            <a:schemeClr val="tx1">
              <a:lumMod val="50000"/>
              <a:lumOff val="5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矢印: 右 48">
            <a:extLst>
              <a:ext uri="{FF2B5EF4-FFF2-40B4-BE49-F238E27FC236}">
                <a16:creationId xmlns:a16="http://schemas.microsoft.com/office/drawing/2014/main" id="{91D7010C-D553-EC38-5E2E-774A9F2BBE27}"/>
              </a:ext>
            </a:extLst>
          </p:cNvPr>
          <p:cNvSpPr/>
          <p:nvPr/>
        </p:nvSpPr>
        <p:spPr>
          <a:xfrm rot="8977056">
            <a:off x="9933860" y="2338242"/>
            <a:ext cx="363560" cy="230914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1737CB2-7F3D-511E-8FBF-C9A6A6AADD85}"/>
              </a:ext>
            </a:extLst>
          </p:cNvPr>
          <p:cNvSpPr/>
          <p:nvPr/>
        </p:nvSpPr>
        <p:spPr>
          <a:xfrm>
            <a:off x="4013591" y="4685397"/>
            <a:ext cx="3778767" cy="1899606"/>
          </a:xfrm>
          <a:prstGeom prst="roundRect">
            <a:avLst>
              <a:gd name="adj" fmla="val 7334"/>
            </a:avLst>
          </a:prstGeom>
          <a:solidFill>
            <a:schemeClr val="bg2">
              <a:lumMod val="75000"/>
              <a:alpha val="6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7FF4EA9-2C5F-B6EA-B20B-3E86FA7F662D}"/>
              </a:ext>
            </a:extLst>
          </p:cNvPr>
          <p:cNvSpPr txBox="1"/>
          <p:nvPr/>
        </p:nvSpPr>
        <p:spPr>
          <a:xfrm>
            <a:off x="4051100" y="4727688"/>
            <a:ext cx="37646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>
                <a:solidFill>
                  <a:schemeClr val="bg1"/>
                </a:solidFill>
                <a:effectLst>
                  <a:glow rad="101600">
                    <a:schemeClr val="tx1">
                      <a:lumMod val="85000"/>
                      <a:lumOff val="15000"/>
                    </a:schemeClr>
                  </a:glow>
                </a:effectLst>
              </a:rPr>
              <a:t>自分（この会話・トピック）で作った変数を使う</a:t>
            </a:r>
            <a:endParaRPr lang="en-US" altLang="ja-JP" sz="2000" b="1" u="sng">
              <a:solidFill>
                <a:schemeClr val="bg1"/>
              </a:solidFill>
              <a:effectLst>
                <a:glow rad="101600">
                  <a:schemeClr val="tx1">
                    <a:lumMod val="85000"/>
                    <a:lumOff val="15000"/>
                  </a:schemeClr>
                </a:glow>
              </a:effectLst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09E1075-D59F-1B29-6ECC-A26567FFD044}"/>
              </a:ext>
            </a:extLst>
          </p:cNvPr>
          <p:cNvSpPr txBox="1"/>
          <p:nvPr/>
        </p:nvSpPr>
        <p:spPr>
          <a:xfrm>
            <a:off x="4122224" y="5373705"/>
            <a:ext cx="3608230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・質問アクションで取得した回答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・変数値を設定するで作成した変数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・会話の途中で保存した情報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F70660D3-AB1F-7E25-C7CE-A523F9AE1CF8}"/>
              </a:ext>
            </a:extLst>
          </p:cNvPr>
          <p:cNvSpPr/>
          <p:nvPr/>
        </p:nvSpPr>
        <p:spPr>
          <a:xfrm>
            <a:off x="8235476" y="4685397"/>
            <a:ext cx="3778767" cy="1899606"/>
          </a:xfrm>
          <a:prstGeom prst="roundRect">
            <a:avLst>
              <a:gd name="adj" fmla="val 7334"/>
            </a:avLst>
          </a:prstGeom>
          <a:solidFill>
            <a:schemeClr val="bg2">
              <a:lumMod val="75000"/>
              <a:alpha val="60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797DCAF-960C-CD52-FA86-4BB978E01268}"/>
              </a:ext>
            </a:extLst>
          </p:cNvPr>
          <p:cNvSpPr txBox="1"/>
          <p:nvPr/>
        </p:nvSpPr>
        <p:spPr>
          <a:xfrm>
            <a:off x="8311525" y="4685397"/>
            <a:ext cx="36082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u="sng">
                <a:solidFill>
                  <a:schemeClr val="bg1"/>
                </a:solidFill>
                <a:effectLst>
                  <a:glow rad="101600">
                    <a:schemeClr val="tx1">
                      <a:lumMod val="85000"/>
                      <a:lumOff val="15000"/>
                    </a:schemeClr>
                  </a:glow>
                </a:effectLst>
              </a:rPr>
              <a:t>Copilot Studio </a:t>
            </a:r>
            <a:r>
              <a:rPr lang="ja-JP" altLang="en-US" sz="2000" b="1" u="sng">
                <a:solidFill>
                  <a:schemeClr val="bg1"/>
                </a:solidFill>
                <a:effectLst>
                  <a:glow rad="101600">
                    <a:schemeClr val="tx1">
                      <a:lumMod val="85000"/>
                      <a:lumOff val="15000"/>
                    </a:schemeClr>
                  </a:glow>
                </a:effectLst>
              </a:rPr>
              <a:t>が最初から持っている情報を使う</a:t>
            </a:r>
            <a:endParaRPr lang="en-US" altLang="ja-JP" sz="2000" b="1" u="sng">
              <a:solidFill>
                <a:schemeClr val="bg1"/>
              </a:solidFill>
              <a:effectLst>
                <a:glow rad="101600">
                  <a:schemeClr val="tx1">
                    <a:lumMod val="85000"/>
                    <a:lumOff val="15000"/>
                  </a:schemeClr>
                </a:glow>
              </a:effectLst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8691202-3DEB-8CC0-78D7-7A62650E9477}"/>
              </a:ext>
            </a:extLst>
          </p:cNvPr>
          <p:cNvSpPr txBox="1"/>
          <p:nvPr/>
        </p:nvSpPr>
        <p:spPr>
          <a:xfrm>
            <a:off x="8406013" y="5385117"/>
            <a:ext cx="3608230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・ユーザーの言語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・タイムゾーン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1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・ユーザー情報（名前・メールなど</a:t>
            </a:r>
            <a:endParaRPr lang="en-US" altLang="ja-JP" sz="1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