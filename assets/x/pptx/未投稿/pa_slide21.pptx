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50CF8A86-12F1-F683-AC41-8064A08B2440}"/>
              </a:ext>
            </a:extLst>
          </p:cNvPr>
          <p:cNvSpPr/>
          <p:nvPr/>
        </p:nvSpPr>
        <p:spPr>
          <a:xfrm>
            <a:off x="8700046" y="1392775"/>
            <a:ext cx="3384842" cy="4104695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Shape 35">
            <a:extLst>
              <a:ext uri="{FF2B5EF4-FFF2-40B4-BE49-F238E27FC236}">
                <a16:creationId xmlns:a16="http://schemas.microsoft.com/office/drawing/2014/main" id="{5E34663B-7A77-AA1E-3CF5-5BEFDDC98B12}"/>
              </a:ext>
            </a:extLst>
          </p:cNvPr>
          <p:cNvSpPr/>
          <p:nvPr/>
        </p:nvSpPr>
        <p:spPr>
          <a:xfrm>
            <a:off x="8808720" y="4813232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52D0FB02-B2BF-FEFB-6BA2-E91739BA6882}"/>
              </a:ext>
            </a:extLst>
          </p:cNvPr>
          <p:cNvSpPr/>
          <p:nvPr/>
        </p:nvSpPr>
        <p:spPr>
          <a:xfrm>
            <a:off x="3253475" y="2936995"/>
            <a:ext cx="5307927" cy="1103480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Shape 1">
            <a:extLst>
              <a:ext uri="{FF2B5EF4-FFF2-40B4-BE49-F238E27FC236}">
                <a16:creationId xmlns:a16="http://schemas.microsoft.com/office/drawing/2014/main" id="{D660E1FC-A454-3003-A374-1DC000134D5C}"/>
              </a:ext>
            </a:extLst>
          </p:cNvPr>
          <p:cNvSpPr/>
          <p:nvPr/>
        </p:nvSpPr>
        <p:spPr>
          <a:xfrm>
            <a:off x="-47718" y="-215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039112" y="-80518"/>
            <a:ext cx="935543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空欄のせいでフローが止まる問題、</a:t>
            </a:r>
            <a:r>
              <a:rPr lang="ja-JP" alt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だいたい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これで解決。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7395" y="718176"/>
            <a:ext cx="1207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「空欄のせいでフローが止まる…」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そんな日々と今日で決別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753287" y="1507489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空欄トラブル </a:t>
            </a:r>
            <a:endParaRPr lang="en-US" sz="2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805" y="1448589"/>
            <a:ext cx="367359" cy="367359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07086" y="2102205"/>
            <a:ext cx="2647188" cy="27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列が空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null で停止</a:t>
            </a:r>
            <a:endParaRPr lang="en-US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12801" y="1986741"/>
            <a:ext cx="329869" cy="43865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907086" y="2862098"/>
            <a:ext cx="2771547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 セルが空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計算崩壊/エラー</a:t>
            </a:r>
            <a:endParaRPr lang="en-US" dirty="0"/>
          </a:p>
        </p:txBody>
      </p:sp>
      <p:sp>
        <p:nvSpPr>
          <p:cNvPr id="18" name="Text 8"/>
          <p:cNvSpPr txBox="1"/>
          <p:nvPr/>
        </p:nvSpPr>
        <p:spPr>
          <a:xfrm>
            <a:off x="857707" y="3594813"/>
            <a:ext cx="2607869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 キー欠損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undefined 爆発</a:t>
            </a:r>
            <a:endParaRPr lang="en-US" dirty="0"/>
          </a:p>
        </p:txBody>
      </p:sp>
      <p:sp>
        <p:nvSpPr>
          <p:cNvPr id="20" name="Text 9"/>
          <p:cNvSpPr txBox="1"/>
          <p:nvPr/>
        </p:nvSpPr>
        <p:spPr>
          <a:xfrm>
            <a:off x="927202" y="4547362"/>
            <a:ext cx="2733142" cy="54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件名が空で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"__.xlsx" 事故</a:t>
            </a:r>
            <a:endParaRPr lang="en-US" dirty="0"/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BAFF1337-8AC1-A904-F5D2-B14D5E65EC41}"/>
              </a:ext>
            </a:extLst>
          </p:cNvPr>
          <p:cNvGrpSpPr/>
          <p:nvPr/>
        </p:nvGrpSpPr>
        <p:grpSpPr>
          <a:xfrm>
            <a:off x="3225977" y="1513208"/>
            <a:ext cx="5118414" cy="1132015"/>
            <a:chOff x="3344161" y="1382402"/>
            <a:chExt cx="4191296" cy="655616"/>
          </a:xfrm>
        </p:grpSpPr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72148F2F-56F7-1AD1-1AD1-E5CAFC75AD96}"/>
                </a:ext>
              </a:extLst>
            </p:cNvPr>
            <p:cNvGrpSpPr/>
            <p:nvPr/>
          </p:nvGrpSpPr>
          <p:grpSpPr>
            <a:xfrm>
              <a:off x="3344161" y="1382402"/>
              <a:ext cx="4191296" cy="465143"/>
              <a:chOff x="3403187" y="1765155"/>
              <a:chExt cx="4191296" cy="465143"/>
            </a:xfrm>
          </p:grpSpPr>
          <p:sp>
            <p:nvSpPr>
              <p:cNvPr id="24" name="Shape 12"/>
              <p:cNvSpPr/>
              <p:nvPr/>
            </p:nvSpPr>
            <p:spPr>
              <a:xfrm>
                <a:off x="3510422" y="1766825"/>
                <a:ext cx="857609" cy="463473"/>
              </a:xfrm>
              <a:prstGeom prst="roundRect">
                <a:avLst>
                  <a:gd name="adj" fmla="val 35266"/>
                </a:avLst>
              </a:prstGeom>
              <a:solidFill>
                <a:srgbClr val="FEE2E2">
                  <a:alpha val="60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5" name="Text 13"/>
              <p:cNvSpPr txBox="1"/>
              <p:nvPr/>
            </p:nvSpPr>
            <p:spPr>
              <a:xfrm>
                <a:off x="3403187" y="1831450"/>
                <a:ext cx="1404624" cy="381305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38100" rIns="76200" bIns="38100" rtlCol="0" anchor="ctr"/>
              <a:lstStyle/>
              <a:p>
                <a:pPr marL="0" indent="0" algn="l">
                  <a:buNone/>
                </a:pPr>
                <a:r>
                  <a:rPr lang="ja-JP" alt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条件分岐</a:t>
                </a:r>
                <a:endParaRPr lang="en-US" altLang="ja-JP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endParaRPr>
              </a:p>
              <a:p>
                <a:pPr marL="0" indent="0" algn="l">
                  <a:buNone/>
                </a:pPr>
                <a:r>
                  <a:rPr 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(Condition) 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27" name="Image 10" descr="preencoded.png"/>
              <p:cNvPicPr>
                <a:picLocks noChangeAspect="1"/>
              </p:cNvPicPr>
              <p:nvPr/>
            </p:nvPicPr>
            <p:blipFill>
              <a:blip r:embed="rId5">
                <a:alphaModFix amt="60000"/>
              </a:blip>
              <a:srcRect l="-2571" r="-2571"/>
              <a:stretch/>
            </p:blipFill>
            <p:spPr>
              <a:xfrm>
                <a:off x="4978908" y="1837944"/>
                <a:ext cx="105156" cy="114300"/>
              </a:xfrm>
              <a:prstGeom prst="rect">
                <a:avLst/>
              </a:prstGeom>
            </p:spPr>
          </p:pic>
          <p:sp>
            <p:nvSpPr>
              <p:cNvPr id="28" name="Shape 15"/>
              <p:cNvSpPr/>
              <p:nvPr/>
            </p:nvSpPr>
            <p:spPr>
              <a:xfrm>
                <a:off x="4542178" y="1765155"/>
                <a:ext cx="980326" cy="21334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0" name="Shape 17"/>
              <p:cNvSpPr/>
              <p:nvPr/>
            </p:nvSpPr>
            <p:spPr>
              <a:xfrm>
                <a:off x="5926340" y="1784727"/>
                <a:ext cx="1522983" cy="194315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6" name="Text 14"/>
              <p:cNvSpPr txBox="1"/>
              <p:nvPr/>
            </p:nvSpPr>
            <p:spPr>
              <a:xfrm>
                <a:off x="4670451" y="1784925"/>
                <a:ext cx="865643" cy="192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値が空?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Text 16"/>
              <p:cNvSpPr txBox="1"/>
              <p:nvPr/>
            </p:nvSpPr>
            <p:spPr>
              <a:xfrm>
                <a:off x="6069222" y="1784727"/>
                <a:ext cx="1525261" cy="19280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Yes: '未設定'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07" name="Shape 17">
                <a:extLst>
                  <a:ext uri="{FF2B5EF4-FFF2-40B4-BE49-F238E27FC236}">
                    <a16:creationId xmlns:a16="http://schemas.microsoft.com/office/drawing/2014/main" id="{6928AAD6-B5A5-4321-7275-E40BA35ACE05}"/>
                  </a:ext>
                </a:extLst>
              </p:cNvPr>
              <p:cNvSpPr/>
              <p:nvPr/>
            </p:nvSpPr>
            <p:spPr>
              <a:xfrm>
                <a:off x="5913669" y="2010962"/>
                <a:ext cx="925713" cy="18875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1" name="Text 18"/>
              <p:cNvSpPr txBox="1"/>
              <p:nvPr/>
            </p:nvSpPr>
            <p:spPr>
              <a:xfrm>
                <a:off x="6079560" y="2033965"/>
                <a:ext cx="833191" cy="15534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No: 値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2" name="Text 19"/>
            <p:cNvSpPr txBox="1"/>
            <p:nvPr/>
          </p:nvSpPr>
          <p:spPr>
            <a:xfrm>
              <a:off x="4911291" y="1825573"/>
              <a:ext cx="2456349" cy="2124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▲ちょっと大げさ？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5" name="Shape 20"/>
          <p:cNvSpPr/>
          <p:nvPr/>
        </p:nvSpPr>
        <p:spPr>
          <a:xfrm>
            <a:off x="3396723" y="3058191"/>
            <a:ext cx="1096188" cy="805678"/>
          </a:xfrm>
          <a:prstGeom prst="roundRect">
            <a:avLst>
              <a:gd name="adj" fmla="val 2784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Text 21"/>
          <p:cNvSpPr txBox="1"/>
          <p:nvPr/>
        </p:nvSpPr>
        <p:spPr>
          <a:xfrm>
            <a:off x="3519627" y="3105838"/>
            <a:ext cx="945109" cy="7491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if()</a:t>
            </a: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関数</a:t>
            </a: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 </a:t>
            </a:r>
            <a:endParaRPr lang="en-US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3230582" y="3178750"/>
            <a:ext cx="279425" cy="554417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4588853" y="3083398"/>
            <a:ext cx="3709707" cy="396992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4701889" y="3138968"/>
            <a:ext cx="368553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if(equals(値,''), '未設定', 値)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4436669" y="3570148"/>
            <a:ext cx="4372051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△ まだ長い…同じ値を2回書くのが無駄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8921761" y="1903852"/>
            <a:ext cx="771754" cy="267005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26"/>
          <p:cNvSpPr txBox="1"/>
          <p:nvPr/>
        </p:nvSpPr>
        <p:spPr>
          <a:xfrm>
            <a:off x="9018935" y="1248719"/>
            <a:ext cx="2851139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実務での使いどころ </a:t>
            </a:r>
            <a:endParaRPr lang="en-US" sz="2400" dirty="0"/>
          </a:p>
        </p:txBody>
      </p:sp>
      <p:sp>
        <p:nvSpPr>
          <p:cNvPr id="47" name="Text 29"/>
          <p:cNvSpPr txBox="1"/>
          <p:nvPr/>
        </p:nvSpPr>
        <p:spPr>
          <a:xfrm>
            <a:off x="10123515" y="1871794"/>
            <a:ext cx="1844995" cy="171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"-" に置換</a:t>
            </a:r>
            <a:endParaRPr lang="en-US" sz="1600" dirty="0"/>
          </a:p>
        </p:txBody>
      </p:sp>
      <p:sp>
        <p:nvSpPr>
          <p:cNvPr id="51" name="Shape 32"/>
          <p:cNvSpPr/>
          <p:nvPr/>
        </p:nvSpPr>
        <p:spPr>
          <a:xfrm>
            <a:off x="8759911" y="3105838"/>
            <a:ext cx="1102066" cy="378107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33"/>
          <p:cNvSpPr txBox="1"/>
          <p:nvPr/>
        </p:nvSpPr>
        <p:spPr>
          <a:xfrm>
            <a:off x="8858122" y="3173719"/>
            <a:ext cx="1015659" cy="2508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</a:t>
            </a:r>
            <a:endParaRPr lang="en-US" sz="2400" dirty="0"/>
          </a:p>
        </p:txBody>
      </p:sp>
      <p:sp>
        <p:nvSpPr>
          <p:cNvPr id="53" name="Text 34"/>
          <p:cNvSpPr txBox="1"/>
          <p:nvPr/>
        </p:nvSpPr>
        <p:spPr>
          <a:xfrm>
            <a:off x="10025160" y="3246527"/>
            <a:ext cx="2047585" cy="167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0 (計算用)</a:t>
            </a:r>
            <a:endParaRPr lang="en-US" sz="1600" dirty="0"/>
          </a:p>
        </p:txBody>
      </p:sp>
      <p:sp>
        <p:nvSpPr>
          <p:cNvPr id="54" name="Shape 35"/>
          <p:cNvSpPr/>
          <p:nvPr/>
        </p:nvSpPr>
        <p:spPr>
          <a:xfrm>
            <a:off x="8708780" y="3525514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36"/>
          <p:cNvSpPr txBox="1"/>
          <p:nvPr/>
        </p:nvSpPr>
        <p:spPr>
          <a:xfrm>
            <a:off x="8854868" y="3583272"/>
            <a:ext cx="3467405" cy="5324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変数['金額'], 0)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8831003" y="4489090"/>
            <a:ext cx="1099780" cy="310864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41"/>
          <p:cNvSpPr txBox="1"/>
          <p:nvPr/>
        </p:nvSpPr>
        <p:spPr>
          <a:xfrm>
            <a:off x="8820461" y="4833792"/>
            <a:ext cx="3353105" cy="56835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body()?['name'], '名称なし')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8" name="Text 38"/>
          <p:cNvSpPr txBox="1"/>
          <p:nvPr/>
        </p:nvSpPr>
        <p:spPr>
          <a:xfrm>
            <a:off x="8877199" y="4513650"/>
            <a:ext cx="1189494" cy="2633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endParaRPr lang="en-US" sz="2400" dirty="0"/>
          </a:p>
        </p:txBody>
      </p:sp>
      <p:sp>
        <p:nvSpPr>
          <p:cNvPr id="59" name="Text 39"/>
          <p:cNvSpPr txBox="1"/>
          <p:nvPr/>
        </p:nvSpPr>
        <p:spPr>
          <a:xfrm>
            <a:off x="10085039" y="4509204"/>
            <a:ext cx="1451184" cy="2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欠損値の補完</a:t>
            </a:r>
            <a:endParaRPr lang="en-US" sz="160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7"/>
          <a:srcRect l="-15" r="-15"/>
          <a:stretch/>
        </p:blipFill>
        <p:spPr>
          <a:xfrm>
            <a:off x="168416" y="5497470"/>
            <a:ext cx="11971280" cy="1203468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/>
          <a:stretch/>
        </p:blipFill>
        <p:spPr>
          <a:xfrm>
            <a:off x="11772900" y="6676949"/>
            <a:ext cx="152705" cy="152705"/>
          </a:xfrm>
          <a:prstGeom prst="rect">
            <a:avLst/>
          </a:prstGeom>
        </p:spPr>
      </p:pic>
      <p:pic>
        <p:nvPicPr>
          <p:cNvPr id="71" name="Image 21" descr="preencoded.png"/>
          <p:cNvPicPr>
            <a:picLocks noChangeAspect="1"/>
          </p:cNvPicPr>
          <p:nvPr/>
        </p:nvPicPr>
        <p:blipFill>
          <a:blip r:embed="rId9"/>
          <a:srcRect t="-16" b="-16"/>
          <a:stretch/>
        </p:blipFill>
        <p:spPr>
          <a:xfrm>
            <a:off x="273250" y="5552676"/>
            <a:ext cx="3694622" cy="1154745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774647" y="5694032"/>
            <a:ext cx="3067812" cy="23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4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値1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,</a:t>
            </a:r>
            <a:r>
              <a:rPr lang="en-US" sz="2400" b="1" dirty="0">
                <a:solidFill>
                  <a:srgbClr val="34D39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値2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)</a:t>
            </a:r>
            <a:endParaRPr lang="en-US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3" name="Text 49"/>
          <p:cNvSpPr txBox="1"/>
          <p:nvPr/>
        </p:nvSpPr>
        <p:spPr>
          <a:xfrm>
            <a:off x="702244" y="6122228"/>
            <a:ext cx="3534307" cy="53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値1 が空なら 値2 </a:t>
            </a: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を返す。</a:t>
            </a:r>
          </a:p>
          <a:p>
            <a:pPr marL="0" indent="0" algn="l">
              <a:buNone/>
            </a:pP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</a:t>
            </a: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 があればそのまま返す。</a:t>
            </a:r>
            <a:endParaRPr lang="en-US" sz="20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295340" y="5587535"/>
            <a:ext cx="248341" cy="330239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6B7280">
                    <a:alpha val="5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#PA45</a:t>
            </a:r>
            <a:endParaRPr lang="en-US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Shape 51"/>
          <p:cNvSpPr/>
          <p:nvPr/>
        </p:nvSpPr>
        <p:spPr>
          <a:xfrm>
            <a:off x="4146804" y="5710428"/>
            <a:ext cx="9144" cy="972007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9" name="Image 25" descr="preencoded.png"/>
          <p:cNvPicPr>
            <a:picLocks noChangeAspect="1"/>
          </p:cNvPicPr>
          <p:nvPr/>
        </p:nvPicPr>
        <p:blipFill>
          <a:blip r:embed="rId11"/>
          <a:srcRect t="-842" b="-842"/>
          <a:stretch/>
        </p:blipFill>
        <p:spPr>
          <a:xfrm>
            <a:off x="4163215" y="5728070"/>
            <a:ext cx="360439" cy="325781"/>
          </a:xfrm>
          <a:prstGeom prst="rect">
            <a:avLst/>
          </a:prstGeom>
        </p:spPr>
      </p:pic>
      <p:sp>
        <p:nvSpPr>
          <p:cNvPr id="80" name="Text 52"/>
          <p:cNvSpPr txBox="1"/>
          <p:nvPr/>
        </p:nvSpPr>
        <p:spPr>
          <a:xfrm>
            <a:off x="4606759" y="5803161"/>
            <a:ext cx="535460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複数渡せる＝「最初に空じゃない値」を返す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55948" y="6179644"/>
            <a:ext cx="325781" cy="325781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4613714" y="6188111"/>
            <a:ext cx="4802612" cy="32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Condition も if() も不要。たった1行。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3" name="Shape 54"/>
          <p:cNvSpPr/>
          <p:nvPr/>
        </p:nvSpPr>
        <p:spPr>
          <a:xfrm>
            <a:off x="9296618" y="5667110"/>
            <a:ext cx="2800746" cy="934796"/>
          </a:xfrm>
          <a:prstGeom prst="roundRect">
            <a:avLst>
              <a:gd name="adj" fmla="val 21712"/>
            </a:avLst>
          </a:prstGeom>
          <a:noFill/>
          <a:ln w="349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4" name="Text 55"/>
          <p:cNvSpPr txBox="1"/>
          <p:nvPr/>
        </p:nvSpPr>
        <p:spPr>
          <a:xfrm>
            <a:off x="9149299" y="5854921"/>
            <a:ext cx="3115361" cy="58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一言で覚えるなら：</a:t>
            </a:r>
          </a:p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「</a:t>
            </a:r>
            <a:r>
              <a:rPr lang="en-US" b="1" dirty="0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空ならこっち使っといて」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5" name="Image 27" descr="preencoded.png"/>
          <p:cNvPicPr>
            <a:picLocks noChangeAspect="1"/>
          </p:cNvPicPr>
          <p:nvPr/>
        </p:nvPicPr>
        <p:blipFill>
          <a:blip r:embed="rId13"/>
          <a:srcRect t="-17" b="-17"/>
          <a:stretch/>
        </p:blipFill>
        <p:spPr>
          <a:xfrm>
            <a:off x="3159621" y="4339928"/>
            <a:ext cx="5514337" cy="1065500"/>
          </a:xfrm>
          <a:prstGeom prst="rect">
            <a:avLst/>
          </a:prstGeom>
        </p:spPr>
      </p:pic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14"/>
          <a:srcRect t="-374" b="-374"/>
          <a:stretch/>
        </p:blipFill>
        <p:spPr>
          <a:xfrm>
            <a:off x="3277924" y="4693295"/>
            <a:ext cx="1706625" cy="381258"/>
          </a:xfrm>
          <a:prstGeom prst="rect">
            <a:avLst/>
          </a:prstGeom>
        </p:spPr>
      </p:pic>
      <p:sp>
        <p:nvSpPr>
          <p:cNvPr id="87" name="Text 56"/>
          <p:cNvSpPr txBox="1"/>
          <p:nvPr/>
        </p:nvSpPr>
        <p:spPr>
          <a:xfrm>
            <a:off x="3356198" y="4660877"/>
            <a:ext cx="1644751" cy="41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coalesce </a:t>
            </a:r>
            <a:endParaRPr lang="en-US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15"/>
          <a:srcRect t="-549" b="-549"/>
          <a:stretch/>
        </p:blipFill>
        <p:spPr>
          <a:xfrm>
            <a:off x="5069967" y="4460123"/>
            <a:ext cx="3572406" cy="466344"/>
          </a:xfrm>
          <a:prstGeom prst="rect">
            <a:avLst/>
          </a:prstGeom>
        </p:spPr>
      </p:pic>
      <p:sp>
        <p:nvSpPr>
          <p:cNvPr id="89" name="Text 57"/>
          <p:cNvSpPr txBox="1"/>
          <p:nvPr/>
        </p:nvSpPr>
        <p:spPr>
          <a:xfrm>
            <a:off x="5114433" y="4456620"/>
            <a:ext cx="346146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coalesce( </a:t>
            </a:r>
            <a:r>
              <a:rPr lang="en-US" sz="24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, </a:t>
            </a:r>
            <a:r>
              <a:rPr lang="en-US" sz="2400" b="1" dirty="0">
                <a:solidFill>
                  <a:srgbClr val="05966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'未設定'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) </a:t>
            </a:r>
            <a:endParaRPr 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0" name="Text 58"/>
          <p:cNvSpPr txBox="1"/>
          <p:nvPr/>
        </p:nvSpPr>
        <p:spPr>
          <a:xfrm>
            <a:off x="5439541" y="4986991"/>
            <a:ext cx="3347901" cy="34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これ</a:t>
            </a:r>
            <a:r>
              <a:rPr lang="en-US" sz="20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1行で解決</a:t>
            </a: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！ 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3" name="Image 32" descr="preencoded.png"/>
          <p:cNvPicPr>
            <a:picLocks noChangeAspect="1"/>
          </p:cNvPicPr>
          <p:nvPr/>
        </p:nvPicPr>
        <p:blipFill>
          <a:blip r:embed="rId16"/>
          <a:srcRect l="-382" r="-382"/>
          <a:stretch/>
        </p:blipFill>
        <p:spPr>
          <a:xfrm>
            <a:off x="3215903" y="4140831"/>
            <a:ext cx="1610096" cy="450978"/>
          </a:xfrm>
          <a:prstGeom prst="rect">
            <a:avLst/>
          </a:prstGeom>
        </p:spPr>
      </p:pic>
      <p:sp>
        <p:nvSpPr>
          <p:cNvPr id="94" name="Text 59"/>
          <p:cNvSpPr/>
          <p:nvPr/>
        </p:nvSpPr>
        <p:spPr>
          <a:xfrm>
            <a:off x="3340522" y="4094532"/>
            <a:ext cx="1349436" cy="505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最短・最強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84A51C24-B183-579B-E24D-F226393FE71B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58AB91C4-67B4-49DD-92A6-D9B76BF9C9D3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8" name="Shape 2">
              <a:extLst>
                <a:ext uri="{FF2B5EF4-FFF2-40B4-BE49-F238E27FC236}">
                  <a16:creationId xmlns:a16="http://schemas.microsoft.com/office/drawing/2014/main" id="{512F1304-18EA-93DE-8108-492AE674E1F3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9" name="Text 3">
              <a:extLst>
                <a:ext uri="{FF2B5EF4-FFF2-40B4-BE49-F238E27FC236}">
                  <a16:creationId xmlns:a16="http://schemas.microsoft.com/office/drawing/2014/main" id="{B40684D0-8092-8F0C-B69E-A84F804323B6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Vol.30</a:t>
              </a:r>
              <a:endParaRPr lang="en-US" sz="3200" dirty="0"/>
            </a:p>
          </p:txBody>
        </p:sp>
      </p:grpSp>
      <p:pic>
        <p:nvPicPr>
          <p:cNvPr id="100" name="図 9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2124A276-C22E-6C18-C825-E8E2C4C98C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68" y="573709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図 2" descr="The image depicts a character holding a red flower with a Japanese character on a whit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5D910BDD-AF89-37F4-088B-027034E564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2428" y="-214038"/>
            <a:ext cx="1588149" cy="1633059"/>
          </a:xfrm>
          <a:prstGeom prst="rect">
            <a:avLst/>
          </a:prstGeom>
        </p:spPr>
      </p:pic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F6D4BF0C-36AE-2DC7-17B1-657B3810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34889" y="2912547"/>
            <a:ext cx="329869" cy="438654"/>
          </a:xfrm>
          <a:prstGeom prst="rect">
            <a:avLst/>
          </a:prstGeom>
        </p:spPr>
      </p:pic>
      <p:pic>
        <p:nvPicPr>
          <p:cNvPr id="101" name="Image 6" descr="preencoded.png">
            <a:extLst>
              <a:ext uri="{FF2B5EF4-FFF2-40B4-BE49-F238E27FC236}">
                <a16:creationId xmlns:a16="http://schemas.microsoft.com/office/drawing/2014/main" id="{73106039-F580-A370-8DF7-120BBA19D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50598" y="3696006"/>
            <a:ext cx="329869" cy="438654"/>
          </a:xfrm>
          <a:prstGeom prst="rect">
            <a:avLst/>
          </a:prstGeom>
        </p:spPr>
      </p:pic>
      <p:pic>
        <p:nvPicPr>
          <p:cNvPr id="102" name="Image 6" descr="preencoded.png">
            <a:extLst>
              <a:ext uri="{FF2B5EF4-FFF2-40B4-BE49-F238E27FC236}">
                <a16:creationId xmlns:a16="http://schemas.microsoft.com/office/drawing/2014/main" id="{FDA37557-FB94-7FC9-360E-BDC25C54F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44133" y="4648810"/>
            <a:ext cx="329869" cy="438654"/>
          </a:xfrm>
          <a:prstGeom prst="rect">
            <a:avLst/>
          </a:prstGeom>
        </p:spPr>
      </p:pic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5B525013-C72F-377A-E8AE-A79ECC7384B5}"/>
              </a:ext>
            </a:extLst>
          </p:cNvPr>
          <p:cNvSpPr/>
          <p:nvPr/>
        </p:nvSpPr>
        <p:spPr>
          <a:xfrm>
            <a:off x="197511" y="1366513"/>
            <a:ext cx="2918586" cy="4082397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B49789EE-5B51-1690-A549-77C4CFE50B81}"/>
              </a:ext>
            </a:extLst>
          </p:cNvPr>
          <p:cNvSpPr/>
          <p:nvPr/>
        </p:nvSpPr>
        <p:spPr>
          <a:xfrm>
            <a:off x="3204220" y="1349617"/>
            <a:ext cx="5307927" cy="1341049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2E209DE0-F9FC-20BD-DE00-B1F980B2B255}"/>
              </a:ext>
            </a:extLst>
          </p:cNvPr>
          <p:cNvCxnSpPr>
            <a:cxnSpLocks/>
          </p:cNvCxnSpPr>
          <p:nvPr/>
        </p:nvCxnSpPr>
        <p:spPr>
          <a:xfrm>
            <a:off x="5740121" y="2645385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Shape 32">
            <a:extLst>
              <a:ext uri="{FF2B5EF4-FFF2-40B4-BE49-F238E27FC236}">
                <a16:creationId xmlns:a16="http://schemas.microsoft.com/office/drawing/2014/main" id="{DFE5B2FE-91C9-41B4-F91E-C6C623E2EC0E}"/>
              </a:ext>
            </a:extLst>
          </p:cNvPr>
          <p:cNvSpPr/>
          <p:nvPr/>
        </p:nvSpPr>
        <p:spPr>
          <a:xfrm>
            <a:off x="8710650" y="1809938"/>
            <a:ext cx="1214362" cy="331920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28"/>
          <p:cNvSpPr txBox="1"/>
          <p:nvPr/>
        </p:nvSpPr>
        <p:spPr>
          <a:xfrm>
            <a:off x="8758454" y="1821547"/>
            <a:ext cx="1505592" cy="293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SPリスト</a:t>
            </a:r>
            <a:endParaRPr lang="en-US" sz="20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A1790BD3-5069-C7F5-D935-3E08F362E058}"/>
              </a:ext>
            </a:extLst>
          </p:cNvPr>
          <p:cNvSpPr/>
          <p:nvPr/>
        </p:nvSpPr>
        <p:spPr>
          <a:xfrm>
            <a:off x="8683425" y="2240132"/>
            <a:ext cx="3226502" cy="635795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31"/>
          <p:cNvSpPr txBox="1"/>
          <p:nvPr/>
        </p:nvSpPr>
        <p:spPr>
          <a:xfrm>
            <a:off x="8773042" y="2153058"/>
            <a:ext cx="3099896" cy="7525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item</a:t>
            </a: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()?['Title’],'-')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12477" y="1186025"/>
            <a:ext cx="327183" cy="327183"/>
          </a:xfrm>
          <a:prstGeom prst="rect">
            <a:avLst/>
          </a:prstGeom>
        </p:spPr>
      </p:pic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2CC4ADB4-B03E-83F0-C0B6-F399E5F2CF1C}"/>
              </a:ext>
            </a:extLst>
          </p:cNvPr>
          <p:cNvCxnSpPr>
            <a:cxnSpLocks/>
          </p:cNvCxnSpPr>
          <p:nvPr/>
        </p:nvCxnSpPr>
        <p:spPr>
          <a:xfrm>
            <a:off x="5740121" y="3997690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5A3521F-35C5-473F-C984-722452D974EB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5830685" y="1713800"/>
            <a:ext cx="476568" cy="959"/>
          </a:xfrm>
          <a:prstGeom prst="bentConnector3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478F55B6-347D-E362-2AE9-89157C2287A7}"/>
              </a:ext>
            </a:extLst>
          </p:cNvPr>
          <p:cNvCxnSpPr>
            <a:cxnSpLocks/>
            <a:stCxn id="26" idx="3"/>
            <a:endCxn id="107" idx="1"/>
          </p:cNvCxnSpPr>
          <p:nvPr/>
        </p:nvCxnSpPr>
        <p:spPr>
          <a:xfrm>
            <a:off x="5830685" y="1713800"/>
            <a:ext cx="461095" cy="386788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