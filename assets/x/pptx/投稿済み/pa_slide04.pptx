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2C81726-77B7-D705-31C0-D3BEE47C4C41}"/>
              </a:ext>
            </a:extLst>
          </p:cNvPr>
          <p:cNvSpPr/>
          <p:nvPr/>
        </p:nvSpPr>
        <p:spPr>
          <a:xfrm>
            <a:off x="1" y="451199"/>
            <a:ext cx="12192000" cy="635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331DFF46-930B-4486-46F4-DAC102CDE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8" y="704387"/>
            <a:ext cx="11430000" cy="6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9BF71-F187-4EDD-1C6A-F30DD436EDA5}"/>
              </a:ext>
            </a:extLst>
          </p:cNvPr>
          <p:cNvSpPr txBox="1"/>
          <p:nvPr/>
        </p:nvSpPr>
        <p:spPr>
          <a:xfrm>
            <a:off x="922148" y="768693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5563"/>
                </a:solidFill>
              </a:rPr>
              <a:t>💡 手動連絡をゼロに！1アクションでTeams通知を自動化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28150C-F49C-3572-6C33-BF1DEB9A59D9}"/>
              </a:ext>
            </a:extLst>
          </p:cNvPr>
          <p:cNvSpPr/>
          <p:nvPr/>
        </p:nvSpPr>
        <p:spPr>
          <a:xfrm>
            <a:off x="341051" y="1468523"/>
            <a:ext cx="2834640" cy="888786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🔔 トリガー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（承認完了・フォーム送信など）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FD2A78-91FF-8351-BD05-EA605C3078EE}"/>
              </a:ext>
            </a:extLst>
          </p:cNvPr>
          <p:cNvSpPr/>
          <p:nvPr/>
        </p:nvSpPr>
        <p:spPr>
          <a:xfrm>
            <a:off x="3942253" y="1463604"/>
            <a:ext cx="3224628" cy="926216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⚙️ アクション設定</a:t>
            </a:r>
          </a:p>
          <a:p>
            <a:pPr algn="ctr">
              <a:lnSpc>
                <a:spcPct val="115000"/>
              </a:lnSpc>
            </a:pPr>
            <a:r>
              <a:rPr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</a:t>
            </a:r>
            <a:r>
              <a:rPr lang="ja-JP" altLang="en-US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会議の作成</a:t>
            </a:r>
            <a:r>
              <a:rPr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」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0D1E08-71AB-2BDF-33D7-5E9F4F23F5BE}"/>
              </a:ext>
            </a:extLst>
          </p:cNvPr>
          <p:cNvSpPr/>
          <p:nvPr/>
        </p:nvSpPr>
        <p:spPr>
          <a:xfrm>
            <a:off x="8417131" y="1421417"/>
            <a:ext cx="3433818" cy="95839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会議作成完了</a:t>
            </a:r>
            <a:endParaRPr lang="en-US" altLang="ja-JP"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>
              <a:lnSpc>
                <a:spcPct val="115000"/>
              </a:lnSpc>
            </a:pPr>
            <a:r>
              <a:rPr lang="ja-JP" altLang="en-US"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参加者への招待が自動送信</a:t>
            </a:r>
            <a:endParaRPr sz="1300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FF5FEF0-8BAD-1247-F54B-DD9D158CC417}"/>
              </a:ext>
            </a:extLst>
          </p:cNvPr>
          <p:cNvSpPr/>
          <p:nvPr/>
        </p:nvSpPr>
        <p:spPr>
          <a:xfrm>
            <a:off x="257620" y="2553233"/>
            <a:ext cx="5120640" cy="20299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2563EB"/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15734-7D90-FB8E-1EE5-E535E862674A}"/>
              </a:ext>
            </a:extLst>
          </p:cNvPr>
          <p:cNvSpPr txBox="1"/>
          <p:nvPr/>
        </p:nvSpPr>
        <p:spPr>
          <a:xfrm>
            <a:off x="367348" y="2619355"/>
            <a:ext cx="438912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🔧 設定する</a:t>
            </a:r>
            <a:r>
              <a:rPr lang="ja-JP" altLang="en-US"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主な</a:t>
            </a:r>
            <a:r>
              <a:rPr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3つの項目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2EFC2D-4BEB-840E-B553-DFDACBD7B814}"/>
              </a:ext>
            </a:extLst>
          </p:cNvPr>
          <p:cNvSpPr/>
          <p:nvPr/>
        </p:nvSpPr>
        <p:spPr>
          <a:xfrm>
            <a:off x="422212" y="3083585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06FCA7-13F7-8B45-27B8-6C033CC94A52}"/>
              </a:ext>
            </a:extLst>
          </p:cNvPr>
          <p:cNvSpPr txBox="1"/>
          <p:nvPr/>
        </p:nvSpPr>
        <p:spPr>
          <a:xfrm>
            <a:off x="795221" y="3134755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件名</a:t>
            </a:r>
            <a:r>
              <a:rPr lang="en-US" altLang="ja-JP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本文</a:t>
            </a:r>
            <a:endParaRPr b="1">
              <a:solidFill>
                <a:srgbClr val="2563EB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8E436-854F-D414-BA55-474614038F31}"/>
              </a:ext>
            </a:extLst>
          </p:cNvPr>
          <p:cNvSpPr txBox="1"/>
          <p:nvPr/>
        </p:nvSpPr>
        <p:spPr>
          <a:xfrm>
            <a:off x="2226539" y="3124673"/>
            <a:ext cx="297411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会議の内容を入力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59D204-4464-29A3-7DC1-8B5E503783A1}"/>
              </a:ext>
            </a:extLst>
          </p:cNvPr>
          <p:cNvSpPr/>
          <p:nvPr/>
        </p:nvSpPr>
        <p:spPr>
          <a:xfrm>
            <a:off x="422212" y="3577361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7963A9-0F4C-FE6B-B7DE-38E1631C9F40}"/>
              </a:ext>
            </a:extLst>
          </p:cNvPr>
          <p:cNvSpPr txBox="1"/>
          <p:nvPr/>
        </p:nvSpPr>
        <p:spPr>
          <a:xfrm>
            <a:off x="759142" y="3555286"/>
            <a:ext cx="338948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タイムゾーン・開始</a:t>
            </a:r>
            <a:r>
              <a:rPr lang="en-US" altLang="ja-JP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終了時刻</a:t>
            </a:r>
            <a:endParaRPr b="1">
              <a:solidFill>
                <a:srgbClr val="2563EB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5CDE57-FBF0-60A5-18C2-E12C0C007280}"/>
              </a:ext>
            </a:extLst>
          </p:cNvPr>
          <p:cNvSpPr/>
          <p:nvPr/>
        </p:nvSpPr>
        <p:spPr>
          <a:xfrm>
            <a:off x="422212" y="4071137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B31E6B-6F75-52F3-33C2-94620CA4D7B2}"/>
              </a:ext>
            </a:extLst>
          </p:cNvPr>
          <p:cNvSpPr txBox="1"/>
          <p:nvPr/>
        </p:nvSpPr>
        <p:spPr>
          <a:xfrm>
            <a:off x="782459" y="3991570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カレンダー</a:t>
            </a:r>
            <a:r>
              <a:rPr lang="en-US" altLang="ja-JP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endParaRPr b="1">
              <a:solidFill>
                <a:srgbClr val="2563EB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6BD62-31D4-5101-4DF3-A603991244F8}"/>
              </a:ext>
            </a:extLst>
          </p:cNvPr>
          <p:cNvSpPr txBox="1"/>
          <p:nvPr/>
        </p:nvSpPr>
        <p:spPr>
          <a:xfrm>
            <a:off x="2339133" y="3997608"/>
            <a:ext cx="297411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会議作成対象のカレンダー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84AE72-A591-F588-A253-418BF4D33DAF}"/>
              </a:ext>
            </a:extLst>
          </p:cNvPr>
          <p:cNvSpPr/>
          <p:nvPr/>
        </p:nvSpPr>
        <p:spPr>
          <a:xfrm>
            <a:off x="3216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66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093BF3-590D-5089-4AF4-4982CD60A32B}"/>
              </a:ext>
            </a:extLst>
          </p:cNvPr>
          <p:cNvSpPr txBox="1"/>
          <p:nvPr/>
        </p:nvSpPr>
        <p:spPr>
          <a:xfrm>
            <a:off x="466736" y="481190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⚠️ つまずきポイント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2AEA5A-65D5-1BA7-E6CC-F44CED513158}"/>
              </a:ext>
            </a:extLst>
          </p:cNvPr>
          <p:cNvSpPr txBox="1"/>
          <p:nvPr/>
        </p:nvSpPr>
        <p:spPr>
          <a:xfrm>
            <a:off x="466736" y="5323843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タイムゾーンの間違いに注意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B59E83-F23E-0132-9028-05F9431BA248}"/>
              </a:ext>
            </a:extLst>
          </p:cNvPr>
          <p:cNvSpPr txBox="1"/>
          <p:nvPr/>
        </p:nvSpPr>
        <p:spPr>
          <a:xfrm>
            <a:off x="466736" y="5743449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カレンダー</a:t>
            </a:r>
            <a:r>
              <a:rPr lang="en-US" altLang="ja-JP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選択ミスに注意</a:t>
            </a:r>
            <a:endParaRPr lang="en-US" altLang="ja-JP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4AF2BD-7CA7-EFCA-ED96-99B4D5556825}"/>
              </a:ext>
            </a:extLst>
          </p:cNvPr>
          <p:cNvSpPr txBox="1"/>
          <p:nvPr/>
        </p:nvSpPr>
        <p:spPr>
          <a:xfrm>
            <a:off x="466736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誰かを招集するので丁寧なテスト必須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E53F3F4-36F2-233D-7650-9C56FE8C27AC}"/>
              </a:ext>
            </a:extLst>
          </p:cNvPr>
          <p:cNvSpPr/>
          <p:nvPr/>
        </p:nvSpPr>
        <p:spPr>
          <a:xfrm>
            <a:off x="62652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16A34A"/>
            </a:solidFill>
          </a:ln>
          <a:effectLst>
            <a:outerShdw blurRad="508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F5D47-1A72-C89F-3EFA-05834214BC5F}"/>
              </a:ext>
            </a:extLst>
          </p:cNvPr>
          <p:cNvSpPr txBox="1"/>
          <p:nvPr/>
        </p:nvSpPr>
        <p:spPr>
          <a:xfrm>
            <a:off x="6425248" y="481919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16A34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これができるようになる！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6EFDE2-62CC-F6FA-4474-0E717FDCF16E}"/>
              </a:ext>
            </a:extLst>
          </p:cNvPr>
          <p:cNvSpPr txBox="1"/>
          <p:nvPr/>
        </p:nvSpPr>
        <p:spPr>
          <a:xfrm>
            <a:off x="6425248" y="5328704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・通知漏れゼロ・手動連絡が不要に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54D0AC-82E4-09E9-6D27-605016506645}"/>
              </a:ext>
            </a:extLst>
          </p:cNvPr>
          <p:cNvSpPr txBox="1"/>
          <p:nvPr/>
        </p:nvSpPr>
        <p:spPr>
          <a:xfrm>
            <a:off x="6425248" y="574588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・リアルタイムで情報共有が可能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89584F-60A4-B080-9F1D-604A18A91F80}"/>
              </a:ext>
            </a:extLst>
          </p:cNvPr>
          <p:cNvSpPr txBox="1"/>
          <p:nvPr/>
        </p:nvSpPr>
        <p:spPr>
          <a:xfrm>
            <a:off x="6425248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・承認結果などを即座にチームへ通知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4B0CE4-37A6-41F2-A447-F515F360EFBC}"/>
              </a:ext>
            </a:extLst>
          </p:cNvPr>
          <p:cNvSpPr txBox="1"/>
          <p:nvPr/>
        </p:nvSpPr>
        <p:spPr>
          <a:xfrm>
            <a:off x="10928668" y="6510528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</a:rPr>
              <a:t>#PA45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C85D3546-B5EF-AC3A-A39A-7C6DD93A2052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05EB59FB-95C2-2C15-2E24-7623AF1FF30F}"/>
              </a:ext>
            </a:extLst>
          </p:cNvPr>
          <p:cNvSpPr/>
          <p:nvPr/>
        </p:nvSpPr>
        <p:spPr>
          <a:xfrm>
            <a:off x="223276" y="83567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0E0B9EB4-AAE5-F98E-3DE5-EE855945347B}"/>
              </a:ext>
            </a:extLst>
          </p:cNvPr>
          <p:cNvSpPr txBox="1"/>
          <p:nvPr/>
        </p:nvSpPr>
        <p:spPr>
          <a:xfrm>
            <a:off x="1826709" y="129388"/>
            <a:ext cx="7872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会議を自動で作成するアクション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82B90CE4-3280-3DA3-91AC-F850C844B07D}"/>
              </a:ext>
            </a:extLst>
          </p:cNvPr>
          <p:cNvSpPr/>
          <p:nvPr/>
        </p:nvSpPr>
        <p:spPr>
          <a:xfrm>
            <a:off x="206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C7EF010B-F416-9894-A944-F76BA00B5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A39FF36D-601C-EA45-EF1E-5FF3BE6336A4}"/>
              </a:ext>
            </a:extLst>
          </p:cNvPr>
          <p:cNvGrpSpPr/>
          <p:nvPr/>
        </p:nvGrpSpPr>
        <p:grpSpPr>
          <a:xfrm>
            <a:off x="165494" y="4709911"/>
            <a:ext cx="495147" cy="474885"/>
            <a:chOff x="267005" y="4036906"/>
            <a:chExt cx="304495" cy="304495"/>
          </a:xfrm>
        </p:grpSpPr>
        <p:pic>
          <p:nvPicPr>
            <p:cNvPr id="56" name="Image 28" descr="preencoded.png">
              <a:extLst>
                <a:ext uri="{FF2B5EF4-FFF2-40B4-BE49-F238E27FC236}">
                  <a16:creationId xmlns:a16="http://schemas.microsoft.com/office/drawing/2014/main" id="{40138288-E6AF-26A1-61D7-8D4D0732F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57" name="Text 37">
              <a:extLst>
                <a:ext uri="{FF2B5EF4-FFF2-40B4-BE49-F238E27FC236}">
                  <a16:creationId xmlns:a16="http://schemas.microsoft.com/office/drawing/2014/main" id="{6ABD871D-EF18-2E68-CB08-90CB4F5EC560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37DC9C9C-D07C-964C-BD53-EE5A85F135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3132901" y="1381245"/>
            <a:ext cx="520848" cy="1040033"/>
          </a:xfrm>
          <a:prstGeom prst="rect">
            <a:avLst/>
          </a:prstGeom>
        </p:spPr>
      </p:pic>
      <p:sp>
        <p:nvSpPr>
          <p:cNvPr id="46" name="Text 3">
            <a:extLst>
              <a:ext uri="{FF2B5EF4-FFF2-40B4-BE49-F238E27FC236}">
                <a16:creationId xmlns:a16="http://schemas.microsoft.com/office/drawing/2014/main" id="{622923AC-7BD2-7D8A-3E36-D65184A913C2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Vol.15</a:t>
            </a:r>
            <a:endParaRPr lang="en-US" sz="3200" dirty="0"/>
          </a:p>
        </p:txBody>
      </p:sp>
      <p:pic>
        <p:nvPicPr>
          <p:cNvPr id="3" name="図 2" descr="グラフィカル ユーザー インターフェイス, アプリケーション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EB73FF20-06FF-56D7-0414-9D89C6782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248" y="1975378"/>
            <a:ext cx="1626733" cy="590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E6815507-24D2-E6B2-376D-A2D71B85CC35}"/>
              </a:ext>
            </a:extLst>
          </p:cNvPr>
          <p:cNvSpPr/>
          <p:nvPr/>
        </p:nvSpPr>
        <p:spPr>
          <a:xfrm>
            <a:off x="446160" y="319880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ja-JP" altLang="en-US" sz="1100" b="1">
                <a:solidFill>
                  <a:srgbClr val="FFFFFF"/>
                </a:solidFill>
              </a:rPr>
              <a:t>１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5" name="Rounded Rectangle 14">
            <a:extLst>
              <a:ext uri="{FF2B5EF4-FFF2-40B4-BE49-F238E27FC236}">
                <a16:creationId xmlns:a16="http://schemas.microsoft.com/office/drawing/2014/main" id="{D9DBAD71-83D9-7647-7281-2A0748EBCDCD}"/>
              </a:ext>
            </a:extLst>
          </p:cNvPr>
          <p:cNvSpPr/>
          <p:nvPr/>
        </p:nvSpPr>
        <p:spPr>
          <a:xfrm>
            <a:off x="446160" y="360249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ja-JP" altLang="en-US" sz="1100" b="1">
                <a:solidFill>
                  <a:srgbClr val="FFFFFF"/>
                </a:solidFill>
              </a:rPr>
              <a:t>２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96AC574B-23B6-5C42-FCBB-CE39EBB8ED71}"/>
              </a:ext>
            </a:extLst>
          </p:cNvPr>
          <p:cNvSpPr/>
          <p:nvPr/>
        </p:nvSpPr>
        <p:spPr>
          <a:xfrm>
            <a:off x="465176" y="40319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ja-JP" altLang="en-US" sz="1100" b="1">
                <a:solidFill>
                  <a:srgbClr val="FFFFFF"/>
                </a:solidFill>
              </a:rPr>
              <a:t>３</a:t>
            </a:r>
            <a:endParaRPr sz="1100" b="1">
              <a:solidFill>
                <a:srgbClr val="FFFFFF"/>
              </a:solidFill>
            </a:endParaRPr>
          </a:p>
        </p:txBody>
      </p:sp>
      <p:pic>
        <p:nvPicPr>
          <p:cNvPr id="11" name="図 10" descr="テキスト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1A502A70-ECFE-57ED-423B-68386DFA0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6519" y="2659106"/>
            <a:ext cx="2269424" cy="18513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138DF1BE-795D-4EBB-6CBF-9DCF2392C4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908" y="2628669"/>
            <a:ext cx="1370449" cy="18818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図 8" descr="A group of people in business attire, gathered around a table with a projector and slides, engaged in a mee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65833C07-7F8E-97D5-3093-6FAD983231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0470" y="2328026"/>
            <a:ext cx="2445917" cy="24459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6" name="図 65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8D369651-91A9-CFE9-4938-EC6A79939B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000" b="90000" l="9083" r="90000">
                        <a14:foregroundMark x1="40750" y1="23167" x2="43250" y2="15167"/>
                        <a14:foregroundMark x1="43250" y1="15167" x2="41083" y2="23167"/>
                        <a14:foregroundMark x1="41083" y1="23167" x2="39333" y2="23167"/>
                        <a14:foregroundMark x1="74750" y1="30833" x2="73750" y2="23750"/>
                        <a14:foregroundMark x1="73750" y1="23750" x2="75667" y2="19583"/>
                        <a14:foregroundMark x1="78250" y1="23333" x2="74000" y2="28083"/>
                        <a14:foregroundMark x1="46000" y1="12500" x2="30750" y2="14333"/>
                        <a14:foregroundMark x1="30750" y1="14333" x2="29583" y2="20000"/>
                        <a14:foregroundMark x1="38667" y1="7083" x2="38667" y2="7083"/>
                        <a14:foregroundMark x1="20750" y1="57917" x2="31750" y2="58583"/>
                        <a14:foregroundMark x1="31750" y1="58583" x2="39333" y2="57917"/>
                        <a14:foregroundMark x1="26750" y1="60667" x2="27083" y2="75250"/>
                        <a14:foregroundMark x1="9500" y1="54917" x2="9083" y2="74417"/>
                        <a14:foregroundMark x1="9083" y1="74417" x2="9667" y2="75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1956" y="-67215"/>
            <a:ext cx="1543203" cy="1543203"/>
          </a:xfrm>
          <a:prstGeom prst="rect">
            <a:avLst/>
          </a:prstGeom>
        </p:spPr>
      </p:pic>
      <p:pic>
        <p:nvPicPr>
          <p:cNvPr id="69" name="Image 10" descr="preencoded.png">
            <a:extLst>
              <a:ext uri="{FF2B5EF4-FFF2-40B4-BE49-F238E27FC236}">
                <a16:creationId xmlns:a16="http://schemas.microsoft.com/office/drawing/2014/main" id="{44CB86BD-749B-FE5B-92DB-8713BAD334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817226" y="1404068"/>
            <a:ext cx="520848" cy="1040033"/>
          </a:xfrm>
          <a:prstGeom prst="rect">
            <a:avLst/>
          </a:prstGeom>
        </p:spPr>
      </p:pic>
      <p:pic>
        <p:nvPicPr>
          <p:cNvPr id="20" name="図 19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70BE58B-0E04-28FA-2B29-B2F0092063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428" y="5311769"/>
            <a:ext cx="1209910" cy="1431845"/>
          </a:xfrm>
          <a:prstGeom prst="rect">
            <a:avLst/>
          </a:prstGeom>
        </p:spPr>
      </p:pic>
      <p:pic>
        <p:nvPicPr>
          <p:cNvPr id="24" name="図 23" descr="noodles are not&#10;&#10;AI 生成コンテンツは誤りを含む可能性があります。">
            <a:extLst>
              <a:ext uri="{FF2B5EF4-FFF2-40B4-BE49-F238E27FC236}">
                <a16:creationId xmlns:a16="http://schemas.microsoft.com/office/drawing/2014/main" id="{E3A90F12-E330-B2C1-E8DD-F9CABC4139F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6079" t="26717" r="23951" b="6966"/>
          <a:stretch>
            <a:fillRect/>
          </a:stretch>
        </p:blipFill>
        <p:spPr>
          <a:xfrm>
            <a:off x="5236492" y="5342215"/>
            <a:ext cx="1023644" cy="1363373"/>
          </a:xfrm>
          <a:prstGeom prst="rect">
            <a:avLst/>
          </a:prstGeom>
          <a:effectLst>
            <a:glow rad="165100">
              <a:schemeClr val="bg1">
                <a:alpha val="81000"/>
              </a:schemeClr>
            </a:glo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