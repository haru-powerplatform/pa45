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Shape 1">
            <a:extLst>
              <a:ext uri="{FF2B5EF4-FFF2-40B4-BE49-F238E27FC236}">
                <a16:creationId xmlns:a16="http://schemas.microsoft.com/office/drawing/2014/main" id="{D592EF6D-A468-7FBE-BCAC-B6894D567614}"/>
              </a:ext>
            </a:extLst>
          </p:cNvPr>
          <p:cNvSpPr/>
          <p:nvPr/>
        </p:nvSpPr>
        <p:spPr>
          <a:xfrm>
            <a:off x="-14913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78AA0B8-7ECD-9598-7E69-48E43A366F3D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B3F1D0B-7571-8364-321D-28E5FCA2FAFE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Vol.21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7E93123-89F8-BD35-A248-B01AA6ADD4BF}"/>
              </a:ext>
            </a:extLst>
          </p:cNvPr>
          <p:cNvSpPr txBox="1"/>
          <p:nvPr/>
        </p:nvSpPr>
        <p:spPr>
          <a:xfrm>
            <a:off x="1926963" y="15481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ハマってしまう７選＆解決方法</a:t>
            </a:r>
            <a:endParaRPr lang="en-US" sz="3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34972E3-DC3A-1767-6FDB-CF3B24DF5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847" y="780898"/>
            <a:ext cx="11430000" cy="520294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C6B0E937-ACF5-2D2C-84D0-FD816F670047}"/>
              </a:ext>
            </a:extLst>
          </p:cNvPr>
          <p:cNvSpPr txBox="1"/>
          <p:nvPr/>
        </p:nvSpPr>
        <p:spPr>
          <a:xfrm>
            <a:off x="1057961" y="774389"/>
            <a:ext cx="10991226" cy="54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24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「Apply to each が勝手に出てきた…」</a:t>
            </a:r>
            <a:r>
              <a:rPr lang="en-US" altLang="ja-JP" sz="2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から始まる</a:t>
            </a:r>
            <a:r>
              <a:rPr lang="en-US" altLang="ja-JP" sz="24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混乱</a:t>
            </a:r>
            <a:r>
              <a:rPr lang="ja-JP" altLang="en-US" sz="24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等への解決方法</a:t>
            </a:r>
            <a:endParaRPr lang="en-US" altLang="ja-JP" sz="2400" dirty="0"/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6377E8DD-9A27-44F2-E26C-BF7030475F85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C5289F0E-A87A-7C8F-9CDD-AE432BB71155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5892F4DB-3199-A019-4B01-A2918F0E4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07" y="638771"/>
            <a:ext cx="786647" cy="786647"/>
          </a:xfrm>
          <a:prstGeom prst="rect">
            <a:avLst/>
          </a:prstGeom>
        </p:spPr>
      </p:pic>
      <p:sp>
        <p:nvSpPr>
          <p:cNvPr id="16" name="Shape 6">
            <a:extLst>
              <a:ext uri="{FF2B5EF4-FFF2-40B4-BE49-F238E27FC236}">
                <a16:creationId xmlns:a16="http://schemas.microsoft.com/office/drawing/2014/main" id="{11349A86-52A5-82A6-61C3-4E75039B5294}"/>
              </a:ext>
            </a:extLst>
          </p:cNvPr>
          <p:cNvSpPr/>
          <p:nvPr/>
        </p:nvSpPr>
        <p:spPr>
          <a:xfrm>
            <a:off x="304495" y="1447494"/>
            <a:ext cx="2809951" cy="2158253"/>
          </a:xfrm>
          <a:prstGeom prst="roundRect">
            <a:avLst>
              <a:gd name="adj" fmla="val 4690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D61A6C1-8913-7869-2A3A-7E4DA5B995F7}"/>
              </a:ext>
            </a:extLst>
          </p:cNvPr>
          <p:cNvSpPr txBox="1"/>
          <p:nvPr/>
        </p:nvSpPr>
        <p:spPr>
          <a:xfrm>
            <a:off x="409499" y="1591800"/>
            <a:ext cx="3012948" cy="47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1️⃣ Apply to 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each が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勝手に出てくる</a:t>
            </a:r>
            <a:endParaRPr lang="en-US" sz="20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543A53A6-39DF-68F6-63BB-DA72D240FA5A}"/>
              </a:ext>
            </a:extLst>
          </p:cNvPr>
          <p:cNvSpPr txBox="1"/>
          <p:nvPr/>
        </p:nvSpPr>
        <p:spPr>
          <a:xfrm>
            <a:off x="625838" y="2310376"/>
            <a:ext cx="2753258" cy="34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原因：一覧取得は必ず</a:t>
            </a:r>
          </a:p>
          <a:p>
            <a:pPr marL="0" indent="0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「</a:t>
            </a: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配列」で返る</a:t>
            </a:r>
            <a:endParaRPr lang="en-US" sz="1400" b="1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EDB8001-D95E-92D7-6FFA-4149B7E687BB}"/>
              </a:ext>
            </a:extLst>
          </p:cNvPr>
          <p:cNvSpPr txBox="1"/>
          <p:nvPr/>
        </p:nvSpPr>
        <p:spPr>
          <a:xfrm>
            <a:off x="304495" y="2713221"/>
            <a:ext cx="2638958" cy="566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解決：回したくないときは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     「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Select」で形変換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AC201535-D7A0-E8E2-668B-48A7165465C4}"/>
              </a:ext>
            </a:extLst>
          </p:cNvPr>
          <p:cNvSpPr/>
          <p:nvPr/>
        </p:nvSpPr>
        <p:spPr>
          <a:xfrm>
            <a:off x="444192" y="3324936"/>
            <a:ext cx="2562149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6D097E86-C054-B82A-77D9-851823816A04}"/>
              </a:ext>
            </a:extLst>
          </p:cNvPr>
          <p:cNvSpPr txBox="1"/>
          <p:nvPr/>
        </p:nvSpPr>
        <p:spPr>
          <a:xfrm>
            <a:off x="393761" y="3379824"/>
            <a:ext cx="2600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524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一言：配列＝行の束</a:t>
            </a:r>
            <a:endParaRPr lang="en-US" sz="1200" dirty="0">
              <a:solidFill>
                <a:schemeClr val="bg1"/>
              </a:solidFill>
              <a:effectLst>
                <a:glow rad="152400">
                  <a:schemeClr val="tx1">
                    <a:lumMod val="85000"/>
                    <a:lumOff val="15000"/>
                  </a:schemeClr>
                </a:glow>
              </a:effectLst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2505A496-D55A-2B9F-478C-B2E1F5F2BA86}"/>
              </a:ext>
            </a:extLst>
          </p:cNvPr>
          <p:cNvSpPr/>
          <p:nvPr/>
        </p:nvSpPr>
        <p:spPr>
          <a:xfrm>
            <a:off x="3228746" y="1447494"/>
            <a:ext cx="2809951" cy="2183365"/>
          </a:xfrm>
          <a:prstGeom prst="roundRect">
            <a:avLst>
              <a:gd name="adj" fmla="val 4690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2064251A-D469-F7F9-3AA8-883B39A2C7D3}"/>
              </a:ext>
            </a:extLst>
          </p:cNvPr>
          <p:cNvSpPr txBox="1"/>
          <p:nvPr/>
        </p:nvSpPr>
        <p:spPr>
          <a:xfrm>
            <a:off x="3448051" y="1521568"/>
            <a:ext cx="2918765" cy="55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2️⃣ Filter 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array 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条件が通らない</a:t>
            </a:r>
            <a:endParaRPr lang="en-US" sz="20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6BB22445-26F9-8137-6F48-6E6E9CA38080}"/>
              </a:ext>
            </a:extLst>
          </p:cNvPr>
          <p:cNvSpPr txBox="1"/>
          <p:nvPr/>
        </p:nvSpPr>
        <p:spPr>
          <a:xfrm>
            <a:off x="3404207" y="2287509"/>
            <a:ext cx="2753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：比較する値の</a:t>
            </a:r>
          </a:p>
          <a:p>
            <a:pPr marL="0" indent="0">
              <a:buNone/>
            </a:pPr>
            <a:r>
              <a:rPr lang="ja-JP" alt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</a:t>
            </a: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型”が違う</a:t>
            </a:r>
            <a:endParaRPr lang="en-US" sz="1400" b="1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4BF74589-4B25-36CA-10C3-77E308BA64DA}"/>
              </a:ext>
            </a:extLst>
          </p:cNvPr>
          <p:cNvSpPr txBox="1"/>
          <p:nvPr/>
        </p:nvSpPr>
        <p:spPr>
          <a:xfrm>
            <a:off x="3228746" y="2690663"/>
            <a:ext cx="2638958" cy="43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数値は数値／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       文字は文字／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日付は formatDateTime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EEA5A6B3-2513-A5DC-09E3-FDB1DA468AA7}"/>
              </a:ext>
            </a:extLst>
          </p:cNvPr>
          <p:cNvSpPr/>
          <p:nvPr/>
        </p:nvSpPr>
        <p:spPr>
          <a:xfrm>
            <a:off x="3343046" y="3303929"/>
            <a:ext cx="2562149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72B203B1-7675-5D82-8E66-EF13CDAC9332}"/>
              </a:ext>
            </a:extLst>
          </p:cNvPr>
          <p:cNvSpPr txBox="1"/>
          <p:nvPr/>
        </p:nvSpPr>
        <p:spPr>
          <a:xfrm>
            <a:off x="3323843" y="3342334"/>
            <a:ext cx="2600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一言：「型を揃える」だけで解決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80758CE1-8013-4AE6-AA21-74FDF03B991A}"/>
              </a:ext>
            </a:extLst>
          </p:cNvPr>
          <p:cNvSpPr/>
          <p:nvPr/>
        </p:nvSpPr>
        <p:spPr>
          <a:xfrm>
            <a:off x="6152998" y="1447495"/>
            <a:ext cx="2809951" cy="2183364"/>
          </a:xfrm>
          <a:prstGeom prst="roundRect">
            <a:avLst>
              <a:gd name="adj" fmla="val 4690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F0C4C83C-C64F-02BC-F5D1-39AE89B7DC98}"/>
              </a:ext>
            </a:extLst>
          </p:cNvPr>
          <p:cNvSpPr txBox="1"/>
          <p:nvPr/>
        </p:nvSpPr>
        <p:spPr>
          <a:xfrm>
            <a:off x="6267297" y="1595318"/>
            <a:ext cx="26389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3️⃣ 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 が何を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してるか分からない</a:t>
            </a:r>
            <a:endParaRPr lang="en-US" sz="20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8D56629A-3319-50A9-EE18-F2F447282EA9}"/>
              </a:ext>
            </a:extLst>
          </p:cNvPr>
          <p:cNvSpPr txBox="1"/>
          <p:nvPr/>
        </p:nvSpPr>
        <p:spPr>
          <a:xfrm>
            <a:off x="6352985" y="2223985"/>
            <a:ext cx="2753258" cy="32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原因：目的が「形変換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」と</a:t>
            </a:r>
          </a:p>
          <a:p>
            <a:pPr marL="0" indent="0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理解されていない</a:t>
            </a:r>
            <a:endParaRPr lang="en-US" sz="1400" b="1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90370DA0-0029-EF8D-F2CC-839514AB02CA}"/>
              </a:ext>
            </a:extLst>
          </p:cNvPr>
          <p:cNvSpPr txBox="1"/>
          <p:nvPr/>
        </p:nvSpPr>
        <p:spPr>
          <a:xfrm>
            <a:off x="6127887" y="2701622"/>
            <a:ext cx="2753258" cy="43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解決：“配列の列構造を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 作り直すツール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”と覚える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7B0E82FE-B34F-DAC4-BED7-706078294781}"/>
              </a:ext>
            </a:extLst>
          </p:cNvPr>
          <p:cNvSpPr/>
          <p:nvPr/>
        </p:nvSpPr>
        <p:spPr>
          <a:xfrm>
            <a:off x="6267297" y="3261660"/>
            <a:ext cx="2695652" cy="321632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630DC0DA-255F-3626-213C-B89F25F2D6F9}"/>
              </a:ext>
            </a:extLst>
          </p:cNvPr>
          <p:cNvSpPr txBox="1"/>
          <p:nvPr/>
        </p:nvSpPr>
        <p:spPr>
          <a:xfrm>
            <a:off x="6248095" y="3342334"/>
            <a:ext cx="2600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</a:t>
            </a:r>
            <a:r>
              <a:rPr lang="en-US" sz="1200" b="1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：中身は変えずに</a:t>
            </a:r>
          </a:p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服だけ着替える」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B43FF878-46AA-5FB4-F88A-300415346A9A}"/>
              </a:ext>
            </a:extLst>
          </p:cNvPr>
          <p:cNvSpPr/>
          <p:nvPr/>
        </p:nvSpPr>
        <p:spPr>
          <a:xfrm>
            <a:off x="9077249" y="1447495"/>
            <a:ext cx="2809951" cy="2183364"/>
          </a:xfrm>
          <a:prstGeom prst="roundRect">
            <a:avLst>
              <a:gd name="adj" fmla="val 4690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81A060B1-84F0-0D4F-5E97-ACE6B0A55F66}"/>
              </a:ext>
            </a:extLst>
          </p:cNvPr>
          <p:cNvSpPr txBox="1"/>
          <p:nvPr/>
        </p:nvSpPr>
        <p:spPr>
          <a:xfrm>
            <a:off x="9145529" y="1547340"/>
            <a:ext cx="2665476" cy="553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4️⃣ 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addDays が呪文に</a:t>
            </a: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見える</a:t>
            </a:r>
            <a:endParaRPr lang="en-US" sz="2000" dirty="0"/>
          </a:p>
        </p:txBody>
      </p:sp>
      <p:sp>
        <p:nvSpPr>
          <p:cNvPr id="71" name="Text 26">
            <a:extLst>
              <a:ext uri="{FF2B5EF4-FFF2-40B4-BE49-F238E27FC236}">
                <a16:creationId xmlns:a16="http://schemas.microsoft.com/office/drawing/2014/main" id="{19F7E5C6-61E9-BD54-29C4-D5BA001AF772}"/>
              </a:ext>
            </a:extLst>
          </p:cNvPr>
          <p:cNvSpPr txBox="1"/>
          <p:nvPr/>
        </p:nvSpPr>
        <p:spPr>
          <a:xfrm>
            <a:off x="9438742" y="2298595"/>
            <a:ext cx="2753258" cy="2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：式の構造が</a:t>
            </a:r>
          </a:p>
          <a:p>
            <a:pPr marL="0" indent="0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イメージできていない</a:t>
            </a:r>
            <a:endParaRPr lang="en-US" sz="1400" b="1" dirty="0"/>
          </a:p>
        </p:txBody>
      </p:sp>
      <p:sp>
        <p:nvSpPr>
          <p:cNvPr id="72" name="Text 27">
            <a:extLst>
              <a:ext uri="{FF2B5EF4-FFF2-40B4-BE49-F238E27FC236}">
                <a16:creationId xmlns:a16="http://schemas.microsoft.com/office/drawing/2014/main" id="{F0F40A9A-5A6B-11CF-4E8E-5CE7A5C0008C}"/>
              </a:ext>
            </a:extLst>
          </p:cNvPr>
          <p:cNvSpPr txBox="1"/>
          <p:nvPr/>
        </p:nvSpPr>
        <p:spPr>
          <a:xfrm>
            <a:off x="9191548" y="2833176"/>
            <a:ext cx="26654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解決：addDays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(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基準日, 日数, 'yyyy-MM-dd')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73" name="Shape 28">
            <a:extLst>
              <a:ext uri="{FF2B5EF4-FFF2-40B4-BE49-F238E27FC236}">
                <a16:creationId xmlns:a16="http://schemas.microsoft.com/office/drawing/2014/main" id="{773D7598-2FC5-2749-74C0-AA33EC949229}"/>
              </a:ext>
            </a:extLst>
          </p:cNvPr>
          <p:cNvSpPr/>
          <p:nvPr/>
        </p:nvSpPr>
        <p:spPr>
          <a:xfrm>
            <a:off x="9191548" y="3303929"/>
            <a:ext cx="2562149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82" name="Text 29">
            <a:extLst>
              <a:ext uri="{FF2B5EF4-FFF2-40B4-BE49-F238E27FC236}">
                <a16:creationId xmlns:a16="http://schemas.microsoft.com/office/drawing/2014/main" id="{FEDA6D3E-EB8E-E54E-B59B-E730F1A36B3B}"/>
              </a:ext>
            </a:extLst>
          </p:cNvPr>
          <p:cNvSpPr txBox="1"/>
          <p:nvPr/>
        </p:nvSpPr>
        <p:spPr>
          <a:xfrm>
            <a:off x="9218980" y="3342334"/>
            <a:ext cx="25063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一言：基準日は utcNow() でもOK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87" name="Shape 30">
            <a:extLst>
              <a:ext uri="{FF2B5EF4-FFF2-40B4-BE49-F238E27FC236}">
                <a16:creationId xmlns:a16="http://schemas.microsoft.com/office/drawing/2014/main" id="{A9B3A80B-1348-D425-70EE-D2FF8C9D4C86}"/>
              </a:ext>
            </a:extLst>
          </p:cNvPr>
          <p:cNvSpPr/>
          <p:nvPr/>
        </p:nvSpPr>
        <p:spPr>
          <a:xfrm>
            <a:off x="224593" y="3852091"/>
            <a:ext cx="3915402" cy="1714500"/>
          </a:xfrm>
          <a:prstGeom prst="roundRect">
            <a:avLst>
              <a:gd name="adj" fmla="val 4741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97A21509-98E1-1C84-7B42-708E2E589FED}"/>
              </a:ext>
            </a:extLst>
          </p:cNvPr>
          <p:cNvSpPr txBox="1"/>
          <p:nvPr/>
        </p:nvSpPr>
        <p:spPr>
          <a:xfrm>
            <a:off x="315794" y="3976080"/>
            <a:ext cx="3943993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5️⃣ 動的コンテンツが出てこない</a:t>
            </a:r>
            <a:endParaRPr lang="en-US" sz="2000" dirty="0"/>
          </a:p>
        </p:txBody>
      </p:sp>
      <p:sp>
        <p:nvSpPr>
          <p:cNvPr id="91" name="Text 32">
            <a:extLst>
              <a:ext uri="{FF2B5EF4-FFF2-40B4-BE49-F238E27FC236}">
                <a16:creationId xmlns:a16="http://schemas.microsoft.com/office/drawing/2014/main" id="{AAAED6B6-7CF3-5415-65D5-79BDDAC168C2}"/>
              </a:ext>
            </a:extLst>
          </p:cNvPr>
          <p:cNvSpPr txBox="1"/>
          <p:nvPr/>
        </p:nvSpPr>
        <p:spPr>
          <a:xfrm>
            <a:off x="749165" y="4349187"/>
            <a:ext cx="3219602" cy="318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原因：値が“別の箱（スコープ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）の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</a:t>
            </a:r>
            <a:r>
              <a:rPr lang="ja-JP" alt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</a:t>
            </a: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”にいる</a:t>
            </a:r>
            <a:endParaRPr lang="en-US" sz="1400" b="1" dirty="0"/>
          </a:p>
        </p:txBody>
      </p:sp>
      <p:sp>
        <p:nvSpPr>
          <p:cNvPr id="93" name="Text 33">
            <a:extLst>
              <a:ext uri="{FF2B5EF4-FFF2-40B4-BE49-F238E27FC236}">
                <a16:creationId xmlns:a16="http://schemas.microsoft.com/office/drawing/2014/main" id="{BF0EE5D0-1EB1-F7DD-7B08-8BB5C3D62F6B}"/>
              </a:ext>
            </a:extLst>
          </p:cNvPr>
          <p:cNvSpPr txBox="1"/>
          <p:nvPr/>
        </p:nvSpPr>
        <p:spPr>
          <a:xfrm>
            <a:off x="444192" y="4834907"/>
            <a:ext cx="3219602" cy="28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解決：アクションを同じ箱に入れ／</a:t>
            </a:r>
          </a:p>
          <a:p>
            <a:r>
              <a:rPr lang="ja-JP" alt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　 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変数に一度入れる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95" name="Shape 34">
            <a:extLst>
              <a:ext uri="{FF2B5EF4-FFF2-40B4-BE49-F238E27FC236}">
                <a16:creationId xmlns:a16="http://schemas.microsoft.com/office/drawing/2014/main" id="{ADCAE2A2-2B79-AD1B-87F8-B8D79916E78F}"/>
              </a:ext>
            </a:extLst>
          </p:cNvPr>
          <p:cNvSpPr/>
          <p:nvPr/>
        </p:nvSpPr>
        <p:spPr>
          <a:xfrm>
            <a:off x="572415" y="5246800"/>
            <a:ext cx="3029407" cy="243259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97" name="Text 35">
            <a:extLst>
              <a:ext uri="{FF2B5EF4-FFF2-40B4-BE49-F238E27FC236}">
                <a16:creationId xmlns:a16="http://schemas.microsoft.com/office/drawing/2014/main" id="{FDC13489-CFB9-6421-7043-AA56E211A798}"/>
              </a:ext>
            </a:extLst>
          </p:cNvPr>
          <p:cNvSpPr txBox="1"/>
          <p:nvPr/>
        </p:nvSpPr>
        <p:spPr>
          <a:xfrm>
            <a:off x="497546" y="5300281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一言：箱の壁は勝手に超えられない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98" name="Shape 36">
            <a:extLst>
              <a:ext uri="{FF2B5EF4-FFF2-40B4-BE49-F238E27FC236}">
                <a16:creationId xmlns:a16="http://schemas.microsoft.com/office/drawing/2014/main" id="{4D6CCAEF-20F8-3227-23BB-ACECE6F6DD20}"/>
              </a:ext>
            </a:extLst>
          </p:cNvPr>
          <p:cNvSpPr/>
          <p:nvPr/>
        </p:nvSpPr>
        <p:spPr>
          <a:xfrm>
            <a:off x="4209898" y="3813852"/>
            <a:ext cx="3866028" cy="1714500"/>
          </a:xfrm>
          <a:prstGeom prst="roundRect">
            <a:avLst>
              <a:gd name="adj" fmla="val 4741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103" name="Text 37">
            <a:extLst>
              <a:ext uri="{FF2B5EF4-FFF2-40B4-BE49-F238E27FC236}">
                <a16:creationId xmlns:a16="http://schemas.microsoft.com/office/drawing/2014/main" id="{65C884D4-60AB-6C9A-BF29-7CAF8411DFBE}"/>
              </a:ext>
            </a:extLst>
          </p:cNvPr>
          <p:cNvSpPr txBox="1"/>
          <p:nvPr/>
        </p:nvSpPr>
        <p:spPr>
          <a:xfrm>
            <a:off x="4428896" y="3966219"/>
            <a:ext cx="3219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6️⃣ 変数の型ミスで事故る</a:t>
            </a:r>
            <a:endParaRPr lang="en-US" sz="2000" dirty="0"/>
          </a:p>
        </p:txBody>
      </p:sp>
      <p:sp>
        <p:nvSpPr>
          <p:cNvPr id="106" name="Text 38">
            <a:extLst>
              <a:ext uri="{FF2B5EF4-FFF2-40B4-BE49-F238E27FC236}">
                <a16:creationId xmlns:a16="http://schemas.microsoft.com/office/drawing/2014/main" id="{A525FF62-01AA-B9CD-2D60-66E5A7091931}"/>
              </a:ext>
            </a:extLst>
          </p:cNvPr>
          <p:cNvSpPr txBox="1"/>
          <p:nvPr/>
        </p:nvSpPr>
        <p:spPr>
          <a:xfrm>
            <a:off x="4722605" y="4296831"/>
            <a:ext cx="2842760" cy="317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原因：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初期値の型が間違っている </a:t>
            </a:r>
          </a:p>
          <a:p>
            <a:pPr marL="0" indent="0" algn="l">
              <a:buNone/>
            </a:pPr>
            <a:r>
              <a:rPr lang="ja-JP" alt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 </a:t>
            </a: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空のまま</a:t>
            </a:r>
            <a:endParaRPr lang="en-US" sz="1400" b="1" dirty="0"/>
          </a:p>
        </p:txBody>
      </p:sp>
      <p:sp>
        <p:nvSpPr>
          <p:cNvPr id="107" name="Text 39">
            <a:extLst>
              <a:ext uri="{FF2B5EF4-FFF2-40B4-BE49-F238E27FC236}">
                <a16:creationId xmlns:a16="http://schemas.microsoft.com/office/drawing/2014/main" id="{886DAD64-7B8E-AD38-CFDE-B3A53547C8E3}"/>
              </a:ext>
            </a:extLst>
          </p:cNvPr>
          <p:cNvSpPr txBox="1"/>
          <p:nvPr/>
        </p:nvSpPr>
        <p:spPr>
          <a:xfrm>
            <a:off x="4455846" y="4893329"/>
            <a:ext cx="3219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：最初に“本来入るべき型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”で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       初期値を作る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108" name="Shape 40">
            <a:extLst>
              <a:ext uri="{FF2B5EF4-FFF2-40B4-BE49-F238E27FC236}">
                <a16:creationId xmlns:a16="http://schemas.microsoft.com/office/drawing/2014/main" id="{2870E8D7-42B6-0EDF-02DB-14AC15D8BADF}"/>
              </a:ext>
            </a:extLst>
          </p:cNvPr>
          <p:cNvSpPr/>
          <p:nvPr/>
        </p:nvSpPr>
        <p:spPr>
          <a:xfrm>
            <a:off x="4567646" y="5246939"/>
            <a:ext cx="3029407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109" name="Text 41">
            <a:extLst>
              <a:ext uri="{FF2B5EF4-FFF2-40B4-BE49-F238E27FC236}">
                <a16:creationId xmlns:a16="http://schemas.microsoft.com/office/drawing/2014/main" id="{5107FF74-4B4E-2967-E2D7-673E7D168517}"/>
              </a:ext>
            </a:extLst>
          </p:cNvPr>
          <p:cNvSpPr txBox="1"/>
          <p:nvPr/>
        </p:nvSpPr>
        <p:spPr>
          <a:xfrm>
            <a:off x="4438040" y="5311558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一言：変数は“最初の1回”が命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111" name="Shape 42">
            <a:extLst>
              <a:ext uri="{FF2B5EF4-FFF2-40B4-BE49-F238E27FC236}">
                <a16:creationId xmlns:a16="http://schemas.microsoft.com/office/drawing/2014/main" id="{2256D540-8A79-05C3-CF08-578589BF97CD}"/>
              </a:ext>
            </a:extLst>
          </p:cNvPr>
          <p:cNvSpPr/>
          <p:nvPr/>
        </p:nvSpPr>
        <p:spPr>
          <a:xfrm>
            <a:off x="8227716" y="3819582"/>
            <a:ext cx="3678687" cy="1714500"/>
          </a:xfrm>
          <a:prstGeom prst="roundRect">
            <a:avLst>
              <a:gd name="adj" fmla="val 4741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112" name="Text 43">
            <a:extLst>
              <a:ext uri="{FF2B5EF4-FFF2-40B4-BE49-F238E27FC236}">
                <a16:creationId xmlns:a16="http://schemas.microsoft.com/office/drawing/2014/main" id="{0CE684D7-9029-B6F5-35A0-57DF7F3E3757}"/>
              </a:ext>
            </a:extLst>
          </p:cNvPr>
          <p:cNvSpPr txBox="1"/>
          <p:nvPr/>
        </p:nvSpPr>
        <p:spPr>
          <a:xfrm>
            <a:off x="8425416" y="3954733"/>
            <a:ext cx="3219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7️⃣ 実行履歴が読めない</a:t>
            </a:r>
            <a:endParaRPr lang="en-US" sz="2000" dirty="0"/>
          </a:p>
        </p:txBody>
      </p:sp>
      <p:sp>
        <p:nvSpPr>
          <p:cNvPr id="113" name="Text 44">
            <a:extLst>
              <a:ext uri="{FF2B5EF4-FFF2-40B4-BE49-F238E27FC236}">
                <a16:creationId xmlns:a16="http://schemas.microsoft.com/office/drawing/2014/main" id="{E1C6183E-D6A2-E443-0EA0-16201DC4F94C}"/>
              </a:ext>
            </a:extLst>
          </p:cNvPr>
          <p:cNvSpPr txBox="1"/>
          <p:nvPr/>
        </p:nvSpPr>
        <p:spPr>
          <a:xfrm>
            <a:off x="8701425" y="4417378"/>
            <a:ext cx="3219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：どこに何が入っているか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“</a:t>
            </a: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追い方”が不明</a:t>
            </a:r>
            <a:endParaRPr lang="en-US" sz="1400" b="1" dirty="0"/>
          </a:p>
        </p:txBody>
      </p:sp>
      <p:sp>
        <p:nvSpPr>
          <p:cNvPr id="114" name="Text 45">
            <a:extLst>
              <a:ext uri="{FF2B5EF4-FFF2-40B4-BE49-F238E27FC236}">
                <a16:creationId xmlns:a16="http://schemas.microsoft.com/office/drawing/2014/main" id="{8602E598-450A-6BCD-C8A2-2FA4FDF33A1E}"/>
              </a:ext>
            </a:extLst>
          </p:cNvPr>
          <p:cNvSpPr txBox="1"/>
          <p:nvPr/>
        </p:nvSpPr>
        <p:spPr>
          <a:xfrm>
            <a:off x="8534095" y="4683263"/>
            <a:ext cx="3219602" cy="47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 を挟んで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       “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確認窓”にする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115" name="Shape 46">
            <a:extLst>
              <a:ext uri="{FF2B5EF4-FFF2-40B4-BE49-F238E27FC236}">
                <a16:creationId xmlns:a16="http://schemas.microsoft.com/office/drawing/2014/main" id="{42FAF3A1-7029-6969-522D-FE5A415A46CB}"/>
              </a:ext>
            </a:extLst>
          </p:cNvPr>
          <p:cNvSpPr/>
          <p:nvPr/>
        </p:nvSpPr>
        <p:spPr>
          <a:xfrm>
            <a:off x="8454848" y="5219736"/>
            <a:ext cx="3029407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118" name="Text 47">
            <a:extLst>
              <a:ext uri="{FF2B5EF4-FFF2-40B4-BE49-F238E27FC236}">
                <a16:creationId xmlns:a16="http://schemas.microsoft.com/office/drawing/2014/main" id="{0FDEF71E-1C93-3C93-4FB5-E3B552DFAD44}"/>
              </a:ext>
            </a:extLst>
          </p:cNvPr>
          <p:cNvSpPr txBox="1"/>
          <p:nvPr/>
        </p:nvSpPr>
        <p:spPr>
          <a:xfrm>
            <a:off x="8410382" y="5275502"/>
            <a:ext cx="2991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一言：Compose＝確認窓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120" name="Shape 48">
            <a:extLst>
              <a:ext uri="{FF2B5EF4-FFF2-40B4-BE49-F238E27FC236}">
                <a16:creationId xmlns:a16="http://schemas.microsoft.com/office/drawing/2014/main" id="{70F247E5-DCEE-C50C-907D-046C27822637}"/>
              </a:ext>
            </a:extLst>
          </p:cNvPr>
          <p:cNvSpPr/>
          <p:nvPr/>
        </p:nvSpPr>
        <p:spPr>
          <a:xfrm>
            <a:off x="188333" y="5658306"/>
            <a:ext cx="6821458" cy="1044879"/>
          </a:xfrm>
          <a:prstGeom prst="roundRect">
            <a:avLst>
              <a:gd name="adj" fmla="val 9467"/>
            </a:avLst>
          </a:prstGeom>
          <a:solidFill>
            <a:srgbClr val="F3F4F6"/>
          </a:solidFill>
          <a:ln w="381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121" name="Text 49">
            <a:extLst>
              <a:ext uri="{FF2B5EF4-FFF2-40B4-BE49-F238E27FC236}">
                <a16:creationId xmlns:a16="http://schemas.microsoft.com/office/drawing/2014/main" id="{9BE468EC-D598-4555-BC7C-B873A5959130}"/>
              </a:ext>
            </a:extLst>
          </p:cNvPr>
          <p:cNvSpPr txBox="1"/>
          <p:nvPr/>
        </p:nvSpPr>
        <p:spPr>
          <a:xfrm>
            <a:off x="394714" y="5704596"/>
            <a:ext cx="43153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困ったときの見直し 3ステップ</a:t>
            </a:r>
            <a:endParaRPr lang="en-US" sz="2000" dirty="0"/>
          </a:p>
        </p:txBody>
      </p:sp>
      <p:pic>
        <p:nvPicPr>
          <p:cNvPr id="123" name="Image 0" descr="preencoded.png">
            <a:extLst>
              <a:ext uri="{FF2B5EF4-FFF2-40B4-BE49-F238E27FC236}">
                <a16:creationId xmlns:a16="http://schemas.microsoft.com/office/drawing/2014/main" id="{85E65AF1-D03E-61F9-CE28-8B23B98C4C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7" b="-397"/>
          <a:stretch/>
        </p:blipFill>
        <p:spPr>
          <a:xfrm>
            <a:off x="1666951" y="6128421"/>
            <a:ext cx="1438351" cy="19202"/>
          </a:xfrm>
          <a:prstGeom prst="rect">
            <a:avLst/>
          </a:prstGeom>
        </p:spPr>
      </p:pic>
      <p:sp>
        <p:nvSpPr>
          <p:cNvPr id="124" name="Shape 50">
            <a:extLst>
              <a:ext uri="{FF2B5EF4-FFF2-40B4-BE49-F238E27FC236}">
                <a16:creationId xmlns:a16="http://schemas.microsoft.com/office/drawing/2014/main" id="{F54A8599-B12C-CBAF-F13B-DEFDD9A47AD9}"/>
              </a:ext>
            </a:extLst>
          </p:cNvPr>
          <p:cNvSpPr/>
          <p:nvPr/>
        </p:nvSpPr>
        <p:spPr>
          <a:xfrm>
            <a:off x="3010205" y="5886907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pic>
        <p:nvPicPr>
          <p:cNvPr id="126" name="Image 1" descr="preencoded.png">
            <a:extLst>
              <a:ext uri="{FF2B5EF4-FFF2-40B4-BE49-F238E27FC236}">
                <a16:creationId xmlns:a16="http://schemas.microsoft.com/office/drawing/2014/main" id="{DD093666-A84C-6276-7D6C-491EC24B80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7" b="-397"/>
          <a:stretch/>
        </p:blipFill>
        <p:spPr>
          <a:xfrm>
            <a:off x="4209898" y="6128421"/>
            <a:ext cx="1438351" cy="19202"/>
          </a:xfrm>
          <a:prstGeom prst="rect">
            <a:avLst/>
          </a:prstGeom>
        </p:spPr>
      </p:pic>
      <p:sp>
        <p:nvSpPr>
          <p:cNvPr id="128" name="Shape 51">
            <a:extLst>
              <a:ext uri="{FF2B5EF4-FFF2-40B4-BE49-F238E27FC236}">
                <a16:creationId xmlns:a16="http://schemas.microsoft.com/office/drawing/2014/main" id="{F591060B-90BB-950D-FD45-DF9F6D1DF11F}"/>
              </a:ext>
            </a:extLst>
          </p:cNvPr>
          <p:cNvSpPr/>
          <p:nvPr/>
        </p:nvSpPr>
        <p:spPr>
          <a:xfrm>
            <a:off x="5553151" y="5886907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pic>
        <p:nvPicPr>
          <p:cNvPr id="129" name="Image 2" descr="preencoded.png">
            <a:extLst>
              <a:ext uri="{FF2B5EF4-FFF2-40B4-BE49-F238E27FC236}">
                <a16:creationId xmlns:a16="http://schemas.microsoft.com/office/drawing/2014/main" id="{2F46BCBB-997C-A6D4-1BB1-471B8B4E33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7281356" y="5661264"/>
            <a:ext cx="4647895" cy="968136"/>
          </a:xfrm>
          <a:prstGeom prst="rect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131" name="Text 52">
            <a:extLst>
              <a:ext uri="{FF2B5EF4-FFF2-40B4-BE49-F238E27FC236}">
                <a16:creationId xmlns:a16="http://schemas.microsoft.com/office/drawing/2014/main" id="{2DE95330-9410-EDBA-2167-D94186B985D3}"/>
              </a:ext>
            </a:extLst>
          </p:cNvPr>
          <p:cNvSpPr txBox="1"/>
          <p:nvPr/>
        </p:nvSpPr>
        <p:spPr>
          <a:xfrm>
            <a:off x="7100009" y="5585696"/>
            <a:ext cx="3109012" cy="313039"/>
          </a:xfrm>
          <a:prstGeom prst="rect">
            <a:avLst/>
          </a:prstGeom>
          <a:solidFill>
            <a:schemeClr val="bg1"/>
          </a:solidFill>
          <a:ln w="31750">
            <a:solidFill>
              <a:srgbClr val="008000"/>
            </a:solidFill>
          </a:ln>
        </p:spPr>
        <p:txBody>
          <a:bodyPr wrap="square" lIns="0" tIns="0" rIns="0" bIns="0" rtlCol="0" anchor="ctr"/>
          <a:lstStyle/>
          <a:p>
            <a:r>
              <a:rPr lang="en-US" altLang="ja-JP" sz="20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2000" b="1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これだけラクになる</a:t>
            </a:r>
            <a:endParaRPr lang="en-US" sz="2000" dirty="0"/>
          </a:p>
        </p:txBody>
      </p:sp>
      <p:sp>
        <p:nvSpPr>
          <p:cNvPr id="132" name="Text 53">
            <a:extLst>
              <a:ext uri="{FF2B5EF4-FFF2-40B4-BE49-F238E27FC236}">
                <a16:creationId xmlns:a16="http://schemas.microsoft.com/office/drawing/2014/main" id="{120754DF-81BE-F697-6A3A-8376D88E6723}"/>
              </a:ext>
            </a:extLst>
          </p:cNvPr>
          <p:cNvSpPr txBox="1"/>
          <p:nvPr/>
        </p:nvSpPr>
        <p:spPr>
          <a:xfrm>
            <a:off x="7462568" y="5936005"/>
            <a:ext cx="39388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r>
              <a:rPr 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エラーの原因に</a:t>
            </a:r>
            <a:r>
              <a:rPr lang="en-US" sz="14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</a:t>
            </a:r>
            <a:r>
              <a:rPr lang="en-US" sz="1400" b="1" dirty="0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当たり</a:t>
            </a:r>
            <a:r>
              <a:rPr lang="en-US" sz="14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”がつくようになる</a:t>
            </a:r>
            <a:endParaRPr lang="en-US" sz="1400" dirty="0"/>
          </a:p>
        </p:txBody>
      </p:sp>
      <p:sp>
        <p:nvSpPr>
          <p:cNvPr id="134" name="Text 54">
            <a:extLst>
              <a:ext uri="{FF2B5EF4-FFF2-40B4-BE49-F238E27FC236}">
                <a16:creationId xmlns:a16="http://schemas.microsoft.com/office/drawing/2014/main" id="{95F4B94C-A2F6-FA67-43B0-1E7009BE987F}"/>
              </a:ext>
            </a:extLst>
          </p:cNvPr>
          <p:cNvSpPr txBox="1"/>
          <p:nvPr/>
        </p:nvSpPr>
        <p:spPr>
          <a:xfrm>
            <a:off x="7462569" y="6147521"/>
            <a:ext cx="3647542" cy="21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r>
              <a:rPr 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Apply </a:t>
            </a:r>
            <a:r>
              <a:rPr lang="en-US" sz="14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 each を怖がらずに触れる</a:t>
            </a:r>
            <a:endParaRPr lang="en-US" sz="1400" dirty="0"/>
          </a:p>
        </p:txBody>
      </p:sp>
      <p:sp>
        <p:nvSpPr>
          <p:cNvPr id="135" name="Text 55">
            <a:extLst>
              <a:ext uri="{FF2B5EF4-FFF2-40B4-BE49-F238E27FC236}">
                <a16:creationId xmlns:a16="http://schemas.microsoft.com/office/drawing/2014/main" id="{5676C921-69EF-51AC-6557-4322A66221E0}"/>
              </a:ext>
            </a:extLst>
          </p:cNvPr>
          <p:cNvSpPr txBox="1"/>
          <p:nvPr/>
        </p:nvSpPr>
        <p:spPr>
          <a:xfrm>
            <a:off x="7504516" y="6437112"/>
            <a:ext cx="4112106" cy="14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r>
              <a:rPr 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実行履歴を追って自力でトラブルシュートできる</a:t>
            </a:r>
            <a:endParaRPr lang="en-US" sz="1400" dirty="0"/>
          </a:p>
        </p:txBody>
      </p:sp>
      <p:grpSp>
        <p:nvGrpSpPr>
          <p:cNvPr id="147" name="グループ化 146">
            <a:extLst>
              <a:ext uri="{FF2B5EF4-FFF2-40B4-BE49-F238E27FC236}">
                <a16:creationId xmlns:a16="http://schemas.microsoft.com/office/drawing/2014/main" id="{CDBD82ED-169B-CCDF-4930-C34D0B815D54}"/>
              </a:ext>
            </a:extLst>
          </p:cNvPr>
          <p:cNvGrpSpPr/>
          <p:nvPr/>
        </p:nvGrpSpPr>
        <p:grpSpPr>
          <a:xfrm>
            <a:off x="886054" y="5932893"/>
            <a:ext cx="400181" cy="367304"/>
            <a:chOff x="886054" y="5837642"/>
            <a:chExt cx="457200" cy="457200"/>
          </a:xfrm>
        </p:grpSpPr>
        <p:pic>
          <p:nvPicPr>
            <p:cNvPr id="138" name="Image 3" descr="preencoded.png">
              <a:extLst>
                <a:ext uri="{FF2B5EF4-FFF2-40B4-BE49-F238E27FC236}">
                  <a16:creationId xmlns:a16="http://schemas.microsoft.com/office/drawing/2014/main" id="{5F53194A-BBC9-738E-7B8C-233E3973D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86054" y="5837642"/>
              <a:ext cx="457200" cy="457200"/>
            </a:xfrm>
            <a:prstGeom prst="rect">
              <a:avLst/>
            </a:prstGeom>
          </p:spPr>
        </p:pic>
        <p:sp>
          <p:nvSpPr>
            <p:cNvPr id="139" name="Text 58">
              <a:extLst>
                <a:ext uri="{FF2B5EF4-FFF2-40B4-BE49-F238E27FC236}">
                  <a16:creationId xmlns:a16="http://schemas.microsoft.com/office/drawing/2014/main" id="{24701DB6-5EB6-9B30-2FC7-63A0694B8294}"/>
                </a:ext>
              </a:extLst>
            </p:cNvPr>
            <p:cNvSpPr txBox="1"/>
            <p:nvPr/>
          </p:nvSpPr>
          <p:spPr>
            <a:xfrm>
              <a:off x="1019099" y="5944057"/>
              <a:ext cx="1911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</a:t>
              </a:r>
              <a:endParaRPr lang="en-US" sz="2000" dirty="0"/>
            </a:p>
          </p:txBody>
        </p:sp>
      </p:grpSp>
      <p:sp>
        <p:nvSpPr>
          <p:cNvPr id="140" name="Text 59">
            <a:extLst>
              <a:ext uri="{FF2B5EF4-FFF2-40B4-BE49-F238E27FC236}">
                <a16:creationId xmlns:a16="http://schemas.microsoft.com/office/drawing/2014/main" id="{B1F4E5CD-1973-730F-DE7F-CF44A1FB1D25}"/>
              </a:ext>
            </a:extLst>
          </p:cNvPr>
          <p:cNvSpPr txBox="1"/>
          <p:nvPr/>
        </p:nvSpPr>
        <p:spPr>
          <a:xfrm>
            <a:off x="279377" y="6300197"/>
            <a:ext cx="245613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配列</a:t>
            </a:r>
            <a:r>
              <a:rPr lang="en-US" sz="20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かを意識する</a:t>
            </a:r>
            <a:endParaRPr lang="en-US" sz="2000" dirty="0"/>
          </a:p>
        </p:txBody>
      </p:sp>
      <p:grpSp>
        <p:nvGrpSpPr>
          <p:cNvPr id="148" name="グループ化 147">
            <a:extLst>
              <a:ext uri="{FF2B5EF4-FFF2-40B4-BE49-F238E27FC236}">
                <a16:creationId xmlns:a16="http://schemas.microsoft.com/office/drawing/2014/main" id="{1C336DBF-A11E-8925-59E5-6B449D27CC1B}"/>
              </a:ext>
            </a:extLst>
          </p:cNvPr>
          <p:cNvGrpSpPr/>
          <p:nvPr/>
        </p:nvGrpSpPr>
        <p:grpSpPr>
          <a:xfrm>
            <a:off x="3455331" y="5932893"/>
            <a:ext cx="400181" cy="367304"/>
            <a:chOff x="3455331" y="5837642"/>
            <a:chExt cx="457200" cy="457200"/>
          </a:xfrm>
        </p:grpSpPr>
        <p:pic>
          <p:nvPicPr>
            <p:cNvPr id="141" name="Image 4" descr="preencoded.png">
              <a:extLst>
                <a:ext uri="{FF2B5EF4-FFF2-40B4-BE49-F238E27FC236}">
                  <a16:creationId xmlns:a16="http://schemas.microsoft.com/office/drawing/2014/main" id="{775396AB-4C6E-D3E9-247E-8A75394CE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3455331" y="5837642"/>
              <a:ext cx="457200" cy="457200"/>
            </a:xfrm>
            <a:prstGeom prst="rect">
              <a:avLst/>
            </a:prstGeom>
          </p:spPr>
        </p:pic>
        <p:sp>
          <p:nvSpPr>
            <p:cNvPr id="142" name="Text 60">
              <a:extLst>
                <a:ext uri="{FF2B5EF4-FFF2-40B4-BE49-F238E27FC236}">
                  <a16:creationId xmlns:a16="http://schemas.microsoft.com/office/drawing/2014/main" id="{18FA1D74-5FB2-3501-FDBB-C40F029C20CF}"/>
                </a:ext>
              </a:extLst>
            </p:cNvPr>
            <p:cNvSpPr txBox="1"/>
            <p:nvPr/>
          </p:nvSpPr>
          <p:spPr>
            <a:xfrm>
              <a:off x="3600907" y="5932739"/>
              <a:ext cx="1911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</a:t>
              </a:r>
              <a:endParaRPr lang="en-US" sz="2000" dirty="0"/>
            </a:p>
          </p:txBody>
        </p:sp>
      </p:grpSp>
      <p:sp>
        <p:nvSpPr>
          <p:cNvPr id="143" name="Text 61">
            <a:extLst>
              <a:ext uri="{FF2B5EF4-FFF2-40B4-BE49-F238E27FC236}">
                <a16:creationId xmlns:a16="http://schemas.microsoft.com/office/drawing/2014/main" id="{2E59611A-1D93-8435-56C7-EB74614A47BD}"/>
              </a:ext>
            </a:extLst>
          </p:cNvPr>
          <p:cNvSpPr txBox="1"/>
          <p:nvPr/>
        </p:nvSpPr>
        <p:spPr>
          <a:xfrm>
            <a:off x="2764756" y="6317070"/>
            <a:ext cx="16288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</a:t>
            </a:r>
            <a:r>
              <a:rPr lang="en-US" sz="20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を揃える</a:t>
            </a:r>
            <a:endParaRPr lang="en-US" sz="2000" dirty="0"/>
          </a:p>
        </p:txBody>
      </p:sp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E32D4156-F690-9305-7411-9CA77E94CF6D}"/>
              </a:ext>
            </a:extLst>
          </p:cNvPr>
          <p:cNvGrpSpPr/>
          <p:nvPr/>
        </p:nvGrpSpPr>
        <p:grpSpPr>
          <a:xfrm>
            <a:off x="5771855" y="5913069"/>
            <a:ext cx="400181" cy="367304"/>
            <a:chOff x="5971946" y="5837642"/>
            <a:chExt cx="457200" cy="457200"/>
          </a:xfrm>
        </p:grpSpPr>
        <p:pic>
          <p:nvPicPr>
            <p:cNvPr id="144" name="Image 5" descr="preencoded.png">
              <a:extLst>
                <a:ext uri="{FF2B5EF4-FFF2-40B4-BE49-F238E27FC236}">
                  <a16:creationId xmlns:a16="http://schemas.microsoft.com/office/drawing/2014/main" id="{B967E163-AEAE-D534-2DCD-E70695608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971946" y="5837642"/>
              <a:ext cx="457200" cy="457200"/>
            </a:xfrm>
            <a:prstGeom prst="rect">
              <a:avLst/>
            </a:prstGeom>
          </p:spPr>
        </p:pic>
        <p:sp>
          <p:nvSpPr>
            <p:cNvPr id="145" name="Text 62">
              <a:extLst>
                <a:ext uri="{FF2B5EF4-FFF2-40B4-BE49-F238E27FC236}">
                  <a16:creationId xmlns:a16="http://schemas.microsoft.com/office/drawing/2014/main" id="{8A7C4A38-5B02-B853-5696-17486577E1E9}"/>
                </a:ext>
              </a:extLst>
            </p:cNvPr>
            <p:cNvSpPr txBox="1"/>
            <p:nvPr/>
          </p:nvSpPr>
          <p:spPr>
            <a:xfrm>
              <a:off x="6113018" y="5925100"/>
              <a:ext cx="1911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</a:t>
              </a:r>
              <a:endParaRPr lang="en-US" sz="2000" dirty="0"/>
            </a:p>
          </p:txBody>
        </p:sp>
      </p:grpSp>
      <p:sp>
        <p:nvSpPr>
          <p:cNvPr id="146" name="Text 63">
            <a:extLst>
              <a:ext uri="{FF2B5EF4-FFF2-40B4-BE49-F238E27FC236}">
                <a16:creationId xmlns:a16="http://schemas.microsoft.com/office/drawing/2014/main" id="{722D374A-8317-04AA-22E3-AD3B43928F0A}"/>
              </a:ext>
            </a:extLst>
          </p:cNvPr>
          <p:cNvSpPr txBox="1"/>
          <p:nvPr/>
        </p:nvSpPr>
        <p:spPr>
          <a:xfrm>
            <a:off x="4548225" y="6317070"/>
            <a:ext cx="21554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箱と中身</a:t>
            </a:r>
            <a:r>
              <a:rPr lang="en-US" sz="20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を追う</a:t>
            </a:r>
            <a:endParaRPr lang="en-US" sz="2000" dirty="0"/>
          </a:p>
        </p:txBody>
      </p:sp>
      <p:pic>
        <p:nvPicPr>
          <p:cNvPr id="168" name="図 167" descr="The image depicts a simple, cartoonish blue-clad character with a downcast expression, featuring a small tear drop at the corner of their face.&#10;&#10;AI 生成コンテンツは誤りを含む可能性があります。">
            <a:extLst>
              <a:ext uri="{FF2B5EF4-FFF2-40B4-BE49-F238E27FC236}">
                <a16:creationId xmlns:a16="http://schemas.microsoft.com/office/drawing/2014/main" id="{E1EFF7D8-FC01-A72F-6ED2-B10D52CA38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2525" y="1886573"/>
            <a:ext cx="615983" cy="832410"/>
          </a:xfrm>
          <a:prstGeom prst="rect">
            <a:avLst/>
          </a:prstGeom>
        </p:spPr>
      </p:pic>
      <p:pic>
        <p:nvPicPr>
          <p:cNvPr id="170" name="図 169" descr="The image depicts a blue-colored character with a sad facial expression, holding a tearfu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598BBEED-F68D-E15F-C465-3F050FE7E0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3094" y="1906734"/>
            <a:ext cx="649288" cy="877416"/>
          </a:xfrm>
          <a:prstGeom prst="rect">
            <a:avLst/>
          </a:prstGeom>
        </p:spPr>
      </p:pic>
      <p:pic>
        <p:nvPicPr>
          <p:cNvPr id="172" name="図 171" descr="The image depicts a simple, blue-colored cartoon character with a face and a wet, downcast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F609F451-9AAB-35BD-A6D8-3ADE721587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0873" y="1950123"/>
            <a:ext cx="597603" cy="807571"/>
          </a:xfrm>
          <a:prstGeom prst="rect">
            <a:avLst/>
          </a:prstGeom>
        </p:spPr>
      </p:pic>
      <p:pic>
        <p:nvPicPr>
          <p:cNvPr id="173" name="図 172" descr="The image depicts a cartoon character with a blue shirt, blue eyes, and a patterned face with tears and a mischievous smile.&#10;&#10;AI 生成コンテンツは誤りを含む可能性があります。">
            <a:extLst>
              <a:ext uri="{FF2B5EF4-FFF2-40B4-BE49-F238E27FC236}">
                <a16:creationId xmlns:a16="http://schemas.microsoft.com/office/drawing/2014/main" id="{3BADD4CC-FD9F-E1EA-4856-B19AE5574F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77525" y="1883847"/>
            <a:ext cx="676114" cy="913668"/>
          </a:xfrm>
          <a:prstGeom prst="rect">
            <a:avLst/>
          </a:prstGeom>
        </p:spPr>
      </p:pic>
      <p:pic>
        <p:nvPicPr>
          <p:cNvPr id="175" name="図 174" descr="The image depicts a red-haired, expressionless character with a slightly furrowed brow.&#10;&#10;AI 生成コンテンツは誤りを含む可能性があります。">
            <a:extLst>
              <a:ext uri="{FF2B5EF4-FFF2-40B4-BE49-F238E27FC236}">
                <a16:creationId xmlns:a16="http://schemas.microsoft.com/office/drawing/2014/main" id="{3D2A45A8-2377-7A5F-7396-2178A68D6F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1861" y="4202546"/>
            <a:ext cx="602225" cy="813818"/>
          </a:xfrm>
          <a:prstGeom prst="rect">
            <a:avLst/>
          </a:prstGeom>
        </p:spPr>
      </p:pic>
      <p:pic>
        <p:nvPicPr>
          <p:cNvPr id="177" name="図 176" descr="The image depicts a cartoon character with a red shirt, wearing a hood and holding a wet hand, sugges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1CE9BF8F-67D8-E242-C8A1-6372E41292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7263" y="4121603"/>
            <a:ext cx="691199" cy="934052"/>
          </a:xfrm>
          <a:prstGeom prst="rect">
            <a:avLst/>
          </a:prstGeom>
        </p:spPr>
      </p:pic>
      <p:pic>
        <p:nvPicPr>
          <p:cNvPr id="179" name="図 178" descr="The image depicts a cartoon character with a red shirt, wearing a mask with tears and a downward-facing mouth.&#10;&#10;AI 生成コンテンツは誤りを含む可能性があります。">
            <a:extLst>
              <a:ext uri="{FF2B5EF4-FFF2-40B4-BE49-F238E27FC236}">
                <a16:creationId xmlns:a16="http://schemas.microsoft.com/office/drawing/2014/main" id="{6AE112DB-8731-64AE-F978-55E3D3E60A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22484" y="4102267"/>
            <a:ext cx="707253" cy="955748"/>
          </a:xfrm>
          <a:prstGeom prst="rect">
            <a:avLst/>
          </a:prstGeom>
        </p:spPr>
      </p:pic>
      <p:pic>
        <p:nvPicPr>
          <p:cNvPr id="181" name="図 180" descr="The image depicts a simple, cartoon-style character with a blue shirt and dark hair, presenting a friendly, cartoon face.&#10;&#10;AI 生成コンテンツは誤りを含む可能性があります。">
            <a:extLst>
              <a:ext uri="{FF2B5EF4-FFF2-40B4-BE49-F238E27FC236}">
                <a16:creationId xmlns:a16="http://schemas.microsoft.com/office/drawing/2014/main" id="{D9DF2F9F-51E7-FE18-0FEA-B4D0201DAF8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9254" y="5736720"/>
            <a:ext cx="623696" cy="842833"/>
          </a:xfrm>
          <a:prstGeom prst="rect">
            <a:avLst/>
          </a:prstGeom>
        </p:spPr>
      </p:pic>
      <p:pic>
        <p:nvPicPr>
          <p:cNvPr id="183" name="図 182" descr="The image depicts a cartoon character with a red shirt, round eyes, and a simple, friendly facia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61A31B87-DA7A-FB23-D497-06E3A4F81D4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91518" y="5661969"/>
            <a:ext cx="707253" cy="9557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