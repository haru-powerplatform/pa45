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図 2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FD78391-62BA-2CCE-F754-DD785585D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696" y="3085186"/>
            <a:ext cx="1760411" cy="33305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DC301FE-66EB-0632-3FEC-55AEEA2DF4C5}"/>
              </a:ext>
            </a:extLst>
          </p:cNvPr>
          <p:cNvCxnSpPr>
            <a:cxnSpLocks/>
          </p:cNvCxnSpPr>
          <p:nvPr/>
        </p:nvCxnSpPr>
        <p:spPr>
          <a:xfrm>
            <a:off x="3928963" y="2044337"/>
            <a:ext cx="0" cy="4420781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0BE383-91EE-6ECB-D6CB-5BD4A7563383}"/>
              </a:ext>
            </a:extLst>
          </p:cNvPr>
          <p:cNvSpPr txBox="1"/>
          <p:nvPr/>
        </p:nvSpPr>
        <p:spPr>
          <a:xfrm>
            <a:off x="-143692" y="-60623"/>
            <a:ext cx="12335692" cy="92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【Vol.1】Power Automate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：「変数の初期化」ってこう使う！</a:t>
            </a:r>
            <a:r>
              <a:rPr lang="ja-JP" altLang="en-US" sz="4000" b="1">
                <a:solidFill>
                  <a:schemeClr val="tx1">
                    <a:lumMod val="65000"/>
                    <a:lumOff val="35000"/>
                  </a:schemeClr>
                </a:solidFill>
              </a:rPr>
              <a:t>　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1E77D99-8A36-FEF8-110D-9053AF8DE090}"/>
              </a:ext>
            </a:extLst>
          </p:cNvPr>
          <p:cNvSpPr/>
          <p:nvPr/>
        </p:nvSpPr>
        <p:spPr>
          <a:xfrm>
            <a:off x="54428" y="65314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70D0B7FD-59DA-9068-17C5-F227FF085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026" y="669272"/>
            <a:ext cx="1091521" cy="109152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589D87-4D73-D3AD-3708-2BA7116FBD07}"/>
              </a:ext>
            </a:extLst>
          </p:cNvPr>
          <p:cNvSpPr txBox="1"/>
          <p:nvPr/>
        </p:nvSpPr>
        <p:spPr>
          <a:xfrm>
            <a:off x="246955" y="1779950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１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9" name="矢印: 右 38">
            <a:extLst>
              <a:ext uri="{FF2B5EF4-FFF2-40B4-BE49-F238E27FC236}">
                <a16:creationId xmlns:a16="http://schemas.microsoft.com/office/drawing/2014/main" id="{96D47271-E54F-960D-70FC-BCB1BD3EC9DF}"/>
              </a:ext>
            </a:extLst>
          </p:cNvPr>
          <p:cNvSpPr/>
          <p:nvPr/>
        </p:nvSpPr>
        <p:spPr>
          <a:xfrm>
            <a:off x="3565118" y="1913193"/>
            <a:ext cx="660715" cy="3639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EC6113B-42EA-8159-0F02-AC8A280A6608}"/>
              </a:ext>
            </a:extLst>
          </p:cNvPr>
          <p:cNvSpPr txBox="1"/>
          <p:nvPr/>
        </p:nvSpPr>
        <p:spPr>
          <a:xfrm>
            <a:off x="4239702" y="4106594"/>
            <a:ext cx="2995823" cy="1433341"/>
          </a:xfrm>
          <a:prstGeom prst="rect">
            <a:avLst/>
          </a:prstGeom>
          <a:solidFill>
            <a:schemeClr val="bg2">
              <a:lumMod val="75000"/>
              <a:alpha val="59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・名前は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「目的がわかる英語」が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おススメ！</a:t>
            </a:r>
            <a:endParaRPr lang="en-US" altLang="ja-JP" sz="20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pic>
        <p:nvPicPr>
          <p:cNvPr id="48" name="図 47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0963ABC-A96E-AF6E-BF1F-9C72644C9A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541" y="1786328"/>
            <a:ext cx="1556399" cy="1841893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8C4C74-F725-52D9-8156-D719A150CBBA}"/>
              </a:ext>
            </a:extLst>
          </p:cNvPr>
          <p:cNvSpPr txBox="1"/>
          <p:nvPr/>
        </p:nvSpPr>
        <p:spPr>
          <a:xfrm>
            <a:off x="1547831" y="763912"/>
            <a:ext cx="9135075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目的：「値を置いておく“空の箱”を作ること」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7E8F463-073F-2915-90D2-B6EE1373CD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33"/>
          <a:stretch>
            <a:fillRect/>
          </a:stretch>
        </p:blipFill>
        <p:spPr>
          <a:xfrm>
            <a:off x="317482" y="3022568"/>
            <a:ext cx="3328849" cy="7597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64E62BB-9427-2063-3449-6B38D1AD4AF5}"/>
              </a:ext>
            </a:extLst>
          </p:cNvPr>
          <p:cNvSpPr txBox="1"/>
          <p:nvPr/>
        </p:nvSpPr>
        <p:spPr>
          <a:xfrm>
            <a:off x="113446" y="2311475"/>
            <a:ext cx="4320993" cy="58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✅アクションを追加する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6B68881-F63F-617E-DC6A-48046EF0EE27}"/>
              </a:ext>
            </a:extLst>
          </p:cNvPr>
          <p:cNvSpPr txBox="1"/>
          <p:nvPr/>
        </p:nvSpPr>
        <p:spPr>
          <a:xfrm>
            <a:off x="4472808" y="1779950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２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DFCB792-DD06-87CC-6924-E8DAF803DFB8}"/>
              </a:ext>
            </a:extLst>
          </p:cNvPr>
          <p:cNvSpPr txBox="1"/>
          <p:nvPr/>
        </p:nvSpPr>
        <p:spPr>
          <a:xfrm>
            <a:off x="8670372" y="2317018"/>
            <a:ext cx="2256708" cy="58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✅型を選ぶ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F250C639-2391-FFA2-5EDB-A07EB28DF3E4}"/>
              </a:ext>
            </a:extLst>
          </p:cNvPr>
          <p:cNvCxnSpPr>
            <a:cxnSpLocks/>
          </p:cNvCxnSpPr>
          <p:nvPr/>
        </p:nvCxnSpPr>
        <p:spPr>
          <a:xfrm flipH="1">
            <a:off x="8329486" y="2095144"/>
            <a:ext cx="50337" cy="4369974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2115D15-0E37-5555-9813-994019BE9255}"/>
              </a:ext>
            </a:extLst>
          </p:cNvPr>
          <p:cNvSpPr txBox="1"/>
          <p:nvPr/>
        </p:nvSpPr>
        <p:spPr>
          <a:xfrm>
            <a:off x="8825326" y="1779950"/>
            <a:ext cx="25914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Step</a:t>
            </a:r>
            <a:r>
              <a:rPr lang="ja-JP" altLang="en-US" sz="36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３</a:t>
            </a:r>
            <a:endParaRPr lang="en-US" altLang="ja-JP" sz="36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C1F16077-7974-6CB4-2EE6-74A7536C8EF6}"/>
              </a:ext>
            </a:extLst>
          </p:cNvPr>
          <p:cNvSpPr/>
          <p:nvPr/>
        </p:nvSpPr>
        <p:spPr>
          <a:xfrm>
            <a:off x="7995554" y="1928998"/>
            <a:ext cx="660715" cy="363903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図 35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82C4D85-D615-B6E6-3706-B467CB4F2F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0225" y="3075193"/>
            <a:ext cx="1616936" cy="30052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EB49D1A-CEB7-79CB-A425-77C3AA6CBDBF}"/>
              </a:ext>
            </a:extLst>
          </p:cNvPr>
          <p:cNvSpPr txBox="1"/>
          <p:nvPr/>
        </p:nvSpPr>
        <p:spPr>
          <a:xfrm>
            <a:off x="4302019" y="2317018"/>
            <a:ext cx="3398045" cy="589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✅箱に名前をつける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A638C05A-506C-47F6-F007-D238B069FE15}"/>
              </a:ext>
            </a:extLst>
          </p:cNvPr>
          <p:cNvSpPr/>
          <p:nvPr/>
        </p:nvSpPr>
        <p:spPr>
          <a:xfrm>
            <a:off x="4206339" y="3051596"/>
            <a:ext cx="987880" cy="423124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831596E5-E221-BC10-CFFF-CF6601A32E60}"/>
              </a:ext>
            </a:extLst>
          </p:cNvPr>
          <p:cNvSpPr/>
          <p:nvPr/>
        </p:nvSpPr>
        <p:spPr>
          <a:xfrm>
            <a:off x="8601856" y="4496057"/>
            <a:ext cx="828598" cy="363903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72A4BAC9-151F-3199-DE2B-C5AE02993964}"/>
              </a:ext>
            </a:extLst>
          </p:cNvPr>
          <p:cNvSpPr txBox="1"/>
          <p:nvPr/>
        </p:nvSpPr>
        <p:spPr>
          <a:xfrm>
            <a:off x="9118667" y="3825514"/>
            <a:ext cx="2853880" cy="510011"/>
          </a:xfrm>
          <a:prstGeom prst="rect">
            <a:avLst/>
          </a:prstGeom>
          <a:solidFill>
            <a:schemeClr val="bg2">
              <a:lumMod val="75000"/>
              <a:alpha val="59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初期値は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『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空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』</a:t>
            </a:r>
            <a:r>
              <a:rPr lang="ja-JP" altLang="en-US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で</a:t>
            </a:r>
            <a:r>
              <a:rPr lang="en-US" altLang="ja-JP" sz="20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OK</a:t>
            </a:r>
          </a:p>
        </p:txBody>
      </p:sp>
      <p:pic>
        <p:nvPicPr>
          <p:cNvPr id="53" name="図 52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6A64489-41A5-9C08-D55A-994275EF15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838" y="4932585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4" name="図 53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ECFEA82-5DD5-6F3E-4AB6-D609AAC0A4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366" y="4999121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5" name="図 54" descr="おもちゃ, 人形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EDF8F5A-7B60-849A-C968-46C4F672A4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2806" y="5046310"/>
            <a:ext cx="1855720" cy="1855720"/>
          </a:xfrm>
          <a:prstGeom prst="rect">
            <a:avLst/>
          </a:prstGeom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7604DE69-AF37-8774-50BB-C93ED829418C}"/>
              </a:ext>
            </a:extLst>
          </p:cNvPr>
          <p:cNvSpPr txBox="1"/>
          <p:nvPr/>
        </p:nvSpPr>
        <p:spPr>
          <a:xfrm rot="352564">
            <a:off x="340318" y="4007289"/>
            <a:ext cx="29177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最初に空っぽの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ja-JP" alt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箱を作るよ～</a:t>
            </a:r>
            <a:endParaRPr lang="en-US" altLang="ja-JP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A46EF8F0-A3BA-3B08-2F23-005B89092628}"/>
              </a:ext>
            </a:extLst>
          </p:cNvPr>
          <p:cNvCxnSpPr>
            <a:cxnSpLocks/>
          </p:cNvCxnSpPr>
          <p:nvPr/>
        </p:nvCxnSpPr>
        <p:spPr>
          <a:xfrm flipH="1">
            <a:off x="1031458" y="4835523"/>
            <a:ext cx="185126" cy="2356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EB890159-6216-EA28-E5C5-B0A7EDCF2778}"/>
              </a:ext>
            </a:extLst>
          </p:cNvPr>
          <p:cNvCxnSpPr/>
          <p:nvPr/>
        </p:nvCxnSpPr>
        <p:spPr>
          <a:xfrm>
            <a:off x="296618" y="4627586"/>
            <a:ext cx="212436" cy="2664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F35FB14B-6B31-2137-2538-CA58A6AE7217}"/>
              </a:ext>
            </a:extLst>
          </p:cNvPr>
          <p:cNvSpPr txBox="1"/>
          <p:nvPr/>
        </p:nvSpPr>
        <p:spPr>
          <a:xfrm>
            <a:off x="6380373" y="6085414"/>
            <a:ext cx="1474545" cy="369332"/>
          </a:xfrm>
          <a:prstGeom prst="rect">
            <a:avLst/>
          </a:prstGeom>
          <a:solidFill>
            <a:srgbClr val="FFFF00"/>
          </a:solidFill>
          <a:ln w="412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b="1" err="1"/>
              <a:t>itemCount</a:t>
            </a:r>
            <a:endParaRPr kumimoji="1" lang="ja-JP" altLang="en-US" b="1"/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623A1DE5-AF60-C2CC-D0C8-C0534C0B6ECD}"/>
              </a:ext>
            </a:extLst>
          </p:cNvPr>
          <p:cNvSpPr/>
          <p:nvPr/>
        </p:nvSpPr>
        <p:spPr>
          <a:xfrm>
            <a:off x="8601856" y="5236651"/>
            <a:ext cx="463767" cy="363903"/>
          </a:xfrm>
          <a:prstGeom prst="roundRect">
            <a:avLst>
              <a:gd name="adj" fmla="val 6918"/>
            </a:avLst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図 60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9D13439-BFDA-DD02-E134-7E02F853E8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322" y="4932585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E9045FD-90A0-C9D4-84D8-6F9DCBDF8EB0}"/>
              </a:ext>
            </a:extLst>
          </p:cNvPr>
          <p:cNvSpPr txBox="1"/>
          <p:nvPr/>
        </p:nvSpPr>
        <p:spPr>
          <a:xfrm>
            <a:off x="10245152" y="5949062"/>
            <a:ext cx="1474545" cy="646331"/>
          </a:xfrm>
          <a:prstGeom prst="rect">
            <a:avLst/>
          </a:prstGeom>
          <a:solidFill>
            <a:srgbClr val="FFFF00"/>
          </a:solidFill>
          <a:ln w="412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err="1"/>
              <a:t>itemCount</a:t>
            </a:r>
            <a:endParaRPr kumimoji="1" lang="en-US" altLang="ja-JP" b="1"/>
          </a:p>
          <a:p>
            <a:pPr algn="ctr"/>
            <a:r>
              <a:rPr kumimoji="1" lang="ja-JP" altLang="en-US" b="1"/>
              <a:t>整数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