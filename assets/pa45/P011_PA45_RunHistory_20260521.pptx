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89" r:id="rId10"/>
    <p:sldId id="290" r:id="rId11"/>
    <p:sldId id="286" r:id="rId12"/>
    <p:sldId id="287" r:id="rId13"/>
    <p:sldId id="288" r:id="rId14"/>
    <p:sldId id="284" r:id="rId15"/>
    <p:sldId id="272" r:id="rId16"/>
    <p:sldId id="268" r:id="rId17"/>
    <p:sldId id="269" r:id="rId18"/>
    <p:sldId id="291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cloud.microsoft/r/RpevgiKG2v" TargetMode="External"/><Relationship Id="rId3" Type="http://schemas.openxmlformats.org/officeDocument/2006/relationships/image" Target="../media/image7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91.png"/><Relationship Id="rId5" Type="http://schemas.openxmlformats.org/officeDocument/2006/relationships/image" Target="../media/image7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Relationship Id="rId8" Type="http://schemas.openxmlformats.org/officeDocument/2006/relationships/image" Target="../media/image94.png"/><Relationship Id="rId9" Type="http://schemas.openxmlformats.org/officeDocument/2006/relationships/image" Target="../media/image9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Power Automate・Teams を使いますので</a:t>
            </a:r>
            <a:r>
              <a:rPr kumimoji="1" lang="ja-JP" altLang="en-US" sz="4000"/>
              <a:t/>
            </a:r>
            <a:r>
              <a:rPr kumimoji="1" lang="en-US" altLang="ja-JP" sz="4000">
                <a:solidFill>
                  <a:srgbClr val="FF0000"/>
                </a:solidFill>
              </a:rPr>
              <a:t/>
            </a:r>
            <a:r>
              <a:rPr kumimoji="1" lang="ja-JP" altLang="en-US" sz="4000"/>
              <a:t/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ハンズオン 事前準備（3分でできます）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+mj-ea"/>
                <a:ea typeface="+mj-ea"/>
              </a:rPr>
              <a:t>今回は実行履歴を読む回。Vol.10で作った「経費申請」リストに、ダミーデータが3件以上入っている状態にしておくと進みが早いです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1   SharePoint「経費申請」リストを開く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555555"/>
                </a:solidFill>
                <a:latin typeface="+mj-ea"/>
                <a:ea typeface="+mj-ea"/>
              </a:rPr>
              <a:t>👉 Vol.10で作ったリストをそのまま使います（無い方は当日作成でOK）</a:t>
            </a:r>
          </a:p>
          <a:p>
            <a:pPr>
              <a:spcBef>
                <a:spcPts val="400"/>
              </a:spcBef>
            </a:pPr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  <a:p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  <a:p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2   テストデータを3件以上登録しておく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① 「+ 新規」から手動で 経費申請 を3〜5件 入力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   Title: テスト1〜テスト5 / Detail: 適当 / Status: 申請中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② 件数が多いほど、出力JSONの配列構造が体感しやすい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③ Vol.10のフローを動かして自動で増やしてもOK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　【実行履歴 × 出力JSON × パス指定】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第11回： 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実行履歴の「出力」を読めると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フローがつながる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実行履歴の見方｜JSONとパス指定の基本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Vol.1〜10で作ったフローがある方／動的コンテンツに値が出なくて困った方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（プログラミング知識ゼロでOK）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実行履歴の「出力」をのぞいてみる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マイフロー → 実行履歴 → 緑カードを開く。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「入力」と「出力」タブの違いを体感します。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出力JSONから値を式で取り出す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first() / [0] / length() を使って、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配列の中から欲しい値を1つ抜き出します。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Teamsに「全件数・最新タイトル」を投稿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取り出した値を後続のTeamsアクションで使う、までを通して体験！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5598507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①SharePoint「複数の項目の取得」でリストの全件を取り出す。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②実行履歴で出力タブを開いてJSONを見る（body.value が配列）。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③「作成」アクションで式 first()/length() を書き、配列から値を抜く。</a:t>
            </a: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t>④Teamsに「全件数・最新タイトル」を投稿して、抜き出した値が後続で使えることを確認。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The image shows a user interface with a form containing a file input, a checkbox for a property condition, and buttons for posting messages in chat or channel.&#10;&#10;AI 生成コンテンツは誤りを含む可能性があります。">
            <a:extLst>
              <a:ext uri="{FF2B5EF4-FFF2-40B4-BE49-F238E27FC236}">
                <a16:creationId xmlns:a16="http://schemas.microsoft.com/office/drawing/2014/main" id="{A17FFD3D-1303-2BC7-3253-E2DBE5E19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704" y="1709443"/>
            <a:ext cx="4904373" cy="4568713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12" name="図 11" descr="A cartoon child with a blue shirt is pointing towards an illustration of an open eye with a light bulb.&#10;&#10;AI 生成コンテンツは誤りを含む可能性があります。">
            <a:extLst>
              <a:ext uri="{FF2B5EF4-FFF2-40B4-BE49-F238E27FC236}">
                <a16:creationId xmlns:a16="http://schemas.microsoft.com/office/drawing/2014/main" id="{DCFEA6E0-2BC7-E886-FA98-B0724535F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9006" y="4595962"/>
            <a:ext cx="1363810" cy="16139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305" y="-9144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2110" y="628650"/>
            <a:ext cx="96012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事前準備 ①  実行履歴の場所を覚える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04620" y="1781251"/>
            <a:ext cx="654452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目的：「動いた / 動かなかった」が分かる場所を最初に押さえる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  <a:hlinkClick r:id="rId2"/>
              </a:rPr>
              <a:t>・マイフロー画面でフロー名をクリック</a:t>
            </a: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・画面右側に「28日間の実行履歴」が一覧で出る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・緑チェック＝成功、赤×＝失敗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・行をクリックすると、各アクションの「入力」「出力」が見られる詳細画面に飛ぶ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5" name="図 14" descr="The image shows a form with two proposals, a section for personal names, a field for monetary values, a section for purposes, and a field for additional details.&#10;&#10;AI 生成コンテンツは誤りを含む可能性があります。">
            <a:extLst>
              <a:ext uri="{FF2B5EF4-FFF2-40B4-BE49-F238E27FC236}">
                <a16:creationId xmlns:a16="http://schemas.microsoft.com/office/drawing/2014/main" id="{689B1446-4E1D-9168-07ED-183171FE5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97" y="644768"/>
            <a:ext cx="3520006" cy="54571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事前準備 ②  今回使うSharePointリスト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37948" y="1494313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1714500"/>
            <a:ext cx="6971243" cy="442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目的：複数件のデータが入った状態で、配列のJSONを観察できるようにする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・Vol.10で作った「経費申請」リストをそのまま使用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・列：Title / Detail / Status の3つ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・テストデータを3〜5件登録しておく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・件数が多いほど、出力JSONの配列構造が体感しやすい</a:t>
            </a:r>
            <a:endParaRPr lang="en-US"/>
          </a:p>
          <a:p>
            <a:pPr marL="0" indent="0" algn="l">
              <a:buNone/>
            </a:pP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t/>
            </a:r>
            <a:endParaRPr lang="en-US"/>
          </a:p>
          <a:p>
            <a:pPr marL="0" indent="0" algn="l">
              <a:buNone/>
            </a:pPr>
            <a:r>
              <a:rPr lang="ja-JP" altLang="en-US"/>
              <a:t/>
            </a:r>
            <a: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4" name="図 13" descr="No10 Expense Claim List&#10;&#10;AI 生成コンテンツは誤りを含む可能性があります。">
            <a:extLst>
              <a:ext uri="{FF2B5EF4-FFF2-40B4-BE49-F238E27FC236}">
                <a16:creationId xmlns:a16="http://schemas.microsoft.com/office/drawing/2014/main" id="{C2EF7902-2BBE-0FB4-C1D1-D35830F89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653" y="1864303"/>
            <a:ext cx="4810796" cy="391532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①  実行履歴を開く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243" y="1705357"/>
            <a:ext cx="7058328" cy="4260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目的：フローの動きをアクション単位で追えるようにする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・フローを1回実行する → 実行履歴に新しい行が増える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・行をクリック → アクションごとのカードが縦に並ぶ</a:t>
            </a:r>
            <a:endParaRPr lang="en-US"/>
          </a:p>
          <a:p>
            <a:pPr marL="0" indent="0" algn="l">
              <a:buNone/>
            </a:pPr>
            <a:r>
              <a:t>・✅緑カード = そのアクションは成功 / ❌赤カード = 失敗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1600"/>
              <a:t>・カードを展開すると「入力」と「出力」の2タブが表示される</a:t>
            </a:r>
            <a:endParaRPr lang="en-US" sz="1600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The image depicts a user interface with two sections, each containing a text field for inputting responses, with instructions to retrieve and summarize application details.&#10;&#10;AI 生成コンテンツは誤りを含む可能性があります。">
            <a:extLst>
              <a:ext uri="{FF2B5EF4-FFF2-40B4-BE49-F238E27FC236}">
                <a16:creationId xmlns:a16="http://schemas.microsoft.com/office/drawing/2014/main" id="{E3F313C9-ADB6-6A37-504D-0DE5F3B6B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252" y="674831"/>
            <a:ext cx="3488397" cy="535746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A child in green clothing is depicted sitting on the floor, relaxing with a laptop open and on, while lying down.&#10;&#10;AI 生成コンテンツは誤りを含む可能性があります。">
            <a:extLst>
              <a:ext uri="{FF2B5EF4-FFF2-40B4-BE49-F238E27FC236}">
                <a16:creationId xmlns:a16="http://schemas.microsoft.com/office/drawing/2014/main" id="{49EE4930-6C21-6EBF-82EA-02FB98532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9707" y="3353565"/>
            <a:ext cx="2106190" cy="14415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1103811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②  出力JSONを読む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7380546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目的：後続のアクションで何を取り出せるかが分かるようになる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・「出力」タブを開くとJSONが表示される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・SharePoint「複数の項目の取得」の出力は body.value が【配列】</a:t>
            </a: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・配列の中身は { Title, Detail, Status, ID, ... } の【オブジェクト】が複数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・「[ ]」が配列、「{ }」がオブジェクト。インデントで階層が分かる</a:t>
            </a: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・キー名（"Title" など）が動的コンテンツや式で使うパスになる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Submitted&#10;&#10;AI 生成コンテンツは誤りを含む可能性があります。">
            <a:extLst>
              <a:ext uri="{FF2B5EF4-FFF2-40B4-BE49-F238E27FC236}">
                <a16:creationId xmlns:a16="http://schemas.microsoft.com/office/drawing/2014/main" id="{0DD0D0D2-FD45-AE74-8E14-81FC75DD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936" y="1794289"/>
            <a:ext cx="4115374" cy="42106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A hand holding a document with Japanese characters and a form with checkboxes and numbers.&#10;&#10;AI 生成コンテンツは誤りを含む可能性があります。">
            <a:extLst>
              <a:ext uri="{FF2B5EF4-FFF2-40B4-BE49-F238E27FC236}">
                <a16:creationId xmlns:a16="http://schemas.microsoft.com/office/drawing/2014/main" id="{59479EB1-0E7C-C3B6-9DC4-512C3E02C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911" y="3675016"/>
            <a:ext cx="1639567" cy="1490184"/>
          </a:xfrm>
          <a:prstGeom prst="rect">
            <a:avLst/>
          </a:prstGeom>
        </p:spPr>
      </p:pic>
      <p:pic>
        <p:nvPicPr>
          <p:cNvPr id="16" name="図 15" descr="The image depicts a child in a blue shirt, sitting at a desk, looking confused and holding a smartphone, with an open email notification and a question mark above his head.&#10;&#10;AI 生成コンテンツは誤りを含む可能性があります。">
            <a:extLst>
              <a:ext uri="{FF2B5EF4-FFF2-40B4-BE49-F238E27FC236}">
                <a16:creationId xmlns:a16="http://schemas.microsoft.com/office/drawing/2014/main" id="{F06833EB-62C0-688B-7E01-15829AD70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656" y="4994690"/>
            <a:ext cx="1490185" cy="14901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③  式で値を取り出す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94417" y="2164046"/>
            <a:ext cx="691598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目的：動的コンテンツに出てこない値も、自分で書いて取り出せるようにする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・基本パス: outputs('複数の項目の取得')?['body/value']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・1件目を取り出す: first(...)?['Title']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・件数を数える: length(...)</a:t>
            </a:r>
            <a:endParaRPr lang="en-US"/>
          </a:p>
          <a:p>
            <a:pPr marL="0" indent="0" algn="l">
              <a:buNone/>
            </a:pPr>
            <a:r>
              <a:t>・[0] でN件目を指定（[0]=1件目、[1]=2件目）</a:t>
            </a:r>
            <a:endParaRPr lang="en-US"/>
          </a:p>
          <a:p>
            <a:pPr marL="0" indent="0" algn="l">
              <a:buNone/>
            </a:pPr>
            <a:r>
              <a:t>・取り出した値は「作成（Compose）」に入れておくと、後続が動的コンテンツで使える</a:t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Reject&#10;&#10;AI 生成コンテンツは誤りを含む可能性があります。">
            <a:extLst>
              <a:ext uri="{FF2B5EF4-FFF2-40B4-BE49-F238E27FC236}">
                <a16:creationId xmlns:a16="http://schemas.microsoft.com/office/drawing/2014/main" id="{51253969-DE5D-4A72-3C6D-1FEDC2D29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489" y="1740257"/>
            <a:ext cx="4941984" cy="430445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cute, cartoonish cat holding a target with a cheerful expression.&#10;&#10;AI 生成コンテンツは誤りを含む可能性があります。">
            <a:extLst>
              <a:ext uri="{FF2B5EF4-FFF2-40B4-BE49-F238E27FC236}">
                <a16:creationId xmlns:a16="http://schemas.microsoft.com/office/drawing/2014/main" id="{DB25A7B8-36CA-2E8D-1D22-11781740D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691" y="5173320"/>
            <a:ext cx="1122182" cy="1181244"/>
          </a:xfrm>
          <a:prstGeom prst="rect">
            <a:avLst/>
          </a:prstGeom>
        </p:spPr>
      </p:pic>
      <p:pic>
        <p:nvPicPr>
          <p:cNvPr id="16" name="図 15" descr="The image depicts a gray cartoon cat with a red circle and cross, holding a magnifying glass.&#10;&#10;AI 生成コンテンツは誤りを含む可能性があります。">
            <a:extLst>
              <a:ext uri="{FF2B5EF4-FFF2-40B4-BE49-F238E27FC236}">
                <a16:creationId xmlns:a16="http://schemas.microsoft.com/office/drawing/2014/main" id="{AF3E22CA-FF0B-8F71-3F0B-A922DEFAE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06" y="5237266"/>
            <a:ext cx="1052236" cy="110761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Formsは「申請の受け皿」、SharePointは「データの置き場所」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Formsで入力 → SharePointに保存 の流れは、社内のあらゆる申請フローに使い回せます。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今回作るのは経費申請ですが、有休・稟議・備品にもそのまま応用できます。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承認結果（outcome）は英語固定「Approve / Reject」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条件分岐で日本語「承認」と比較するとハマります。outcomeは英語Approve/Rejectで比較すること。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これだけ覚えれば承認フローでつまずきません。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「項目の作成」の {Link} を承認カードに入れる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承認カードに項目のリンクを入れておくと、承認者がTeamsから直接SharePointへ飛べます。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小さな工夫ですが、運用ストレスがぐっと減ります。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Forms入力→SP登録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→上司承認→経理に通知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21292" y="3873215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Forms＋SharePoint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→Approvals→Teams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結果でStatus更新まで自動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Forms→SP→Approvals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r>
              <a:t>② 配列は first() / last() / [0]、件数は length()</a:t>
            </a:r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outputs('アクション名')?['body/value'] が基本パス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自動承認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1" y="3031102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出力タブのJSONを上から読みながら ? と / で繋いでいく、これだけ。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ネストが深くても、JSONの形と式の形は1対1で対応しているので恐れない。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→Approvals→Teams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承認結果で台帳更新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Forms→SP→Approvals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35613" y="2215734"/>
            <a:ext cx="2452753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稟議書の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多段承認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稟議書をFormsで起票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→課長→部長と順に承認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318854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→Approvals×複数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最終承認後にTeams通知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承認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実務応用の総まとめ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申請件数を毎朝Teams通知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経費申請の未承認件数を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length() を使う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配列の1件目を取得し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深いネストから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API応答の深いJSONを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outputs('XX')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🛠 巻末（自分用）  サンプルフロー作成手順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94417" y="2164046"/>
            <a:ext cx="691598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※受講者には見せない・運営者自分用メモ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① 手動トリガー（インスタント）を新規作成。フロー名 PA45-No11-RunHistory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② SharePoint「複数の項目の取得」追加。サイト=経費申請のSP / リスト=経費申請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③ 作成（Compose）追加・名前=1件目のタイトル / 式: first(outputs('複数の項目の取得')?['body/value'])?['Title']</a:t>
            </a:r>
            <a:endParaRPr lang="en-US"/>
          </a:p>
          <a:p>
            <a:pPr marL="0" indent="0" algn="l">
              <a:buNone/>
            </a:pPr>
            <a:r>
              <a:t>④ 作成（Compose）追加・名前=全件数 / 式: length(outputs('複数の項目の取得')?['body/value'])</a:t>
            </a:r>
            <a:endParaRPr lang="en-US"/>
          </a:p>
          <a:p>
            <a:pPr marL="0" indent="0" algn="l">
              <a:buNone/>
            </a:pPr>
            <a:r>
              <a:t>⑤ Teams投稿（チャネル）追加。本文: 全件数=@{outputs('全件数')} / 最新=@{outputs('1件目のタイトル')}</a:t>
            </a:r>
            <a:endParaRPr lang="en-US"/>
          </a:p>
          <a:p>
            <a:pPr marL="0" indent="0" algn="l">
              <a:buNone/>
            </a:pPr>
            <a:r>
              <a:t>⑥ 保存→テスト実行→実行履歴の出力タブを開いて答え合わせ</a:t>
            </a: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※ 教えるのは「実行履歴の見方・式の書き方」に絞る。エラーハンドリングや並列分岐は触れない。</a:t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/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Reject&#10;&#10;AI 生成コンテンツは誤りを含む可能性があります。">
            <a:extLst>
              <a:ext uri="{FF2B5EF4-FFF2-40B4-BE49-F238E27FC236}">
                <a16:creationId xmlns:a16="http://schemas.microsoft.com/office/drawing/2014/main" id="{51253969-DE5D-4A72-3C6D-1FEDC2D29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489" y="1740257"/>
            <a:ext cx="4941984" cy="430445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cute, cartoonish cat holding a target with a cheerful expression.&#10;&#10;AI 生成コンテンツは誤りを含む可能性があります。">
            <a:extLst>
              <a:ext uri="{FF2B5EF4-FFF2-40B4-BE49-F238E27FC236}">
                <a16:creationId xmlns:a16="http://schemas.microsoft.com/office/drawing/2014/main" id="{DB25A7B8-36CA-2E8D-1D22-11781740D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691" y="5173320"/>
            <a:ext cx="1122182" cy="1181244"/>
          </a:xfrm>
          <a:prstGeom prst="rect">
            <a:avLst/>
          </a:prstGeom>
        </p:spPr>
      </p:pic>
      <p:pic>
        <p:nvPicPr>
          <p:cNvPr id="16" name="図 15" descr="The image depicts a gray cartoon cat with a red circle and cross, holding a magnifying glass.&#10;&#10;AI 生成コンテンツは誤りを含む可能性があります。">
            <a:extLst>
              <a:ext uri="{FF2B5EF4-FFF2-40B4-BE49-F238E27FC236}">
                <a16:creationId xmlns:a16="http://schemas.microsoft.com/office/drawing/2014/main" id="{AF3E22CA-FF0B-8F71-3F0B-A922DEFAE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06" y="5237266"/>
            <a:ext cx="1052236" cy="11076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2228</TotalTime>
  <Words>1984</Words>
  <Application>Microsoft Office PowerPoint</Application>
  <PresentationFormat>ワイド画面</PresentationFormat>
  <Paragraphs>417</Paragraphs>
  <Slides>17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2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24</cp:revision>
  <dcterms:created xsi:type="dcterms:W3CDTF">2026-03-02T01:22:39Z</dcterms:created>
  <dcterms:modified xsi:type="dcterms:W3CDTF">2026-05-11T06:25:04Z</dcterms:modified>
</cp:coreProperties>
</file>