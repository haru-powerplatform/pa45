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9" name="図 8" descr="テーブル が含まれている画像&#10;&#10;AI 生成コンテンツは誤りを含む可能性があります。">
            <a:extLst>
              <a:ext uri="{FF2B5EF4-FFF2-40B4-BE49-F238E27FC236}">
                <a16:creationId xmlns:a16="http://schemas.microsoft.com/office/drawing/2014/main" id="{68AF87F6-A9B5-55A7-07B8-49C7F454EB5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11111" y="4961707"/>
            <a:ext cx="5891196" cy="805871"/>
          </a:xfrm>
          <a:prstGeom prst="rect">
            <a:avLst/>
          </a:prstGeom>
          <a:ln>
            <a:noFill/>
          </a:ln>
          <a:effectLst>
            <a:outerShdw blurRad="190500" algn="tl" rotWithShape="0">
              <a:srgbClr val="000000">
                <a:alpha val="70000"/>
              </a:srgbClr>
            </a:outerShdw>
          </a:effectLst>
        </p:spPr>
      </p:pic>
      <p:sp>
        <p:nvSpPr>
          <p:cNvPr id="27" name="正方形/長方形 26">
            <a:extLst>
              <a:ext uri="{FF2B5EF4-FFF2-40B4-BE49-F238E27FC236}">
                <a16:creationId xmlns:a16="http://schemas.microsoft.com/office/drawing/2014/main" id="{DAF937B2-DC97-2157-498A-C06CCBB73A09}"/>
              </a:ext>
            </a:extLst>
          </p:cNvPr>
          <p:cNvSpPr/>
          <p:nvPr/>
        </p:nvSpPr>
        <p:spPr>
          <a:xfrm>
            <a:off x="1253705" y="845389"/>
            <a:ext cx="10748601" cy="2294251"/>
          </a:xfrm>
          <a:prstGeom prst="rect">
            <a:avLst/>
          </a:prstGeom>
          <a:noFill/>
          <a:ln>
            <a:solidFill>
              <a:schemeClr val="bg1"/>
            </a:solidFill>
          </a:ln>
          <a:effectLst>
            <a:glow rad="76200">
              <a:schemeClr val="tx1">
                <a:lumMod val="65000"/>
                <a:lumOff val="35000"/>
                <a:alpha val="69000"/>
              </a:schemeClr>
            </a:glo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1" name="テキスト ボックス 10">
            <a:extLst>
              <a:ext uri="{FF2B5EF4-FFF2-40B4-BE49-F238E27FC236}">
                <a16:creationId xmlns:a16="http://schemas.microsoft.com/office/drawing/2014/main" id="{574AF57C-12DE-525C-2EC9-1C8D1FF46F24}"/>
              </a:ext>
            </a:extLst>
          </p:cNvPr>
          <p:cNvSpPr txBox="1"/>
          <p:nvPr/>
        </p:nvSpPr>
        <p:spPr>
          <a:xfrm>
            <a:off x="-143692" y="-60623"/>
            <a:ext cx="12335692" cy="84420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ja-JP" sz="3600" b="1" u="sng">
                <a:solidFill>
                  <a:schemeClr val="tx1">
                    <a:lumMod val="65000"/>
                    <a:lumOff val="35000"/>
                  </a:schemeClr>
                </a:solidFill>
              </a:rPr>
              <a:t>【Vol.</a:t>
            </a:r>
            <a:r>
              <a:rPr lang="ja-JP" altLang="en-US" sz="3600" b="1" u="sng">
                <a:solidFill>
                  <a:schemeClr val="tx1">
                    <a:lumMod val="65000"/>
                    <a:lumOff val="35000"/>
                  </a:schemeClr>
                </a:solidFill>
              </a:rPr>
              <a:t> </a:t>
            </a:r>
            <a:r>
              <a:rPr lang="en-US" altLang="ja-JP" sz="3600" b="1" u="sng">
                <a:solidFill>
                  <a:schemeClr val="tx1">
                    <a:lumMod val="65000"/>
                    <a:lumOff val="35000"/>
                  </a:schemeClr>
                </a:solidFill>
              </a:rPr>
              <a:t>9】</a:t>
            </a:r>
            <a:r>
              <a:rPr lang="ja-JP" altLang="en-US" sz="3600" b="1" u="sng">
                <a:solidFill>
                  <a:schemeClr val="tx1">
                    <a:lumMod val="65000"/>
                    <a:lumOff val="35000"/>
                  </a:schemeClr>
                </a:solidFill>
              </a:rPr>
              <a:t>「</a:t>
            </a:r>
            <a:r>
              <a:rPr lang="en-US" altLang="ja-JP" sz="3600" b="1" u="sng">
                <a:solidFill>
                  <a:schemeClr val="tx1">
                    <a:lumMod val="65000"/>
                    <a:lumOff val="35000"/>
                  </a:schemeClr>
                </a:solidFill>
              </a:rPr>
              <a:t>Apply to each(</a:t>
            </a:r>
            <a:r>
              <a:rPr lang="ja-JP" altLang="en-US" sz="3600" b="1" u="sng">
                <a:solidFill>
                  <a:schemeClr val="tx1">
                    <a:lumMod val="65000"/>
                    <a:lumOff val="35000"/>
                  </a:schemeClr>
                </a:solidFill>
              </a:rPr>
              <a:t>適用</a:t>
            </a:r>
            <a:r>
              <a:rPr lang="en-US" altLang="ja-JP" sz="3600" b="1" u="sng">
                <a:solidFill>
                  <a:schemeClr val="tx1">
                    <a:lumMod val="65000"/>
                    <a:lumOff val="35000"/>
                  </a:schemeClr>
                </a:solidFill>
              </a:rPr>
              <a:t>)</a:t>
            </a:r>
            <a:r>
              <a:rPr lang="ja-JP" altLang="en-US" sz="3600" b="1" u="sng">
                <a:solidFill>
                  <a:schemeClr val="tx1">
                    <a:lumMod val="65000"/>
                    <a:lumOff val="35000"/>
                  </a:schemeClr>
                </a:solidFill>
              </a:rPr>
              <a:t>」アクションについて</a:t>
            </a:r>
            <a:endParaRPr lang="en-US" altLang="ja-JP" sz="3600" b="1" u="sng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  <p:sp>
        <p:nvSpPr>
          <p:cNvPr id="12" name="四角形: 角を丸くする 11">
            <a:extLst>
              <a:ext uri="{FF2B5EF4-FFF2-40B4-BE49-F238E27FC236}">
                <a16:creationId xmlns:a16="http://schemas.microsoft.com/office/drawing/2014/main" id="{95F0976E-FA09-1D04-44B9-9C8650C9EE2E}"/>
              </a:ext>
            </a:extLst>
          </p:cNvPr>
          <p:cNvSpPr/>
          <p:nvPr/>
        </p:nvSpPr>
        <p:spPr>
          <a:xfrm>
            <a:off x="54428" y="59109"/>
            <a:ext cx="12083143" cy="6727372"/>
          </a:xfrm>
          <a:prstGeom prst="roundRect">
            <a:avLst>
              <a:gd name="adj" fmla="val 3966"/>
            </a:avLst>
          </a:prstGeom>
          <a:noFill/>
          <a:ln w="142875"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4" name="テキスト ボックス 13">
            <a:extLst>
              <a:ext uri="{FF2B5EF4-FFF2-40B4-BE49-F238E27FC236}">
                <a16:creationId xmlns:a16="http://schemas.microsoft.com/office/drawing/2014/main" id="{4FE235F2-A179-C89C-35E0-2C4D23FCC044}"/>
              </a:ext>
            </a:extLst>
          </p:cNvPr>
          <p:cNvSpPr txBox="1"/>
          <p:nvPr/>
        </p:nvSpPr>
        <p:spPr>
          <a:xfrm>
            <a:off x="1631950" y="736715"/>
            <a:ext cx="10742908" cy="844205"/>
          </a:xfrm>
          <a:prstGeom prst="rect">
            <a:avLst/>
          </a:prstGeom>
          <a:noFill/>
          <a:effectLst>
            <a:glow rad="63500">
              <a:schemeClr val="accent1">
                <a:satMod val="175000"/>
                <a:alpha val="89000"/>
              </a:schemeClr>
            </a:glow>
          </a:effectLst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ja-JP" altLang="en-US" sz="3600" b="1">
                <a:solidFill>
                  <a:schemeClr val="tx1">
                    <a:lumMod val="65000"/>
                    <a:lumOff val="35000"/>
                  </a:schemeClr>
                </a:solidFill>
              </a:rPr>
              <a:t> データを</a:t>
            </a:r>
            <a:r>
              <a:rPr lang="en-US" altLang="ja-JP" sz="3600" b="1">
                <a:solidFill>
                  <a:schemeClr val="tx1">
                    <a:lumMod val="65000"/>
                    <a:lumOff val="35000"/>
                  </a:schemeClr>
                </a:solidFill>
              </a:rPr>
              <a:t>1</a:t>
            </a:r>
            <a:r>
              <a:rPr lang="ja-JP" altLang="en-US" sz="3600" b="1">
                <a:solidFill>
                  <a:schemeClr val="tx1">
                    <a:lumMod val="65000"/>
                    <a:lumOff val="35000"/>
                  </a:schemeClr>
                </a:solidFill>
              </a:rPr>
              <a:t>行ずつていねいに処理する「現場担当」</a:t>
            </a:r>
            <a:endParaRPr lang="en-US" altLang="ja-JP" sz="3600" b="1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  <p:pic>
        <p:nvPicPr>
          <p:cNvPr id="29" name="図 28" descr="アイコン&#10;&#10;AI 生成コンテンツは誤りを含む可能性があります。">
            <a:extLst>
              <a:ext uri="{FF2B5EF4-FFF2-40B4-BE49-F238E27FC236}">
                <a16:creationId xmlns:a16="http://schemas.microsoft.com/office/drawing/2014/main" id="{2963A047-9925-69F1-8EE4-DF0A0B8770D4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455254" y="-34163"/>
            <a:ext cx="855389" cy="855389"/>
          </a:xfrm>
          <a:prstGeom prst="rect">
            <a:avLst/>
          </a:prstGeom>
        </p:spPr>
      </p:pic>
      <p:cxnSp>
        <p:nvCxnSpPr>
          <p:cNvPr id="20" name="直線コネクタ 19">
            <a:extLst>
              <a:ext uri="{FF2B5EF4-FFF2-40B4-BE49-F238E27FC236}">
                <a16:creationId xmlns:a16="http://schemas.microsoft.com/office/drawing/2014/main" id="{B133284F-A428-EB33-DF96-48269DE9CD6C}"/>
              </a:ext>
            </a:extLst>
          </p:cNvPr>
          <p:cNvCxnSpPr>
            <a:cxnSpLocks/>
          </p:cNvCxnSpPr>
          <p:nvPr/>
        </p:nvCxnSpPr>
        <p:spPr>
          <a:xfrm>
            <a:off x="5906307" y="3940462"/>
            <a:ext cx="0" cy="2624148"/>
          </a:xfrm>
          <a:prstGeom prst="line">
            <a:avLst/>
          </a:prstGeom>
          <a:ln w="53975">
            <a:solidFill>
              <a:schemeClr val="tx1">
                <a:lumMod val="50000"/>
                <a:lumOff val="50000"/>
              </a:schemeClr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テキスト ボックス 22">
            <a:extLst>
              <a:ext uri="{FF2B5EF4-FFF2-40B4-BE49-F238E27FC236}">
                <a16:creationId xmlns:a16="http://schemas.microsoft.com/office/drawing/2014/main" id="{5332662C-F254-8FDA-702A-46573ADEDEA0}"/>
              </a:ext>
            </a:extLst>
          </p:cNvPr>
          <p:cNvSpPr txBox="1"/>
          <p:nvPr/>
        </p:nvSpPr>
        <p:spPr>
          <a:xfrm>
            <a:off x="5228952" y="1557797"/>
            <a:ext cx="7106739" cy="10772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ja-JP" altLang="en-US" sz="3200" b="1">
                <a:solidFill>
                  <a:schemeClr val="tx1">
                    <a:lumMod val="65000"/>
                    <a:lumOff val="35000"/>
                  </a:schemeClr>
                </a:solidFill>
              </a:rPr>
              <a:t>✅</a:t>
            </a:r>
            <a:r>
              <a:rPr lang="en-US" altLang="ja-JP" sz="3200" b="1">
                <a:solidFill>
                  <a:schemeClr val="tx1">
                    <a:lumMod val="65000"/>
                    <a:lumOff val="35000"/>
                  </a:schemeClr>
                </a:solidFill>
              </a:rPr>
              <a:t>1</a:t>
            </a:r>
            <a:r>
              <a:rPr lang="ja-JP" altLang="en-US" sz="3200" b="1">
                <a:solidFill>
                  <a:schemeClr val="tx1">
                    <a:lumMod val="65000"/>
                    <a:lumOff val="35000"/>
                  </a:schemeClr>
                </a:solidFill>
              </a:rPr>
              <a:t>行ずつ順番に処理する</a:t>
            </a:r>
            <a:endParaRPr lang="en-US" altLang="ja-JP" sz="3200" b="1">
              <a:solidFill>
                <a:schemeClr val="tx1">
                  <a:lumMod val="65000"/>
                  <a:lumOff val="35000"/>
                </a:schemeClr>
              </a:solidFill>
            </a:endParaRPr>
          </a:p>
          <a:p>
            <a:r>
              <a:rPr lang="ja-JP" altLang="en-US" sz="3200" b="1">
                <a:solidFill>
                  <a:schemeClr val="tx1">
                    <a:lumMod val="65000"/>
                    <a:lumOff val="35000"/>
                  </a:schemeClr>
                </a:solidFill>
              </a:rPr>
              <a:t>✅各行に同じアクションを実行する</a:t>
            </a:r>
            <a:endParaRPr lang="en-US" altLang="ja-JP" sz="3200" b="1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  <p:sp>
        <p:nvSpPr>
          <p:cNvPr id="28" name="テキスト ボックス 27">
            <a:extLst>
              <a:ext uri="{FF2B5EF4-FFF2-40B4-BE49-F238E27FC236}">
                <a16:creationId xmlns:a16="http://schemas.microsoft.com/office/drawing/2014/main" id="{17AB7BDF-6C4B-48DA-D2FD-8379B67CEE03}"/>
              </a:ext>
            </a:extLst>
          </p:cNvPr>
          <p:cNvSpPr txBox="1"/>
          <p:nvPr/>
        </p:nvSpPr>
        <p:spPr>
          <a:xfrm>
            <a:off x="333452" y="3294131"/>
            <a:ext cx="2591421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ja-JP" sz="3600" b="1">
                <a:solidFill>
                  <a:schemeClr val="bg1"/>
                </a:solidFill>
                <a:effectLst>
                  <a:glow rad="101600">
                    <a:srgbClr val="FF0000"/>
                  </a:glow>
                </a:effectLst>
              </a:rPr>
              <a:t>Before</a:t>
            </a:r>
          </a:p>
        </p:txBody>
      </p:sp>
      <p:sp>
        <p:nvSpPr>
          <p:cNvPr id="31" name="テキスト ボックス 30">
            <a:extLst>
              <a:ext uri="{FF2B5EF4-FFF2-40B4-BE49-F238E27FC236}">
                <a16:creationId xmlns:a16="http://schemas.microsoft.com/office/drawing/2014/main" id="{0271872D-0DB9-4546-4311-3AF67EE2875E}"/>
              </a:ext>
            </a:extLst>
          </p:cNvPr>
          <p:cNvSpPr txBox="1"/>
          <p:nvPr/>
        </p:nvSpPr>
        <p:spPr>
          <a:xfrm>
            <a:off x="6053467" y="3259372"/>
            <a:ext cx="2591421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ja-JP" sz="4800" b="1">
                <a:solidFill>
                  <a:schemeClr val="bg1"/>
                </a:solidFill>
                <a:effectLst>
                  <a:glow rad="127000">
                    <a:srgbClr val="0000CC"/>
                  </a:glow>
                </a:effectLst>
              </a:rPr>
              <a:t>after</a:t>
            </a:r>
          </a:p>
        </p:txBody>
      </p:sp>
      <p:sp>
        <p:nvSpPr>
          <p:cNvPr id="33" name="矢印: 右 32">
            <a:extLst>
              <a:ext uri="{FF2B5EF4-FFF2-40B4-BE49-F238E27FC236}">
                <a16:creationId xmlns:a16="http://schemas.microsoft.com/office/drawing/2014/main" id="{999B0518-EC1F-B62C-998C-43DCB4B0A48C}"/>
              </a:ext>
            </a:extLst>
          </p:cNvPr>
          <p:cNvSpPr/>
          <p:nvPr/>
        </p:nvSpPr>
        <p:spPr>
          <a:xfrm>
            <a:off x="5199755" y="3524094"/>
            <a:ext cx="706552" cy="353323"/>
          </a:xfrm>
          <a:prstGeom prst="rightArrow">
            <a:avLst/>
          </a:prstGeom>
          <a:solidFill>
            <a:srgbClr val="FFFF00"/>
          </a:solidFill>
          <a:ln w="47625">
            <a:solidFill>
              <a:schemeClr val="tx1">
                <a:lumMod val="65000"/>
                <a:lumOff val="35000"/>
              </a:schemeClr>
            </a:solidFill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34" name="テキスト ボックス 33">
            <a:extLst>
              <a:ext uri="{FF2B5EF4-FFF2-40B4-BE49-F238E27FC236}">
                <a16:creationId xmlns:a16="http://schemas.microsoft.com/office/drawing/2014/main" id="{0689D926-6876-CFDF-9280-0FEE84A4BFB3}"/>
              </a:ext>
            </a:extLst>
          </p:cNvPr>
          <p:cNvSpPr txBox="1"/>
          <p:nvPr/>
        </p:nvSpPr>
        <p:spPr>
          <a:xfrm>
            <a:off x="138909" y="3901347"/>
            <a:ext cx="6096000" cy="15696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TW" sz="2400" b="1">
                <a:solidFill>
                  <a:schemeClr val="tx1">
                    <a:lumMod val="65000"/>
                    <a:lumOff val="35000"/>
                  </a:schemeClr>
                </a:solidFill>
              </a:rPr>
              <a:t>[  </a:t>
            </a:r>
          </a:p>
          <a:p>
            <a:r>
              <a:rPr lang="ja-JP" altLang="en-US" sz="2400" b="1">
                <a:solidFill>
                  <a:schemeClr val="tx1">
                    <a:lumMod val="65000"/>
                    <a:lumOff val="35000"/>
                  </a:schemeClr>
                </a:solidFill>
              </a:rPr>
              <a:t>　</a:t>
            </a:r>
            <a:r>
              <a:rPr lang="en-US" altLang="zh-TW" sz="2400" b="1">
                <a:solidFill>
                  <a:schemeClr val="tx1">
                    <a:lumMod val="65000"/>
                    <a:lumOff val="35000"/>
                  </a:schemeClr>
                </a:solidFill>
              </a:rPr>
              <a:t>{ </a:t>
            </a:r>
            <a:r>
              <a:rPr lang="zh-TW" altLang="en-US" sz="2400" b="1">
                <a:solidFill>
                  <a:schemeClr val="tx1">
                    <a:lumMod val="65000"/>
                    <a:lumOff val="35000"/>
                  </a:schemeClr>
                </a:solidFill>
              </a:rPr>
              <a:t>名前</a:t>
            </a:r>
            <a:r>
              <a:rPr lang="en-US" altLang="zh-TW" sz="2400" b="1">
                <a:solidFill>
                  <a:schemeClr val="tx1">
                    <a:lumMod val="65000"/>
                    <a:lumOff val="35000"/>
                  </a:schemeClr>
                </a:solidFill>
              </a:rPr>
              <a:t>: "</a:t>
            </a:r>
            <a:r>
              <a:rPr lang="zh-TW" altLang="en-US" sz="2400" b="1">
                <a:solidFill>
                  <a:schemeClr val="tx1">
                    <a:lumMod val="65000"/>
                    <a:lumOff val="35000"/>
                  </a:schemeClr>
                </a:solidFill>
              </a:rPr>
              <a:t>太郎</a:t>
            </a:r>
            <a:r>
              <a:rPr lang="en-US" altLang="zh-TW" sz="2400" b="1">
                <a:solidFill>
                  <a:schemeClr val="tx1">
                    <a:lumMod val="65000"/>
                    <a:lumOff val="35000"/>
                  </a:schemeClr>
                </a:solidFill>
              </a:rPr>
              <a:t>", </a:t>
            </a:r>
            <a:r>
              <a:rPr lang="zh-TW" altLang="en-US" sz="2400" b="1">
                <a:solidFill>
                  <a:schemeClr val="tx1">
                    <a:lumMod val="65000"/>
                    <a:lumOff val="35000"/>
                  </a:schemeClr>
                </a:solidFill>
              </a:rPr>
              <a:t>年齢</a:t>
            </a:r>
            <a:r>
              <a:rPr lang="en-US" altLang="zh-TW" sz="2400" b="1">
                <a:solidFill>
                  <a:schemeClr val="tx1">
                    <a:lumMod val="65000"/>
                    <a:lumOff val="35000"/>
                  </a:schemeClr>
                </a:solidFill>
              </a:rPr>
              <a:t>: 25, </a:t>
            </a:r>
            <a:r>
              <a:rPr lang="zh-TW" altLang="en-US" sz="2400" b="1">
                <a:solidFill>
                  <a:schemeClr val="tx1">
                    <a:lumMod val="65000"/>
                    <a:lumOff val="35000"/>
                  </a:schemeClr>
                </a:solidFill>
              </a:rPr>
              <a:t>部署</a:t>
            </a:r>
            <a:r>
              <a:rPr lang="en-US" altLang="zh-TW" sz="2400" b="1">
                <a:solidFill>
                  <a:schemeClr val="tx1">
                    <a:lumMod val="65000"/>
                    <a:lumOff val="35000"/>
                  </a:schemeClr>
                </a:solidFill>
              </a:rPr>
              <a:t>: "</a:t>
            </a:r>
            <a:r>
              <a:rPr lang="zh-TW" altLang="en-US" sz="2400" b="1">
                <a:solidFill>
                  <a:schemeClr val="tx1">
                    <a:lumMod val="65000"/>
                    <a:lumOff val="35000"/>
                  </a:schemeClr>
                </a:solidFill>
                <a:highlight>
                  <a:srgbClr val="FFFF00"/>
                </a:highlight>
              </a:rPr>
              <a:t>営業</a:t>
            </a:r>
            <a:r>
              <a:rPr lang="en-US" altLang="zh-TW" sz="2400" b="1">
                <a:solidFill>
                  <a:schemeClr val="tx1">
                    <a:lumMod val="65000"/>
                    <a:lumOff val="35000"/>
                  </a:schemeClr>
                </a:solidFill>
              </a:rPr>
              <a:t>" },  </a:t>
            </a:r>
          </a:p>
          <a:p>
            <a:r>
              <a:rPr lang="ja-JP" altLang="en-US" sz="2400" b="1">
                <a:solidFill>
                  <a:schemeClr val="tx1">
                    <a:lumMod val="65000"/>
                    <a:lumOff val="35000"/>
                  </a:schemeClr>
                </a:solidFill>
              </a:rPr>
              <a:t>　</a:t>
            </a:r>
            <a:r>
              <a:rPr lang="en-US" altLang="zh-TW" sz="2400" b="1">
                <a:solidFill>
                  <a:schemeClr val="tx1">
                    <a:lumMod val="65000"/>
                    <a:lumOff val="35000"/>
                  </a:schemeClr>
                </a:solidFill>
              </a:rPr>
              <a:t>{ </a:t>
            </a:r>
            <a:r>
              <a:rPr lang="zh-TW" altLang="en-US" sz="2400" b="1">
                <a:solidFill>
                  <a:schemeClr val="tx1">
                    <a:lumMod val="65000"/>
                    <a:lumOff val="35000"/>
                  </a:schemeClr>
                </a:solidFill>
              </a:rPr>
              <a:t>名前</a:t>
            </a:r>
            <a:r>
              <a:rPr lang="en-US" altLang="zh-TW" sz="2400" b="1">
                <a:solidFill>
                  <a:schemeClr val="tx1">
                    <a:lumMod val="65000"/>
                    <a:lumOff val="35000"/>
                  </a:schemeClr>
                </a:solidFill>
              </a:rPr>
              <a:t>: "</a:t>
            </a:r>
            <a:r>
              <a:rPr lang="zh-TW" altLang="en-US" sz="2400" b="1">
                <a:solidFill>
                  <a:schemeClr val="tx1">
                    <a:lumMod val="65000"/>
                    <a:lumOff val="35000"/>
                  </a:schemeClr>
                </a:solidFill>
              </a:rPr>
              <a:t>花子</a:t>
            </a:r>
            <a:r>
              <a:rPr lang="en-US" altLang="zh-TW" sz="2400" b="1">
                <a:solidFill>
                  <a:schemeClr val="tx1">
                    <a:lumMod val="65000"/>
                    <a:lumOff val="35000"/>
                  </a:schemeClr>
                </a:solidFill>
              </a:rPr>
              <a:t>", </a:t>
            </a:r>
            <a:r>
              <a:rPr lang="zh-TW" altLang="en-US" sz="2400" b="1">
                <a:solidFill>
                  <a:schemeClr val="tx1">
                    <a:lumMod val="65000"/>
                    <a:lumOff val="35000"/>
                  </a:schemeClr>
                </a:solidFill>
              </a:rPr>
              <a:t>年齢</a:t>
            </a:r>
            <a:r>
              <a:rPr lang="en-US" altLang="zh-TW" sz="2400" b="1">
                <a:solidFill>
                  <a:schemeClr val="tx1">
                    <a:lumMod val="65000"/>
                    <a:lumOff val="35000"/>
                  </a:schemeClr>
                </a:solidFill>
              </a:rPr>
              <a:t>: 30, </a:t>
            </a:r>
            <a:r>
              <a:rPr lang="zh-TW" altLang="en-US" sz="2400" b="1">
                <a:solidFill>
                  <a:schemeClr val="tx1">
                    <a:lumMod val="65000"/>
                    <a:lumOff val="35000"/>
                  </a:schemeClr>
                </a:solidFill>
              </a:rPr>
              <a:t>部署</a:t>
            </a:r>
            <a:r>
              <a:rPr lang="en-US" altLang="zh-TW" sz="2400" b="1">
                <a:solidFill>
                  <a:schemeClr val="tx1">
                    <a:lumMod val="65000"/>
                    <a:lumOff val="35000"/>
                  </a:schemeClr>
                </a:solidFill>
              </a:rPr>
              <a:t>: "</a:t>
            </a:r>
            <a:r>
              <a:rPr lang="zh-TW" altLang="en-US" sz="2400" b="1">
                <a:solidFill>
                  <a:schemeClr val="tx1">
                    <a:lumMod val="65000"/>
                    <a:lumOff val="35000"/>
                  </a:schemeClr>
                </a:solidFill>
              </a:rPr>
              <a:t>総務</a:t>
            </a:r>
            <a:r>
              <a:rPr lang="en-US" altLang="zh-TW" sz="2400" b="1">
                <a:solidFill>
                  <a:schemeClr val="tx1">
                    <a:lumMod val="65000"/>
                    <a:lumOff val="35000"/>
                  </a:schemeClr>
                </a:solidFill>
              </a:rPr>
              <a:t>" }</a:t>
            </a:r>
          </a:p>
          <a:p>
            <a:r>
              <a:rPr lang="en-US" altLang="zh-TW" sz="2400" b="1">
                <a:solidFill>
                  <a:schemeClr val="tx1">
                    <a:lumMod val="65000"/>
                    <a:lumOff val="35000"/>
                  </a:schemeClr>
                </a:solidFill>
              </a:rPr>
              <a:t>]</a:t>
            </a:r>
            <a:endParaRPr lang="en-US" altLang="ja-JP" sz="2400" b="1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  <p:pic>
        <p:nvPicPr>
          <p:cNvPr id="35" name="図 34" descr="おもちゃ, 時計 が含まれている画像&#10;&#10;AI 生成コンテンツは誤りを含む可能性があります。">
            <a:extLst>
              <a:ext uri="{FF2B5EF4-FFF2-40B4-BE49-F238E27FC236}">
                <a16:creationId xmlns:a16="http://schemas.microsoft.com/office/drawing/2014/main" id="{923BAFB6-232F-28AC-2735-5D3C0AF634F1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7267" y="5346909"/>
            <a:ext cx="1361344" cy="1516818"/>
          </a:xfrm>
          <a:prstGeom prst="rect">
            <a:avLst/>
          </a:prstGeom>
          <a:effectLst>
            <a:glow rad="88900">
              <a:schemeClr val="bg1">
                <a:alpha val="91000"/>
              </a:schemeClr>
            </a:glow>
          </a:effectLst>
        </p:spPr>
      </p:pic>
      <p:sp>
        <p:nvSpPr>
          <p:cNvPr id="36" name="テキスト ボックス 35">
            <a:extLst>
              <a:ext uri="{FF2B5EF4-FFF2-40B4-BE49-F238E27FC236}">
                <a16:creationId xmlns:a16="http://schemas.microsoft.com/office/drawing/2014/main" id="{F0044C25-E5C6-43FD-3BD9-FF83EAAF714B}"/>
              </a:ext>
            </a:extLst>
          </p:cNvPr>
          <p:cNvSpPr txBox="1"/>
          <p:nvPr/>
        </p:nvSpPr>
        <p:spPr>
          <a:xfrm rot="186675">
            <a:off x="1383112" y="5576548"/>
            <a:ext cx="4193902" cy="10772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ja-JP" altLang="en-US" sz="3200" b="1">
                <a:solidFill>
                  <a:schemeClr val="bg1"/>
                </a:solidFill>
                <a:effectLst>
                  <a:glow rad="101600">
                    <a:srgbClr val="FF0000"/>
                  </a:glow>
                </a:effectLst>
              </a:rPr>
              <a:t>「“営業だけ”後続で</a:t>
            </a:r>
            <a:endParaRPr lang="en-US" altLang="ja-JP" sz="3200" b="1">
              <a:solidFill>
                <a:schemeClr val="bg1"/>
              </a:solidFill>
              <a:effectLst>
                <a:glow rad="101600">
                  <a:srgbClr val="FF0000"/>
                </a:glow>
              </a:effectLst>
            </a:endParaRPr>
          </a:p>
          <a:p>
            <a:r>
              <a:rPr lang="ja-JP" altLang="en-US" sz="3200" b="1">
                <a:solidFill>
                  <a:schemeClr val="bg1"/>
                </a:solidFill>
                <a:effectLst>
                  <a:glow rad="101600">
                    <a:srgbClr val="FF0000"/>
                  </a:glow>
                </a:effectLst>
              </a:rPr>
              <a:t>　　使いたい</a:t>
            </a:r>
            <a:r>
              <a:rPr lang="en-US" altLang="ja-JP" sz="3200" b="1">
                <a:solidFill>
                  <a:schemeClr val="bg1"/>
                </a:solidFill>
                <a:effectLst>
                  <a:glow rad="101600">
                    <a:srgbClr val="FF0000"/>
                  </a:glow>
                </a:effectLst>
              </a:rPr>
              <a:t>…</a:t>
            </a:r>
            <a:r>
              <a:rPr lang="ja-JP" altLang="en-US" sz="3200" b="1">
                <a:solidFill>
                  <a:schemeClr val="bg1"/>
                </a:solidFill>
                <a:effectLst>
                  <a:glow rad="101600">
                    <a:srgbClr val="FF0000"/>
                  </a:glow>
                </a:effectLst>
              </a:rPr>
              <a:t>」</a:t>
            </a:r>
            <a:endParaRPr lang="en-US" altLang="ja-JP" sz="3200" b="1">
              <a:solidFill>
                <a:schemeClr val="bg1"/>
              </a:solidFill>
              <a:effectLst>
                <a:glow rad="101600">
                  <a:srgbClr val="FF0000"/>
                </a:glow>
              </a:effectLst>
            </a:endParaRPr>
          </a:p>
        </p:txBody>
      </p:sp>
      <p:sp>
        <p:nvSpPr>
          <p:cNvPr id="39" name="テキスト ボックス 38">
            <a:extLst>
              <a:ext uri="{FF2B5EF4-FFF2-40B4-BE49-F238E27FC236}">
                <a16:creationId xmlns:a16="http://schemas.microsoft.com/office/drawing/2014/main" id="{C4551D78-6F4F-C77D-5F06-1BFC9922A6A5}"/>
              </a:ext>
            </a:extLst>
          </p:cNvPr>
          <p:cNvSpPr txBox="1"/>
          <p:nvPr/>
        </p:nvSpPr>
        <p:spPr>
          <a:xfrm rot="159197">
            <a:off x="7761603" y="3338527"/>
            <a:ext cx="4596484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ja-JP" sz="2400" b="1">
                <a:solidFill>
                  <a:schemeClr val="bg1"/>
                </a:solidFill>
                <a:effectLst>
                  <a:glow rad="101600">
                    <a:srgbClr val="0000CC"/>
                  </a:glow>
                </a:effectLst>
              </a:rPr>
              <a:t>Filter array</a:t>
            </a:r>
            <a:r>
              <a:rPr lang="ja-JP" altLang="en-US" sz="2400" b="1">
                <a:solidFill>
                  <a:schemeClr val="bg1"/>
                </a:solidFill>
                <a:effectLst>
                  <a:glow rad="101600">
                    <a:srgbClr val="0000CC"/>
                  </a:glow>
                </a:effectLst>
              </a:rPr>
              <a:t>（部署 </a:t>
            </a:r>
            <a:r>
              <a:rPr lang="en-US" altLang="ja-JP" sz="2400" b="1">
                <a:solidFill>
                  <a:schemeClr val="bg1"/>
                </a:solidFill>
                <a:effectLst>
                  <a:glow rad="101600">
                    <a:srgbClr val="0000CC"/>
                  </a:glow>
                </a:effectLst>
              </a:rPr>
              <a:t>= </a:t>
            </a:r>
            <a:r>
              <a:rPr lang="ja-JP" altLang="en-US" sz="2400" b="1">
                <a:solidFill>
                  <a:schemeClr val="bg1"/>
                </a:solidFill>
                <a:effectLst>
                  <a:glow rad="101600">
                    <a:srgbClr val="0000CC"/>
                  </a:glow>
                </a:effectLst>
              </a:rPr>
              <a:t>営業）で絞り込み！</a:t>
            </a:r>
            <a:endParaRPr lang="en-US" altLang="ja-JP" sz="2400" b="1">
              <a:solidFill>
                <a:schemeClr val="bg1"/>
              </a:solidFill>
              <a:effectLst>
                <a:glow rad="101600">
                  <a:srgbClr val="0000CC"/>
                </a:glow>
              </a:effectLst>
            </a:endParaRPr>
          </a:p>
        </p:txBody>
      </p:sp>
      <p:sp>
        <p:nvSpPr>
          <p:cNvPr id="41" name="テキスト ボックス 40">
            <a:extLst>
              <a:ext uri="{FF2B5EF4-FFF2-40B4-BE49-F238E27FC236}">
                <a16:creationId xmlns:a16="http://schemas.microsoft.com/office/drawing/2014/main" id="{E64E9FE8-F628-D4C5-FA4C-3BAA4ACA65F1}"/>
              </a:ext>
            </a:extLst>
          </p:cNvPr>
          <p:cNvSpPr txBox="1"/>
          <p:nvPr/>
        </p:nvSpPr>
        <p:spPr>
          <a:xfrm>
            <a:off x="6095999" y="4275469"/>
            <a:ext cx="609600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TW" sz="2400" b="1">
                <a:solidFill>
                  <a:schemeClr val="tx1">
                    <a:lumMod val="65000"/>
                    <a:lumOff val="35000"/>
                  </a:schemeClr>
                </a:solidFill>
              </a:rPr>
              <a:t>[  { </a:t>
            </a:r>
            <a:r>
              <a:rPr lang="zh-TW" altLang="en-US" sz="2400" b="1">
                <a:solidFill>
                  <a:schemeClr val="tx1">
                    <a:lumMod val="65000"/>
                    <a:lumOff val="35000"/>
                  </a:schemeClr>
                </a:solidFill>
              </a:rPr>
              <a:t>名前</a:t>
            </a:r>
            <a:r>
              <a:rPr lang="en-US" altLang="zh-TW" sz="2400" b="1">
                <a:solidFill>
                  <a:schemeClr val="tx1">
                    <a:lumMod val="65000"/>
                    <a:lumOff val="35000"/>
                  </a:schemeClr>
                </a:solidFill>
              </a:rPr>
              <a:t>: "</a:t>
            </a:r>
            <a:r>
              <a:rPr lang="zh-TW" altLang="en-US" sz="2400" b="1">
                <a:solidFill>
                  <a:schemeClr val="tx1">
                    <a:lumMod val="65000"/>
                    <a:lumOff val="35000"/>
                  </a:schemeClr>
                </a:solidFill>
              </a:rPr>
              <a:t>太郎</a:t>
            </a:r>
            <a:r>
              <a:rPr lang="en-US" altLang="zh-TW" sz="2400" b="1">
                <a:solidFill>
                  <a:schemeClr val="tx1">
                    <a:lumMod val="65000"/>
                    <a:lumOff val="35000"/>
                  </a:schemeClr>
                </a:solidFill>
              </a:rPr>
              <a:t>", </a:t>
            </a:r>
            <a:r>
              <a:rPr lang="zh-TW" altLang="en-US" sz="2400" b="1">
                <a:solidFill>
                  <a:schemeClr val="tx1">
                    <a:lumMod val="65000"/>
                    <a:lumOff val="35000"/>
                  </a:schemeClr>
                </a:solidFill>
              </a:rPr>
              <a:t>年齢</a:t>
            </a:r>
            <a:r>
              <a:rPr lang="en-US" altLang="zh-TW" sz="2400" b="1">
                <a:solidFill>
                  <a:schemeClr val="tx1">
                    <a:lumMod val="65000"/>
                    <a:lumOff val="35000"/>
                  </a:schemeClr>
                </a:solidFill>
              </a:rPr>
              <a:t>: 25, </a:t>
            </a:r>
            <a:r>
              <a:rPr lang="zh-TW" altLang="en-US" sz="2400" b="1">
                <a:solidFill>
                  <a:schemeClr val="tx1">
                    <a:lumMod val="65000"/>
                    <a:lumOff val="35000"/>
                  </a:schemeClr>
                </a:solidFill>
              </a:rPr>
              <a:t>部署</a:t>
            </a:r>
            <a:r>
              <a:rPr lang="en-US" altLang="zh-TW" sz="2400" b="1">
                <a:solidFill>
                  <a:schemeClr val="tx1">
                    <a:lumMod val="65000"/>
                    <a:lumOff val="35000"/>
                  </a:schemeClr>
                </a:solidFill>
              </a:rPr>
              <a:t>: "</a:t>
            </a:r>
            <a:r>
              <a:rPr lang="zh-TW" altLang="en-US" sz="2400" b="1">
                <a:solidFill>
                  <a:schemeClr val="tx1">
                    <a:lumMod val="65000"/>
                    <a:lumOff val="35000"/>
                  </a:schemeClr>
                </a:solidFill>
                <a:highlight>
                  <a:srgbClr val="FFFF00"/>
                </a:highlight>
              </a:rPr>
              <a:t>営業</a:t>
            </a:r>
            <a:r>
              <a:rPr lang="en-US" altLang="zh-TW" sz="2400" b="1">
                <a:solidFill>
                  <a:schemeClr val="tx1">
                    <a:lumMod val="65000"/>
                    <a:lumOff val="35000"/>
                  </a:schemeClr>
                </a:solidFill>
              </a:rPr>
              <a:t>" }]</a:t>
            </a:r>
            <a:endParaRPr lang="en-US" altLang="ja-JP" sz="2400" b="1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  <p:pic>
        <p:nvPicPr>
          <p:cNvPr id="61" name="図 60" descr="部屋, 時計 が含まれている画像&#10;&#10;AI 生成コンテンツは誤りを含む可能性があります。">
            <a:extLst>
              <a:ext uri="{FF2B5EF4-FFF2-40B4-BE49-F238E27FC236}">
                <a16:creationId xmlns:a16="http://schemas.microsoft.com/office/drawing/2014/main" id="{9AEEE8E3-DAE6-DD88-B503-183223E7F603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040654" y="5740077"/>
            <a:ext cx="889469" cy="1052626"/>
          </a:xfrm>
          <a:prstGeom prst="rect">
            <a:avLst/>
          </a:prstGeom>
          <a:effectLst>
            <a:glow rad="88900">
              <a:schemeClr val="bg1">
                <a:alpha val="83000"/>
              </a:schemeClr>
            </a:glow>
          </a:effectLst>
        </p:spPr>
      </p:pic>
      <p:sp>
        <p:nvSpPr>
          <p:cNvPr id="42" name="テキスト ボックス 41">
            <a:extLst>
              <a:ext uri="{FF2B5EF4-FFF2-40B4-BE49-F238E27FC236}">
                <a16:creationId xmlns:a16="http://schemas.microsoft.com/office/drawing/2014/main" id="{527349B8-6A8F-3318-610B-42A009B0B8A3}"/>
              </a:ext>
            </a:extLst>
          </p:cNvPr>
          <p:cNvSpPr txBox="1"/>
          <p:nvPr/>
        </p:nvSpPr>
        <p:spPr>
          <a:xfrm>
            <a:off x="5977355" y="5855309"/>
            <a:ext cx="6278859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ja-JP" altLang="en-US" sz="2400" b="1">
                <a:solidFill>
                  <a:schemeClr val="bg1"/>
                </a:solidFill>
                <a:effectLst>
                  <a:glow rad="101600">
                    <a:srgbClr val="0000CC"/>
                  </a:glow>
                </a:effectLst>
              </a:rPr>
              <a:t>「必要な行だけになって、</a:t>
            </a:r>
            <a:endParaRPr lang="en-US" altLang="ja-JP" sz="2400" b="1">
              <a:solidFill>
                <a:schemeClr val="bg1"/>
              </a:solidFill>
              <a:effectLst>
                <a:glow rad="101600">
                  <a:srgbClr val="0000CC"/>
                </a:glow>
              </a:effectLst>
            </a:endParaRPr>
          </a:p>
          <a:p>
            <a:r>
              <a:rPr lang="ja-JP" altLang="en-US" sz="2400" b="1">
                <a:solidFill>
                  <a:schemeClr val="bg1"/>
                </a:solidFill>
                <a:effectLst>
                  <a:glow rad="101600">
                    <a:srgbClr val="0000CC"/>
                  </a:glow>
                </a:effectLst>
              </a:rPr>
              <a:t>　後続フローがラクになった！」</a:t>
            </a:r>
            <a:endParaRPr lang="en-US" altLang="ja-JP" sz="2400" b="1">
              <a:solidFill>
                <a:schemeClr val="bg1"/>
              </a:solidFill>
              <a:effectLst>
                <a:glow rad="101600">
                  <a:srgbClr val="0000CC"/>
                </a:glow>
              </a:effectLst>
            </a:endParaRPr>
          </a:p>
        </p:txBody>
      </p:sp>
      <p:sp>
        <p:nvSpPr>
          <p:cNvPr id="44" name="四角形: 角を丸くする 43">
            <a:extLst>
              <a:ext uri="{FF2B5EF4-FFF2-40B4-BE49-F238E27FC236}">
                <a16:creationId xmlns:a16="http://schemas.microsoft.com/office/drawing/2014/main" id="{9CFCEA52-BBDD-ADB7-D110-1588ACB8A752}"/>
              </a:ext>
            </a:extLst>
          </p:cNvPr>
          <p:cNvSpPr/>
          <p:nvPr/>
        </p:nvSpPr>
        <p:spPr>
          <a:xfrm>
            <a:off x="11102997" y="5263467"/>
            <a:ext cx="950094" cy="516554"/>
          </a:xfrm>
          <a:prstGeom prst="roundRect">
            <a:avLst/>
          </a:prstGeom>
          <a:noFill/>
          <a:ln>
            <a:solidFill>
              <a:schemeClr val="bg1"/>
            </a:solidFill>
          </a:ln>
          <a:effectLst>
            <a:glow rad="50800">
              <a:srgbClr val="0000CC">
                <a:alpha val="91000"/>
              </a:srgbClr>
            </a:glo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pic>
        <p:nvPicPr>
          <p:cNvPr id="7" name="図 6" descr="座る, 写真, 探す, 衣類 が含まれている画像&#10;&#10;AI 生成コンテンツは誤りを含む可能性があります。">
            <a:extLst>
              <a:ext uri="{FF2B5EF4-FFF2-40B4-BE49-F238E27FC236}">
                <a16:creationId xmlns:a16="http://schemas.microsoft.com/office/drawing/2014/main" id="{56ECE4E6-5EDC-50D5-A935-CE40089D5EE4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4304" y="610995"/>
            <a:ext cx="1160476" cy="2763038"/>
          </a:xfrm>
          <a:prstGeom prst="rect">
            <a:avLst/>
          </a:prstGeom>
        </p:spPr>
      </p:pic>
      <p:pic>
        <p:nvPicPr>
          <p:cNvPr id="10" name="図 9">
            <a:extLst>
              <a:ext uri="{FF2B5EF4-FFF2-40B4-BE49-F238E27FC236}">
                <a16:creationId xmlns:a16="http://schemas.microsoft.com/office/drawing/2014/main" id="{65D3009C-4D2B-C79E-4F6D-691428635A0D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464780" y="1642727"/>
            <a:ext cx="3662465" cy="789945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