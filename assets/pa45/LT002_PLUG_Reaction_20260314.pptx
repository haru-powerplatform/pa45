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71" r:id="rId3"/>
    <p:sldId id="274" r:id="rId4"/>
    <p:sldId id="263" r:id="rId5"/>
    <p:sldId id="257" r:id="rId6"/>
    <p:sldId id="259" r:id="rId7"/>
    <p:sldId id="261" r:id="rId8"/>
    <p:sldId id="273" r:id="rId9"/>
    <p:sldId id="262" r:id="rId10"/>
    <p:sldId id="27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78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064126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20:20</a:t>
            </a:r>
          </a:p>
          <a:p>
            <a:pPr fontAlgn="t"/>
            <a:endParaRPr kumimoji="1" lang="en-US" altLang="ja-JP" sz="1200" b="0" i="0" kern="1200">
              <a:solidFill>
                <a:schemeClr val="tx1"/>
              </a:solidFill>
              <a:effectLst/>
              <a:latin typeface="+mn-lt"/>
              <a:ea typeface="+mn-ea"/>
              <a:cs typeface="+mn-cs"/>
            </a:endParaRPr>
          </a:p>
          <a:p>
            <a:pPr fontAlgn="t"/>
            <a:endParaRPr kumimoji="1" lang="en-US" altLang="ja-JP"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改めまして、本日の講師を務めます </a:t>
            </a:r>
            <a:r>
              <a:rPr kumimoji="1" lang="en-US" altLang="ja-JP" sz="1200" b="1" i="0" kern="1200">
                <a:solidFill>
                  <a:schemeClr val="tx1"/>
                </a:solidFill>
                <a:effectLst/>
                <a:latin typeface="+mn-lt"/>
                <a:ea typeface="+mn-ea"/>
                <a:cs typeface="+mn-cs"/>
              </a:rPr>
              <a:t>Haru</a:t>
            </a:r>
            <a:r>
              <a:rPr kumimoji="1" lang="ja-JP" altLang="en-US" sz="1200" b="0" i="0" kern="1200">
                <a:solidFill>
                  <a:schemeClr val="tx1"/>
                </a:solidFill>
                <a:effectLst/>
                <a:latin typeface="+mn-lt"/>
                <a:ea typeface="+mn-ea"/>
                <a:cs typeface="+mn-cs"/>
              </a:rPr>
              <a:t> と申します。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今日は皆さんの </a:t>
            </a:r>
            <a:r>
              <a:rPr kumimoji="1" lang="en-US" altLang="ja-JP" sz="1200" b="1" i="0" kern="1200">
                <a:solidFill>
                  <a:schemeClr val="tx1"/>
                </a:solidFill>
                <a:effectLst/>
                <a:latin typeface="+mn-lt"/>
                <a:ea typeface="+mn-ea"/>
                <a:cs typeface="+mn-cs"/>
              </a:rPr>
              <a:t>Power Automate </a:t>
            </a:r>
            <a:r>
              <a:rPr kumimoji="1" lang="ja-JP" altLang="en-US" sz="1200" b="1" i="0" kern="1200">
                <a:solidFill>
                  <a:schemeClr val="tx1"/>
                </a:solidFill>
                <a:effectLst/>
                <a:latin typeface="+mn-lt"/>
                <a:ea typeface="+mn-ea"/>
                <a:cs typeface="+mn-cs"/>
              </a:rPr>
              <a:t>の “最初の一歩” を確実に前に進めるサポート役</a:t>
            </a:r>
            <a:r>
              <a:rPr kumimoji="1" lang="ja-JP" altLang="en-US" sz="1200" b="0" i="0" kern="1200">
                <a:solidFill>
                  <a:schemeClr val="tx1"/>
                </a:solidFill>
                <a:effectLst/>
                <a:latin typeface="+mn-lt"/>
                <a:ea typeface="+mn-ea"/>
                <a:cs typeface="+mn-cs"/>
              </a:rPr>
              <a:t> としてご一緒させていただきます。</a:t>
            </a:r>
          </a:p>
          <a:p>
            <a:pPr fontAlgn="t"/>
            <a:r>
              <a:rPr kumimoji="1" lang="ja-JP" altLang="en-US" sz="1200" b="0" i="0" kern="1200">
                <a:solidFill>
                  <a:schemeClr val="tx1"/>
                </a:solidFill>
                <a:effectLst/>
                <a:latin typeface="+mn-lt"/>
                <a:ea typeface="+mn-ea"/>
                <a:cs typeface="+mn-cs"/>
              </a:rPr>
              <a:t>私は普段、</a:t>
            </a:r>
            <a:r>
              <a:rPr kumimoji="1" lang="en-US" altLang="ja-JP" sz="1200" b="0" i="0" kern="1200">
                <a:solidFill>
                  <a:schemeClr val="tx1"/>
                </a:solidFill>
                <a:effectLst/>
                <a:latin typeface="+mn-lt"/>
                <a:ea typeface="+mn-ea"/>
                <a:cs typeface="+mn-cs"/>
              </a:rPr>
              <a:t>Power Platform </a:t>
            </a:r>
            <a:r>
              <a:rPr kumimoji="1" lang="ja-JP" altLang="en-US" sz="1200" b="0" i="0" kern="1200">
                <a:solidFill>
                  <a:schemeClr val="tx1"/>
                </a:solidFill>
                <a:effectLst/>
                <a:latin typeface="+mn-lt"/>
                <a:ea typeface="+mn-ea"/>
                <a:cs typeface="+mn-cs"/>
              </a:rPr>
              <a:t>を活用した </a:t>
            </a:r>
            <a:r>
              <a:rPr kumimoji="1" lang="ja-JP" altLang="en-US" sz="1200" b="1" i="0" kern="1200">
                <a:solidFill>
                  <a:schemeClr val="tx1"/>
                </a:solidFill>
                <a:effectLst/>
                <a:latin typeface="+mn-lt"/>
                <a:ea typeface="+mn-ea"/>
                <a:cs typeface="+mn-cs"/>
              </a:rPr>
              <a:t>業務改善・</a:t>
            </a:r>
            <a:r>
              <a:rPr kumimoji="1" lang="en-US" altLang="ja-JP" sz="1200" b="1" i="0" kern="1200">
                <a:solidFill>
                  <a:schemeClr val="tx1"/>
                </a:solidFill>
                <a:effectLst/>
                <a:latin typeface="+mn-lt"/>
                <a:ea typeface="+mn-ea"/>
                <a:cs typeface="+mn-cs"/>
              </a:rPr>
              <a:t>DX</a:t>
            </a:r>
            <a:r>
              <a:rPr kumimoji="1" lang="ja-JP" altLang="en-US" sz="1200" b="1" i="0" kern="1200">
                <a:solidFill>
                  <a:schemeClr val="tx1"/>
                </a:solidFill>
                <a:effectLst/>
                <a:latin typeface="+mn-lt"/>
                <a:ea typeface="+mn-ea"/>
                <a:cs typeface="+mn-cs"/>
              </a:rPr>
              <a:t>推進</a:t>
            </a:r>
            <a:r>
              <a:rPr kumimoji="1" lang="ja-JP" altLang="en-US" sz="1200" b="0" i="0" kern="1200">
                <a:solidFill>
                  <a:schemeClr val="tx1"/>
                </a:solidFill>
                <a:effectLst/>
                <a:latin typeface="+mn-lt"/>
                <a:ea typeface="+mn-ea"/>
                <a:cs typeface="+mn-cs"/>
              </a:rPr>
              <a:t> を社内外で担当しています。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特に </a:t>
            </a:r>
            <a:r>
              <a:rPr kumimoji="1" lang="ja-JP" altLang="en-US" sz="1200" b="1" i="0" kern="1200">
                <a:solidFill>
                  <a:schemeClr val="tx1"/>
                </a:solidFill>
                <a:effectLst/>
                <a:latin typeface="+mn-lt"/>
                <a:ea typeface="+mn-ea"/>
                <a:cs typeface="+mn-cs"/>
              </a:rPr>
              <a:t>初心者の方がつまずきやすいポイントをどう分かりやすく伝えるか？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という部分にこだわって講座をつくっています。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これまでの活動について</a:t>
            </a:r>
          </a:p>
          <a:p>
            <a:pPr fontAlgn="t"/>
            <a:r>
              <a:rPr kumimoji="1" lang="ja-JP" altLang="en-US" sz="1200" b="0" i="0" kern="1200">
                <a:solidFill>
                  <a:schemeClr val="tx1"/>
                </a:solidFill>
                <a:effectLst/>
                <a:latin typeface="+mn-lt"/>
                <a:ea typeface="+mn-ea"/>
                <a:cs typeface="+mn-cs"/>
              </a:rPr>
              <a:t>私はこれまでに、社内外あわせて </a:t>
            </a:r>
            <a:r>
              <a:rPr kumimoji="1" lang="ja-JP" altLang="en-US" sz="1200" b="1" i="0" kern="1200">
                <a:solidFill>
                  <a:schemeClr val="tx1"/>
                </a:solidFill>
                <a:effectLst/>
                <a:latin typeface="+mn-lt"/>
                <a:ea typeface="+mn-ea"/>
                <a:cs typeface="+mn-cs"/>
              </a:rPr>
              <a:t>数百名規模の</a:t>
            </a:r>
            <a:r>
              <a:rPr kumimoji="1" lang="en-US" altLang="ja-JP" sz="1200" b="1" i="0" kern="1200">
                <a:solidFill>
                  <a:schemeClr val="tx1"/>
                </a:solidFill>
                <a:effectLst/>
                <a:latin typeface="+mn-lt"/>
                <a:ea typeface="+mn-ea"/>
                <a:cs typeface="+mn-cs"/>
              </a:rPr>
              <a:t>Power Automate</a:t>
            </a:r>
            <a:r>
              <a:rPr kumimoji="1" lang="ja-JP" altLang="en-US" sz="1200" b="1" i="0" kern="1200">
                <a:solidFill>
                  <a:schemeClr val="tx1"/>
                </a:solidFill>
                <a:effectLst/>
                <a:latin typeface="+mn-lt"/>
                <a:ea typeface="+mn-ea"/>
                <a:cs typeface="+mn-cs"/>
              </a:rPr>
              <a:t>講座</a:t>
            </a:r>
            <a:r>
              <a:rPr kumimoji="1" lang="ja-JP" altLang="en-US" sz="1200" b="0" i="0" kern="1200">
                <a:solidFill>
                  <a:schemeClr val="tx1"/>
                </a:solidFill>
                <a:effectLst/>
                <a:latin typeface="+mn-lt"/>
                <a:ea typeface="+mn-ea"/>
                <a:cs typeface="+mn-cs"/>
              </a:rPr>
              <a:t>を担当してきました。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中には、</a:t>
            </a:r>
          </a:p>
          <a:p>
            <a:pPr fontAlgn="t"/>
            <a:r>
              <a:rPr kumimoji="1" lang="ja-JP" altLang="en-US" sz="1200" b="0" i="0" kern="1200">
                <a:solidFill>
                  <a:schemeClr val="tx1"/>
                </a:solidFill>
                <a:effectLst/>
                <a:latin typeface="+mn-lt"/>
                <a:ea typeface="+mn-ea"/>
                <a:cs typeface="+mn-cs"/>
              </a:rPr>
              <a:t>「今日の講座が</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初めてです」という方</a:t>
            </a:r>
          </a:p>
          <a:p>
            <a:pPr fontAlgn="t"/>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しか触ったことがない」という方</a:t>
            </a:r>
          </a:p>
          <a:p>
            <a:pPr fontAlgn="t"/>
            <a:r>
              <a:rPr kumimoji="1" lang="ja-JP" altLang="en-US" sz="1200" b="0" i="0" kern="1200">
                <a:solidFill>
                  <a:schemeClr val="tx1"/>
                </a:solidFill>
                <a:effectLst/>
                <a:latin typeface="+mn-lt"/>
                <a:ea typeface="+mn-ea"/>
                <a:cs typeface="+mn-cs"/>
              </a:rPr>
              <a:t>「自動化って難しそう</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」と思っていた方</a:t>
            </a:r>
          </a:p>
          <a:p>
            <a:pPr fontAlgn="t"/>
            <a:r>
              <a:rPr kumimoji="1" lang="ja-JP" altLang="en-US" sz="1200" b="0" i="0" kern="1200">
                <a:solidFill>
                  <a:schemeClr val="tx1"/>
                </a:solidFill>
                <a:effectLst/>
                <a:latin typeface="+mn-lt"/>
                <a:ea typeface="+mn-ea"/>
                <a:cs typeface="+mn-cs"/>
              </a:rPr>
              <a:t>も多くいらっしゃいましたが、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そういった方でも </a:t>
            </a:r>
            <a:r>
              <a:rPr kumimoji="1" lang="ja-JP" altLang="en-US" sz="1200" b="1" i="0" kern="1200">
                <a:solidFill>
                  <a:schemeClr val="tx1"/>
                </a:solidFill>
                <a:effectLst/>
                <a:latin typeface="+mn-lt"/>
                <a:ea typeface="+mn-ea"/>
                <a:cs typeface="+mn-cs"/>
              </a:rPr>
              <a:t>“つまずかずに完成までたどり着ける講座”</a:t>
            </a:r>
            <a:r>
              <a:rPr kumimoji="1" lang="ja-JP" altLang="en-US" sz="1200" b="0" i="0" kern="1200">
                <a:solidFill>
                  <a:schemeClr val="tx1"/>
                </a:solidFill>
                <a:effectLst/>
                <a:latin typeface="+mn-lt"/>
                <a:ea typeface="+mn-ea"/>
                <a:cs typeface="+mn-cs"/>
              </a:rPr>
              <a:t> を目指して運営しています。</a:t>
            </a:r>
          </a:p>
          <a:p>
            <a:pPr fontAlgn="t"/>
            <a:r>
              <a:rPr kumimoji="1" lang="ja-JP" altLang="en-US" sz="1200" b="0" i="0" kern="1200">
                <a:solidFill>
                  <a:schemeClr val="tx1"/>
                </a:solidFill>
                <a:effectLst/>
                <a:latin typeface="+mn-lt"/>
                <a:ea typeface="+mn-ea"/>
                <a:cs typeface="+mn-cs"/>
              </a:rPr>
              <a:t>また、広島を中心とした地域コミュニティ運営（</a:t>
            </a:r>
            <a:r>
              <a:rPr kumimoji="1" lang="en-US" altLang="ja-JP" sz="1200" b="0" i="0" kern="1200">
                <a:solidFill>
                  <a:schemeClr val="tx1"/>
                </a:solidFill>
                <a:effectLst/>
                <a:latin typeface="+mn-lt"/>
                <a:ea typeface="+mn-ea"/>
                <a:cs typeface="+mn-cs"/>
              </a:rPr>
              <a:t>PLUG</a:t>
            </a:r>
            <a:r>
              <a:rPr kumimoji="1" lang="ja-JP" altLang="en-US" sz="1200" b="0" i="0" kern="1200">
                <a:solidFill>
                  <a:schemeClr val="tx1"/>
                </a:solidFill>
                <a:effectLst/>
                <a:latin typeface="+mn-lt"/>
                <a:ea typeface="+mn-ea"/>
                <a:cs typeface="+mn-cs"/>
              </a:rPr>
              <a:t>）にも携わり、</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Power Platform </a:t>
            </a:r>
            <a:r>
              <a:rPr kumimoji="1" lang="ja-JP" altLang="en-US" sz="1200" b="0" i="0" kern="1200">
                <a:solidFill>
                  <a:schemeClr val="tx1"/>
                </a:solidFill>
                <a:effectLst/>
                <a:latin typeface="+mn-lt"/>
                <a:ea typeface="+mn-ea"/>
                <a:cs typeface="+mn-cs"/>
              </a:rPr>
              <a:t>の魅力を広める活動も行っています。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どんなスタンスで講座をやっているか</a:t>
            </a:r>
          </a:p>
          <a:p>
            <a:pPr fontAlgn="t"/>
            <a:r>
              <a:rPr kumimoji="1" lang="ja-JP" altLang="en-US" sz="1200" b="0" i="0" kern="1200">
                <a:solidFill>
                  <a:schemeClr val="tx1"/>
                </a:solidFill>
                <a:effectLst/>
                <a:latin typeface="+mn-lt"/>
                <a:ea typeface="+mn-ea"/>
                <a:cs typeface="+mn-cs"/>
              </a:rPr>
              <a:t>私は講座の時、特に次の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つを大事にしています。</a:t>
            </a:r>
          </a:p>
          <a:p>
            <a:pPr fontAlgn="t"/>
            <a:r>
              <a:rPr kumimoji="1" lang="ja-JP" altLang="en-US" sz="1200" b="1" i="0" kern="1200">
                <a:solidFill>
                  <a:schemeClr val="tx1"/>
                </a:solidFill>
                <a:effectLst/>
                <a:latin typeface="+mn-lt"/>
                <a:ea typeface="+mn-ea"/>
                <a:cs typeface="+mn-cs"/>
              </a:rPr>
              <a:t>① とにかく初心者に優しく</a:t>
            </a:r>
          </a:p>
          <a:p>
            <a:pPr fontAlgn="t"/>
            <a:r>
              <a:rPr kumimoji="1" lang="ja-JP" altLang="en-US" sz="1200" b="0" i="0" kern="1200">
                <a:solidFill>
                  <a:schemeClr val="tx1"/>
                </a:solidFill>
                <a:effectLst/>
                <a:latin typeface="+mn-lt"/>
                <a:ea typeface="+mn-ea"/>
                <a:cs typeface="+mn-cs"/>
              </a:rPr>
              <a:t>「専門用語を使わない」「例え話でイメージを掴む」ことを意識しています。</a:t>
            </a:r>
          </a:p>
          <a:p>
            <a:pPr fontAlgn="t"/>
            <a:r>
              <a:rPr kumimoji="1" lang="ja-JP" altLang="en-US" sz="1200" b="1" i="0" kern="1200">
                <a:solidFill>
                  <a:schemeClr val="tx1"/>
                </a:solidFill>
                <a:effectLst/>
                <a:latin typeface="+mn-lt"/>
                <a:ea typeface="+mn-ea"/>
                <a:cs typeface="+mn-cs"/>
              </a:rPr>
              <a:t>② “できた！”を一緒に体験する</a:t>
            </a:r>
          </a:p>
          <a:p>
            <a:pPr fontAlgn="t"/>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「あ、動いた！」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という成功体験が一番の学びになると考えています。</a:t>
            </a:r>
          </a:p>
          <a:p>
            <a:pPr fontAlgn="t"/>
            <a:r>
              <a:rPr kumimoji="1" lang="ja-JP" altLang="en-US" sz="1200" b="1" i="0" kern="1200">
                <a:solidFill>
                  <a:schemeClr val="tx1"/>
                </a:solidFill>
                <a:effectLst/>
                <a:latin typeface="+mn-lt"/>
                <a:ea typeface="+mn-ea"/>
                <a:cs typeface="+mn-cs"/>
              </a:rPr>
              <a:t>③ 質問しやすい空気づくり</a:t>
            </a:r>
          </a:p>
          <a:p>
            <a:pPr fontAlgn="t"/>
            <a:r>
              <a:rPr kumimoji="1" lang="ja-JP" altLang="en-US" sz="1200" b="0" i="0" kern="1200">
                <a:solidFill>
                  <a:schemeClr val="tx1"/>
                </a:solidFill>
                <a:effectLst/>
                <a:latin typeface="+mn-lt"/>
                <a:ea typeface="+mn-ea"/>
                <a:cs typeface="+mn-cs"/>
              </a:rPr>
              <a:t>「こんなこと聞いても大丈夫かな</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そんな心配は不要です。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むしろ、初心者ほど “良い質問” をしてくれます。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情報発信も行っています</a:t>
            </a:r>
          </a:p>
          <a:p>
            <a:pPr fontAlgn="t"/>
            <a:r>
              <a:rPr kumimoji="1" lang="en-US" altLang="ja-JP" sz="1200" b="0" i="0" kern="1200">
                <a:solidFill>
                  <a:schemeClr val="tx1"/>
                </a:solidFill>
                <a:effectLst/>
                <a:latin typeface="+mn-lt"/>
                <a:ea typeface="+mn-ea"/>
                <a:cs typeface="+mn-cs"/>
              </a:rPr>
              <a:t>X</a:t>
            </a:r>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Twitter</a:t>
            </a:r>
            <a:r>
              <a:rPr kumimoji="1" lang="ja-JP" altLang="en-US" sz="1200" b="0" i="0" kern="1200">
                <a:solidFill>
                  <a:schemeClr val="tx1"/>
                </a:solidFill>
                <a:effectLst/>
                <a:latin typeface="+mn-lt"/>
                <a:ea typeface="+mn-ea"/>
                <a:cs typeface="+mn-cs"/>
              </a:rPr>
              <a:t>）では、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初心者向けの </a:t>
            </a:r>
            <a:r>
              <a:rPr kumimoji="1" lang="en-US" altLang="ja-JP" sz="1200" b="1" i="0" kern="1200">
                <a:solidFill>
                  <a:schemeClr val="tx1"/>
                </a:solidFill>
                <a:effectLst/>
                <a:latin typeface="+mn-lt"/>
                <a:ea typeface="+mn-ea"/>
                <a:cs typeface="+mn-cs"/>
              </a:rPr>
              <a:t>Power Automate Tips</a:t>
            </a:r>
            <a:r>
              <a:rPr kumimoji="1" lang="ja-JP" altLang="en-US" sz="1200" b="0" i="0" kern="1200">
                <a:solidFill>
                  <a:schemeClr val="tx1"/>
                </a:solidFill>
                <a:effectLst/>
                <a:latin typeface="+mn-lt"/>
                <a:ea typeface="+mn-ea"/>
                <a:cs typeface="+mn-cs"/>
              </a:rPr>
              <a:t> を定期的に投稿しています。</a:t>
            </a:r>
          </a:p>
          <a:p>
            <a:pPr fontAlgn="t"/>
            <a:r>
              <a:rPr kumimoji="1" lang="ja-JP" altLang="en-US" sz="1200" b="0" i="0" kern="1200">
                <a:solidFill>
                  <a:schemeClr val="tx1"/>
                </a:solidFill>
                <a:effectLst/>
                <a:latin typeface="+mn-lt"/>
                <a:ea typeface="+mn-ea"/>
                <a:cs typeface="+mn-cs"/>
              </a:rPr>
              <a:t>つまずきやすい箇所</a:t>
            </a:r>
          </a:p>
          <a:p>
            <a:pPr fontAlgn="t"/>
            <a:r>
              <a:rPr kumimoji="1" lang="ja-JP" altLang="en-US" sz="1200" b="0" i="0" kern="1200">
                <a:solidFill>
                  <a:schemeClr val="tx1"/>
                </a:solidFill>
                <a:effectLst/>
                <a:latin typeface="+mn-lt"/>
                <a:ea typeface="+mn-ea"/>
                <a:cs typeface="+mn-cs"/>
              </a:rPr>
              <a:t>小さな改善のコツ</a:t>
            </a:r>
          </a:p>
          <a:p>
            <a:pPr fontAlgn="t"/>
            <a:r>
              <a:rPr kumimoji="1" lang="ja-JP" altLang="en-US" sz="1200" b="0" i="0" kern="1200">
                <a:solidFill>
                  <a:schemeClr val="tx1"/>
                </a:solidFill>
                <a:effectLst/>
                <a:latin typeface="+mn-lt"/>
                <a:ea typeface="+mn-ea"/>
                <a:cs typeface="+mn-cs"/>
              </a:rPr>
              <a:t>初心者でもできるフローサンプル</a:t>
            </a:r>
          </a:p>
          <a:p>
            <a:pPr fontAlgn="t"/>
            <a:r>
              <a:rPr kumimoji="1" lang="ja-JP" altLang="en-US" sz="1200" b="0" i="0" kern="1200">
                <a:solidFill>
                  <a:schemeClr val="tx1"/>
                </a:solidFill>
                <a:effectLst/>
                <a:latin typeface="+mn-lt"/>
                <a:ea typeface="+mn-ea"/>
                <a:cs typeface="+mn-cs"/>
              </a:rPr>
              <a:t>など、今日の講座と同じように、</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「わかりやすさ」</a:t>
            </a:r>
            <a:r>
              <a:rPr kumimoji="1" lang="ja-JP" altLang="en-US" sz="1200" b="0" i="0" kern="1200">
                <a:solidFill>
                  <a:schemeClr val="tx1"/>
                </a:solidFill>
                <a:effectLst/>
                <a:latin typeface="+mn-lt"/>
                <a:ea typeface="+mn-ea"/>
                <a:cs typeface="+mn-cs"/>
              </a:rPr>
              <a:t> を軸に発信しています。</a:t>
            </a:r>
          </a:p>
          <a:p>
            <a:pPr fontAlgn="t"/>
            <a:r>
              <a:rPr kumimoji="1" lang="ja-JP" altLang="en-US" sz="1200" b="0" i="0" kern="1200">
                <a:solidFill>
                  <a:schemeClr val="tx1"/>
                </a:solidFill>
                <a:effectLst/>
                <a:latin typeface="+mn-lt"/>
                <a:ea typeface="+mn-ea"/>
                <a:cs typeface="+mn-cs"/>
              </a:rPr>
              <a:t>もしよければ、学習のヒントとしてフォローしていただけると嬉しいです。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最後にひと言</a:t>
            </a:r>
          </a:p>
          <a:p>
            <a:pPr fontAlgn="t"/>
            <a:r>
              <a:rPr kumimoji="1" lang="ja-JP" altLang="en-US" sz="1200" b="0" i="0" kern="1200">
                <a:solidFill>
                  <a:schemeClr val="tx1"/>
                </a:solidFill>
                <a:effectLst/>
                <a:latin typeface="+mn-lt"/>
                <a:ea typeface="+mn-ea"/>
                <a:cs typeface="+mn-cs"/>
              </a:rPr>
              <a:t>今日の</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分は </a:t>
            </a:r>
            <a:r>
              <a:rPr kumimoji="1" lang="ja-JP" altLang="en-US" sz="1200" b="1" i="0" kern="1200">
                <a:solidFill>
                  <a:schemeClr val="tx1"/>
                </a:solidFill>
                <a:effectLst/>
                <a:latin typeface="+mn-lt"/>
                <a:ea typeface="+mn-ea"/>
                <a:cs typeface="+mn-cs"/>
              </a:rPr>
              <a:t>“変数を理解する” という小さな一歩</a:t>
            </a:r>
            <a:r>
              <a:rPr kumimoji="1" lang="ja-JP" altLang="en-US" sz="1200" b="0" i="0" kern="1200">
                <a:solidFill>
                  <a:schemeClr val="tx1"/>
                </a:solidFill>
                <a:effectLst/>
                <a:latin typeface="+mn-lt"/>
                <a:ea typeface="+mn-ea"/>
                <a:cs typeface="+mn-cs"/>
              </a:rPr>
              <a:t> ですが、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ここが分かると</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の見え方がガラッと変わります。</a:t>
            </a:r>
          </a:p>
          <a:p>
            <a:pPr fontAlgn="t"/>
            <a:r>
              <a:rPr kumimoji="1" lang="ja-JP" altLang="en-US" sz="1200" b="0" i="0" kern="1200">
                <a:solidFill>
                  <a:schemeClr val="tx1"/>
                </a:solidFill>
                <a:effectLst/>
                <a:latin typeface="+mn-lt"/>
                <a:ea typeface="+mn-ea"/>
                <a:cs typeface="+mn-cs"/>
              </a:rPr>
              <a:t>一緒に楽しく進めながら、</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「できた！」を確実に積み重ねていきましょう。</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36162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3110A-1912-C293-8E66-8C02A501C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81419-E0F1-9671-F8A2-8EB5B3D6CD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699A08-102F-5F68-CA4D-7758436AAD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54800E-5613-309D-7927-F4EF3F6A3BD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707460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microsoft.com/office/2007/relationships/hdphoto" Target="../media/hdphoto1.wdp"/><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2.xml"/><Relationship Id="rId16"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2.jp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5.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6.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2.jpg"/><Relationship Id="rId5" Type="http://schemas.openxmlformats.org/officeDocument/2006/relationships/image" Target="../media/image54.png"/><Relationship Id="rId4" Type="http://schemas.openxmlformats.org/officeDocument/2006/relationships/image" Target="../media/image53.png"/></Relationships>
</file>

<file path=ppt/slides/_rels/slide8.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1.pn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2.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8382305" y="-1904695"/>
            <a:ext cx="5715000" cy="5715000"/>
          </a:xfrm>
          <a:prstGeom prst="ellipse">
            <a:avLst/>
          </a:prstGeom>
          <a:solidFill>
            <a:srgbClr val="FFF3EB"/>
          </a:solidFill>
          <a:ln w="12700">
            <a:solidFill>
              <a:srgbClr val="FFFFFF">
                <a:alpha val="0"/>
              </a:srgbClr>
            </a:solidFill>
            <a:prstDash val="solid"/>
          </a:ln>
        </p:spPr>
        <p:txBody>
          <a:bodyPr/>
          <a:lstStyle/>
          <a:p>
            <a:endParaRPr lang="ja-JP" altLang="en-US"/>
          </a:p>
        </p:txBody>
      </p:sp>
      <p:sp>
        <p:nvSpPr>
          <p:cNvPr id="5" name="Shape 3"/>
          <p:cNvSpPr/>
          <p:nvPr/>
        </p:nvSpPr>
        <p:spPr>
          <a:xfrm>
            <a:off x="-952805" y="5905195"/>
            <a:ext cx="3810305" cy="3810305"/>
          </a:xfrm>
          <a:prstGeom prst="ellipse">
            <a:avLst/>
          </a:prstGeom>
          <a:solidFill>
            <a:srgbClr val="FFF3EB"/>
          </a:solidFill>
          <a:ln w="12700">
            <a:solidFill>
              <a:srgbClr val="FFFFFF">
                <a:alpha val="0"/>
              </a:srgbClr>
            </a:solidFill>
            <a:prstDash val="solid"/>
          </a:ln>
        </p:spPr>
        <p:txBody>
          <a:bodyPr/>
          <a:lstStyle/>
          <a:p>
            <a:endParaRPr lang="ja-JP" altLang="en-US"/>
          </a:p>
        </p:txBody>
      </p:sp>
      <p:sp>
        <p:nvSpPr>
          <p:cNvPr id="6" name="Text 4"/>
          <p:cNvSpPr txBox="1"/>
          <p:nvPr/>
        </p:nvSpPr>
        <p:spPr>
          <a:xfrm>
            <a:off x="9309100" y="457200"/>
            <a:ext cx="2466544" cy="506578"/>
          </a:xfrm>
          <a:prstGeom prst="rect">
            <a:avLst/>
          </a:prstGeom>
          <a:noFill/>
          <a:ln/>
        </p:spPr>
        <p:txBody>
          <a:bodyPr wrap="square" lIns="0" tIns="0" rIns="0" bIns="0" rtlCol="0" anchor="ctr"/>
          <a:lstStyle/>
          <a:p>
            <a:pPr marL="0" indent="0" algn="l">
              <a:buNone/>
            </a:pPr>
            <a:r>
              <a:rPr lang="en-US" sz="3600" b="1">
                <a:solidFill>
                  <a:srgbClr val="FF6908"/>
                </a:solidFill>
                <a:latin typeface="Manrope" pitchFamily="34" charset="0"/>
                <a:ea typeface="Manrope" pitchFamily="34" charset="-122"/>
                <a:cs typeface="Manrope" pitchFamily="34" charset="-120"/>
              </a:rPr>
              <a:t>2026.03</a:t>
            </a:r>
            <a:endParaRPr lang="en-US" sz="3600" dirty="0"/>
          </a:p>
        </p:txBody>
      </p:sp>
      <p:sp>
        <p:nvSpPr>
          <p:cNvPr id="7" name="Text 5"/>
          <p:cNvSpPr txBox="1"/>
          <p:nvPr/>
        </p:nvSpPr>
        <p:spPr>
          <a:xfrm>
            <a:off x="761695" y="1778508"/>
            <a:ext cx="10840212" cy="3296412"/>
          </a:xfrm>
          <a:prstGeom prst="rect">
            <a:avLst/>
          </a:prstGeom>
          <a:noFill/>
          <a:ln/>
        </p:spPr>
        <p:txBody>
          <a:bodyPr wrap="square" lIns="0" tIns="0" rIns="0" bIns="0" rtlCol="0" anchor="ctr"/>
          <a:lstStyle/>
          <a:p>
            <a:pPr marL="0" indent="0" algn="l">
              <a:buNone/>
            </a:pPr>
            <a:r>
              <a:rPr lang="en-US" sz="5400" b="1" kern="0" spc="-150">
                <a:solidFill>
                  <a:srgbClr val="000000"/>
                </a:solidFill>
                <a:latin typeface="Noto Sans JP" pitchFamily="34" charset="0"/>
                <a:ea typeface="Noto Sans JP" pitchFamily="34" charset="-122"/>
                <a:cs typeface="Noto Sans JP" pitchFamily="34" charset="-120"/>
              </a:rPr>
              <a:t> リアクション</a:t>
            </a:r>
            <a:r>
              <a:rPr lang="ja-JP" altLang="en-US" sz="5400" b="1" kern="0" spc="-150">
                <a:solidFill>
                  <a:srgbClr val="000000"/>
                </a:solidFill>
                <a:latin typeface="Noto Sans JP" pitchFamily="34" charset="0"/>
                <a:ea typeface="Noto Sans JP" pitchFamily="34" charset="-122"/>
                <a:cs typeface="Noto Sans JP" pitchFamily="34" charset="-120"/>
              </a:rPr>
              <a:t>（いいね！）</a:t>
            </a:r>
            <a:r>
              <a:rPr lang="en-US" sz="5400" b="1" kern="0" spc="-150">
                <a:solidFill>
                  <a:srgbClr val="000000"/>
                </a:solidFill>
                <a:latin typeface="Noto Sans JP" pitchFamily="34" charset="0"/>
                <a:ea typeface="Noto Sans JP" pitchFamily="34" charset="-122"/>
                <a:cs typeface="Noto Sans JP" pitchFamily="34" charset="-120"/>
              </a:rPr>
              <a:t>は</a:t>
            </a:r>
            <a:endParaRPr lang="en-US" sz="5400" dirty="0"/>
          </a:p>
          <a:p>
            <a:pPr marL="0" indent="0" algn="l">
              <a:buNone/>
            </a:pPr>
            <a:r>
              <a:rPr lang="ja-JP" altLang="en-US" sz="5400" b="1" kern="0" spc="-150">
                <a:solidFill>
                  <a:srgbClr val="000000"/>
                </a:solidFill>
                <a:latin typeface="Noto Sans JP" pitchFamily="34" charset="0"/>
                <a:ea typeface="Noto Sans JP" pitchFamily="34" charset="-122"/>
                <a:cs typeface="Noto Sans JP" pitchFamily="34" charset="-120"/>
              </a:rPr>
              <a:t>未来を広げる最小の起点</a:t>
            </a:r>
            <a:r>
              <a:rPr lang="en-US" sz="5400" b="1" kern="0" spc="-150">
                <a:solidFill>
                  <a:srgbClr val="000000"/>
                </a:solidFill>
                <a:latin typeface="Noto Sans JP" pitchFamily="34" charset="0"/>
                <a:ea typeface="Noto Sans JP" pitchFamily="34" charset="-122"/>
                <a:cs typeface="Noto Sans JP" pitchFamily="34" charset="-120"/>
              </a:rPr>
              <a:t> </a:t>
            </a:r>
            <a:endParaRPr lang="en-US" sz="5400" dirty="0"/>
          </a:p>
        </p:txBody>
      </p:sp>
      <p:pic>
        <p:nvPicPr>
          <p:cNvPr id="8" name="Image 0" descr="preencoded.png"/>
          <p:cNvPicPr>
            <a:picLocks noChangeAspect="1"/>
          </p:cNvPicPr>
          <p:nvPr/>
        </p:nvPicPr>
        <p:blipFill>
          <a:blip r:embed="rId3"/>
          <a:srcRect t="-400" b="-400"/>
          <a:stretch/>
        </p:blipFill>
        <p:spPr>
          <a:xfrm>
            <a:off x="761695" y="5451653"/>
            <a:ext cx="1143000" cy="57607"/>
          </a:xfrm>
          <a:prstGeom prst="rect">
            <a:avLst/>
          </a:prstGeom>
        </p:spPr>
      </p:pic>
      <p:sp>
        <p:nvSpPr>
          <p:cNvPr id="9" name="Shape 6"/>
          <p:cNvSpPr/>
          <p:nvPr/>
        </p:nvSpPr>
        <p:spPr>
          <a:xfrm>
            <a:off x="761695" y="5903366"/>
            <a:ext cx="609905" cy="609905"/>
          </a:xfrm>
          <a:prstGeom prst="ellipse">
            <a:avLst/>
          </a:prstGeom>
          <a:solidFill>
            <a:srgbClr val="E5E7EB"/>
          </a:solidFill>
          <a:ln w="25400">
            <a:solidFill>
              <a:srgbClr val="E5E7EB"/>
            </a:solidFill>
            <a:prstDash val="solid"/>
          </a:ln>
        </p:spPr>
        <p:txBody>
          <a:bodyPr/>
          <a:lstStyle/>
          <a:p>
            <a:endParaRPr lang="ja-JP" altLang="en-US"/>
          </a:p>
        </p:txBody>
      </p:sp>
      <p:pic>
        <p:nvPicPr>
          <p:cNvPr id="10" name="Image 1" descr="preencoded.png"/>
          <p:cNvPicPr>
            <a:picLocks noChangeAspect="1"/>
          </p:cNvPicPr>
          <p:nvPr/>
        </p:nvPicPr>
        <p:blipFill>
          <a:blip r:embed="rId4"/>
          <a:srcRect t="-530" b="-530"/>
          <a:stretch/>
        </p:blipFill>
        <p:spPr>
          <a:xfrm>
            <a:off x="942746" y="6065215"/>
            <a:ext cx="247802" cy="286207"/>
          </a:xfrm>
          <a:prstGeom prst="rect">
            <a:avLst/>
          </a:prstGeom>
        </p:spPr>
      </p:pic>
      <p:sp>
        <p:nvSpPr>
          <p:cNvPr id="11" name="Text 7"/>
          <p:cNvSpPr txBox="1"/>
          <p:nvPr/>
        </p:nvSpPr>
        <p:spPr>
          <a:xfrm>
            <a:off x="1600200" y="5889650"/>
            <a:ext cx="1670050" cy="342900"/>
          </a:xfrm>
          <a:prstGeom prst="rect">
            <a:avLst/>
          </a:prstGeom>
          <a:noFill/>
          <a:ln/>
        </p:spPr>
        <p:txBody>
          <a:bodyPr wrap="square" lIns="0" tIns="0" rIns="0" bIns="0" rtlCol="0" anchor="ctr"/>
          <a:lstStyle/>
          <a:p>
            <a:pPr marL="0" indent="0" algn="l">
              <a:buNone/>
            </a:pPr>
            <a:r>
              <a:rPr lang="en-US" sz="3600" dirty="0">
                <a:solidFill>
                  <a:srgbClr val="000000"/>
                </a:solidFill>
                <a:latin typeface="Noto Sans JP" pitchFamily="34" charset="0"/>
                <a:ea typeface="Noto Sans JP" pitchFamily="34" charset="-122"/>
                <a:cs typeface="Noto Sans JP" pitchFamily="34" charset="-120"/>
              </a:rPr>
              <a:t>Haru</a:t>
            </a:r>
            <a:endParaRPr lang="en-US" sz="3600" dirty="0"/>
          </a:p>
        </p:txBody>
      </p:sp>
      <p:sp>
        <p:nvSpPr>
          <p:cNvPr id="12" name="Text 8"/>
          <p:cNvSpPr txBox="1"/>
          <p:nvPr/>
        </p:nvSpPr>
        <p:spPr>
          <a:xfrm>
            <a:off x="1600200" y="6398971"/>
            <a:ext cx="1670050" cy="257861"/>
          </a:xfrm>
          <a:prstGeom prst="rect">
            <a:avLst/>
          </a:prstGeom>
          <a:noFill/>
          <a:ln/>
        </p:spPr>
        <p:txBody>
          <a:bodyPr wrap="square" lIns="0" tIns="0" rIns="0" bIns="0" rtlCol="0" anchor="ctr"/>
          <a:lstStyle/>
          <a:p>
            <a:pPr marL="0" indent="0" algn="l">
              <a:buNone/>
            </a:pPr>
            <a:r>
              <a:rPr lang="en-US" sz="2400" b="1">
                <a:solidFill>
                  <a:srgbClr val="FF6908"/>
                </a:solidFill>
                <a:latin typeface="Noto Sans JP" pitchFamily="34" charset="0"/>
                <a:ea typeface="Noto Sans JP" pitchFamily="34" charset="-122"/>
                <a:cs typeface="Noto Sans JP" pitchFamily="34" charset="-120"/>
              </a:rPr>
              <a:t>PLUG </a:t>
            </a:r>
            <a:endParaRPr lang="en-US" sz="2400" dirty="0"/>
          </a:p>
        </p:txBody>
      </p:sp>
      <p:sp>
        <p:nvSpPr>
          <p:cNvPr id="13" name="Shape 9"/>
          <p:cNvSpPr/>
          <p:nvPr/>
        </p:nvSpPr>
        <p:spPr>
          <a:xfrm>
            <a:off x="761695" y="330098"/>
            <a:ext cx="4200754" cy="476402"/>
          </a:xfrm>
          <a:prstGeom prst="roundRect">
            <a:avLst>
              <a:gd name="adj" fmla="val 191939"/>
            </a:avLst>
          </a:prstGeom>
          <a:solidFill>
            <a:srgbClr val="FFFFFF"/>
          </a:solidFill>
          <a:ln w="25400">
            <a:solidFill>
              <a:srgbClr val="FF6908"/>
            </a:solidFill>
            <a:prstDash val="solid"/>
          </a:ln>
        </p:spPr>
        <p:txBody>
          <a:bodyPr/>
          <a:lstStyle/>
          <a:p>
            <a:endParaRPr lang="ja-JP" altLang="en-US"/>
          </a:p>
        </p:txBody>
      </p:sp>
      <p:sp>
        <p:nvSpPr>
          <p:cNvPr id="14" name="Text 10"/>
          <p:cNvSpPr/>
          <p:nvPr/>
        </p:nvSpPr>
        <p:spPr>
          <a:xfrm>
            <a:off x="724205" y="330098"/>
            <a:ext cx="4277563" cy="476402"/>
          </a:xfrm>
          <a:prstGeom prst="rect">
            <a:avLst/>
          </a:prstGeom>
          <a:solidFill>
            <a:srgbClr val="FFFFFF">
              <a:alpha val="0"/>
            </a:srgbClr>
          </a:solidFill>
          <a:ln>
            <a:solidFill>
              <a:srgbClr val="FFFFFF">
                <a:alpha val="0"/>
              </a:srgbClr>
            </a:solidFill>
          </a:ln>
        </p:spPr>
        <p:txBody>
          <a:bodyPr wrap="square" lIns="304800" tIns="76200" rIns="304800" bIns="76200" rtlCol="0" anchor="ctr"/>
          <a:lstStyle/>
          <a:p>
            <a:pPr marL="0" indent="0" algn="ctr">
              <a:buNone/>
            </a:pPr>
            <a:r>
              <a:rPr lang="en-US" sz="1500" b="1" dirty="0">
                <a:solidFill>
                  <a:srgbClr val="FF6908"/>
                </a:solidFill>
                <a:latin typeface="Noto Sans JP" pitchFamily="34" charset="0"/>
                <a:ea typeface="Noto Sans JP" pitchFamily="34" charset="-122"/>
                <a:cs typeface="Noto Sans JP" pitchFamily="34" charset="-120"/>
              </a:rPr>
              <a:t>PLUGデビューガイド（リアクション編）</a:t>
            </a:r>
            <a:endParaRPr lang="en-US" sz="1500" dirty="0"/>
          </a:p>
        </p:txBody>
      </p:sp>
      <p:pic>
        <p:nvPicPr>
          <p:cNvPr id="15" name="Image 2" descr="preencoded.png"/>
          <p:cNvPicPr>
            <a:picLocks noChangeAspect="1"/>
          </p:cNvPicPr>
          <p:nvPr/>
        </p:nvPicPr>
        <p:blipFill>
          <a:blip r:embed="rId5">
            <a:alphaModFix amt="20000"/>
          </a:blip>
          <a:srcRect l="-469" r="-469"/>
          <a:stretch/>
        </p:blipFill>
        <p:spPr>
          <a:xfrm>
            <a:off x="761695" y="1259129"/>
            <a:ext cx="504749" cy="571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sp>
        <p:nvSpPr>
          <p:cNvPr id="3" name="Shape 1"/>
          <p:cNvSpPr/>
          <p:nvPr/>
        </p:nvSpPr>
        <p:spPr>
          <a:xfrm>
            <a:off x="29647" y="-44413"/>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8191195" y="-1143000"/>
            <a:ext cx="4762195" cy="4762195"/>
          </a:xfrm>
          <a:prstGeom prst="ellipse">
            <a:avLst/>
          </a:prstGeom>
          <a:solidFill>
            <a:srgbClr val="0078D4">
              <a:alpha val="4000"/>
            </a:srgbClr>
          </a:solidFill>
          <a:ln w="12700">
            <a:solidFill>
              <a:srgbClr val="FFFFFF">
                <a:alpha val="0"/>
              </a:srgbClr>
            </a:solidFill>
            <a:prstDash val="solid"/>
          </a:ln>
        </p:spPr>
        <p:txBody>
          <a:bodyPr/>
          <a:lstStyle/>
          <a:p>
            <a:endParaRPr lang="ja-JP" altLang="en-US"/>
          </a:p>
        </p:txBody>
      </p:sp>
      <p:sp>
        <p:nvSpPr>
          <p:cNvPr id="5" name="Shape 3"/>
          <p:cNvSpPr/>
          <p:nvPr/>
        </p:nvSpPr>
        <p:spPr>
          <a:xfrm>
            <a:off x="-761695" y="2762402"/>
            <a:ext cx="3333902" cy="3333902"/>
          </a:xfrm>
          <a:prstGeom prst="ellipse">
            <a:avLst/>
          </a:prstGeom>
          <a:solidFill>
            <a:srgbClr val="0078D4">
              <a:alpha val="3000"/>
            </a:srgbClr>
          </a:solidFill>
          <a:ln w="12700">
            <a:solidFill>
              <a:srgbClr val="FFFFFF">
                <a:alpha val="0"/>
              </a:srgbClr>
            </a:solidFill>
            <a:prstDash val="solid"/>
          </a:ln>
        </p:spPr>
        <p:txBody>
          <a:bodyPr/>
          <a:lstStyle/>
          <a:p>
            <a:endParaRPr lang="ja-JP" altLang="en-US"/>
          </a:p>
        </p:txBody>
      </p:sp>
      <p:sp>
        <p:nvSpPr>
          <p:cNvPr id="6" name="Shape 4"/>
          <p:cNvSpPr/>
          <p:nvPr/>
        </p:nvSpPr>
        <p:spPr>
          <a:xfrm rot="900000">
            <a:off x="10477195" y="1904695"/>
            <a:ext cx="1143000" cy="1143000"/>
          </a:xfrm>
          <a:prstGeom prst="roundRect">
            <a:avLst>
              <a:gd name="adj" fmla="val 32000"/>
            </a:avLst>
          </a:prstGeom>
          <a:solidFill>
            <a:srgbClr val="0078D4">
              <a:alpha val="5000"/>
            </a:srgbClr>
          </a:solidFill>
          <a:ln w="12700">
            <a:solidFill>
              <a:srgbClr val="FFFFFF">
                <a:alpha val="0"/>
              </a:srgbClr>
            </a:solidFill>
            <a:prstDash val="solid"/>
          </a:ln>
        </p:spPr>
        <p:txBody>
          <a:bodyPr/>
          <a:lstStyle/>
          <a:p>
            <a:endParaRPr lang="ja-JP" altLang="en-US"/>
          </a:p>
        </p:txBody>
      </p:sp>
      <p:pic>
        <p:nvPicPr>
          <p:cNvPr id="7" name="Image 0" descr="preencoded.png"/>
          <p:cNvPicPr>
            <a:picLocks noChangeAspect="1"/>
          </p:cNvPicPr>
          <p:nvPr/>
        </p:nvPicPr>
        <p:blipFill>
          <a:blip r:embed="rId3"/>
          <a:srcRect/>
          <a:stretch/>
        </p:blipFill>
        <p:spPr>
          <a:xfrm>
            <a:off x="571500" y="418795"/>
            <a:ext cx="609905" cy="609905"/>
          </a:xfrm>
          <a:prstGeom prst="rect">
            <a:avLst/>
          </a:prstGeom>
        </p:spPr>
      </p:pic>
      <p:pic>
        <p:nvPicPr>
          <p:cNvPr id="8" name="Image 1" descr="preencoded.png"/>
          <p:cNvPicPr>
            <a:picLocks noChangeAspect="1"/>
          </p:cNvPicPr>
          <p:nvPr/>
        </p:nvPicPr>
        <p:blipFill>
          <a:blip r:embed="rId4"/>
          <a:srcRect/>
          <a:stretch/>
        </p:blipFill>
        <p:spPr>
          <a:xfrm>
            <a:off x="724205" y="571500"/>
            <a:ext cx="304495" cy="304495"/>
          </a:xfrm>
          <a:prstGeom prst="rect">
            <a:avLst/>
          </a:prstGeom>
        </p:spPr>
      </p:pic>
      <p:sp>
        <p:nvSpPr>
          <p:cNvPr id="9" name="Text 5"/>
          <p:cNvSpPr txBox="1"/>
          <p:nvPr/>
        </p:nvSpPr>
        <p:spPr>
          <a:xfrm>
            <a:off x="1352398" y="381305"/>
            <a:ext cx="5095951" cy="342900"/>
          </a:xfrm>
          <a:prstGeom prst="rect">
            <a:avLst/>
          </a:prstGeom>
          <a:noFill/>
          <a:ln/>
        </p:spPr>
        <p:txBody>
          <a:bodyPr wrap="square" lIns="0" tIns="0" rIns="0" bIns="0" rtlCol="0" anchor="ctr"/>
          <a:lstStyle/>
          <a:p>
            <a:pPr marL="0" indent="0" algn="l">
              <a:buNone/>
            </a:pPr>
            <a:r>
              <a:rPr lang="en-US" sz="2700" b="1" kern="0" spc="-67" dirty="0">
                <a:solidFill>
                  <a:srgbClr val="1F2937"/>
                </a:solidFill>
                <a:latin typeface="BIZ UDGothic" pitchFamily="34" charset="0"/>
                <a:ea typeface="BIZ UDGothic" pitchFamily="34" charset="-122"/>
                <a:cs typeface="BIZ UDGothic" pitchFamily="34" charset="-120"/>
              </a:rPr>
              <a:t>Power Automate 45 </a:t>
            </a:r>
            <a:r>
              <a:rPr lang="en-US" sz="2700" b="1" kern="0" spc="-67" dirty="0">
                <a:solidFill>
                  <a:srgbClr val="2563EB"/>
                </a:solidFill>
                <a:latin typeface="BIZ UDGothic" pitchFamily="34" charset="0"/>
                <a:ea typeface="BIZ UDGothic" pitchFamily="34" charset="-122"/>
                <a:cs typeface="BIZ UDGothic" pitchFamily="34" charset="-120"/>
              </a:rPr>
              <a:t>(PA45)</a:t>
            </a:r>
            <a:endParaRPr lang="en-US" sz="2700" dirty="0"/>
          </a:p>
        </p:txBody>
      </p:sp>
      <p:sp>
        <p:nvSpPr>
          <p:cNvPr id="10" name="Text 6"/>
          <p:cNvSpPr txBox="1"/>
          <p:nvPr/>
        </p:nvSpPr>
        <p:spPr>
          <a:xfrm>
            <a:off x="1353241" y="837923"/>
            <a:ext cx="4772254" cy="305410"/>
          </a:xfrm>
          <a:prstGeom prst="rect">
            <a:avLst/>
          </a:prstGeom>
          <a:noFill/>
          <a:ln/>
        </p:spPr>
        <p:txBody>
          <a:bodyPr wrap="square" lIns="0" tIns="0" rIns="0" bIns="0" rtlCol="0" anchor="ctr"/>
          <a:lstStyle/>
          <a:p>
            <a:pPr marL="0" indent="0" algn="l">
              <a:buNone/>
            </a:pPr>
            <a:r>
              <a:rPr lang="en-US" sz="1800" b="1" kern="0" spc="45" dirty="0">
                <a:solidFill>
                  <a:srgbClr val="4B5563"/>
                </a:solidFill>
                <a:latin typeface="BIZ UDGothic" pitchFamily="34" charset="0"/>
                <a:ea typeface="BIZ UDGothic" pitchFamily="34" charset="-122"/>
                <a:cs typeface="BIZ UDGothic" pitchFamily="34" charset="-120"/>
              </a:rPr>
              <a:t>今日も一緒に “1粒だけ” 深掘りします！</a:t>
            </a:r>
            <a:endParaRPr lang="en-US" sz="1800" dirty="0"/>
          </a:p>
        </p:txBody>
      </p:sp>
      <p:pic>
        <p:nvPicPr>
          <p:cNvPr id="11" name="Image 2" descr="preencoded.png"/>
          <p:cNvPicPr>
            <a:picLocks noChangeAspect="1"/>
          </p:cNvPicPr>
          <p:nvPr/>
        </p:nvPicPr>
        <p:blipFill>
          <a:blip r:embed="rId5"/>
          <a:srcRect t="-401" b="-401"/>
          <a:stretch/>
        </p:blipFill>
        <p:spPr>
          <a:xfrm>
            <a:off x="571500" y="1295705"/>
            <a:ext cx="11048695" cy="57607"/>
          </a:xfrm>
          <a:prstGeom prst="rect">
            <a:avLst/>
          </a:prstGeom>
        </p:spPr>
      </p:pic>
      <p:pic>
        <p:nvPicPr>
          <p:cNvPr id="12" name="Image 3" descr="preencoded.png"/>
          <p:cNvPicPr>
            <a:picLocks noChangeAspect="1"/>
          </p:cNvPicPr>
          <p:nvPr/>
        </p:nvPicPr>
        <p:blipFill>
          <a:blip r:embed="rId6"/>
          <a:srcRect t="-400" b="-400"/>
          <a:stretch/>
        </p:blipFill>
        <p:spPr>
          <a:xfrm>
            <a:off x="571500" y="1295705"/>
            <a:ext cx="1828800" cy="57607"/>
          </a:xfrm>
          <a:prstGeom prst="rect">
            <a:avLst/>
          </a:prstGeom>
        </p:spPr>
      </p:pic>
      <p:pic>
        <p:nvPicPr>
          <p:cNvPr id="13" name="Image 4" descr="preencoded.png"/>
          <p:cNvPicPr>
            <a:picLocks noChangeAspect="1"/>
          </p:cNvPicPr>
          <p:nvPr/>
        </p:nvPicPr>
        <p:blipFill>
          <a:blip r:embed="rId7"/>
          <a:srcRect/>
          <a:stretch/>
        </p:blipFill>
        <p:spPr>
          <a:xfrm>
            <a:off x="1467612" y="1638605"/>
            <a:ext cx="1904695" cy="1904695"/>
          </a:xfrm>
          <a:prstGeom prst="rect">
            <a:avLst/>
          </a:prstGeom>
        </p:spPr>
      </p:pic>
      <p:pic>
        <p:nvPicPr>
          <p:cNvPr id="15" name="Image 6" descr="preencoded.png"/>
          <p:cNvPicPr>
            <a:picLocks noChangeAspect="1"/>
          </p:cNvPicPr>
          <p:nvPr/>
        </p:nvPicPr>
        <p:blipFill>
          <a:blip r:embed="rId8"/>
          <a:srcRect t="-187" b="-187"/>
          <a:stretch/>
        </p:blipFill>
        <p:spPr>
          <a:xfrm>
            <a:off x="571500" y="3737631"/>
            <a:ext cx="3705149" cy="743407"/>
          </a:xfrm>
          <a:prstGeom prst="rect">
            <a:avLst/>
          </a:prstGeom>
        </p:spPr>
      </p:pic>
      <p:sp>
        <p:nvSpPr>
          <p:cNvPr id="16" name="Text 7"/>
          <p:cNvSpPr/>
          <p:nvPr/>
        </p:nvSpPr>
        <p:spPr>
          <a:xfrm>
            <a:off x="531266" y="3733495"/>
            <a:ext cx="3785616" cy="743407"/>
          </a:xfrm>
          <a:prstGeom prst="rect">
            <a:avLst/>
          </a:prstGeom>
          <a:noFill/>
          <a:ln/>
        </p:spPr>
        <p:txBody>
          <a:bodyPr wrap="square" lIns="0" tIns="0" rIns="0" bIns="0" rtlCol="0" anchor="ctr"/>
          <a:lstStyle/>
          <a:p>
            <a:pPr marL="0" indent="0" algn="ctr">
              <a:buNone/>
            </a:pPr>
            <a:r>
              <a:rPr lang="en-US" sz="3600">
                <a:solidFill>
                  <a:schemeClr val="bg1"/>
                </a:solidFill>
              </a:rPr>
              <a:t>Ueda.I</a:t>
            </a:r>
            <a:endParaRPr lang="en-US" sz="3600" dirty="0">
              <a:solidFill>
                <a:schemeClr val="bg1"/>
              </a:solidFill>
            </a:endParaRPr>
          </a:p>
        </p:txBody>
      </p:sp>
      <p:sp>
        <p:nvSpPr>
          <p:cNvPr id="17" name="Text 8"/>
          <p:cNvSpPr txBox="1"/>
          <p:nvPr/>
        </p:nvSpPr>
        <p:spPr>
          <a:xfrm>
            <a:off x="914400" y="4663440"/>
            <a:ext cx="3476549" cy="247802"/>
          </a:xfrm>
          <a:prstGeom prst="rect">
            <a:avLst/>
          </a:prstGeom>
          <a:noFill/>
          <a:ln/>
        </p:spPr>
        <p:txBody>
          <a:bodyPr wrap="square" lIns="0" tIns="0" rIns="0" bIns="0" rtlCol="0" anchor="ctr"/>
          <a:lstStyle/>
          <a:p>
            <a:pPr marL="0" indent="0" algn="l">
              <a:buNone/>
            </a:pPr>
            <a:r>
              <a:rPr lang="en-US" sz="1600" b="1" dirty="0">
                <a:solidFill>
                  <a:srgbClr val="374151"/>
                </a:solidFill>
                <a:latin typeface="BIZ UDGothic" pitchFamily="34" charset="0"/>
                <a:ea typeface="BIZ UDGothic" pitchFamily="34" charset="-122"/>
                <a:cs typeface="BIZ UDGothic" pitchFamily="34" charset="-120"/>
              </a:rPr>
              <a:t>Power Platform / DX 推進</a:t>
            </a:r>
            <a:endParaRPr lang="en-US" sz="1600" dirty="0"/>
          </a:p>
        </p:txBody>
      </p:sp>
      <p:pic>
        <p:nvPicPr>
          <p:cNvPr id="18" name="Image 7" descr="preencoded.png"/>
          <p:cNvPicPr>
            <a:picLocks noChangeAspect="1"/>
          </p:cNvPicPr>
          <p:nvPr/>
        </p:nvPicPr>
        <p:blipFill>
          <a:blip r:embed="rId9"/>
          <a:srcRect l="-15989" r="-15989"/>
          <a:stretch/>
        </p:blipFill>
        <p:spPr>
          <a:xfrm>
            <a:off x="378593" y="4663440"/>
            <a:ext cx="535807" cy="324787"/>
          </a:xfrm>
          <a:prstGeom prst="rect">
            <a:avLst/>
          </a:prstGeom>
        </p:spPr>
      </p:pic>
      <p:sp>
        <p:nvSpPr>
          <p:cNvPr id="19" name="Text 9"/>
          <p:cNvSpPr txBox="1"/>
          <p:nvPr/>
        </p:nvSpPr>
        <p:spPr>
          <a:xfrm>
            <a:off x="914400" y="4999025"/>
            <a:ext cx="3476549" cy="247802"/>
          </a:xfrm>
          <a:prstGeom prst="rect">
            <a:avLst/>
          </a:prstGeom>
          <a:noFill/>
          <a:ln/>
        </p:spPr>
        <p:txBody>
          <a:bodyPr wrap="square" lIns="0" tIns="0" rIns="0" bIns="0" rtlCol="0" anchor="ctr"/>
          <a:lstStyle/>
          <a:p>
            <a:pPr marL="0" indent="0" algn="l">
              <a:buNone/>
            </a:pPr>
            <a:endParaRPr lang="en-US" sz="1200" dirty="0"/>
          </a:p>
        </p:txBody>
      </p:sp>
      <p:sp>
        <p:nvSpPr>
          <p:cNvPr id="21" name="Text 10"/>
          <p:cNvSpPr txBox="1"/>
          <p:nvPr/>
        </p:nvSpPr>
        <p:spPr>
          <a:xfrm>
            <a:off x="970929" y="5196536"/>
            <a:ext cx="35533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社内外のコミュニティ運営</a:t>
            </a:r>
            <a:endParaRPr lang="en-US" sz="1600" dirty="0"/>
          </a:p>
        </p:txBody>
      </p:sp>
      <p:pic>
        <p:nvPicPr>
          <p:cNvPr id="22" name="Image 9" descr="preencoded.png"/>
          <p:cNvPicPr>
            <a:picLocks noChangeAspect="1"/>
          </p:cNvPicPr>
          <p:nvPr/>
        </p:nvPicPr>
        <p:blipFill>
          <a:blip r:embed="rId10"/>
          <a:srcRect l="-15989" r="-15989"/>
          <a:stretch/>
        </p:blipFill>
        <p:spPr>
          <a:xfrm>
            <a:off x="422874" y="5196536"/>
            <a:ext cx="472160" cy="286207"/>
          </a:xfrm>
          <a:prstGeom prst="rect">
            <a:avLst/>
          </a:prstGeom>
        </p:spPr>
      </p:pic>
      <p:sp>
        <p:nvSpPr>
          <p:cNvPr id="23" name="Text 11"/>
          <p:cNvSpPr txBox="1"/>
          <p:nvPr/>
        </p:nvSpPr>
        <p:spPr>
          <a:xfrm>
            <a:off x="1028700" y="5576468"/>
            <a:ext cx="3439058" cy="247802"/>
          </a:xfrm>
          <a:prstGeom prst="rect">
            <a:avLst/>
          </a:prstGeom>
          <a:noFill/>
          <a:ln/>
        </p:spPr>
        <p:txBody>
          <a:bodyPr wrap="square" lIns="0" tIns="0" rIns="0" bIns="0" rtlCol="0" anchor="ctr"/>
          <a:lstStyle/>
          <a:p>
            <a:pPr marL="0" indent="0" algn="l">
              <a:buNone/>
            </a:pPr>
            <a:r>
              <a:rPr lang="en-US" sz="1600">
                <a:solidFill>
                  <a:srgbClr val="333333"/>
                </a:solidFill>
                <a:latin typeface="BIZ UDGothic" pitchFamily="34" charset="0"/>
                <a:ea typeface="BIZ UDGothic" pitchFamily="34" charset="-122"/>
                <a:cs typeface="BIZ UDGothic" pitchFamily="34" charset="-120"/>
              </a:rPr>
              <a:t>・社内</a:t>
            </a:r>
            <a:r>
              <a:rPr lang="en-US" altLang="ja-JP" sz="1600">
                <a:solidFill>
                  <a:srgbClr val="333333"/>
                </a:solidFill>
                <a:latin typeface="BIZ UDGothic" pitchFamily="34" charset="0"/>
                <a:ea typeface="BIZ UDGothic" pitchFamily="34" charset="-122"/>
                <a:cs typeface="BIZ UDGothic" pitchFamily="34" charset="-120"/>
              </a:rPr>
              <a:t>PowerPlatform</a:t>
            </a:r>
            <a:r>
              <a:rPr lang="en-US" sz="1600">
                <a:solidFill>
                  <a:srgbClr val="333333"/>
                </a:solidFill>
                <a:latin typeface="BIZ UDGothic" pitchFamily="34" charset="0"/>
                <a:ea typeface="BIZ UDGothic" pitchFamily="34" charset="-122"/>
                <a:cs typeface="BIZ UDGothic" pitchFamily="34" charset="-120"/>
              </a:rPr>
              <a:t>コミュニティ</a:t>
            </a:r>
            <a:endParaRPr lang="en-US" sz="1600" dirty="0"/>
          </a:p>
        </p:txBody>
      </p:sp>
      <p:sp>
        <p:nvSpPr>
          <p:cNvPr id="24" name="Text 12"/>
          <p:cNvSpPr txBox="1"/>
          <p:nvPr/>
        </p:nvSpPr>
        <p:spPr>
          <a:xfrm>
            <a:off x="1028700" y="6004865"/>
            <a:ext cx="34390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・広島コミュニティ </a:t>
            </a:r>
            <a:r>
              <a:rPr lang="en-US" sz="1600">
                <a:solidFill>
                  <a:srgbClr val="333333"/>
                </a:solidFill>
                <a:latin typeface="BIZ UDGothic" pitchFamily="34" charset="0"/>
                <a:ea typeface="BIZ UDGothic" pitchFamily="34" charset="-122"/>
                <a:cs typeface="BIZ UDGothic" pitchFamily="34" charset="-120"/>
              </a:rPr>
              <a:t>PLUG </a:t>
            </a:r>
            <a:r>
              <a:rPr lang="ja-JP" altLang="en-US" sz="1600">
                <a:solidFill>
                  <a:srgbClr val="333333"/>
                </a:solidFill>
                <a:latin typeface="BIZ UDGothic" pitchFamily="34" charset="0"/>
                <a:ea typeface="BIZ UDGothic" pitchFamily="34" charset="-122"/>
                <a:cs typeface="BIZ UDGothic" pitchFamily="34" charset="-120"/>
              </a:rPr>
              <a:t>運営</a:t>
            </a:r>
            <a:endParaRPr lang="en-US" sz="1600" dirty="0"/>
          </a:p>
        </p:txBody>
      </p:sp>
      <p:sp>
        <p:nvSpPr>
          <p:cNvPr id="25" name="Shape 13"/>
          <p:cNvSpPr/>
          <p:nvPr/>
        </p:nvSpPr>
        <p:spPr>
          <a:xfrm>
            <a:off x="647395" y="6358738"/>
            <a:ext cx="3629254" cy="418795"/>
          </a:xfrm>
          <a:prstGeom prst="roundRect">
            <a:avLst>
              <a:gd name="adj" fmla="val 79397"/>
            </a:avLst>
          </a:prstGeom>
          <a:solidFill>
            <a:srgbClr val="EFF6FF"/>
          </a:solidFill>
          <a:ln w="12700">
            <a:solidFill>
              <a:srgbClr val="DBEAFE"/>
            </a:solidFill>
            <a:prstDash val="solid"/>
          </a:ln>
        </p:spPr>
        <p:txBody>
          <a:bodyPr/>
          <a:lstStyle/>
          <a:p>
            <a:endParaRPr lang="ja-JP" altLang="en-US"/>
          </a:p>
        </p:txBody>
      </p:sp>
      <p:sp>
        <p:nvSpPr>
          <p:cNvPr id="26" name="Text 14"/>
          <p:cNvSpPr txBox="1"/>
          <p:nvPr/>
        </p:nvSpPr>
        <p:spPr>
          <a:xfrm>
            <a:off x="999439" y="6358738"/>
            <a:ext cx="3354019" cy="419710"/>
          </a:xfrm>
          <a:prstGeom prst="rect">
            <a:avLst/>
          </a:prstGeom>
          <a:solidFill>
            <a:srgbClr val="FFFFFF">
              <a:alpha val="0"/>
            </a:srgbClr>
          </a:solidFill>
          <a:ln>
            <a:solidFill>
              <a:srgbClr val="FFFFFF">
                <a:alpha val="0"/>
              </a:srgbClr>
            </a:solidFill>
          </a:ln>
        </p:spPr>
        <p:txBody>
          <a:bodyPr wrap="square" lIns="76200" tIns="76200" rIns="76200" bIns="76200" rtlCol="0" anchor="ctr"/>
          <a:lstStyle/>
          <a:p>
            <a:pPr marL="0" indent="0" algn="l">
              <a:buNone/>
            </a:pPr>
            <a:r>
              <a:rPr lang="en-US" sz="1600" b="1">
                <a:solidFill>
                  <a:srgbClr val="1F2937"/>
                </a:solidFill>
                <a:latin typeface="BIZ UDGothic" pitchFamily="34" charset="0"/>
                <a:ea typeface="BIZ UDGothic" pitchFamily="34" charset="-122"/>
                <a:cs typeface="BIZ UDGothic" pitchFamily="34" charset="-120"/>
              </a:rPr>
              <a:t>Power Automate</a:t>
            </a:r>
            <a:endParaRPr lang="en-US" sz="1600" dirty="0"/>
          </a:p>
        </p:txBody>
      </p:sp>
      <p:pic>
        <p:nvPicPr>
          <p:cNvPr id="27" name="Image 10" descr="preencoded.png"/>
          <p:cNvPicPr>
            <a:picLocks noChangeAspect="1"/>
          </p:cNvPicPr>
          <p:nvPr/>
        </p:nvPicPr>
        <p:blipFill>
          <a:blip r:embed="rId11"/>
          <a:srcRect l="-32486" r="-32486"/>
          <a:stretch/>
        </p:blipFill>
        <p:spPr>
          <a:xfrm>
            <a:off x="733349" y="6444691"/>
            <a:ext cx="267005" cy="161849"/>
          </a:xfrm>
          <a:prstGeom prst="rect">
            <a:avLst/>
          </a:prstGeom>
        </p:spPr>
      </p:pic>
      <p:sp>
        <p:nvSpPr>
          <p:cNvPr id="28" name="Text 15"/>
          <p:cNvSpPr txBox="1"/>
          <p:nvPr/>
        </p:nvSpPr>
        <p:spPr>
          <a:xfrm>
            <a:off x="5336438" y="1870862"/>
            <a:ext cx="6477610" cy="305410"/>
          </a:xfrm>
          <a:prstGeom prst="rect">
            <a:avLst/>
          </a:prstGeom>
          <a:noFill/>
          <a:ln/>
        </p:spPr>
        <p:txBody>
          <a:bodyPr wrap="square" lIns="0" tIns="0" rIns="0" bIns="0" rtlCol="0" anchor="ctr"/>
          <a:lstStyle/>
          <a:p>
            <a:pPr marL="0" indent="0" algn="l">
              <a:buNone/>
            </a:pPr>
            <a:r>
              <a:rPr lang="en-US" sz="1800" b="1" dirty="0">
                <a:solidFill>
                  <a:srgbClr val="1E40AF"/>
                </a:solidFill>
                <a:latin typeface="BIZ UDGothic" pitchFamily="34" charset="0"/>
                <a:ea typeface="BIZ UDGothic" pitchFamily="34" charset="-122"/>
                <a:cs typeface="BIZ UDGothic" pitchFamily="34" charset="-120"/>
              </a:rPr>
              <a:t> 主な活動・実績 </a:t>
            </a:r>
            <a:endParaRPr lang="en-US" sz="1800" dirty="0"/>
          </a:p>
        </p:txBody>
      </p:sp>
      <p:sp>
        <p:nvSpPr>
          <p:cNvPr id="29" name="Shape 16"/>
          <p:cNvSpPr/>
          <p:nvPr/>
        </p:nvSpPr>
        <p:spPr>
          <a:xfrm>
            <a:off x="4898441" y="23664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0" name="Shape 17"/>
          <p:cNvSpPr/>
          <p:nvPr/>
        </p:nvSpPr>
        <p:spPr>
          <a:xfrm>
            <a:off x="4898441" y="2366467"/>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31" name="Text 18"/>
          <p:cNvSpPr txBox="1"/>
          <p:nvPr/>
        </p:nvSpPr>
        <p:spPr>
          <a:xfrm>
            <a:off x="5450738" y="2509114"/>
            <a:ext cx="6163056" cy="267005"/>
          </a:xfrm>
          <a:prstGeom prst="rect">
            <a:avLst/>
          </a:prstGeom>
          <a:noFill/>
          <a:ln/>
        </p:spPr>
        <p:txBody>
          <a:bodyPr wrap="square" lIns="0" tIns="0" rIns="0" bIns="0" rtlCol="0" anchor="ctr"/>
          <a:lstStyle/>
          <a:p>
            <a:pPr marL="0" indent="0" algn="l">
              <a:buNone/>
            </a:pPr>
            <a:r>
              <a:rPr lang="en-US" sz="1600" b="1">
                <a:solidFill>
                  <a:srgbClr val="1F2937"/>
                </a:solidFill>
                <a:latin typeface="BIZ UDGothic" pitchFamily="34" charset="0"/>
                <a:ea typeface="BIZ UDGothic" pitchFamily="34" charset="-122"/>
                <a:cs typeface="BIZ UDGothic" pitchFamily="34" charset="-120"/>
              </a:rPr>
              <a:t>社内</a:t>
            </a:r>
            <a:r>
              <a:rPr lang="ja-JP" altLang="en-US" sz="1600" b="1">
                <a:solidFill>
                  <a:srgbClr val="1F2937"/>
                </a:solidFill>
                <a:latin typeface="BIZ UDGothic" pitchFamily="34" charset="0"/>
                <a:ea typeface="BIZ UDGothic" pitchFamily="34" charset="-122"/>
                <a:cs typeface="BIZ UDGothic" pitchFamily="34" charset="-120"/>
              </a:rPr>
              <a:t>コミュニティ運営・社内向け</a:t>
            </a:r>
            <a:r>
              <a:rPr lang="en-US" sz="1600" b="1">
                <a:solidFill>
                  <a:srgbClr val="1F2937"/>
                </a:solidFill>
                <a:latin typeface="BIZ UDGothic" pitchFamily="34" charset="0"/>
                <a:ea typeface="BIZ UDGothic" pitchFamily="34" charset="-122"/>
                <a:cs typeface="BIZ UDGothic" pitchFamily="34" charset="-120"/>
              </a:rPr>
              <a:t>講座の実施</a:t>
            </a:r>
            <a:endParaRPr lang="en-US" sz="1600" dirty="0"/>
          </a:p>
        </p:txBody>
      </p:sp>
      <p:pic>
        <p:nvPicPr>
          <p:cNvPr id="32" name="Image 11" descr="preencoded.png"/>
          <p:cNvPicPr>
            <a:picLocks noChangeAspect="1"/>
          </p:cNvPicPr>
          <p:nvPr/>
        </p:nvPicPr>
        <p:blipFill>
          <a:blip r:embed="rId12"/>
          <a:srcRect l="-38653" r="-38653"/>
          <a:stretch/>
        </p:blipFill>
        <p:spPr>
          <a:xfrm>
            <a:off x="4816719" y="2388501"/>
            <a:ext cx="558124" cy="419709"/>
          </a:xfrm>
          <a:prstGeom prst="rect">
            <a:avLst/>
          </a:prstGeom>
        </p:spPr>
      </p:pic>
      <p:sp>
        <p:nvSpPr>
          <p:cNvPr id="33" name="Text 19"/>
          <p:cNvSpPr txBox="1"/>
          <p:nvPr/>
        </p:nvSpPr>
        <p:spPr>
          <a:xfrm>
            <a:off x="5146243" y="2813609"/>
            <a:ext cx="6391656"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PA</a:t>
            </a:r>
            <a:r>
              <a:rPr lang="en-US" sz="1600">
                <a:solidFill>
                  <a:srgbClr val="4B5563"/>
                </a:solidFill>
                <a:latin typeface="BIZ UDGothic" pitchFamily="34" charset="0"/>
                <a:ea typeface="BIZ UDGothic" pitchFamily="34" charset="-122"/>
                <a:cs typeface="BIZ UDGothic" pitchFamily="34" charset="-120"/>
              </a:rPr>
              <a:t>／Copilot</a:t>
            </a:r>
            <a:r>
              <a:rPr lang="ja-JP" altLang="en-US" sz="1600">
                <a:solidFill>
                  <a:srgbClr val="4B5563"/>
                </a:solidFill>
                <a:latin typeface="BIZ UDGothic" pitchFamily="34" charset="0"/>
                <a:ea typeface="BIZ UDGothic" pitchFamily="34" charset="-122"/>
                <a:cs typeface="BIZ UDGothic" pitchFamily="34" charset="-120"/>
              </a:rPr>
              <a:t>　ハンズオン講座</a:t>
            </a:r>
            <a:r>
              <a:rPr lang="en-US" sz="1600">
                <a:solidFill>
                  <a:srgbClr val="4B5563"/>
                </a:solidFill>
                <a:latin typeface="BIZ UDGothic" pitchFamily="34" charset="0"/>
                <a:ea typeface="BIZ UDGothic" pitchFamily="34" charset="-122"/>
                <a:cs typeface="BIZ UDGothic" pitchFamily="34" charset="-120"/>
              </a:rPr>
              <a:t>などを開催し</a:t>
            </a:r>
            <a:r>
              <a:rPr lang="en-US" sz="1600" dirty="0">
                <a:solidFill>
                  <a:srgbClr val="4B5563"/>
                </a:solidFill>
                <a:latin typeface="BIZ UDGothic" pitchFamily="34" charset="0"/>
                <a:ea typeface="BIZ UDGothic" pitchFamily="34" charset="-122"/>
                <a:cs typeface="BIZ UDGothic" pitchFamily="34" charset="-120"/>
              </a:rPr>
              <a:t>、社内の</a:t>
            </a:r>
            <a:r>
              <a:rPr lang="en-US" sz="1600">
                <a:solidFill>
                  <a:srgbClr val="4B5563"/>
                </a:solidFill>
                <a:latin typeface="BIZ UDGothic" pitchFamily="34" charset="0"/>
                <a:ea typeface="BIZ UDGothic" pitchFamily="34" charset="-122"/>
                <a:cs typeface="BIZ UDGothic" pitchFamily="34" charset="-120"/>
              </a:rPr>
              <a:t>DXを</a:t>
            </a:r>
            <a:r>
              <a:rPr lang="ja-JP" altLang="en-US" sz="1600">
                <a:solidFill>
                  <a:srgbClr val="4B5563"/>
                </a:solidFill>
                <a:latin typeface="BIZ UDGothic" pitchFamily="34" charset="0"/>
                <a:ea typeface="BIZ UDGothic" pitchFamily="34" charset="-122"/>
                <a:cs typeface="BIZ UDGothic" pitchFamily="34" charset="-120"/>
              </a:rPr>
              <a:t>推進</a:t>
            </a:r>
            <a:endParaRPr lang="en-US" sz="1600" dirty="0"/>
          </a:p>
        </p:txBody>
      </p:sp>
      <p:sp>
        <p:nvSpPr>
          <p:cNvPr id="34" name="Shape 20"/>
          <p:cNvSpPr/>
          <p:nvPr/>
        </p:nvSpPr>
        <p:spPr>
          <a:xfrm>
            <a:off x="4898441" y="3375965"/>
            <a:ext cx="6724498" cy="819302"/>
          </a:xfrm>
          <a:prstGeom prst="roundRect">
            <a:avLst>
              <a:gd name="adj" fmla="val 31146"/>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5" name="Shape 21"/>
          <p:cNvSpPr/>
          <p:nvPr/>
        </p:nvSpPr>
        <p:spPr>
          <a:xfrm>
            <a:off x="4898441" y="3375965"/>
            <a:ext cx="57607" cy="819302"/>
          </a:xfrm>
          <a:prstGeom prst="roundRect">
            <a:avLst>
              <a:gd name="adj" fmla="val 442969"/>
            </a:avLst>
          </a:prstGeom>
          <a:solidFill>
            <a:srgbClr val="F0F4F8"/>
          </a:solidFill>
          <a:ln w="12700">
            <a:solidFill>
              <a:srgbClr val="F0F4F8">
                <a:alpha val="0"/>
              </a:srgbClr>
            </a:solidFill>
            <a:prstDash val="solid"/>
          </a:ln>
        </p:spPr>
        <p:txBody>
          <a:bodyPr/>
          <a:lstStyle/>
          <a:p>
            <a:endParaRPr lang="ja-JP" altLang="en-US"/>
          </a:p>
        </p:txBody>
      </p:sp>
      <p:sp>
        <p:nvSpPr>
          <p:cNvPr id="36" name="Text 22"/>
          <p:cNvSpPr txBox="1"/>
          <p:nvPr/>
        </p:nvSpPr>
        <p:spPr>
          <a:xfrm>
            <a:off x="5450738" y="3518611"/>
            <a:ext cx="6163056" cy="267005"/>
          </a:xfrm>
          <a:prstGeom prst="rect">
            <a:avLst/>
          </a:prstGeom>
          <a:noFill/>
          <a:ln/>
        </p:spPr>
        <p:txBody>
          <a:bodyPr wrap="square" lIns="0" tIns="0" rIns="0" bIns="0" rtlCol="0" anchor="ctr"/>
          <a:lstStyle/>
          <a:p>
            <a:pPr marL="0" indent="0" algn="l">
              <a:buNone/>
            </a:pPr>
            <a:r>
              <a:rPr lang="en-US" sz="1600" b="1">
                <a:solidFill>
                  <a:srgbClr val="1F2937"/>
                </a:solidFill>
                <a:latin typeface="BIZ UDGothic" pitchFamily="34" charset="0"/>
                <a:ea typeface="BIZ UDGothic" pitchFamily="34" charset="-122"/>
                <a:cs typeface="BIZ UDGothic" pitchFamily="34" charset="-120"/>
              </a:rPr>
              <a:t>外部コミュニティ</a:t>
            </a:r>
            <a:r>
              <a:rPr lang="ja-JP" altLang="en-US" sz="1600" b="1">
                <a:solidFill>
                  <a:srgbClr val="1F2937"/>
                </a:solidFill>
                <a:latin typeface="BIZ UDGothic" pitchFamily="34" charset="0"/>
                <a:ea typeface="BIZ UDGothic" pitchFamily="34" charset="-122"/>
                <a:cs typeface="BIZ UDGothic" pitchFamily="34" charset="-120"/>
              </a:rPr>
              <a:t>運営メンバー・</a:t>
            </a:r>
            <a:r>
              <a:rPr lang="en-US" sz="1600" b="1">
                <a:solidFill>
                  <a:srgbClr val="1F2937"/>
                </a:solidFill>
                <a:latin typeface="BIZ UDGothic" pitchFamily="34" charset="0"/>
                <a:ea typeface="BIZ UDGothic" pitchFamily="34" charset="-122"/>
                <a:cs typeface="BIZ UDGothic" pitchFamily="34" charset="-120"/>
              </a:rPr>
              <a:t>登壇</a:t>
            </a:r>
            <a:endParaRPr lang="en-US" sz="1600" dirty="0"/>
          </a:p>
        </p:txBody>
      </p:sp>
      <p:pic>
        <p:nvPicPr>
          <p:cNvPr id="37" name="Image 12" descr="preencoded.png"/>
          <p:cNvPicPr>
            <a:picLocks noChangeAspect="1"/>
          </p:cNvPicPr>
          <p:nvPr/>
        </p:nvPicPr>
        <p:blipFill>
          <a:blip r:embed="rId13"/>
          <a:srcRect l="-38653" r="-38653"/>
          <a:stretch/>
        </p:blipFill>
        <p:spPr>
          <a:xfrm>
            <a:off x="4827643" y="3423078"/>
            <a:ext cx="558124" cy="419709"/>
          </a:xfrm>
          <a:prstGeom prst="rect">
            <a:avLst/>
          </a:prstGeom>
        </p:spPr>
      </p:pic>
      <p:sp>
        <p:nvSpPr>
          <p:cNvPr id="38" name="Text 23"/>
          <p:cNvSpPr txBox="1"/>
          <p:nvPr/>
        </p:nvSpPr>
        <p:spPr>
          <a:xfrm>
            <a:off x="5152644" y="3880735"/>
            <a:ext cx="6467551" cy="228600"/>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広島コミュニティ「</a:t>
            </a:r>
            <a:r>
              <a:rPr lang="en-US" sz="1600">
                <a:solidFill>
                  <a:srgbClr val="4B5563"/>
                </a:solidFill>
                <a:latin typeface="BIZ UDGothic" pitchFamily="34" charset="0"/>
                <a:ea typeface="BIZ UDGothic" pitchFamily="34" charset="-122"/>
                <a:cs typeface="BIZ UDGothic" pitchFamily="34" charset="-120"/>
              </a:rPr>
              <a:t>PLUG」</a:t>
            </a:r>
            <a:r>
              <a:rPr lang="ja-JP" altLang="en-US" sz="1600">
                <a:solidFill>
                  <a:srgbClr val="4B5563"/>
                </a:solidFill>
                <a:latin typeface="BIZ UDGothic" pitchFamily="34" charset="0"/>
                <a:ea typeface="BIZ UDGothic" pitchFamily="34" charset="-122"/>
                <a:cs typeface="BIZ UDGothic" pitchFamily="34" charset="-120"/>
              </a:rPr>
              <a:t>運営。</a:t>
            </a:r>
            <a:endParaRPr lang="en-US" sz="1600" dirty="0"/>
          </a:p>
        </p:txBody>
      </p:sp>
      <p:sp>
        <p:nvSpPr>
          <p:cNvPr id="39" name="Shape 24"/>
          <p:cNvSpPr/>
          <p:nvPr/>
        </p:nvSpPr>
        <p:spPr>
          <a:xfrm>
            <a:off x="4898441" y="4327855"/>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0" name="Shape 25"/>
          <p:cNvSpPr/>
          <p:nvPr/>
        </p:nvSpPr>
        <p:spPr>
          <a:xfrm>
            <a:off x="4898441" y="4327855"/>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41" name="Text 26"/>
          <p:cNvSpPr txBox="1"/>
          <p:nvPr/>
        </p:nvSpPr>
        <p:spPr>
          <a:xfrm>
            <a:off x="5450738" y="4471416"/>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X (Twitter) での情報発信</a:t>
            </a:r>
            <a:endParaRPr lang="en-US" sz="1600" dirty="0"/>
          </a:p>
        </p:txBody>
      </p:sp>
      <p:pic>
        <p:nvPicPr>
          <p:cNvPr id="42" name="Image 13" descr="preencoded.png"/>
          <p:cNvPicPr>
            <a:picLocks noChangeAspect="1"/>
          </p:cNvPicPr>
          <p:nvPr/>
        </p:nvPicPr>
        <p:blipFill>
          <a:blip r:embed="rId14"/>
          <a:srcRect l="-16489" r="-16489"/>
          <a:stretch/>
        </p:blipFill>
        <p:spPr>
          <a:xfrm>
            <a:off x="4848148" y="4405580"/>
            <a:ext cx="558124" cy="419709"/>
          </a:xfrm>
          <a:prstGeom prst="rect">
            <a:avLst/>
          </a:prstGeom>
        </p:spPr>
      </p:pic>
      <p:sp>
        <p:nvSpPr>
          <p:cNvPr id="43" name="Text 27"/>
          <p:cNvSpPr txBox="1"/>
          <p:nvPr/>
        </p:nvSpPr>
        <p:spPr>
          <a:xfrm>
            <a:off x="5146243" y="4775911"/>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初心者向けPAチップスを</a:t>
            </a:r>
            <a:r>
              <a:rPr lang="en-US" b="1" dirty="0">
                <a:solidFill>
                  <a:srgbClr val="0078D4"/>
                </a:solidFill>
                <a:latin typeface="BIZ UDGothic" pitchFamily="34" charset="0"/>
                <a:ea typeface="BIZ UDGothic" pitchFamily="34" charset="-122"/>
                <a:cs typeface="BIZ UDGothic" pitchFamily="34" charset="-120"/>
              </a:rPr>
              <a:t>2日に1回</a:t>
            </a:r>
            <a:r>
              <a:rPr lang="en-US" sz="1600" dirty="0">
                <a:solidFill>
                  <a:srgbClr val="4B5563"/>
                </a:solidFill>
                <a:latin typeface="BIZ UDGothic" pitchFamily="34" charset="0"/>
                <a:ea typeface="BIZ UDGothic" pitchFamily="34" charset="-122"/>
                <a:cs typeface="BIZ UDGothic" pitchFamily="34" charset="-120"/>
              </a:rPr>
              <a:t>継続発信中！</a:t>
            </a:r>
            <a:endParaRPr lang="en-US" sz="1600" dirty="0"/>
          </a:p>
        </p:txBody>
      </p:sp>
      <p:sp>
        <p:nvSpPr>
          <p:cNvPr id="44" name="Shape 28"/>
          <p:cNvSpPr/>
          <p:nvPr/>
        </p:nvSpPr>
        <p:spPr>
          <a:xfrm>
            <a:off x="4898441" y="53382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5" name="Shape 29"/>
          <p:cNvSpPr/>
          <p:nvPr/>
        </p:nvSpPr>
        <p:spPr>
          <a:xfrm>
            <a:off x="4898441" y="5338267"/>
            <a:ext cx="57607" cy="875995"/>
          </a:xfrm>
          <a:prstGeom prst="roundRect">
            <a:avLst>
              <a:gd name="adj" fmla="val 414080"/>
            </a:avLst>
          </a:prstGeom>
          <a:solidFill>
            <a:srgbClr val="FF9900"/>
          </a:solidFill>
          <a:ln w="12700">
            <a:solidFill>
              <a:srgbClr val="FF9900">
                <a:alpha val="0"/>
              </a:srgbClr>
            </a:solidFill>
            <a:prstDash val="solid"/>
          </a:ln>
        </p:spPr>
        <p:txBody>
          <a:bodyPr/>
          <a:lstStyle/>
          <a:p>
            <a:endParaRPr lang="ja-JP" altLang="en-US"/>
          </a:p>
        </p:txBody>
      </p:sp>
      <p:sp>
        <p:nvSpPr>
          <p:cNvPr id="46" name="Text 30"/>
          <p:cNvSpPr txBox="1"/>
          <p:nvPr/>
        </p:nvSpPr>
        <p:spPr>
          <a:xfrm>
            <a:off x="5450738" y="5480914"/>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45 (PA45)</a:t>
            </a:r>
            <a:endParaRPr lang="en-US" sz="1600" dirty="0"/>
          </a:p>
        </p:txBody>
      </p:sp>
      <p:pic>
        <p:nvPicPr>
          <p:cNvPr id="47" name="Image 14" descr="preencoded.png"/>
          <p:cNvPicPr>
            <a:picLocks noChangeAspect="1"/>
          </p:cNvPicPr>
          <p:nvPr/>
        </p:nvPicPr>
        <p:blipFill>
          <a:blip r:embed="rId15"/>
          <a:srcRect l="-16489" r="-16489"/>
          <a:stretch/>
        </p:blipFill>
        <p:spPr>
          <a:xfrm>
            <a:off x="5146243" y="5528462"/>
            <a:ext cx="228600" cy="171907"/>
          </a:xfrm>
          <a:prstGeom prst="rect">
            <a:avLst/>
          </a:prstGeom>
        </p:spPr>
      </p:pic>
      <p:sp>
        <p:nvSpPr>
          <p:cNvPr id="48" name="Text 31"/>
          <p:cNvSpPr txBox="1"/>
          <p:nvPr/>
        </p:nvSpPr>
        <p:spPr>
          <a:xfrm>
            <a:off x="5146243" y="5785409"/>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45分の</a:t>
            </a:r>
            <a:r>
              <a:rPr lang="en-US" b="1" dirty="0">
                <a:solidFill>
                  <a:srgbClr val="0078D4"/>
                </a:solidFill>
                <a:latin typeface="BIZ UDGothic" pitchFamily="34" charset="0"/>
                <a:ea typeface="BIZ UDGothic" pitchFamily="34" charset="-122"/>
                <a:cs typeface="BIZ UDGothic" pitchFamily="34" charset="-120"/>
              </a:rPr>
              <a:t>“1粒ハンズオン”</a:t>
            </a:r>
            <a:r>
              <a:rPr lang="en-US" sz="1600" dirty="0">
                <a:solidFill>
                  <a:srgbClr val="4B5563"/>
                </a:solidFill>
                <a:latin typeface="BIZ UDGothic" pitchFamily="34" charset="0"/>
                <a:ea typeface="BIZ UDGothic" pitchFamily="34" charset="-122"/>
                <a:cs typeface="BIZ UDGothic" pitchFamily="34" charset="-120"/>
              </a:rPr>
              <a:t>を毎週開催・運営</a:t>
            </a:r>
            <a:endParaRPr lang="en-US" sz="1600" dirty="0"/>
          </a:p>
        </p:txBody>
      </p:sp>
      <p:pic>
        <p:nvPicPr>
          <p:cNvPr id="50" name="Image 15" descr="preencoded.png"/>
          <p:cNvPicPr>
            <a:picLocks noChangeAspect="1"/>
          </p:cNvPicPr>
          <p:nvPr/>
        </p:nvPicPr>
        <p:blipFill>
          <a:blip r:embed="rId16"/>
          <a:srcRect l="-266" r="-266"/>
          <a:stretch/>
        </p:blipFill>
        <p:spPr>
          <a:xfrm>
            <a:off x="4898441" y="1880006"/>
            <a:ext cx="323698" cy="286207"/>
          </a:xfrm>
          <a:prstGeom prst="rect">
            <a:avLst/>
          </a:prstGeom>
        </p:spPr>
      </p:pic>
      <p:pic>
        <p:nvPicPr>
          <p:cNvPr id="55" name="図 54" descr="The image depicts a person with dark hair and glasses, sitting in front of a computer, typing on a laptop.&#10;&#10;AI 生成コンテンツは誤りを含む可能性があります。">
            <a:extLst>
              <a:ext uri="{FF2B5EF4-FFF2-40B4-BE49-F238E27FC236}">
                <a16:creationId xmlns:a16="http://schemas.microsoft.com/office/drawing/2014/main" id="{47F0CBEE-0475-F1DC-9373-7429D3A7B53E}"/>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586" b="98438" l="4590" r="98438">
                        <a14:foregroundMark x1="63379" y1="18848" x2="53516" y2="16699"/>
                        <a14:foregroundMark x1="53516" y1="16699" x2="37793" y2="18262"/>
                        <a14:foregroundMark x1="37793" y1="18262" x2="29590" y2="31348"/>
                        <a14:foregroundMark x1="29590" y1="31348" x2="26563" y2="66797"/>
                        <a14:foregroundMark x1="26563" y1="66797" x2="29004" y2="75684"/>
                        <a14:foregroundMark x1="21387" y1="77246" x2="16895" y2="64160"/>
                        <a14:foregroundMark x1="16895" y1="64160" x2="19434" y2="36621"/>
                        <a14:foregroundMark x1="19434" y1="36621" x2="30957" y2="15234"/>
                        <a14:foregroundMark x1="30957" y1="15234" x2="44434" y2="6055"/>
                        <a14:foregroundMark x1="44434" y1="6055" x2="60449" y2="5566"/>
                        <a14:foregroundMark x1="60449" y1="5566" x2="67090" y2="7715"/>
                        <a14:foregroundMark x1="60547" y1="29004" x2="60547" y2="29004"/>
                        <a14:foregroundMark x1="59082" y1="29004" x2="59082" y2="29004"/>
                        <a14:foregroundMark x1="62891" y1="28320" x2="62891" y2="28320"/>
                        <a14:foregroundMark x1="62891" y1="28320" x2="58691" y2="27832"/>
                        <a14:foregroundMark x1="22754" y1="34570" x2="21094" y2="48730"/>
                        <a14:foregroundMark x1="21094" y1="48730" x2="12109" y2="65820"/>
                        <a14:foregroundMark x1="12109" y1="65820" x2="9570" y2="40527"/>
                        <a14:foregroundMark x1="9570" y1="40527" x2="26563" y2="20605"/>
                        <a14:foregroundMark x1="26563" y1="20605" x2="37793" y2="81934"/>
                        <a14:foregroundMark x1="37793" y1="81934" x2="49023" y2="91113"/>
                        <a14:foregroundMark x1="49023" y1="91113" x2="70605" y2="93750"/>
                        <a14:foregroundMark x1="70605" y1="93750" x2="84277" y2="80078"/>
                        <a14:foregroundMark x1="84277" y1="80078" x2="91211" y2="39063"/>
                        <a14:foregroundMark x1="95215" y1="39453" x2="97266" y2="48926"/>
                        <a14:foregroundMark x1="97266" y1="48926" x2="94824" y2="61914"/>
                        <a14:foregroundMark x1="94824" y1="61914" x2="89648" y2="70313"/>
                        <a14:foregroundMark x1="98535" y1="54883" x2="98535" y2="54883"/>
                        <a14:foregroundMark x1="40820" y1="5273" x2="40820" y2="5273"/>
                        <a14:foregroundMark x1="47949" y1="1660" x2="47949" y2="1660"/>
                        <a14:foregroundMark x1="19238" y1="17188" x2="13867" y2="27148"/>
                        <a14:foregroundMark x1="13867" y1="27148" x2="8984" y2="50098"/>
                        <a14:foregroundMark x1="8984" y1="50098" x2="11230" y2="66602"/>
                        <a14:foregroundMark x1="8594" y1="68164" x2="8594" y2="68164"/>
                        <a14:foregroundMark x1="8594" y1="68164" x2="8594" y2="68164"/>
                        <a14:foregroundMark x1="32520" y1="34375" x2="36914" y2="48145"/>
                        <a14:foregroundMark x1="36914" y1="48145" x2="41113" y2="54590"/>
                        <a14:foregroundMark x1="41113" y1="54590" x2="40234" y2="46973"/>
                        <a14:foregroundMark x1="40234" y1="46973" x2="44531" y2="62695"/>
                        <a14:foregroundMark x1="44531" y1="62695" x2="44531" y2="63379"/>
                        <a14:foregroundMark x1="62207" y1="26465" x2="62207" y2="26465"/>
                        <a14:foregroundMark x1="64160" y1="26270" x2="64160" y2="26270"/>
                        <a14:foregroundMark x1="62109" y1="25195" x2="62109" y2="25195"/>
                        <a14:foregroundMark x1="47656" y1="586" x2="47656" y2="586"/>
                        <a14:foregroundMark x1="14746" y1="20117" x2="3027" y2="66309"/>
                        <a14:foregroundMark x1="3027" y1="66309" x2="13770" y2="79199"/>
                        <a14:foregroundMark x1="13770" y1="79199" x2="36719" y2="98535"/>
                        <a14:foregroundMark x1="40430" y1="90820" x2="40430" y2="90820"/>
                        <a14:foregroundMark x1="4590" y1="44922" x2="4590" y2="44922"/>
                        <a14:foregroundMark x1="92480" y1="58301" x2="92480" y2="58301"/>
                        <a14:foregroundMark x1="92480" y1="58301" x2="90918" y2="63770"/>
                        <a14:foregroundMark x1="91309" y1="57129" x2="91309" y2="57129"/>
                        <a14:foregroundMark x1="94727" y1="54785" x2="93945" y2="53320"/>
                        <a14:foregroundMark x1="83203" y1="84277" x2="87012" y2="80371"/>
                        <a14:foregroundMark x1="87012" y1="82031" x2="87012" y2="82031"/>
                        <a14:foregroundMark x1="84180" y1="85156" x2="84180" y2="85156"/>
                        <a14:foregroundMark x1="85840" y1="83301" x2="85840" y2="83301"/>
                        <a14:foregroundMark x1="85254" y1="86133" x2="85254" y2="86133"/>
                        <a14:foregroundMark x1="86426" y1="84570" x2="86426" y2="84570"/>
                        <a14:foregroundMark x1="86133" y1="83789" x2="86133" y2="83789"/>
                      </a14:backgroundRemoval>
                    </a14:imgEffect>
                  </a14:imgLayer>
                </a14:imgProps>
              </a:ext>
            </a:extLst>
          </a:blip>
          <a:stretch>
            <a:fillRect/>
          </a:stretch>
        </p:blipFill>
        <p:spPr>
          <a:xfrm>
            <a:off x="1262523" y="1470548"/>
            <a:ext cx="2208540" cy="2208540"/>
          </a:xfrm>
          <a:prstGeom prst="rect">
            <a:avLst/>
          </a:prstGeom>
        </p:spPr>
      </p:pic>
      <p:pic>
        <p:nvPicPr>
          <p:cNvPr id="20" name="図 19" descr="The image shows a white T-shirt with a message written in Japanese, featuring phrases related to power and Mazda.&#10;&#10;AI 生成コンテンツは誤りを含む可能性があります。">
            <a:extLst>
              <a:ext uri="{FF2B5EF4-FFF2-40B4-BE49-F238E27FC236}">
                <a16:creationId xmlns:a16="http://schemas.microsoft.com/office/drawing/2014/main" id="{14EDE6C9-B477-E656-A197-BD7B592C5062}"/>
              </a:ext>
            </a:extLst>
          </p:cNvPr>
          <p:cNvPicPr>
            <a:picLocks noChangeAspect="1"/>
          </p:cNvPicPr>
          <p:nvPr/>
        </p:nvPicPr>
        <p:blipFill>
          <a:blip r:embed="rId19"/>
          <a:stretch>
            <a:fillRect/>
          </a:stretch>
        </p:blipFill>
        <p:spPr>
          <a:xfrm>
            <a:off x="9062585" y="-48610"/>
            <a:ext cx="3188404" cy="23913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0" y="0"/>
            <a:ext cx="12191695" cy="6858000"/>
          </a:xfrm>
          <a:prstGeom prst="rect">
            <a:avLst/>
          </a:prstGeom>
        </p:spPr>
      </p:pic>
      <p:sp>
        <p:nvSpPr>
          <p:cNvPr id="4" name="Shape 1"/>
          <p:cNvSpPr/>
          <p:nvPr/>
        </p:nvSpPr>
        <p:spPr>
          <a:xfrm>
            <a:off x="316513" y="1239113"/>
            <a:ext cx="11582705" cy="19202"/>
          </a:xfrm>
          <a:prstGeom prst="rect">
            <a:avLst/>
          </a:prstGeom>
          <a:solidFill>
            <a:srgbClr val="9333EA"/>
          </a:solidFill>
          <a:ln w="12700">
            <a:solidFill>
              <a:srgbClr val="9333EA">
                <a:alpha val="0"/>
              </a:srgbClr>
            </a:solidFill>
            <a:prstDash val="solid"/>
          </a:ln>
        </p:spPr>
        <p:txBody>
          <a:bodyPr/>
          <a:lstStyle/>
          <a:p>
            <a:endParaRPr lang="ja-JP" altLang="en-US"/>
          </a:p>
        </p:txBody>
      </p:sp>
      <p:sp>
        <p:nvSpPr>
          <p:cNvPr id="5" name="Text 2"/>
          <p:cNvSpPr txBox="1"/>
          <p:nvPr/>
        </p:nvSpPr>
        <p:spPr>
          <a:xfrm>
            <a:off x="304495" y="304495"/>
            <a:ext cx="8153705" cy="400507"/>
          </a:xfrm>
          <a:prstGeom prst="rect">
            <a:avLst/>
          </a:prstGeom>
          <a:noFill/>
          <a:ln/>
        </p:spPr>
        <p:txBody>
          <a:bodyPr wrap="square" lIns="0" tIns="0" rIns="0" bIns="0" rtlCol="0" anchor="ctr"/>
          <a:lstStyle/>
          <a:p>
            <a:pPr marL="0" indent="0" algn="l">
              <a:buNone/>
            </a:pPr>
            <a:r>
              <a:rPr lang="en-US" sz="2800" b="1" kern="0" spc="-67">
                <a:solidFill>
                  <a:srgbClr val="6B7280"/>
                </a:solidFill>
                <a:latin typeface="Noto Sans JP" pitchFamily="34" charset="0"/>
                <a:ea typeface="Noto Sans JP" pitchFamily="34" charset="-122"/>
                <a:cs typeface="Noto Sans JP" pitchFamily="34" charset="-120"/>
              </a:rPr>
              <a:t>Power </a:t>
            </a:r>
            <a:r>
              <a:rPr lang="en-US" sz="2800" b="1" kern="0" spc="-67" dirty="0">
                <a:solidFill>
                  <a:srgbClr val="6B7280"/>
                </a:solidFill>
                <a:latin typeface="Noto Sans JP" pitchFamily="34" charset="0"/>
                <a:ea typeface="Noto Sans JP" pitchFamily="34" charset="-122"/>
                <a:cs typeface="Noto Sans JP" pitchFamily="34" charset="-120"/>
              </a:rPr>
              <a:t>Platform が居場所をつくってくれた</a:t>
            </a:r>
            <a:endParaRPr lang="en-US" sz="3600" dirty="0"/>
          </a:p>
        </p:txBody>
      </p:sp>
      <p:sp>
        <p:nvSpPr>
          <p:cNvPr id="6" name="Text 3"/>
          <p:cNvSpPr txBox="1"/>
          <p:nvPr/>
        </p:nvSpPr>
        <p:spPr>
          <a:xfrm>
            <a:off x="304494" y="752333"/>
            <a:ext cx="9154059" cy="353277"/>
          </a:xfrm>
          <a:prstGeom prst="rect">
            <a:avLst/>
          </a:prstGeom>
          <a:noFill/>
          <a:ln/>
        </p:spPr>
        <p:txBody>
          <a:bodyPr wrap="square" lIns="0" tIns="0" rIns="0" bIns="0" rtlCol="0" anchor="ctr"/>
          <a:lstStyle/>
          <a:p>
            <a:pPr marL="0" indent="0" algn="l">
              <a:buNone/>
            </a:pPr>
            <a:r>
              <a:rPr lang="en-US" sz="2000" b="1" dirty="0">
                <a:solidFill>
                  <a:srgbClr val="7E22CE"/>
                </a:solidFill>
                <a:latin typeface="Noto Sans JP" pitchFamily="34" charset="0"/>
                <a:ea typeface="Noto Sans JP" pitchFamily="34" charset="-122"/>
                <a:cs typeface="Noto Sans JP" pitchFamily="34" charset="-120"/>
              </a:rPr>
              <a:t>非IT系製造業から、社内外をつなぐ</a:t>
            </a:r>
            <a:r>
              <a:rPr lang="en-US" sz="2000" b="1">
                <a:solidFill>
                  <a:srgbClr val="7E22CE"/>
                </a:solidFill>
                <a:latin typeface="Noto Sans JP" pitchFamily="34" charset="0"/>
                <a:ea typeface="Noto Sans JP" pitchFamily="34" charset="-122"/>
                <a:cs typeface="Noto Sans JP" pitchFamily="34" charset="-120"/>
              </a:rPr>
              <a:t>DX推進</a:t>
            </a:r>
            <a:r>
              <a:rPr lang="ja-JP" altLang="en-US" sz="2000" b="1">
                <a:solidFill>
                  <a:srgbClr val="7E22CE"/>
                </a:solidFill>
                <a:latin typeface="Noto Sans JP" pitchFamily="34" charset="0"/>
                <a:ea typeface="Noto Sans JP" pitchFamily="34" charset="-122"/>
                <a:cs typeface="Noto Sans JP" pitchFamily="34" charset="-120"/>
              </a:rPr>
              <a:t>へ</a:t>
            </a:r>
            <a:endParaRPr lang="en-US" sz="2000" dirty="0"/>
          </a:p>
        </p:txBody>
      </p:sp>
      <p:sp>
        <p:nvSpPr>
          <p:cNvPr id="7" name="Shape 4"/>
          <p:cNvSpPr/>
          <p:nvPr/>
        </p:nvSpPr>
        <p:spPr>
          <a:xfrm>
            <a:off x="10455250" y="743407"/>
            <a:ext cx="1649664" cy="227007"/>
          </a:xfrm>
          <a:prstGeom prst="roundRect">
            <a:avLst>
              <a:gd name="adj" fmla="val 342465"/>
            </a:avLst>
          </a:prstGeom>
          <a:solidFill>
            <a:srgbClr val="F3E8FF"/>
          </a:solidFill>
          <a:ln w="12700">
            <a:solidFill>
              <a:srgbClr val="FFFFFF">
                <a:alpha val="0"/>
              </a:srgbClr>
            </a:solidFill>
            <a:prstDash val="solid"/>
          </a:ln>
        </p:spPr>
        <p:txBody>
          <a:bodyPr/>
          <a:lstStyle/>
          <a:p>
            <a:endParaRPr lang="ja-JP" altLang="en-US"/>
          </a:p>
        </p:txBody>
      </p:sp>
      <p:sp>
        <p:nvSpPr>
          <p:cNvPr id="8" name="Text 5"/>
          <p:cNvSpPr/>
          <p:nvPr/>
        </p:nvSpPr>
        <p:spPr>
          <a:xfrm>
            <a:off x="10759745" y="743407"/>
            <a:ext cx="1287112" cy="268021"/>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000" b="1" dirty="0">
                <a:solidFill>
                  <a:srgbClr val="6B21A8"/>
                </a:solidFill>
                <a:latin typeface="Noto Sans JP" pitchFamily="34" charset="0"/>
                <a:ea typeface="Noto Sans JP" pitchFamily="34" charset="-122"/>
                <a:cs typeface="Noto Sans JP" pitchFamily="34" charset="-120"/>
              </a:rPr>
              <a:t> 2026.03.13 現在 </a:t>
            </a:r>
            <a:endParaRPr lang="en-US" sz="1000" dirty="0"/>
          </a:p>
        </p:txBody>
      </p:sp>
      <p:pic>
        <p:nvPicPr>
          <p:cNvPr id="9" name="Image 1" descr="preencoded.png"/>
          <p:cNvPicPr>
            <a:picLocks noChangeAspect="1"/>
          </p:cNvPicPr>
          <p:nvPr/>
        </p:nvPicPr>
        <p:blipFill>
          <a:blip r:embed="rId4"/>
          <a:srcRect t="-1100" b="-1100"/>
          <a:stretch/>
        </p:blipFill>
        <p:spPr>
          <a:xfrm>
            <a:off x="10569550" y="809244"/>
            <a:ext cx="114300" cy="133502"/>
          </a:xfrm>
          <a:prstGeom prst="rect">
            <a:avLst/>
          </a:prstGeom>
        </p:spPr>
      </p:pic>
      <p:pic>
        <p:nvPicPr>
          <p:cNvPr id="10" name="Image 2" descr="preencoded.png"/>
          <p:cNvPicPr>
            <a:picLocks noChangeAspect="1"/>
          </p:cNvPicPr>
          <p:nvPr/>
        </p:nvPicPr>
        <p:blipFill>
          <a:blip r:embed="rId5"/>
          <a:srcRect t="-3" b="-3"/>
          <a:stretch/>
        </p:blipFill>
        <p:spPr>
          <a:xfrm>
            <a:off x="304495" y="1295705"/>
            <a:ext cx="11582705" cy="3353105"/>
          </a:xfrm>
          <a:prstGeom prst="rect">
            <a:avLst/>
          </a:prstGeom>
        </p:spPr>
      </p:pic>
      <p:pic>
        <p:nvPicPr>
          <p:cNvPr id="11" name="Image 3" descr="preencoded.png"/>
          <p:cNvPicPr>
            <a:picLocks noChangeAspect="1"/>
          </p:cNvPicPr>
          <p:nvPr/>
        </p:nvPicPr>
        <p:blipFill>
          <a:blip r:embed="rId6"/>
          <a:srcRect l="-5" r="-5"/>
          <a:stretch/>
        </p:blipFill>
        <p:spPr>
          <a:xfrm>
            <a:off x="304495" y="4876495"/>
            <a:ext cx="3733495" cy="1676095"/>
          </a:xfrm>
          <a:prstGeom prst="rect">
            <a:avLst/>
          </a:prstGeom>
        </p:spPr>
      </p:pic>
      <p:pic>
        <p:nvPicPr>
          <p:cNvPr id="12" name="Image 4" descr="preencoded.png"/>
          <p:cNvPicPr>
            <a:picLocks noChangeAspect="1"/>
          </p:cNvPicPr>
          <p:nvPr/>
        </p:nvPicPr>
        <p:blipFill>
          <a:blip r:embed="rId7"/>
          <a:srcRect l="-386" r="-386"/>
          <a:stretch/>
        </p:blipFill>
        <p:spPr>
          <a:xfrm>
            <a:off x="314554" y="4886554"/>
            <a:ext cx="38405" cy="1657807"/>
          </a:xfrm>
          <a:prstGeom prst="rect">
            <a:avLst/>
          </a:prstGeom>
        </p:spPr>
      </p:pic>
      <p:sp>
        <p:nvSpPr>
          <p:cNvPr id="13" name="Text 6"/>
          <p:cNvSpPr txBox="1"/>
          <p:nvPr/>
        </p:nvSpPr>
        <p:spPr>
          <a:xfrm>
            <a:off x="847649" y="5038344"/>
            <a:ext cx="3219602" cy="305410"/>
          </a:xfrm>
          <a:prstGeom prst="rect">
            <a:avLst/>
          </a:prstGeom>
          <a:noFill/>
          <a:ln/>
        </p:spPr>
        <p:txBody>
          <a:bodyPr wrap="square" lIns="0" tIns="0" rIns="0" bIns="0" rtlCol="0" anchor="ctr"/>
          <a:lstStyle/>
          <a:p>
            <a:pPr marL="0" indent="0" algn="l">
              <a:buNone/>
            </a:pPr>
            <a:r>
              <a:rPr lang="en-US" sz="2400" b="1" dirty="0">
                <a:solidFill>
                  <a:srgbClr val="1E40AF"/>
                </a:solidFill>
                <a:latin typeface="Noto Sans JP" pitchFamily="34" charset="0"/>
                <a:ea typeface="Noto Sans JP" pitchFamily="34" charset="-122"/>
                <a:cs typeface="Noto Sans JP" pitchFamily="34" charset="-120"/>
              </a:rPr>
              <a:t> 社内DX・教育 </a:t>
            </a:r>
            <a:endParaRPr lang="en-US" sz="2400" dirty="0"/>
          </a:p>
        </p:txBody>
      </p:sp>
      <p:pic>
        <p:nvPicPr>
          <p:cNvPr id="14" name="Image 5" descr="preencoded.png"/>
          <p:cNvPicPr>
            <a:picLocks noChangeAspect="1"/>
          </p:cNvPicPr>
          <p:nvPr/>
        </p:nvPicPr>
        <p:blipFill>
          <a:blip r:embed="rId8"/>
          <a:srcRect l="-2512" r="-2512"/>
          <a:stretch/>
        </p:blipFill>
        <p:spPr>
          <a:xfrm>
            <a:off x="508863" y="5032814"/>
            <a:ext cx="262889" cy="333754"/>
          </a:xfrm>
          <a:prstGeom prst="rect">
            <a:avLst/>
          </a:prstGeom>
        </p:spPr>
      </p:pic>
      <p:sp>
        <p:nvSpPr>
          <p:cNvPr id="15" name="Text 7"/>
          <p:cNvSpPr txBox="1"/>
          <p:nvPr/>
        </p:nvSpPr>
        <p:spPr>
          <a:xfrm>
            <a:off x="656539" y="5447995"/>
            <a:ext cx="3296412" cy="191110"/>
          </a:xfrm>
          <a:prstGeom prst="rect">
            <a:avLst/>
          </a:prstGeom>
          <a:noFill/>
          <a:ln/>
        </p:spPr>
        <p:txBody>
          <a:bodyPr wrap="square" lIns="0" tIns="0" rIns="0" bIns="0" rtlCol="0" anchor="ctr"/>
          <a:lstStyle/>
          <a:p>
            <a:pPr marL="0" indent="0" algn="l">
              <a:buNone/>
            </a:pPr>
            <a:r>
              <a:rPr lang="en-US" sz="1400" b="1" dirty="0">
                <a:solidFill>
                  <a:srgbClr val="111827"/>
                </a:solidFill>
                <a:latin typeface="Noto Sans JP" pitchFamily="34" charset="0"/>
                <a:ea typeface="Noto Sans JP" pitchFamily="34" charset="-122"/>
                <a:cs typeface="Noto Sans JP" pitchFamily="34" charset="-120"/>
              </a:rPr>
              <a:t>Power Automate</a:t>
            </a:r>
            <a:r>
              <a:rPr lang="en-US" sz="1400" b="1">
                <a:solidFill>
                  <a:srgbClr val="111827"/>
                </a:solidFill>
                <a:latin typeface="Noto Sans JP" pitchFamily="34" charset="0"/>
                <a:ea typeface="Noto Sans JP" pitchFamily="34" charset="-122"/>
                <a:cs typeface="Noto Sans JP" pitchFamily="34" charset="-120"/>
              </a:rPr>
              <a:t>講座:</a:t>
            </a:r>
            <a:endParaRPr lang="en-US" sz="1400" dirty="0"/>
          </a:p>
        </p:txBody>
      </p:sp>
      <p:pic>
        <p:nvPicPr>
          <p:cNvPr id="16" name="Image 6" descr="preencoded.png"/>
          <p:cNvPicPr>
            <a:picLocks noChangeAspect="1"/>
          </p:cNvPicPr>
          <p:nvPr/>
        </p:nvPicPr>
        <p:blipFill>
          <a:blip r:embed="rId9"/>
          <a:srcRect t="-16800" b="-16800"/>
          <a:stretch/>
        </p:blipFill>
        <p:spPr>
          <a:xfrm>
            <a:off x="257233" y="5264170"/>
            <a:ext cx="340498" cy="454906"/>
          </a:xfrm>
          <a:prstGeom prst="rect">
            <a:avLst/>
          </a:prstGeom>
        </p:spPr>
      </p:pic>
      <p:sp>
        <p:nvSpPr>
          <p:cNvPr id="17" name="Text 8"/>
          <p:cNvSpPr txBox="1"/>
          <p:nvPr/>
        </p:nvSpPr>
        <p:spPr>
          <a:xfrm>
            <a:off x="618134" y="5844983"/>
            <a:ext cx="3372307" cy="191110"/>
          </a:xfrm>
          <a:prstGeom prst="rect">
            <a:avLst/>
          </a:prstGeom>
          <a:noFill/>
          <a:ln/>
        </p:spPr>
        <p:txBody>
          <a:bodyPr wrap="square" lIns="0" tIns="0" rIns="0" bIns="0" rtlCol="0" anchor="ctr"/>
          <a:lstStyle/>
          <a:p>
            <a:pPr marL="0" indent="0" algn="l">
              <a:buNone/>
            </a:pPr>
            <a:r>
              <a:rPr lang="en-US" sz="1400" b="1" dirty="0">
                <a:solidFill>
                  <a:srgbClr val="111827"/>
                </a:solidFill>
                <a:latin typeface="Noto Sans JP" pitchFamily="34" charset="0"/>
                <a:ea typeface="Noto Sans JP" pitchFamily="34" charset="-122"/>
                <a:cs typeface="Noto Sans JP" pitchFamily="34" charset="-120"/>
              </a:rPr>
              <a:t>相談窓口</a:t>
            </a:r>
            <a:r>
              <a:rPr lang="en-US" sz="1400" b="1">
                <a:solidFill>
                  <a:srgbClr val="111827"/>
                </a:solidFill>
                <a:latin typeface="Noto Sans JP" pitchFamily="34" charset="0"/>
                <a:ea typeface="Noto Sans JP" pitchFamily="34" charset="-122"/>
                <a:cs typeface="Noto Sans JP" pitchFamily="34" charset="-120"/>
              </a:rPr>
              <a:t>:</a:t>
            </a:r>
            <a:r>
              <a:rPr lang="en-US" sz="1400">
                <a:solidFill>
                  <a:srgbClr val="374151"/>
                </a:solidFill>
                <a:latin typeface="Noto Sans JP" pitchFamily="34" charset="0"/>
                <a:ea typeface="Noto Sans JP" pitchFamily="34" charset="-122"/>
                <a:cs typeface="Noto Sans JP" pitchFamily="34" charset="-120"/>
              </a:rPr>
              <a:t> 部門を超えた</a:t>
            </a:r>
            <a:r>
              <a:rPr lang="ja-JP" altLang="en-US" sz="1400">
                <a:solidFill>
                  <a:srgbClr val="374151"/>
                </a:solidFill>
                <a:latin typeface="Noto Sans JP" pitchFamily="34" charset="0"/>
                <a:ea typeface="Noto Sans JP" pitchFamily="34" charset="-122"/>
                <a:cs typeface="Noto Sans JP" pitchFamily="34" charset="-120"/>
              </a:rPr>
              <a:t>活動</a:t>
            </a:r>
            <a:endParaRPr lang="en-US" sz="1400" dirty="0"/>
          </a:p>
        </p:txBody>
      </p:sp>
      <p:sp>
        <p:nvSpPr>
          <p:cNvPr id="19" name="Text 9"/>
          <p:cNvSpPr txBox="1"/>
          <p:nvPr/>
        </p:nvSpPr>
        <p:spPr>
          <a:xfrm>
            <a:off x="618134" y="6206331"/>
            <a:ext cx="3372307" cy="191110"/>
          </a:xfrm>
          <a:prstGeom prst="rect">
            <a:avLst/>
          </a:prstGeom>
          <a:noFill/>
          <a:ln/>
        </p:spPr>
        <p:txBody>
          <a:bodyPr wrap="square" lIns="0" tIns="0" rIns="0" bIns="0" rtlCol="0" anchor="ctr"/>
          <a:lstStyle/>
          <a:p>
            <a:pPr marL="0" indent="0" algn="l">
              <a:buNone/>
            </a:pPr>
            <a:r>
              <a:rPr lang="en-US" sz="1400" b="1" dirty="0">
                <a:solidFill>
                  <a:srgbClr val="111827"/>
                </a:solidFill>
                <a:latin typeface="Noto Sans JP" pitchFamily="34" charset="0"/>
                <a:ea typeface="Noto Sans JP" pitchFamily="34" charset="-122"/>
                <a:cs typeface="Noto Sans JP" pitchFamily="34" charset="-120"/>
              </a:rPr>
              <a:t>成果の見える化:</a:t>
            </a:r>
            <a:r>
              <a:rPr lang="en-US" sz="1400" dirty="0">
                <a:solidFill>
                  <a:srgbClr val="374151"/>
                </a:solidFill>
                <a:latin typeface="Noto Sans JP" pitchFamily="34" charset="0"/>
                <a:ea typeface="Noto Sans JP" pitchFamily="34" charset="-122"/>
                <a:cs typeface="Noto Sans JP" pitchFamily="34" charset="-120"/>
              </a:rPr>
              <a:t> Power BIで効果測定</a:t>
            </a:r>
            <a:endParaRPr lang="en-US" sz="1400" dirty="0"/>
          </a:p>
        </p:txBody>
      </p:sp>
      <p:pic>
        <p:nvPicPr>
          <p:cNvPr id="21" name="Image 9" descr="preencoded.png"/>
          <p:cNvPicPr>
            <a:picLocks noChangeAspect="1"/>
          </p:cNvPicPr>
          <p:nvPr/>
        </p:nvPicPr>
        <p:blipFill>
          <a:blip r:embed="rId6"/>
          <a:srcRect l="-5" r="-5"/>
          <a:stretch/>
        </p:blipFill>
        <p:spPr>
          <a:xfrm>
            <a:off x="4229100" y="4876495"/>
            <a:ext cx="3733495" cy="1676095"/>
          </a:xfrm>
          <a:prstGeom prst="rect">
            <a:avLst/>
          </a:prstGeom>
        </p:spPr>
      </p:pic>
      <p:pic>
        <p:nvPicPr>
          <p:cNvPr id="22" name="Image 10" descr="preencoded.png"/>
          <p:cNvPicPr>
            <a:picLocks noChangeAspect="1"/>
          </p:cNvPicPr>
          <p:nvPr/>
        </p:nvPicPr>
        <p:blipFill>
          <a:blip r:embed="rId10"/>
          <a:srcRect l="-386" r="-386"/>
          <a:stretch/>
        </p:blipFill>
        <p:spPr>
          <a:xfrm>
            <a:off x="4238244" y="4886554"/>
            <a:ext cx="38405" cy="1657807"/>
          </a:xfrm>
          <a:prstGeom prst="rect">
            <a:avLst/>
          </a:prstGeom>
        </p:spPr>
      </p:pic>
      <p:sp>
        <p:nvSpPr>
          <p:cNvPr id="23" name="Text 10"/>
          <p:cNvSpPr txBox="1"/>
          <p:nvPr/>
        </p:nvSpPr>
        <p:spPr>
          <a:xfrm>
            <a:off x="4772254" y="5038344"/>
            <a:ext cx="3219602" cy="305410"/>
          </a:xfrm>
          <a:prstGeom prst="rect">
            <a:avLst/>
          </a:prstGeom>
          <a:noFill/>
          <a:ln/>
        </p:spPr>
        <p:txBody>
          <a:bodyPr wrap="square" lIns="0" tIns="0" rIns="0" bIns="0" rtlCol="0" anchor="ctr"/>
          <a:lstStyle/>
          <a:p>
            <a:pPr marL="0" indent="0" algn="l">
              <a:buNone/>
            </a:pPr>
            <a:r>
              <a:rPr lang="en-US" sz="1300" b="1" dirty="0">
                <a:solidFill>
                  <a:srgbClr val="6B21A8"/>
                </a:solidFill>
                <a:latin typeface="Noto Sans JP" pitchFamily="34" charset="0"/>
                <a:ea typeface="Noto Sans JP" pitchFamily="34" charset="-122"/>
                <a:cs typeface="Noto Sans JP" pitchFamily="34" charset="-120"/>
              </a:rPr>
              <a:t> </a:t>
            </a:r>
            <a:r>
              <a:rPr lang="en-US" b="1" dirty="0">
                <a:solidFill>
                  <a:srgbClr val="6B21A8"/>
                </a:solidFill>
                <a:latin typeface="Noto Sans JP" pitchFamily="34" charset="0"/>
                <a:ea typeface="Noto Sans JP" pitchFamily="34" charset="-122"/>
                <a:cs typeface="Noto Sans JP" pitchFamily="34" charset="-120"/>
              </a:rPr>
              <a:t>コミュニティ運営</a:t>
            </a:r>
            <a:r>
              <a:rPr lang="en-US" sz="1300" b="1" dirty="0">
                <a:solidFill>
                  <a:srgbClr val="6B21A8"/>
                </a:solidFill>
                <a:latin typeface="Noto Sans JP" pitchFamily="34" charset="0"/>
                <a:ea typeface="Noto Sans JP" pitchFamily="34" charset="-122"/>
                <a:cs typeface="Noto Sans JP" pitchFamily="34" charset="-120"/>
              </a:rPr>
              <a:t> </a:t>
            </a:r>
            <a:endParaRPr lang="en-US" sz="1300" dirty="0"/>
          </a:p>
        </p:txBody>
      </p:sp>
      <p:pic>
        <p:nvPicPr>
          <p:cNvPr id="24" name="Image 11" descr="preencoded.png"/>
          <p:cNvPicPr>
            <a:picLocks noChangeAspect="1"/>
          </p:cNvPicPr>
          <p:nvPr/>
        </p:nvPicPr>
        <p:blipFill>
          <a:blip r:embed="rId11"/>
          <a:srcRect l="-1507" r="-1507"/>
          <a:stretch/>
        </p:blipFill>
        <p:spPr>
          <a:xfrm>
            <a:off x="4457700" y="5124298"/>
            <a:ext cx="171907" cy="133502"/>
          </a:xfrm>
          <a:prstGeom prst="rect">
            <a:avLst/>
          </a:prstGeom>
        </p:spPr>
      </p:pic>
      <p:sp>
        <p:nvSpPr>
          <p:cNvPr id="25" name="Text 11"/>
          <p:cNvSpPr txBox="1"/>
          <p:nvPr/>
        </p:nvSpPr>
        <p:spPr>
          <a:xfrm>
            <a:off x="4581144" y="5419649"/>
            <a:ext cx="3372307" cy="191110"/>
          </a:xfrm>
          <a:prstGeom prst="rect">
            <a:avLst/>
          </a:prstGeom>
          <a:noFill/>
          <a:ln/>
        </p:spPr>
        <p:txBody>
          <a:bodyPr wrap="square" lIns="0" tIns="0" rIns="0" bIns="0" rtlCol="0" anchor="ctr"/>
          <a:lstStyle/>
          <a:p>
            <a:pPr marL="0" indent="0" algn="l">
              <a:buNone/>
            </a:pPr>
            <a:r>
              <a:rPr lang="en-US" sz="1600" b="1">
                <a:solidFill>
                  <a:srgbClr val="111827"/>
                </a:solidFill>
                <a:latin typeface="Noto Sans JP" pitchFamily="34" charset="0"/>
                <a:ea typeface="Noto Sans JP" pitchFamily="34" charset="-122"/>
                <a:cs typeface="Noto Sans JP" pitchFamily="34" charset="-120"/>
              </a:rPr>
              <a:t>社内P</a:t>
            </a:r>
            <a:r>
              <a:rPr lang="en-US" altLang="ja-JP" sz="1600" b="1">
                <a:solidFill>
                  <a:srgbClr val="111827"/>
                </a:solidFill>
                <a:latin typeface="Noto Sans JP" pitchFamily="34" charset="0"/>
                <a:ea typeface="Noto Sans JP" pitchFamily="34" charset="-122"/>
                <a:cs typeface="Noto Sans JP" pitchFamily="34" charset="-120"/>
              </a:rPr>
              <a:t>P</a:t>
            </a:r>
            <a:r>
              <a:rPr lang="en-US" sz="1600" b="1">
                <a:solidFill>
                  <a:srgbClr val="111827"/>
                </a:solidFill>
                <a:latin typeface="Noto Sans JP" pitchFamily="34" charset="0"/>
                <a:ea typeface="Noto Sans JP" pitchFamily="34" charset="-122"/>
                <a:cs typeface="Noto Sans JP" pitchFamily="34" charset="-120"/>
              </a:rPr>
              <a:t>コミュニティ:</a:t>
            </a:r>
            <a:endParaRPr lang="en-US" sz="1600" dirty="0"/>
          </a:p>
        </p:txBody>
      </p:sp>
      <p:pic>
        <p:nvPicPr>
          <p:cNvPr id="26" name="Image 12" descr="preencoded.png"/>
          <p:cNvPicPr>
            <a:picLocks noChangeAspect="1"/>
          </p:cNvPicPr>
          <p:nvPr/>
        </p:nvPicPr>
        <p:blipFill>
          <a:blip r:embed="rId12"/>
          <a:srcRect t="-16800" b="-16800"/>
          <a:stretch/>
        </p:blipFill>
        <p:spPr>
          <a:xfrm>
            <a:off x="4273672" y="5299456"/>
            <a:ext cx="304931" cy="407388"/>
          </a:xfrm>
          <a:prstGeom prst="rect">
            <a:avLst/>
          </a:prstGeom>
        </p:spPr>
      </p:pic>
      <p:sp>
        <p:nvSpPr>
          <p:cNvPr id="27" name="Text 12"/>
          <p:cNvSpPr txBox="1"/>
          <p:nvPr/>
        </p:nvSpPr>
        <p:spPr>
          <a:xfrm>
            <a:off x="4588962" y="5814668"/>
            <a:ext cx="3613851" cy="197817"/>
          </a:xfrm>
          <a:prstGeom prst="rect">
            <a:avLst/>
          </a:prstGeom>
          <a:noFill/>
          <a:ln/>
        </p:spPr>
        <p:txBody>
          <a:bodyPr wrap="square" lIns="0" tIns="0" rIns="0" bIns="0" rtlCol="0" anchor="ctr"/>
          <a:lstStyle/>
          <a:p>
            <a:pPr marL="0" indent="0" algn="l">
              <a:buNone/>
            </a:pPr>
            <a:r>
              <a:rPr lang="en-US" sz="1600" b="1" dirty="0">
                <a:solidFill>
                  <a:srgbClr val="111827"/>
                </a:solidFill>
                <a:latin typeface="Noto Sans JP" pitchFamily="34" charset="0"/>
                <a:ea typeface="Noto Sans JP" pitchFamily="34" charset="-122"/>
                <a:cs typeface="Noto Sans JP" pitchFamily="34" charset="-120"/>
              </a:rPr>
              <a:t>PLUG (広島):</a:t>
            </a:r>
            <a:r>
              <a:rPr lang="en-US" sz="1600" dirty="0">
                <a:solidFill>
                  <a:srgbClr val="374151"/>
                </a:solidFill>
                <a:latin typeface="Noto Sans JP" pitchFamily="34" charset="0"/>
                <a:ea typeface="Noto Sans JP" pitchFamily="34" charset="-122"/>
                <a:cs typeface="Noto Sans JP" pitchFamily="34" charset="-120"/>
              </a:rPr>
              <a:t> 地方からPPを盛り上げる</a:t>
            </a:r>
            <a:endParaRPr lang="en-US" sz="1600" dirty="0"/>
          </a:p>
        </p:txBody>
      </p:sp>
      <p:sp>
        <p:nvSpPr>
          <p:cNvPr id="29" name="Text 13"/>
          <p:cNvSpPr txBox="1"/>
          <p:nvPr/>
        </p:nvSpPr>
        <p:spPr>
          <a:xfrm>
            <a:off x="4601589" y="6240779"/>
            <a:ext cx="3372307" cy="191110"/>
          </a:xfrm>
          <a:prstGeom prst="rect">
            <a:avLst/>
          </a:prstGeom>
          <a:noFill/>
          <a:ln/>
        </p:spPr>
        <p:txBody>
          <a:bodyPr wrap="square" lIns="0" tIns="0" rIns="0" bIns="0" rtlCol="0" anchor="ctr"/>
          <a:lstStyle/>
          <a:p>
            <a:pPr marL="0" indent="0" algn="l">
              <a:buNone/>
            </a:pPr>
            <a:r>
              <a:rPr lang="en-US" sz="1600" b="1" dirty="0">
                <a:solidFill>
                  <a:srgbClr val="111827"/>
                </a:solidFill>
                <a:latin typeface="Noto Sans JP" pitchFamily="34" charset="0"/>
                <a:ea typeface="Noto Sans JP" pitchFamily="34" charset="-122"/>
                <a:cs typeface="Noto Sans JP" pitchFamily="34" charset="-120"/>
              </a:rPr>
              <a:t>PA45:</a:t>
            </a:r>
            <a:r>
              <a:rPr lang="en-US" sz="1600" dirty="0">
                <a:solidFill>
                  <a:srgbClr val="374151"/>
                </a:solidFill>
                <a:latin typeface="Noto Sans JP" pitchFamily="34" charset="0"/>
                <a:ea typeface="Noto Sans JP" pitchFamily="34" charset="-122"/>
                <a:cs typeface="Noto Sans JP" pitchFamily="34" charset="-120"/>
              </a:rPr>
              <a:t> 45分完結の初心者向け講座</a:t>
            </a:r>
            <a:endParaRPr lang="en-US" sz="1600" dirty="0"/>
          </a:p>
        </p:txBody>
      </p:sp>
      <p:pic>
        <p:nvPicPr>
          <p:cNvPr id="31" name="Image 15" descr="preencoded.png"/>
          <p:cNvPicPr>
            <a:picLocks noChangeAspect="1"/>
          </p:cNvPicPr>
          <p:nvPr/>
        </p:nvPicPr>
        <p:blipFill>
          <a:blip r:embed="rId13"/>
          <a:srcRect l="-5" r="-5"/>
          <a:stretch/>
        </p:blipFill>
        <p:spPr>
          <a:xfrm>
            <a:off x="8153705" y="4876495"/>
            <a:ext cx="3733495" cy="1676095"/>
          </a:xfrm>
          <a:prstGeom prst="rect">
            <a:avLst/>
          </a:prstGeom>
        </p:spPr>
      </p:pic>
      <p:pic>
        <p:nvPicPr>
          <p:cNvPr id="32" name="Image 16" descr="preencoded.png"/>
          <p:cNvPicPr>
            <a:picLocks noChangeAspect="1"/>
          </p:cNvPicPr>
          <p:nvPr/>
        </p:nvPicPr>
        <p:blipFill>
          <a:blip r:embed="rId14">
            <a:alphaModFix amt="10000"/>
          </a:blip>
          <a:srcRect l="-3833" r="-3833"/>
          <a:stretch/>
        </p:blipFill>
        <p:spPr>
          <a:xfrm>
            <a:off x="10611612" y="4604918"/>
            <a:ext cx="1561795" cy="1657807"/>
          </a:xfrm>
          <a:prstGeom prst="rect">
            <a:avLst/>
          </a:prstGeom>
        </p:spPr>
      </p:pic>
      <p:sp>
        <p:nvSpPr>
          <p:cNvPr id="33" name="Text 14"/>
          <p:cNvSpPr txBox="1"/>
          <p:nvPr/>
        </p:nvSpPr>
        <p:spPr>
          <a:xfrm>
            <a:off x="8553298" y="5067605"/>
            <a:ext cx="3333902" cy="267005"/>
          </a:xfrm>
          <a:prstGeom prst="rect">
            <a:avLst/>
          </a:prstGeom>
          <a:noFill/>
          <a:ln/>
        </p:spPr>
        <p:txBody>
          <a:bodyPr wrap="square" lIns="0" tIns="0" rIns="0" bIns="0" rtlCol="0" anchor="ctr"/>
          <a:lstStyle/>
          <a:p>
            <a:pPr marL="0" indent="0" algn="l">
              <a:buNone/>
            </a:pPr>
            <a:r>
              <a:rPr lang="en-US" sz="2400" b="1" dirty="0">
                <a:solidFill>
                  <a:srgbClr val="FACC15"/>
                </a:solidFill>
                <a:latin typeface="Noto Sans JP" pitchFamily="34" charset="0"/>
                <a:ea typeface="Noto Sans JP" pitchFamily="34" charset="-122"/>
                <a:cs typeface="Noto Sans JP" pitchFamily="34" charset="-120"/>
              </a:rPr>
              <a:t>活動の原動力 </a:t>
            </a:r>
            <a:endParaRPr lang="en-US" sz="2400" dirty="0"/>
          </a:p>
        </p:txBody>
      </p:sp>
      <p:pic>
        <p:nvPicPr>
          <p:cNvPr id="34" name="Image 17" descr="preencoded.png"/>
          <p:cNvPicPr>
            <a:picLocks noChangeAspect="1"/>
          </p:cNvPicPr>
          <p:nvPr/>
        </p:nvPicPr>
        <p:blipFill>
          <a:blip r:embed="rId15"/>
          <a:srcRect l="-1773" r="-1773"/>
          <a:stretch/>
        </p:blipFill>
        <p:spPr>
          <a:xfrm>
            <a:off x="8343900" y="5115154"/>
            <a:ext cx="133502" cy="171907"/>
          </a:xfrm>
          <a:prstGeom prst="rect">
            <a:avLst/>
          </a:prstGeom>
        </p:spPr>
      </p:pic>
      <p:sp>
        <p:nvSpPr>
          <p:cNvPr id="35" name="Text 15"/>
          <p:cNvSpPr txBox="1"/>
          <p:nvPr/>
        </p:nvSpPr>
        <p:spPr>
          <a:xfrm>
            <a:off x="8202813" y="5643125"/>
            <a:ext cx="3657600" cy="657454"/>
          </a:xfrm>
          <a:prstGeom prst="rect">
            <a:avLst/>
          </a:prstGeom>
          <a:noFill/>
          <a:ln/>
        </p:spPr>
        <p:txBody>
          <a:bodyPr wrap="square" lIns="0" tIns="0" rIns="0" bIns="0" rtlCol="0" anchor="ctr"/>
          <a:lstStyle/>
          <a:p>
            <a:pPr marL="0" indent="0" algn="l">
              <a:buNone/>
            </a:pPr>
            <a:r>
              <a:rPr lang="en-US" dirty="0">
                <a:solidFill>
                  <a:srgbClr val="E5E7EB"/>
                </a:solidFill>
                <a:latin typeface="Noto Sans JP" pitchFamily="34" charset="0"/>
                <a:ea typeface="Noto Sans JP" pitchFamily="34" charset="-122"/>
                <a:cs typeface="Noto Sans JP" pitchFamily="34" charset="-120"/>
              </a:rPr>
              <a:t> 「Power Platformが居場所を作ってくれた」</a:t>
            </a:r>
            <a:endParaRPr lang="en-US" dirty="0"/>
          </a:p>
          <a:p>
            <a:pPr marL="0" indent="0" algn="l">
              <a:buNone/>
            </a:pPr>
            <a:r>
              <a:rPr lang="en-US" b="1">
                <a:solidFill>
                  <a:srgbClr val="FDE047"/>
                </a:solidFill>
                <a:latin typeface="Noto Sans JP" pitchFamily="34" charset="0"/>
                <a:ea typeface="Noto Sans JP" pitchFamily="34" charset="-122"/>
                <a:cs typeface="Noto Sans JP" pitchFamily="34" charset="-120"/>
              </a:rPr>
              <a:t>くすぶっている誰かの一歩を</a:t>
            </a:r>
          </a:p>
          <a:p>
            <a:pPr marL="0" indent="0" algn="l">
              <a:buNone/>
            </a:pPr>
            <a:r>
              <a:rPr lang="en-US" b="1">
                <a:solidFill>
                  <a:srgbClr val="FDE047"/>
                </a:solidFill>
                <a:latin typeface="Noto Sans JP" pitchFamily="34" charset="0"/>
                <a:ea typeface="Noto Sans JP" pitchFamily="34" charset="-122"/>
                <a:cs typeface="Noto Sans JP" pitchFamily="34" charset="-120"/>
              </a:rPr>
              <a:t>後押ししたい</a:t>
            </a:r>
            <a:r>
              <a:rPr lang="en-US" b="1" dirty="0">
                <a:solidFill>
                  <a:srgbClr val="FDE047"/>
                </a:solidFill>
                <a:latin typeface="Noto Sans JP" pitchFamily="34" charset="0"/>
                <a:ea typeface="Noto Sans JP" pitchFamily="34" charset="-122"/>
                <a:cs typeface="Noto Sans JP" pitchFamily="34" charset="-120"/>
              </a:rPr>
              <a:t>。</a:t>
            </a:r>
            <a:endParaRPr lang="en-US" dirty="0"/>
          </a:p>
        </p:txBody>
      </p:sp>
      <p:sp>
        <p:nvSpPr>
          <p:cNvPr id="36" name="Shape 16"/>
          <p:cNvSpPr/>
          <p:nvPr/>
        </p:nvSpPr>
        <p:spPr>
          <a:xfrm>
            <a:off x="8343900" y="6174943"/>
            <a:ext cx="3353105" cy="9144"/>
          </a:xfrm>
          <a:prstGeom prst="rect">
            <a:avLst/>
          </a:prstGeom>
          <a:solidFill>
            <a:srgbClr val="4B5563"/>
          </a:solidFill>
          <a:ln w="12700">
            <a:solidFill>
              <a:srgbClr val="4B5563">
                <a:alpha val="0"/>
              </a:srgbClr>
            </a:solidFill>
            <a:prstDash val="solid"/>
          </a:ln>
        </p:spPr>
        <p:txBody>
          <a:bodyPr/>
          <a:lstStyle/>
          <a:p>
            <a:endParaRPr lang="ja-JP" altLang="en-US"/>
          </a:p>
        </p:txBody>
      </p:sp>
      <p:sp>
        <p:nvSpPr>
          <p:cNvPr id="37" name="Text 17"/>
          <p:cNvSpPr txBox="1"/>
          <p:nvPr/>
        </p:nvSpPr>
        <p:spPr>
          <a:xfrm>
            <a:off x="8343900" y="6412687"/>
            <a:ext cx="1420978" cy="152705"/>
          </a:xfrm>
          <a:prstGeom prst="rect">
            <a:avLst/>
          </a:prstGeom>
          <a:noFill/>
          <a:ln/>
        </p:spPr>
        <p:txBody>
          <a:bodyPr wrap="square" lIns="0" tIns="0" rIns="0" bIns="0" rtlCol="0" anchor="ctr"/>
          <a:lstStyle/>
          <a:p>
            <a:pPr marL="0" indent="0" algn="l">
              <a:buNone/>
            </a:pPr>
            <a:r>
              <a:rPr lang="en-US" sz="900" dirty="0">
                <a:solidFill>
                  <a:srgbClr val="9CA3AF"/>
                </a:solidFill>
                <a:latin typeface="Noto Sans JP" pitchFamily="34" charset="0"/>
                <a:ea typeface="Noto Sans JP" pitchFamily="34" charset="-122"/>
                <a:cs typeface="Noto Sans JP" pitchFamily="34" charset="-120"/>
              </a:rPr>
              <a:t>Thanks to Community!</a:t>
            </a:r>
            <a:endParaRPr lang="en-US" sz="900" dirty="0"/>
          </a:p>
        </p:txBody>
      </p:sp>
      <p:sp>
        <p:nvSpPr>
          <p:cNvPr id="38" name="Text 18"/>
          <p:cNvSpPr txBox="1"/>
          <p:nvPr/>
        </p:nvSpPr>
        <p:spPr>
          <a:xfrm>
            <a:off x="11196828" y="6298387"/>
            <a:ext cx="581558" cy="267005"/>
          </a:xfrm>
          <a:prstGeom prst="rect">
            <a:avLst/>
          </a:prstGeom>
          <a:noFill/>
          <a:ln/>
        </p:spPr>
        <p:txBody>
          <a:bodyPr wrap="square" lIns="0" tIns="0" rIns="0" bIns="0" rtlCol="0" anchor="ctr"/>
          <a:lstStyle/>
          <a:p>
            <a:pPr marL="0" indent="0" algn="l">
              <a:buNone/>
            </a:pPr>
            <a:r>
              <a:rPr lang="en-US" sz="1500" b="1" kern="0" spc="75" dirty="0">
                <a:solidFill>
                  <a:srgbClr val="FFFFFF"/>
                </a:solidFill>
                <a:latin typeface="Noto Sans JP" pitchFamily="34" charset="0"/>
                <a:ea typeface="Noto Sans JP" pitchFamily="34" charset="-122"/>
                <a:cs typeface="Noto Sans JP" pitchFamily="34" charset="-120"/>
              </a:rPr>
              <a:t>Haru</a:t>
            </a:r>
            <a:endParaRPr lang="en-US" sz="1500" dirty="0"/>
          </a:p>
        </p:txBody>
      </p:sp>
      <p:sp>
        <p:nvSpPr>
          <p:cNvPr id="39" name="Shape 19"/>
          <p:cNvSpPr/>
          <p:nvPr/>
        </p:nvSpPr>
        <p:spPr>
          <a:xfrm>
            <a:off x="304495" y="1617333"/>
            <a:ext cx="2351583" cy="983779"/>
          </a:xfrm>
          <a:prstGeom prst="roundRect">
            <a:avLst>
              <a:gd name="adj" fmla="val 22848"/>
            </a:avLst>
          </a:prstGeom>
          <a:solidFill>
            <a:srgbClr val="FFFFFF">
              <a:alpha val="95000"/>
            </a:srgbClr>
          </a:solidFill>
          <a:ln/>
          <a:effectLst>
            <a:outerShdw blurRad="63500" dist="38100" dir="16200000" algn="bl" rotWithShape="0">
              <a:srgbClr val="000000">
                <a:alpha val="10000"/>
              </a:srgbClr>
            </a:outerShdw>
          </a:effectLst>
        </p:spPr>
        <p:txBody>
          <a:bodyPr/>
          <a:lstStyle/>
          <a:p>
            <a:endParaRPr lang="ja-JP" altLang="en-US"/>
          </a:p>
        </p:txBody>
      </p:sp>
      <p:sp>
        <p:nvSpPr>
          <p:cNvPr id="40" name="Shape 20"/>
          <p:cNvSpPr/>
          <p:nvPr/>
        </p:nvSpPr>
        <p:spPr>
          <a:xfrm>
            <a:off x="312384" y="1607564"/>
            <a:ext cx="38405" cy="780898"/>
          </a:xfrm>
          <a:prstGeom prst="roundRect">
            <a:avLst>
              <a:gd name="adj" fmla="val 464574"/>
            </a:avLst>
          </a:prstGeom>
          <a:solidFill>
            <a:srgbClr val="9CA3AF"/>
          </a:solidFill>
          <a:ln w="12700">
            <a:solidFill>
              <a:srgbClr val="9CA3AF">
                <a:alpha val="0"/>
              </a:srgbClr>
            </a:solidFill>
            <a:prstDash val="solid"/>
          </a:ln>
        </p:spPr>
        <p:txBody>
          <a:bodyPr/>
          <a:lstStyle/>
          <a:p>
            <a:endParaRPr lang="ja-JP" altLang="en-US"/>
          </a:p>
        </p:txBody>
      </p:sp>
      <p:sp>
        <p:nvSpPr>
          <p:cNvPr id="41" name="Shape 21"/>
          <p:cNvSpPr/>
          <p:nvPr/>
        </p:nvSpPr>
        <p:spPr>
          <a:xfrm rot="2700000">
            <a:off x="1469441" y="3082442"/>
            <a:ext cx="114300" cy="1143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2" name="Text 22"/>
          <p:cNvSpPr txBox="1"/>
          <p:nvPr/>
        </p:nvSpPr>
        <p:spPr>
          <a:xfrm>
            <a:off x="498421" y="2059228"/>
            <a:ext cx="2390241" cy="437084"/>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理系・機械系出身。</a:t>
            </a:r>
            <a:endParaRPr lang="en-US" sz="1600" dirty="0"/>
          </a:p>
          <a:p>
            <a:pPr marL="0" indent="0" algn="l">
              <a:buNone/>
            </a:pPr>
            <a:r>
              <a:rPr lang="en-US" sz="1600" dirty="0">
                <a:solidFill>
                  <a:srgbClr val="4B5563"/>
                </a:solidFill>
                <a:latin typeface="Noto Sans JP" pitchFamily="34" charset="0"/>
                <a:ea typeface="Noto Sans JP" pitchFamily="34" charset="-122"/>
                <a:cs typeface="Noto Sans JP" pitchFamily="34" charset="-120"/>
              </a:rPr>
              <a:t>地元貢献を志し就職。</a:t>
            </a:r>
            <a:endParaRPr lang="en-US" sz="1600" dirty="0"/>
          </a:p>
        </p:txBody>
      </p:sp>
      <p:sp>
        <p:nvSpPr>
          <p:cNvPr id="43" name="Text 23"/>
          <p:cNvSpPr txBox="1"/>
          <p:nvPr/>
        </p:nvSpPr>
        <p:spPr>
          <a:xfrm>
            <a:off x="480321" y="1755292"/>
            <a:ext cx="1947411" cy="216154"/>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2007 製造業入社</a:t>
            </a:r>
            <a:endParaRPr lang="en-US" dirty="0"/>
          </a:p>
        </p:txBody>
      </p:sp>
      <p:sp>
        <p:nvSpPr>
          <p:cNvPr id="44" name="Shape 24"/>
          <p:cNvSpPr/>
          <p:nvPr/>
        </p:nvSpPr>
        <p:spPr>
          <a:xfrm>
            <a:off x="2389327" y="2696566"/>
            <a:ext cx="1904695" cy="780898"/>
          </a:xfrm>
          <a:prstGeom prst="roundRect">
            <a:avLst>
              <a:gd name="adj" fmla="val 22848"/>
            </a:avLst>
          </a:prstGeom>
          <a:solidFill>
            <a:srgbClr val="FFFFFF">
              <a:alpha val="95000"/>
            </a:srgbClr>
          </a:solidFill>
          <a:ln/>
          <a:effectLst>
            <a:outerShdw blurRad="63500" dist="38100" dir="16200000" algn="bl" rotWithShape="0">
              <a:srgbClr val="000000">
                <a:alpha val="10000"/>
              </a:srgbClr>
            </a:outerShdw>
          </a:effectLst>
        </p:spPr>
        <p:txBody>
          <a:bodyPr/>
          <a:lstStyle/>
          <a:p>
            <a:endParaRPr lang="ja-JP" altLang="en-US"/>
          </a:p>
        </p:txBody>
      </p:sp>
      <p:sp>
        <p:nvSpPr>
          <p:cNvPr id="45" name="Shape 25"/>
          <p:cNvSpPr/>
          <p:nvPr/>
        </p:nvSpPr>
        <p:spPr>
          <a:xfrm>
            <a:off x="2389327" y="2696566"/>
            <a:ext cx="38405" cy="780898"/>
          </a:xfrm>
          <a:prstGeom prst="roundRect">
            <a:avLst>
              <a:gd name="adj" fmla="val 464574"/>
            </a:avLst>
          </a:prstGeom>
          <a:solidFill>
            <a:srgbClr val="9CA3AF"/>
          </a:solidFill>
          <a:ln w="12700">
            <a:solidFill>
              <a:srgbClr val="9CA3AF">
                <a:alpha val="0"/>
              </a:srgbClr>
            </a:solidFill>
            <a:prstDash val="solid"/>
          </a:ln>
        </p:spPr>
        <p:txBody>
          <a:bodyPr/>
          <a:lstStyle/>
          <a:p>
            <a:endParaRPr lang="ja-JP" altLang="en-US"/>
          </a:p>
        </p:txBody>
      </p:sp>
      <p:sp>
        <p:nvSpPr>
          <p:cNvPr id="46" name="Shape 26"/>
          <p:cNvSpPr/>
          <p:nvPr/>
        </p:nvSpPr>
        <p:spPr>
          <a:xfrm rot="2700000">
            <a:off x="3322930" y="3418027"/>
            <a:ext cx="114300" cy="1143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7" name="Text 27"/>
          <p:cNvSpPr txBox="1"/>
          <p:nvPr/>
        </p:nvSpPr>
        <p:spPr>
          <a:xfrm>
            <a:off x="2521247" y="2924802"/>
            <a:ext cx="2811621" cy="437084"/>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製造技術15年。「自分の強みは？」モヤモヤした日々。</a:t>
            </a:r>
            <a:endParaRPr lang="en-US" sz="1600" dirty="0"/>
          </a:p>
        </p:txBody>
      </p:sp>
      <p:sp>
        <p:nvSpPr>
          <p:cNvPr id="48" name="Text 28"/>
          <p:cNvSpPr txBox="1"/>
          <p:nvPr/>
        </p:nvSpPr>
        <p:spPr>
          <a:xfrm>
            <a:off x="2511858" y="2612339"/>
            <a:ext cx="2523270" cy="250647"/>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～2019 くすぶり期間</a:t>
            </a:r>
            <a:endParaRPr lang="en-US" dirty="0"/>
          </a:p>
        </p:txBody>
      </p:sp>
      <p:sp>
        <p:nvSpPr>
          <p:cNvPr id="49" name="Shape 29"/>
          <p:cNvSpPr/>
          <p:nvPr/>
        </p:nvSpPr>
        <p:spPr>
          <a:xfrm>
            <a:off x="4242816" y="3366821"/>
            <a:ext cx="2557985" cy="892090"/>
          </a:xfrm>
          <a:prstGeom prst="roundRect">
            <a:avLst>
              <a:gd name="adj" fmla="val 22848"/>
            </a:avLst>
          </a:prstGeom>
          <a:solidFill>
            <a:srgbClr val="FEF2F2"/>
          </a:solidFill>
          <a:ln/>
          <a:effectLst>
            <a:outerShdw blurRad="63500" dist="38100" dir="16200000" algn="bl" rotWithShape="0">
              <a:srgbClr val="000000">
                <a:alpha val="10000"/>
              </a:srgbClr>
            </a:outerShdw>
          </a:effectLst>
        </p:spPr>
        <p:txBody>
          <a:bodyPr/>
          <a:lstStyle/>
          <a:p>
            <a:endParaRPr lang="ja-JP" altLang="en-US"/>
          </a:p>
        </p:txBody>
      </p:sp>
      <p:sp>
        <p:nvSpPr>
          <p:cNvPr id="50" name="Shape 30"/>
          <p:cNvSpPr/>
          <p:nvPr/>
        </p:nvSpPr>
        <p:spPr>
          <a:xfrm>
            <a:off x="4242816" y="3366821"/>
            <a:ext cx="38405" cy="780898"/>
          </a:xfrm>
          <a:prstGeom prst="roundRect">
            <a:avLst>
              <a:gd name="adj" fmla="val 464574"/>
            </a:avLst>
          </a:prstGeom>
          <a:solidFill>
            <a:srgbClr val="F87171"/>
          </a:solidFill>
          <a:ln w="12700">
            <a:solidFill>
              <a:srgbClr val="F87171">
                <a:alpha val="0"/>
              </a:srgbClr>
            </a:solidFill>
            <a:prstDash val="solid"/>
          </a:ln>
        </p:spPr>
        <p:txBody>
          <a:bodyPr/>
          <a:lstStyle/>
          <a:p>
            <a:endParaRPr lang="ja-JP" altLang="en-US"/>
          </a:p>
        </p:txBody>
      </p:sp>
      <p:sp>
        <p:nvSpPr>
          <p:cNvPr id="51" name="Shape 31"/>
          <p:cNvSpPr/>
          <p:nvPr/>
        </p:nvSpPr>
        <p:spPr>
          <a:xfrm rot="2700000">
            <a:off x="5176418" y="4088282"/>
            <a:ext cx="114300" cy="1143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52" name="Text 32"/>
          <p:cNvSpPr txBox="1"/>
          <p:nvPr/>
        </p:nvSpPr>
        <p:spPr>
          <a:xfrm>
            <a:off x="4395520" y="3710635"/>
            <a:ext cx="2692589" cy="437084"/>
          </a:xfrm>
          <a:prstGeom prst="rect">
            <a:avLst/>
          </a:prstGeom>
          <a:noFill/>
          <a:ln/>
        </p:spPr>
        <p:txBody>
          <a:bodyPr wrap="square" lIns="0" tIns="0" rIns="0" bIns="0" rtlCol="0" anchor="ct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「誰の役に立ちたいか？」</a:t>
            </a:r>
            <a:endParaRPr lang="en-US" sz="1600" dirty="0"/>
          </a:p>
          <a:p>
            <a:pPr marL="0" indent="0" algn="l">
              <a:buNone/>
            </a:pPr>
            <a:r>
              <a:rPr lang="en-US" sz="1600" dirty="0">
                <a:solidFill>
                  <a:srgbClr val="374151"/>
                </a:solidFill>
                <a:latin typeface="Noto Sans JP" pitchFamily="34" charset="0"/>
                <a:ea typeface="Noto Sans JP" pitchFamily="34" charset="-122"/>
                <a:cs typeface="Noto Sans JP" pitchFamily="34" charset="-120"/>
              </a:rPr>
              <a:t>自分と深く向き合う2年。</a:t>
            </a:r>
            <a:endParaRPr lang="en-US" sz="1600" dirty="0"/>
          </a:p>
        </p:txBody>
      </p:sp>
      <p:sp>
        <p:nvSpPr>
          <p:cNvPr id="53" name="Text 33"/>
          <p:cNvSpPr txBox="1"/>
          <p:nvPr/>
        </p:nvSpPr>
        <p:spPr>
          <a:xfrm>
            <a:off x="4395520" y="3471062"/>
            <a:ext cx="1609309" cy="269638"/>
          </a:xfrm>
          <a:prstGeom prst="rect">
            <a:avLst/>
          </a:prstGeom>
          <a:noFill/>
          <a:ln/>
        </p:spPr>
        <p:txBody>
          <a:bodyPr wrap="square" lIns="0" tIns="0" rIns="0" bIns="0" rtlCol="0" anchor="ctr"/>
          <a:lstStyle/>
          <a:p>
            <a:pPr marL="0" indent="0" algn="l">
              <a:buNone/>
            </a:pPr>
            <a:r>
              <a:rPr lang="en-US" b="1">
                <a:solidFill>
                  <a:srgbClr val="B91C1C"/>
                </a:solidFill>
                <a:latin typeface="Noto Sans JP" pitchFamily="34" charset="0"/>
                <a:ea typeface="Noto Sans JP" pitchFamily="34" charset="-122"/>
                <a:cs typeface="Noto Sans JP" pitchFamily="34" charset="-120"/>
              </a:rPr>
              <a:t>2019</a:t>
            </a:r>
            <a:endParaRPr lang="en-US" dirty="0"/>
          </a:p>
        </p:txBody>
      </p:sp>
      <p:sp>
        <p:nvSpPr>
          <p:cNvPr id="54" name="Shape 34"/>
          <p:cNvSpPr/>
          <p:nvPr/>
        </p:nvSpPr>
        <p:spPr>
          <a:xfrm>
            <a:off x="8315554" y="2991816"/>
            <a:ext cx="2361893" cy="485648"/>
          </a:xfrm>
          <a:prstGeom prst="roundRect">
            <a:avLst>
              <a:gd name="adj" fmla="val 22848"/>
            </a:avLst>
          </a:prstGeom>
          <a:solidFill>
            <a:srgbClr val="EFF6FF"/>
          </a:solidFill>
          <a:ln/>
          <a:effectLst>
            <a:outerShdw blurRad="63500" dist="38100" dir="16200000" algn="bl" rotWithShape="0">
              <a:srgbClr val="000000">
                <a:alpha val="10000"/>
              </a:srgbClr>
            </a:outerShdw>
          </a:effectLst>
        </p:spPr>
        <p:txBody>
          <a:bodyPr/>
          <a:lstStyle/>
          <a:p>
            <a:endParaRPr lang="ja-JP" altLang="en-US"/>
          </a:p>
        </p:txBody>
      </p:sp>
      <p:sp>
        <p:nvSpPr>
          <p:cNvPr id="55" name="Shape 35"/>
          <p:cNvSpPr/>
          <p:nvPr/>
        </p:nvSpPr>
        <p:spPr>
          <a:xfrm>
            <a:off x="7601407" y="2368296"/>
            <a:ext cx="38405" cy="780898"/>
          </a:xfrm>
          <a:prstGeom prst="roundRect">
            <a:avLst>
              <a:gd name="adj" fmla="val 464574"/>
            </a:avLst>
          </a:prstGeom>
          <a:solidFill>
            <a:srgbClr val="60A5FA"/>
          </a:solidFill>
          <a:ln w="12700">
            <a:solidFill>
              <a:srgbClr val="60A5FA">
                <a:alpha val="0"/>
              </a:srgbClr>
            </a:solidFill>
            <a:prstDash val="solid"/>
          </a:ln>
        </p:spPr>
        <p:txBody>
          <a:bodyPr/>
          <a:lstStyle/>
          <a:p>
            <a:endParaRPr lang="ja-JP" altLang="en-US"/>
          </a:p>
        </p:txBody>
      </p:sp>
      <p:sp>
        <p:nvSpPr>
          <p:cNvPr id="56" name="Shape 36"/>
          <p:cNvSpPr/>
          <p:nvPr/>
        </p:nvSpPr>
        <p:spPr>
          <a:xfrm rot="2700000">
            <a:off x="8535010" y="2310689"/>
            <a:ext cx="114300" cy="114300"/>
          </a:xfrm>
          <a:prstGeom prst="rect">
            <a:avLst/>
          </a:prstGeom>
          <a:solidFill>
            <a:srgbClr val="EFF6FF"/>
          </a:solidFill>
          <a:ln w="12700">
            <a:solidFill>
              <a:srgbClr val="FFFFFF">
                <a:alpha val="0"/>
              </a:srgbClr>
            </a:solidFill>
            <a:prstDash val="solid"/>
          </a:ln>
        </p:spPr>
        <p:txBody>
          <a:bodyPr/>
          <a:lstStyle/>
          <a:p>
            <a:endParaRPr lang="ja-JP" altLang="en-US"/>
          </a:p>
        </p:txBody>
      </p:sp>
      <p:sp>
        <p:nvSpPr>
          <p:cNvPr id="58" name="Text 38"/>
          <p:cNvSpPr txBox="1"/>
          <p:nvPr/>
        </p:nvSpPr>
        <p:spPr>
          <a:xfrm>
            <a:off x="8485356" y="3185175"/>
            <a:ext cx="2361893" cy="173084"/>
          </a:xfrm>
          <a:prstGeom prst="rect">
            <a:avLst/>
          </a:prstGeom>
          <a:noFill/>
          <a:ln/>
        </p:spPr>
        <p:txBody>
          <a:bodyPr wrap="square" lIns="0" tIns="0" rIns="0" bIns="0" rtlCol="0" anchor="ctr"/>
          <a:lstStyle/>
          <a:p>
            <a:pPr marL="0" indent="0" algn="l">
              <a:buNone/>
            </a:pPr>
            <a:r>
              <a:rPr lang="en-US" sz="1600" b="1" dirty="0">
                <a:solidFill>
                  <a:srgbClr val="1D4ED8"/>
                </a:solidFill>
                <a:latin typeface="Noto Sans JP" pitchFamily="34" charset="0"/>
                <a:ea typeface="Noto Sans JP" pitchFamily="34" charset="-122"/>
                <a:cs typeface="Noto Sans JP" pitchFamily="34" charset="-120"/>
              </a:rPr>
              <a:t>2023 DX推進リーダー</a:t>
            </a:r>
            <a:endParaRPr lang="en-US" sz="1600" dirty="0"/>
          </a:p>
        </p:txBody>
      </p:sp>
      <p:sp>
        <p:nvSpPr>
          <p:cNvPr id="59" name="Shape 39"/>
          <p:cNvSpPr/>
          <p:nvPr/>
        </p:nvSpPr>
        <p:spPr>
          <a:xfrm>
            <a:off x="8727816" y="1278929"/>
            <a:ext cx="2927127" cy="965009"/>
          </a:xfrm>
          <a:prstGeom prst="roundRect">
            <a:avLst>
              <a:gd name="adj" fmla="val 9837"/>
            </a:avLst>
          </a:prstGeom>
          <a:solidFill>
            <a:srgbClr val="EEF2FF"/>
          </a:solidFill>
          <a:ln/>
          <a:effectLst>
            <a:outerShdw blurRad="63500" dist="38100" dir="16200000" algn="bl" rotWithShape="0">
              <a:srgbClr val="000000">
                <a:alpha val="10000"/>
              </a:srgbClr>
            </a:outerShdw>
          </a:effectLst>
        </p:spPr>
        <p:txBody>
          <a:bodyPr/>
          <a:lstStyle/>
          <a:p>
            <a:endParaRPr lang="ja-JP" altLang="en-US"/>
          </a:p>
        </p:txBody>
      </p:sp>
      <p:sp>
        <p:nvSpPr>
          <p:cNvPr id="60" name="Shape 40"/>
          <p:cNvSpPr/>
          <p:nvPr/>
        </p:nvSpPr>
        <p:spPr>
          <a:xfrm>
            <a:off x="8689411" y="1458366"/>
            <a:ext cx="38405" cy="780898"/>
          </a:xfrm>
          <a:prstGeom prst="roundRect">
            <a:avLst>
              <a:gd name="adj" fmla="val 464574"/>
            </a:avLst>
          </a:prstGeom>
          <a:solidFill>
            <a:srgbClr val="6366F1"/>
          </a:solidFill>
          <a:ln w="12700">
            <a:solidFill>
              <a:srgbClr val="6366F1">
                <a:alpha val="0"/>
              </a:srgbClr>
            </a:solidFill>
            <a:prstDash val="solid"/>
          </a:ln>
        </p:spPr>
        <p:txBody>
          <a:bodyPr/>
          <a:lstStyle/>
          <a:p>
            <a:endParaRPr lang="ja-JP" altLang="en-US"/>
          </a:p>
        </p:txBody>
      </p:sp>
      <p:sp>
        <p:nvSpPr>
          <p:cNvPr id="61" name="Shape 41"/>
          <p:cNvSpPr/>
          <p:nvPr/>
        </p:nvSpPr>
        <p:spPr>
          <a:xfrm rot="2700000">
            <a:off x="10683850" y="1405433"/>
            <a:ext cx="114300" cy="114300"/>
          </a:xfrm>
          <a:prstGeom prst="rect">
            <a:avLst/>
          </a:prstGeom>
          <a:solidFill>
            <a:srgbClr val="EEF2FF"/>
          </a:solidFill>
          <a:ln w="12700">
            <a:solidFill>
              <a:srgbClr val="FFFFFF">
                <a:alpha val="0"/>
              </a:srgbClr>
            </a:solidFill>
            <a:prstDash val="solid"/>
          </a:ln>
        </p:spPr>
        <p:txBody>
          <a:bodyPr/>
          <a:lstStyle/>
          <a:p>
            <a:endParaRPr lang="ja-JP" altLang="en-US"/>
          </a:p>
        </p:txBody>
      </p:sp>
      <p:sp>
        <p:nvSpPr>
          <p:cNvPr id="62" name="Text 42"/>
          <p:cNvSpPr txBox="1"/>
          <p:nvPr/>
        </p:nvSpPr>
        <p:spPr>
          <a:xfrm>
            <a:off x="8880063" y="1807768"/>
            <a:ext cx="2727331" cy="355441"/>
          </a:xfrm>
          <a:prstGeom prst="rect">
            <a:avLst/>
          </a:prstGeom>
          <a:noFill/>
          <a:ln/>
        </p:spPr>
        <p:txBody>
          <a:bodyPr wrap="square" lIns="0" tIns="0" rIns="0" bIns="0" rtlCol="0" anchor="ct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本部教育依頼、PPEC登壇、</a:t>
            </a:r>
            <a:endParaRPr lang="en-US" sz="1600" dirty="0"/>
          </a:p>
          <a:p>
            <a:pPr marL="0" indent="0" algn="l">
              <a:buNone/>
            </a:pPr>
            <a:r>
              <a:rPr lang="en-US" sz="1600" dirty="0">
                <a:solidFill>
                  <a:srgbClr val="374151"/>
                </a:solidFill>
                <a:latin typeface="Noto Sans JP" pitchFamily="34" charset="0"/>
                <a:ea typeface="Noto Sans JP" pitchFamily="34" charset="-122"/>
                <a:cs typeface="Noto Sans JP" pitchFamily="34" charset="-120"/>
              </a:rPr>
              <a:t>PLUG立ち上げ、PA45開始。</a:t>
            </a:r>
            <a:endParaRPr lang="en-US" sz="1600" dirty="0"/>
          </a:p>
        </p:txBody>
      </p:sp>
      <p:sp>
        <p:nvSpPr>
          <p:cNvPr id="63" name="Text 43"/>
          <p:cNvSpPr txBox="1"/>
          <p:nvPr/>
        </p:nvSpPr>
        <p:spPr>
          <a:xfrm>
            <a:off x="8919616" y="1365899"/>
            <a:ext cx="2687778" cy="241516"/>
          </a:xfrm>
          <a:prstGeom prst="rect">
            <a:avLst/>
          </a:prstGeom>
          <a:noFill/>
          <a:ln/>
        </p:spPr>
        <p:txBody>
          <a:bodyPr wrap="square" lIns="0" tIns="0" rIns="0" bIns="0" rtlCol="0" anchor="ctr"/>
          <a:lstStyle/>
          <a:p>
            <a:pPr marL="0" indent="0" algn="l">
              <a:buNone/>
            </a:pPr>
            <a:r>
              <a:rPr lang="en-US" sz="2000" b="1" dirty="0">
                <a:solidFill>
                  <a:srgbClr val="3730A3"/>
                </a:solidFill>
                <a:latin typeface="Noto Sans JP" pitchFamily="34" charset="0"/>
                <a:ea typeface="Noto Sans JP" pitchFamily="34" charset="-122"/>
                <a:cs typeface="Noto Sans JP" pitchFamily="34" charset="-120"/>
              </a:rPr>
              <a:t>2025-2026 拡大と定着</a:t>
            </a:r>
            <a:endParaRPr lang="en-US" sz="2000" dirty="0"/>
          </a:p>
        </p:txBody>
      </p:sp>
      <p:sp>
        <p:nvSpPr>
          <p:cNvPr id="64" name="Shape 44"/>
          <p:cNvSpPr/>
          <p:nvPr/>
        </p:nvSpPr>
        <p:spPr>
          <a:xfrm>
            <a:off x="5459881" y="1391818"/>
            <a:ext cx="2819197" cy="1633932"/>
          </a:xfrm>
          <a:prstGeom prst="roundRect">
            <a:avLst>
              <a:gd name="adj" fmla="val 8815"/>
            </a:avLst>
          </a:prstGeom>
          <a:solidFill>
            <a:srgbClr val="FFFFFF"/>
          </a:solidFill>
          <a:ln w="25400">
            <a:solidFill>
              <a:srgbClr val="742774"/>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65" name="Shape 45"/>
          <p:cNvSpPr/>
          <p:nvPr/>
        </p:nvSpPr>
        <p:spPr>
          <a:xfrm rot="2700000">
            <a:off x="6583680" y="1710842"/>
            <a:ext cx="114300" cy="1143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66" name="Image 18" descr="preencoded.png"/>
          <p:cNvPicPr>
            <a:picLocks noChangeAspect="1"/>
          </p:cNvPicPr>
          <p:nvPr/>
        </p:nvPicPr>
        <p:blipFill>
          <a:blip r:embed="rId16"/>
          <a:srcRect t="-17292" b="-17292"/>
          <a:stretch/>
        </p:blipFill>
        <p:spPr>
          <a:xfrm>
            <a:off x="5473477" y="1553464"/>
            <a:ext cx="219456" cy="295351"/>
          </a:xfrm>
          <a:prstGeom prst="rect">
            <a:avLst/>
          </a:prstGeom>
        </p:spPr>
      </p:pic>
      <p:sp>
        <p:nvSpPr>
          <p:cNvPr id="67" name="Text 46"/>
          <p:cNvSpPr txBox="1"/>
          <p:nvPr/>
        </p:nvSpPr>
        <p:spPr>
          <a:xfrm>
            <a:off x="5599786" y="1721912"/>
            <a:ext cx="3621024" cy="461708"/>
          </a:xfrm>
          <a:prstGeom prst="rect">
            <a:avLst/>
          </a:prstGeom>
          <a:noFill/>
          <a:ln/>
        </p:spPr>
        <p:txBody>
          <a:bodyPr wrap="square" lIns="0" tIns="0" rIns="0" bIns="0" rtlCol="0" anchor="ctr"/>
          <a:lstStyle/>
          <a:p>
            <a:pPr marL="0" indent="0" algn="l">
              <a:buNone/>
            </a:pPr>
            <a:endParaRPr lang="en-US" sz="1600" dirty="0"/>
          </a:p>
          <a:p>
            <a:pPr marL="0" indent="0" algn="l">
              <a:buNone/>
            </a:pPr>
            <a:r>
              <a:rPr lang="en-US" sz="1600" b="1" dirty="0">
                <a:solidFill>
                  <a:srgbClr val="7E22CE"/>
                </a:solidFill>
                <a:latin typeface="Noto Sans JP" pitchFamily="34" charset="0"/>
                <a:ea typeface="Noto Sans JP" pitchFamily="34" charset="-122"/>
                <a:cs typeface="Noto Sans JP" pitchFamily="34" charset="-120"/>
              </a:rPr>
              <a:t>RPA(UiPath/</a:t>
            </a:r>
            <a:r>
              <a:rPr lang="en-US" sz="1600" b="1">
                <a:solidFill>
                  <a:srgbClr val="7E22CE"/>
                </a:solidFill>
                <a:latin typeface="Noto Sans JP" pitchFamily="34" charset="0"/>
                <a:ea typeface="Noto Sans JP" pitchFamily="34" charset="-122"/>
                <a:cs typeface="Noto Sans JP" pitchFamily="34" charset="-120"/>
              </a:rPr>
              <a:t>PAD)</a:t>
            </a:r>
            <a:r>
              <a:rPr lang="ja-JP" altLang="en-US" sz="1600" b="1">
                <a:solidFill>
                  <a:srgbClr val="1F2937"/>
                </a:solidFill>
                <a:latin typeface="Noto Sans JP" pitchFamily="34" charset="0"/>
                <a:ea typeface="Noto Sans JP" pitchFamily="34" charset="-122"/>
                <a:cs typeface="Noto Sans JP" pitchFamily="34" charset="-120"/>
              </a:rPr>
              <a:t>と出会う</a:t>
            </a:r>
            <a:endParaRPr lang="en-US" sz="1600" dirty="0"/>
          </a:p>
        </p:txBody>
      </p:sp>
      <p:sp>
        <p:nvSpPr>
          <p:cNvPr id="68" name="Shape 47"/>
          <p:cNvSpPr/>
          <p:nvPr/>
        </p:nvSpPr>
        <p:spPr>
          <a:xfrm>
            <a:off x="5599786" y="2432025"/>
            <a:ext cx="2124151" cy="460222"/>
          </a:xfrm>
          <a:prstGeom prst="roundRect">
            <a:avLst>
              <a:gd name="adj" fmla="val 113540"/>
            </a:avLst>
          </a:prstGeom>
          <a:solidFill>
            <a:srgbClr val="FAF5FF"/>
          </a:solidFill>
          <a:ln w="12700">
            <a:solidFill>
              <a:srgbClr val="FFFFFF">
                <a:alpha val="0"/>
              </a:srgbClr>
            </a:solidFill>
            <a:prstDash val="solid"/>
          </a:ln>
        </p:spPr>
        <p:txBody>
          <a:bodyPr/>
          <a:lstStyle/>
          <a:p>
            <a:endParaRPr lang="ja-JP" altLang="en-US"/>
          </a:p>
        </p:txBody>
      </p:sp>
      <p:sp>
        <p:nvSpPr>
          <p:cNvPr id="69" name="Text 48"/>
          <p:cNvSpPr txBox="1"/>
          <p:nvPr/>
        </p:nvSpPr>
        <p:spPr>
          <a:xfrm>
            <a:off x="5515660" y="2426612"/>
            <a:ext cx="2763418" cy="374224"/>
          </a:xfrm>
          <a:prstGeom prst="rect">
            <a:avLst/>
          </a:prstGeom>
          <a:solidFill>
            <a:srgbClr val="FFFFFF">
              <a:alpha val="0"/>
            </a:srgbClr>
          </a:solidFill>
          <a:ln>
            <a:solidFill>
              <a:srgbClr val="FFFFFF">
                <a:alpha val="0"/>
              </a:srgbClr>
            </a:solidFill>
          </a:ln>
        </p:spPr>
        <p:txBody>
          <a:bodyPr wrap="square" lIns="38100" tIns="38100" rIns="38100" bIns="3810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a:t>
            </a:r>
            <a:r>
              <a:rPr lang="en-US" sz="1600">
                <a:solidFill>
                  <a:srgbClr val="4B5563"/>
                </a:solidFill>
                <a:latin typeface="Noto Sans JP" pitchFamily="34" charset="0"/>
                <a:ea typeface="Noto Sans JP" pitchFamily="34" charset="-122"/>
                <a:cs typeface="Noto Sans JP" pitchFamily="34" charset="-120"/>
              </a:rPr>
              <a:t>これなら人の役に立てる」</a:t>
            </a:r>
          </a:p>
          <a:p>
            <a:pPr marL="0" indent="0" algn="l">
              <a:buNone/>
            </a:pPr>
            <a:r>
              <a:rPr lang="en-US" sz="1600">
                <a:solidFill>
                  <a:srgbClr val="4B5563"/>
                </a:solidFill>
                <a:latin typeface="Noto Sans JP" pitchFamily="34" charset="0"/>
                <a:ea typeface="Noto Sans JP" pitchFamily="34" charset="-122"/>
                <a:cs typeface="Noto Sans JP" pitchFamily="34" charset="-120"/>
              </a:rPr>
              <a:t>と確信</a:t>
            </a:r>
            <a:endParaRPr lang="en-US" sz="1600" dirty="0"/>
          </a:p>
        </p:txBody>
      </p:sp>
      <p:sp>
        <p:nvSpPr>
          <p:cNvPr id="70" name="Text 49"/>
          <p:cNvSpPr txBox="1"/>
          <p:nvPr/>
        </p:nvSpPr>
        <p:spPr>
          <a:xfrm>
            <a:off x="5956788" y="1533265"/>
            <a:ext cx="2196917" cy="231220"/>
          </a:xfrm>
          <a:prstGeom prst="rect">
            <a:avLst/>
          </a:prstGeom>
          <a:noFill/>
          <a:ln/>
        </p:spPr>
        <p:txBody>
          <a:bodyPr wrap="square" lIns="0" tIns="0" rIns="0" bIns="0" rtlCol="0" anchor="ctr"/>
          <a:lstStyle/>
          <a:p>
            <a:pPr marL="0" indent="0" algn="l">
              <a:buNone/>
            </a:pPr>
            <a:r>
              <a:rPr lang="en-US" b="1">
                <a:solidFill>
                  <a:srgbClr val="6B21A8"/>
                </a:solidFill>
                <a:latin typeface="Noto Sans JP" pitchFamily="34" charset="0"/>
                <a:ea typeface="Noto Sans JP" pitchFamily="34" charset="-122"/>
                <a:cs typeface="Noto Sans JP" pitchFamily="34" charset="-120"/>
              </a:rPr>
              <a:t>2022</a:t>
            </a:r>
            <a:endParaRPr lang="en-US" dirty="0"/>
          </a:p>
        </p:txBody>
      </p:sp>
      <p:pic>
        <p:nvPicPr>
          <p:cNvPr id="71" name="Image 12" descr="preencoded.png">
            <a:extLst>
              <a:ext uri="{FF2B5EF4-FFF2-40B4-BE49-F238E27FC236}">
                <a16:creationId xmlns:a16="http://schemas.microsoft.com/office/drawing/2014/main" id="{8988F46B-4EBC-C058-8FE2-A4485A851D30}"/>
              </a:ext>
            </a:extLst>
          </p:cNvPr>
          <p:cNvPicPr>
            <a:picLocks noChangeAspect="1"/>
          </p:cNvPicPr>
          <p:nvPr/>
        </p:nvPicPr>
        <p:blipFill>
          <a:blip r:embed="rId12"/>
          <a:srcRect t="-16800" b="-16800"/>
          <a:stretch/>
        </p:blipFill>
        <p:spPr>
          <a:xfrm>
            <a:off x="4273672" y="5660318"/>
            <a:ext cx="304931" cy="407388"/>
          </a:xfrm>
          <a:prstGeom prst="rect">
            <a:avLst/>
          </a:prstGeom>
        </p:spPr>
      </p:pic>
      <p:pic>
        <p:nvPicPr>
          <p:cNvPr id="72" name="Image 12" descr="preencoded.png">
            <a:extLst>
              <a:ext uri="{FF2B5EF4-FFF2-40B4-BE49-F238E27FC236}">
                <a16:creationId xmlns:a16="http://schemas.microsoft.com/office/drawing/2014/main" id="{5A383512-67B7-F1F3-E2C0-F43FF8F3F6FA}"/>
              </a:ext>
            </a:extLst>
          </p:cNvPr>
          <p:cNvPicPr>
            <a:picLocks noChangeAspect="1"/>
          </p:cNvPicPr>
          <p:nvPr/>
        </p:nvPicPr>
        <p:blipFill>
          <a:blip r:embed="rId12"/>
          <a:srcRect t="-16800" b="-16800"/>
          <a:stretch/>
        </p:blipFill>
        <p:spPr>
          <a:xfrm>
            <a:off x="4273672" y="6132640"/>
            <a:ext cx="304931" cy="407388"/>
          </a:xfrm>
          <a:prstGeom prst="rect">
            <a:avLst/>
          </a:prstGeom>
        </p:spPr>
      </p:pic>
      <p:pic>
        <p:nvPicPr>
          <p:cNvPr id="73" name="Image 6" descr="preencoded.png">
            <a:extLst>
              <a:ext uri="{FF2B5EF4-FFF2-40B4-BE49-F238E27FC236}">
                <a16:creationId xmlns:a16="http://schemas.microsoft.com/office/drawing/2014/main" id="{A2D3472E-9A62-9FB7-553A-DE8E39CA252D}"/>
              </a:ext>
            </a:extLst>
          </p:cNvPr>
          <p:cNvPicPr>
            <a:picLocks noChangeAspect="1"/>
          </p:cNvPicPr>
          <p:nvPr/>
        </p:nvPicPr>
        <p:blipFill>
          <a:blip r:embed="rId9"/>
          <a:srcRect t="-16800" b="-16800"/>
          <a:stretch/>
        </p:blipFill>
        <p:spPr>
          <a:xfrm>
            <a:off x="301954" y="5694848"/>
            <a:ext cx="340498" cy="454906"/>
          </a:xfrm>
          <a:prstGeom prst="rect">
            <a:avLst/>
          </a:prstGeom>
        </p:spPr>
      </p:pic>
      <p:pic>
        <p:nvPicPr>
          <p:cNvPr id="74" name="Image 6" descr="preencoded.png">
            <a:extLst>
              <a:ext uri="{FF2B5EF4-FFF2-40B4-BE49-F238E27FC236}">
                <a16:creationId xmlns:a16="http://schemas.microsoft.com/office/drawing/2014/main" id="{836F0FE4-A88B-0FBE-427A-CACCE1DB2B44}"/>
              </a:ext>
            </a:extLst>
          </p:cNvPr>
          <p:cNvPicPr>
            <a:picLocks noChangeAspect="1"/>
          </p:cNvPicPr>
          <p:nvPr/>
        </p:nvPicPr>
        <p:blipFill>
          <a:blip r:embed="rId9"/>
          <a:srcRect t="-16800" b="-16800"/>
          <a:stretch/>
        </p:blipFill>
        <p:spPr>
          <a:xfrm>
            <a:off x="257233" y="6086458"/>
            <a:ext cx="340498" cy="454906"/>
          </a:xfrm>
          <a:prstGeom prst="rect">
            <a:avLst/>
          </a:prstGeom>
        </p:spPr>
      </p:pic>
      <p:cxnSp>
        <p:nvCxnSpPr>
          <p:cNvPr id="76" name="直線矢印コネクタ 75">
            <a:extLst>
              <a:ext uri="{FF2B5EF4-FFF2-40B4-BE49-F238E27FC236}">
                <a16:creationId xmlns:a16="http://schemas.microsoft.com/office/drawing/2014/main" id="{F213A371-EE9C-6E44-C26D-D0713CAE5D5C}"/>
              </a:ext>
            </a:extLst>
          </p:cNvPr>
          <p:cNvCxnSpPr>
            <a:cxnSpLocks/>
          </p:cNvCxnSpPr>
          <p:nvPr/>
        </p:nvCxnSpPr>
        <p:spPr>
          <a:xfrm flipH="1" flipV="1">
            <a:off x="9809684" y="2539396"/>
            <a:ext cx="829347" cy="415597"/>
          </a:xfrm>
          <a:prstGeom prst="straightConnector1">
            <a:avLst/>
          </a:prstGeom>
          <a:ln w="95250">
            <a:solidFill>
              <a:schemeClr val="bg1"/>
            </a:solidFill>
            <a:tailEnd type="triangle"/>
          </a:ln>
          <a:effectLst>
            <a:glow rad="76200">
              <a:srgbClr val="C00000"/>
            </a:glo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sz="4400"/>
          </a:p>
        </p:txBody>
      </p:sp>
      <p:sp>
        <p:nvSpPr>
          <p:cNvPr id="3" name="Shape 1"/>
          <p:cNvSpPr/>
          <p:nvPr/>
        </p:nvSpPr>
        <p:spPr>
          <a:xfrm>
            <a:off x="39558" y="16337"/>
            <a:ext cx="12191695" cy="6858000"/>
          </a:xfrm>
          <a:prstGeom prst="rect">
            <a:avLst/>
          </a:prstGeom>
          <a:solidFill>
            <a:srgbClr val="FFFFFF"/>
          </a:solidFill>
          <a:ln w="12700">
            <a:solidFill>
              <a:srgbClr val="FFFFFF">
                <a:alpha val="0"/>
              </a:srgbClr>
            </a:solidFill>
            <a:prstDash val="solid"/>
          </a:ln>
        </p:spPr>
        <p:txBody>
          <a:bodyPr/>
          <a:lstStyle/>
          <a:p>
            <a:endParaRPr lang="ja-JP" altLang="en-US" sz="4400"/>
          </a:p>
        </p:txBody>
      </p:sp>
      <p:sp>
        <p:nvSpPr>
          <p:cNvPr id="4" name="Text 2"/>
          <p:cNvSpPr txBox="1"/>
          <p:nvPr/>
        </p:nvSpPr>
        <p:spPr>
          <a:xfrm>
            <a:off x="9495" y="16337"/>
            <a:ext cx="1352659" cy="762610"/>
          </a:xfrm>
          <a:prstGeom prst="rect">
            <a:avLst/>
          </a:prstGeom>
          <a:noFill/>
          <a:ln/>
        </p:spPr>
        <p:txBody>
          <a:bodyPr wrap="square" lIns="0" tIns="0" rIns="0" bIns="0" rtlCol="0" anchor="ctr"/>
          <a:lstStyle/>
          <a:p>
            <a:pPr marL="0" indent="0" algn="l">
              <a:buNone/>
            </a:pPr>
            <a:r>
              <a:rPr lang="en-US" sz="8000" b="1" dirty="0">
                <a:solidFill>
                  <a:srgbClr val="FF6908">
                    <a:alpha val="20000"/>
                  </a:srgbClr>
                </a:solidFill>
                <a:latin typeface="Manrope" pitchFamily="34" charset="0"/>
                <a:ea typeface="Manrope" pitchFamily="34" charset="-122"/>
                <a:cs typeface="Manrope" pitchFamily="34" charset="-120"/>
              </a:rPr>
              <a:t>05</a:t>
            </a:r>
            <a:endParaRPr lang="en-US" sz="8000" dirty="0"/>
          </a:p>
        </p:txBody>
      </p:sp>
      <p:sp>
        <p:nvSpPr>
          <p:cNvPr id="5" name="Shape 3"/>
          <p:cNvSpPr/>
          <p:nvPr/>
        </p:nvSpPr>
        <p:spPr>
          <a:xfrm>
            <a:off x="-952805" y="4000500"/>
            <a:ext cx="5715000" cy="5715000"/>
          </a:xfrm>
          <a:prstGeom prst="ellipse">
            <a:avLst/>
          </a:prstGeom>
          <a:solidFill>
            <a:srgbClr val="FFF3EB">
              <a:alpha val="50000"/>
            </a:srgbClr>
          </a:solidFill>
          <a:ln w="12700">
            <a:solidFill>
              <a:srgbClr val="FFFFFF">
                <a:alpha val="0"/>
              </a:srgbClr>
            </a:solidFill>
            <a:prstDash val="solid"/>
          </a:ln>
        </p:spPr>
        <p:txBody>
          <a:bodyPr/>
          <a:lstStyle/>
          <a:p>
            <a:endParaRPr lang="ja-JP" altLang="en-US" sz="4400"/>
          </a:p>
        </p:txBody>
      </p:sp>
      <p:sp>
        <p:nvSpPr>
          <p:cNvPr id="9" name="Shape 6"/>
          <p:cNvSpPr/>
          <p:nvPr/>
        </p:nvSpPr>
        <p:spPr>
          <a:xfrm>
            <a:off x="238790" y="2009066"/>
            <a:ext cx="2076602" cy="1090248"/>
          </a:xfrm>
          <a:prstGeom prst="roundRect">
            <a:avLst>
              <a:gd name="adj" fmla="val 64000"/>
            </a:avLst>
          </a:prstGeom>
          <a:solidFill>
            <a:srgbClr val="FF6908"/>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10" name="Text 7"/>
          <p:cNvSpPr txBox="1"/>
          <p:nvPr/>
        </p:nvSpPr>
        <p:spPr>
          <a:xfrm>
            <a:off x="383836" y="2616588"/>
            <a:ext cx="2425901" cy="362102"/>
          </a:xfrm>
          <a:prstGeom prst="rect">
            <a:avLst/>
          </a:prstGeom>
          <a:noFill/>
          <a:ln/>
        </p:spPr>
        <p:txBody>
          <a:bodyPr wrap="square" lIns="0" tIns="0" rIns="0" bIns="0" rtlCol="0" anchor="ctr"/>
          <a:lstStyle/>
          <a:p>
            <a:pPr marL="0" indent="0" algn="l">
              <a:buNone/>
            </a:pPr>
            <a:r>
              <a:rPr lang="en-US" sz="2800" b="1" dirty="0">
                <a:solidFill>
                  <a:srgbClr val="FFFFFF"/>
                </a:solidFill>
                <a:latin typeface="Noto Sans JP" pitchFamily="34" charset="0"/>
                <a:ea typeface="Noto Sans JP" pitchFamily="34" charset="-122"/>
                <a:cs typeface="Noto Sans JP" pitchFamily="34" charset="-120"/>
              </a:rPr>
              <a:t> Xでいいね</a:t>
            </a:r>
            <a:endParaRPr lang="en-US" sz="2800" dirty="0"/>
          </a:p>
        </p:txBody>
      </p:sp>
      <p:pic>
        <p:nvPicPr>
          <p:cNvPr id="11" name="Image 1" descr="preencoded.png"/>
          <p:cNvPicPr>
            <a:picLocks noChangeAspect="1"/>
          </p:cNvPicPr>
          <p:nvPr/>
        </p:nvPicPr>
        <p:blipFill>
          <a:blip r:embed="rId3"/>
          <a:srcRect/>
          <a:stretch/>
        </p:blipFill>
        <p:spPr>
          <a:xfrm>
            <a:off x="1010585" y="2139574"/>
            <a:ext cx="436976" cy="436976"/>
          </a:xfrm>
          <a:prstGeom prst="rect">
            <a:avLst/>
          </a:prstGeom>
        </p:spPr>
      </p:pic>
      <p:sp>
        <p:nvSpPr>
          <p:cNvPr id="12" name="Shape 8"/>
          <p:cNvSpPr/>
          <p:nvPr/>
        </p:nvSpPr>
        <p:spPr>
          <a:xfrm>
            <a:off x="443852" y="3576101"/>
            <a:ext cx="2314740" cy="962863"/>
          </a:xfrm>
          <a:prstGeom prst="roundRect">
            <a:avLst>
              <a:gd name="adj" fmla="val 76154"/>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13" name="Text 9"/>
          <p:cNvSpPr txBox="1"/>
          <p:nvPr/>
        </p:nvSpPr>
        <p:spPr>
          <a:xfrm>
            <a:off x="1110759" y="3924709"/>
            <a:ext cx="1641105" cy="314554"/>
          </a:xfrm>
          <a:prstGeom prst="rect">
            <a:avLst/>
          </a:prstGeom>
          <a:noFill/>
          <a:ln/>
        </p:spPr>
        <p:txBody>
          <a:bodyPr wrap="square" lIns="0" tIns="0" rIns="0" bIns="0" rtlCol="0" anchor="ctr"/>
          <a:lstStyle/>
          <a:p>
            <a:pPr marL="0" indent="0" algn="l">
              <a:buNone/>
            </a:pPr>
            <a:r>
              <a:rPr lang="en-US" b="1" dirty="0">
                <a:solidFill>
                  <a:srgbClr val="333333"/>
                </a:solidFill>
                <a:latin typeface="Noto Sans JP" pitchFamily="34" charset="0"/>
                <a:ea typeface="Noto Sans JP" pitchFamily="34" charset="-122"/>
                <a:cs typeface="Noto Sans JP" pitchFamily="34" charset="-120"/>
              </a:rPr>
              <a:t> PBI広島参加</a:t>
            </a:r>
            <a:endParaRPr lang="en-US" dirty="0"/>
          </a:p>
        </p:txBody>
      </p:sp>
      <p:pic>
        <p:nvPicPr>
          <p:cNvPr id="14" name="Image 2" descr="preencoded.png"/>
          <p:cNvPicPr>
            <a:picLocks noChangeAspect="1"/>
          </p:cNvPicPr>
          <p:nvPr/>
        </p:nvPicPr>
        <p:blipFill>
          <a:blip r:embed="rId4"/>
          <a:srcRect l="-2444" r="-2444"/>
          <a:stretch/>
        </p:blipFill>
        <p:spPr>
          <a:xfrm>
            <a:off x="602503" y="3938402"/>
            <a:ext cx="453543" cy="345922"/>
          </a:xfrm>
          <a:prstGeom prst="rect">
            <a:avLst/>
          </a:prstGeom>
        </p:spPr>
      </p:pic>
      <p:sp>
        <p:nvSpPr>
          <p:cNvPr id="15" name="Shape 10"/>
          <p:cNvSpPr/>
          <p:nvPr/>
        </p:nvSpPr>
        <p:spPr>
          <a:xfrm>
            <a:off x="3165881" y="3488548"/>
            <a:ext cx="2836501" cy="1006231"/>
          </a:xfrm>
          <a:prstGeom prst="roundRect">
            <a:avLst>
              <a:gd name="adj" fmla="val 66143"/>
            </a:avLst>
          </a:prstGeom>
          <a:solidFill>
            <a:srgbClr val="FFF3EB"/>
          </a:solidFill>
          <a:ln w="381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16" name="Text 11"/>
          <p:cNvSpPr txBox="1"/>
          <p:nvPr/>
        </p:nvSpPr>
        <p:spPr>
          <a:xfrm>
            <a:off x="3860902" y="3810279"/>
            <a:ext cx="2063801" cy="342900"/>
          </a:xfrm>
          <a:prstGeom prst="rect">
            <a:avLst/>
          </a:prstGeom>
          <a:noFill/>
          <a:ln/>
        </p:spPr>
        <p:txBody>
          <a:bodyPr wrap="square" lIns="0" tIns="0" rIns="0" bIns="0" rtlCol="0" anchor="ctr"/>
          <a:lstStyle/>
          <a:p>
            <a:pPr marL="0" indent="0" algn="l">
              <a:buNone/>
            </a:pPr>
            <a:r>
              <a:rPr lang="en-US" sz="2400" b="1" dirty="0">
                <a:solidFill>
                  <a:srgbClr val="333333"/>
                </a:solidFill>
                <a:latin typeface="Noto Sans JP" pitchFamily="34" charset="0"/>
                <a:ea typeface="Noto Sans JP" pitchFamily="34" charset="-122"/>
                <a:cs typeface="Noto Sans JP" pitchFamily="34" charset="-120"/>
              </a:rPr>
              <a:t> 広島の仲間と出会う</a:t>
            </a:r>
            <a:endParaRPr lang="en-US" sz="2400" dirty="0"/>
          </a:p>
        </p:txBody>
      </p:sp>
      <p:pic>
        <p:nvPicPr>
          <p:cNvPr id="17" name="Image 3" descr="preencoded.png"/>
          <p:cNvPicPr>
            <a:picLocks noChangeAspect="1"/>
          </p:cNvPicPr>
          <p:nvPr/>
        </p:nvPicPr>
        <p:blipFill>
          <a:blip r:embed="rId5"/>
          <a:srcRect l="-2444" r="-2444"/>
          <a:stretch/>
        </p:blipFill>
        <p:spPr>
          <a:xfrm>
            <a:off x="3327407" y="3803904"/>
            <a:ext cx="553884" cy="422453"/>
          </a:xfrm>
          <a:prstGeom prst="rect">
            <a:avLst/>
          </a:prstGeom>
        </p:spPr>
      </p:pic>
      <p:sp>
        <p:nvSpPr>
          <p:cNvPr id="18" name="Shape 12"/>
          <p:cNvSpPr/>
          <p:nvPr/>
        </p:nvSpPr>
        <p:spPr>
          <a:xfrm>
            <a:off x="6932022" y="2240280"/>
            <a:ext cx="2377440" cy="419709"/>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19" name="Text 13"/>
          <p:cNvSpPr txBox="1"/>
          <p:nvPr/>
        </p:nvSpPr>
        <p:spPr>
          <a:xfrm>
            <a:off x="7029398" y="2354580"/>
            <a:ext cx="2240150" cy="227162"/>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社内コミュニティ</a:t>
            </a:r>
            <a:endParaRPr lang="en-US" sz="2000" dirty="0"/>
          </a:p>
        </p:txBody>
      </p:sp>
      <p:pic>
        <p:nvPicPr>
          <p:cNvPr id="20" name="Image 4" descr="preencoded.png"/>
          <p:cNvPicPr>
            <a:picLocks noChangeAspect="1"/>
          </p:cNvPicPr>
          <p:nvPr/>
        </p:nvPicPr>
        <p:blipFill>
          <a:blip r:embed="rId6"/>
          <a:srcRect l="-1358" r="-1358"/>
          <a:stretch/>
        </p:blipFill>
        <p:spPr>
          <a:xfrm>
            <a:off x="6501384" y="2378354"/>
            <a:ext cx="95098" cy="123444"/>
          </a:xfrm>
          <a:prstGeom prst="rect">
            <a:avLst/>
          </a:prstGeom>
        </p:spPr>
      </p:pic>
      <p:sp>
        <p:nvSpPr>
          <p:cNvPr id="21" name="Shape 14"/>
          <p:cNvSpPr/>
          <p:nvPr/>
        </p:nvSpPr>
        <p:spPr>
          <a:xfrm>
            <a:off x="7769075" y="2914193"/>
            <a:ext cx="2693822" cy="362102"/>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22" name="Text 15"/>
          <p:cNvSpPr txBox="1"/>
          <p:nvPr/>
        </p:nvSpPr>
        <p:spPr>
          <a:xfrm>
            <a:off x="8336917" y="3017521"/>
            <a:ext cx="1584656" cy="147218"/>
          </a:xfrm>
          <a:prstGeom prst="rect">
            <a:avLst/>
          </a:prstGeom>
          <a:noFill/>
          <a:ln/>
        </p:spPr>
        <p:txBody>
          <a:bodyPr wrap="square" lIns="0" tIns="0" rIns="0" bIns="0" rtlCol="0" anchor="ctr"/>
          <a:lstStyle/>
          <a:p>
            <a:pPr marL="0" indent="0" algn="l">
              <a:buNone/>
            </a:pPr>
            <a:r>
              <a:rPr lang="en-US" sz="2000" b="1">
                <a:solidFill>
                  <a:srgbClr val="333333"/>
                </a:solidFill>
                <a:latin typeface="Noto Sans JP" pitchFamily="34" charset="0"/>
                <a:ea typeface="Noto Sans JP" pitchFamily="34" charset="-122"/>
                <a:cs typeface="Noto Sans JP" pitchFamily="34" charset="-120"/>
              </a:rPr>
              <a:t> X</a:t>
            </a:r>
            <a:r>
              <a:rPr lang="ja-JP" altLang="en-US" sz="2000" b="1">
                <a:solidFill>
                  <a:srgbClr val="333333"/>
                </a:solidFill>
                <a:latin typeface="Noto Sans JP" pitchFamily="34" charset="0"/>
                <a:ea typeface="Noto Sans JP" pitchFamily="34" charset="-122"/>
                <a:cs typeface="Noto Sans JP" pitchFamily="34" charset="-120"/>
              </a:rPr>
              <a:t>情報発信</a:t>
            </a:r>
            <a:endParaRPr lang="en-US" sz="2000" dirty="0"/>
          </a:p>
        </p:txBody>
      </p:sp>
      <p:sp>
        <p:nvSpPr>
          <p:cNvPr id="24" name="Shape 16"/>
          <p:cNvSpPr/>
          <p:nvPr/>
        </p:nvSpPr>
        <p:spPr>
          <a:xfrm>
            <a:off x="7254268" y="3622853"/>
            <a:ext cx="3152198" cy="362102"/>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25" name="Text 17"/>
          <p:cNvSpPr txBox="1"/>
          <p:nvPr/>
        </p:nvSpPr>
        <p:spPr>
          <a:xfrm>
            <a:off x="7589852" y="3726180"/>
            <a:ext cx="2830526" cy="162763"/>
          </a:xfrm>
          <a:prstGeom prst="rect">
            <a:avLst/>
          </a:prstGeom>
          <a:noFill/>
          <a:ln/>
        </p:spPr>
        <p:txBody>
          <a:bodyPr wrap="square" lIns="0" tIns="0" rIns="0" bIns="0" rtlCol="0" anchor="ctr"/>
          <a:lstStyle/>
          <a:p>
            <a:pPr marL="0" indent="0" algn="l">
              <a:buNone/>
            </a:pPr>
            <a:r>
              <a:rPr lang="en-US" sz="2000" b="1">
                <a:solidFill>
                  <a:srgbClr val="333333"/>
                </a:solidFill>
                <a:latin typeface="Noto Sans JP" pitchFamily="34" charset="0"/>
                <a:ea typeface="Noto Sans JP" pitchFamily="34" charset="-122"/>
                <a:cs typeface="Noto Sans JP" pitchFamily="34" charset="-120"/>
              </a:rPr>
              <a:t> </a:t>
            </a:r>
            <a:r>
              <a:rPr lang="ja-JP" altLang="en-US" sz="2000" b="1">
                <a:solidFill>
                  <a:srgbClr val="333333"/>
                </a:solidFill>
                <a:latin typeface="Noto Sans JP" pitchFamily="34" charset="0"/>
                <a:ea typeface="Noto Sans JP" pitchFamily="34" charset="-122"/>
                <a:cs typeface="Noto Sans JP" pitchFamily="34" charset="-120"/>
              </a:rPr>
              <a:t>オンライン</a:t>
            </a:r>
            <a:r>
              <a:rPr lang="en-US" sz="2000" b="1">
                <a:solidFill>
                  <a:srgbClr val="333333"/>
                </a:solidFill>
                <a:latin typeface="Noto Sans JP" pitchFamily="34" charset="0"/>
                <a:ea typeface="Noto Sans JP" pitchFamily="34" charset="-122"/>
                <a:cs typeface="Noto Sans JP" pitchFamily="34" charset="-120"/>
              </a:rPr>
              <a:t>講座開始</a:t>
            </a:r>
            <a:endParaRPr lang="en-US" sz="2000" dirty="0"/>
          </a:p>
        </p:txBody>
      </p:sp>
      <p:pic>
        <p:nvPicPr>
          <p:cNvPr id="26" name="Image 6" descr="preencoded.png"/>
          <p:cNvPicPr>
            <a:picLocks noChangeAspect="1"/>
          </p:cNvPicPr>
          <p:nvPr/>
        </p:nvPicPr>
        <p:blipFill>
          <a:blip r:embed="rId7"/>
          <a:srcRect l="-2444" r="-2444"/>
          <a:stretch/>
        </p:blipFill>
        <p:spPr>
          <a:xfrm>
            <a:off x="6421831" y="3749954"/>
            <a:ext cx="161849" cy="123444"/>
          </a:xfrm>
          <a:prstGeom prst="rect">
            <a:avLst/>
          </a:prstGeom>
        </p:spPr>
      </p:pic>
      <p:sp>
        <p:nvSpPr>
          <p:cNvPr id="27" name="Shape 18"/>
          <p:cNvSpPr/>
          <p:nvPr/>
        </p:nvSpPr>
        <p:spPr>
          <a:xfrm>
            <a:off x="6296820" y="4275864"/>
            <a:ext cx="5970771" cy="449252"/>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000"/>
          </a:p>
        </p:txBody>
      </p:sp>
      <p:sp>
        <p:nvSpPr>
          <p:cNvPr id="28" name="Text 19"/>
          <p:cNvSpPr txBox="1"/>
          <p:nvPr/>
        </p:nvSpPr>
        <p:spPr>
          <a:xfrm>
            <a:off x="6782105" y="4454331"/>
            <a:ext cx="5310225" cy="95555"/>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a:t>
            </a:r>
            <a:r>
              <a:rPr lang="en-US" sz="2000" b="1">
                <a:solidFill>
                  <a:srgbClr val="333333"/>
                </a:solidFill>
                <a:latin typeface="Noto Sans JP" pitchFamily="34" charset="0"/>
                <a:ea typeface="Noto Sans JP" pitchFamily="34" charset="-122"/>
                <a:cs typeface="Noto Sans JP" pitchFamily="34" charset="-120"/>
              </a:rPr>
              <a:t>MCT申請中</a:t>
            </a:r>
            <a:r>
              <a:rPr lang="ja-JP" altLang="en-US" sz="2000" b="1">
                <a:solidFill>
                  <a:srgbClr val="333333"/>
                </a:solidFill>
                <a:latin typeface="Noto Sans JP" pitchFamily="34" charset="0"/>
                <a:ea typeface="Noto Sans JP" pitchFamily="34" charset="-122"/>
                <a:cs typeface="Noto Sans JP" pitchFamily="34" charset="-120"/>
              </a:rPr>
              <a:t>　</a:t>
            </a:r>
            <a:r>
              <a:rPr lang="en-US" altLang="ja-JP" sz="2000" b="1">
                <a:solidFill>
                  <a:srgbClr val="333333"/>
                </a:solidFill>
                <a:latin typeface="Noto Sans JP" pitchFamily="34" charset="0"/>
                <a:ea typeface="Noto Sans JP" pitchFamily="34" charset="-122"/>
                <a:cs typeface="Noto Sans JP" pitchFamily="34" charset="-120"/>
              </a:rPr>
              <a:t>Micsrosft</a:t>
            </a:r>
            <a:r>
              <a:rPr lang="ja-JP" altLang="en-US" sz="2000" b="1">
                <a:solidFill>
                  <a:srgbClr val="333333"/>
                </a:solidFill>
                <a:latin typeface="Noto Sans JP" pitchFamily="34" charset="0"/>
                <a:ea typeface="Noto Sans JP" pitchFamily="34" charset="-122"/>
                <a:cs typeface="Noto Sans JP" pitchFamily="34" charset="-120"/>
              </a:rPr>
              <a:t>認定トレーナー申請中</a:t>
            </a:r>
            <a:endParaRPr lang="en-US" sz="2000" dirty="0"/>
          </a:p>
        </p:txBody>
      </p:sp>
      <p:pic>
        <p:nvPicPr>
          <p:cNvPr id="29" name="Image 7" descr="preencoded.png"/>
          <p:cNvPicPr>
            <a:picLocks noChangeAspect="1"/>
          </p:cNvPicPr>
          <p:nvPr/>
        </p:nvPicPr>
        <p:blipFill>
          <a:blip r:embed="rId8"/>
          <a:srcRect/>
          <a:stretch/>
        </p:blipFill>
        <p:spPr>
          <a:xfrm>
            <a:off x="6658661" y="4435754"/>
            <a:ext cx="123444" cy="123444"/>
          </a:xfrm>
          <a:prstGeom prst="rect">
            <a:avLst/>
          </a:prstGeom>
        </p:spPr>
      </p:pic>
      <p:sp>
        <p:nvSpPr>
          <p:cNvPr id="30" name="Shape 20"/>
          <p:cNvSpPr/>
          <p:nvPr/>
        </p:nvSpPr>
        <p:spPr>
          <a:xfrm>
            <a:off x="6267298" y="4994453"/>
            <a:ext cx="1737360" cy="753204"/>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31" name="Text 21"/>
          <p:cNvSpPr txBox="1"/>
          <p:nvPr/>
        </p:nvSpPr>
        <p:spPr>
          <a:xfrm>
            <a:off x="6509614" y="5139928"/>
            <a:ext cx="1292048" cy="506577"/>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PPEC広島運営</a:t>
            </a:r>
            <a:endParaRPr lang="en-US" sz="2000" dirty="0"/>
          </a:p>
        </p:txBody>
      </p:sp>
      <p:sp>
        <p:nvSpPr>
          <p:cNvPr id="33" name="Shape 22"/>
          <p:cNvSpPr/>
          <p:nvPr/>
        </p:nvSpPr>
        <p:spPr>
          <a:xfrm>
            <a:off x="9419495" y="2251253"/>
            <a:ext cx="2772199" cy="413570"/>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34" name="Text 23"/>
          <p:cNvSpPr txBox="1"/>
          <p:nvPr/>
        </p:nvSpPr>
        <p:spPr>
          <a:xfrm>
            <a:off x="9609492" y="2375212"/>
            <a:ext cx="2147529" cy="185898"/>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社内イベント開催</a:t>
            </a:r>
            <a:endParaRPr lang="en-US" sz="2000" dirty="0"/>
          </a:p>
        </p:txBody>
      </p:sp>
      <p:sp>
        <p:nvSpPr>
          <p:cNvPr id="36" name="Shape 24"/>
          <p:cNvSpPr/>
          <p:nvPr/>
        </p:nvSpPr>
        <p:spPr>
          <a:xfrm>
            <a:off x="8153705" y="4994453"/>
            <a:ext cx="1983072" cy="705916"/>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37" name="Text 25"/>
          <p:cNvSpPr txBox="1"/>
          <p:nvPr/>
        </p:nvSpPr>
        <p:spPr>
          <a:xfrm>
            <a:off x="8568718" y="5227167"/>
            <a:ext cx="1210371" cy="181051"/>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DX推進者と連携</a:t>
            </a:r>
            <a:endParaRPr lang="en-US" sz="2000" dirty="0"/>
          </a:p>
        </p:txBody>
      </p:sp>
      <p:sp>
        <p:nvSpPr>
          <p:cNvPr id="39" name="Shape 26"/>
          <p:cNvSpPr/>
          <p:nvPr/>
        </p:nvSpPr>
        <p:spPr>
          <a:xfrm>
            <a:off x="10207776" y="5031942"/>
            <a:ext cx="1912919" cy="571500"/>
          </a:xfrm>
          <a:prstGeom prst="roundRect">
            <a:avLst>
              <a:gd name="adj" fmla="val 64000"/>
            </a:avLst>
          </a:prstGeom>
          <a:solidFill>
            <a:srgbClr val="333333"/>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40" name="Text 27"/>
          <p:cNvSpPr txBox="1"/>
          <p:nvPr/>
        </p:nvSpPr>
        <p:spPr>
          <a:xfrm>
            <a:off x="10531014" y="5125015"/>
            <a:ext cx="1266444" cy="362102"/>
          </a:xfrm>
          <a:prstGeom prst="rect">
            <a:avLst/>
          </a:prstGeom>
          <a:noFill/>
          <a:ln/>
        </p:spPr>
        <p:txBody>
          <a:bodyPr wrap="square" lIns="0" tIns="0" rIns="0" bIns="0" rtlCol="0" anchor="ctr"/>
          <a:lstStyle/>
          <a:p>
            <a:pPr marL="0" indent="0" algn="l">
              <a:buNone/>
            </a:pPr>
            <a:r>
              <a:rPr lang="en-US" sz="2000" b="1">
                <a:solidFill>
                  <a:srgbClr val="FFFFFF"/>
                </a:solidFill>
                <a:latin typeface="Noto Sans JP" pitchFamily="34" charset="0"/>
                <a:ea typeface="Noto Sans JP" pitchFamily="34" charset="-122"/>
                <a:cs typeface="Noto Sans JP" pitchFamily="34" charset="-120"/>
              </a:rPr>
              <a:t> PLUG運営</a:t>
            </a:r>
            <a:endParaRPr lang="en-US" sz="2000" dirty="0"/>
          </a:p>
        </p:txBody>
      </p:sp>
      <p:pic>
        <p:nvPicPr>
          <p:cNvPr id="41" name="Image 11" descr="preencoded.png"/>
          <p:cNvPicPr>
            <a:picLocks noChangeAspect="1"/>
          </p:cNvPicPr>
          <p:nvPr/>
        </p:nvPicPr>
        <p:blipFill>
          <a:blip r:embed="rId9"/>
          <a:srcRect l="-2910" r="-2910"/>
          <a:stretch/>
        </p:blipFill>
        <p:spPr>
          <a:xfrm>
            <a:off x="10402214" y="3812134"/>
            <a:ext cx="114300" cy="123444"/>
          </a:xfrm>
          <a:prstGeom prst="rect">
            <a:avLst/>
          </a:prstGeom>
        </p:spPr>
      </p:pic>
      <p:sp>
        <p:nvSpPr>
          <p:cNvPr id="42" name="Text 28"/>
          <p:cNvSpPr txBox="1"/>
          <p:nvPr/>
        </p:nvSpPr>
        <p:spPr>
          <a:xfrm>
            <a:off x="10713110" y="286207"/>
            <a:ext cx="1088136" cy="257861"/>
          </a:xfrm>
          <a:prstGeom prst="rect">
            <a:avLst/>
          </a:prstGeom>
          <a:noFill/>
          <a:ln/>
        </p:spPr>
        <p:txBody>
          <a:bodyPr wrap="square" lIns="0" tIns="0" rIns="0" bIns="0" rtlCol="0" anchor="ctr"/>
          <a:lstStyle/>
          <a:p>
            <a:pPr marL="0" indent="0" algn="l">
              <a:buNone/>
            </a:pPr>
            <a:r>
              <a:rPr lang="en-US" sz="3200" b="1">
                <a:solidFill>
                  <a:srgbClr val="FF6908"/>
                </a:solidFill>
                <a:latin typeface="Manrope" pitchFamily="34" charset="0"/>
                <a:ea typeface="Manrope" pitchFamily="34" charset="-122"/>
                <a:cs typeface="Manrope" pitchFamily="34" charset="-120"/>
              </a:rPr>
              <a:t>2026.03.14</a:t>
            </a:r>
            <a:endParaRPr lang="en-US" sz="3200" dirty="0"/>
          </a:p>
        </p:txBody>
      </p:sp>
      <p:sp>
        <p:nvSpPr>
          <p:cNvPr id="43" name="Text 29"/>
          <p:cNvSpPr txBox="1"/>
          <p:nvPr/>
        </p:nvSpPr>
        <p:spPr>
          <a:xfrm>
            <a:off x="1143000" y="381305"/>
            <a:ext cx="8166462" cy="962863"/>
          </a:xfrm>
          <a:prstGeom prst="rect">
            <a:avLst/>
          </a:prstGeom>
          <a:noFill/>
          <a:ln/>
        </p:spPr>
        <p:txBody>
          <a:bodyPr wrap="square" lIns="0" tIns="0" rIns="0" bIns="0" rtlCol="0" anchor="ctr"/>
          <a:lstStyle/>
          <a:p>
            <a:pPr marL="0" indent="0" algn="l">
              <a:buNone/>
            </a:pPr>
            <a:r>
              <a:rPr lang="en-US" sz="4400" b="1" kern="0" spc="-63" dirty="0">
                <a:solidFill>
                  <a:srgbClr val="FF6908"/>
                </a:solidFill>
                <a:latin typeface="Noto Sans JP" pitchFamily="34" charset="0"/>
                <a:ea typeface="Noto Sans JP" pitchFamily="34" charset="-122"/>
                <a:cs typeface="Noto Sans JP" pitchFamily="34" charset="-120"/>
              </a:rPr>
              <a:t>1回の「いいね」から</a:t>
            </a:r>
            <a:endParaRPr lang="en-US" sz="4400" dirty="0"/>
          </a:p>
          <a:p>
            <a:pPr marL="0" indent="0" algn="l">
              <a:buNone/>
            </a:pPr>
            <a:r>
              <a:rPr lang="en-US" sz="4000" b="1" kern="0" spc="-63">
                <a:solidFill>
                  <a:srgbClr val="333333"/>
                </a:solidFill>
                <a:latin typeface="Noto Sans JP" pitchFamily="34" charset="0"/>
                <a:ea typeface="Noto Sans JP" pitchFamily="34" charset="-122"/>
                <a:cs typeface="Noto Sans JP" pitchFamily="34" charset="-120"/>
              </a:rPr>
              <a:t>枝分かれし</a:t>
            </a:r>
            <a:r>
              <a:rPr lang="ja-JP" altLang="en-US" sz="4000" b="1" kern="0" spc="-63">
                <a:solidFill>
                  <a:srgbClr val="333333"/>
                </a:solidFill>
                <a:latin typeface="Noto Sans JP" pitchFamily="34" charset="0"/>
                <a:ea typeface="Noto Sans JP" pitchFamily="34" charset="-122"/>
                <a:cs typeface="Noto Sans JP" pitchFamily="34" charset="-120"/>
              </a:rPr>
              <a:t>、広がって</a:t>
            </a:r>
            <a:r>
              <a:rPr lang="en-US" sz="4000" b="1" kern="0" spc="-63">
                <a:solidFill>
                  <a:srgbClr val="333333"/>
                </a:solidFill>
                <a:latin typeface="Noto Sans JP" pitchFamily="34" charset="0"/>
                <a:ea typeface="Noto Sans JP" pitchFamily="34" charset="-122"/>
                <a:cs typeface="Noto Sans JP" pitchFamily="34" charset="-120"/>
              </a:rPr>
              <a:t>いった道</a:t>
            </a:r>
            <a:endParaRPr lang="en-US" sz="4400" dirty="0"/>
          </a:p>
        </p:txBody>
      </p:sp>
      <p:pic>
        <p:nvPicPr>
          <p:cNvPr id="44" name="Image 12" descr="preencoded.png"/>
          <p:cNvPicPr>
            <a:picLocks noChangeAspect="1"/>
          </p:cNvPicPr>
          <p:nvPr/>
        </p:nvPicPr>
        <p:blipFill>
          <a:blip r:embed="rId10"/>
          <a:srcRect t="-32" b="-32"/>
          <a:stretch/>
        </p:blipFill>
        <p:spPr>
          <a:xfrm>
            <a:off x="665988" y="5943600"/>
            <a:ext cx="10955121" cy="629107"/>
          </a:xfrm>
          <a:prstGeom prst="rect">
            <a:avLst/>
          </a:prstGeom>
        </p:spPr>
      </p:pic>
      <p:sp>
        <p:nvSpPr>
          <p:cNvPr id="45" name="Text 30"/>
          <p:cNvSpPr txBox="1"/>
          <p:nvPr/>
        </p:nvSpPr>
        <p:spPr>
          <a:xfrm>
            <a:off x="1284815" y="6086246"/>
            <a:ext cx="10241197" cy="342900"/>
          </a:xfrm>
          <a:prstGeom prst="rect">
            <a:avLst/>
          </a:prstGeom>
          <a:noFill/>
          <a:ln/>
        </p:spPr>
        <p:txBody>
          <a:bodyPr wrap="square" lIns="0" tIns="0" rIns="0" bIns="0" rtlCol="0" anchor="ctr"/>
          <a:lstStyle/>
          <a:p>
            <a:pPr marL="0" indent="0" algn="l">
              <a:buNone/>
            </a:pPr>
            <a:r>
              <a:rPr lang="en-US" sz="4400" b="1" dirty="0">
                <a:solidFill>
                  <a:srgbClr val="FF6908"/>
                </a:solidFill>
                <a:latin typeface="Noto Sans JP" pitchFamily="34" charset="0"/>
                <a:ea typeface="Noto Sans JP" pitchFamily="34" charset="-122"/>
                <a:cs typeface="Noto Sans JP" pitchFamily="34" charset="-120"/>
              </a:rPr>
              <a:t>全部、最初の「いいね」から伸びた枝。</a:t>
            </a:r>
            <a:endParaRPr lang="en-US" sz="4400" dirty="0"/>
          </a:p>
        </p:txBody>
      </p:sp>
      <p:sp>
        <p:nvSpPr>
          <p:cNvPr id="46" name="Text 13">
            <a:extLst>
              <a:ext uri="{FF2B5EF4-FFF2-40B4-BE49-F238E27FC236}">
                <a16:creationId xmlns:a16="http://schemas.microsoft.com/office/drawing/2014/main" id="{63C91F06-562D-18EC-49DB-9256EA8365DA}"/>
              </a:ext>
            </a:extLst>
          </p:cNvPr>
          <p:cNvSpPr txBox="1"/>
          <p:nvPr/>
        </p:nvSpPr>
        <p:spPr>
          <a:xfrm rot="253509">
            <a:off x="2540011" y="1882222"/>
            <a:ext cx="2972205" cy="560728"/>
          </a:xfrm>
          <a:prstGeom prst="rect">
            <a:avLst/>
          </a:prstGeom>
          <a:noFill/>
          <a:ln/>
        </p:spPr>
        <p:txBody>
          <a:bodyPr wrap="square" lIns="0" tIns="0" rIns="0" bIns="0" rtlCol="0" anchor="ctr"/>
          <a:lstStyle/>
          <a:p>
            <a:pPr marL="0" indent="0" algn="l">
              <a:buNone/>
            </a:pPr>
            <a:r>
              <a:rPr lang="en-US" sz="2000" b="1">
                <a:solidFill>
                  <a:srgbClr val="333333"/>
                </a:solidFill>
                <a:latin typeface="Noto Sans JP" pitchFamily="34" charset="0"/>
                <a:ea typeface="Noto Sans JP" pitchFamily="34" charset="-122"/>
                <a:cs typeface="Noto Sans JP" pitchFamily="34" charset="-120"/>
              </a:rPr>
              <a:t> </a:t>
            </a:r>
            <a:r>
              <a:rPr lang="ja-JP" altLang="en-US" sz="2000" b="1">
                <a:solidFill>
                  <a:srgbClr val="333333"/>
                </a:solidFill>
                <a:latin typeface="Noto Sans JP" pitchFamily="34" charset="0"/>
                <a:ea typeface="Noto Sans JP" pitchFamily="34" charset="-122"/>
                <a:cs typeface="Noto Sans JP" pitchFamily="34" charset="-120"/>
              </a:rPr>
              <a:t>リアクションをもらえた</a:t>
            </a:r>
            <a:endParaRPr lang="en-US" altLang="ja-JP" sz="2000" b="1" dirty="0">
              <a:solidFill>
                <a:srgbClr val="333333"/>
              </a:solidFill>
              <a:latin typeface="Noto Sans JP" pitchFamily="34" charset="0"/>
              <a:ea typeface="Noto Sans JP" pitchFamily="34" charset="-122"/>
              <a:cs typeface="Noto Sans JP" pitchFamily="34" charset="-120"/>
            </a:endParaRPr>
          </a:p>
          <a:p>
            <a:pPr marL="0" indent="0" algn="l">
              <a:buNone/>
            </a:pPr>
            <a:r>
              <a:rPr lang="ja-JP" altLang="en-US" sz="2000" b="1">
                <a:solidFill>
                  <a:srgbClr val="333333"/>
                </a:solidFill>
                <a:latin typeface="Noto Sans JP" pitchFamily="34" charset="0"/>
                <a:ea typeface="Noto Sans JP" pitchFamily="34" charset="-122"/>
                <a:cs typeface="Noto Sans JP" pitchFamily="34" charset="-120"/>
              </a:rPr>
              <a:t>→参加してみようかな</a:t>
            </a:r>
            <a:endParaRPr lang="en-US" altLang="ja-JP" sz="2000" b="1">
              <a:solidFill>
                <a:srgbClr val="333333"/>
              </a:solidFill>
              <a:latin typeface="Noto Sans JP" pitchFamily="34" charset="0"/>
              <a:ea typeface="Noto Sans JP" pitchFamily="34" charset="-122"/>
              <a:cs typeface="Noto Sans JP" pitchFamily="34" charset="-120"/>
            </a:endParaRPr>
          </a:p>
        </p:txBody>
      </p:sp>
      <p:pic>
        <p:nvPicPr>
          <p:cNvPr id="47" name="図 46" descr="Power Platform - Meet Up&#10;&#10;AI 生成コンテンツは誤りを含む可能性があります。">
            <a:extLst>
              <a:ext uri="{FF2B5EF4-FFF2-40B4-BE49-F238E27FC236}">
                <a16:creationId xmlns:a16="http://schemas.microsoft.com/office/drawing/2014/main" id="{20F0CA66-B8A1-7E8C-A568-9D8310DA0DB3}"/>
              </a:ext>
            </a:extLst>
          </p:cNvPr>
          <p:cNvPicPr>
            <a:picLocks noChangeAspect="1"/>
          </p:cNvPicPr>
          <p:nvPr/>
        </p:nvPicPr>
        <p:blipFill>
          <a:blip r:embed="rId11"/>
          <a:srcRect l="74500" t="35767" b="27313"/>
          <a:stretch>
            <a:fillRect/>
          </a:stretch>
        </p:blipFill>
        <p:spPr>
          <a:xfrm>
            <a:off x="3420013" y="2445167"/>
            <a:ext cx="810154" cy="879732"/>
          </a:xfrm>
          <a:prstGeom prst="ellipse">
            <a:avLst/>
          </a:prstGeom>
          <a:ln w="254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49" name="直線矢印コネクタ 48">
            <a:extLst>
              <a:ext uri="{FF2B5EF4-FFF2-40B4-BE49-F238E27FC236}">
                <a16:creationId xmlns:a16="http://schemas.microsoft.com/office/drawing/2014/main" id="{643A979D-D837-14DA-CF50-DF69416B2E98}"/>
              </a:ext>
            </a:extLst>
          </p:cNvPr>
          <p:cNvCxnSpPr/>
          <p:nvPr/>
        </p:nvCxnSpPr>
        <p:spPr>
          <a:xfrm>
            <a:off x="2684919" y="4023926"/>
            <a:ext cx="642488" cy="0"/>
          </a:xfrm>
          <a:prstGeom prst="straightConnector1">
            <a:avLst/>
          </a:prstGeom>
          <a:ln w="984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28ABD9DA-BF26-0120-429C-E91B222F9C21}"/>
              </a:ext>
            </a:extLst>
          </p:cNvPr>
          <p:cNvCxnSpPr>
            <a:cxnSpLocks/>
          </p:cNvCxnSpPr>
          <p:nvPr/>
        </p:nvCxnSpPr>
        <p:spPr>
          <a:xfrm>
            <a:off x="1270135" y="3076998"/>
            <a:ext cx="55742" cy="578031"/>
          </a:xfrm>
          <a:prstGeom prst="straightConnector1">
            <a:avLst/>
          </a:prstGeom>
          <a:ln w="984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B3A06A74-E968-27E3-017D-4C80951619F9}"/>
              </a:ext>
            </a:extLst>
          </p:cNvPr>
          <p:cNvCxnSpPr>
            <a:cxnSpLocks/>
            <a:stCxn id="15" idx="3"/>
            <a:endCxn id="18" idx="1"/>
          </p:cNvCxnSpPr>
          <p:nvPr/>
        </p:nvCxnSpPr>
        <p:spPr>
          <a:xfrm flipV="1">
            <a:off x="6002382" y="2450135"/>
            <a:ext cx="929640" cy="1541529"/>
          </a:xfrm>
          <a:prstGeom prst="bentConnector3">
            <a:avLst>
              <a:gd name="adj1" fmla="val 50000"/>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F4CD86A5-949E-1DC8-5201-527FBEB5F18B}"/>
              </a:ext>
            </a:extLst>
          </p:cNvPr>
          <p:cNvCxnSpPr>
            <a:cxnSpLocks/>
            <a:stCxn id="15" idx="3"/>
            <a:endCxn id="21" idx="1"/>
          </p:cNvCxnSpPr>
          <p:nvPr/>
        </p:nvCxnSpPr>
        <p:spPr>
          <a:xfrm flipV="1">
            <a:off x="6002382" y="3095244"/>
            <a:ext cx="1766693" cy="896420"/>
          </a:xfrm>
          <a:prstGeom prst="bentConnector3">
            <a:avLst>
              <a:gd name="adj1" fmla="val 50000"/>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コネクタ: カギ線 59">
            <a:extLst>
              <a:ext uri="{FF2B5EF4-FFF2-40B4-BE49-F238E27FC236}">
                <a16:creationId xmlns:a16="http://schemas.microsoft.com/office/drawing/2014/main" id="{834C9051-323E-B0E0-18CA-D89835B3CD9B}"/>
              </a:ext>
            </a:extLst>
          </p:cNvPr>
          <p:cNvCxnSpPr>
            <a:cxnSpLocks/>
            <a:stCxn id="15" idx="3"/>
            <a:endCxn id="24" idx="1"/>
          </p:cNvCxnSpPr>
          <p:nvPr/>
        </p:nvCxnSpPr>
        <p:spPr>
          <a:xfrm flipV="1">
            <a:off x="6002382" y="3803904"/>
            <a:ext cx="1251886" cy="187760"/>
          </a:xfrm>
          <a:prstGeom prst="bentConnector3">
            <a:avLst>
              <a:gd name="adj1" fmla="val 85362"/>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14D56711-9568-0CAE-DF91-CD1F01F3AC69}"/>
              </a:ext>
            </a:extLst>
          </p:cNvPr>
          <p:cNvCxnSpPr>
            <a:cxnSpLocks/>
            <a:endCxn id="27" idx="1"/>
          </p:cNvCxnSpPr>
          <p:nvPr/>
        </p:nvCxnSpPr>
        <p:spPr>
          <a:xfrm rot="16200000" flipH="1">
            <a:off x="5891017" y="4094686"/>
            <a:ext cx="544173" cy="267434"/>
          </a:xfrm>
          <a:prstGeom prst="bentConnector2">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コネクタ: カギ線 70">
            <a:extLst>
              <a:ext uri="{FF2B5EF4-FFF2-40B4-BE49-F238E27FC236}">
                <a16:creationId xmlns:a16="http://schemas.microsoft.com/office/drawing/2014/main" id="{82C93AB4-F658-16F2-80DB-1B09F6DE3902}"/>
              </a:ext>
            </a:extLst>
          </p:cNvPr>
          <p:cNvCxnSpPr>
            <a:cxnSpLocks/>
            <a:stCxn id="15" idx="2"/>
            <a:endCxn id="30" idx="1"/>
          </p:cNvCxnSpPr>
          <p:nvPr/>
        </p:nvCxnSpPr>
        <p:spPr>
          <a:xfrm rot="16200000" flipH="1">
            <a:off x="4987577" y="4091334"/>
            <a:ext cx="876276" cy="1683166"/>
          </a:xfrm>
          <a:prstGeom prst="bentConnector2">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Text 2"/>
          <p:cNvSpPr txBox="1"/>
          <p:nvPr/>
        </p:nvSpPr>
        <p:spPr>
          <a:xfrm>
            <a:off x="381305" y="286207"/>
            <a:ext cx="1059790" cy="762610"/>
          </a:xfrm>
          <a:prstGeom prst="rect">
            <a:avLst/>
          </a:prstGeom>
          <a:noFill/>
          <a:ln/>
        </p:spPr>
        <p:txBody>
          <a:bodyPr wrap="square" lIns="0" tIns="0" rIns="0" bIns="0" rtlCol="0" anchor="ctr"/>
          <a:lstStyle/>
          <a:p>
            <a:pPr marL="0" indent="0" algn="l">
              <a:buNone/>
            </a:pPr>
            <a:r>
              <a:rPr lang="en-US" sz="6000" b="1" dirty="0">
                <a:solidFill>
                  <a:srgbClr val="FF6908">
                    <a:alpha val="20000"/>
                  </a:srgbClr>
                </a:solidFill>
                <a:latin typeface="Manrope" pitchFamily="34" charset="0"/>
                <a:ea typeface="Manrope" pitchFamily="34" charset="-122"/>
                <a:cs typeface="Manrope" pitchFamily="34" charset="-120"/>
              </a:rPr>
              <a:t>02</a:t>
            </a:r>
            <a:endParaRPr lang="en-US" sz="6000" dirty="0"/>
          </a:p>
        </p:txBody>
      </p:sp>
      <p:sp>
        <p:nvSpPr>
          <p:cNvPr id="5" name="Shape 3"/>
          <p:cNvSpPr/>
          <p:nvPr/>
        </p:nvSpPr>
        <p:spPr>
          <a:xfrm>
            <a:off x="9334195" y="4476902"/>
            <a:ext cx="3810305" cy="3810305"/>
          </a:xfrm>
          <a:prstGeom prst="ellipse">
            <a:avLst/>
          </a:prstGeom>
          <a:solidFill>
            <a:srgbClr val="FFF3EB">
              <a:alpha val="60000"/>
            </a:srgbClr>
          </a:solidFill>
          <a:ln w="12700">
            <a:solidFill>
              <a:srgbClr val="FFFFFF">
                <a:alpha val="0"/>
              </a:srgbClr>
            </a:solidFill>
            <a:prstDash val="solid"/>
          </a:ln>
        </p:spPr>
        <p:txBody>
          <a:bodyPr/>
          <a:lstStyle/>
          <a:p>
            <a:endParaRPr lang="ja-JP" altLang="en-US"/>
          </a:p>
        </p:txBody>
      </p:sp>
      <p:sp>
        <p:nvSpPr>
          <p:cNvPr id="6" name="Text 4"/>
          <p:cNvSpPr txBox="1"/>
          <p:nvPr/>
        </p:nvSpPr>
        <p:spPr>
          <a:xfrm>
            <a:off x="10713110" y="381305"/>
            <a:ext cx="1088136" cy="257861"/>
          </a:xfrm>
          <a:prstGeom prst="rect">
            <a:avLst/>
          </a:prstGeom>
          <a:noFill/>
          <a:ln/>
        </p:spPr>
        <p:txBody>
          <a:bodyPr wrap="square" lIns="0" tIns="0" rIns="0" bIns="0" rtlCol="0" anchor="ctr"/>
          <a:lstStyle/>
          <a:p>
            <a:pPr marL="0" indent="0" algn="l">
              <a:buNone/>
            </a:pPr>
            <a:r>
              <a:rPr lang="en-US" sz="1300" b="1" dirty="0">
                <a:solidFill>
                  <a:srgbClr val="FF6908"/>
                </a:solidFill>
                <a:latin typeface="Manrope" pitchFamily="34" charset="0"/>
                <a:ea typeface="Manrope" pitchFamily="34" charset="-122"/>
                <a:cs typeface="Manrope" pitchFamily="34" charset="-120"/>
              </a:rPr>
              <a:t>2026.03.10</a:t>
            </a:r>
            <a:endParaRPr lang="en-US" sz="1300" dirty="0"/>
          </a:p>
        </p:txBody>
      </p:sp>
      <p:pic>
        <p:nvPicPr>
          <p:cNvPr id="7" name="Image 0" descr="preencoded.png"/>
          <p:cNvPicPr>
            <a:picLocks noChangeAspect="1"/>
          </p:cNvPicPr>
          <p:nvPr/>
        </p:nvPicPr>
        <p:blipFill>
          <a:blip r:embed="rId3"/>
          <a:srcRect l="-80" r="-80"/>
          <a:stretch/>
        </p:blipFill>
        <p:spPr>
          <a:xfrm>
            <a:off x="730217" y="2270651"/>
            <a:ext cx="508795" cy="406386"/>
          </a:xfrm>
          <a:prstGeom prst="rect">
            <a:avLst/>
          </a:prstGeom>
        </p:spPr>
      </p:pic>
      <p:sp>
        <p:nvSpPr>
          <p:cNvPr id="8" name="Text 5"/>
          <p:cNvSpPr txBox="1"/>
          <p:nvPr/>
        </p:nvSpPr>
        <p:spPr>
          <a:xfrm>
            <a:off x="1689286" y="2230745"/>
            <a:ext cx="9772497" cy="463078"/>
          </a:xfrm>
          <a:prstGeom prst="rect">
            <a:avLst/>
          </a:prstGeom>
          <a:noFill/>
          <a:ln/>
        </p:spPr>
        <p:txBody>
          <a:bodyPr wrap="square" lIns="0" tIns="0" rIns="0" bIns="0" rtlCol="0" anchor="ctr"/>
          <a:lstStyle/>
          <a:p>
            <a:pPr marL="0" indent="0" algn="l">
              <a:buNone/>
            </a:pPr>
            <a:r>
              <a:rPr lang="en-US" sz="2400" dirty="0">
                <a:solidFill>
                  <a:srgbClr val="333333"/>
                </a:solidFill>
                <a:latin typeface="Noto Sans JP" panose="020B0200000000000000" pitchFamily="50" charset="-128"/>
                <a:ea typeface="Noto Sans JP" panose="020B0200000000000000" pitchFamily="50" charset="-128"/>
                <a:cs typeface="M PLUS 1p" pitchFamily="34" charset="-120"/>
              </a:rPr>
              <a:t>会社で一人でPower Platformに取り組み、正直</a:t>
            </a:r>
            <a:r>
              <a:rPr lang="en-US" sz="2400" b="1" dirty="0">
                <a:solidFill>
                  <a:srgbClr val="FF6908"/>
                </a:solidFill>
                <a:latin typeface="Noto Sans JP" panose="020B0200000000000000" pitchFamily="50" charset="-128"/>
                <a:ea typeface="Noto Sans JP" panose="020B0200000000000000" pitchFamily="50" charset="-128"/>
                <a:cs typeface="M PLUS 1p" pitchFamily="34" charset="-120"/>
              </a:rPr>
              <a:t>孤独</a:t>
            </a:r>
            <a:r>
              <a:rPr lang="en-US" sz="2400" dirty="0">
                <a:solidFill>
                  <a:srgbClr val="333333"/>
                </a:solidFill>
                <a:latin typeface="Noto Sans JP" panose="020B0200000000000000" pitchFamily="50" charset="-128"/>
                <a:ea typeface="Noto Sans JP" panose="020B0200000000000000" pitchFamily="50" charset="-128"/>
                <a:cs typeface="M PLUS 1p" pitchFamily="34" charset="-120"/>
              </a:rPr>
              <a:t>だった</a:t>
            </a:r>
            <a:endParaRPr lang="en-US" sz="2400" dirty="0">
              <a:latin typeface="Noto Sans JP" panose="020B0200000000000000" pitchFamily="50" charset="-128"/>
              <a:ea typeface="Noto Sans JP" panose="020B0200000000000000" pitchFamily="50" charset="-128"/>
            </a:endParaRPr>
          </a:p>
        </p:txBody>
      </p:sp>
      <p:pic>
        <p:nvPicPr>
          <p:cNvPr id="9" name="Image 1" descr="preencoded.png"/>
          <p:cNvPicPr>
            <a:picLocks noChangeAspect="1"/>
          </p:cNvPicPr>
          <p:nvPr/>
        </p:nvPicPr>
        <p:blipFill>
          <a:blip r:embed="rId4"/>
          <a:srcRect/>
          <a:stretch/>
        </p:blipFill>
        <p:spPr>
          <a:xfrm>
            <a:off x="731520" y="3015690"/>
            <a:ext cx="449885" cy="449885"/>
          </a:xfrm>
          <a:prstGeom prst="rect">
            <a:avLst/>
          </a:prstGeom>
        </p:spPr>
      </p:pic>
      <p:sp>
        <p:nvSpPr>
          <p:cNvPr id="10" name="Text 6"/>
          <p:cNvSpPr txBox="1"/>
          <p:nvPr/>
        </p:nvSpPr>
        <p:spPr>
          <a:xfrm>
            <a:off x="1410004" y="2958084"/>
            <a:ext cx="10051779" cy="463078"/>
          </a:xfrm>
          <a:prstGeom prst="rect">
            <a:avLst/>
          </a:prstGeom>
          <a:noFill/>
          <a:ln/>
        </p:spPr>
        <p:txBody>
          <a:bodyPr wrap="square" lIns="0" tIns="0" rIns="0" bIns="0" rtlCol="0" anchor="ctr"/>
          <a:lstStyle/>
          <a:p>
            <a:pPr marL="0" indent="0" algn="l">
              <a:buNone/>
            </a:pPr>
            <a:r>
              <a:rPr lang="en-US" sz="2400" dirty="0">
                <a:solidFill>
                  <a:srgbClr val="333333"/>
                </a:solidFill>
                <a:latin typeface="Noto Sans JP" panose="020B0200000000000000" pitchFamily="50" charset="-128"/>
                <a:ea typeface="Noto Sans JP" panose="020B0200000000000000" pitchFamily="50" charset="-128"/>
                <a:cs typeface="M PLUS 1p" pitchFamily="34" charset="-120"/>
              </a:rPr>
              <a:t>X（旧Twitter）で「PBI</a:t>
            </a:r>
            <a:r>
              <a:rPr lang="en-US" sz="2400">
                <a:solidFill>
                  <a:srgbClr val="333333"/>
                </a:solidFill>
                <a:latin typeface="Noto Sans JP" panose="020B0200000000000000" pitchFamily="50" charset="-128"/>
                <a:ea typeface="Noto Sans JP" panose="020B0200000000000000" pitchFamily="50" charset="-128"/>
                <a:cs typeface="M PLUS 1p" pitchFamily="34" charset="-120"/>
              </a:rPr>
              <a:t>広島」</a:t>
            </a:r>
            <a:r>
              <a:rPr lang="ja-JP" altLang="en-US" sz="2400">
                <a:solidFill>
                  <a:srgbClr val="333333"/>
                </a:solidFill>
                <a:latin typeface="Noto Sans JP" panose="020B0200000000000000" pitchFamily="50" charset="-128"/>
                <a:ea typeface="Noto Sans JP" panose="020B0200000000000000" pitchFamily="50" charset="-128"/>
                <a:cs typeface="M PLUS 1p" pitchFamily="34" charset="-120"/>
              </a:rPr>
              <a:t>コミュニティ</a:t>
            </a:r>
            <a:r>
              <a:rPr lang="en-US" sz="2400">
                <a:solidFill>
                  <a:srgbClr val="333333"/>
                </a:solidFill>
                <a:latin typeface="Noto Sans JP" panose="020B0200000000000000" pitchFamily="50" charset="-128"/>
                <a:ea typeface="Noto Sans JP" panose="020B0200000000000000" pitchFamily="50" charset="-128"/>
                <a:cs typeface="M PLUS 1p" pitchFamily="34" charset="-120"/>
              </a:rPr>
              <a:t>の投稿を見つけて </a:t>
            </a:r>
            <a:r>
              <a:rPr lang="en-US" sz="2400" b="1" dirty="0">
                <a:solidFill>
                  <a:srgbClr val="FF6908"/>
                </a:solidFill>
                <a:latin typeface="Noto Sans JP" panose="020B0200000000000000" pitchFamily="50" charset="-128"/>
                <a:ea typeface="Noto Sans JP" panose="020B0200000000000000" pitchFamily="50" charset="-128"/>
                <a:cs typeface="M PLUS 1p" pitchFamily="34" charset="-120"/>
              </a:rPr>
              <a:t>いいね</a:t>
            </a:r>
            <a:endParaRPr lang="en-US" sz="2400" dirty="0">
              <a:latin typeface="Noto Sans JP" panose="020B0200000000000000" pitchFamily="50" charset="-128"/>
              <a:ea typeface="Noto Sans JP" panose="020B0200000000000000" pitchFamily="50" charset="-128"/>
            </a:endParaRPr>
          </a:p>
        </p:txBody>
      </p:sp>
      <p:pic>
        <p:nvPicPr>
          <p:cNvPr id="11" name="Image 2" descr="preencoded.png"/>
          <p:cNvPicPr>
            <a:picLocks noChangeAspect="1"/>
          </p:cNvPicPr>
          <p:nvPr/>
        </p:nvPicPr>
        <p:blipFill>
          <a:blip r:embed="rId5"/>
          <a:srcRect/>
          <a:stretch/>
        </p:blipFill>
        <p:spPr>
          <a:xfrm>
            <a:off x="693115" y="3667985"/>
            <a:ext cx="449885" cy="449885"/>
          </a:xfrm>
          <a:prstGeom prst="rect">
            <a:avLst/>
          </a:prstGeom>
        </p:spPr>
      </p:pic>
      <p:sp>
        <p:nvSpPr>
          <p:cNvPr id="12" name="Text 7"/>
          <p:cNvSpPr txBox="1"/>
          <p:nvPr/>
        </p:nvSpPr>
        <p:spPr>
          <a:xfrm>
            <a:off x="1514508" y="3667985"/>
            <a:ext cx="8083936" cy="463078"/>
          </a:xfrm>
          <a:prstGeom prst="rect">
            <a:avLst/>
          </a:prstGeom>
          <a:noFill/>
          <a:ln/>
        </p:spPr>
        <p:txBody>
          <a:bodyPr wrap="square" lIns="0" tIns="0" rIns="0" bIns="0" rtlCol="0" anchor="ctr"/>
          <a:lstStyle/>
          <a:p>
            <a:pPr marL="0" indent="0" algn="l">
              <a:buNone/>
            </a:pPr>
            <a:r>
              <a:rPr lang="en-US" sz="2400" dirty="0">
                <a:solidFill>
                  <a:srgbClr val="333333"/>
                </a:solidFill>
                <a:latin typeface="Noto Sans JP" panose="020B0200000000000000" pitchFamily="50" charset="-128"/>
                <a:ea typeface="Noto Sans JP" panose="020B0200000000000000" pitchFamily="50" charset="-128"/>
                <a:cs typeface="M PLUS 1p" pitchFamily="34" charset="-120"/>
              </a:rPr>
              <a:t>「行ってみよう」と思えた不安 → 少しの</a:t>
            </a:r>
            <a:r>
              <a:rPr lang="en-US" sz="2400" b="1" dirty="0">
                <a:solidFill>
                  <a:srgbClr val="FF6908"/>
                </a:solidFill>
                <a:latin typeface="Noto Sans JP" panose="020B0200000000000000" pitchFamily="50" charset="-128"/>
                <a:ea typeface="Noto Sans JP" panose="020B0200000000000000" pitchFamily="50" charset="-128"/>
                <a:cs typeface="M PLUS 1p" pitchFamily="34" charset="-120"/>
              </a:rPr>
              <a:t>ワクワク</a:t>
            </a:r>
            <a:endParaRPr lang="en-US" sz="2400" dirty="0">
              <a:latin typeface="Noto Sans JP" panose="020B0200000000000000" pitchFamily="50" charset="-128"/>
              <a:ea typeface="Noto Sans JP" panose="020B0200000000000000" pitchFamily="50" charset="-128"/>
            </a:endParaRPr>
          </a:p>
        </p:txBody>
      </p:sp>
      <p:pic>
        <p:nvPicPr>
          <p:cNvPr id="13" name="Image 3" descr="preencoded.png"/>
          <p:cNvPicPr>
            <a:picLocks noChangeAspect="1"/>
          </p:cNvPicPr>
          <p:nvPr/>
        </p:nvPicPr>
        <p:blipFill>
          <a:blip r:embed="rId6"/>
          <a:srcRect l="-57" r="-57"/>
          <a:stretch/>
        </p:blipFill>
        <p:spPr>
          <a:xfrm>
            <a:off x="831712" y="4431975"/>
            <a:ext cx="349693" cy="399192"/>
          </a:xfrm>
          <a:prstGeom prst="rect">
            <a:avLst/>
          </a:prstGeom>
        </p:spPr>
      </p:pic>
      <p:sp>
        <p:nvSpPr>
          <p:cNvPr id="14" name="Text 8"/>
          <p:cNvSpPr txBox="1"/>
          <p:nvPr/>
        </p:nvSpPr>
        <p:spPr>
          <a:xfrm>
            <a:off x="1564415" y="4431975"/>
            <a:ext cx="7984121" cy="463078"/>
          </a:xfrm>
          <a:prstGeom prst="rect">
            <a:avLst/>
          </a:prstGeom>
          <a:noFill/>
          <a:ln/>
        </p:spPr>
        <p:txBody>
          <a:bodyPr wrap="square" lIns="0" tIns="0" rIns="0" bIns="0" rtlCol="0" anchor="ctr"/>
          <a:lstStyle/>
          <a:p>
            <a:pPr marL="0" indent="0" algn="l">
              <a:buNone/>
            </a:pPr>
            <a:r>
              <a:rPr lang="en-US" sz="2400" dirty="0">
                <a:solidFill>
                  <a:srgbClr val="333333"/>
                </a:solidFill>
                <a:latin typeface="Noto Sans JP" panose="020B0200000000000000" pitchFamily="50" charset="-128"/>
                <a:ea typeface="Noto Sans JP" panose="020B0200000000000000" pitchFamily="50" charset="-128"/>
                <a:cs typeface="M PLUS 1p" pitchFamily="34" charset="-120"/>
              </a:rPr>
              <a:t>その小さな一歩が私の業務人生の</a:t>
            </a:r>
            <a:r>
              <a:rPr lang="en-US" sz="2400" b="1" dirty="0">
                <a:solidFill>
                  <a:srgbClr val="FF6908"/>
                </a:solidFill>
                <a:latin typeface="Noto Sans JP" panose="020B0200000000000000" pitchFamily="50" charset="-128"/>
                <a:ea typeface="Noto Sans JP" panose="020B0200000000000000" pitchFamily="50" charset="-128"/>
                <a:cs typeface="M PLUS 1p" pitchFamily="34" charset="-120"/>
              </a:rPr>
              <a:t>分岐点</a:t>
            </a:r>
            <a:r>
              <a:rPr lang="en-US" sz="2400" dirty="0">
                <a:solidFill>
                  <a:srgbClr val="333333"/>
                </a:solidFill>
                <a:latin typeface="Noto Sans JP" panose="020B0200000000000000" pitchFamily="50" charset="-128"/>
                <a:ea typeface="Noto Sans JP" panose="020B0200000000000000" pitchFamily="50" charset="-128"/>
                <a:cs typeface="M PLUS 1p" pitchFamily="34" charset="-120"/>
              </a:rPr>
              <a:t>になった</a:t>
            </a:r>
            <a:endParaRPr lang="en-US" sz="2400" dirty="0">
              <a:latin typeface="Noto Sans JP" panose="020B0200000000000000" pitchFamily="50" charset="-128"/>
              <a:ea typeface="Noto Sans JP" panose="020B0200000000000000" pitchFamily="50" charset="-128"/>
            </a:endParaRPr>
          </a:p>
        </p:txBody>
      </p:sp>
      <p:pic>
        <p:nvPicPr>
          <p:cNvPr id="15" name="Image 4" descr="preencoded.png"/>
          <p:cNvPicPr>
            <a:picLocks noChangeAspect="1"/>
          </p:cNvPicPr>
          <p:nvPr/>
        </p:nvPicPr>
        <p:blipFill>
          <a:blip r:embed="rId7"/>
          <a:srcRect t="-1" b="-1"/>
          <a:stretch/>
        </p:blipFill>
        <p:spPr>
          <a:xfrm>
            <a:off x="952805" y="5263286"/>
            <a:ext cx="10477195" cy="914400"/>
          </a:xfrm>
          <a:prstGeom prst="rect">
            <a:avLst/>
          </a:prstGeom>
        </p:spPr>
      </p:pic>
      <p:sp>
        <p:nvSpPr>
          <p:cNvPr id="16" name="Text 9"/>
          <p:cNvSpPr txBox="1"/>
          <p:nvPr/>
        </p:nvSpPr>
        <p:spPr>
          <a:xfrm>
            <a:off x="1314907" y="5491886"/>
            <a:ext cx="9829800" cy="457200"/>
          </a:xfrm>
          <a:prstGeom prst="rect">
            <a:avLst/>
          </a:prstGeom>
          <a:noFill/>
          <a:ln/>
        </p:spPr>
        <p:txBody>
          <a:bodyPr wrap="square" lIns="0" tIns="0" rIns="0" bIns="0" rtlCol="0" anchor="ctr"/>
          <a:lstStyle/>
          <a:p>
            <a:pPr marL="0" indent="0" algn="ctr">
              <a:buNone/>
            </a:pPr>
            <a:r>
              <a:rPr lang="en-US" sz="2400" b="1" kern="0" spc="120" dirty="0">
                <a:solidFill>
                  <a:srgbClr val="FF6908"/>
                </a:solidFill>
                <a:latin typeface="Noto Sans JP" pitchFamily="34" charset="0"/>
                <a:ea typeface="Noto Sans JP" pitchFamily="34" charset="-122"/>
                <a:cs typeface="Noto Sans JP" pitchFamily="34" charset="-120"/>
              </a:rPr>
              <a:t>たった1つの「いいね」で景色が変わる。</a:t>
            </a:r>
            <a:endParaRPr lang="en-US" sz="2400" dirty="0"/>
          </a:p>
        </p:txBody>
      </p:sp>
      <p:sp>
        <p:nvSpPr>
          <p:cNvPr id="17" name="Text 10"/>
          <p:cNvSpPr txBox="1"/>
          <p:nvPr/>
        </p:nvSpPr>
        <p:spPr>
          <a:xfrm>
            <a:off x="1143000" y="476402"/>
            <a:ext cx="3268980" cy="1105510"/>
          </a:xfrm>
          <a:prstGeom prst="rect">
            <a:avLst/>
          </a:prstGeom>
          <a:noFill/>
          <a:ln/>
        </p:spPr>
        <p:txBody>
          <a:bodyPr wrap="square" lIns="0" tIns="0" rIns="0" bIns="0" rtlCol="0" anchor="ctr"/>
          <a:lstStyle/>
          <a:p>
            <a:pPr marL="0" indent="0" algn="l">
              <a:buNone/>
            </a:pPr>
            <a:r>
              <a:rPr lang="en-US" sz="3600" b="1" kern="0" spc="-72" dirty="0">
                <a:solidFill>
                  <a:srgbClr val="FF6908"/>
                </a:solidFill>
                <a:latin typeface="Noto Sans JP" pitchFamily="34" charset="0"/>
                <a:ea typeface="Noto Sans JP" pitchFamily="34" charset="-122"/>
                <a:cs typeface="Noto Sans JP" pitchFamily="34" charset="-120"/>
              </a:rPr>
              <a:t>最初の分岐点</a:t>
            </a:r>
            <a:endParaRPr lang="en-US" sz="3600" dirty="0"/>
          </a:p>
          <a:p>
            <a:pPr marL="0" indent="0" algn="l">
              <a:buNone/>
            </a:pPr>
            <a:r>
              <a:rPr lang="en-US" sz="2400" b="1" kern="0" spc="-72" dirty="0">
                <a:solidFill>
                  <a:srgbClr val="333333"/>
                </a:solidFill>
                <a:latin typeface="Noto Sans JP" pitchFamily="34" charset="0"/>
                <a:ea typeface="Noto Sans JP" pitchFamily="34" charset="-122"/>
                <a:cs typeface="Noto Sans JP" pitchFamily="34" charset="-120"/>
              </a:rPr>
              <a:t>（PBI広島との出会い）</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305" y="21183"/>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Text 2"/>
          <p:cNvSpPr txBox="1"/>
          <p:nvPr/>
        </p:nvSpPr>
        <p:spPr>
          <a:xfrm>
            <a:off x="381305" y="286207"/>
            <a:ext cx="1069848" cy="762610"/>
          </a:xfrm>
          <a:prstGeom prst="rect">
            <a:avLst/>
          </a:prstGeom>
          <a:noFill/>
          <a:ln/>
        </p:spPr>
        <p:txBody>
          <a:bodyPr wrap="square" lIns="0" tIns="0" rIns="0" bIns="0" rtlCol="0" anchor="ctr"/>
          <a:lstStyle/>
          <a:p>
            <a:pPr marL="0" indent="0" algn="l">
              <a:buNone/>
            </a:pPr>
            <a:r>
              <a:rPr lang="en-US" sz="6000" b="1" dirty="0">
                <a:solidFill>
                  <a:srgbClr val="FF6908">
                    <a:alpha val="20000"/>
                  </a:srgbClr>
                </a:solidFill>
                <a:latin typeface="Manrope" pitchFamily="34" charset="0"/>
                <a:ea typeface="Manrope" pitchFamily="34" charset="-122"/>
                <a:cs typeface="Manrope" pitchFamily="34" charset="-120"/>
              </a:rPr>
              <a:t>04</a:t>
            </a:r>
            <a:endParaRPr lang="en-US" sz="6000" dirty="0"/>
          </a:p>
        </p:txBody>
      </p:sp>
      <p:sp>
        <p:nvSpPr>
          <p:cNvPr id="5" name="Shape 3"/>
          <p:cNvSpPr/>
          <p:nvPr/>
        </p:nvSpPr>
        <p:spPr>
          <a:xfrm>
            <a:off x="9048902" y="4286707"/>
            <a:ext cx="4286707" cy="4286707"/>
          </a:xfrm>
          <a:prstGeom prst="ellipse">
            <a:avLst/>
          </a:prstGeom>
          <a:solidFill>
            <a:srgbClr val="FFF3EB">
              <a:alpha val="60000"/>
            </a:srgbClr>
          </a:solidFill>
          <a:ln w="12700">
            <a:solidFill>
              <a:srgbClr val="FFFFFF">
                <a:alpha val="0"/>
              </a:srgbClr>
            </a:solidFill>
            <a:prstDash val="solid"/>
          </a:ln>
        </p:spPr>
        <p:txBody>
          <a:bodyPr/>
          <a:lstStyle/>
          <a:p>
            <a:endParaRPr lang="ja-JP" altLang="en-US"/>
          </a:p>
        </p:txBody>
      </p:sp>
      <p:sp>
        <p:nvSpPr>
          <p:cNvPr id="6" name="Text 4"/>
          <p:cNvSpPr txBox="1"/>
          <p:nvPr/>
        </p:nvSpPr>
        <p:spPr>
          <a:xfrm>
            <a:off x="10713110" y="381305"/>
            <a:ext cx="1088136" cy="257861"/>
          </a:xfrm>
          <a:prstGeom prst="rect">
            <a:avLst/>
          </a:prstGeom>
          <a:noFill/>
          <a:ln/>
        </p:spPr>
        <p:txBody>
          <a:bodyPr wrap="square" lIns="0" tIns="0" rIns="0" bIns="0" rtlCol="0" anchor="ctr"/>
          <a:lstStyle/>
          <a:p>
            <a:pPr marL="0" indent="0" algn="l">
              <a:buNone/>
            </a:pPr>
            <a:r>
              <a:rPr lang="en-US" sz="1300" b="1" dirty="0">
                <a:solidFill>
                  <a:srgbClr val="FF6908"/>
                </a:solidFill>
                <a:latin typeface="Manrope" pitchFamily="34" charset="0"/>
                <a:ea typeface="Manrope" pitchFamily="34" charset="-122"/>
                <a:cs typeface="Manrope" pitchFamily="34" charset="-120"/>
              </a:rPr>
              <a:t>2026.03.10</a:t>
            </a:r>
            <a:endParaRPr lang="en-US" sz="1300" dirty="0"/>
          </a:p>
        </p:txBody>
      </p:sp>
      <p:pic>
        <p:nvPicPr>
          <p:cNvPr id="7" name="Image 0" descr="preencoded.png"/>
          <p:cNvPicPr>
            <a:picLocks noChangeAspect="1"/>
          </p:cNvPicPr>
          <p:nvPr/>
        </p:nvPicPr>
        <p:blipFill>
          <a:blip r:embed="rId3"/>
          <a:srcRect l="-80" r="-80"/>
          <a:stretch/>
        </p:blipFill>
        <p:spPr>
          <a:xfrm>
            <a:off x="337699" y="1807877"/>
            <a:ext cx="469763" cy="375210"/>
          </a:xfrm>
          <a:prstGeom prst="rect">
            <a:avLst/>
          </a:prstGeom>
        </p:spPr>
      </p:pic>
      <p:sp>
        <p:nvSpPr>
          <p:cNvPr id="8" name="Text 5"/>
          <p:cNvSpPr txBox="1"/>
          <p:nvPr/>
        </p:nvSpPr>
        <p:spPr>
          <a:xfrm>
            <a:off x="1305240" y="1786933"/>
            <a:ext cx="10708539" cy="743407"/>
          </a:xfrm>
          <a:prstGeom prst="rect">
            <a:avLst/>
          </a:prstGeom>
          <a:noFill/>
          <a:ln/>
        </p:spPr>
        <p:txBody>
          <a:bodyPr wrap="square" lIns="0" tIns="0" rIns="0" bIns="0" rtlCol="0" anchor="ctr"/>
          <a:lstStyle/>
          <a:p>
            <a:pPr marL="0" indent="0" algn="l">
              <a:buNone/>
            </a:pPr>
            <a:r>
              <a:rPr lang="en-US" sz="2400" dirty="0">
                <a:solidFill>
                  <a:srgbClr val="333333"/>
                </a:solidFill>
                <a:latin typeface="M PLUS 1p" pitchFamily="34" charset="0"/>
                <a:ea typeface="M PLUS 1p" pitchFamily="34" charset="-122"/>
                <a:cs typeface="M PLUS 1p" pitchFamily="34" charset="-120"/>
              </a:rPr>
              <a:t>PBI広島での出会いをきっかけに、</a:t>
            </a:r>
            <a:r>
              <a:rPr lang="en-US" sz="2400" b="1" dirty="0">
                <a:solidFill>
                  <a:srgbClr val="FF6908"/>
                </a:solidFill>
                <a:latin typeface="M PLUS 1p" pitchFamily="34" charset="0"/>
                <a:ea typeface="M PLUS 1p" pitchFamily="34" charset="-122"/>
                <a:cs typeface="M PLUS 1p" pitchFamily="34" charset="-120"/>
              </a:rPr>
              <a:t>広島にもPower Platformを推進する仲間</a:t>
            </a:r>
            <a:r>
              <a:rPr lang="en-US" sz="2400" dirty="0">
                <a:solidFill>
                  <a:srgbClr val="333333"/>
                </a:solidFill>
                <a:latin typeface="M PLUS 1p" pitchFamily="34" charset="0"/>
                <a:ea typeface="M PLUS 1p" pitchFamily="34" charset="-122"/>
                <a:cs typeface="M PLUS 1p" pitchFamily="34" charset="-120"/>
              </a:rPr>
              <a:t>がいると知った</a:t>
            </a:r>
            <a:endParaRPr lang="en-US" sz="2400" dirty="0"/>
          </a:p>
        </p:txBody>
      </p:sp>
      <p:pic>
        <p:nvPicPr>
          <p:cNvPr id="9" name="Image 1" descr="preencoded.png"/>
          <p:cNvPicPr>
            <a:picLocks noChangeAspect="1"/>
          </p:cNvPicPr>
          <p:nvPr/>
        </p:nvPicPr>
        <p:blipFill>
          <a:blip r:embed="rId4"/>
          <a:srcRect l="-133" r="-133"/>
          <a:stretch/>
        </p:blipFill>
        <p:spPr>
          <a:xfrm>
            <a:off x="478777" y="2925034"/>
            <a:ext cx="282158" cy="375211"/>
          </a:xfrm>
          <a:prstGeom prst="rect">
            <a:avLst/>
          </a:prstGeom>
        </p:spPr>
      </p:pic>
      <p:sp>
        <p:nvSpPr>
          <p:cNvPr id="10" name="Text 6"/>
          <p:cNvSpPr txBox="1"/>
          <p:nvPr/>
        </p:nvSpPr>
        <p:spPr>
          <a:xfrm>
            <a:off x="1252466" y="3078022"/>
            <a:ext cx="9581213" cy="372161"/>
          </a:xfrm>
          <a:prstGeom prst="rect">
            <a:avLst/>
          </a:prstGeom>
          <a:noFill/>
          <a:ln/>
        </p:spPr>
        <p:txBody>
          <a:bodyPr wrap="square" lIns="0" tIns="0" rIns="0" bIns="0" rtlCol="0" anchor="ctr"/>
          <a:lstStyle/>
          <a:p>
            <a:pPr marL="0" indent="0" algn="l">
              <a:buNone/>
            </a:pPr>
            <a:r>
              <a:rPr lang="en-US" sz="2400" dirty="0">
                <a:solidFill>
                  <a:srgbClr val="333333"/>
                </a:solidFill>
                <a:latin typeface="M PLUS 1p" pitchFamily="34" charset="0"/>
                <a:ea typeface="M PLUS 1p" pitchFamily="34" charset="-122"/>
                <a:cs typeface="M PLUS 1p" pitchFamily="34" charset="-120"/>
              </a:rPr>
              <a:t>自分の会社の中でも、Power Platformに</a:t>
            </a:r>
            <a:r>
              <a:rPr lang="en-US" sz="2400" b="1" dirty="0">
                <a:solidFill>
                  <a:srgbClr val="FF6908"/>
                </a:solidFill>
                <a:latin typeface="M PLUS 1p" pitchFamily="34" charset="0"/>
                <a:ea typeface="M PLUS 1p" pitchFamily="34" charset="-122"/>
                <a:cs typeface="M PLUS 1p" pitchFamily="34" charset="-120"/>
              </a:rPr>
              <a:t>本気で取り組んでいる人たち</a:t>
            </a:r>
            <a:r>
              <a:rPr lang="en-US" sz="2400" dirty="0">
                <a:solidFill>
                  <a:srgbClr val="333333"/>
                </a:solidFill>
                <a:latin typeface="M PLUS 1p" pitchFamily="34" charset="0"/>
                <a:ea typeface="M PLUS 1p" pitchFamily="34" charset="-122"/>
                <a:cs typeface="M PLUS 1p" pitchFamily="34" charset="-120"/>
              </a:rPr>
              <a:t>とつながれた</a:t>
            </a:r>
            <a:endParaRPr lang="en-US" sz="2400" dirty="0"/>
          </a:p>
        </p:txBody>
      </p:sp>
      <p:pic>
        <p:nvPicPr>
          <p:cNvPr id="11" name="Image 2" descr="preencoded.png"/>
          <p:cNvPicPr>
            <a:picLocks noChangeAspect="1"/>
          </p:cNvPicPr>
          <p:nvPr/>
        </p:nvPicPr>
        <p:blipFill>
          <a:blip r:embed="rId5"/>
          <a:srcRect l="-57" r="-57"/>
          <a:stretch/>
        </p:blipFill>
        <p:spPr>
          <a:xfrm>
            <a:off x="510834" y="3936208"/>
            <a:ext cx="328685" cy="375210"/>
          </a:xfrm>
          <a:prstGeom prst="rect">
            <a:avLst/>
          </a:prstGeom>
        </p:spPr>
      </p:pic>
      <p:sp>
        <p:nvSpPr>
          <p:cNvPr id="12" name="Text 7"/>
          <p:cNvSpPr txBox="1"/>
          <p:nvPr/>
        </p:nvSpPr>
        <p:spPr>
          <a:xfrm>
            <a:off x="1305240" y="3884283"/>
            <a:ext cx="10234356" cy="743407"/>
          </a:xfrm>
          <a:prstGeom prst="rect">
            <a:avLst/>
          </a:prstGeom>
          <a:noFill/>
          <a:ln/>
        </p:spPr>
        <p:txBody>
          <a:bodyPr wrap="square" lIns="0" tIns="0" rIns="0" bIns="0" rtlCol="0" anchor="ctr"/>
          <a:lstStyle/>
          <a:p>
            <a:pPr marL="0" indent="0" algn="l">
              <a:buNone/>
            </a:pPr>
            <a:r>
              <a:rPr lang="en-US" sz="2400" dirty="0">
                <a:solidFill>
                  <a:srgbClr val="333333"/>
                </a:solidFill>
                <a:latin typeface="M PLUS 1p" pitchFamily="34" charset="0"/>
                <a:ea typeface="M PLUS 1p" pitchFamily="34" charset="-122"/>
                <a:cs typeface="M PLUS 1p" pitchFamily="34" charset="-120"/>
              </a:rPr>
              <a:t>社内コミュニティや社内イベントにつながり、</a:t>
            </a:r>
            <a:r>
              <a:rPr lang="en-US" sz="2400" b="1" dirty="0">
                <a:solidFill>
                  <a:srgbClr val="FF6908"/>
                </a:solidFill>
                <a:latin typeface="M PLUS 1p" pitchFamily="34" charset="0"/>
                <a:ea typeface="M PLUS 1p" pitchFamily="34" charset="-122"/>
                <a:cs typeface="M PLUS 1p" pitchFamily="34" charset="-120"/>
              </a:rPr>
              <a:t>孤独だった業務にやりがいが生まれた</a:t>
            </a:r>
            <a:endParaRPr lang="en-US" sz="2400" dirty="0"/>
          </a:p>
        </p:txBody>
      </p:sp>
      <p:pic>
        <p:nvPicPr>
          <p:cNvPr id="13" name="Image 3" descr="preencoded.png"/>
          <p:cNvPicPr>
            <a:picLocks noChangeAspect="1"/>
          </p:cNvPicPr>
          <p:nvPr/>
        </p:nvPicPr>
        <p:blipFill>
          <a:blip r:embed="rId6"/>
          <a:srcRect/>
          <a:stretch/>
        </p:blipFill>
        <p:spPr>
          <a:xfrm>
            <a:off x="432251" y="4910327"/>
            <a:ext cx="375211" cy="375211"/>
          </a:xfrm>
          <a:prstGeom prst="rect">
            <a:avLst/>
          </a:prstGeom>
        </p:spPr>
      </p:pic>
      <p:sp>
        <p:nvSpPr>
          <p:cNvPr id="14" name="Text 8"/>
          <p:cNvSpPr txBox="1"/>
          <p:nvPr/>
        </p:nvSpPr>
        <p:spPr>
          <a:xfrm>
            <a:off x="1252466" y="4676241"/>
            <a:ext cx="10085310" cy="881090"/>
          </a:xfrm>
          <a:prstGeom prst="rect">
            <a:avLst/>
          </a:prstGeom>
          <a:noFill/>
          <a:ln/>
        </p:spPr>
        <p:txBody>
          <a:bodyPr wrap="square" lIns="0" tIns="0" rIns="0" bIns="0" rtlCol="0" anchor="ctr"/>
          <a:lstStyle/>
          <a:p>
            <a:pPr marL="0" indent="0" algn="l">
              <a:buNone/>
            </a:pPr>
            <a:r>
              <a:rPr lang="en-US" sz="2400" dirty="0">
                <a:solidFill>
                  <a:srgbClr val="333333"/>
                </a:solidFill>
                <a:latin typeface="M PLUS 1p" pitchFamily="34" charset="0"/>
                <a:ea typeface="M PLUS 1p" pitchFamily="34" charset="-122"/>
                <a:cs typeface="M PLUS 1p" pitchFamily="34" charset="-120"/>
              </a:rPr>
              <a:t>「一人で頑張る仕事」から</a:t>
            </a:r>
            <a:r>
              <a:rPr lang="en-US" sz="2400" b="1" dirty="0">
                <a:solidFill>
                  <a:srgbClr val="FF6908"/>
                </a:solidFill>
                <a:latin typeface="M PLUS 1p" pitchFamily="34" charset="0"/>
                <a:ea typeface="M PLUS 1p" pitchFamily="34" charset="-122"/>
                <a:cs typeface="M PLUS 1p" pitchFamily="34" charset="-120"/>
              </a:rPr>
              <a:t>「仲間と進める挑戦」</a:t>
            </a:r>
            <a:r>
              <a:rPr lang="en-US" sz="2400" dirty="0">
                <a:solidFill>
                  <a:srgbClr val="333333"/>
                </a:solidFill>
                <a:latin typeface="M PLUS 1p" pitchFamily="34" charset="0"/>
                <a:ea typeface="M PLUS 1p" pitchFamily="34" charset="-122"/>
                <a:cs typeface="M PLUS 1p" pitchFamily="34" charset="-120"/>
              </a:rPr>
              <a:t>に変わったという実感</a:t>
            </a:r>
            <a:endParaRPr lang="en-US" sz="2400" dirty="0"/>
          </a:p>
        </p:txBody>
      </p:sp>
      <p:pic>
        <p:nvPicPr>
          <p:cNvPr id="15" name="Image 4" descr="preencoded.png"/>
          <p:cNvPicPr>
            <a:picLocks noChangeAspect="1"/>
          </p:cNvPicPr>
          <p:nvPr/>
        </p:nvPicPr>
        <p:blipFill>
          <a:blip r:embed="rId7"/>
          <a:srcRect t="-1" b="-1"/>
          <a:stretch/>
        </p:blipFill>
        <p:spPr>
          <a:xfrm>
            <a:off x="143691" y="5591164"/>
            <a:ext cx="11351623" cy="914400"/>
          </a:xfrm>
          <a:prstGeom prst="rect">
            <a:avLst/>
          </a:prstGeom>
        </p:spPr>
      </p:pic>
      <p:sp>
        <p:nvSpPr>
          <p:cNvPr id="16" name="Text 9"/>
          <p:cNvSpPr txBox="1"/>
          <p:nvPr/>
        </p:nvSpPr>
        <p:spPr>
          <a:xfrm>
            <a:off x="143691" y="5578514"/>
            <a:ext cx="12020050" cy="959728"/>
          </a:xfrm>
          <a:prstGeom prst="rect">
            <a:avLst/>
          </a:prstGeom>
          <a:noFill/>
          <a:ln/>
        </p:spPr>
        <p:txBody>
          <a:bodyPr wrap="square" lIns="0" tIns="0" rIns="0" bIns="0" rtlCol="0" anchor="ctr"/>
          <a:lstStyle/>
          <a:p>
            <a:pPr marL="0" indent="0" algn="ctr">
              <a:buNone/>
            </a:pPr>
            <a:r>
              <a:rPr lang="ja-JP" altLang="en-US" sz="2400" b="1" kern="0" spc="120">
                <a:solidFill>
                  <a:srgbClr val="FF6908"/>
                </a:solidFill>
                <a:latin typeface="Noto Sans JP" pitchFamily="34" charset="0"/>
                <a:ea typeface="Noto Sans JP" pitchFamily="34" charset="-122"/>
                <a:cs typeface="Noto Sans JP" pitchFamily="34" charset="-120"/>
              </a:rPr>
              <a:t>人生初の社外コミュニティに参加　→一番強く感じたこと</a:t>
            </a:r>
            <a:endParaRPr lang="en-US" altLang="ja-JP" sz="2400" b="1" kern="0" spc="120">
              <a:solidFill>
                <a:srgbClr val="FF6908"/>
              </a:solidFill>
              <a:latin typeface="Noto Sans JP" pitchFamily="34" charset="0"/>
              <a:ea typeface="Noto Sans JP" pitchFamily="34" charset="-122"/>
              <a:cs typeface="Noto Sans JP" pitchFamily="34" charset="-120"/>
            </a:endParaRPr>
          </a:p>
          <a:p>
            <a:pPr marL="0" indent="0" algn="ctr">
              <a:buNone/>
            </a:pPr>
            <a:r>
              <a:rPr lang="ja-JP" altLang="en-US" sz="3600" b="1" kern="0" spc="120">
                <a:solidFill>
                  <a:schemeClr val="tx1">
                    <a:lumMod val="85000"/>
                    <a:lumOff val="15000"/>
                  </a:schemeClr>
                </a:solidFill>
                <a:latin typeface="Noto Sans JP" pitchFamily="34" charset="0"/>
                <a:ea typeface="Noto Sans JP" pitchFamily="34" charset="-122"/>
              </a:rPr>
              <a:t>“自分の好きな推し”を同じ熱量で語れることの楽しさ</a:t>
            </a:r>
            <a:endParaRPr lang="en-US" sz="3600" dirty="0">
              <a:solidFill>
                <a:schemeClr val="tx1">
                  <a:lumMod val="85000"/>
                  <a:lumOff val="15000"/>
                </a:schemeClr>
              </a:solidFill>
            </a:endParaRPr>
          </a:p>
        </p:txBody>
      </p:sp>
      <p:sp>
        <p:nvSpPr>
          <p:cNvPr id="17" name="Text 10"/>
          <p:cNvSpPr txBox="1"/>
          <p:nvPr/>
        </p:nvSpPr>
        <p:spPr>
          <a:xfrm>
            <a:off x="1753753" y="410761"/>
            <a:ext cx="4905756" cy="991210"/>
          </a:xfrm>
          <a:prstGeom prst="rect">
            <a:avLst/>
          </a:prstGeom>
          <a:noFill/>
          <a:ln/>
        </p:spPr>
        <p:txBody>
          <a:bodyPr wrap="square" lIns="0" tIns="0" rIns="0" bIns="0" rtlCol="0" anchor="ctr"/>
          <a:lstStyle/>
          <a:p>
            <a:pPr marL="0" indent="0" algn="l">
              <a:buNone/>
            </a:pPr>
            <a:r>
              <a:rPr lang="en-US" sz="3600" b="1" kern="0" spc="-72" dirty="0">
                <a:solidFill>
                  <a:srgbClr val="FF6908"/>
                </a:solidFill>
                <a:latin typeface="Noto Sans JP" pitchFamily="34" charset="0"/>
                <a:ea typeface="Noto Sans JP" pitchFamily="34" charset="-122"/>
                <a:cs typeface="Noto Sans JP" pitchFamily="34" charset="-120"/>
              </a:rPr>
              <a:t>孤独な業務が</a:t>
            </a:r>
            <a:endParaRPr lang="en-US" sz="3600" dirty="0"/>
          </a:p>
          <a:p>
            <a:pPr marL="0" indent="0" algn="l">
              <a:buNone/>
            </a:pPr>
            <a:r>
              <a:rPr lang="en-US" sz="2400" b="1" kern="0" spc="-72" dirty="0">
                <a:solidFill>
                  <a:srgbClr val="333333"/>
                </a:solidFill>
                <a:latin typeface="Noto Sans JP" pitchFamily="34" charset="0"/>
                <a:ea typeface="Noto Sans JP" pitchFamily="34" charset="-122"/>
                <a:cs typeface="Noto Sans JP" pitchFamily="34" charset="-120"/>
              </a:rPr>
              <a:t>「仲間とのチャレンジ」に変わった</a:t>
            </a: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Text 2"/>
          <p:cNvSpPr txBox="1"/>
          <p:nvPr/>
        </p:nvSpPr>
        <p:spPr>
          <a:xfrm>
            <a:off x="381305" y="190195"/>
            <a:ext cx="1069848" cy="762610"/>
          </a:xfrm>
          <a:prstGeom prst="rect">
            <a:avLst/>
          </a:prstGeom>
          <a:noFill/>
          <a:ln/>
        </p:spPr>
        <p:txBody>
          <a:bodyPr wrap="square" lIns="0" tIns="0" rIns="0" bIns="0" rtlCol="0" anchor="ctr"/>
          <a:lstStyle/>
          <a:p>
            <a:pPr marL="0" indent="0" algn="l">
              <a:buNone/>
            </a:pPr>
            <a:r>
              <a:rPr lang="en-US" sz="6000" b="1" dirty="0">
                <a:solidFill>
                  <a:srgbClr val="FF6908">
                    <a:alpha val="15000"/>
                  </a:srgbClr>
                </a:solidFill>
                <a:latin typeface="Manrope" pitchFamily="34" charset="0"/>
                <a:ea typeface="Manrope" pitchFamily="34" charset="-122"/>
                <a:cs typeface="Manrope" pitchFamily="34" charset="-120"/>
              </a:rPr>
              <a:t>06</a:t>
            </a:r>
            <a:endParaRPr lang="en-US" sz="6000" dirty="0"/>
          </a:p>
        </p:txBody>
      </p:sp>
      <p:sp>
        <p:nvSpPr>
          <p:cNvPr id="5" name="Shape 3"/>
          <p:cNvSpPr/>
          <p:nvPr/>
        </p:nvSpPr>
        <p:spPr>
          <a:xfrm>
            <a:off x="8382305" y="-1904695"/>
            <a:ext cx="4762195" cy="4762195"/>
          </a:xfrm>
          <a:prstGeom prst="ellipse">
            <a:avLst/>
          </a:prstGeom>
          <a:solidFill>
            <a:srgbClr val="FFF3EB">
              <a:alpha val="50000"/>
            </a:srgbClr>
          </a:solidFill>
          <a:ln w="12700">
            <a:solidFill>
              <a:srgbClr val="FFFFFF">
                <a:alpha val="0"/>
              </a:srgbClr>
            </a:solidFill>
            <a:prstDash val="solid"/>
          </a:ln>
        </p:spPr>
        <p:txBody>
          <a:bodyPr/>
          <a:lstStyle/>
          <a:p>
            <a:endParaRPr lang="ja-JP" altLang="en-US"/>
          </a:p>
        </p:txBody>
      </p:sp>
      <p:sp>
        <p:nvSpPr>
          <p:cNvPr id="6" name="Shape 4"/>
          <p:cNvSpPr/>
          <p:nvPr/>
        </p:nvSpPr>
        <p:spPr>
          <a:xfrm>
            <a:off x="-476402" y="4476902"/>
            <a:ext cx="2857500" cy="2857500"/>
          </a:xfrm>
          <a:prstGeom prst="ellipse">
            <a:avLst/>
          </a:prstGeom>
          <a:solidFill>
            <a:srgbClr val="FFF3EB">
              <a:alpha val="30000"/>
            </a:srgbClr>
          </a:solidFill>
          <a:ln w="12700">
            <a:solidFill>
              <a:srgbClr val="FFFFFF">
                <a:alpha val="0"/>
              </a:srgbClr>
            </a:solidFill>
            <a:prstDash val="solid"/>
          </a:ln>
        </p:spPr>
        <p:txBody>
          <a:bodyPr/>
          <a:lstStyle/>
          <a:p>
            <a:endParaRPr lang="ja-JP" altLang="en-US"/>
          </a:p>
        </p:txBody>
      </p:sp>
      <p:sp>
        <p:nvSpPr>
          <p:cNvPr id="7" name="Text 5"/>
          <p:cNvSpPr txBox="1"/>
          <p:nvPr/>
        </p:nvSpPr>
        <p:spPr>
          <a:xfrm>
            <a:off x="485546" y="761695"/>
            <a:ext cx="11220602" cy="1191463"/>
          </a:xfrm>
          <a:prstGeom prst="rect">
            <a:avLst/>
          </a:prstGeom>
          <a:noFill/>
          <a:ln/>
        </p:spPr>
        <p:txBody>
          <a:bodyPr wrap="square" lIns="0" tIns="0" rIns="0" bIns="0" rtlCol="0" anchor="ctr"/>
          <a:lstStyle/>
          <a:p>
            <a:pPr marL="0" indent="0" algn="ctr">
              <a:buNone/>
            </a:pPr>
            <a:r>
              <a:rPr lang="en-US" sz="3600" b="1" kern="0" spc="-72" dirty="0">
                <a:solidFill>
                  <a:srgbClr val="333333"/>
                </a:solidFill>
                <a:latin typeface="Noto Sans JP" pitchFamily="34" charset="0"/>
                <a:ea typeface="Noto Sans JP" pitchFamily="34" charset="-122"/>
                <a:cs typeface="Noto Sans JP" pitchFamily="34" charset="-120"/>
              </a:rPr>
              <a:t> 未来の枝は、</a:t>
            </a:r>
            <a:endParaRPr lang="en-US" sz="3600" dirty="0"/>
          </a:p>
          <a:p>
            <a:pPr marL="0" indent="0" algn="ctr">
              <a:buNone/>
            </a:pPr>
            <a:r>
              <a:rPr lang="en-US" sz="3600" b="1" kern="0" spc="-72" dirty="0">
                <a:solidFill>
                  <a:srgbClr val="333333"/>
                </a:solidFill>
                <a:latin typeface="Noto Sans JP" pitchFamily="34" charset="0"/>
                <a:ea typeface="Noto Sans JP" pitchFamily="34" charset="-122"/>
                <a:cs typeface="Noto Sans JP" pitchFamily="34" charset="-120"/>
              </a:rPr>
              <a:t> 今日の</a:t>
            </a:r>
            <a:r>
              <a:rPr lang="en-US" sz="3600" b="1" kern="0" spc="-72" dirty="0">
                <a:solidFill>
                  <a:srgbClr val="FF6908"/>
                </a:solidFill>
                <a:latin typeface="Noto Sans JP" pitchFamily="34" charset="0"/>
                <a:ea typeface="Noto Sans JP" pitchFamily="34" charset="-122"/>
                <a:cs typeface="Noto Sans JP" pitchFamily="34" charset="-120"/>
              </a:rPr>
              <a:t>あなたの選択</a:t>
            </a:r>
            <a:r>
              <a:rPr lang="en-US" sz="3600" b="1" kern="0" spc="-72" dirty="0">
                <a:solidFill>
                  <a:srgbClr val="333333"/>
                </a:solidFill>
                <a:latin typeface="Noto Sans JP" pitchFamily="34" charset="0"/>
                <a:ea typeface="Noto Sans JP" pitchFamily="34" charset="-122"/>
                <a:cs typeface="Noto Sans JP" pitchFamily="34" charset="-120"/>
              </a:rPr>
              <a:t>で変わる。 </a:t>
            </a:r>
            <a:endParaRPr lang="en-US" sz="3600" dirty="0"/>
          </a:p>
        </p:txBody>
      </p:sp>
      <p:sp>
        <p:nvSpPr>
          <p:cNvPr id="10" name="Shape 6"/>
          <p:cNvSpPr/>
          <p:nvPr/>
        </p:nvSpPr>
        <p:spPr>
          <a:xfrm>
            <a:off x="6877202" y="4275734"/>
            <a:ext cx="571500" cy="571500"/>
          </a:xfrm>
          <a:prstGeom prst="ellipse">
            <a:avLst/>
          </a:prstGeom>
          <a:solidFill>
            <a:srgbClr val="FFF3EB"/>
          </a:solidFill>
          <a:ln w="25400">
            <a:solidFill>
              <a:srgbClr val="FF6908"/>
            </a:solidFill>
            <a:prstDash val="solid"/>
          </a:ln>
        </p:spPr>
        <p:txBody>
          <a:bodyPr/>
          <a:lstStyle/>
          <a:p>
            <a:endParaRPr lang="ja-JP" altLang="en-US"/>
          </a:p>
        </p:txBody>
      </p:sp>
      <p:grpSp>
        <p:nvGrpSpPr>
          <p:cNvPr id="8" name="グループ化 7">
            <a:extLst>
              <a:ext uri="{FF2B5EF4-FFF2-40B4-BE49-F238E27FC236}">
                <a16:creationId xmlns:a16="http://schemas.microsoft.com/office/drawing/2014/main" id="{D2FA4F06-D4DA-3F7E-47DF-88D336768938}"/>
              </a:ext>
            </a:extLst>
          </p:cNvPr>
          <p:cNvGrpSpPr/>
          <p:nvPr/>
        </p:nvGrpSpPr>
        <p:grpSpPr>
          <a:xfrm>
            <a:off x="6572707" y="4066337"/>
            <a:ext cx="3810305" cy="1394460"/>
            <a:chOff x="6572707" y="4066337"/>
            <a:chExt cx="3810305" cy="1394460"/>
          </a:xfrm>
        </p:grpSpPr>
        <p:pic>
          <p:nvPicPr>
            <p:cNvPr id="9" name="Image 1" descr="preencoded.png"/>
            <p:cNvPicPr>
              <a:picLocks noChangeAspect="1"/>
            </p:cNvPicPr>
            <p:nvPr/>
          </p:nvPicPr>
          <p:blipFill>
            <a:blip r:embed="rId3"/>
            <a:srcRect t="-5" b="-5"/>
            <a:stretch/>
          </p:blipFill>
          <p:spPr>
            <a:xfrm>
              <a:off x="6572707" y="4066337"/>
              <a:ext cx="3810305" cy="1394460"/>
            </a:xfrm>
            <a:prstGeom prst="rect">
              <a:avLst/>
            </a:prstGeom>
          </p:spPr>
        </p:pic>
        <p:pic>
          <p:nvPicPr>
            <p:cNvPr id="11" name="Image 2" descr="preencoded.png"/>
            <p:cNvPicPr>
              <a:picLocks noChangeAspect="1"/>
            </p:cNvPicPr>
            <p:nvPr/>
          </p:nvPicPr>
          <p:blipFill>
            <a:blip r:embed="rId4"/>
            <a:srcRect t="-530" b="-530"/>
            <a:stretch/>
          </p:blipFill>
          <p:spPr>
            <a:xfrm>
              <a:off x="7039051" y="4419295"/>
              <a:ext cx="247802" cy="286207"/>
            </a:xfrm>
            <a:prstGeom prst="rect">
              <a:avLst/>
            </a:prstGeom>
          </p:spPr>
        </p:pic>
        <p:sp>
          <p:nvSpPr>
            <p:cNvPr id="12" name="Text 7"/>
            <p:cNvSpPr txBox="1"/>
            <p:nvPr/>
          </p:nvSpPr>
          <p:spPr>
            <a:xfrm>
              <a:off x="7601407" y="4275734"/>
              <a:ext cx="2553005" cy="981151"/>
            </a:xfrm>
            <a:prstGeom prst="rect">
              <a:avLst/>
            </a:prstGeom>
            <a:noFill/>
            <a:ln/>
          </p:spPr>
          <p:txBody>
            <a:bodyPr wrap="square" lIns="0" tIns="0" rIns="0" bIns="0" rtlCol="0" anchor="ctr"/>
            <a:lstStyle/>
            <a:p>
              <a:pPr marL="0" indent="0" algn="l">
                <a:buNone/>
              </a:pPr>
              <a:r>
                <a:rPr lang="en-US" sz="1200" dirty="0">
                  <a:solidFill>
                    <a:srgbClr val="333333"/>
                  </a:solidFill>
                  <a:latin typeface="M PLUS 1p" pitchFamily="34" charset="0"/>
                  <a:ea typeface="M PLUS 1p" pitchFamily="34" charset="-122"/>
                  <a:cs typeface="M PLUS 1p" pitchFamily="34" charset="-120"/>
                </a:rPr>
                <a:t> 私も最初は、この分岐点でPBI広島に</a:t>
              </a:r>
              <a:r>
                <a:rPr lang="en-US" sz="1200" b="1" dirty="0">
                  <a:solidFill>
                    <a:srgbClr val="FF6908"/>
                  </a:solidFill>
                  <a:latin typeface="M PLUS 1p" pitchFamily="34" charset="0"/>
                  <a:ea typeface="M PLUS 1p" pitchFamily="34" charset="-122"/>
                  <a:cs typeface="M PLUS 1p" pitchFamily="34" charset="-120"/>
                </a:rPr>
                <a:t>「いいね」</a:t>
              </a:r>
              <a:r>
                <a:rPr lang="en-US" sz="1200" dirty="0">
                  <a:solidFill>
                    <a:srgbClr val="333333"/>
                  </a:solidFill>
                  <a:latin typeface="M PLUS 1p" pitchFamily="34" charset="0"/>
                  <a:ea typeface="M PLUS 1p" pitchFamily="34" charset="-122"/>
                  <a:cs typeface="M PLUS 1p" pitchFamily="34" charset="-120"/>
                </a:rPr>
                <a:t>を選びました。</a:t>
              </a:r>
              <a:endParaRPr lang="en-US" sz="1200" dirty="0"/>
            </a:p>
            <a:p>
              <a:pPr marL="0" indent="0" algn="l">
                <a:buNone/>
              </a:pPr>
              <a:r>
                <a:rPr lang="en-US" sz="1200" dirty="0">
                  <a:solidFill>
                    <a:srgbClr val="333333"/>
                  </a:solidFill>
                  <a:latin typeface="M PLUS 1p" pitchFamily="34" charset="0"/>
                  <a:ea typeface="M PLUS 1p" pitchFamily="34" charset="-122"/>
                  <a:cs typeface="M PLUS 1p" pitchFamily="34" charset="-120"/>
                </a:rPr>
                <a:t> そのたった一つの選択で、緑の枝が一気に増えたんです。 </a:t>
              </a:r>
              <a:endParaRPr lang="en-US" sz="1200" dirty="0"/>
            </a:p>
          </p:txBody>
        </p:sp>
      </p:grpSp>
      <p:sp>
        <p:nvSpPr>
          <p:cNvPr id="13" name="Shape 8"/>
          <p:cNvSpPr/>
          <p:nvPr/>
        </p:nvSpPr>
        <p:spPr>
          <a:xfrm>
            <a:off x="2361895" y="5827471"/>
            <a:ext cx="7477049" cy="657454"/>
          </a:xfrm>
          <a:prstGeom prst="roundRect">
            <a:avLst>
              <a:gd name="adj" fmla="val 139082"/>
            </a:avLst>
          </a:prstGeom>
          <a:solidFill>
            <a:srgbClr val="FFFFFF">
              <a:alpha val="80000"/>
            </a:srgbClr>
          </a:solidFill>
          <a:ln/>
        </p:spPr>
        <p:txBody>
          <a:bodyPr/>
          <a:lstStyle/>
          <a:p>
            <a:endParaRPr lang="ja-JP" altLang="en-US"/>
          </a:p>
        </p:txBody>
      </p:sp>
      <p:sp>
        <p:nvSpPr>
          <p:cNvPr id="14" name="Shape 9"/>
          <p:cNvSpPr/>
          <p:nvPr/>
        </p:nvSpPr>
        <p:spPr>
          <a:xfrm>
            <a:off x="2361895" y="6456578"/>
            <a:ext cx="7477049" cy="28346"/>
          </a:xfrm>
          <a:prstGeom prst="roundRect">
            <a:avLst>
              <a:gd name="adj" fmla="val 3225852"/>
            </a:avLst>
          </a:prstGeom>
          <a:solidFill>
            <a:srgbClr val="FF6908"/>
          </a:solidFill>
          <a:ln w="12700">
            <a:solidFill>
              <a:srgbClr val="FF6908">
                <a:alpha val="0"/>
              </a:srgbClr>
            </a:solidFill>
            <a:prstDash val="solid"/>
          </a:ln>
        </p:spPr>
        <p:txBody>
          <a:bodyPr/>
          <a:lstStyle/>
          <a:p>
            <a:endParaRPr lang="ja-JP" altLang="en-US"/>
          </a:p>
        </p:txBody>
      </p:sp>
      <p:sp>
        <p:nvSpPr>
          <p:cNvPr id="15" name="Text 10"/>
          <p:cNvSpPr/>
          <p:nvPr/>
        </p:nvSpPr>
        <p:spPr>
          <a:xfrm>
            <a:off x="2318918" y="5827471"/>
            <a:ext cx="7563002" cy="657454"/>
          </a:xfrm>
          <a:prstGeom prst="rect">
            <a:avLst/>
          </a:prstGeom>
          <a:solidFill>
            <a:srgbClr val="FFFFFF">
              <a:alpha val="0"/>
            </a:srgbClr>
          </a:solidFill>
          <a:ln>
            <a:solidFill>
              <a:srgbClr val="FFFFFF">
                <a:alpha val="0"/>
              </a:srgbClr>
            </a:solidFill>
          </a:ln>
        </p:spPr>
        <p:txBody>
          <a:bodyPr wrap="square" lIns="190500" tIns="101600" rIns="190500" bIns="101600" rtlCol="0" anchor="ctr"/>
          <a:lstStyle/>
          <a:p>
            <a:pPr marL="0" indent="0" algn="ctr">
              <a:buNone/>
            </a:pPr>
            <a:r>
              <a:rPr lang="en-US" sz="1800" b="1" dirty="0">
                <a:solidFill>
                  <a:srgbClr val="333333"/>
                </a:solidFill>
                <a:latin typeface="M PLUS 1p" pitchFamily="34" charset="0"/>
                <a:ea typeface="M PLUS 1p" pitchFamily="34" charset="-122"/>
                <a:cs typeface="M PLUS 1p" pitchFamily="34" charset="-120"/>
              </a:rPr>
              <a:t> あなたの </a:t>
            </a:r>
            <a:r>
              <a:rPr lang="en-US" sz="1400" b="1" dirty="0">
                <a:solidFill>
                  <a:srgbClr val="FF6908"/>
                </a:solidFill>
                <a:latin typeface="M PLUS 1p" pitchFamily="34" charset="0"/>
                <a:ea typeface="M PLUS 1p" pitchFamily="34" charset="-122"/>
                <a:cs typeface="M PLUS 1p" pitchFamily="34" charset="-120"/>
              </a:rPr>
              <a:t>ひとつのリアクション</a:t>
            </a:r>
            <a:r>
              <a:rPr lang="en-US" sz="1800" b="1" dirty="0">
                <a:solidFill>
                  <a:srgbClr val="333333"/>
                </a:solidFill>
                <a:latin typeface="M PLUS 1p" pitchFamily="34" charset="0"/>
                <a:ea typeface="M PLUS 1p" pitchFamily="34" charset="-122"/>
                <a:cs typeface="M PLUS 1p" pitchFamily="34" charset="-120"/>
              </a:rPr>
              <a:t> が、この緑の枝を増やす。 </a:t>
            </a:r>
            <a:endParaRPr lang="en-US" sz="1800" dirty="0"/>
          </a:p>
        </p:txBody>
      </p:sp>
      <p:sp>
        <p:nvSpPr>
          <p:cNvPr id="16" name="Text 11"/>
          <p:cNvSpPr txBox="1"/>
          <p:nvPr/>
        </p:nvSpPr>
        <p:spPr>
          <a:xfrm>
            <a:off x="10713110" y="381305"/>
            <a:ext cx="1088136" cy="257861"/>
          </a:xfrm>
          <a:prstGeom prst="rect">
            <a:avLst/>
          </a:prstGeom>
          <a:noFill/>
          <a:ln/>
        </p:spPr>
        <p:txBody>
          <a:bodyPr wrap="square" lIns="0" tIns="0" rIns="0" bIns="0" rtlCol="0" anchor="ctr"/>
          <a:lstStyle/>
          <a:p>
            <a:pPr marL="0" indent="0" algn="l">
              <a:buNone/>
            </a:pPr>
            <a:r>
              <a:rPr lang="en-US" sz="1300" b="1" dirty="0">
                <a:solidFill>
                  <a:srgbClr val="FF6908"/>
                </a:solidFill>
                <a:latin typeface="Manrope" pitchFamily="34" charset="0"/>
                <a:ea typeface="Manrope" pitchFamily="34" charset="-122"/>
                <a:cs typeface="Manrope" pitchFamily="34" charset="-120"/>
              </a:rPr>
              <a:t>2026.03.10</a:t>
            </a:r>
            <a:endParaRPr lang="en-US" sz="1300" dirty="0"/>
          </a:p>
        </p:txBody>
      </p:sp>
      <p:pic>
        <p:nvPicPr>
          <p:cNvPr id="18" name="図 17" descr="PBI Yamagata&#10;&#10;AI 生成コンテンツは誤りを含む可能性があります。">
            <a:extLst>
              <a:ext uri="{FF2B5EF4-FFF2-40B4-BE49-F238E27FC236}">
                <a16:creationId xmlns:a16="http://schemas.microsoft.com/office/drawing/2014/main" id="{489B69F8-9857-2966-85C4-17C116B4070E}"/>
              </a:ext>
            </a:extLst>
          </p:cNvPr>
          <p:cNvPicPr>
            <a:picLocks noChangeAspect="1"/>
          </p:cNvPicPr>
          <p:nvPr/>
        </p:nvPicPr>
        <p:blipFill>
          <a:blip r:embed="rId5"/>
          <a:stretch>
            <a:fillRect/>
          </a:stretch>
        </p:blipFill>
        <p:spPr>
          <a:xfrm>
            <a:off x="10876" y="-10290"/>
            <a:ext cx="12191695" cy="6783627"/>
          </a:xfrm>
          <a:prstGeom prst="rect">
            <a:avLst/>
          </a:prstGeom>
        </p:spPr>
      </p:pic>
      <p:grpSp>
        <p:nvGrpSpPr>
          <p:cNvPr id="17" name="グループ化 16">
            <a:extLst>
              <a:ext uri="{FF2B5EF4-FFF2-40B4-BE49-F238E27FC236}">
                <a16:creationId xmlns:a16="http://schemas.microsoft.com/office/drawing/2014/main" id="{3AE1163E-C315-6788-6E7D-07A86EEC5B13}"/>
              </a:ext>
            </a:extLst>
          </p:cNvPr>
          <p:cNvGrpSpPr/>
          <p:nvPr/>
        </p:nvGrpSpPr>
        <p:grpSpPr>
          <a:xfrm>
            <a:off x="6615872" y="4050335"/>
            <a:ext cx="4762195" cy="1394460"/>
            <a:chOff x="6572707" y="4066337"/>
            <a:chExt cx="3810305" cy="1394460"/>
          </a:xfrm>
        </p:grpSpPr>
        <p:pic>
          <p:nvPicPr>
            <p:cNvPr id="19" name="Image 1" descr="preencoded.png">
              <a:extLst>
                <a:ext uri="{FF2B5EF4-FFF2-40B4-BE49-F238E27FC236}">
                  <a16:creationId xmlns:a16="http://schemas.microsoft.com/office/drawing/2014/main" id="{21FC1FD1-4DD7-125A-D006-354BA41B7626}"/>
                </a:ext>
              </a:extLst>
            </p:cNvPr>
            <p:cNvPicPr>
              <a:picLocks noChangeAspect="1"/>
            </p:cNvPicPr>
            <p:nvPr/>
          </p:nvPicPr>
          <p:blipFill>
            <a:blip r:embed="rId3"/>
            <a:srcRect t="-5" b="-5"/>
            <a:stretch/>
          </p:blipFill>
          <p:spPr>
            <a:xfrm>
              <a:off x="6572707" y="4066337"/>
              <a:ext cx="3810305" cy="1394460"/>
            </a:xfrm>
            <a:prstGeom prst="rect">
              <a:avLst/>
            </a:prstGeom>
          </p:spPr>
        </p:pic>
        <p:pic>
          <p:nvPicPr>
            <p:cNvPr id="20" name="Image 2" descr="preencoded.png">
              <a:extLst>
                <a:ext uri="{FF2B5EF4-FFF2-40B4-BE49-F238E27FC236}">
                  <a16:creationId xmlns:a16="http://schemas.microsoft.com/office/drawing/2014/main" id="{DE0B887C-EAD4-3BFC-53E7-21C3E442A52D}"/>
                </a:ext>
              </a:extLst>
            </p:cNvPr>
            <p:cNvPicPr>
              <a:picLocks noChangeAspect="1"/>
            </p:cNvPicPr>
            <p:nvPr/>
          </p:nvPicPr>
          <p:blipFill>
            <a:blip r:embed="rId4"/>
            <a:srcRect t="-530" b="-530"/>
            <a:stretch/>
          </p:blipFill>
          <p:spPr>
            <a:xfrm>
              <a:off x="7039051" y="4419295"/>
              <a:ext cx="247802" cy="286207"/>
            </a:xfrm>
            <a:prstGeom prst="rect">
              <a:avLst/>
            </a:prstGeom>
          </p:spPr>
        </p:pic>
        <p:sp>
          <p:nvSpPr>
            <p:cNvPr id="21" name="Text 7">
              <a:extLst>
                <a:ext uri="{FF2B5EF4-FFF2-40B4-BE49-F238E27FC236}">
                  <a16:creationId xmlns:a16="http://schemas.microsoft.com/office/drawing/2014/main" id="{7B70464E-1DBD-42C3-CF4A-922579549D84}"/>
                </a:ext>
              </a:extLst>
            </p:cNvPr>
            <p:cNvSpPr txBox="1"/>
            <p:nvPr/>
          </p:nvSpPr>
          <p:spPr>
            <a:xfrm>
              <a:off x="7601407" y="4275734"/>
              <a:ext cx="2553005" cy="981151"/>
            </a:xfrm>
            <a:prstGeom prst="rect">
              <a:avLst/>
            </a:prstGeom>
            <a:noFill/>
            <a:ln/>
          </p:spPr>
          <p:txBody>
            <a:bodyPr wrap="square" lIns="0" tIns="0" rIns="0" bIns="0" rtlCol="0" anchor="ctr"/>
            <a:lstStyle/>
            <a:p>
              <a:pPr marL="0" indent="0" algn="l">
                <a:buNone/>
              </a:pPr>
              <a:r>
                <a:rPr lang="en-US" sz="1600" dirty="0">
                  <a:solidFill>
                    <a:srgbClr val="333333"/>
                  </a:solidFill>
                  <a:latin typeface="M PLUS 1p" pitchFamily="34" charset="0"/>
                  <a:ea typeface="M PLUS 1p" pitchFamily="34" charset="-122"/>
                  <a:cs typeface="M PLUS 1p" pitchFamily="34" charset="-120"/>
                </a:rPr>
                <a:t> 私も最初は、この分岐点で</a:t>
              </a:r>
              <a:r>
                <a:rPr lang="en-US" sz="1600">
                  <a:solidFill>
                    <a:srgbClr val="333333"/>
                  </a:solidFill>
                  <a:latin typeface="M PLUS 1p" pitchFamily="34" charset="0"/>
                  <a:ea typeface="M PLUS 1p" pitchFamily="34" charset="-122"/>
                  <a:cs typeface="M PLUS 1p" pitchFamily="34" charset="-120"/>
                </a:rPr>
                <a:t>PBI広島</a:t>
              </a:r>
              <a:r>
                <a:rPr lang="ja-JP" altLang="en-US" sz="1600">
                  <a:solidFill>
                    <a:srgbClr val="333333"/>
                  </a:solidFill>
                  <a:latin typeface="M PLUS 1p" pitchFamily="34" charset="0"/>
                  <a:ea typeface="M PLUS 1p" pitchFamily="34" charset="-122"/>
                  <a:cs typeface="M PLUS 1p" pitchFamily="34" charset="-120"/>
                </a:rPr>
                <a:t>への</a:t>
              </a:r>
              <a:r>
                <a:rPr lang="en-US" sz="1600" b="1">
                  <a:solidFill>
                    <a:srgbClr val="FF6908"/>
                  </a:solidFill>
                  <a:latin typeface="M PLUS 1p" pitchFamily="34" charset="0"/>
                  <a:ea typeface="M PLUS 1p" pitchFamily="34" charset="-122"/>
                  <a:cs typeface="M PLUS 1p" pitchFamily="34" charset="-120"/>
                </a:rPr>
                <a:t>「</a:t>
              </a:r>
              <a:r>
                <a:rPr lang="en-US" sz="1600" b="1" dirty="0">
                  <a:solidFill>
                    <a:srgbClr val="FF6908"/>
                  </a:solidFill>
                  <a:latin typeface="M PLUS 1p" pitchFamily="34" charset="0"/>
                  <a:ea typeface="M PLUS 1p" pitchFamily="34" charset="-122"/>
                  <a:cs typeface="M PLUS 1p" pitchFamily="34" charset="-120"/>
                </a:rPr>
                <a:t>いいね」</a:t>
              </a:r>
              <a:r>
                <a:rPr lang="en-US" sz="1600" dirty="0">
                  <a:solidFill>
                    <a:srgbClr val="333333"/>
                  </a:solidFill>
                  <a:latin typeface="M PLUS 1p" pitchFamily="34" charset="0"/>
                  <a:ea typeface="M PLUS 1p" pitchFamily="34" charset="-122"/>
                  <a:cs typeface="M PLUS 1p" pitchFamily="34" charset="-120"/>
                </a:rPr>
                <a:t>を選びました。</a:t>
              </a:r>
              <a:endParaRPr lang="en-US" sz="1600" dirty="0"/>
            </a:p>
            <a:p>
              <a:pPr marL="0" indent="0" algn="l">
                <a:buNone/>
              </a:pPr>
              <a:r>
                <a:rPr lang="en-US" sz="1600" dirty="0">
                  <a:solidFill>
                    <a:srgbClr val="333333"/>
                  </a:solidFill>
                  <a:latin typeface="M PLUS 1p" pitchFamily="34" charset="0"/>
                  <a:ea typeface="M PLUS 1p" pitchFamily="34" charset="-122"/>
                  <a:cs typeface="M PLUS 1p" pitchFamily="34" charset="-120"/>
                </a:rPr>
                <a:t> そのたった一つの選択で</a:t>
              </a:r>
              <a:r>
                <a:rPr lang="en-US" sz="1600">
                  <a:solidFill>
                    <a:srgbClr val="333333"/>
                  </a:solidFill>
                  <a:latin typeface="M PLUS 1p" pitchFamily="34" charset="0"/>
                  <a:ea typeface="M PLUS 1p" pitchFamily="34" charset="-122"/>
                  <a:cs typeface="M PLUS 1p" pitchFamily="34" charset="-120"/>
                </a:rPr>
                <a:t>、緑の枝が一気に増えた</a:t>
              </a:r>
              <a:r>
                <a:rPr lang="ja-JP" altLang="en-US" sz="1600">
                  <a:solidFill>
                    <a:srgbClr val="333333"/>
                  </a:solidFill>
                  <a:latin typeface="M PLUS 1p" pitchFamily="34" charset="0"/>
                  <a:ea typeface="M PLUS 1p" pitchFamily="34" charset="-122"/>
                  <a:cs typeface="M PLUS 1p" pitchFamily="34" charset="-120"/>
                </a:rPr>
                <a:t>と思っています</a:t>
              </a:r>
              <a:r>
                <a:rPr lang="en-US" sz="1600">
                  <a:solidFill>
                    <a:srgbClr val="333333"/>
                  </a:solidFill>
                  <a:latin typeface="M PLUS 1p" pitchFamily="34" charset="0"/>
                  <a:ea typeface="M PLUS 1p" pitchFamily="34" charset="-122"/>
                  <a:cs typeface="M PLUS 1p" pitchFamily="34" charset="-120"/>
                </a:rPr>
                <a:t> </a:t>
              </a:r>
              <a:endParaRPr lang="en-US" sz="1600" dirty="0"/>
            </a:p>
          </p:txBody>
        </p:sp>
      </p:grpSp>
      <p:pic>
        <p:nvPicPr>
          <p:cNvPr id="22" name="図 21" descr="Power Platform - Meet Up&#10;&#10;AI 生成コンテンツは誤りを含む可能性があります。">
            <a:extLst>
              <a:ext uri="{FF2B5EF4-FFF2-40B4-BE49-F238E27FC236}">
                <a16:creationId xmlns:a16="http://schemas.microsoft.com/office/drawing/2014/main" id="{7BB613A8-1D13-2932-202B-3AC73C329729}"/>
              </a:ext>
            </a:extLst>
          </p:cNvPr>
          <p:cNvPicPr>
            <a:picLocks noChangeAspect="1"/>
          </p:cNvPicPr>
          <p:nvPr/>
        </p:nvPicPr>
        <p:blipFill>
          <a:blip r:embed="rId6"/>
          <a:srcRect l="74500" t="35767" b="27313"/>
          <a:stretch>
            <a:fillRect/>
          </a:stretch>
        </p:blipFill>
        <p:spPr>
          <a:xfrm>
            <a:off x="6864978" y="4183531"/>
            <a:ext cx="810154" cy="879732"/>
          </a:xfrm>
          <a:prstGeom prst="ellipse">
            <a:avLst/>
          </a:prstGeom>
          <a:ln w="254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3" name="Text 29">
            <a:extLst>
              <a:ext uri="{FF2B5EF4-FFF2-40B4-BE49-F238E27FC236}">
                <a16:creationId xmlns:a16="http://schemas.microsoft.com/office/drawing/2014/main" id="{097A84D2-915C-26C8-3079-699B0E566D2D}"/>
              </a:ext>
            </a:extLst>
          </p:cNvPr>
          <p:cNvSpPr txBox="1"/>
          <p:nvPr/>
        </p:nvSpPr>
        <p:spPr>
          <a:xfrm>
            <a:off x="9112053" y="1105281"/>
            <a:ext cx="2209089" cy="962863"/>
          </a:xfrm>
          <a:prstGeom prst="rect">
            <a:avLst/>
          </a:prstGeom>
          <a:noFill/>
          <a:ln/>
        </p:spPr>
        <p:txBody>
          <a:bodyPr wrap="square" lIns="0" tIns="0" rIns="0" bIns="0" rtlCol="0" anchor="ctr"/>
          <a:lstStyle/>
          <a:p>
            <a:pPr marL="0" indent="0" algn="l">
              <a:buNone/>
            </a:pPr>
            <a:r>
              <a:rPr lang="ja-JP" altLang="en-US" sz="5400" b="1">
                <a:latin typeface="Noto Sans JP" panose="020B0200000000000000" pitchFamily="50" charset="-128"/>
                <a:ea typeface="Noto Sans JP" panose="020B0200000000000000" pitchFamily="50" charset="-128"/>
              </a:rPr>
              <a:t>かも。</a:t>
            </a:r>
            <a:endParaRPr lang="en-US" sz="5400" b="1" dirty="0">
              <a:latin typeface="Noto Sans JP" panose="020B0200000000000000" pitchFamily="50" charset="-128"/>
              <a:ea typeface="Noto Sans JP" panose="020B0200000000000000" pitchFamily="50"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35002"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Text 2"/>
          <p:cNvSpPr txBox="1"/>
          <p:nvPr/>
        </p:nvSpPr>
        <p:spPr>
          <a:xfrm>
            <a:off x="381305" y="190195"/>
            <a:ext cx="1069848" cy="762610"/>
          </a:xfrm>
          <a:prstGeom prst="rect">
            <a:avLst/>
          </a:prstGeom>
          <a:noFill/>
          <a:ln/>
        </p:spPr>
        <p:txBody>
          <a:bodyPr wrap="square" lIns="0" tIns="0" rIns="0" bIns="0" rtlCol="0" anchor="ctr"/>
          <a:lstStyle/>
          <a:p>
            <a:pPr marL="0" indent="0" algn="l">
              <a:buNone/>
            </a:pPr>
            <a:r>
              <a:rPr lang="en-US" sz="6000" b="1" dirty="0">
                <a:solidFill>
                  <a:srgbClr val="FF6908">
                    <a:alpha val="15000"/>
                  </a:srgbClr>
                </a:solidFill>
                <a:latin typeface="Manrope" pitchFamily="34" charset="0"/>
                <a:ea typeface="Manrope" pitchFamily="34" charset="-122"/>
                <a:cs typeface="Manrope" pitchFamily="34" charset="-120"/>
              </a:rPr>
              <a:t>06</a:t>
            </a:r>
            <a:endParaRPr lang="en-US" sz="6000" dirty="0"/>
          </a:p>
        </p:txBody>
      </p:sp>
      <p:sp>
        <p:nvSpPr>
          <p:cNvPr id="5" name="Shape 3"/>
          <p:cNvSpPr/>
          <p:nvPr/>
        </p:nvSpPr>
        <p:spPr>
          <a:xfrm>
            <a:off x="8382305" y="-1904695"/>
            <a:ext cx="4762195" cy="4762195"/>
          </a:xfrm>
          <a:prstGeom prst="ellipse">
            <a:avLst/>
          </a:prstGeom>
          <a:solidFill>
            <a:srgbClr val="FFF3EB">
              <a:alpha val="50000"/>
            </a:srgbClr>
          </a:solidFill>
          <a:ln w="12700">
            <a:solidFill>
              <a:srgbClr val="FFFFFF">
                <a:alpha val="0"/>
              </a:srgbClr>
            </a:solidFill>
            <a:prstDash val="solid"/>
          </a:ln>
        </p:spPr>
        <p:txBody>
          <a:bodyPr/>
          <a:lstStyle/>
          <a:p>
            <a:endParaRPr lang="ja-JP" altLang="en-US"/>
          </a:p>
        </p:txBody>
      </p:sp>
      <p:sp>
        <p:nvSpPr>
          <p:cNvPr id="6" name="Shape 4"/>
          <p:cNvSpPr/>
          <p:nvPr/>
        </p:nvSpPr>
        <p:spPr>
          <a:xfrm>
            <a:off x="-476402" y="4476902"/>
            <a:ext cx="2857500" cy="2857500"/>
          </a:xfrm>
          <a:prstGeom prst="ellipse">
            <a:avLst/>
          </a:prstGeom>
          <a:solidFill>
            <a:srgbClr val="FFF3EB">
              <a:alpha val="30000"/>
            </a:srgbClr>
          </a:solidFill>
          <a:ln w="12700">
            <a:solidFill>
              <a:srgbClr val="FFFFFF">
                <a:alpha val="0"/>
              </a:srgbClr>
            </a:solidFill>
            <a:prstDash val="solid"/>
          </a:ln>
        </p:spPr>
        <p:txBody>
          <a:bodyPr/>
          <a:lstStyle/>
          <a:p>
            <a:endParaRPr lang="ja-JP" altLang="en-US"/>
          </a:p>
        </p:txBody>
      </p:sp>
      <p:sp>
        <p:nvSpPr>
          <p:cNvPr id="7" name="Text 5"/>
          <p:cNvSpPr txBox="1"/>
          <p:nvPr/>
        </p:nvSpPr>
        <p:spPr>
          <a:xfrm>
            <a:off x="520548" y="187475"/>
            <a:ext cx="11220602" cy="1885580"/>
          </a:xfrm>
          <a:prstGeom prst="rect">
            <a:avLst/>
          </a:prstGeom>
          <a:noFill/>
          <a:ln/>
        </p:spPr>
        <p:txBody>
          <a:bodyPr wrap="square" lIns="0" tIns="0" rIns="0" bIns="0" rtlCol="0" anchor="ctr"/>
          <a:lstStyle/>
          <a:p>
            <a:pPr marL="0" indent="0" algn="ctr">
              <a:buNone/>
            </a:pPr>
            <a:r>
              <a:rPr lang="ja-JP" altLang="en-US" sz="3600" b="1" kern="0" spc="-72">
                <a:solidFill>
                  <a:schemeClr val="tx1">
                    <a:lumMod val="75000"/>
                    <a:lumOff val="25000"/>
                  </a:schemeClr>
                </a:solidFill>
                <a:latin typeface="Noto Sans JP" pitchFamily="34" charset="0"/>
                <a:ea typeface="Noto Sans JP" pitchFamily="34" charset="-122"/>
                <a:cs typeface="Noto Sans JP" pitchFamily="34" charset="-120"/>
              </a:rPr>
              <a:t>今日のイベント</a:t>
            </a:r>
            <a:endParaRPr lang="en-US" altLang="ja-JP" sz="3600" b="1" kern="0" spc="-72">
              <a:solidFill>
                <a:schemeClr val="tx1">
                  <a:lumMod val="75000"/>
                  <a:lumOff val="25000"/>
                </a:schemeClr>
              </a:solidFill>
              <a:latin typeface="Noto Sans JP" pitchFamily="34" charset="0"/>
              <a:ea typeface="Noto Sans JP" pitchFamily="34" charset="-122"/>
              <a:cs typeface="Noto Sans JP" pitchFamily="34" charset="-120"/>
            </a:endParaRPr>
          </a:p>
          <a:p>
            <a:pPr marL="0" indent="0" algn="ctr">
              <a:buNone/>
            </a:pPr>
            <a:r>
              <a:rPr lang="en-US" altLang="ja-JP" sz="3600" b="1" kern="0" spc="-72">
                <a:solidFill>
                  <a:schemeClr val="tx1">
                    <a:lumMod val="75000"/>
                    <a:lumOff val="25000"/>
                  </a:schemeClr>
                </a:solidFill>
                <a:latin typeface="Noto Sans JP" pitchFamily="34" charset="0"/>
                <a:ea typeface="Noto Sans JP" pitchFamily="34" charset="-122"/>
                <a:cs typeface="Noto Sans JP" pitchFamily="34" charset="-120"/>
              </a:rPr>
              <a:t>DX</a:t>
            </a:r>
            <a:r>
              <a:rPr lang="ja-JP" altLang="en-US" sz="3600" b="1" kern="0" spc="-72">
                <a:solidFill>
                  <a:schemeClr val="tx1">
                    <a:lumMod val="75000"/>
                    <a:lumOff val="25000"/>
                  </a:schemeClr>
                </a:solidFill>
                <a:latin typeface="Noto Sans JP" pitchFamily="34" charset="0"/>
                <a:ea typeface="Noto Sans JP" pitchFamily="34" charset="-122"/>
                <a:cs typeface="Noto Sans JP" pitchFamily="34" charset="-120"/>
              </a:rPr>
              <a:t>推進</a:t>
            </a:r>
            <a:r>
              <a:rPr lang="en-US" altLang="ja-JP" sz="3600" b="1" kern="0" spc="-72">
                <a:solidFill>
                  <a:schemeClr val="tx1">
                    <a:lumMod val="75000"/>
                    <a:lumOff val="25000"/>
                  </a:schemeClr>
                </a:solidFill>
                <a:latin typeface="Noto Sans JP" pitchFamily="34" charset="0"/>
                <a:ea typeface="Noto Sans JP" pitchFamily="34" charset="-122"/>
                <a:cs typeface="Noto Sans JP" pitchFamily="34" charset="-120"/>
              </a:rPr>
              <a:t>Power Platform MeetUp</a:t>
            </a:r>
            <a:r>
              <a:rPr lang="ja-JP" altLang="en-US" sz="3600" b="1" kern="0" spc="-72">
                <a:solidFill>
                  <a:schemeClr val="tx1">
                    <a:lumMod val="75000"/>
                    <a:lumOff val="25000"/>
                  </a:schemeClr>
                </a:solidFill>
                <a:latin typeface="Noto Sans JP" pitchFamily="34" charset="0"/>
                <a:ea typeface="Noto Sans JP" pitchFamily="34" charset="-122"/>
                <a:cs typeface="Noto Sans JP" pitchFamily="34" charset="-120"/>
              </a:rPr>
              <a:t>文化祭 </a:t>
            </a:r>
            <a:r>
              <a:rPr lang="en-US" altLang="ja-JP" sz="3600" b="1" kern="0" spc="-72">
                <a:solidFill>
                  <a:schemeClr val="tx1">
                    <a:lumMod val="75000"/>
                    <a:lumOff val="25000"/>
                  </a:schemeClr>
                </a:solidFill>
                <a:latin typeface="Noto Sans JP" pitchFamily="34" charset="0"/>
                <a:ea typeface="Noto Sans JP" pitchFamily="34" charset="-122"/>
                <a:cs typeface="Noto Sans JP" pitchFamily="34" charset="-120"/>
              </a:rPr>
              <a:t>in Hiroshima</a:t>
            </a:r>
          </a:p>
          <a:p>
            <a:pPr marL="0" indent="0" algn="ctr">
              <a:buNone/>
            </a:pPr>
            <a:r>
              <a:rPr lang="en-US" sz="3600" b="1" kern="0" spc="-72">
                <a:solidFill>
                  <a:schemeClr val="tx1">
                    <a:lumMod val="75000"/>
                    <a:lumOff val="25000"/>
                  </a:schemeClr>
                </a:solidFill>
                <a:latin typeface="Noto Sans JP" pitchFamily="34" charset="0"/>
                <a:ea typeface="Noto Sans JP" pitchFamily="34" charset="-122"/>
                <a:cs typeface="Noto Sans JP" pitchFamily="34" charset="-120"/>
              </a:rPr>
              <a:t> </a:t>
            </a:r>
            <a:endParaRPr lang="en-US" sz="3600" dirty="0">
              <a:solidFill>
                <a:schemeClr val="tx1">
                  <a:lumMod val="75000"/>
                  <a:lumOff val="25000"/>
                </a:schemeClr>
              </a:solidFill>
            </a:endParaRPr>
          </a:p>
        </p:txBody>
      </p:sp>
      <p:sp>
        <p:nvSpPr>
          <p:cNvPr id="13" name="Shape 8"/>
          <p:cNvSpPr/>
          <p:nvPr/>
        </p:nvSpPr>
        <p:spPr>
          <a:xfrm>
            <a:off x="2361895" y="5827471"/>
            <a:ext cx="7477049" cy="657454"/>
          </a:xfrm>
          <a:prstGeom prst="roundRect">
            <a:avLst>
              <a:gd name="adj" fmla="val 139082"/>
            </a:avLst>
          </a:prstGeom>
          <a:solidFill>
            <a:srgbClr val="FFFFFF">
              <a:alpha val="80000"/>
            </a:srgbClr>
          </a:solidFill>
          <a:ln/>
        </p:spPr>
        <p:txBody>
          <a:bodyPr/>
          <a:lstStyle/>
          <a:p>
            <a:endParaRPr lang="ja-JP" altLang="en-US"/>
          </a:p>
        </p:txBody>
      </p:sp>
      <p:sp>
        <p:nvSpPr>
          <p:cNvPr id="14" name="Shape 9"/>
          <p:cNvSpPr/>
          <p:nvPr/>
        </p:nvSpPr>
        <p:spPr>
          <a:xfrm>
            <a:off x="2361895" y="6456578"/>
            <a:ext cx="7477049" cy="28346"/>
          </a:xfrm>
          <a:prstGeom prst="roundRect">
            <a:avLst>
              <a:gd name="adj" fmla="val 3225852"/>
            </a:avLst>
          </a:prstGeom>
          <a:solidFill>
            <a:srgbClr val="FF6908"/>
          </a:solidFill>
          <a:ln w="12700">
            <a:solidFill>
              <a:srgbClr val="FF6908">
                <a:alpha val="0"/>
              </a:srgbClr>
            </a:solidFill>
            <a:prstDash val="solid"/>
          </a:ln>
        </p:spPr>
        <p:txBody>
          <a:bodyPr/>
          <a:lstStyle/>
          <a:p>
            <a:endParaRPr lang="ja-JP" altLang="en-US"/>
          </a:p>
        </p:txBody>
      </p:sp>
      <p:sp>
        <p:nvSpPr>
          <p:cNvPr id="16" name="Text 11"/>
          <p:cNvSpPr txBox="1"/>
          <p:nvPr/>
        </p:nvSpPr>
        <p:spPr>
          <a:xfrm>
            <a:off x="10713110" y="381305"/>
            <a:ext cx="1088136" cy="257861"/>
          </a:xfrm>
          <a:prstGeom prst="rect">
            <a:avLst/>
          </a:prstGeom>
          <a:noFill/>
          <a:ln/>
        </p:spPr>
        <p:txBody>
          <a:bodyPr wrap="square" lIns="0" tIns="0" rIns="0" bIns="0" rtlCol="0" anchor="ctr"/>
          <a:lstStyle/>
          <a:p>
            <a:pPr marL="0" indent="0" algn="l">
              <a:buNone/>
            </a:pPr>
            <a:r>
              <a:rPr lang="en-US" sz="1300" b="1" dirty="0">
                <a:solidFill>
                  <a:srgbClr val="FF6908"/>
                </a:solidFill>
                <a:latin typeface="Manrope" pitchFamily="34" charset="0"/>
                <a:ea typeface="Manrope" pitchFamily="34" charset="-122"/>
                <a:cs typeface="Manrope" pitchFamily="34" charset="-120"/>
              </a:rPr>
              <a:t>2026.03.10</a:t>
            </a:r>
            <a:endParaRPr lang="en-US" sz="1300" dirty="0"/>
          </a:p>
        </p:txBody>
      </p:sp>
      <p:pic>
        <p:nvPicPr>
          <p:cNvPr id="22" name="図 21" descr="Power Platform - Meet Up&#10;&#10;AI 生成コンテンツは誤りを含む可能性があります。">
            <a:extLst>
              <a:ext uri="{FF2B5EF4-FFF2-40B4-BE49-F238E27FC236}">
                <a16:creationId xmlns:a16="http://schemas.microsoft.com/office/drawing/2014/main" id="{7BB613A8-1D13-2932-202B-3AC73C329729}"/>
              </a:ext>
            </a:extLst>
          </p:cNvPr>
          <p:cNvPicPr>
            <a:picLocks noChangeAspect="1"/>
          </p:cNvPicPr>
          <p:nvPr/>
        </p:nvPicPr>
        <p:blipFill>
          <a:blip r:embed="rId3"/>
          <a:srcRect l="74500" t="35767" b="27313"/>
          <a:stretch>
            <a:fillRect/>
          </a:stretch>
        </p:blipFill>
        <p:spPr>
          <a:xfrm>
            <a:off x="10494833" y="4865609"/>
            <a:ext cx="1662165" cy="1804916"/>
          </a:xfrm>
          <a:prstGeom prst="ellipse">
            <a:avLst/>
          </a:prstGeom>
          <a:ln w="254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3" name="Text 5">
            <a:extLst>
              <a:ext uri="{FF2B5EF4-FFF2-40B4-BE49-F238E27FC236}">
                <a16:creationId xmlns:a16="http://schemas.microsoft.com/office/drawing/2014/main" id="{64FFBEB3-CA3E-2FB5-8A6B-AAC40A9861A6}"/>
              </a:ext>
            </a:extLst>
          </p:cNvPr>
          <p:cNvSpPr txBox="1"/>
          <p:nvPr/>
        </p:nvSpPr>
        <p:spPr>
          <a:xfrm>
            <a:off x="2885217" y="2339666"/>
            <a:ext cx="8788399" cy="1997530"/>
          </a:xfrm>
          <a:prstGeom prst="rect">
            <a:avLst/>
          </a:prstGeom>
          <a:noFill/>
          <a:ln/>
        </p:spPr>
        <p:txBody>
          <a:bodyPr wrap="square" lIns="0" tIns="0" rIns="0" bIns="0" rtlCol="0" anchor="ctr"/>
          <a:lstStyle/>
          <a:p>
            <a:pPr marL="0" indent="0" algn="l">
              <a:buNone/>
            </a:pPr>
            <a:r>
              <a:rPr lang="ja-JP" altLang="en-US" sz="3600" b="1">
                <a:solidFill>
                  <a:schemeClr val="tx1">
                    <a:lumMod val="75000"/>
                    <a:lumOff val="25000"/>
                  </a:schemeClr>
                </a:solidFill>
              </a:rPr>
              <a:t>参加して下さった皆さんの</a:t>
            </a:r>
            <a:endParaRPr lang="en-US" altLang="ja-JP" sz="3600" b="1">
              <a:solidFill>
                <a:schemeClr val="tx1">
                  <a:lumMod val="75000"/>
                  <a:lumOff val="25000"/>
                </a:schemeClr>
              </a:solidFill>
            </a:endParaRPr>
          </a:p>
          <a:p>
            <a:pPr marL="0" indent="0" algn="l">
              <a:buNone/>
            </a:pPr>
            <a:r>
              <a:rPr lang="ja-JP" altLang="en-US" sz="3600" b="1">
                <a:solidFill>
                  <a:schemeClr val="tx1">
                    <a:lumMod val="75000"/>
                    <a:lumOff val="25000"/>
                  </a:schemeClr>
                </a:solidFill>
              </a:rPr>
              <a:t>未来の枝葉が広がっていく</a:t>
            </a:r>
            <a:endParaRPr lang="en-US" altLang="ja-JP" sz="3600" b="1">
              <a:solidFill>
                <a:schemeClr val="tx1">
                  <a:lumMod val="75000"/>
                  <a:lumOff val="25000"/>
                </a:schemeClr>
              </a:solidFill>
            </a:endParaRPr>
          </a:p>
          <a:p>
            <a:pPr marL="0" indent="0" algn="l">
              <a:buNone/>
            </a:pPr>
            <a:r>
              <a:rPr lang="ja-JP" altLang="en-US" sz="4800" b="1">
                <a:solidFill>
                  <a:srgbClr val="FF0000"/>
                </a:solidFill>
              </a:rPr>
              <a:t>最初の分岐点</a:t>
            </a:r>
            <a:r>
              <a:rPr lang="ja-JP" altLang="en-US" sz="3600" b="1">
                <a:solidFill>
                  <a:schemeClr val="tx1">
                    <a:lumMod val="75000"/>
                    <a:lumOff val="25000"/>
                  </a:schemeClr>
                </a:solidFill>
              </a:rPr>
              <a:t>になれば嬉しいです。</a:t>
            </a:r>
            <a:endParaRPr lang="en-US" sz="3600" b="1" dirty="0">
              <a:solidFill>
                <a:schemeClr val="tx1">
                  <a:lumMod val="75000"/>
                  <a:lumOff val="25000"/>
                </a:schemeClr>
              </a:solidFill>
            </a:endParaRPr>
          </a:p>
        </p:txBody>
      </p:sp>
      <p:pic>
        <p:nvPicPr>
          <p:cNvPr id="24" name="図 23" descr="PBI Yamagata&#10;&#10;AI 生成コンテンツは誤りを含む可能性があります。">
            <a:extLst>
              <a:ext uri="{FF2B5EF4-FFF2-40B4-BE49-F238E27FC236}">
                <a16:creationId xmlns:a16="http://schemas.microsoft.com/office/drawing/2014/main" id="{08EE3074-E825-E6AB-C30E-49BF95C2144A}"/>
              </a:ext>
            </a:extLst>
          </p:cNvPr>
          <p:cNvPicPr>
            <a:picLocks noChangeAspect="1"/>
          </p:cNvPicPr>
          <p:nvPr/>
        </p:nvPicPr>
        <p:blipFill>
          <a:blip r:embed="rId4"/>
          <a:srcRect l="12332" t="32619" r="48265" b="15753"/>
          <a:stretch>
            <a:fillRect/>
          </a:stretch>
        </p:blipFill>
        <p:spPr>
          <a:xfrm>
            <a:off x="703208" y="4243629"/>
            <a:ext cx="3360792" cy="2450158"/>
          </a:xfrm>
          <a:prstGeom prst="rect">
            <a:avLst/>
          </a:prstGeom>
        </p:spPr>
      </p:pic>
      <p:cxnSp>
        <p:nvCxnSpPr>
          <p:cNvPr id="25" name="直線矢印コネクタ 24">
            <a:extLst>
              <a:ext uri="{FF2B5EF4-FFF2-40B4-BE49-F238E27FC236}">
                <a16:creationId xmlns:a16="http://schemas.microsoft.com/office/drawing/2014/main" id="{D02CB849-D42C-2DB1-AF30-1315F6BF3A98}"/>
              </a:ext>
            </a:extLst>
          </p:cNvPr>
          <p:cNvCxnSpPr>
            <a:cxnSpLocks/>
          </p:cNvCxnSpPr>
          <p:nvPr/>
        </p:nvCxnSpPr>
        <p:spPr>
          <a:xfrm flipV="1">
            <a:off x="1469629" y="5827471"/>
            <a:ext cx="702071" cy="365518"/>
          </a:xfrm>
          <a:prstGeom prst="straightConnector1">
            <a:avLst/>
          </a:prstGeom>
          <a:ln w="95250">
            <a:solidFill>
              <a:schemeClr val="bg1"/>
            </a:solidFill>
            <a:tailEnd type="triangle"/>
          </a:ln>
          <a:effectLst>
            <a:glow rad="76200">
              <a:srgbClr val="C00000"/>
            </a:glow>
          </a:effectLst>
        </p:spPr>
        <p:style>
          <a:lnRef idx="1">
            <a:schemeClr val="accent1"/>
          </a:lnRef>
          <a:fillRef idx="0">
            <a:schemeClr val="accent1"/>
          </a:fillRef>
          <a:effectRef idx="0">
            <a:schemeClr val="accent1"/>
          </a:effectRef>
          <a:fontRef idx="minor">
            <a:schemeClr val="tx1"/>
          </a:fontRef>
        </p:style>
      </p:cxnSp>
      <p:sp>
        <p:nvSpPr>
          <p:cNvPr id="9" name="Text 5">
            <a:extLst>
              <a:ext uri="{FF2B5EF4-FFF2-40B4-BE49-F238E27FC236}">
                <a16:creationId xmlns:a16="http://schemas.microsoft.com/office/drawing/2014/main" id="{BECF533B-B630-54A1-77FC-D980ADDC9EDA}"/>
              </a:ext>
            </a:extLst>
          </p:cNvPr>
          <p:cNvSpPr txBox="1"/>
          <p:nvPr/>
        </p:nvSpPr>
        <p:spPr>
          <a:xfrm>
            <a:off x="570057" y="6079275"/>
            <a:ext cx="1881045" cy="754606"/>
          </a:xfrm>
          <a:prstGeom prst="rect">
            <a:avLst/>
          </a:prstGeom>
          <a:noFill/>
          <a:ln/>
        </p:spPr>
        <p:txBody>
          <a:bodyPr wrap="square" lIns="0" tIns="0" rIns="0" bIns="0" rtlCol="0" anchor="ctr"/>
          <a:lstStyle/>
          <a:p>
            <a:pPr marL="0" indent="0" algn="l">
              <a:buNone/>
            </a:pPr>
            <a:r>
              <a:rPr lang="ja-JP" altLang="en-US" sz="3600" b="1">
                <a:solidFill>
                  <a:schemeClr val="tx1">
                    <a:lumMod val="75000"/>
                    <a:lumOff val="25000"/>
                  </a:schemeClr>
                </a:solidFill>
              </a:rPr>
              <a:t>ココ！</a:t>
            </a:r>
            <a:endParaRPr lang="en-US" sz="3600" b="1" dirty="0">
              <a:solidFill>
                <a:schemeClr val="tx1">
                  <a:lumMod val="75000"/>
                  <a:lumOff val="25000"/>
                </a:schemeClr>
              </a:solidFill>
            </a:endParaRPr>
          </a:p>
        </p:txBody>
      </p:sp>
      <p:cxnSp>
        <p:nvCxnSpPr>
          <p:cNvPr id="11" name="直線矢印コネクタ 10">
            <a:extLst>
              <a:ext uri="{FF2B5EF4-FFF2-40B4-BE49-F238E27FC236}">
                <a16:creationId xmlns:a16="http://schemas.microsoft.com/office/drawing/2014/main" id="{16226DED-2D80-1845-0488-D4C28F451DF4}"/>
              </a:ext>
            </a:extLst>
          </p:cNvPr>
          <p:cNvCxnSpPr>
            <a:cxnSpLocks/>
          </p:cNvCxnSpPr>
          <p:nvPr/>
        </p:nvCxnSpPr>
        <p:spPr>
          <a:xfrm>
            <a:off x="5841208" y="1626929"/>
            <a:ext cx="0" cy="520626"/>
          </a:xfrm>
          <a:prstGeom prst="straightConnector1">
            <a:avLst/>
          </a:prstGeom>
          <a:ln w="95250">
            <a:solidFill>
              <a:schemeClr val="bg1"/>
            </a:solidFill>
            <a:tailEnd type="triangle"/>
          </a:ln>
          <a:effectLst>
            <a:glow rad="76200">
              <a:srgbClr val="C00000"/>
            </a:glow>
          </a:effectLst>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800778B4-6087-50A1-7A9D-E00EE3766962}"/>
              </a:ext>
            </a:extLst>
          </p:cNvPr>
          <p:cNvCxnSpPr/>
          <p:nvPr/>
        </p:nvCxnSpPr>
        <p:spPr>
          <a:xfrm>
            <a:off x="9131300" y="4572000"/>
            <a:ext cx="831850" cy="293609"/>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C71D1B4E-40FD-6486-E7CF-2912541C573F}"/>
              </a:ext>
            </a:extLst>
          </p:cNvPr>
          <p:cNvCxnSpPr>
            <a:cxnSpLocks/>
          </p:cNvCxnSpPr>
          <p:nvPr/>
        </p:nvCxnSpPr>
        <p:spPr>
          <a:xfrm>
            <a:off x="11180977" y="2996528"/>
            <a:ext cx="95098" cy="916734"/>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7882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Text 2"/>
          <p:cNvSpPr txBox="1"/>
          <p:nvPr/>
        </p:nvSpPr>
        <p:spPr>
          <a:xfrm>
            <a:off x="381305" y="190195"/>
            <a:ext cx="1019556" cy="762610"/>
          </a:xfrm>
          <a:prstGeom prst="rect">
            <a:avLst/>
          </a:prstGeom>
          <a:noFill/>
          <a:ln/>
        </p:spPr>
        <p:txBody>
          <a:bodyPr wrap="square" lIns="0" tIns="0" rIns="0" bIns="0" rtlCol="0" anchor="ctr"/>
          <a:lstStyle/>
          <a:p>
            <a:pPr marL="0" indent="0" algn="l">
              <a:buNone/>
            </a:pPr>
            <a:r>
              <a:rPr lang="en-US" sz="6000" b="1" dirty="0">
                <a:solidFill>
                  <a:srgbClr val="FF6908">
                    <a:alpha val="15000"/>
                  </a:srgbClr>
                </a:solidFill>
                <a:latin typeface="Manrope" pitchFamily="34" charset="0"/>
                <a:ea typeface="Manrope" pitchFamily="34" charset="-122"/>
                <a:cs typeface="Manrope" pitchFamily="34" charset="-120"/>
              </a:rPr>
              <a:t>07</a:t>
            </a:r>
            <a:endParaRPr lang="en-US" sz="6000" dirty="0"/>
          </a:p>
        </p:txBody>
      </p:sp>
      <p:sp>
        <p:nvSpPr>
          <p:cNvPr id="5" name="Shape 3"/>
          <p:cNvSpPr/>
          <p:nvPr/>
        </p:nvSpPr>
        <p:spPr>
          <a:xfrm>
            <a:off x="-1429207" y="-1429207"/>
            <a:ext cx="3810305" cy="3810305"/>
          </a:xfrm>
          <a:prstGeom prst="ellipse">
            <a:avLst/>
          </a:prstGeom>
          <a:solidFill>
            <a:srgbClr val="FFF3EB">
              <a:alpha val="60000"/>
            </a:srgbClr>
          </a:solidFill>
          <a:ln w="12700">
            <a:solidFill>
              <a:srgbClr val="FFFFFF">
                <a:alpha val="0"/>
              </a:srgbClr>
            </a:solidFill>
            <a:prstDash val="solid"/>
          </a:ln>
        </p:spPr>
        <p:txBody>
          <a:bodyPr/>
          <a:lstStyle/>
          <a:p>
            <a:endParaRPr lang="ja-JP" altLang="en-US"/>
          </a:p>
        </p:txBody>
      </p:sp>
      <p:sp>
        <p:nvSpPr>
          <p:cNvPr id="6" name="Shape 4"/>
          <p:cNvSpPr/>
          <p:nvPr/>
        </p:nvSpPr>
        <p:spPr>
          <a:xfrm>
            <a:off x="8382305" y="3524098"/>
            <a:ext cx="5715000" cy="5715000"/>
          </a:xfrm>
          <a:prstGeom prst="ellipse">
            <a:avLst/>
          </a:prstGeom>
          <a:solidFill>
            <a:srgbClr val="FFF3EB">
              <a:alpha val="40000"/>
            </a:srgbClr>
          </a:solidFill>
          <a:ln w="12700">
            <a:solidFill>
              <a:srgbClr val="FFFFFF">
                <a:alpha val="0"/>
              </a:srgbClr>
            </a:solidFill>
            <a:prstDash val="solid"/>
          </a:ln>
        </p:spPr>
        <p:txBody>
          <a:bodyPr/>
          <a:lstStyle/>
          <a:p>
            <a:endParaRPr lang="ja-JP" altLang="en-US"/>
          </a:p>
        </p:txBody>
      </p:sp>
      <p:sp>
        <p:nvSpPr>
          <p:cNvPr id="7" name="Text 5"/>
          <p:cNvSpPr txBox="1"/>
          <p:nvPr/>
        </p:nvSpPr>
        <p:spPr>
          <a:xfrm>
            <a:off x="1276501" y="761695"/>
            <a:ext cx="10534193" cy="1005840"/>
          </a:xfrm>
          <a:prstGeom prst="rect">
            <a:avLst/>
          </a:prstGeom>
          <a:noFill/>
          <a:ln/>
        </p:spPr>
        <p:txBody>
          <a:bodyPr wrap="square" lIns="0" tIns="0" rIns="0" bIns="0" rtlCol="0" anchor="ctr"/>
          <a:lstStyle/>
          <a:p>
            <a:pPr marL="0" indent="0" algn="l">
              <a:buNone/>
            </a:pPr>
            <a:r>
              <a:rPr lang="en-US" sz="2800">
                <a:solidFill>
                  <a:srgbClr val="333333"/>
                </a:solidFill>
                <a:latin typeface="M PLUS 1p" pitchFamily="34" charset="0"/>
                <a:ea typeface="M PLUS 1p" pitchFamily="34" charset="-122"/>
                <a:cs typeface="M PLUS 1p" pitchFamily="34" charset="-120"/>
              </a:rPr>
              <a:t> 私の</a:t>
            </a:r>
            <a:r>
              <a:rPr lang="ja-JP" altLang="en-US" sz="2800">
                <a:solidFill>
                  <a:srgbClr val="333333"/>
                </a:solidFill>
                <a:latin typeface="M PLUS 1p" pitchFamily="34" charset="0"/>
                <a:ea typeface="M PLUS 1p" pitchFamily="34" charset="-122"/>
                <a:cs typeface="M PLUS 1p" pitchFamily="34" charset="-120"/>
              </a:rPr>
              <a:t>パワプラ</a:t>
            </a:r>
            <a:r>
              <a:rPr lang="en-US" sz="2800">
                <a:solidFill>
                  <a:srgbClr val="333333"/>
                </a:solidFill>
                <a:latin typeface="M PLUS 1p" pitchFamily="34" charset="0"/>
                <a:ea typeface="M PLUS 1p" pitchFamily="34" charset="-122"/>
                <a:cs typeface="M PLUS 1p" pitchFamily="34" charset="-120"/>
              </a:rPr>
              <a:t>人生を広げてくれたのは、</a:t>
            </a:r>
          </a:p>
          <a:p>
            <a:pPr marL="0" indent="0" algn="l">
              <a:buNone/>
            </a:pPr>
            <a:r>
              <a:rPr lang="en-US" sz="2800">
                <a:solidFill>
                  <a:srgbClr val="333333"/>
                </a:solidFill>
                <a:latin typeface="M PLUS 1p" pitchFamily="34" charset="0"/>
                <a:ea typeface="M PLUS 1p" pitchFamily="34" charset="-122"/>
                <a:cs typeface="M PLUS 1p" pitchFamily="34" charset="-120"/>
              </a:rPr>
              <a:t>たった</a:t>
            </a:r>
            <a:r>
              <a:rPr lang="en-US" sz="2800" dirty="0">
                <a:solidFill>
                  <a:srgbClr val="333333"/>
                </a:solidFill>
                <a:latin typeface="M PLUS 1p" pitchFamily="34" charset="0"/>
                <a:ea typeface="M PLUS 1p" pitchFamily="34" charset="-122"/>
                <a:cs typeface="M PLUS 1p" pitchFamily="34" charset="-120"/>
              </a:rPr>
              <a:t>1つの</a:t>
            </a:r>
            <a:r>
              <a:rPr lang="en-US" sz="2800" b="1" dirty="0">
                <a:solidFill>
                  <a:srgbClr val="FF6908"/>
                </a:solidFill>
                <a:latin typeface="M PLUS 1p" pitchFamily="34" charset="0"/>
                <a:ea typeface="M PLUS 1p" pitchFamily="34" charset="-122"/>
                <a:cs typeface="M PLUS 1p" pitchFamily="34" charset="-120"/>
              </a:rPr>
              <a:t>「いいね」</a:t>
            </a:r>
            <a:r>
              <a:rPr lang="en-US" sz="2800" dirty="0">
                <a:solidFill>
                  <a:srgbClr val="333333"/>
                </a:solidFill>
                <a:latin typeface="M PLUS 1p" pitchFamily="34" charset="0"/>
                <a:ea typeface="M PLUS 1p" pitchFamily="34" charset="-122"/>
                <a:cs typeface="M PLUS 1p" pitchFamily="34" charset="-120"/>
              </a:rPr>
              <a:t>でした。 </a:t>
            </a:r>
            <a:endParaRPr lang="en-US" sz="2800" dirty="0"/>
          </a:p>
        </p:txBody>
      </p:sp>
      <p:sp>
        <p:nvSpPr>
          <p:cNvPr id="8" name="Text 6"/>
          <p:cNvSpPr txBox="1"/>
          <p:nvPr/>
        </p:nvSpPr>
        <p:spPr>
          <a:xfrm>
            <a:off x="1324051" y="1813495"/>
            <a:ext cx="10522311" cy="1005840"/>
          </a:xfrm>
          <a:prstGeom prst="rect">
            <a:avLst/>
          </a:prstGeom>
          <a:noFill/>
          <a:ln/>
        </p:spPr>
        <p:txBody>
          <a:bodyPr wrap="square" lIns="0" tIns="0" rIns="0" bIns="0" rtlCol="0" anchor="ctr"/>
          <a:lstStyle/>
          <a:p>
            <a:pPr marL="0" indent="0" algn="l">
              <a:buNone/>
            </a:pPr>
            <a:r>
              <a:rPr lang="en-US" sz="2800" b="1" dirty="0">
                <a:solidFill>
                  <a:srgbClr val="FF6908"/>
                </a:solidFill>
                <a:latin typeface="M PLUS 1p" pitchFamily="34" charset="0"/>
                <a:ea typeface="M PLUS 1p" pitchFamily="34" charset="-122"/>
                <a:cs typeface="M PLUS 1p" pitchFamily="34" charset="-120"/>
              </a:rPr>
              <a:t>リアクション</a:t>
            </a:r>
            <a:r>
              <a:rPr lang="en-US" sz="2800" dirty="0">
                <a:solidFill>
                  <a:srgbClr val="333333"/>
                </a:solidFill>
                <a:latin typeface="M PLUS 1p" pitchFamily="34" charset="0"/>
                <a:ea typeface="M PLUS 1p" pitchFamily="34" charset="-122"/>
                <a:cs typeface="M PLUS 1p" pitchFamily="34" charset="-120"/>
              </a:rPr>
              <a:t>は</a:t>
            </a:r>
            <a:r>
              <a:rPr lang="en-US" sz="2800">
                <a:solidFill>
                  <a:srgbClr val="333333"/>
                </a:solidFill>
                <a:latin typeface="M PLUS 1p" pitchFamily="34" charset="0"/>
                <a:ea typeface="M PLUS 1p" pitchFamily="34" charset="-122"/>
                <a:cs typeface="M PLUS 1p" pitchFamily="34" charset="-120"/>
              </a:rPr>
              <a:t>、最小のアクションで</a:t>
            </a:r>
          </a:p>
          <a:p>
            <a:pPr marL="0" indent="0" algn="l">
              <a:buNone/>
            </a:pPr>
            <a:r>
              <a:rPr lang="en-US" sz="2800">
                <a:solidFill>
                  <a:srgbClr val="333333"/>
                </a:solidFill>
                <a:latin typeface="M PLUS 1p" pitchFamily="34" charset="0"/>
                <a:ea typeface="M PLUS 1p" pitchFamily="34" charset="-122"/>
                <a:cs typeface="M PLUS 1p" pitchFamily="34" charset="-120"/>
              </a:rPr>
              <a:t>最大の変化を起こすスイッチです</a:t>
            </a:r>
            <a:r>
              <a:rPr lang="en-US" sz="2800" dirty="0">
                <a:solidFill>
                  <a:srgbClr val="333333"/>
                </a:solidFill>
                <a:latin typeface="M PLUS 1p" pitchFamily="34" charset="0"/>
                <a:ea typeface="M PLUS 1p" pitchFamily="34" charset="-122"/>
                <a:cs typeface="M PLUS 1p" pitchFamily="34" charset="-120"/>
              </a:rPr>
              <a:t>。 </a:t>
            </a:r>
            <a:endParaRPr lang="en-US" sz="2800" dirty="0"/>
          </a:p>
        </p:txBody>
      </p:sp>
      <p:sp>
        <p:nvSpPr>
          <p:cNvPr id="9" name="Text 7"/>
          <p:cNvSpPr txBox="1"/>
          <p:nvPr/>
        </p:nvSpPr>
        <p:spPr>
          <a:xfrm>
            <a:off x="1276502" y="2800808"/>
            <a:ext cx="10401301" cy="1220256"/>
          </a:xfrm>
          <a:prstGeom prst="rect">
            <a:avLst/>
          </a:prstGeom>
          <a:noFill/>
          <a:ln/>
        </p:spPr>
        <p:txBody>
          <a:bodyPr wrap="square" lIns="0" tIns="0" rIns="0" bIns="0" rtlCol="0" anchor="ctr"/>
          <a:lstStyle/>
          <a:p>
            <a:pPr marL="0" indent="0" algn="l">
              <a:buNone/>
            </a:pPr>
            <a:r>
              <a:rPr lang="en-US" sz="2800" dirty="0">
                <a:solidFill>
                  <a:srgbClr val="333333"/>
                </a:solidFill>
                <a:latin typeface="M PLUS 1p" pitchFamily="34" charset="0"/>
                <a:ea typeface="M PLUS 1p" pitchFamily="34" charset="-122"/>
                <a:cs typeface="M PLUS 1p" pitchFamily="34" charset="-120"/>
              </a:rPr>
              <a:t> 今日のPLUGでの「いいね」「コメント」「一言の感想」から、</a:t>
            </a:r>
            <a:endParaRPr lang="en-US" sz="2800" dirty="0"/>
          </a:p>
          <a:p>
            <a:pPr marL="0" indent="0" algn="l">
              <a:buNone/>
            </a:pPr>
            <a:r>
              <a:rPr lang="en-US" sz="2800" dirty="0">
                <a:solidFill>
                  <a:srgbClr val="333333"/>
                </a:solidFill>
                <a:latin typeface="M PLUS 1p" pitchFamily="34" charset="0"/>
                <a:ea typeface="M PLUS 1p" pitchFamily="34" charset="-122"/>
                <a:cs typeface="M PLUS 1p" pitchFamily="34" charset="-120"/>
              </a:rPr>
              <a:t> 参加者一人ひとりの</a:t>
            </a:r>
            <a:r>
              <a:rPr lang="en-US" sz="2800" b="1" dirty="0">
                <a:solidFill>
                  <a:srgbClr val="FF6908"/>
                </a:solidFill>
                <a:latin typeface="M PLUS 1p" pitchFamily="34" charset="0"/>
                <a:ea typeface="M PLUS 1p" pitchFamily="34" charset="-122"/>
                <a:cs typeface="M PLUS 1p" pitchFamily="34" charset="-120"/>
              </a:rPr>
              <a:t>未来の枝</a:t>
            </a:r>
            <a:r>
              <a:rPr lang="en-US" sz="2800" dirty="0">
                <a:solidFill>
                  <a:srgbClr val="333333"/>
                </a:solidFill>
                <a:latin typeface="M PLUS 1p" pitchFamily="34" charset="0"/>
                <a:ea typeface="M PLUS 1p" pitchFamily="34" charset="-122"/>
                <a:cs typeface="M PLUS 1p" pitchFamily="34" charset="-120"/>
              </a:rPr>
              <a:t>も広がり始めます。 </a:t>
            </a:r>
            <a:endParaRPr lang="en-US" sz="2800" dirty="0"/>
          </a:p>
        </p:txBody>
      </p:sp>
      <p:sp>
        <p:nvSpPr>
          <p:cNvPr id="11" name="Shape 9"/>
          <p:cNvSpPr/>
          <p:nvPr/>
        </p:nvSpPr>
        <p:spPr>
          <a:xfrm>
            <a:off x="9195206" y="6351422"/>
            <a:ext cx="476402" cy="476402"/>
          </a:xfrm>
          <a:prstGeom prst="ellipse">
            <a:avLst/>
          </a:prstGeom>
          <a:solidFill>
            <a:srgbClr val="FF6908"/>
          </a:solidFill>
          <a:ln w="12700">
            <a:solidFill>
              <a:srgbClr val="FFFFFF">
                <a:alpha val="0"/>
              </a:srgbClr>
            </a:solidFill>
            <a:prstDash val="solid"/>
          </a:ln>
        </p:spPr>
        <p:txBody>
          <a:bodyPr/>
          <a:lstStyle/>
          <a:p>
            <a:endParaRPr lang="ja-JP" altLang="en-US"/>
          </a:p>
        </p:txBody>
      </p:sp>
      <p:pic>
        <p:nvPicPr>
          <p:cNvPr id="12" name="Image 0" descr="preencoded.png"/>
          <p:cNvPicPr>
            <a:picLocks noChangeAspect="1"/>
          </p:cNvPicPr>
          <p:nvPr/>
        </p:nvPicPr>
        <p:blipFill>
          <a:blip r:embed="rId3"/>
          <a:srcRect l="-57" r="-57"/>
          <a:stretch/>
        </p:blipFill>
        <p:spPr>
          <a:xfrm>
            <a:off x="9333281" y="6474866"/>
            <a:ext cx="200254" cy="228600"/>
          </a:xfrm>
          <a:prstGeom prst="rect">
            <a:avLst/>
          </a:prstGeom>
        </p:spPr>
      </p:pic>
      <p:sp>
        <p:nvSpPr>
          <p:cNvPr id="13" name="Text 10"/>
          <p:cNvSpPr txBox="1"/>
          <p:nvPr/>
        </p:nvSpPr>
        <p:spPr>
          <a:xfrm>
            <a:off x="9814255" y="6446520"/>
            <a:ext cx="1860804" cy="286207"/>
          </a:xfrm>
          <a:prstGeom prst="rect">
            <a:avLst/>
          </a:prstGeom>
          <a:noFill/>
          <a:ln/>
        </p:spPr>
        <p:txBody>
          <a:bodyPr wrap="square" lIns="0" tIns="0" rIns="0" bIns="0" rtlCol="0" anchor="ctr"/>
          <a:lstStyle/>
          <a:p>
            <a:pPr marL="0" indent="0" algn="l">
              <a:buNone/>
            </a:pPr>
            <a:r>
              <a:rPr lang="en-US" sz="1500" b="1" i="1" dirty="0">
                <a:solidFill>
                  <a:srgbClr val="555555"/>
                </a:solidFill>
                <a:latin typeface="M PLUS 1p" pitchFamily="34" charset="0"/>
                <a:ea typeface="M PLUS 1p" pitchFamily="34" charset="-122"/>
                <a:cs typeface="M PLUS 1p" pitchFamily="34" charset="-120"/>
              </a:rPr>
              <a:t>Haru / PLUG 運営</a:t>
            </a:r>
            <a:endParaRPr lang="en-US" sz="1500" dirty="0"/>
          </a:p>
        </p:txBody>
      </p:sp>
      <p:pic>
        <p:nvPicPr>
          <p:cNvPr id="14" name="Image 1" descr="preencoded.png"/>
          <p:cNvPicPr>
            <a:picLocks noChangeAspect="1"/>
          </p:cNvPicPr>
          <p:nvPr/>
        </p:nvPicPr>
        <p:blipFill>
          <a:blip r:embed="rId4"/>
          <a:srcRect/>
          <a:stretch/>
        </p:blipFill>
        <p:spPr>
          <a:xfrm>
            <a:off x="448355" y="931275"/>
            <a:ext cx="662482" cy="662482"/>
          </a:xfrm>
          <a:prstGeom prst="rect">
            <a:avLst/>
          </a:prstGeom>
        </p:spPr>
      </p:pic>
      <p:pic>
        <p:nvPicPr>
          <p:cNvPr id="15" name="Image 2" descr="preencoded.png"/>
          <p:cNvPicPr>
            <a:picLocks noChangeAspect="1"/>
          </p:cNvPicPr>
          <p:nvPr/>
        </p:nvPicPr>
        <p:blipFill>
          <a:blip r:embed="rId5"/>
          <a:srcRect t="-45" b="-45"/>
          <a:stretch/>
        </p:blipFill>
        <p:spPr>
          <a:xfrm>
            <a:off x="485546" y="2013467"/>
            <a:ext cx="687634" cy="611775"/>
          </a:xfrm>
          <a:prstGeom prst="rect">
            <a:avLst/>
          </a:prstGeom>
        </p:spPr>
      </p:pic>
      <p:pic>
        <p:nvPicPr>
          <p:cNvPr id="16" name="Image 3" descr="preencoded.png"/>
          <p:cNvPicPr>
            <a:picLocks noChangeAspect="1"/>
          </p:cNvPicPr>
          <p:nvPr/>
        </p:nvPicPr>
        <p:blipFill>
          <a:blip r:embed="rId6"/>
          <a:srcRect/>
          <a:stretch/>
        </p:blipFill>
        <p:spPr>
          <a:xfrm>
            <a:off x="475945" y="3122178"/>
            <a:ext cx="684886" cy="684886"/>
          </a:xfrm>
          <a:prstGeom prst="rect">
            <a:avLst/>
          </a:prstGeom>
        </p:spPr>
      </p:pic>
      <p:pic>
        <p:nvPicPr>
          <p:cNvPr id="18" name="Image 5" descr="preencoded.png"/>
          <p:cNvPicPr>
            <a:picLocks noChangeAspect="1"/>
          </p:cNvPicPr>
          <p:nvPr/>
        </p:nvPicPr>
        <p:blipFill>
          <a:blip r:embed="rId7"/>
          <a:srcRect t="-3" b="-3"/>
          <a:stretch/>
        </p:blipFill>
        <p:spPr>
          <a:xfrm>
            <a:off x="777081" y="4394149"/>
            <a:ext cx="10668305" cy="2027225"/>
          </a:xfrm>
          <a:prstGeom prst="rect">
            <a:avLst/>
          </a:prstGeom>
        </p:spPr>
      </p:pic>
      <p:pic>
        <p:nvPicPr>
          <p:cNvPr id="19" name="Image 6" descr="preencoded.png"/>
          <p:cNvPicPr>
            <a:picLocks noChangeAspect="1"/>
          </p:cNvPicPr>
          <p:nvPr/>
        </p:nvPicPr>
        <p:blipFill>
          <a:blip r:embed="rId8">
            <a:alphaModFix amt="20000"/>
          </a:blip>
          <a:srcRect l="-2929" r="-2929"/>
          <a:stretch/>
        </p:blipFill>
        <p:spPr>
          <a:xfrm>
            <a:off x="485546" y="4053535"/>
            <a:ext cx="838505" cy="905256"/>
          </a:xfrm>
          <a:prstGeom prst="rect">
            <a:avLst/>
          </a:prstGeom>
        </p:spPr>
      </p:pic>
      <p:pic>
        <p:nvPicPr>
          <p:cNvPr id="20" name="Image 7" descr="preencoded.png"/>
          <p:cNvPicPr>
            <a:picLocks noChangeAspect="1"/>
          </p:cNvPicPr>
          <p:nvPr/>
        </p:nvPicPr>
        <p:blipFill>
          <a:blip r:embed="rId9">
            <a:alphaModFix amt="20000"/>
          </a:blip>
          <a:srcRect l="-2929" r="-2929"/>
          <a:stretch/>
        </p:blipFill>
        <p:spPr>
          <a:xfrm>
            <a:off x="10839298" y="5407762"/>
            <a:ext cx="838505" cy="905256"/>
          </a:xfrm>
          <a:prstGeom prst="rect">
            <a:avLst/>
          </a:prstGeom>
        </p:spPr>
      </p:pic>
      <p:sp>
        <p:nvSpPr>
          <p:cNvPr id="21" name="Text 11"/>
          <p:cNvSpPr txBox="1"/>
          <p:nvPr/>
        </p:nvSpPr>
        <p:spPr>
          <a:xfrm>
            <a:off x="1110837" y="4813859"/>
            <a:ext cx="10001707" cy="1191463"/>
          </a:xfrm>
          <a:prstGeom prst="rect">
            <a:avLst/>
          </a:prstGeom>
          <a:noFill/>
          <a:ln/>
        </p:spPr>
        <p:txBody>
          <a:bodyPr wrap="square" lIns="0" tIns="0" rIns="0" bIns="0" rtlCol="0" anchor="ctr"/>
          <a:lstStyle/>
          <a:p>
            <a:pPr marL="0" indent="0" algn="ctr">
              <a:buNone/>
            </a:pPr>
            <a:r>
              <a:rPr lang="en-US" sz="3600" b="1" kern="0" spc="72" dirty="0">
                <a:solidFill>
                  <a:srgbClr val="FF6908"/>
                </a:solidFill>
                <a:latin typeface="Noto Sans JP" pitchFamily="34" charset="0"/>
                <a:ea typeface="Noto Sans JP" pitchFamily="34" charset="-122"/>
                <a:cs typeface="Noto Sans JP" pitchFamily="34" charset="-120"/>
              </a:rPr>
              <a:t> まずは、ひとつ</a:t>
            </a:r>
            <a:endParaRPr lang="en-US" sz="3600" dirty="0"/>
          </a:p>
          <a:p>
            <a:pPr marL="0" indent="0" algn="ctr">
              <a:buNone/>
            </a:pPr>
            <a:r>
              <a:rPr lang="en-US" sz="3600" b="1" kern="0" spc="72">
                <a:solidFill>
                  <a:srgbClr val="FF6908"/>
                </a:solidFill>
                <a:latin typeface="Noto Sans JP" pitchFamily="34" charset="0"/>
                <a:ea typeface="Noto Sans JP" pitchFamily="34" charset="-122"/>
                <a:cs typeface="Noto Sans JP" pitchFamily="34" charset="-120"/>
              </a:rPr>
              <a:t> リアクション</a:t>
            </a:r>
            <a:r>
              <a:rPr lang="ja-JP" altLang="en-US" sz="3600" b="1" kern="0" spc="72">
                <a:solidFill>
                  <a:srgbClr val="FF6908"/>
                </a:solidFill>
                <a:latin typeface="Noto Sans JP" pitchFamily="34" charset="0"/>
                <a:ea typeface="Noto Sans JP" pitchFamily="34" charset="-122"/>
                <a:cs typeface="Noto Sans JP" pitchFamily="34" charset="-120"/>
              </a:rPr>
              <a:t>（イイね）</a:t>
            </a:r>
            <a:r>
              <a:rPr lang="en-US" sz="3600" b="1" kern="0" spc="72">
                <a:solidFill>
                  <a:srgbClr val="FF6908"/>
                </a:solidFill>
                <a:latin typeface="Noto Sans JP" pitchFamily="34" charset="0"/>
                <a:ea typeface="Noto Sans JP" pitchFamily="34" charset="-122"/>
                <a:cs typeface="Noto Sans JP" pitchFamily="34" charset="-120"/>
              </a:rPr>
              <a:t>してみませんか</a:t>
            </a:r>
            <a:r>
              <a:rPr lang="en-US" sz="3600" b="1" kern="0" spc="72" dirty="0">
                <a:solidFill>
                  <a:srgbClr val="FF6908"/>
                </a:solidFill>
                <a:latin typeface="Noto Sans JP" pitchFamily="34" charset="0"/>
                <a:ea typeface="Noto Sans JP" pitchFamily="34" charset="-122"/>
                <a:cs typeface="Noto Sans JP" pitchFamily="34" charset="-120"/>
              </a:rPr>
              <a:t>？ </a:t>
            </a:r>
            <a:endParaRPr lang="en-US" sz="3600" dirty="0"/>
          </a:p>
        </p:txBody>
      </p:sp>
      <p:sp>
        <p:nvSpPr>
          <p:cNvPr id="22" name="Text 12"/>
          <p:cNvSpPr txBox="1"/>
          <p:nvPr/>
        </p:nvSpPr>
        <p:spPr>
          <a:xfrm>
            <a:off x="10713110" y="381305"/>
            <a:ext cx="1088136" cy="257861"/>
          </a:xfrm>
          <a:prstGeom prst="rect">
            <a:avLst/>
          </a:prstGeom>
          <a:noFill/>
          <a:ln/>
        </p:spPr>
        <p:txBody>
          <a:bodyPr wrap="square" lIns="0" tIns="0" rIns="0" bIns="0" rtlCol="0" anchor="ctr"/>
          <a:lstStyle/>
          <a:p>
            <a:pPr marL="0" indent="0" algn="l">
              <a:buNone/>
            </a:pPr>
            <a:r>
              <a:rPr lang="en-US" sz="1300" b="1" dirty="0">
                <a:solidFill>
                  <a:srgbClr val="FF6908"/>
                </a:solidFill>
                <a:latin typeface="Manrope" pitchFamily="34" charset="0"/>
                <a:ea typeface="Manrope" pitchFamily="34" charset="-122"/>
                <a:cs typeface="Manrope" pitchFamily="34" charset="-120"/>
              </a:rPr>
              <a:t>2026.03.10</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BACE6-8449-9AF0-1764-E4F5ECC2E06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44DF88-28F5-DAD3-2FF7-D29F11EE3378}"/>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sz="4400"/>
          </a:p>
        </p:txBody>
      </p:sp>
      <p:sp>
        <p:nvSpPr>
          <p:cNvPr id="3" name="Shape 1">
            <a:extLst>
              <a:ext uri="{FF2B5EF4-FFF2-40B4-BE49-F238E27FC236}">
                <a16:creationId xmlns:a16="http://schemas.microsoft.com/office/drawing/2014/main" id="{FCFB2C5B-95AB-9D80-CCFC-AC4FE5C9AD05}"/>
              </a:ext>
            </a:extLst>
          </p:cNvPr>
          <p:cNvSpPr/>
          <p:nvPr/>
        </p:nvSpPr>
        <p:spPr>
          <a:xfrm>
            <a:off x="39558" y="16337"/>
            <a:ext cx="12191695" cy="6858000"/>
          </a:xfrm>
          <a:prstGeom prst="rect">
            <a:avLst/>
          </a:prstGeom>
          <a:solidFill>
            <a:srgbClr val="FFFFFF"/>
          </a:solidFill>
          <a:ln w="12700">
            <a:solidFill>
              <a:srgbClr val="FFFFFF">
                <a:alpha val="0"/>
              </a:srgbClr>
            </a:solidFill>
            <a:prstDash val="solid"/>
          </a:ln>
        </p:spPr>
        <p:txBody>
          <a:bodyPr/>
          <a:lstStyle/>
          <a:p>
            <a:endParaRPr lang="ja-JP" altLang="en-US" sz="4400"/>
          </a:p>
        </p:txBody>
      </p:sp>
      <p:sp>
        <p:nvSpPr>
          <p:cNvPr id="4" name="Text 2">
            <a:extLst>
              <a:ext uri="{FF2B5EF4-FFF2-40B4-BE49-F238E27FC236}">
                <a16:creationId xmlns:a16="http://schemas.microsoft.com/office/drawing/2014/main" id="{0FB14FD9-8084-6A69-E77C-351CFDB99B2C}"/>
              </a:ext>
            </a:extLst>
          </p:cNvPr>
          <p:cNvSpPr txBox="1"/>
          <p:nvPr/>
        </p:nvSpPr>
        <p:spPr>
          <a:xfrm>
            <a:off x="9495" y="16337"/>
            <a:ext cx="1352659" cy="762610"/>
          </a:xfrm>
          <a:prstGeom prst="rect">
            <a:avLst/>
          </a:prstGeom>
          <a:noFill/>
          <a:ln/>
        </p:spPr>
        <p:txBody>
          <a:bodyPr wrap="square" lIns="0" tIns="0" rIns="0" bIns="0" rtlCol="0" anchor="ctr"/>
          <a:lstStyle/>
          <a:p>
            <a:pPr marL="0" indent="0" algn="l">
              <a:buNone/>
            </a:pPr>
            <a:r>
              <a:rPr lang="en-US" sz="8000" b="1" dirty="0">
                <a:solidFill>
                  <a:srgbClr val="FF6908">
                    <a:alpha val="20000"/>
                  </a:srgbClr>
                </a:solidFill>
                <a:latin typeface="Manrope" pitchFamily="34" charset="0"/>
                <a:ea typeface="Manrope" pitchFamily="34" charset="-122"/>
                <a:cs typeface="Manrope" pitchFamily="34" charset="-120"/>
              </a:rPr>
              <a:t>05</a:t>
            </a:r>
            <a:endParaRPr lang="en-US" sz="8000" dirty="0"/>
          </a:p>
        </p:txBody>
      </p:sp>
      <p:sp>
        <p:nvSpPr>
          <p:cNvPr id="5" name="Shape 3">
            <a:extLst>
              <a:ext uri="{FF2B5EF4-FFF2-40B4-BE49-F238E27FC236}">
                <a16:creationId xmlns:a16="http://schemas.microsoft.com/office/drawing/2014/main" id="{BC71325A-F893-5273-0490-062FE10593D6}"/>
              </a:ext>
            </a:extLst>
          </p:cNvPr>
          <p:cNvSpPr/>
          <p:nvPr/>
        </p:nvSpPr>
        <p:spPr>
          <a:xfrm>
            <a:off x="-952805" y="4000500"/>
            <a:ext cx="5715000" cy="5715000"/>
          </a:xfrm>
          <a:prstGeom prst="ellipse">
            <a:avLst/>
          </a:prstGeom>
          <a:solidFill>
            <a:srgbClr val="FFF3EB">
              <a:alpha val="50000"/>
            </a:srgbClr>
          </a:solidFill>
          <a:ln w="12700">
            <a:solidFill>
              <a:srgbClr val="FFFFFF">
                <a:alpha val="0"/>
              </a:srgbClr>
            </a:solidFill>
            <a:prstDash val="solid"/>
          </a:ln>
        </p:spPr>
        <p:txBody>
          <a:bodyPr/>
          <a:lstStyle/>
          <a:p>
            <a:endParaRPr lang="ja-JP" altLang="en-US" sz="4400"/>
          </a:p>
        </p:txBody>
      </p:sp>
      <p:sp>
        <p:nvSpPr>
          <p:cNvPr id="9" name="Shape 6">
            <a:extLst>
              <a:ext uri="{FF2B5EF4-FFF2-40B4-BE49-F238E27FC236}">
                <a16:creationId xmlns:a16="http://schemas.microsoft.com/office/drawing/2014/main" id="{5D85290A-2CF1-2308-2CF9-6A79EF972F60}"/>
              </a:ext>
            </a:extLst>
          </p:cNvPr>
          <p:cNvSpPr/>
          <p:nvPr/>
        </p:nvSpPr>
        <p:spPr>
          <a:xfrm>
            <a:off x="238790" y="2009066"/>
            <a:ext cx="2076602" cy="1090248"/>
          </a:xfrm>
          <a:prstGeom prst="roundRect">
            <a:avLst>
              <a:gd name="adj" fmla="val 64000"/>
            </a:avLst>
          </a:prstGeom>
          <a:solidFill>
            <a:srgbClr val="FF6908"/>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10" name="Text 7">
            <a:extLst>
              <a:ext uri="{FF2B5EF4-FFF2-40B4-BE49-F238E27FC236}">
                <a16:creationId xmlns:a16="http://schemas.microsoft.com/office/drawing/2014/main" id="{D3017B6E-AF21-49CA-631A-195B0E5DDB91}"/>
              </a:ext>
            </a:extLst>
          </p:cNvPr>
          <p:cNvSpPr txBox="1"/>
          <p:nvPr/>
        </p:nvSpPr>
        <p:spPr>
          <a:xfrm>
            <a:off x="383836" y="2616588"/>
            <a:ext cx="2425901" cy="362102"/>
          </a:xfrm>
          <a:prstGeom prst="rect">
            <a:avLst/>
          </a:prstGeom>
          <a:noFill/>
          <a:ln/>
        </p:spPr>
        <p:txBody>
          <a:bodyPr wrap="square" lIns="0" tIns="0" rIns="0" bIns="0" rtlCol="0" anchor="ctr"/>
          <a:lstStyle/>
          <a:p>
            <a:pPr marL="0" indent="0" algn="l">
              <a:buNone/>
            </a:pPr>
            <a:r>
              <a:rPr lang="en-US" sz="2800" b="1" dirty="0">
                <a:solidFill>
                  <a:srgbClr val="FFFFFF"/>
                </a:solidFill>
                <a:latin typeface="Noto Sans JP" pitchFamily="34" charset="0"/>
                <a:ea typeface="Noto Sans JP" pitchFamily="34" charset="-122"/>
                <a:cs typeface="Noto Sans JP" pitchFamily="34" charset="-120"/>
              </a:rPr>
              <a:t> Xでいいね</a:t>
            </a:r>
            <a:endParaRPr lang="en-US" sz="2800" dirty="0"/>
          </a:p>
        </p:txBody>
      </p:sp>
      <p:pic>
        <p:nvPicPr>
          <p:cNvPr id="11" name="Image 1" descr="preencoded.png">
            <a:extLst>
              <a:ext uri="{FF2B5EF4-FFF2-40B4-BE49-F238E27FC236}">
                <a16:creationId xmlns:a16="http://schemas.microsoft.com/office/drawing/2014/main" id="{3770FA02-0C32-1AC3-E26F-0AE985D63959}"/>
              </a:ext>
            </a:extLst>
          </p:cNvPr>
          <p:cNvPicPr>
            <a:picLocks noChangeAspect="1"/>
          </p:cNvPicPr>
          <p:nvPr/>
        </p:nvPicPr>
        <p:blipFill>
          <a:blip r:embed="rId3"/>
          <a:srcRect/>
          <a:stretch/>
        </p:blipFill>
        <p:spPr>
          <a:xfrm>
            <a:off x="1010585" y="2139574"/>
            <a:ext cx="436976" cy="436976"/>
          </a:xfrm>
          <a:prstGeom prst="rect">
            <a:avLst/>
          </a:prstGeom>
        </p:spPr>
      </p:pic>
      <p:sp>
        <p:nvSpPr>
          <p:cNvPr id="12" name="Shape 8">
            <a:extLst>
              <a:ext uri="{FF2B5EF4-FFF2-40B4-BE49-F238E27FC236}">
                <a16:creationId xmlns:a16="http://schemas.microsoft.com/office/drawing/2014/main" id="{CD967051-62C9-E3B9-E8E1-AE7577D7B281}"/>
              </a:ext>
            </a:extLst>
          </p:cNvPr>
          <p:cNvSpPr/>
          <p:nvPr/>
        </p:nvSpPr>
        <p:spPr>
          <a:xfrm>
            <a:off x="273558" y="3576101"/>
            <a:ext cx="1912163" cy="962863"/>
          </a:xfrm>
          <a:prstGeom prst="roundRect">
            <a:avLst>
              <a:gd name="adj" fmla="val 76154"/>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13" name="Text 9">
            <a:extLst>
              <a:ext uri="{FF2B5EF4-FFF2-40B4-BE49-F238E27FC236}">
                <a16:creationId xmlns:a16="http://schemas.microsoft.com/office/drawing/2014/main" id="{D328979D-19EA-BADF-0ED9-5291B86B0525}"/>
              </a:ext>
            </a:extLst>
          </p:cNvPr>
          <p:cNvSpPr txBox="1"/>
          <p:nvPr/>
        </p:nvSpPr>
        <p:spPr>
          <a:xfrm>
            <a:off x="750141" y="3894979"/>
            <a:ext cx="1641105" cy="314554"/>
          </a:xfrm>
          <a:prstGeom prst="rect">
            <a:avLst/>
          </a:prstGeom>
          <a:noFill/>
          <a:ln/>
        </p:spPr>
        <p:txBody>
          <a:bodyPr wrap="square" lIns="0" tIns="0" rIns="0" bIns="0" rtlCol="0" anchor="ctr"/>
          <a:lstStyle/>
          <a:p>
            <a:pPr marL="0" indent="0" algn="l">
              <a:buNone/>
            </a:pPr>
            <a:r>
              <a:rPr lang="en-US" b="1" dirty="0">
                <a:solidFill>
                  <a:srgbClr val="333333"/>
                </a:solidFill>
                <a:latin typeface="Noto Sans JP" pitchFamily="34" charset="0"/>
                <a:ea typeface="Noto Sans JP" pitchFamily="34" charset="-122"/>
                <a:cs typeface="Noto Sans JP" pitchFamily="34" charset="-120"/>
              </a:rPr>
              <a:t> PBI広島参加</a:t>
            </a:r>
            <a:endParaRPr lang="en-US" dirty="0"/>
          </a:p>
        </p:txBody>
      </p:sp>
      <p:pic>
        <p:nvPicPr>
          <p:cNvPr id="14" name="Image 2" descr="preencoded.png">
            <a:extLst>
              <a:ext uri="{FF2B5EF4-FFF2-40B4-BE49-F238E27FC236}">
                <a16:creationId xmlns:a16="http://schemas.microsoft.com/office/drawing/2014/main" id="{462A888A-03D6-E3BB-8F7D-89FCA1BBFEC7}"/>
              </a:ext>
            </a:extLst>
          </p:cNvPr>
          <p:cNvPicPr>
            <a:picLocks noChangeAspect="1"/>
          </p:cNvPicPr>
          <p:nvPr/>
        </p:nvPicPr>
        <p:blipFill>
          <a:blip r:embed="rId4"/>
          <a:srcRect l="-2444" r="-2444"/>
          <a:stretch/>
        </p:blipFill>
        <p:spPr>
          <a:xfrm>
            <a:off x="349682" y="3863611"/>
            <a:ext cx="453543" cy="345922"/>
          </a:xfrm>
          <a:prstGeom prst="rect">
            <a:avLst/>
          </a:prstGeom>
        </p:spPr>
      </p:pic>
      <p:sp>
        <p:nvSpPr>
          <p:cNvPr id="15" name="Shape 10">
            <a:extLst>
              <a:ext uri="{FF2B5EF4-FFF2-40B4-BE49-F238E27FC236}">
                <a16:creationId xmlns:a16="http://schemas.microsoft.com/office/drawing/2014/main" id="{4551594F-6410-F1F9-06F9-AC8F85C1C08B}"/>
              </a:ext>
            </a:extLst>
          </p:cNvPr>
          <p:cNvSpPr/>
          <p:nvPr/>
        </p:nvSpPr>
        <p:spPr>
          <a:xfrm>
            <a:off x="3165881" y="3488548"/>
            <a:ext cx="2836501" cy="1006231"/>
          </a:xfrm>
          <a:prstGeom prst="roundRect">
            <a:avLst>
              <a:gd name="adj" fmla="val 66143"/>
            </a:avLst>
          </a:prstGeom>
          <a:solidFill>
            <a:srgbClr val="FFF3EB"/>
          </a:solidFill>
          <a:ln w="381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16" name="Text 11">
            <a:extLst>
              <a:ext uri="{FF2B5EF4-FFF2-40B4-BE49-F238E27FC236}">
                <a16:creationId xmlns:a16="http://schemas.microsoft.com/office/drawing/2014/main" id="{6ECE7A16-25A6-8269-3B00-849728FEC30D}"/>
              </a:ext>
            </a:extLst>
          </p:cNvPr>
          <p:cNvSpPr txBox="1"/>
          <p:nvPr/>
        </p:nvSpPr>
        <p:spPr>
          <a:xfrm>
            <a:off x="3860902" y="3810279"/>
            <a:ext cx="2063801" cy="342900"/>
          </a:xfrm>
          <a:prstGeom prst="rect">
            <a:avLst/>
          </a:prstGeom>
          <a:noFill/>
          <a:ln/>
        </p:spPr>
        <p:txBody>
          <a:bodyPr wrap="square" lIns="0" tIns="0" rIns="0" bIns="0" rtlCol="0" anchor="ctr"/>
          <a:lstStyle/>
          <a:p>
            <a:pPr marL="0" indent="0" algn="l">
              <a:buNone/>
            </a:pPr>
            <a:r>
              <a:rPr lang="en-US" sz="2400" b="1" dirty="0">
                <a:solidFill>
                  <a:srgbClr val="333333"/>
                </a:solidFill>
                <a:latin typeface="Noto Sans JP" pitchFamily="34" charset="0"/>
                <a:ea typeface="Noto Sans JP" pitchFamily="34" charset="-122"/>
                <a:cs typeface="Noto Sans JP" pitchFamily="34" charset="-120"/>
              </a:rPr>
              <a:t> 広島の仲間と出会う</a:t>
            </a:r>
            <a:endParaRPr lang="en-US" sz="2400" dirty="0"/>
          </a:p>
        </p:txBody>
      </p:sp>
      <p:pic>
        <p:nvPicPr>
          <p:cNvPr id="17" name="Image 3" descr="preencoded.png">
            <a:extLst>
              <a:ext uri="{FF2B5EF4-FFF2-40B4-BE49-F238E27FC236}">
                <a16:creationId xmlns:a16="http://schemas.microsoft.com/office/drawing/2014/main" id="{C0B517F4-2D65-51DB-CF13-F6FD7A2EE12D}"/>
              </a:ext>
            </a:extLst>
          </p:cNvPr>
          <p:cNvPicPr>
            <a:picLocks noChangeAspect="1"/>
          </p:cNvPicPr>
          <p:nvPr/>
        </p:nvPicPr>
        <p:blipFill>
          <a:blip r:embed="rId5"/>
          <a:srcRect l="-2444" r="-2444"/>
          <a:stretch/>
        </p:blipFill>
        <p:spPr>
          <a:xfrm>
            <a:off x="3327407" y="3803904"/>
            <a:ext cx="553884" cy="422453"/>
          </a:xfrm>
          <a:prstGeom prst="rect">
            <a:avLst/>
          </a:prstGeom>
        </p:spPr>
      </p:pic>
      <p:sp>
        <p:nvSpPr>
          <p:cNvPr id="18" name="Shape 12">
            <a:extLst>
              <a:ext uri="{FF2B5EF4-FFF2-40B4-BE49-F238E27FC236}">
                <a16:creationId xmlns:a16="http://schemas.microsoft.com/office/drawing/2014/main" id="{0B4EEBA0-7643-FFB9-375F-09921CD1B843}"/>
              </a:ext>
            </a:extLst>
          </p:cNvPr>
          <p:cNvSpPr/>
          <p:nvPr/>
        </p:nvSpPr>
        <p:spPr>
          <a:xfrm>
            <a:off x="6932022" y="2240280"/>
            <a:ext cx="2377440" cy="419709"/>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19" name="Text 13">
            <a:extLst>
              <a:ext uri="{FF2B5EF4-FFF2-40B4-BE49-F238E27FC236}">
                <a16:creationId xmlns:a16="http://schemas.microsoft.com/office/drawing/2014/main" id="{07E8F818-8550-2A32-EE05-516B76077AB1}"/>
              </a:ext>
            </a:extLst>
          </p:cNvPr>
          <p:cNvSpPr txBox="1"/>
          <p:nvPr/>
        </p:nvSpPr>
        <p:spPr>
          <a:xfrm>
            <a:off x="7029398" y="2354580"/>
            <a:ext cx="2240150" cy="227162"/>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社内コミュニティ</a:t>
            </a:r>
            <a:endParaRPr lang="en-US" sz="2000" dirty="0"/>
          </a:p>
        </p:txBody>
      </p:sp>
      <p:pic>
        <p:nvPicPr>
          <p:cNvPr id="20" name="Image 4" descr="preencoded.png">
            <a:extLst>
              <a:ext uri="{FF2B5EF4-FFF2-40B4-BE49-F238E27FC236}">
                <a16:creationId xmlns:a16="http://schemas.microsoft.com/office/drawing/2014/main" id="{63557026-D40E-C480-CF77-8CAA1B0D037B}"/>
              </a:ext>
            </a:extLst>
          </p:cNvPr>
          <p:cNvPicPr>
            <a:picLocks noChangeAspect="1"/>
          </p:cNvPicPr>
          <p:nvPr/>
        </p:nvPicPr>
        <p:blipFill>
          <a:blip r:embed="rId6"/>
          <a:srcRect l="-1358" r="-1358"/>
          <a:stretch/>
        </p:blipFill>
        <p:spPr>
          <a:xfrm>
            <a:off x="6501384" y="2378354"/>
            <a:ext cx="95098" cy="123444"/>
          </a:xfrm>
          <a:prstGeom prst="rect">
            <a:avLst/>
          </a:prstGeom>
        </p:spPr>
      </p:pic>
      <p:sp>
        <p:nvSpPr>
          <p:cNvPr id="21" name="Shape 14">
            <a:extLst>
              <a:ext uri="{FF2B5EF4-FFF2-40B4-BE49-F238E27FC236}">
                <a16:creationId xmlns:a16="http://schemas.microsoft.com/office/drawing/2014/main" id="{643C4F88-455F-CC22-D8F0-A72D0AD12B41}"/>
              </a:ext>
            </a:extLst>
          </p:cNvPr>
          <p:cNvSpPr/>
          <p:nvPr/>
        </p:nvSpPr>
        <p:spPr>
          <a:xfrm>
            <a:off x="7769075" y="2914193"/>
            <a:ext cx="2693822" cy="362102"/>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22" name="Text 15">
            <a:extLst>
              <a:ext uri="{FF2B5EF4-FFF2-40B4-BE49-F238E27FC236}">
                <a16:creationId xmlns:a16="http://schemas.microsoft.com/office/drawing/2014/main" id="{7A8193E0-74E9-55BF-FF76-7753F9CA59CE}"/>
              </a:ext>
            </a:extLst>
          </p:cNvPr>
          <p:cNvSpPr txBox="1"/>
          <p:nvPr/>
        </p:nvSpPr>
        <p:spPr>
          <a:xfrm>
            <a:off x="8336916" y="3017521"/>
            <a:ext cx="2194097" cy="176478"/>
          </a:xfrm>
          <a:prstGeom prst="rect">
            <a:avLst/>
          </a:prstGeom>
          <a:noFill/>
          <a:ln/>
        </p:spPr>
        <p:txBody>
          <a:bodyPr wrap="square" lIns="0" tIns="0" rIns="0" bIns="0" rtlCol="0" anchor="ctr"/>
          <a:lstStyle/>
          <a:p>
            <a:pPr marL="0" indent="0" algn="l">
              <a:buNone/>
            </a:pPr>
            <a:r>
              <a:rPr lang="en-US" sz="2000" b="1">
                <a:solidFill>
                  <a:srgbClr val="333333"/>
                </a:solidFill>
                <a:latin typeface="Noto Sans JP" pitchFamily="34" charset="0"/>
                <a:ea typeface="Noto Sans JP" pitchFamily="34" charset="-122"/>
                <a:cs typeface="Noto Sans JP" pitchFamily="34" charset="-120"/>
              </a:rPr>
              <a:t> X</a:t>
            </a:r>
            <a:r>
              <a:rPr lang="ja-JP" altLang="en-US" sz="2000" b="1">
                <a:solidFill>
                  <a:srgbClr val="333333"/>
                </a:solidFill>
                <a:latin typeface="Noto Sans JP" pitchFamily="34" charset="0"/>
                <a:ea typeface="Noto Sans JP" pitchFamily="34" charset="-122"/>
                <a:cs typeface="Noto Sans JP" pitchFamily="34" charset="-120"/>
              </a:rPr>
              <a:t>情報発信（</a:t>
            </a:r>
            <a:r>
              <a:rPr lang="en-US" altLang="ja-JP" sz="2000" b="1">
                <a:solidFill>
                  <a:srgbClr val="333333"/>
                </a:solidFill>
                <a:latin typeface="Noto Sans JP" pitchFamily="34" charset="0"/>
                <a:ea typeface="Noto Sans JP" pitchFamily="34" charset="-122"/>
                <a:cs typeface="Noto Sans JP" pitchFamily="34" charset="-120"/>
              </a:rPr>
              <a:t>PA</a:t>
            </a:r>
            <a:r>
              <a:rPr lang="ja-JP" altLang="en-US" sz="2000" b="1">
                <a:solidFill>
                  <a:srgbClr val="333333"/>
                </a:solidFill>
                <a:latin typeface="Noto Sans JP" pitchFamily="34" charset="0"/>
                <a:ea typeface="Noto Sans JP" pitchFamily="34" charset="-122"/>
                <a:cs typeface="Noto Sans JP" pitchFamily="34" charset="-120"/>
              </a:rPr>
              <a:t>）</a:t>
            </a:r>
            <a:endParaRPr lang="en-US" sz="2000" dirty="0"/>
          </a:p>
        </p:txBody>
      </p:sp>
      <p:sp>
        <p:nvSpPr>
          <p:cNvPr id="24" name="Shape 16">
            <a:extLst>
              <a:ext uri="{FF2B5EF4-FFF2-40B4-BE49-F238E27FC236}">
                <a16:creationId xmlns:a16="http://schemas.microsoft.com/office/drawing/2014/main" id="{30E31927-AFD8-D449-3E27-439CE23755E2}"/>
              </a:ext>
            </a:extLst>
          </p:cNvPr>
          <p:cNvSpPr/>
          <p:nvPr/>
        </p:nvSpPr>
        <p:spPr>
          <a:xfrm>
            <a:off x="7254267" y="3622853"/>
            <a:ext cx="3667597" cy="362102"/>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25" name="Text 17">
            <a:extLst>
              <a:ext uri="{FF2B5EF4-FFF2-40B4-BE49-F238E27FC236}">
                <a16:creationId xmlns:a16="http://schemas.microsoft.com/office/drawing/2014/main" id="{6475931C-BA3A-C372-BA2A-27F915E11CAC}"/>
              </a:ext>
            </a:extLst>
          </p:cNvPr>
          <p:cNvSpPr txBox="1"/>
          <p:nvPr/>
        </p:nvSpPr>
        <p:spPr>
          <a:xfrm>
            <a:off x="7589852" y="3726180"/>
            <a:ext cx="3224198" cy="216692"/>
          </a:xfrm>
          <a:prstGeom prst="rect">
            <a:avLst/>
          </a:prstGeom>
          <a:noFill/>
          <a:ln/>
        </p:spPr>
        <p:txBody>
          <a:bodyPr wrap="square" lIns="0" tIns="0" rIns="0" bIns="0" rtlCol="0" anchor="ctr"/>
          <a:lstStyle/>
          <a:p>
            <a:pPr marL="0" indent="0" algn="l">
              <a:buNone/>
            </a:pPr>
            <a:r>
              <a:rPr lang="en-US" sz="2000" b="1">
                <a:solidFill>
                  <a:srgbClr val="333333"/>
                </a:solidFill>
                <a:latin typeface="Noto Sans JP" pitchFamily="34" charset="0"/>
                <a:ea typeface="Noto Sans JP" pitchFamily="34" charset="-122"/>
                <a:cs typeface="Noto Sans JP" pitchFamily="34" charset="-120"/>
              </a:rPr>
              <a:t> </a:t>
            </a:r>
            <a:r>
              <a:rPr lang="ja-JP" altLang="en-US" sz="2000" b="1">
                <a:solidFill>
                  <a:srgbClr val="333333"/>
                </a:solidFill>
                <a:latin typeface="Noto Sans JP" pitchFamily="34" charset="0"/>
                <a:ea typeface="Noto Sans JP" pitchFamily="34" charset="-122"/>
                <a:cs typeface="Noto Sans JP" pitchFamily="34" charset="-120"/>
              </a:rPr>
              <a:t>オンライン</a:t>
            </a:r>
            <a:r>
              <a:rPr lang="en-US" sz="2000" b="1">
                <a:solidFill>
                  <a:srgbClr val="333333"/>
                </a:solidFill>
                <a:latin typeface="Noto Sans JP" pitchFamily="34" charset="0"/>
                <a:ea typeface="Noto Sans JP" pitchFamily="34" charset="-122"/>
                <a:cs typeface="Noto Sans JP" pitchFamily="34" charset="-120"/>
              </a:rPr>
              <a:t>講座開始</a:t>
            </a:r>
            <a:r>
              <a:rPr lang="ja-JP" altLang="en-US" sz="2000" b="1">
                <a:solidFill>
                  <a:srgbClr val="333333"/>
                </a:solidFill>
                <a:latin typeface="Noto Sans JP" pitchFamily="34" charset="0"/>
                <a:ea typeface="Noto Sans JP" pitchFamily="34" charset="-122"/>
                <a:cs typeface="Noto Sans JP" pitchFamily="34" charset="-120"/>
              </a:rPr>
              <a:t>　</a:t>
            </a:r>
            <a:r>
              <a:rPr lang="en-US" altLang="ja-JP" sz="2000" b="1">
                <a:solidFill>
                  <a:srgbClr val="333333"/>
                </a:solidFill>
                <a:latin typeface="Noto Sans JP" pitchFamily="34" charset="0"/>
                <a:ea typeface="Noto Sans JP" pitchFamily="34" charset="-122"/>
                <a:cs typeface="Noto Sans JP" pitchFamily="34" charset="-120"/>
              </a:rPr>
              <a:t>(PA)</a:t>
            </a:r>
            <a:endParaRPr lang="en-US" sz="2000" dirty="0"/>
          </a:p>
        </p:txBody>
      </p:sp>
      <p:pic>
        <p:nvPicPr>
          <p:cNvPr id="26" name="Image 6" descr="preencoded.png">
            <a:extLst>
              <a:ext uri="{FF2B5EF4-FFF2-40B4-BE49-F238E27FC236}">
                <a16:creationId xmlns:a16="http://schemas.microsoft.com/office/drawing/2014/main" id="{C3509C6F-B16D-76C5-6EA4-5EE466615873}"/>
              </a:ext>
            </a:extLst>
          </p:cNvPr>
          <p:cNvPicPr>
            <a:picLocks noChangeAspect="1"/>
          </p:cNvPicPr>
          <p:nvPr/>
        </p:nvPicPr>
        <p:blipFill>
          <a:blip r:embed="rId7"/>
          <a:srcRect l="-2444" r="-2444"/>
          <a:stretch/>
        </p:blipFill>
        <p:spPr>
          <a:xfrm>
            <a:off x="6421831" y="3749954"/>
            <a:ext cx="161849" cy="123444"/>
          </a:xfrm>
          <a:prstGeom prst="rect">
            <a:avLst/>
          </a:prstGeom>
        </p:spPr>
      </p:pic>
      <p:sp>
        <p:nvSpPr>
          <p:cNvPr id="27" name="Shape 18">
            <a:extLst>
              <a:ext uri="{FF2B5EF4-FFF2-40B4-BE49-F238E27FC236}">
                <a16:creationId xmlns:a16="http://schemas.microsoft.com/office/drawing/2014/main" id="{99C3B8A0-9AB4-3B8B-83F4-4D3FF533BD51}"/>
              </a:ext>
            </a:extLst>
          </p:cNvPr>
          <p:cNvSpPr/>
          <p:nvPr/>
        </p:nvSpPr>
        <p:spPr>
          <a:xfrm>
            <a:off x="6296820" y="4275864"/>
            <a:ext cx="5970771" cy="449252"/>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000"/>
          </a:p>
        </p:txBody>
      </p:sp>
      <p:sp>
        <p:nvSpPr>
          <p:cNvPr id="28" name="Text 19">
            <a:extLst>
              <a:ext uri="{FF2B5EF4-FFF2-40B4-BE49-F238E27FC236}">
                <a16:creationId xmlns:a16="http://schemas.microsoft.com/office/drawing/2014/main" id="{03861EDB-693E-5AA4-D98B-B88284D08BFF}"/>
              </a:ext>
            </a:extLst>
          </p:cNvPr>
          <p:cNvSpPr txBox="1"/>
          <p:nvPr/>
        </p:nvSpPr>
        <p:spPr>
          <a:xfrm>
            <a:off x="6651656" y="4485311"/>
            <a:ext cx="5310225" cy="95555"/>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a:t>
            </a:r>
            <a:r>
              <a:rPr lang="en-US" sz="2000" b="1">
                <a:solidFill>
                  <a:srgbClr val="333333"/>
                </a:solidFill>
                <a:latin typeface="Noto Sans JP" pitchFamily="34" charset="0"/>
                <a:ea typeface="Noto Sans JP" pitchFamily="34" charset="-122"/>
                <a:cs typeface="Noto Sans JP" pitchFamily="34" charset="-120"/>
              </a:rPr>
              <a:t>MCT申請中</a:t>
            </a:r>
            <a:r>
              <a:rPr lang="ja-JP" altLang="en-US" sz="2000" b="1">
                <a:solidFill>
                  <a:srgbClr val="333333"/>
                </a:solidFill>
                <a:latin typeface="Noto Sans JP" pitchFamily="34" charset="0"/>
                <a:ea typeface="Noto Sans JP" pitchFamily="34" charset="-122"/>
                <a:cs typeface="Noto Sans JP" pitchFamily="34" charset="-120"/>
              </a:rPr>
              <a:t>　</a:t>
            </a:r>
            <a:r>
              <a:rPr lang="en-US" altLang="ja-JP" sz="2000" b="1">
                <a:solidFill>
                  <a:srgbClr val="333333"/>
                </a:solidFill>
                <a:latin typeface="Noto Sans JP" pitchFamily="34" charset="0"/>
                <a:ea typeface="Noto Sans JP" pitchFamily="34" charset="-122"/>
                <a:cs typeface="Noto Sans JP" pitchFamily="34" charset="-120"/>
              </a:rPr>
              <a:t>Micsrosft</a:t>
            </a:r>
            <a:r>
              <a:rPr lang="ja-JP" altLang="en-US" sz="2000" b="1">
                <a:solidFill>
                  <a:srgbClr val="333333"/>
                </a:solidFill>
                <a:latin typeface="Noto Sans JP" pitchFamily="34" charset="0"/>
                <a:ea typeface="Noto Sans JP" pitchFamily="34" charset="-122"/>
                <a:cs typeface="Noto Sans JP" pitchFamily="34" charset="-120"/>
              </a:rPr>
              <a:t>認定トレーナー申請中</a:t>
            </a:r>
            <a:endParaRPr lang="en-US" sz="2000" dirty="0"/>
          </a:p>
        </p:txBody>
      </p:sp>
      <p:sp>
        <p:nvSpPr>
          <p:cNvPr id="30" name="Shape 20">
            <a:extLst>
              <a:ext uri="{FF2B5EF4-FFF2-40B4-BE49-F238E27FC236}">
                <a16:creationId xmlns:a16="http://schemas.microsoft.com/office/drawing/2014/main" id="{D88E9FBA-30BE-105E-3F3C-FCB36E2157F9}"/>
              </a:ext>
            </a:extLst>
          </p:cNvPr>
          <p:cNvSpPr/>
          <p:nvPr/>
        </p:nvSpPr>
        <p:spPr>
          <a:xfrm>
            <a:off x="6267298" y="4994453"/>
            <a:ext cx="1737360" cy="753204"/>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31" name="Text 21">
            <a:extLst>
              <a:ext uri="{FF2B5EF4-FFF2-40B4-BE49-F238E27FC236}">
                <a16:creationId xmlns:a16="http://schemas.microsoft.com/office/drawing/2014/main" id="{41E56599-63B2-5EA6-13C9-EE9F6B91CC8B}"/>
              </a:ext>
            </a:extLst>
          </p:cNvPr>
          <p:cNvSpPr txBox="1"/>
          <p:nvPr/>
        </p:nvSpPr>
        <p:spPr>
          <a:xfrm>
            <a:off x="6509614" y="5139928"/>
            <a:ext cx="1292048" cy="506577"/>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PPEC広島運営</a:t>
            </a:r>
            <a:endParaRPr lang="en-US" sz="2000" dirty="0"/>
          </a:p>
        </p:txBody>
      </p:sp>
      <p:sp>
        <p:nvSpPr>
          <p:cNvPr id="33" name="Shape 22">
            <a:extLst>
              <a:ext uri="{FF2B5EF4-FFF2-40B4-BE49-F238E27FC236}">
                <a16:creationId xmlns:a16="http://schemas.microsoft.com/office/drawing/2014/main" id="{10C176CA-09B7-148D-97E3-2EE89B5FF2E0}"/>
              </a:ext>
            </a:extLst>
          </p:cNvPr>
          <p:cNvSpPr/>
          <p:nvPr/>
        </p:nvSpPr>
        <p:spPr>
          <a:xfrm>
            <a:off x="9419495" y="2251253"/>
            <a:ext cx="2772199" cy="413570"/>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34" name="Text 23">
            <a:extLst>
              <a:ext uri="{FF2B5EF4-FFF2-40B4-BE49-F238E27FC236}">
                <a16:creationId xmlns:a16="http://schemas.microsoft.com/office/drawing/2014/main" id="{478D1ED2-7EA7-BD7E-9555-DED7465DABE5}"/>
              </a:ext>
            </a:extLst>
          </p:cNvPr>
          <p:cNvSpPr txBox="1"/>
          <p:nvPr/>
        </p:nvSpPr>
        <p:spPr>
          <a:xfrm>
            <a:off x="9609492" y="2375212"/>
            <a:ext cx="2147529" cy="185898"/>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社内イベント開催</a:t>
            </a:r>
            <a:endParaRPr lang="en-US" sz="2000" dirty="0"/>
          </a:p>
        </p:txBody>
      </p:sp>
      <p:sp>
        <p:nvSpPr>
          <p:cNvPr id="36" name="Shape 24">
            <a:extLst>
              <a:ext uri="{FF2B5EF4-FFF2-40B4-BE49-F238E27FC236}">
                <a16:creationId xmlns:a16="http://schemas.microsoft.com/office/drawing/2014/main" id="{0B33CB06-A2C6-A829-B1FB-BF25BDF50648}"/>
              </a:ext>
            </a:extLst>
          </p:cNvPr>
          <p:cNvSpPr/>
          <p:nvPr/>
        </p:nvSpPr>
        <p:spPr>
          <a:xfrm>
            <a:off x="8153705" y="4994453"/>
            <a:ext cx="1983072" cy="705916"/>
          </a:xfrm>
          <a:prstGeom prst="roundRect">
            <a:avLst>
              <a:gd name="adj" fmla="val 159490"/>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37" name="Text 25">
            <a:extLst>
              <a:ext uri="{FF2B5EF4-FFF2-40B4-BE49-F238E27FC236}">
                <a16:creationId xmlns:a16="http://schemas.microsoft.com/office/drawing/2014/main" id="{D6BD79C0-97CE-2151-BE7F-72E98A31A6F6}"/>
              </a:ext>
            </a:extLst>
          </p:cNvPr>
          <p:cNvSpPr txBox="1"/>
          <p:nvPr/>
        </p:nvSpPr>
        <p:spPr>
          <a:xfrm>
            <a:off x="8568718" y="5227167"/>
            <a:ext cx="1210371" cy="181051"/>
          </a:xfrm>
          <a:prstGeom prst="rect">
            <a:avLst/>
          </a:prstGeom>
          <a:noFill/>
          <a:ln/>
        </p:spPr>
        <p:txBody>
          <a:bodyPr wrap="square" lIns="0" tIns="0" rIns="0" bIns="0" rtlCol="0" anchor="ctr"/>
          <a:lstStyle/>
          <a:p>
            <a:pPr marL="0" indent="0" algn="l">
              <a:buNone/>
            </a:pPr>
            <a:r>
              <a:rPr lang="en-US" sz="2000" b="1" dirty="0">
                <a:solidFill>
                  <a:srgbClr val="333333"/>
                </a:solidFill>
                <a:latin typeface="Noto Sans JP" pitchFamily="34" charset="0"/>
                <a:ea typeface="Noto Sans JP" pitchFamily="34" charset="-122"/>
                <a:cs typeface="Noto Sans JP" pitchFamily="34" charset="-120"/>
              </a:rPr>
              <a:t> DX推進者と連携</a:t>
            </a:r>
            <a:endParaRPr lang="en-US" sz="2000" dirty="0"/>
          </a:p>
        </p:txBody>
      </p:sp>
      <p:sp>
        <p:nvSpPr>
          <p:cNvPr id="39" name="Shape 26">
            <a:extLst>
              <a:ext uri="{FF2B5EF4-FFF2-40B4-BE49-F238E27FC236}">
                <a16:creationId xmlns:a16="http://schemas.microsoft.com/office/drawing/2014/main" id="{B51193C3-9481-A6F5-E777-3ABACFE8999C}"/>
              </a:ext>
            </a:extLst>
          </p:cNvPr>
          <p:cNvSpPr/>
          <p:nvPr/>
        </p:nvSpPr>
        <p:spPr>
          <a:xfrm>
            <a:off x="10207776" y="5031942"/>
            <a:ext cx="1912919" cy="571500"/>
          </a:xfrm>
          <a:prstGeom prst="roundRect">
            <a:avLst>
              <a:gd name="adj" fmla="val 64000"/>
            </a:avLst>
          </a:prstGeom>
          <a:solidFill>
            <a:srgbClr val="333333"/>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40" name="Text 27">
            <a:extLst>
              <a:ext uri="{FF2B5EF4-FFF2-40B4-BE49-F238E27FC236}">
                <a16:creationId xmlns:a16="http://schemas.microsoft.com/office/drawing/2014/main" id="{3367706B-54F7-21B2-E22C-F3C520C474B6}"/>
              </a:ext>
            </a:extLst>
          </p:cNvPr>
          <p:cNvSpPr txBox="1"/>
          <p:nvPr/>
        </p:nvSpPr>
        <p:spPr>
          <a:xfrm>
            <a:off x="10531014" y="5125015"/>
            <a:ext cx="1266444" cy="362102"/>
          </a:xfrm>
          <a:prstGeom prst="rect">
            <a:avLst/>
          </a:prstGeom>
          <a:noFill/>
          <a:ln/>
        </p:spPr>
        <p:txBody>
          <a:bodyPr wrap="square" lIns="0" tIns="0" rIns="0" bIns="0" rtlCol="0" anchor="ctr"/>
          <a:lstStyle/>
          <a:p>
            <a:pPr marL="0" indent="0" algn="l">
              <a:buNone/>
            </a:pPr>
            <a:r>
              <a:rPr lang="en-US" sz="2000" b="1">
                <a:solidFill>
                  <a:srgbClr val="FFFFFF"/>
                </a:solidFill>
                <a:latin typeface="Noto Sans JP" pitchFamily="34" charset="0"/>
                <a:ea typeface="Noto Sans JP" pitchFamily="34" charset="-122"/>
                <a:cs typeface="Noto Sans JP" pitchFamily="34" charset="-120"/>
              </a:rPr>
              <a:t> PLUG</a:t>
            </a:r>
            <a:r>
              <a:rPr lang="ja-JP" altLang="en-US" sz="2000" b="1">
                <a:solidFill>
                  <a:srgbClr val="FFFFFF"/>
                </a:solidFill>
                <a:latin typeface="Noto Sans JP" pitchFamily="34" charset="0"/>
                <a:ea typeface="Noto Sans JP" pitchFamily="34" charset="-122"/>
                <a:cs typeface="Noto Sans JP" pitchFamily="34" charset="-120"/>
              </a:rPr>
              <a:t>開催</a:t>
            </a:r>
            <a:endParaRPr lang="en-US" sz="2000" dirty="0"/>
          </a:p>
        </p:txBody>
      </p:sp>
      <p:sp>
        <p:nvSpPr>
          <p:cNvPr id="42" name="Text 28">
            <a:extLst>
              <a:ext uri="{FF2B5EF4-FFF2-40B4-BE49-F238E27FC236}">
                <a16:creationId xmlns:a16="http://schemas.microsoft.com/office/drawing/2014/main" id="{A3FD2645-56E8-1AB0-4D7F-00F34484A45F}"/>
              </a:ext>
            </a:extLst>
          </p:cNvPr>
          <p:cNvSpPr txBox="1"/>
          <p:nvPr/>
        </p:nvSpPr>
        <p:spPr>
          <a:xfrm>
            <a:off x="11212953" y="1027797"/>
            <a:ext cx="1088136" cy="257861"/>
          </a:xfrm>
          <a:prstGeom prst="rect">
            <a:avLst/>
          </a:prstGeom>
          <a:noFill/>
          <a:ln/>
        </p:spPr>
        <p:txBody>
          <a:bodyPr wrap="square" lIns="0" tIns="0" rIns="0" bIns="0" rtlCol="0" anchor="ctr"/>
          <a:lstStyle/>
          <a:p>
            <a:pPr marL="0" indent="0" algn="l">
              <a:buNone/>
            </a:pPr>
            <a:r>
              <a:rPr lang="en-US" sz="3200" b="1">
                <a:solidFill>
                  <a:srgbClr val="FF6908"/>
                </a:solidFill>
                <a:latin typeface="Manrope" pitchFamily="34" charset="0"/>
                <a:ea typeface="Manrope" pitchFamily="34" charset="-122"/>
                <a:cs typeface="Manrope" pitchFamily="34" charset="-120"/>
              </a:rPr>
              <a:t>2026.03.14</a:t>
            </a:r>
            <a:endParaRPr lang="en-US" sz="3200" dirty="0"/>
          </a:p>
        </p:txBody>
      </p:sp>
      <p:sp>
        <p:nvSpPr>
          <p:cNvPr id="43" name="Text 29">
            <a:extLst>
              <a:ext uri="{FF2B5EF4-FFF2-40B4-BE49-F238E27FC236}">
                <a16:creationId xmlns:a16="http://schemas.microsoft.com/office/drawing/2014/main" id="{56135571-1930-3B18-8E27-FC7743C4E701}"/>
              </a:ext>
            </a:extLst>
          </p:cNvPr>
          <p:cNvSpPr txBox="1"/>
          <p:nvPr/>
        </p:nvSpPr>
        <p:spPr>
          <a:xfrm>
            <a:off x="1593289" y="566130"/>
            <a:ext cx="10430967" cy="962863"/>
          </a:xfrm>
          <a:prstGeom prst="rect">
            <a:avLst/>
          </a:prstGeom>
          <a:noFill/>
          <a:ln/>
        </p:spPr>
        <p:txBody>
          <a:bodyPr wrap="square" lIns="0" tIns="0" rIns="0" bIns="0" rtlCol="0" anchor="ctr"/>
          <a:lstStyle/>
          <a:p>
            <a:pPr marL="0" indent="0" algn="l">
              <a:buNone/>
            </a:pPr>
            <a:r>
              <a:rPr lang="ja-JP" altLang="en-US" sz="4400" b="1" kern="0" spc="-63">
                <a:solidFill>
                  <a:srgbClr val="FF6908"/>
                </a:solidFill>
                <a:latin typeface="Noto Sans JP" pitchFamily="34" charset="0"/>
                <a:ea typeface="Noto Sans JP" pitchFamily="34" charset="-122"/>
              </a:rPr>
              <a:t>改めて出会った皆さん</a:t>
            </a:r>
            <a:endParaRPr lang="en-US" altLang="ja-JP" sz="4400" b="1" kern="0" spc="-63">
              <a:solidFill>
                <a:srgbClr val="FF6908"/>
              </a:solidFill>
              <a:latin typeface="Noto Sans JP" pitchFamily="34" charset="0"/>
              <a:ea typeface="Noto Sans JP" pitchFamily="34" charset="-122"/>
            </a:endParaRPr>
          </a:p>
          <a:p>
            <a:pPr marL="0" indent="0" algn="l">
              <a:buNone/>
            </a:pPr>
            <a:r>
              <a:rPr lang="ja-JP" altLang="en-US" sz="4400" b="1" kern="0" spc="-63">
                <a:solidFill>
                  <a:srgbClr val="FF6908"/>
                </a:solidFill>
                <a:latin typeface="Noto Sans JP" pitchFamily="34" charset="0"/>
                <a:ea typeface="Noto Sans JP" pitchFamily="34" charset="-122"/>
              </a:rPr>
              <a:t>ありがとうございます！</a:t>
            </a:r>
            <a:endParaRPr lang="en-US" altLang="ja-JP" sz="4400" b="1" kern="0" spc="-63">
              <a:solidFill>
                <a:srgbClr val="FF6908"/>
              </a:solidFill>
              <a:latin typeface="Noto Sans JP" pitchFamily="34" charset="0"/>
              <a:ea typeface="Noto Sans JP" pitchFamily="34" charset="-122"/>
            </a:endParaRPr>
          </a:p>
          <a:p>
            <a:pPr marL="0" indent="0" algn="l">
              <a:buNone/>
            </a:pPr>
            <a:r>
              <a:rPr lang="ja-JP" altLang="en-US" sz="4400" b="1" kern="0" spc="-63">
                <a:solidFill>
                  <a:srgbClr val="FF6908"/>
                </a:solidFill>
                <a:latin typeface="Noto Sans JP" pitchFamily="34" charset="0"/>
                <a:ea typeface="Noto Sans JP" pitchFamily="34" charset="-122"/>
              </a:rPr>
              <a:t>（お礼を伝えたい人たくさん）</a:t>
            </a:r>
            <a:endParaRPr lang="en-US" sz="4400" dirty="0"/>
          </a:p>
        </p:txBody>
      </p:sp>
      <p:pic>
        <p:nvPicPr>
          <p:cNvPr id="44" name="Image 12" descr="preencoded.png">
            <a:extLst>
              <a:ext uri="{FF2B5EF4-FFF2-40B4-BE49-F238E27FC236}">
                <a16:creationId xmlns:a16="http://schemas.microsoft.com/office/drawing/2014/main" id="{B118CD6E-EB9D-D655-83E9-B42762B8399B}"/>
              </a:ext>
            </a:extLst>
          </p:cNvPr>
          <p:cNvPicPr>
            <a:picLocks noChangeAspect="1"/>
          </p:cNvPicPr>
          <p:nvPr/>
        </p:nvPicPr>
        <p:blipFill>
          <a:blip r:embed="rId8"/>
          <a:srcRect t="-32" b="-32"/>
          <a:stretch/>
        </p:blipFill>
        <p:spPr>
          <a:xfrm>
            <a:off x="665988" y="5943600"/>
            <a:ext cx="10955121" cy="825361"/>
          </a:xfrm>
          <a:prstGeom prst="rect">
            <a:avLst/>
          </a:prstGeom>
        </p:spPr>
      </p:pic>
      <p:sp>
        <p:nvSpPr>
          <p:cNvPr id="45" name="Text 30">
            <a:extLst>
              <a:ext uri="{FF2B5EF4-FFF2-40B4-BE49-F238E27FC236}">
                <a16:creationId xmlns:a16="http://schemas.microsoft.com/office/drawing/2014/main" id="{90C3455C-5618-F49A-37C1-BC524E11DD50}"/>
              </a:ext>
            </a:extLst>
          </p:cNvPr>
          <p:cNvSpPr txBox="1"/>
          <p:nvPr/>
        </p:nvSpPr>
        <p:spPr>
          <a:xfrm>
            <a:off x="1209885" y="6097089"/>
            <a:ext cx="11351685" cy="342900"/>
          </a:xfrm>
          <a:prstGeom prst="rect">
            <a:avLst/>
          </a:prstGeom>
          <a:noFill/>
          <a:ln/>
        </p:spPr>
        <p:txBody>
          <a:bodyPr wrap="square" lIns="0" tIns="0" rIns="0" bIns="0" rtlCol="0" anchor="ctr"/>
          <a:lstStyle/>
          <a:p>
            <a:pPr marL="0" indent="0" algn="l">
              <a:buNone/>
            </a:pPr>
            <a:r>
              <a:rPr lang="ja-JP" altLang="en-US" sz="4000" b="1">
                <a:solidFill>
                  <a:srgbClr val="FF6908"/>
                </a:solidFill>
                <a:latin typeface="Noto Sans JP" pitchFamily="34" charset="0"/>
                <a:ea typeface="Noto Sans JP" pitchFamily="34" charset="-122"/>
                <a:cs typeface="Noto Sans JP" pitchFamily="34" charset="-120"/>
              </a:rPr>
              <a:t>誰かに</a:t>
            </a:r>
            <a:r>
              <a:rPr lang="en-US" altLang="ja-JP" sz="4000" b="1">
                <a:solidFill>
                  <a:srgbClr val="FF6908"/>
                </a:solidFill>
                <a:latin typeface="Noto Sans JP" pitchFamily="34" charset="0"/>
                <a:ea typeface="Noto Sans JP" pitchFamily="34" charset="-122"/>
                <a:cs typeface="Noto Sans JP" pitchFamily="34" charset="-120"/>
              </a:rPr>
              <a:t>『</a:t>
            </a:r>
            <a:r>
              <a:rPr lang="ja-JP" altLang="en-US" sz="4000" b="1">
                <a:solidFill>
                  <a:srgbClr val="FF6908"/>
                </a:solidFill>
                <a:latin typeface="Noto Sans JP" pitchFamily="34" charset="0"/>
                <a:ea typeface="Noto Sans JP" pitchFamily="34" charset="-122"/>
                <a:cs typeface="Noto Sans JP" pitchFamily="34" charset="-120"/>
              </a:rPr>
              <a:t>いいね</a:t>
            </a:r>
            <a:r>
              <a:rPr lang="en-US" altLang="ja-JP" sz="4000" b="1">
                <a:solidFill>
                  <a:srgbClr val="FF6908"/>
                </a:solidFill>
                <a:latin typeface="Noto Sans JP" pitchFamily="34" charset="0"/>
                <a:ea typeface="Noto Sans JP" pitchFamily="34" charset="-122"/>
                <a:cs typeface="Noto Sans JP" pitchFamily="34" charset="-120"/>
              </a:rPr>
              <a:t>』</a:t>
            </a:r>
            <a:r>
              <a:rPr lang="ja-JP" altLang="en-US" sz="4000" b="1">
                <a:solidFill>
                  <a:srgbClr val="FF6908"/>
                </a:solidFill>
                <a:latin typeface="Noto Sans JP" pitchFamily="34" charset="0"/>
                <a:ea typeface="Noto Sans JP" pitchFamily="34" charset="-122"/>
                <a:cs typeface="Noto Sans JP" pitchFamily="34" charset="-120"/>
              </a:rPr>
              <a:t>を、</a:t>
            </a:r>
            <a:endParaRPr lang="en-US" altLang="ja-JP" sz="4000" b="1">
              <a:solidFill>
                <a:srgbClr val="FF6908"/>
              </a:solidFill>
              <a:latin typeface="Noto Sans JP" pitchFamily="34" charset="0"/>
              <a:ea typeface="Noto Sans JP" pitchFamily="34" charset="-122"/>
              <a:cs typeface="Noto Sans JP" pitchFamily="34" charset="-120"/>
            </a:endParaRPr>
          </a:p>
          <a:p>
            <a:pPr marL="0" indent="0" algn="l">
              <a:buNone/>
            </a:pPr>
            <a:r>
              <a:rPr lang="ja-JP" altLang="en-US" sz="4000" b="1">
                <a:solidFill>
                  <a:srgbClr val="FF6908"/>
                </a:solidFill>
                <a:latin typeface="Noto Sans JP" pitchFamily="34" charset="0"/>
                <a:ea typeface="Noto Sans JP" pitchFamily="34" charset="-122"/>
                <a:cs typeface="Noto Sans JP" pitchFamily="34" charset="-120"/>
              </a:rPr>
              <a:t>そして踏み出そうとする自分にも</a:t>
            </a:r>
            <a:r>
              <a:rPr lang="en-US" altLang="ja-JP" sz="4000" b="1">
                <a:solidFill>
                  <a:srgbClr val="FF6908"/>
                </a:solidFill>
                <a:latin typeface="Noto Sans JP" pitchFamily="34" charset="0"/>
                <a:ea typeface="Noto Sans JP" pitchFamily="34" charset="-122"/>
                <a:cs typeface="Noto Sans JP" pitchFamily="34" charset="-120"/>
              </a:rPr>
              <a:t>『</a:t>
            </a:r>
            <a:r>
              <a:rPr lang="ja-JP" altLang="en-US" sz="4000" b="1">
                <a:solidFill>
                  <a:srgbClr val="FF6908"/>
                </a:solidFill>
                <a:latin typeface="Noto Sans JP" pitchFamily="34" charset="0"/>
                <a:ea typeface="Noto Sans JP" pitchFamily="34" charset="-122"/>
                <a:cs typeface="Noto Sans JP" pitchFamily="34" charset="-120"/>
              </a:rPr>
              <a:t>いいね</a:t>
            </a:r>
            <a:r>
              <a:rPr lang="en-US" altLang="ja-JP" sz="4000" b="1">
                <a:solidFill>
                  <a:srgbClr val="FF6908"/>
                </a:solidFill>
                <a:latin typeface="Noto Sans JP" pitchFamily="34" charset="0"/>
                <a:ea typeface="Noto Sans JP" pitchFamily="34" charset="-122"/>
                <a:cs typeface="Noto Sans JP" pitchFamily="34" charset="-120"/>
              </a:rPr>
              <a:t>』</a:t>
            </a:r>
            <a:r>
              <a:rPr lang="ja-JP" altLang="en-US" sz="4000" b="1">
                <a:solidFill>
                  <a:srgbClr val="FF6908"/>
                </a:solidFill>
                <a:latin typeface="Noto Sans JP" pitchFamily="34" charset="0"/>
                <a:ea typeface="Noto Sans JP" pitchFamily="34" charset="-122"/>
                <a:cs typeface="Noto Sans JP" pitchFamily="34" charset="-120"/>
              </a:rPr>
              <a:t>を！</a:t>
            </a:r>
            <a:endParaRPr lang="en-US" sz="4000" dirty="0"/>
          </a:p>
        </p:txBody>
      </p:sp>
      <p:pic>
        <p:nvPicPr>
          <p:cNvPr id="47" name="図 46" descr="Power Platform - Meet Up&#10;&#10;AI 生成コンテンツは誤りを含む可能性があります。">
            <a:extLst>
              <a:ext uri="{FF2B5EF4-FFF2-40B4-BE49-F238E27FC236}">
                <a16:creationId xmlns:a16="http://schemas.microsoft.com/office/drawing/2014/main" id="{5EA91C5E-9346-5F26-98F9-7DF222413F89}"/>
              </a:ext>
            </a:extLst>
          </p:cNvPr>
          <p:cNvPicPr>
            <a:picLocks noChangeAspect="1"/>
          </p:cNvPicPr>
          <p:nvPr/>
        </p:nvPicPr>
        <p:blipFill>
          <a:blip r:embed="rId9"/>
          <a:srcRect l="74500" t="35767" b="27313"/>
          <a:stretch>
            <a:fillRect/>
          </a:stretch>
        </p:blipFill>
        <p:spPr>
          <a:xfrm>
            <a:off x="9269547" y="243365"/>
            <a:ext cx="1261465" cy="1369803"/>
          </a:xfrm>
          <a:prstGeom prst="ellipse">
            <a:avLst/>
          </a:prstGeom>
          <a:ln w="254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50" name="直線矢印コネクタ 49">
            <a:extLst>
              <a:ext uri="{FF2B5EF4-FFF2-40B4-BE49-F238E27FC236}">
                <a16:creationId xmlns:a16="http://schemas.microsoft.com/office/drawing/2014/main" id="{D8FA0345-5678-D436-41B3-20AF118DEC4C}"/>
              </a:ext>
            </a:extLst>
          </p:cNvPr>
          <p:cNvCxnSpPr>
            <a:cxnSpLocks/>
          </p:cNvCxnSpPr>
          <p:nvPr/>
        </p:nvCxnSpPr>
        <p:spPr>
          <a:xfrm>
            <a:off x="1270135" y="3076998"/>
            <a:ext cx="55742" cy="578031"/>
          </a:xfrm>
          <a:prstGeom prst="straightConnector1">
            <a:avLst/>
          </a:prstGeom>
          <a:ln w="984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3F2C4704-44B9-4776-62C8-5B9DDCCD0BC0}"/>
              </a:ext>
            </a:extLst>
          </p:cNvPr>
          <p:cNvCxnSpPr>
            <a:cxnSpLocks/>
            <a:stCxn id="15" idx="3"/>
            <a:endCxn id="18" idx="1"/>
          </p:cNvCxnSpPr>
          <p:nvPr/>
        </p:nvCxnSpPr>
        <p:spPr>
          <a:xfrm flipV="1">
            <a:off x="6002382" y="2450135"/>
            <a:ext cx="929640" cy="1541529"/>
          </a:xfrm>
          <a:prstGeom prst="bentConnector3">
            <a:avLst>
              <a:gd name="adj1" fmla="val 50000"/>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37A5F917-9D42-4FA1-BF80-C2770F675AF9}"/>
              </a:ext>
            </a:extLst>
          </p:cNvPr>
          <p:cNvCxnSpPr>
            <a:cxnSpLocks/>
            <a:stCxn id="15" idx="3"/>
            <a:endCxn id="21" idx="1"/>
          </p:cNvCxnSpPr>
          <p:nvPr/>
        </p:nvCxnSpPr>
        <p:spPr>
          <a:xfrm flipV="1">
            <a:off x="6002382" y="3095244"/>
            <a:ext cx="1766693" cy="896420"/>
          </a:xfrm>
          <a:prstGeom prst="bentConnector3">
            <a:avLst>
              <a:gd name="adj1" fmla="val 50000"/>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コネクタ: カギ線 59">
            <a:extLst>
              <a:ext uri="{FF2B5EF4-FFF2-40B4-BE49-F238E27FC236}">
                <a16:creationId xmlns:a16="http://schemas.microsoft.com/office/drawing/2014/main" id="{9082B6A9-BEC5-E8C8-2D9E-EC08DFF10FCB}"/>
              </a:ext>
            </a:extLst>
          </p:cNvPr>
          <p:cNvCxnSpPr>
            <a:cxnSpLocks/>
            <a:stCxn id="15" idx="3"/>
            <a:endCxn id="24" idx="1"/>
          </p:cNvCxnSpPr>
          <p:nvPr/>
        </p:nvCxnSpPr>
        <p:spPr>
          <a:xfrm flipV="1">
            <a:off x="6002382" y="3803904"/>
            <a:ext cx="1251885" cy="187760"/>
          </a:xfrm>
          <a:prstGeom prst="bentConnector3">
            <a:avLst>
              <a:gd name="adj1" fmla="val 50000"/>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871F8DCF-D5B3-4237-3295-768E3C325253}"/>
              </a:ext>
            </a:extLst>
          </p:cNvPr>
          <p:cNvCxnSpPr>
            <a:cxnSpLocks/>
            <a:endCxn id="27" idx="1"/>
          </p:cNvCxnSpPr>
          <p:nvPr/>
        </p:nvCxnSpPr>
        <p:spPr>
          <a:xfrm rot="16200000" flipH="1">
            <a:off x="5891017" y="4094686"/>
            <a:ext cx="544173" cy="267434"/>
          </a:xfrm>
          <a:prstGeom prst="bentConnector2">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コネクタ: カギ線 70">
            <a:extLst>
              <a:ext uri="{FF2B5EF4-FFF2-40B4-BE49-F238E27FC236}">
                <a16:creationId xmlns:a16="http://schemas.microsoft.com/office/drawing/2014/main" id="{DC746937-598A-D35F-456D-711514B1FF4D}"/>
              </a:ext>
            </a:extLst>
          </p:cNvPr>
          <p:cNvCxnSpPr>
            <a:cxnSpLocks/>
            <a:stCxn id="15" idx="2"/>
            <a:endCxn id="30" idx="1"/>
          </p:cNvCxnSpPr>
          <p:nvPr/>
        </p:nvCxnSpPr>
        <p:spPr>
          <a:xfrm rot="16200000" flipH="1">
            <a:off x="4987577" y="4091334"/>
            <a:ext cx="876276" cy="1683166"/>
          </a:xfrm>
          <a:prstGeom prst="bentConnector2">
            <a:avLst/>
          </a:prstGeom>
          <a:ln w="698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Shape 8">
            <a:extLst>
              <a:ext uri="{FF2B5EF4-FFF2-40B4-BE49-F238E27FC236}">
                <a16:creationId xmlns:a16="http://schemas.microsoft.com/office/drawing/2014/main" id="{249A8396-55C6-4C91-6589-E68F58E5A501}"/>
              </a:ext>
            </a:extLst>
          </p:cNvPr>
          <p:cNvSpPr/>
          <p:nvPr/>
        </p:nvSpPr>
        <p:spPr>
          <a:xfrm>
            <a:off x="1132560" y="4292959"/>
            <a:ext cx="1912163" cy="962863"/>
          </a:xfrm>
          <a:prstGeom prst="roundRect">
            <a:avLst>
              <a:gd name="adj" fmla="val 76154"/>
            </a:avLst>
          </a:prstGeom>
          <a:solidFill>
            <a:srgbClr val="FFFFFF"/>
          </a:solidFill>
          <a:ln w="25400">
            <a:solidFill>
              <a:srgbClr val="FF6908"/>
            </a:solidFill>
            <a:prstDash val="solid"/>
          </a:ln>
          <a:effectLst>
            <a:outerShdw blurRad="63500" dist="38100" dir="16200000" algn="bl" rotWithShape="0">
              <a:srgbClr val="000000">
                <a:alpha val="10000"/>
              </a:srgbClr>
            </a:outerShdw>
          </a:effectLst>
        </p:spPr>
        <p:txBody>
          <a:bodyPr/>
          <a:lstStyle/>
          <a:p>
            <a:endParaRPr lang="ja-JP" altLang="en-US" sz="4400"/>
          </a:p>
        </p:txBody>
      </p:sp>
      <p:sp>
        <p:nvSpPr>
          <p:cNvPr id="7" name="Text 9">
            <a:extLst>
              <a:ext uri="{FF2B5EF4-FFF2-40B4-BE49-F238E27FC236}">
                <a16:creationId xmlns:a16="http://schemas.microsoft.com/office/drawing/2014/main" id="{091A1852-EFB3-AE46-DC6B-B27AD88D6206}"/>
              </a:ext>
            </a:extLst>
          </p:cNvPr>
          <p:cNvSpPr txBox="1"/>
          <p:nvPr/>
        </p:nvSpPr>
        <p:spPr>
          <a:xfrm>
            <a:off x="1670594" y="4643795"/>
            <a:ext cx="1641105" cy="314554"/>
          </a:xfrm>
          <a:prstGeom prst="rect">
            <a:avLst/>
          </a:prstGeom>
          <a:noFill/>
          <a:ln/>
        </p:spPr>
        <p:txBody>
          <a:bodyPr wrap="square" lIns="0" tIns="0" rIns="0" bIns="0" rtlCol="0" anchor="ctr"/>
          <a:lstStyle/>
          <a:p>
            <a:pPr marL="0" indent="0" algn="l">
              <a:buNone/>
            </a:pPr>
            <a:r>
              <a:rPr lang="en-US" b="1">
                <a:solidFill>
                  <a:srgbClr val="333333"/>
                </a:solidFill>
                <a:latin typeface="Noto Sans JP" pitchFamily="34" charset="0"/>
                <a:ea typeface="Noto Sans JP" pitchFamily="34" charset="-122"/>
                <a:cs typeface="Noto Sans JP" pitchFamily="34" charset="-120"/>
              </a:rPr>
              <a:t> </a:t>
            </a:r>
            <a:r>
              <a:rPr lang="en-US" altLang="ja-JP" b="1">
                <a:solidFill>
                  <a:srgbClr val="333333"/>
                </a:solidFill>
                <a:latin typeface="Noto Sans JP" pitchFamily="34" charset="0"/>
                <a:ea typeface="Noto Sans JP" pitchFamily="34" charset="-122"/>
                <a:cs typeface="Noto Sans JP" pitchFamily="34" charset="-120"/>
              </a:rPr>
              <a:t>PPEC</a:t>
            </a:r>
            <a:r>
              <a:rPr lang="ja-JP" altLang="en-US" b="1">
                <a:solidFill>
                  <a:srgbClr val="333333"/>
                </a:solidFill>
                <a:latin typeface="Noto Sans JP" pitchFamily="34" charset="0"/>
                <a:ea typeface="Noto Sans JP" pitchFamily="34" charset="-122"/>
                <a:cs typeface="Noto Sans JP" pitchFamily="34" charset="-120"/>
              </a:rPr>
              <a:t>厳島</a:t>
            </a:r>
            <a:endParaRPr lang="en-US" dirty="0"/>
          </a:p>
        </p:txBody>
      </p:sp>
      <p:pic>
        <p:nvPicPr>
          <p:cNvPr id="8" name="Image 2" descr="preencoded.png">
            <a:extLst>
              <a:ext uri="{FF2B5EF4-FFF2-40B4-BE49-F238E27FC236}">
                <a16:creationId xmlns:a16="http://schemas.microsoft.com/office/drawing/2014/main" id="{192A5120-27B5-E449-68FE-22A56170BD5B}"/>
              </a:ext>
            </a:extLst>
          </p:cNvPr>
          <p:cNvPicPr>
            <a:picLocks noChangeAspect="1"/>
          </p:cNvPicPr>
          <p:nvPr/>
        </p:nvPicPr>
        <p:blipFill>
          <a:blip r:embed="rId4"/>
          <a:srcRect l="-2444" r="-2444"/>
          <a:stretch/>
        </p:blipFill>
        <p:spPr>
          <a:xfrm>
            <a:off x="1270135" y="4612427"/>
            <a:ext cx="453543" cy="345922"/>
          </a:xfrm>
          <a:prstGeom prst="rect">
            <a:avLst/>
          </a:prstGeom>
        </p:spPr>
      </p:pic>
      <p:cxnSp>
        <p:nvCxnSpPr>
          <p:cNvPr id="49" name="直線矢印コネクタ 48">
            <a:extLst>
              <a:ext uri="{FF2B5EF4-FFF2-40B4-BE49-F238E27FC236}">
                <a16:creationId xmlns:a16="http://schemas.microsoft.com/office/drawing/2014/main" id="{D7FC61E7-FB71-1D97-A368-2328947DFE10}"/>
              </a:ext>
            </a:extLst>
          </p:cNvPr>
          <p:cNvCxnSpPr>
            <a:cxnSpLocks/>
          </p:cNvCxnSpPr>
          <p:nvPr/>
        </p:nvCxnSpPr>
        <p:spPr>
          <a:xfrm flipV="1">
            <a:off x="2520950" y="4023926"/>
            <a:ext cx="523773" cy="411828"/>
          </a:xfrm>
          <a:prstGeom prst="straightConnector1">
            <a:avLst/>
          </a:prstGeom>
          <a:ln w="984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F8D63B20-4E20-BC45-EC56-6BD7B43C050B}"/>
              </a:ext>
            </a:extLst>
          </p:cNvPr>
          <p:cNvCxnSpPr>
            <a:cxnSpLocks/>
          </p:cNvCxnSpPr>
          <p:nvPr/>
        </p:nvCxnSpPr>
        <p:spPr>
          <a:xfrm>
            <a:off x="782500" y="4473861"/>
            <a:ext cx="440731" cy="381343"/>
          </a:xfrm>
          <a:prstGeom prst="straightConnector1">
            <a:avLst/>
          </a:prstGeom>
          <a:ln w="984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Text 28">
            <a:extLst>
              <a:ext uri="{FF2B5EF4-FFF2-40B4-BE49-F238E27FC236}">
                <a16:creationId xmlns:a16="http://schemas.microsoft.com/office/drawing/2014/main" id="{BEE3B5D2-1EF4-5FBE-78CE-EA654FEB134B}"/>
              </a:ext>
            </a:extLst>
          </p:cNvPr>
          <p:cNvSpPr txBox="1"/>
          <p:nvPr/>
        </p:nvSpPr>
        <p:spPr>
          <a:xfrm>
            <a:off x="167744" y="1164538"/>
            <a:ext cx="1088136" cy="257861"/>
          </a:xfrm>
          <a:prstGeom prst="rect">
            <a:avLst/>
          </a:prstGeom>
          <a:noFill/>
          <a:ln/>
        </p:spPr>
        <p:txBody>
          <a:bodyPr wrap="square" lIns="0" tIns="0" rIns="0" bIns="0" rtlCol="0" anchor="ctr"/>
          <a:lstStyle/>
          <a:p>
            <a:pPr marL="0" indent="0" algn="l">
              <a:buNone/>
            </a:pPr>
            <a:r>
              <a:rPr lang="en-US" sz="3200" b="1">
                <a:solidFill>
                  <a:srgbClr val="FF6908"/>
                </a:solidFill>
                <a:latin typeface="Manrope" pitchFamily="34" charset="0"/>
                <a:ea typeface="Manrope" pitchFamily="34" charset="-122"/>
                <a:cs typeface="Manrope" pitchFamily="34" charset="-120"/>
              </a:rPr>
              <a:t>2025.4.14</a:t>
            </a:r>
            <a:endParaRPr lang="en-US" sz="3200" dirty="0"/>
          </a:p>
        </p:txBody>
      </p:sp>
    </p:spTree>
    <p:extLst>
      <p:ext uri="{BB962C8B-B14F-4D97-AF65-F5344CB8AC3E}">
        <p14:creationId xmlns:p14="http://schemas.microsoft.com/office/powerpoint/2010/main" val="3129854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1081</TotalTime>
  <Words>1080</Words>
  <Application>Microsoft Office PowerPoint</Application>
  <PresentationFormat>ワイド画面</PresentationFormat>
  <Paragraphs>188</Paragraphs>
  <Slides>10</Slides>
  <Notes>10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10</vt:i4>
      </vt:variant>
    </vt:vector>
  </HeadingPairs>
  <TitlesOfParts>
    <vt:vector size="16" baseType="lpstr">
      <vt:lpstr>BIZ UDGothic</vt:lpstr>
      <vt:lpstr>M PLUS 1p</vt:lpstr>
      <vt:lpstr>Manrope</vt: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Ueda Isamu</cp:lastModifiedBy>
  <cp:revision>8</cp:revision>
  <dcterms:created xsi:type="dcterms:W3CDTF">2026-03-10T00:55:26Z</dcterms:created>
  <dcterms:modified xsi:type="dcterms:W3CDTF">2026-04-28T06:54:15Z</dcterms:modified>
</cp:coreProperties>
</file>