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2"/>
    <p:sldId id="271" r:id="rId3"/>
    <p:sldId id="273" r:id="rId4"/>
    <p:sldId id="274" r:id="rId5"/>
    <p:sldId id="275" r:id="rId6"/>
    <p:sldId id="276" r:id="rId7"/>
    <p:sldId id="277" r:id="rId8"/>
    <p:sldId id="279" r:id="rId9"/>
    <p:sldId id="28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Relationship Id="rId16" Type="http://schemas.microsoft.com/office/2015/10/relationships/revisionInfo" Target="revisionInfo.xml"/><Relationship Id="rId17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643360" y="0"/>
            <a:ext cx="548640" cy="182880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3657600" cy="411480"/>
          </a:xfrm>
          <a:prstGeom prst="roundRect">
            <a:avLst>
              <a:gd name="adj" fmla="val 10000"/>
            </a:avLst>
          </a:prstGeom>
          <a:solidFill>
            <a:srgbClr val="E8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373E99"/>
                </a:solidFill>
                <a:latin typeface="Yu Gothic"/>
              </a:rPr>
              <a:t>⚡ LIGHTNING TALK  ×  COPILOT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Copilotに「会議減らしたい」と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泣きついたら、Power Automateで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会議コストBotを生み出す羽目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になった話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2920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02920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  <a:latin typeface="Yu Gothic"/>
              </a:rPr>
              <a:t>Copilot × Power Automate で7アクションのBotを作った話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585216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73E99"/>
                </a:solidFill>
                <a:latin typeface="Yu Gothic"/>
              </a:rPr>
              <a:t>Haru (ism136)  /  Power Automate 45 主催</a:t>
            </a:r>
          </a:p>
        </p:txBody>
      </p:sp>
      <p:sp>
        <p:nvSpPr>
          <p:cNvPr id="12" name="Oval 11"/>
          <p:cNvSpPr/>
          <p:nvPr/>
        </p:nvSpPr>
        <p:spPr>
          <a:xfrm>
            <a:off x="11094720" y="5989320"/>
            <a:ext cx="146304" cy="14630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277600" y="5989320"/>
            <a:ext cx="146304" cy="146304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460481" y="5989320"/>
            <a:ext cx="146304" cy="146304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643361" y="5989320"/>
            <a:ext cx="146304" cy="146304"/>
          </a:xfrm>
          <a:prstGeom prst="ellipse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93663"/>
            <a:ext cx="10058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ある日、カレンダーを見たら…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usy_calendar.png"/>
          <p:cNvPicPr>
            <a:picLocks noChangeAspect="1"/>
          </p:cNvPicPr>
          <p:nvPr/>
        </p:nvPicPr>
        <p:blipFill>
          <a:blip r:embed="rId2"/>
          <a:srcRect b="10021"/>
          <a:stretch>
            <a:fillRect/>
          </a:stretch>
        </p:blipFill>
        <p:spPr>
          <a:xfrm>
            <a:off x="426720" y="1051560"/>
            <a:ext cx="1005840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8480" y="1828800"/>
            <a:ext cx="1280160" cy="2194560"/>
          </a:xfrm>
          <a:prstGeom prst="roundRect">
            <a:avLst>
              <a:gd name="adj" fmla="val 8000"/>
            </a:avLst>
          </a:prstGeom>
          <a:solidFill>
            <a:srgbClr val="D83B01"/>
          </a:solidFill>
          <a:ln w="6350">
            <a:solidFill>
              <a:srgbClr val="D83B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0" y="1828800"/>
            <a:ext cx="128016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うわ…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2074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9207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今週、会議42本。隙間ほぼなし。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561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そこに、追い討ちの会議招集。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rowded_invite.png"/>
          <p:cNvPicPr>
            <a:picLocks noChangeAspect="1"/>
          </p:cNvPicPr>
          <p:nvPr/>
        </p:nvPicPr>
        <p:blipFill>
          <a:blip r:embed="rId2"/>
          <a:srcRect b="22442"/>
          <a:stretch>
            <a:fillRect/>
          </a:stretch>
        </p:blipFill>
        <p:spPr>
          <a:xfrm>
            <a:off x="457200" y="1142999"/>
            <a:ext cx="7343874" cy="446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3716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83B01"/>
                </a:solidFill>
                <a:latin typeface="Yu Gothic"/>
              </a:rPr>
              <a:t>🔴 気になるポイント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9202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55480" y="19659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必須参加者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2128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D83B01"/>
                </a:solidFill>
                <a:latin typeface="Yu Gothic"/>
              </a:rPr>
              <a:t>70人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28346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18320" y="28346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605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28803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任意参加者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1272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605E5C"/>
                </a:solidFill>
                <a:latin typeface="Yu Gothic"/>
              </a:rPr>
              <a:t>0人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3749039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418320" y="3749039"/>
            <a:ext cx="54864" cy="7772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55480" y="379475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時間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04164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0078D4"/>
                </a:solidFill>
                <a:latin typeface="Yu Gothic"/>
              </a:rPr>
              <a:t>120分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6634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18320" y="46634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47091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推定コスト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6928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必須70人。任意ゼロ。…これ、本当に全員いる？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Copilotに泣きついた。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EEE9FB"/>
          </a:solidFill>
          <a:ln w="12700">
            <a:solidFill>
              <a:srgbClr val="7460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373E99"/>
                </a:solidFill>
                <a:latin typeface="Yu Gothic"/>
              </a:rPr>
              <a:t>🙋   会議減らしたいんですけど…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DEECF9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323130"/>
                </a:solidFill>
                <a:latin typeface="Yu Gothic"/>
              </a:rPr>
              <a:t>🤖   優先度を見直して、必要な会議だけに絞りましょう。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D83B01"/>
                </a:solidFill>
                <a:latin typeface="Yu Gothic"/>
              </a:rPr>
              <a:t>いや、そういうんじゃなくて。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5486400" cy="4572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本音：会議そのものはなくならない。だから「減らせ」って言われても困る。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もっと「呼ぶ前にひと呼吸」を入れたい。それも、誰かを責めずに、自然に。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聞き方を変えてみた。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💬  Copilotとの会話 (やり直し)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029200" cy="39087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「会議のコストを可視化したい」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「Power Automateで作れますよ」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「Outlookトリガー＋7アクションでOK」</a:t>
            </a:r>
          </a:p>
          <a:p>
            <a:pPr algn="l"/>
            <a:endParaRPr sz="16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「式どう書くの？」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div(sub(ticks(end),ticks(start)),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  600000000)</a:t>
            </a:r>
          </a:p>
          <a:p>
            <a:pPr algn="l"/>
            <a:endParaRPr sz="14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「（読めないけど動いた）」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✅  Copilotが提案したフロー(7アクション)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659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070386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トリガー：新しいイベント (Outlook)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532888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25328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637314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参加者数_必須 (split + length)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099815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3099815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149378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参加者数_任意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66674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366674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16307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合計参加者数 (主催者+1)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42336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423367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83235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会議時間_分 (ticks計算)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80060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48006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50163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コスト = 人数×分×(時給÷60)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67527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536752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41709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Teams投稿</a:t>
            </a:r>
            <a:r>
              <a:rPr lang="ja-JP" altLang="en-US" sz="1600" b="0">
                <a:solidFill>
                  <a:srgbClr val="323130"/>
                </a:solidFill>
                <a:latin typeface="Yu Gothic"/>
              </a:rPr>
              <a:t>ありがとうございました。 </a:t>
            </a:r>
            <a:r>
              <a:rPr sz="1600" b="0">
                <a:solidFill>
                  <a:srgbClr val="323130"/>
                </a:solidFill>
                <a:latin typeface="Yu Gothic"/>
              </a:rPr>
              <a:t>(Flowbot)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実装してみた：Power Automateの全体像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316736"/>
            <a:ext cx="11430000" cy="4206240"/>
          </a:xfrm>
          <a:prstGeom prst="roundRect">
            <a:avLst>
              <a:gd name="adj" fmla="val 8000"/>
            </a:avLst>
          </a:prstGeom>
          <a:solidFill>
            <a:srgbClr val="F3F2F1"/>
          </a:solidFill>
          <a:ln w="19050">
            <a:solidFill>
              <a:srgbClr val="C8C6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Outlook トリガー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新しい会議が作られた瞬間に発火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29768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ticks() 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100ナノ秒単位の時間差を分に変換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3816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Teams投稿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Flowbotから自分のチャットに通知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7 / 10</a:t>
            </a:r>
          </a:p>
        </p:txBody>
      </p:sp>
      <p:pic>
        <p:nvPicPr>
          <p:cNvPr id="25" name="図 24" descr="The image displays a user interface with a flowchart that illustrates an event creation process, including steps for required and optional participant counts, and a calculation for total participants.&#10;&#10;AI 生成コンテンツは誤りを含む可能性があります。">
            <a:extLst>
              <a:ext uri="{FF2B5EF4-FFF2-40B4-BE49-F238E27FC236}">
                <a16:creationId xmlns:a16="http://schemas.microsoft.com/office/drawing/2014/main" id="{ECD95901-3818-AB98-430B-A0191FCC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680173"/>
            <a:ext cx="2162191" cy="3467125"/>
          </a:xfrm>
          <a:prstGeom prst="rect">
            <a:avLst/>
          </a:prstGeom>
        </p:spPr>
      </p:pic>
      <p:pic>
        <p:nvPicPr>
          <p:cNvPr id="27" name="図 26" descr="The image illustrates a workflow diagram in Japanese, showing a series of steps for initializing a variable, calculating costs, and notifying conference attendees via chat or email.&#10;&#10;AI 生成コンテンツは誤りを含む可能性があります。">
            <a:extLst>
              <a:ext uri="{FF2B5EF4-FFF2-40B4-BE49-F238E27FC236}">
                <a16:creationId xmlns:a16="http://schemas.microsoft.com/office/drawing/2014/main" id="{58B7430B-E5E7-D7F4-22F3-4D118C5C5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838" y="1538273"/>
            <a:ext cx="2047890" cy="3781453"/>
          </a:xfrm>
          <a:prstGeom prst="rect">
            <a:avLst/>
          </a:prstGeom>
        </p:spPr>
      </p:pic>
      <p:pic>
        <p:nvPicPr>
          <p:cNvPr id="29" name="図 28" descr="The provided text appears to be a snippet of code, specifically a conditional statement in a programming language, likely JavaScript. It checks if an array called `triggerOutputs` has an element at the key `'body/requiredAttendees'` and is empty. If it is, it returns `0`. If it's not empty, it splits the array at the semicolon delimiter, then returns the length of the resulting array minus one.&#10;&#10;AI 生成コンテンツは誤りを含む可能性があります。">
            <a:extLst>
              <a:ext uri="{FF2B5EF4-FFF2-40B4-BE49-F238E27FC236}">
                <a16:creationId xmlns:a16="http://schemas.microsoft.com/office/drawing/2014/main" id="{038036A4-7789-1BD5-DF2D-59D757D0F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9119" y="2684333"/>
            <a:ext cx="4514883" cy="657230"/>
          </a:xfrm>
          <a:prstGeom prst="rect">
            <a:avLst/>
          </a:prstGeom>
        </p:spPr>
      </p:pic>
      <p:pic>
        <p:nvPicPr>
          <p:cNvPr id="31" name="図 30" descr="body/optionalAttendees&#10;&#10;AI 生成コンテンツは誤りを含む可能性があります。">
            <a:extLst>
              <a:ext uri="{FF2B5EF4-FFF2-40B4-BE49-F238E27FC236}">
                <a16:creationId xmlns:a16="http://schemas.microsoft.com/office/drawing/2014/main" id="{8F64F2FC-8D13-BD47-FC04-9555398842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7219" y="3627853"/>
            <a:ext cx="4476783" cy="685805"/>
          </a:xfrm>
          <a:prstGeom prst="rect">
            <a:avLst/>
          </a:prstGeom>
        </p:spPr>
      </p:pic>
      <p:pic>
        <p:nvPicPr>
          <p:cNvPr id="33" name="図 32" descr="The image shows a snippet of code with a function call in a programming language, specifically adding two outputs with given strings and an integer.&#10;&#10;AI 生成コンテンツは誤りを含む可能性があります。">
            <a:extLst>
              <a:ext uri="{FF2B5EF4-FFF2-40B4-BE49-F238E27FC236}">
                <a16:creationId xmlns:a16="http://schemas.microsoft.com/office/drawing/2014/main" id="{5B4ED5E9-2204-DFCF-0FF4-DAA225B1A4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019" y="4587978"/>
            <a:ext cx="4514883" cy="533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結果：空気が変わった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🚨  Teams通知 (Flowbot)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5577840" cy="15544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会議は減らなかった。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116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B900"/>
                </a:solidFill>
                <a:latin typeface="Yu Gothic"/>
              </a:rPr>
              <a:t>でも、空気が変わった。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373E99"/>
                </a:solidFill>
                <a:latin typeface="Yu Gothic"/>
              </a:rPr>
              <a:t>💡 今日の学び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6616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52044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Copilotは"何を作るか"も提案してくれる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06908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40690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23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式が読めなくても動く（理解は後で追いつく）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7200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45720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262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数字を見せると、人は動く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430000" cy="128016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37160" cy="128016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1663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B900"/>
                </a:solidFill>
                <a:latin typeface="Yu Gothic"/>
              </a:rPr>
              <a:t>🎁  Power Automate 45 (PA45)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6235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Yu Gothic"/>
              </a:rPr>
              <a:t>毎週木曜 20:15〜  /  45分の "1粒ハンズオン"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9893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E8E9F7"/>
                </a:solidFill>
                <a:latin typeface="Yu Gothic"/>
              </a:rPr>
              <a:t>powerautomate-create.connpass.com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10</a:t>
            </a:r>
          </a:p>
        </p:txBody>
      </p:sp>
      <p:pic>
        <p:nvPicPr>
          <p:cNvPr id="35" name="図 34" descr="PA45,&#10;&#10;AI 生成コンテンツは誤りを含む可能性があります。">
            <a:extLst>
              <a:ext uri="{FF2B5EF4-FFF2-40B4-BE49-F238E27FC236}">
                <a16:creationId xmlns:a16="http://schemas.microsoft.com/office/drawing/2014/main" id="{B134EC95-E660-EC78-DEE9-EC24ACCDF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889760"/>
            <a:ext cx="2957109" cy="24079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自分が考える × Copilotが手伝う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605E5C"/>
                </a:solidFill>
                <a:latin typeface="Yu Gothic"/>
              </a:rPr>
              <a:t>全部を自分で作る必要はない。でも、全部をCopilotに任せることもできない。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🧠  自分にしかできないこと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9748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現場の困りごとに気づくこと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「会議多すぎ問題」を肌で感じるのは現場の自分だけ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"こういうの欲しい" のアイデア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数字で見せたい・呼ぶ前にひと呼吸 という発想は人間側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617720"/>
            <a:ext cx="54864" cy="777240"/>
          </a:xfrm>
          <a:prstGeom prst="roundRect">
            <a:avLst>
              <a:gd name="adj" fmla="val 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各職場にミートした業務改善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時給5,000円・ハッシュタグ・通知文も現場の文脈次第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20240"/>
            <a:ext cx="557784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9360" y="1920240"/>
            <a:ext cx="5577840" cy="54864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202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</a:rPr>
              <a:t>🤖  Copilotに手伝ってもらえること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69748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26974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関数・式の書き方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0632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ticks() ・ split() ・ length() の組み合わせは即答してくれる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365760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フローの構造提案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0233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「○○したい」と話しかけるだけで7アクション分の設計を出してくれる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617720"/>
            <a:ext cx="54864" cy="777240"/>
          </a:xfrm>
          <a:prstGeom prst="roundRect">
            <a:avLst>
              <a:gd name="adj" fmla="val 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46177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シンタックスやエラーの解消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983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5E5C"/>
                </a:solidFill>
                <a:latin typeface="Yu Gothic"/>
              </a:rPr>
              <a:t>「読めない式」も丁寧に説明してくれるので学習にもなる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760720"/>
            <a:ext cx="11430000" cy="6400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7607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B900"/>
                </a:solidFill>
                <a:latin typeface="Yu Gothic"/>
              </a:rPr>
              <a:t>💡  アイデアは現場から、実装はCopilotと。これが一番強い。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2164</TotalTime>
  <Words>530</Words>
  <Application>Microsoft Office PowerPoint</Application>
  <PresentationFormat>ワイド画面</PresentationFormat>
  <Paragraphs>128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BIZ UDGothic</vt:lpstr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19</cp:revision>
  <dcterms:created xsi:type="dcterms:W3CDTF">2026-03-02T01:22:39Z</dcterms:created>
  <dcterms:modified xsi:type="dcterms:W3CDTF">2026-04-28T04:53:51Z</dcterms:modified>
</cp:coreProperties>
</file>