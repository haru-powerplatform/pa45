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5" name="Image 25" descr="preencoded.png">
            <a:extLst>
              <a:ext uri="{FF2B5EF4-FFF2-40B4-BE49-F238E27FC236}">
                <a16:creationId xmlns:a16="http://schemas.microsoft.com/office/drawing/2014/main" id="{0CDDA7A4-E7DA-FD1B-1232-21B9D08821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0" y="1"/>
            <a:ext cx="12192000" cy="711403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81305" y="952805"/>
            <a:ext cx="11430000" cy="1920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-19699" y="256250"/>
            <a:ext cx="12305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【Vol.11】 </a:t>
            </a:r>
            <a:r>
              <a:rPr lang="en-US" altLang="ja-JP" sz="3200" b="1" u="sng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</a:t>
            </a:r>
            <a:r>
              <a:rPr lang="ja-JP" altLang="en-US" sz="3200" b="1" u="sng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の解析アクション</a:t>
            </a:r>
            <a:r>
              <a:rPr lang="en-US" altLang="ja-JP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 </a:t>
            </a:r>
            <a:r>
              <a:rPr lang="en-US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文字列</a:t>
            </a:r>
            <a:r>
              <a:rPr lang="ja-JP" altLang="en-US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の塊を</a:t>
            </a:r>
            <a:r>
              <a:rPr lang="en-US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“ほぐす”</a:t>
            </a: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381305" y="1123798"/>
            <a:ext cx="3716122" cy="573420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rcRect l="-10913" r="-10913"/>
          <a:stretch/>
        </p:blipFill>
        <p:spPr>
          <a:xfrm>
            <a:off x="219305" y="1006426"/>
            <a:ext cx="3884472" cy="37648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2591" y="1064565"/>
            <a:ext cx="3117597" cy="31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フロー全体像 &amp; 役割</a:t>
            </a:r>
            <a:endParaRPr lang="en-US" sz="2000"/>
          </a:p>
        </p:txBody>
      </p:sp>
      <p:sp>
        <p:nvSpPr>
          <p:cNvPr id="10" name="Shape 6"/>
          <p:cNvSpPr/>
          <p:nvPr/>
        </p:nvSpPr>
        <p:spPr>
          <a:xfrm>
            <a:off x="599846" y="1457554"/>
            <a:ext cx="3286354" cy="1971446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8"/>
          <p:cNvSpPr/>
          <p:nvPr/>
        </p:nvSpPr>
        <p:spPr>
          <a:xfrm>
            <a:off x="690372" y="2387333"/>
            <a:ext cx="3095244" cy="91440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8042" y="3491179"/>
            <a:ext cx="142646" cy="19019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8042" y="4919472"/>
            <a:ext cx="142646" cy="19019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99846" y="5181905"/>
            <a:ext cx="3286354" cy="1485900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4289730" y="1039928"/>
            <a:ext cx="7682965" cy="3749579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229355" y="1149376"/>
            <a:ext cx="3322882" cy="308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en-US" sz="24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24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</a:t>
            </a:r>
            <a:r>
              <a:rPr lang="ja-JP" altLang="en-US" sz="24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の解析</a:t>
            </a:r>
            <a:r>
              <a:rPr lang="en-US" sz="2400" b="1" err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設定画面</a:t>
            </a:r>
            <a:r>
              <a:rPr lang="en-US" sz="24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2400"/>
          </a:p>
        </p:txBody>
      </p:sp>
      <p:sp>
        <p:nvSpPr>
          <p:cNvPr id="29" name="Shape 20"/>
          <p:cNvSpPr/>
          <p:nvPr/>
        </p:nvSpPr>
        <p:spPr>
          <a:xfrm>
            <a:off x="4573829" y="1676094"/>
            <a:ext cx="2800807" cy="1349185"/>
          </a:xfrm>
          <a:prstGeom prst="roundRect">
            <a:avLst>
              <a:gd name="adj" fmla="val 1345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1"/>
          <p:cNvSpPr txBox="1"/>
          <p:nvPr/>
        </p:nvSpPr>
        <p:spPr>
          <a:xfrm>
            <a:off x="4831690" y="1762049"/>
            <a:ext cx="25621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Content</a:t>
            </a:r>
            <a:endParaRPr lang="en-US" sz="200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173316" y="1556022"/>
            <a:ext cx="501975" cy="50197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678528" y="2112693"/>
            <a:ext cx="2705710" cy="42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 の </a:t>
            </a:r>
          </a:p>
          <a:p>
            <a:pPr marL="0" indent="0" algn="l">
              <a:buNone/>
            </a:pPr>
            <a:r>
              <a:rPr lang="en-US" b="1" err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JsonData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列</a:t>
            </a:r>
          </a:p>
          <a:p>
            <a:pPr marL="0" indent="0" algn="l">
              <a:buNone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</a:t>
            </a:r>
            <a:r>
              <a:rPr lang="en-US" b="1" err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JSON文字列を入れる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Shape 23"/>
          <p:cNvSpPr/>
          <p:nvPr/>
        </p:nvSpPr>
        <p:spPr>
          <a:xfrm>
            <a:off x="4615928" y="3164142"/>
            <a:ext cx="2800807" cy="1349185"/>
          </a:xfrm>
          <a:prstGeom prst="roundRect">
            <a:avLst>
              <a:gd name="adj" fmla="val 1474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4"/>
          <p:cNvSpPr txBox="1"/>
          <p:nvPr/>
        </p:nvSpPr>
        <p:spPr>
          <a:xfrm>
            <a:off x="4842624" y="3274626"/>
            <a:ext cx="2581351" cy="389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Schema</a:t>
            </a:r>
            <a:endParaRPr lang="en-US" sz="1050"/>
          </a:p>
        </p:txBody>
      </p:sp>
      <p:sp>
        <p:nvSpPr>
          <p:cNvPr id="36" name="Text 25"/>
          <p:cNvSpPr txBox="1"/>
          <p:nvPr/>
        </p:nvSpPr>
        <p:spPr>
          <a:xfrm>
            <a:off x="4615928" y="3825903"/>
            <a:ext cx="2943883" cy="50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</a:t>
            </a:r>
            <a:r>
              <a:rPr lang="en-US" b="1" err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サンプルから生成”で作る（自分で書かなくてOK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Shape 26"/>
          <p:cNvSpPr/>
          <p:nvPr/>
        </p:nvSpPr>
        <p:spPr>
          <a:xfrm>
            <a:off x="7518197" y="1144163"/>
            <a:ext cx="4360276" cy="3543718"/>
          </a:xfrm>
          <a:prstGeom prst="roundRect">
            <a:avLst>
              <a:gd name="adj" fmla="val 3841"/>
            </a:avLst>
          </a:prstGeom>
          <a:solidFill>
            <a:srgbClr val="F1F5F9"/>
          </a:solidFill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4300203" y="4818386"/>
            <a:ext cx="7588743" cy="1812333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4663181" y="5041585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r>
              <a:rPr lang="en-US" sz="2800" b="1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“ほぐれた”結果 </a:t>
            </a:r>
            <a:endParaRPr lang="en-US" sz="2800"/>
          </a:p>
        </p:txBody>
      </p:sp>
      <p:sp>
        <p:nvSpPr>
          <p:cNvPr id="44" name="Text 31"/>
          <p:cNvSpPr txBox="1"/>
          <p:nvPr/>
        </p:nvSpPr>
        <p:spPr>
          <a:xfrm>
            <a:off x="4716776" y="5462763"/>
            <a:ext cx="3364195" cy="91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Parse JSON のおかげで、</a:t>
            </a:r>
            <a:endParaRPr lang="en-US"/>
          </a:p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</a:t>
            </a:r>
            <a:r>
              <a:rPr lang="en-US" b="1" err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内の各項目が“選べる</a:t>
            </a:r>
            <a:r>
              <a:rPr lang="en-US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”</a:t>
            </a:r>
          </a:p>
          <a:p>
            <a:pPr marL="0" indent="0" algn="l">
              <a:buNone/>
            </a:pPr>
            <a:r>
              <a:rPr lang="en-US" err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ようになる</a:t>
            </a:r>
            <a:r>
              <a:rPr lang="en-US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/>
          </a:p>
        </p:txBody>
      </p:sp>
      <p:sp>
        <p:nvSpPr>
          <p:cNvPr id="45" name="Shape 32"/>
          <p:cNvSpPr/>
          <p:nvPr/>
        </p:nvSpPr>
        <p:spPr>
          <a:xfrm>
            <a:off x="7850814" y="5341074"/>
            <a:ext cx="3770472" cy="1223012"/>
          </a:xfrm>
          <a:prstGeom prst="roundRect">
            <a:avLst>
              <a:gd name="adj" fmla="val 18180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0"/>
          <a:srcRect l="-1677" r="-1677"/>
          <a:stretch/>
        </p:blipFill>
        <p:spPr>
          <a:xfrm>
            <a:off x="8311129" y="5628785"/>
            <a:ext cx="556561" cy="615425"/>
          </a:xfrm>
          <a:prstGeom prst="rect">
            <a:avLst/>
          </a:prstGeom>
        </p:spPr>
      </p:pic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1"/>
          <a:srcRect l="-27" r="-27"/>
          <a:stretch/>
        </p:blipFill>
        <p:spPr>
          <a:xfrm>
            <a:off x="9364370" y="4000500"/>
            <a:ext cx="428854" cy="342900"/>
          </a:xfrm>
          <a:prstGeom prst="rect">
            <a:avLst/>
          </a:prstGeom>
        </p:spPr>
      </p:pic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1228954" y="6100877"/>
            <a:ext cx="105156" cy="114300"/>
          </a:xfrm>
          <a:prstGeom prst="rect">
            <a:avLst/>
          </a:prstGeom>
        </p:spPr>
      </p:pic>
      <p:sp>
        <p:nvSpPr>
          <p:cNvPr id="72" name="Shape 50"/>
          <p:cNvSpPr/>
          <p:nvPr/>
        </p:nvSpPr>
        <p:spPr>
          <a:xfrm>
            <a:off x="599846" y="3752698"/>
            <a:ext cx="3286354" cy="1104595"/>
          </a:xfrm>
          <a:prstGeom prst="roundRect">
            <a:avLst>
              <a:gd name="adj" fmla="val 17127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2AC31C02-FE23-C818-E998-44AA74112BF9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568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C487518B-DC93-644F-59BB-2109D2710CB7}"/>
              </a:ext>
            </a:extLst>
          </p:cNvPr>
          <p:cNvSpPr txBox="1"/>
          <p:nvPr/>
        </p:nvSpPr>
        <p:spPr>
          <a:xfrm>
            <a:off x="1065226" y="2318171"/>
            <a:ext cx="2642667" cy="110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{"name":"</a:t>
            </a:r>
            <a:r>
              <a:rPr lang="ja-JP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田中太郎</a:t>
            </a:r>
            <a:r>
              <a:rPr lang="en-US" altLang="ja-JP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","amount":40000,</a:t>
            </a:r>
          </a:p>
          <a:p>
            <a:r>
              <a:rPr lang="en-US" altLang="ja-JP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"approved":true}</a:t>
            </a:r>
            <a:endParaRPr lang="en-US" sz="1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3" name="図 8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07B5491-6CB3-55A1-7437-96DBDC6748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544" y="3940086"/>
            <a:ext cx="2985580" cy="699062"/>
          </a:xfrm>
          <a:prstGeom prst="rect">
            <a:avLst/>
          </a:prstGeom>
          <a:ln w="47625">
            <a:solidFill>
              <a:srgbClr val="C00000"/>
            </a:solidFill>
          </a:ln>
        </p:spPr>
      </p:pic>
      <p:pic>
        <p:nvPicPr>
          <p:cNvPr id="85" name="図 8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DD864EA3-0205-DBE9-A678-3EFCE51FF9A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283" y="5293643"/>
            <a:ext cx="2728464" cy="1262423"/>
          </a:xfrm>
          <a:prstGeom prst="rect">
            <a:avLst/>
          </a:prstGeom>
        </p:spPr>
      </p:pic>
      <p:pic>
        <p:nvPicPr>
          <p:cNvPr id="87" name="図 8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80471EF-F0F9-4105-A92B-1A89447534F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68414"/>
          <a:stretch>
            <a:fillRect/>
          </a:stretch>
        </p:blipFill>
        <p:spPr>
          <a:xfrm>
            <a:off x="7559437" y="1283036"/>
            <a:ext cx="3680724" cy="1811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8" name="図 8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CA36A38-183B-FB36-4F26-83CD5EDD9DF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33221" b="8879"/>
          <a:stretch>
            <a:fillRect/>
          </a:stretch>
        </p:blipFill>
        <p:spPr>
          <a:xfrm>
            <a:off x="8589410" y="1667868"/>
            <a:ext cx="3221285" cy="29067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9" name="Image 13" descr="preencoded.png">
            <a:extLst>
              <a:ext uri="{FF2B5EF4-FFF2-40B4-BE49-F238E27FC236}">
                <a16:creationId xmlns:a16="http://schemas.microsoft.com/office/drawing/2014/main" id="{6576A76C-1CF5-66DC-DEF8-0FCB9C046DF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27" r="-27"/>
          <a:stretch/>
        </p:blipFill>
        <p:spPr>
          <a:xfrm>
            <a:off x="4141890" y="4893527"/>
            <a:ext cx="660480" cy="528102"/>
          </a:xfrm>
          <a:prstGeom prst="rect">
            <a:avLst/>
          </a:prstGeom>
        </p:spPr>
      </p:pic>
      <p:sp>
        <p:nvSpPr>
          <p:cNvPr id="90" name="矢印: 右 89">
            <a:extLst>
              <a:ext uri="{FF2B5EF4-FFF2-40B4-BE49-F238E27FC236}">
                <a16:creationId xmlns:a16="http://schemas.microsoft.com/office/drawing/2014/main" id="{E4387599-30EB-25FE-CE74-806B4DA5483E}"/>
              </a:ext>
            </a:extLst>
          </p:cNvPr>
          <p:cNvSpPr/>
          <p:nvPr/>
        </p:nvSpPr>
        <p:spPr>
          <a:xfrm>
            <a:off x="3893397" y="4067125"/>
            <a:ext cx="530228" cy="425781"/>
          </a:xfrm>
          <a:prstGeom prst="rightArrow">
            <a:avLst/>
          </a:prstGeom>
          <a:solidFill>
            <a:srgbClr val="FFFF00"/>
          </a:solidFill>
          <a:ln w="539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  <p:pic>
        <p:nvPicPr>
          <p:cNvPr id="92" name="図 91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6B170BBE-D7FB-D2CE-991C-4CA3A869A7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7436" y="1489298"/>
            <a:ext cx="2370077" cy="828752"/>
          </a:xfrm>
          <a:prstGeom prst="rect">
            <a:avLst/>
          </a:prstGeom>
        </p:spPr>
      </p:pic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4153714" y="3484329"/>
            <a:ext cx="420115" cy="490693"/>
          </a:xfrm>
          <a:prstGeom prst="rect">
            <a:avLst/>
          </a:prstGeom>
        </p:spPr>
      </p:pic>
      <p:pic>
        <p:nvPicPr>
          <p:cNvPr id="94" name="図 9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29E2F79-E230-3827-668B-F626F1634ED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64898" y="5289408"/>
            <a:ext cx="2051669" cy="13739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6" name="図 9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FFF9DB2-E162-3D79-E8E5-2AA78BE3863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451" y="1039928"/>
            <a:ext cx="1149658" cy="11496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7" name="図 96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EAFAD9D-1BA3-C843-72E2-53B27F9F4C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42" y="5148141"/>
            <a:ext cx="1593067" cy="1593067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7787898" y="4905827"/>
            <a:ext cx="3833388" cy="343135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3"/>
          <p:cNvSpPr txBox="1"/>
          <p:nvPr/>
        </p:nvSpPr>
        <p:spPr>
          <a:xfrm>
            <a:off x="8060803" y="4936265"/>
            <a:ext cx="3656124" cy="319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動的コンテンツとして登場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矢印: 右 97">
            <a:extLst>
              <a:ext uri="{FF2B5EF4-FFF2-40B4-BE49-F238E27FC236}">
                <a16:creationId xmlns:a16="http://schemas.microsoft.com/office/drawing/2014/main" id="{E604966F-8E18-20CE-DF62-91FCB7EDB451}"/>
              </a:ext>
            </a:extLst>
          </p:cNvPr>
          <p:cNvSpPr/>
          <p:nvPr/>
        </p:nvSpPr>
        <p:spPr>
          <a:xfrm>
            <a:off x="3846616" y="5842808"/>
            <a:ext cx="530228" cy="425781"/>
          </a:xfrm>
          <a:prstGeom prst="rightArrow">
            <a:avLst/>
          </a:prstGeom>
          <a:solidFill>
            <a:srgbClr val="FFFF00"/>
          </a:solidFill>
          <a:ln w="539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  <p:pic>
        <p:nvPicPr>
          <p:cNvPr id="100" name="図 99" descr="The image depicts a minimalist design featuring three spherical shapes, each with a different color - one green, one blue, and one grey - arranged in a circular pattern, with a white background and a blue, square 'S' icon in the center.&#10;&#10;AI 生成コンテンツは誤りを含む可能性があります。">
            <a:extLst>
              <a:ext uri="{FF2B5EF4-FFF2-40B4-BE49-F238E27FC236}">
                <a16:creationId xmlns:a16="http://schemas.microsoft.com/office/drawing/2014/main" id="{140E1B21-F064-7885-ED8A-212D86E4385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000" b="90000" l="10000" r="90000">
                        <a14:foregroundMark x1="35352" y1="42773" x2="34570" y2="52930"/>
                        <a14:foregroundMark x1="34570" y1="52930" x2="26758" y2="57031"/>
                        <a14:foregroundMark x1="36133" y1="56836" x2="36133" y2="56836"/>
                        <a14:foregroundMark x1="28906" y1="60547" x2="27148" y2="60352"/>
                        <a14:foregroundMark x1="26367" y1="60352" x2="26367" y2="60352"/>
                        <a14:foregroundMark x1="26953" y1="60156" x2="32422" y2="60156"/>
                        <a14:foregroundMark x1="36719" y1="60547" x2="37500" y2="59570"/>
                        <a14:foregroundMark x1="38086" y1="58984" x2="37695" y2="58203"/>
                        <a14:foregroundMark x1="29297" y1="48242" x2="29297" y2="48242"/>
                        <a14:foregroundMark x1="28711" y1="47852" x2="28711" y2="46680"/>
                        <a14:foregroundMark x1="28125" y1="44336" x2="28516" y2="42969"/>
                        <a14:foregroundMark x1="29492" y1="42773" x2="32227" y2="42383"/>
                        <a14:foregroundMark x1="32617" y1="41992" x2="32617" y2="419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381" t="14057" r="11672" b="14971"/>
          <a:stretch>
            <a:fillRect/>
          </a:stretch>
        </p:blipFill>
        <p:spPr>
          <a:xfrm>
            <a:off x="265088" y="2821557"/>
            <a:ext cx="785507" cy="724524"/>
          </a:xfrm>
          <a:prstGeom prst="rect">
            <a:avLst/>
          </a:prstGeom>
        </p:spPr>
      </p:pic>
      <p:pic>
        <p:nvPicPr>
          <p:cNvPr id="102" name="図 101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A9A4BAE0-3842-728F-D906-0F34283BD75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6333" b="90000" l="9500" r="90000">
                        <a14:foregroundMark x1="41500" y1="23333" x2="32750" y2="23417"/>
                        <a14:foregroundMark x1="32750" y1="23417" x2="42583" y2="17583"/>
                        <a14:foregroundMark x1="74667" y1="30917" x2="75417" y2="23750"/>
                        <a14:foregroundMark x1="75417" y1="23750" x2="70667" y2="27833"/>
                        <a14:foregroundMark x1="41500" y1="10667" x2="33250" y2="15250"/>
                        <a14:foregroundMark x1="33250" y1="15250" x2="33167" y2="15250"/>
                        <a14:foregroundMark x1="49167" y1="16667" x2="49167" y2="16667"/>
                        <a14:foregroundMark x1="43833" y1="9167" x2="43833" y2="9167"/>
                        <a14:foregroundMark x1="43833" y1="9167" x2="43833" y2="9167"/>
                        <a14:foregroundMark x1="8917" y1="54333" x2="9500" y2="74250"/>
                        <a14:foregroundMark x1="9500" y1="74250" x2="11000" y2="74667"/>
                        <a14:foregroundMark x1="22500" y1="57167" x2="33833" y2="56500"/>
                        <a14:foregroundMark x1="24917" y1="57500" x2="25917" y2="72917"/>
                        <a14:foregroundMark x1="25917" y1="72917" x2="26667" y2="73667"/>
                        <a14:foregroundMark x1="38000" y1="6333" x2="38000" y2="6333"/>
                        <a14:foregroundMark x1="47667" y1="12750" x2="47667" y2="12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03" y="5802888"/>
            <a:ext cx="919464" cy="919464"/>
          </a:xfrm>
          <a:prstGeom prst="rect">
            <a:avLst/>
          </a:prstGeom>
        </p:spPr>
      </p:pic>
      <p:pic>
        <p:nvPicPr>
          <p:cNvPr id="103" name="図 102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23E1128-5D4C-9397-E5B2-27C9DBDD5D2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210" y="2477450"/>
            <a:ext cx="1057951" cy="1178775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7BBD6FA5-7872-AC5F-073A-D29125D80F03}"/>
              </a:ext>
            </a:extLst>
          </p:cNvPr>
          <p:cNvSpPr txBox="1"/>
          <p:nvPr/>
        </p:nvSpPr>
        <p:spPr>
          <a:xfrm rot="186675">
            <a:off x="2127299" y="2060787"/>
            <a:ext cx="2549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塊で読みにくい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…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9B06B94D-7DA9-5697-B595-BAFAE513ED35}"/>
              </a:ext>
            </a:extLst>
          </p:cNvPr>
          <p:cNvSpPr txBox="1"/>
          <p:nvPr/>
        </p:nvSpPr>
        <p:spPr>
          <a:xfrm rot="186675">
            <a:off x="2234597" y="4507364"/>
            <a:ext cx="2279177" cy="400110"/>
          </a:xfrm>
          <a:prstGeom prst="rect">
            <a:avLst/>
          </a:prstGeom>
          <a:noFill/>
          <a:effectLst>
            <a:glow rad="88900">
              <a:srgbClr val="0000CC"/>
            </a:glow>
          </a:effectLst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塊をほぐす！</a:t>
            </a:r>
            <a:endParaRPr lang="en-US" altLang="ja-JP" sz="2000" b="1">
              <a:solidFill>
                <a:schemeClr val="bg1"/>
              </a:solidFill>
              <a:effectLst>
                <a:glow rad="127000">
                  <a:srgbClr val="0000CC"/>
                </a:glow>
              </a:effectLst>
            </a:endParaRP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D57C1401-5879-D9F5-6D58-8C607D5F1E58}"/>
              </a:ext>
            </a:extLst>
          </p:cNvPr>
          <p:cNvSpPr txBox="1"/>
          <p:nvPr/>
        </p:nvSpPr>
        <p:spPr>
          <a:xfrm>
            <a:off x="4552664" y="6352459"/>
            <a:ext cx="4778935" cy="400110"/>
          </a:xfrm>
          <a:prstGeom prst="rect">
            <a:avLst/>
          </a:prstGeom>
          <a:noFill/>
          <a:effectLst>
            <a:glow rad="88900">
              <a:srgbClr val="0000CC"/>
            </a:glow>
          </a:effectLst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JSON</a:t>
            </a:r>
            <a:r>
              <a:rPr lang="ja-JP" altLang="en-US" sz="20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の塊がほぐれて使いやすくなる！</a:t>
            </a:r>
            <a:endParaRPr lang="en-US" altLang="ja-JP" sz="2000" b="1">
              <a:solidFill>
                <a:schemeClr val="bg1"/>
              </a:solidFill>
              <a:effectLst>
                <a:glow rad="127000">
                  <a:srgbClr val="0000CC"/>
                </a:glo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