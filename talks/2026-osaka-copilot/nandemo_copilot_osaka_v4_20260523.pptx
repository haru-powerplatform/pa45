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eiryo UI"/>
                <a:ea typeface="Meiryo UI"/>
              </a:rPr>
              <a:t>今、この景色が見えています。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eiryo UI"/>
                <a:ea typeface="Meiryo UI"/>
              </a:rPr>
              <a:t>― Copilot という相棒の話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  <a:ea typeface="Meiryo UI"/>
              </a:rPr>
              <a:t>なんでもCopilot 大阪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eiryo UI"/>
                <a:ea typeface="Meiryo UI"/>
              </a:rPr>
              <a:t>はる（Haru） / マツダ株式会社 パワートレイン技術部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Meiryo UI"/>
                <a:ea typeface="Meiryo UI"/>
              </a:rPr>
              <a:t>Power Automate ハンズオン勉強会 PA45 主催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自己紹介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マツダ株式会社 パワートレイン技術部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Meiryo UI"/>
                <a:ea typeface="Meiryo UI"/>
              </a:rPr>
              <a:t>入社18年目 / 42歳 / 社内 Power Platform 推進リーダー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A33"/>
                </a:solidFill>
                <a:latin typeface="Meiryo UI"/>
                <a:ea typeface="Meiryo UI"/>
              </a:rPr>
              <a:t>私、ITの専門家じゃないんです。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コードも、ほぼ書けません。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5年前の私は 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・ コードは書けない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3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・ 社内で目立つこともなかった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・ 人前で話すのは、想像するだけで胃が痛いタイプ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6A33"/>
                </a:solidFill>
                <a:latin typeface="Meiryo UI"/>
                <a:ea typeface="Meiryo UI"/>
              </a:rPr>
              <a:t>壇上に立つ自分の景色なんて、</a:t>
            </a:r>
          </a:p>
          <a:p>
            <a:pPr algn="l"/>
            <a:r>
              <a:rPr sz="3200" b="1">
                <a:solidFill>
                  <a:srgbClr val="E86A33"/>
                </a:solidFill>
                <a:latin typeface="Meiryo UI"/>
                <a:ea typeface="Meiryo UI"/>
              </a:rPr>
              <a:t>1ミリも想像できなかった。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3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あの日、Copilotに話しかけた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03200" bIns="203200"/>
          <a:lstStyle/>
          <a:p>
            <a:pPr algn="ctr"/>
            <a:r>
              <a:rPr sz="3400" b="1">
                <a:solidFill>
                  <a:srgbClr val="142A5C"/>
                </a:solidFill>
                <a:latin typeface="Meiryo UI"/>
                <a:ea typeface="Meiryo UI"/>
              </a:rPr>
              <a:t>「最近やってること、ちょっと整理したいんだけど」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社内講座のこと、配ったフローのこと、コミュニティのこと。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頭の中にバラバラに散らかっていた。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Meiryo UI"/>
                <a:ea typeface="Meiryo UI"/>
              </a:rPr>
              <a:t>聞き役になってもらおう、くらいのつもりだった。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Meiryo UI"/>
                <a:ea typeface="Meiryo UI"/>
              </a:rPr>
              <a:t>整理が進むうちに、ふと 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03200" bIns="203200"/>
          <a:lstStyle/>
          <a:p>
            <a:pPr algn="ctr"/>
            <a:r>
              <a:rPr sz="3800" b="1">
                <a:solidFill>
                  <a:srgbClr val="142A5C"/>
                </a:solidFill>
                <a:latin typeface="Meiryo UI"/>
                <a:ea typeface="Meiryo UI"/>
              </a:rPr>
              <a:t>あれ。これ、人に話せる中身なんじゃない？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話せる中身は、ずっと私の中にあった。</a:t>
            </a:r>
          </a:p>
          <a:p>
            <a:pPr algn="l"/>
            <a:r>
              <a:rPr sz="2600" b="0">
                <a:solidFill>
                  <a:srgbClr val="222222"/>
                </a:solidFill>
                <a:latin typeface="Meiryo UI"/>
                <a:ea typeface="Meiryo UI"/>
              </a:rPr>
              <a:t>でも、自分では取り出せていなかった。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Copilotは、私の中にあったものを</a:t>
            </a:r>
          </a:p>
          <a:p>
            <a:pPr algn="l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私が見える形に並べ直してくれた。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2A5C"/>
                </a:solidFill>
                <a:latin typeface="Meiryo UI"/>
                <a:ea typeface="Meiryo UI"/>
              </a:rPr>
              <a:t>そこから、勢いだった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・「なんでもCopilot 大阪、登壇してみよう」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Meiryo UI"/>
                <a:ea typeface="Meiryo UI"/>
              </a:rPr>
              <a:t>・申し込み文も、自己紹介文も、Copilotと一緒に書いた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A33"/>
                </a:solidFill>
                <a:latin typeface="Meiryo UI"/>
                <a:ea typeface="Meiryo UI"/>
              </a:rPr>
              <a:t>そして今、</a:t>
            </a:r>
          </a:p>
          <a:p>
            <a:pPr algn="l"/>
            <a:r>
              <a:rPr sz="4000" b="1">
                <a:solidFill>
                  <a:srgbClr val="E86A33"/>
                </a:solidFill>
                <a:latin typeface="Meiryo UI"/>
                <a:ea typeface="Meiryo UI"/>
              </a:rPr>
              <a:t>この景色の中にいます。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2A5C"/>
                </a:solidFill>
                <a:latin typeface="Meiryo UI"/>
                <a:ea typeface="Meiryo UI"/>
              </a:rPr>
              <a:t>振り返ると、登壇だけじゃなかった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景色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5C"/>
                </a:solidFill>
                <a:latin typeface="Meiryo UI"/>
                <a:ea typeface="Meiryo UI"/>
              </a:rPr>
              <a:t>PA45 を主催している自分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488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eiryo UI"/>
                <a:ea typeface="Meiryo UI"/>
              </a:rPr>
              <a:t>Vol.10 まで開催。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Meiryo UI"/>
                <a:ea typeface="Meiryo UI"/>
              </a:rPr>
              <a:t>「メモを動画にして共有したら？」のノリで始まった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景色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63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5C"/>
                </a:solidFill>
                <a:latin typeface="Meiryo UI"/>
                <a:ea typeface="Meiryo UI"/>
              </a:rPr>
              <a:t>社内 Power Platform 推進リーダー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661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eiryo UI"/>
                <a:ea typeface="Meiryo UI"/>
              </a:rPr>
              <a:t>非ITだった人間が「自動化といえばはる」と呼ばれる立場に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景色 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805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A5C"/>
                </a:solidFill>
                <a:latin typeface="Meiryo UI"/>
                <a:ea typeface="Meiryo UI"/>
              </a:rPr>
              <a:t>配ったフローが社内で動き続けている景色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834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eiryo UI"/>
                <a:ea typeface="Meiryo UI"/>
              </a:rPr>
              <a:t>累計 10万回 以上実行 / 1,000万円 以上のコスト削減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7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B6B6B"/>
                </a:solidFill>
                <a:latin typeface="Meiryo UI"/>
                <a:ea typeface="Meiryo UI"/>
              </a:rPr>
              <a:t>どの景色にも、共通点があった。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Meiryo UI"/>
                <a:ea typeface="Meiryo UI"/>
              </a:rPr>
              <a:t>新しいことを Copilot に教えてもらった、わけじゃない。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6A33"/>
                </a:solidFill>
                <a:latin typeface="Meiryo UI"/>
                <a:ea typeface="Meiryo UI"/>
              </a:rPr>
              <a:t>私の中にあったものを、</a:t>
            </a:r>
          </a:p>
          <a:p>
            <a:pPr algn="l"/>
            <a:r>
              <a:rPr sz="3600" b="1">
                <a:solidFill>
                  <a:srgbClr val="E86A33"/>
                </a:solidFill>
                <a:latin typeface="Meiryo UI"/>
                <a:ea typeface="Meiryo UI"/>
              </a:rPr>
              <a:t>Copilotが取り出して、形にしてくれた。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eiryo UI"/>
                <a:ea typeface="Meiryo UI"/>
              </a:rPr>
              <a:t>Copilot の正体を、定義し直したい。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eiryo UI"/>
                <a:ea typeface="Meiryo UI"/>
              </a:rPr>
              <a:t>効率化ツールです。確かに。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6EEF7"/>
                </a:solidFill>
                <a:latin typeface="Meiryo UI"/>
                <a:ea typeface="Meiryo UI"/>
              </a:rPr>
              <a:t>PowerPoint・Word・分析・Cowork・Microsoft 365…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eiryo UI"/>
                <a:ea typeface="Meiryo UI"/>
              </a:rPr>
              <a:t>でも、私にとっての一番の正体は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E86A33"/>
                </a:solidFill>
                <a:latin typeface="Meiryo UI"/>
                <a:ea typeface="Meiryo UI"/>
              </a:rPr>
              <a:t>新しい景色を見せてくれる相棒。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09728" cy="54864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2A5C"/>
                </a:solidFill>
                <a:latin typeface="Meiryo UI"/>
                <a:ea typeface="Meiryo UI"/>
              </a:rPr>
              <a:t>おうちで、これを書き出してみてください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39496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/>
            <a:r>
              <a:rPr sz="2200" b="1">
                <a:solidFill>
                  <a:srgbClr val="E86A33"/>
                </a:solidFill>
                <a:latin typeface="Meiryo UI"/>
                <a:ea typeface="Meiryo UI"/>
              </a:rPr>
              <a:t>心からやりたいこと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/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・登壇してみたい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・知識をまとめて見せたい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・勉強会を開いてみたい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828800"/>
            <a:ext cx="539496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/>
            <a:r>
              <a:rPr sz="2200" b="1">
                <a:solidFill>
                  <a:srgbClr val="142A5C"/>
                </a:solidFill>
                <a:latin typeface="Meiryo UI"/>
                <a:ea typeface="Meiryo UI"/>
              </a:rPr>
              <a:t>そこまでの壁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/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・スライドが、話す内容が…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・サイトの作り方が…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・告知文が、人が来るか…</a:t>
            </a:r>
          </a:p>
          <a:p>
            <a:r>
              <a:rPr sz="1800">
                <a:solidFill>
                  <a:srgbClr val="222222"/>
                </a:solidFill>
                <a:latin typeface="Meiryo UI"/>
                <a:ea typeface="Meiryo UI"/>
              </a:rPr>
              <a:t>・…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E86A33"/>
                </a:solidFill>
                <a:latin typeface="Meiryo UI"/>
                <a:ea typeface="Meiryo UI"/>
              </a:rPr>
              <a:t>書き出した瞬間に、相棒の出番が見えます。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Meiryo UI"/>
                <a:ea typeface="Meiryo UI"/>
              </a:rPr>
              <a:t>そして気づくかも ―「話せる中身、もう自分の中にあった」と。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10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 UI"/>
                <a:ea typeface="Meiryo UI"/>
              </a:rPr>
              <a:t>今、私からは、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Meiryo UI"/>
                <a:ea typeface="Meiryo UI"/>
              </a:rPr>
              <a:t>この景色が見えています。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A33"/>
                </a:solidFill>
                <a:latin typeface="Meiryo UI"/>
                <a:ea typeface="Meiryo UI"/>
              </a:rPr>
              <a:t>この景色を、見せてくれたのが、</a:t>
            </a:r>
          </a:p>
          <a:p>
            <a:pPr algn="l"/>
            <a:r>
              <a:rPr sz="4000" b="1">
                <a:solidFill>
                  <a:srgbClr val="E86A33"/>
                </a:solidFill>
                <a:latin typeface="Meiryo UI"/>
                <a:ea typeface="Meiryo UI"/>
              </a:rPr>
              <a:t>相棒です。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3796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eiryo UI"/>
                <a:ea typeface="Meiryo UI"/>
              </a:rPr>
              <a:t>なんでもCopilot 大阪 / はる（マツダ）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142A5C"/>
                </a:solidFill>
                <a:latin typeface="Meiryo UI"/>
                <a:ea typeface="Meiryo UI"/>
              </a:rPr>
              <a:t>ありがとうございました。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Meiryo UI"/>
                <a:ea typeface="Meiryo UI"/>
              </a:rPr>
              <a:t>懇親会で、みなさんの「やりたいこと」と「壁」、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Meiryo UI"/>
                <a:ea typeface="Meiryo UI"/>
              </a:rPr>
              <a:t>ぜひ聞かせてください。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Meiryo UI"/>
                <a:ea typeface="Meiryo UI"/>
              </a:rPr>
              <a:t>はる（Haru） / マツダ パワートレイン技術部 / PA45主催 / automate136.com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