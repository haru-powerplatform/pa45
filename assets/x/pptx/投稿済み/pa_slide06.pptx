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" name="四角形: 角を丸くする 82">
            <a:extLst>
              <a:ext uri="{FF2B5EF4-FFF2-40B4-BE49-F238E27FC236}">
                <a16:creationId xmlns:a16="http://schemas.microsoft.com/office/drawing/2014/main" id="{F1D7B103-B9E3-383F-4733-22C0D165E73F}"/>
              </a:ext>
            </a:extLst>
          </p:cNvPr>
          <p:cNvSpPr/>
          <p:nvPr/>
        </p:nvSpPr>
        <p:spPr>
          <a:xfrm>
            <a:off x="120645" y="1962651"/>
            <a:ext cx="3964621" cy="3185793"/>
          </a:xfrm>
          <a:prstGeom prst="roundRect">
            <a:avLst>
              <a:gd name="adj" fmla="val 9321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363D8100-4D4C-33ED-4E5F-202F355F29E7}"/>
              </a:ext>
            </a:extLst>
          </p:cNvPr>
          <p:cNvSpPr/>
          <p:nvPr/>
        </p:nvSpPr>
        <p:spPr>
          <a:xfrm>
            <a:off x="6858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54659BC-3106-B7A3-7776-6581327CB2EA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5942652-F290-B7CA-21E8-7A921BF03941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</a:t>
            </a: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.17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99F5B7C-84A5-4AA3-276A-0FB05D90F0D0}"/>
              </a:ext>
            </a:extLst>
          </p:cNvPr>
          <p:cNvSpPr txBox="1"/>
          <p:nvPr/>
        </p:nvSpPr>
        <p:spPr>
          <a:xfrm>
            <a:off x="1826709" y="148227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  :  </a:t>
            </a:r>
            <a:r>
              <a:rPr lang="en-US" altLang="ja-JP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の解析 処理が苦手な人向け</a:t>
            </a:r>
            <a:endParaRPr lang="en-US" sz="27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3B5B3E20-456C-B0D0-CF91-00CD3B9B47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061" y="804964"/>
            <a:ext cx="11895839" cy="914400"/>
          </a:xfrm>
          <a:prstGeom prst="rect">
            <a:avLst/>
          </a:prstGeom>
        </p:spPr>
      </p:pic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15A189AC-B42D-C99D-CA63-1AF2F8A247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1" b="-31"/>
          <a:stretch/>
        </p:blipFill>
        <p:spPr>
          <a:xfrm>
            <a:off x="541578" y="1048995"/>
            <a:ext cx="342900" cy="495605"/>
          </a:xfrm>
          <a:prstGeom prst="rect">
            <a:avLst/>
          </a:prstGeom>
        </p:spPr>
      </p:pic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13A993CE-8C9E-9067-2B55-5287DEB6EC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6423" b="-16423"/>
          <a:stretch/>
        </p:blipFill>
        <p:spPr>
          <a:xfrm>
            <a:off x="626617" y="1134034"/>
            <a:ext cx="171907" cy="304495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75FF28F1-BBB5-E316-7123-679FABC1EA75}"/>
              </a:ext>
            </a:extLst>
          </p:cNvPr>
          <p:cNvSpPr txBox="1"/>
          <p:nvPr/>
        </p:nvSpPr>
        <p:spPr>
          <a:xfrm>
            <a:off x="1354497" y="1047499"/>
            <a:ext cx="10573858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必要なところだけつまむ</a:t>
            </a:r>
            <a:r>
              <a:rPr lang="en-US" altLang="ja-JP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</a:t>
            </a:r>
            <a:r>
              <a:rPr lang="en-US" altLang="ja-JP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】</a:t>
            </a:r>
            <a:r>
              <a:rPr lang="ja-JP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r>
              <a:rPr lang="ja-JP" alt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“ライト</a:t>
            </a:r>
            <a:r>
              <a:rPr lang="en-US" altLang="ja-JP" sz="4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処理”</a:t>
            </a:r>
            <a:endParaRPr lang="en-US" sz="2800" dirty="0">
              <a:solidFill>
                <a:srgbClr val="0000CC"/>
              </a:solidFill>
            </a:endParaRPr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D377923E-6C7E-FDB9-C11D-70325016A1FF}"/>
              </a:ext>
            </a:extLst>
          </p:cNvPr>
          <p:cNvSpPr txBox="1"/>
          <p:nvPr/>
        </p:nvSpPr>
        <p:spPr>
          <a:xfrm>
            <a:off x="11367821" y="6514472"/>
            <a:ext cx="676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#PA45</a:t>
            </a:r>
            <a:endParaRPr lang="en-US" sz="1300" dirty="0"/>
          </a:p>
        </p:txBody>
      </p:sp>
      <p:pic>
        <p:nvPicPr>
          <p:cNvPr id="62" name="Image 26" descr="preencoded.png">
            <a:extLst>
              <a:ext uri="{FF2B5EF4-FFF2-40B4-BE49-F238E27FC236}">
                <a16:creationId xmlns:a16="http://schemas.microsoft.com/office/drawing/2014/main" id="{1F3E71C2-2AE3-69BA-587D-83801162F6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41172" y="2599937"/>
            <a:ext cx="1943671" cy="1334010"/>
          </a:xfrm>
          <a:prstGeom prst="rect">
            <a:avLst/>
          </a:prstGeom>
        </p:spPr>
      </p:pic>
      <p:sp>
        <p:nvSpPr>
          <p:cNvPr id="80" name="Text 37">
            <a:extLst>
              <a:ext uri="{FF2B5EF4-FFF2-40B4-BE49-F238E27FC236}">
                <a16:creationId xmlns:a16="http://schemas.microsoft.com/office/drawing/2014/main" id="{44AA5677-B04F-78F2-78E2-BEC45295A078}"/>
              </a:ext>
            </a:extLst>
          </p:cNvPr>
          <p:cNvSpPr txBox="1"/>
          <p:nvPr/>
        </p:nvSpPr>
        <p:spPr>
          <a:xfrm>
            <a:off x="446858" y="5223425"/>
            <a:ext cx="217091" cy="356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!</a:t>
            </a:r>
            <a:endParaRPr lang="en-US" sz="2400" dirty="0"/>
          </a:p>
        </p:txBody>
      </p:sp>
      <p:sp>
        <p:nvSpPr>
          <p:cNvPr id="86" name="Text 6">
            <a:extLst>
              <a:ext uri="{FF2B5EF4-FFF2-40B4-BE49-F238E27FC236}">
                <a16:creationId xmlns:a16="http://schemas.microsoft.com/office/drawing/2014/main" id="{F528FB24-6EB5-7477-45E4-F5C97E40A13E}"/>
              </a:ext>
            </a:extLst>
          </p:cNvPr>
          <p:cNvSpPr txBox="1"/>
          <p:nvPr/>
        </p:nvSpPr>
        <p:spPr>
          <a:xfrm>
            <a:off x="4523543" y="2375698"/>
            <a:ext cx="2717855" cy="9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88900">
                    <a:srgbClr val="0000CC"/>
                  </a:glow>
                </a:effectLst>
                <a:latin typeface="Noto Sans JP" pitchFamily="34" charset="0"/>
                <a:ea typeface="Noto Sans JP" pitchFamily="34" charset="-122"/>
              </a:rPr>
              <a:t>そんな時は、</a:t>
            </a:r>
            <a:endParaRPr lang="en-US" altLang="ja-JP" sz="2000" b="1">
              <a:solidFill>
                <a:schemeClr val="bg1"/>
              </a:solidFill>
              <a:effectLst>
                <a:glow rad="88900">
                  <a:srgbClr val="0000CC"/>
                </a:glow>
              </a:effectLst>
              <a:latin typeface="Noto Sans JP" pitchFamily="34" charset="0"/>
              <a:ea typeface="Noto Sans JP" pitchFamily="34" charset="-122"/>
            </a:endParaRPr>
          </a:p>
          <a:p>
            <a:pPr marL="0" indent="0" algn="l">
              <a:buNone/>
            </a:pPr>
            <a:r>
              <a:rPr lang="en-US" altLang="ja-JP" sz="2000" b="1">
                <a:solidFill>
                  <a:schemeClr val="bg1"/>
                </a:solidFill>
                <a:effectLst>
                  <a:glow rad="88900">
                    <a:srgbClr val="0000CC"/>
                  </a:glow>
                </a:effectLst>
                <a:latin typeface="Noto Sans JP" pitchFamily="34" charset="0"/>
                <a:ea typeface="Noto Sans JP" pitchFamily="34" charset="-122"/>
              </a:rPr>
              <a:t>Parse JSON</a:t>
            </a:r>
            <a:r>
              <a:rPr lang="ja-JP" altLang="en-US" sz="2000" b="1">
                <a:solidFill>
                  <a:schemeClr val="bg1"/>
                </a:solidFill>
                <a:effectLst>
                  <a:glow rad="88900">
                    <a:srgbClr val="0000CC"/>
                  </a:glow>
                </a:effectLst>
                <a:latin typeface="Noto Sans JP" pitchFamily="34" charset="0"/>
                <a:ea typeface="Noto Sans JP" pitchFamily="34" charset="-122"/>
              </a:rPr>
              <a:t>不要！</a:t>
            </a:r>
            <a:endParaRPr lang="en-US" altLang="ja-JP" sz="2000" b="1">
              <a:solidFill>
                <a:schemeClr val="bg1"/>
              </a:solidFill>
              <a:effectLst>
                <a:glow rad="88900">
                  <a:srgbClr val="0000CC"/>
                </a:glow>
              </a:effectLst>
              <a:latin typeface="Noto Sans JP" pitchFamily="34" charset="0"/>
              <a:ea typeface="Noto Sans JP" pitchFamily="34" charset="-122"/>
            </a:endParaRPr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8BC6C2F3-DAED-9E49-8873-F4CD19C6474B}"/>
              </a:ext>
            </a:extLst>
          </p:cNvPr>
          <p:cNvSpPr txBox="1"/>
          <p:nvPr/>
        </p:nvSpPr>
        <p:spPr>
          <a:xfrm>
            <a:off x="666598" y="2708659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sp>
        <p:nvSpPr>
          <p:cNvPr id="95" name="Text 6">
            <a:extLst>
              <a:ext uri="{FF2B5EF4-FFF2-40B4-BE49-F238E27FC236}">
                <a16:creationId xmlns:a16="http://schemas.microsoft.com/office/drawing/2014/main" id="{1110B736-34FA-9D13-1E71-7570C8B44FDD}"/>
              </a:ext>
            </a:extLst>
          </p:cNvPr>
          <p:cNvSpPr txBox="1"/>
          <p:nvPr/>
        </p:nvSpPr>
        <p:spPr>
          <a:xfrm>
            <a:off x="193510" y="2102732"/>
            <a:ext cx="3856945" cy="1810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b="1">
                <a:solidFill>
                  <a:srgbClr val="C00000"/>
                </a:solidFill>
              </a:rPr>
              <a:t>・</a:t>
            </a:r>
            <a:r>
              <a:rPr lang="en-US" altLang="ja-JP" sz="2000" b="1">
                <a:solidFill>
                  <a:srgbClr val="C00000"/>
                </a:solidFill>
              </a:rPr>
              <a:t>JSON</a:t>
            </a:r>
            <a:r>
              <a:rPr lang="ja-JP" altLang="en-US" sz="2000" b="1">
                <a:solidFill>
                  <a:srgbClr val="C00000"/>
                </a:solidFill>
              </a:rPr>
              <a:t>の解析アクション。苦手。</a:t>
            </a:r>
            <a:endParaRPr lang="en-US" altLang="ja-JP" sz="2000" b="1">
              <a:solidFill>
                <a:srgbClr val="C00000"/>
              </a:solidFill>
            </a:endParaRPr>
          </a:p>
          <a:p>
            <a:r>
              <a:rPr lang="ja-JP" altLang="en-US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・欲しいのは</a:t>
            </a:r>
            <a:r>
              <a:rPr lang="en-US" altLang="ja-JP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1</a:t>
            </a:r>
            <a:r>
              <a:rPr lang="ja-JP" altLang="en-US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個だけ！</a:t>
            </a:r>
            <a:endParaRPr lang="en-US" altLang="ja-JP" sz="2000" b="1">
              <a:solidFill>
                <a:srgbClr val="C00000"/>
              </a:solidFill>
              <a:latin typeface="Noto Sans JP" pitchFamily="34" charset="0"/>
              <a:ea typeface="Noto Sans JP" pitchFamily="34" charset="-122"/>
            </a:endParaRPr>
          </a:p>
          <a:p>
            <a:r>
              <a:rPr lang="ja-JP" altLang="en-US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・ちょっと取り出したいだけ！</a:t>
            </a:r>
            <a:endParaRPr lang="en-US" altLang="ja-JP" sz="2000" b="1">
              <a:solidFill>
                <a:srgbClr val="C00000"/>
              </a:solidFill>
              <a:latin typeface="Noto Sans JP" pitchFamily="34" charset="0"/>
              <a:ea typeface="Noto Sans JP" pitchFamily="34" charset="-122"/>
            </a:endParaRPr>
          </a:p>
          <a:p>
            <a:endParaRPr lang="en-US" altLang="ja-JP" sz="2000" b="1">
              <a:solidFill>
                <a:srgbClr val="C00000"/>
              </a:solidFill>
              <a:effectLst/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A640DD90-C2F9-59F6-9DBD-D9C540E356DB}"/>
              </a:ext>
            </a:extLst>
          </p:cNvPr>
          <p:cNvSpPr/>
          <p:nvPr/>
        </p:nvSpPr>
        <p:spPr>
          <a:xfrm>
            <a:off x="6858" y="-26125"/>
            <a:ext cx="12133218" cy="6884125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Image 12" descr="preencoded.png">
            <a:extLst>
              <a:ext uri="{FF2B5EF4-FFF2-40B4-BE49-F238E27FC236}">
                <a16:creationId xmlns:a16="http://schemas.microsoft.com/office/drawing/2014/main" id="{D1B238A4-1D52-E438-2C3A-D9AC35D82D7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0" b="-10"/>
          <a:stretch/>
        </p:blipFill>
        <p:spPr>
          <a:xfrm>
            <a:off x="7306063" y="2352602"/>
            <a:ext cx="4672554" cy="2835926"/>
          </a:xfrm>
          <a:prstGeom prst="rect">
            <a:avLst/>
          </a:prstGeom>
        </p:spPr>
      </p:pic>
      <p:pic>
        <p:nvPicPr>
          <p:cNvPr id="34" name="Image 13" descr="preencoded.png">
            <a:extLst>
              <a:ext uri="{FF2B5EF4-FFF2-40B4-BE49-F238E27FC236}">
                <a16:creationId xmlns:a16="http://schemas.microsoft.com/office/drawing/2014/main" id="{D49308D7-1B23-EFB9-A046-7B8F0650C6D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20283" y="2484887"/>
            <a:ext cx="350912" cy="350912"/>
          </a:xfrm>
          <a:prstGeom prst="rect">
            <a:avLst/>
          </a:prstGeom>
        </p:spPr>
      </p:pic>
      <p:sp>
        <p:nvSpPr>
          <p:cNvPr id="33" name="Text 18">
            <a:extLst>
              <a:ext uri="{FF2B5EF4-FFF2-40B4-BE49-F238E27FC236}">
                <a16:creationId xmlns:a16="http://schemas.microsoft.com/office/drawing/2014/main" id="{D13C0488-2273-2027-687D-02D69152F321}"/>
              </a:ext>
            </a:extLst>
          </p:cNvPr>
          <p:cNvSpPr txBox="1"/>
          <p:nvPr/>
        </p:nvSpPr>
        <p:spPr>
          <a:xfrm>
            <a:off x="7872426" y="2490570"/>
            <a:ext cx="4321181" cy="46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フローの見通しがよくなる</a:t>
            </a:r>
            <a:endParaRPr lang="en-US" altLang="ja-JP" sz="2000" b="1">
              <a:solidFill>
                <a:srgbClr val="15803D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233B0B25-D93F-E665-274E-8035EB9FFD6D}"/>
              </a:ext>
            </a:extLst>
          </p:cNvPr>
          <p:cNvSpPr/>
          <p:nvPr/>
        </p:nvSpPr>
        <p:spPr>
          <a:xfrm>
            <a:off x="7419677" y="1782600"/>
            <a:ext cx="4660222" cy="538045"/>
          </a:xfrm>
          <a:prstGeom prst="roundRect">
            <a:avLst>
              <a:gd name="adj" fmla="val 319489"/>
            </a:avLst>
          </a:prstGeom>
          <a:solidFill>
            <a:srgbClr val="DCFCE7"/>
          </a:solidFill>
          <a:ln w="34925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ja-JP" altLang="en-US" sz="540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10F65C8A-7363-3E8F-3152-E31653950C6E}"/>
              </a:ext>
            </a:extLst>
          </p:cNvPr>
          <p:cNvSpPr txBox="1"/>
          <p:nvPr/>
        </p:nvSpPr>
        <p:spPr>
          <a:xfrm>
            <a:off x="7562605" y="1870567"/>
            <a:ext cx="4770320" cy="359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rgbClr val="166534"/>
                </a:solidFill>
                <a:latin typeface="Noto Sans JP" pitchFamily="34" charset="0"/>
                <a:ea typeface="Noto Sans JP" pitchFamily="34" charset="-122"/>
              </a:rPr>
              <a:t>ライト</a:t>
            </a:r>
            <a:r>
              <a:rPr lang="en-US" altLang="ja-JP" sz="2400" b="1">
                <a:solidFill>
                  <a:srgbClr val="166534"/>
                </a:solidFill>
                <a:latin typeface="Noto Sans JP" pitchFamily="34" charset="0"/>
                <a:ea typeface="Noto Sans JP" pitchFamily="34" charset="-122"/>
              </a:rPr>
              <a:t>JSON</a:t>
            </a:r>
            <a:r>
              <a:rPr lang="ja-JP" altLang="en-US" sz="2400" b="1">
                <a:solidFill>
                  <a:srgbClr val="166534"/>
                </a:solidFill>
                <a:latin typeface="Noto Sans JP" pitchFamily="34" charset="0"/>
                <a:ea typeface="Noto Sans JP" pitchFamily="34" charset="-122"/>
              </a:rPr>
              <a:t>処理でどう変わる？</a:t>
            </a:r>
            <a:endParaRPr lang="en-US" sz="2400" dirty="0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EEF38A12-BC9B-23A2-27DA-4035687C92AE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FACA4A77-84DF-4CFC-4D1F-944512F5C1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00" y="622541"/>
            <a:ext cx="1241251" cy="1241251"/>
          </a:xfrm>
          <a:prstGeom prst="rect">
            <a:avLst/>
          </a:prstGeom>
        </p:spPr>
      </p:pic>
      <p:pic>
        <p:nvPicPr>
          <p:cNvPr id="19" name="Image 13" descr="preencoded.png">
            <a:extLst>
              <a:ext uri="{FF2B5EF4-FFF2-40B4-BE49-F238E27FC236}">
                <a16:creationId xmlns:a16="http://schemas.microsoft.com/office/drawing/2014/main" id="{0181F116-1131-32CF-FCC0-416392C67C9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13143" y="3365491"/>
            <a:ext cx="350912" cy="350912"/>
          </a:xfrm>
          <a:prstGeom prst="rect">
            <a:avLst/>
          </a:prstGeom>
        </p:spPr>
      </p:pic>
      <p:sp>
        <p:nvSpPr>
          <p:cNvPr id="20" name="Text 18">
            <a:extLst>
              <a:ext uri="{FF2B5EF4-FFF2-40B4-BE49-F238E27FC236}">
                <a16:creationId xmlns:a16="http://schemas.microsoft.com/office/drawing/2014/main" id="{E6DE4AF9-C768-93ED-CF90-FD62CE410647}"/>
              </a:ext>
            </a:extLst>
          </p:cNvPr>
          <p:cNvSpPr txBox="1"/>
          <p:nvPr/>
        </p:nvSpPr>
        <p:spPr>
          <a:xfrm>
            <a:off x="7872426" y="3320602"/>
            <a:ext cx="4321181" cy="46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デバッグしやすい</a:t>
            </a:r>
            <a:endParaRPr lang="en-US" altLang="ja-JP" sz="2000" b="1">
              <a:solidFill>
                <a:srgbClr val="15803D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21" name="Image 13" descr="preencoded.png">
            <a:extLst>
              <a:ext uri="{FF2B5EF4-FFF2-40B4-BE49-F238E27FC236}">
                <a16:creationId xmlns:a16="http://schemas.microsoft.com/office/drawing/2014/main" id="{8481340C-83E8-AE4A-1A38-2860AA2C24C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73960" y="4251380"/>
            <a:ext cx="350912" cy="350912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7B0DDF51-EF87-89C5-6D63-1BCA52E4BEAD}"/>
              </a:ext>
            </a:extLst>
          </p:cNvPr>
          <p:cNvSpPr txBox="1"/>
          <p:nvPr/>
        </p:nvSpPr>
        <p:spPr>
          <a:xfrm>
            <a:off x="7927060" y="4245317"/>
            <a:ext cx="4321181" cy="46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仕様変更にも強い</a:t>
            </a:r>
            <a:endParaRPr lang="en-US" altLang="ja-JP" sz="2000" b="1">
              <a:solidFill>
                <a:srgbClr val="15803D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73" name="図 72" descr="The image shows a button with a dropdown arrow, with a small, unspecified text in Chinese.&#10;&#10;AI 生成コンテンツは誤りを含む可能性があります。">
            <a:extLst>
              <a:ext uri="{FF2B5EF4-FFF2-40B4-BE49-F238E27FC236}">
                <a16:creationId xmlns:a16="http://schemas.microsoft.com/office/drawing/2014/main" id="{DE0FB163-E356-E510-F5C6-8FB65E23B1E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975" t="18769" r="43251" b="7075"/>
          <a:stretch>
            <a:fillRect/>
          </a:stretch>
        </p:blipFill>
        <p:spPr>
          <a:xfrm>
            <a:off x="4368617" y="3415506"/>
            <a:ext cx="2207623" cy="8186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1" name="Text 5">
            <a:extLst>
              <a:ext uri="{FF2B5EF4-FFF2-40B4-BE49-F238E27FC236}">
                <a16:creationId xmlns:a16="http://schemas.microsoft.com/office/drawing/2014/main" id="{5FF48741-3CA5-EE4D-0693-0A45DE3EE528}"/>
              </a:ext>
            </a:extLst>
          </p:cNvPr>
          <p:cNvSpPr txBox="1"/>
          <p:nvPr/>
        </p:nvSpPr>
        <p:spPr>
          <a:xfrm>
            <a:off x="7283324" y="2838636"/>
            <a:ext cx="5290670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「この式はここで計算してる」と場所が明確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96" name="Text 5">
            <a:extLst>
              <a:ext uri="{FF2B5EF4-FFF2-40B4-BE49-F238E27FC236}">
                <a16:creationId xmlns:a16="http://schemas.microsoft.com/office/drawing/2014/main" id="{00095B27-14D0-B341-954D-2732D898D2B4}"/>
              </a:ext>
            </a:extLst>
          </p:cNvPr>
          <p:cNvSpPr txBox="1"/>
          <p:nvPr/>
        </p:nvSpPr>
        <p:spPr>
          <a:xfrm>
            <a:off x="7464302" y="3722078"/>
            <a:ext cx="4550331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実行履歴で </a:t>
            </a:r>
            <a:r>
              <a:rPr lang="en-US" altLang="ja-JP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 </a:t>
            </a: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だけ見れば </a:t>
            </a:r>
            <a:r>
              <a:rPr lang="en-US" altLang="ja-JP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100" name="Text 5">
            <a:extLst>
              <a:ext uri="{FF2B5EF4-FFF2-40B4-BE49-F238E27FC236}">
                <a16:creationId xmlns:a16="http://schemas.microsoft.com/office/drawing/2014/main" id="{7E6ED068-EEC2-F04A-0562-CAB15A4526CC}"/>
              </a:ext>
            </a:extLst>
          </p:cNvPr>
          <p:cNvSpPr txBox="1"/>
          <p:nvPr/>
        </p:nvSpPr>
        <p:spPr>
          <a:xfrm>
            <a:off x="7490429" y="4585845"/>
            <a:ext cx="4786369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式を直す場所が </a:t>
            </a:r>
            <a:r>
              <a:rPr lang="en-US" altLang="ja-JP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</a:t>
            </a: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ひとつに集約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103" name="Text 6">
            <a:extLst>
              <a:ext uri="{FF2B5EF4-FFF2-40B4-BE49-F238E27FC236}">
                <a16:creationId xmlns:a16="http://schemas.microsoft.com/office/drawing/2014/main" id="{15C3A7FB-F225-3A12-28F4-3CAE1BC39F23}"/>
              </a:ext>
            </a:extLst>
          </p:cNvPr>
          <p:cNvSpPr txBox="1"/>
          <p:nvPr/>
        </p:nvSpPr>
        <p:spPr>
          <a:xfrm>
            <a:off x="4370080" y="4349807"/>
            <a:ext cx="2787919" cy="89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bg1"/>
                </a:solidFill>
                <a:effectLst>
                  <a:glow rad="177800">
                    <a:srgbClr val="0000CC"/>
                  </a:glow>
                </a:effectLst>
              </a:rPr>
              <a:t>このアクションの</a:t>
            </a:r>
            <a:endParaRPr lang="en-US" altLang="ja-JP" b="1">
              <a:solidFill>
                <a:schemeClr val="bg1"/>
              </a:solidFill>
              <a:effectLst>
                <a:glow rad="177800">
                  <a:srgbClr val="0000CC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b="1">
                <a:solidFill>
                  <a:schemeClr val="bg1"/>
                </a:solidFill>
                <a:effectLst>
                  <a:glow rad="177800">
                    <a:srgbClr val="0000CC"/>
                  </a:glow>
                </a:effectLst>
              </a:rPr>
              <a:t>式でピンポイント指定！ 👉 </a:t>
            </a:r>
            <a:r>
              <a:rPr lang="en-US" altLang="ja-JP" b="1">
                <a:solidFill>
                  <a:schemeClr val="bg1"/>
                </a:solidFill>
                <a:effectLst>
                  <a:glow rad="177800">
                    <a:srgbClr val="0000CC"/>
                  </a:glow>
                </a:effectLst>
              </a:rPr>
              <a:t>?['name']</a:t>
            </a:r>
            <a:endParaRPr lang="en-US" b="1" dirty="0">
              <a:solidFill>
                <a:schemeClr val="bg1"/>
              </a:solidFill>
              <a:effectLst>
                <a:glow rad="177800">
                  <a:srgbClr val="0000CC"/>
                </a:glow>
              </a:effectLst>
            </a:endParaRPr>
          </a:p>
        </p:txBody>
      </p:sp>
      <p:pic>
        <p:nvPicPr>
          <p:cNvPr id="111" name="Image 10" descr="preencoded.png">
            <a:extLst>
              <a:ext uri="{FF2B5EF4-FFF2-40B4-BE49-F238E27FC236}">
                <a16:creationId xmlns:a16="http://schemas.microsoft.com/office/drawing/2014/main" id="{24D1944C-A7B1-A8C5-D883-B30F26C78C6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80" r="-80"/>
          <a:stretch/>
        </p:blipFill>
        <p:spPr>
          <a:xfrm>
            <a:off x="36476" y="5431676"/>
            <a:ext cx="520848" cy="1040033"/>
          </a:xfrm>
          <a:prstGeom prst="rect">
            <a:avLst/>
          </a:prstGeom>
        </p:spPr>
      </p:pic>
      <p:grpSp>
        <p:nvGrpSpPr>
          <p:cNvPr id="118" name="グループ化 117">
            <a:extLst>
              <a:ext uri="{FF2B5EF4-FFF2-40B4-BE49-F238E27FC236}">
                <a16:creationId xmlns:a16="http://schemas.microsoft.com/office/drawing/2014/main" id="{9696159B-EB74-3272-D86F-1701523B1066}"/>
              </a:ext>
            </a:extLst>
          </p:cNvPr>
          <p:cNvGrpSpPr/>
          <p:nvPr/>
        </p:nvGrpSpPr>
        <p:grpSpPr>
          <a:xfrm>
            <a:off x="4139808" y="1802600"/>
            <a:ext cx="3246138" cy="520008"/>
            <a:chOff x="3873773" y="1867841"/>
            <a:chExt cx="3246138" cy="520008"/>
          </a:xfrm>
        </p:grpSpPr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6C0FEB1A-051C-FC7E-D1D4-56A1A0DDA51E}"/>
                </a:ext>
              </a:extLst>
            </p:cNvPr>
            <p:cNvSpPr/>
            <p:nvPr/>
          </p:nvSpPr>
          <p:spPr>
            <a:xfrm>
              <a:off x="3873773" y="1873957"/>
              <a:ext cx="3103094" cy="513892"/>
            </a:xfrm>
            <a:prstGeom prst="roundRect">
              <a:avLst>
                <a:gd name="adj" fmla="val 31948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0000CC"/>
              </a:solidFill>
              <a:prstDash val="solid"/>
            </a:ln>
          </p:spPr>
          <p:txBody>
            <a:bodyPr/>
            <a:lstStyle/>
            <a:p>
              <a:endParaRPr lang="ja-JP" altLang="en-US" sz="4800"/>
            </a:p>
          </p:txBody>
        </p:sp>
        <p:sp>
          <p:nvSpPr>
            <p:cNvPr id="66" name="Text 36">
              <a:extLst>
                <a:ext uri="{FF2B5EF4-FFF2-40B4-BE49-F238E27FC236}">
                  <a16:creationId xmlns:a16="http://schemas.microsoft.com/office/drawing/2014/main" id="{3FFE6105-DCEE-0251-4B4A-147896A7349F}"/>
                </a:ext>
              </a:extLst>
            </p:cNvPr>
            <p:cNvSpPr txBox="1"/>
            <p:nvPr/>
          </p:nvSpPr>
          <p:spPr>
            <a:xfrm>
              <a:off x="4065751" y="1867841"/>
              <a:ext cx="3054160" cy="507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ja-JP" altLang="en-US" sz="32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作成</a:t>
              </a:r>
              <a:r>
                <a:rPr lang="ja-JP" altLang="en-US" sz="2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（</a:t>
              </a:r>
              <a:r>
                <a:rPr lang="en-US" altLang="ja-JP" sz="2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Compose</a:t>
              </a:r>
              <a:r>
                <a:rPr lang="ja-JP" altLang="en-US" sz="2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）</a:t>
              </a:r>
              <a:endParaRPr lang="en-US" sz="3600" dirty="0"/>
            </a:p>
          </p:txBody>
        </p:sp>
      </p:grpSp>
      <p:sp>
        <p:nvSpPr>
          <p:cNvPr id="117" name="Shape 7">
            <a:extLst>
              <a:ext uri="{FF2B5EF4-FFF2-40B4-BE49-F238E27FC236}">
                <a16:creationId xmlns:a16="http://schemas.microsoft.com/office/drawing/2014/main" id="{D0EDBD5B-9635-5EF8-02A2-E45B7F827A3C}"/>
              </a:ext>
            </a:extLst>
          </p:cNvPr>
          <p:cNvSpPr/>
          <p:nvPr/>
        </p:nvSpPr>
        <p:spPr>
          <a:xfrm>
            <a:off x="211661" y="1812836"/>
            <a:ext cx="3619573" cy="513892"/>
          </a:xfrm>
          <a:prstGeom prst="roundRect">
            <a:avLst>
              <a:gd name="adj" fmla="val 319489"/>
            </a:avLst>
          </a:prstGeom>
          <a:solidFill>
            <a:srgbClr val="FEF2F2"/>
          </a:solidFill>
          <a:ln w="349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256EB5B7-1AB1-E0E8-7B13-748E53036655}"/>
              </a:ext>
            </a:extLst>
          </p:cNvPr>
          <p:cNvSpPr txBox="1"/>
          <p:nvPr/>
        </p:nvSpPr>
        <p:spPr>
          <a:xfrm>
            <a:off x="338506" y="1882740"/>
            <a:ext cx="3631161" cy="34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2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こんなことない？</a:t>
            </a:r>
            <a:endParaRPr lang="en-US" altLang="ja-JP" sz="3200" b="1">
              <a:solidFill>
                <a:srgbClr val="DC2626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98" name="Image 10" descr="preencoded.png">
            <a:extLst>
              <a:ext uri="{FF2B5EF4-FFF2-40B4-BE49-F238E27FC236}">
                <a16:creationId xmlns:a16="http://schemas.microsoft.com/office/drawing/2014/main" id="{A46D1D0E-51BA-9837-9675-8187F10087E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80" r="-80"/>
          <a:stretch/>
        </p:blipFill>
        <p:spPr>
          <a:xfrm>
            <a:off x="6744741" y="3271888"/>
            <a:ext cx="520848" cy="1040033"/>
          </a:xfrm>
          <a:prstGeom prst="rect">
            <a:avLst/>
          </a:prstGeom>
        </p:spPr>
      </p:pic>
      <p:pic>
        <p:nvPicPr>
          <p:cNvPr id="13" name="図 12" descr="The image shows a user interface element with a blue button, featuring a Japanese text label 'JSON' and a dropdown arrow icon.&#10;&#10;AI 生成コンテンツは誤りを含む可能性があります。">
            <a:extLst>
              <a:ext uri="{FF2B5EF4-FFF2-40B4-BE49-F238E27FC236}">
                <a16:creationId xmlns:a16="http://schemas.microsoft.com/office/drawing/2014/main" id="{5C29A00A-69DB-4D8F-6F52-CCE4BF80F5D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758" t="18775" b="-2902"/>
          <a:stretch>
            <a:fillRect/>
          </a:stretch>
        </p:blipFill>
        <p:spPr>
          <a:xfrm>
            <a:off x="301675" y="3421742"/>
            <a:ext cx="3543211" cy="7898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図 14" descr="ng&#10;&#10;AI 生成コンテンツは誤りを含む可能性があります。">
            <a:extLst>
              <a:ext uri="{FF2B5EF4-FFF2-40B4-BE49-F238E27FC236}">
                <a16:creationId xmlns:a16="http://schemas.microsoft.com/office/drawing/2014/main" id="{8A15A748-54A8-43D3-A0CE-A4D33797F12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2834" b="25722"/>
          <a:stretch>
            <a:fillRect/>
          </a:stretch>
        </p:blipFill>
        <p:spPr>
          <a:xfrm>
            <a:off x="120645" y="5247303"/>
            <a:ext cx="3578598" cy="14999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ext 6">
            <a:extLst>
              <a:ext uri="{FF2B5EF4-FFF2-40B4-BE49-F238E27FC236}">
                <a16:creationId xmlns:a16="http://schemas.microsoft.com/office/drawing/2014/main" id="{9F69E5E9-F34F-0816-3DCC-F1BDA7AB0FFE}"/>
              </a:ext>
            </a:extLst>
          </p:cNvPr>
          <p:cNvSpPr txBox="1"/>
          <p:nvPr/>
        </p:nvSpPr>
        <p:spPr>
          <a:xfrm rot="21416037">
            <a:off x="223549" y="4594689"/>
            <a:ext cx="3395282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ここの</a:t>
            </a:r>
            <a:r>
              <a:rPr lang="en-US" sz="28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“yamada”</a:t>
            </a:r>
            <a:r>
              <a:rPr lang="ja-JP" altLang="en-US" sz="28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だけ</a:t>
            </a:r>
            <a:endParaRPr lang="en-US" altLang="ja-JP" sz="2800" b="1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取り出したい！！</a:t>
            </a:r>
            <a:endParaRPr lang="en-US" sz="2800" b="1" dirty="0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ACA3F9A-D9A9-186B-AC84-CC4A3C449349}"/>
              </a:ext>
            </a:extLst>
          </p:cNvPr>
          <p:cNvCxnSpPr>
            <a:cxnSpLocks/>
          </p:cNvCxnSpPr>
          <p:nvPr/>
        </p:nvCxnSpPr>
        <p:spPr>
          <a:xfrm flipH="1">
            <a:off x="2240281" y="5523648"/>
            <a:ext cx="589336" cy="112595"/>
          </a:xfrm>
          <a:prstGeom prst="straightConnector1">
            <a:avLst/>
          </a:prstGeom>
          <a:ln w="69850">
            <a:solidFill>
              <a:schemeClr val="bg1"/>
            </a:solidFill>
            <a:tailEnd type="triangle"/>
          </a:ln>
          <a:effectLst>
            <a:glow rad="114300">
              <a:srgbClr val="FF0000">
                <a:alpha val="91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図 25" descr="A child in red clothing is being comforted by an adult with a green shirt.&#10;&#10;AI 生成コンテンツは誤りを含む可能性があります。">
            <a:extLst>
              <a:ext uri="{FF2B5EF4-FFF2-40B4-BE49-F238E27FC236}">
                <a16:creationId xmlns:a16="http://schemas.microsoft.com/office/drawing/2014/main" id="{44BF1173-32EA-8FDD-00E4-04727BC8225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4137" t="51807" r="40379" b="1427"/>
          <a:stretch>
            <a:fillRect/>
          </a:stretch>
        </p:blipFill>
        <p:spPr>
          <a:xfrm>
            <a:off x="2765202" y="4842884"/>
            <a:ext cx="1259123" cy="1177584"/>
          </a:xfrm>
          <a:prstGeom prst="rect">
            <a:avLst/>
          </a:prstGeom>
        </p:spPr>
      </p:pic>
      <p:pic>
        <p:nvPicPr>
          <p:cNvPr id="28" name="Image 10" descr="preencoded.png">
            <a:extLst>
              <a:ext uri="{FF2B5EF4-FFF2-40B4-BE49-F238E27FC236}">
                <a16:creationId xmlns:a16="http://schemas.microsoft.com/office/drawing/2014/main" id="{6BF16E7E-857D-EFB9-03CB-1878D6439CE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80" r="-80"/>
          <a:stretch/>
        </p:blipFill>
        <p:spPr>
          <a:xfrm>
            <a:off x="3844886" y="3307589"/>
            <a:ext cx="520848" cy="1040033"/>
          </a:xfrm>
          <a:prstGeom prst="rect">
            <a:avLst/>
          </a:prstGeom>
        </p:spPr>
      </p:pic>
      <p:pic>
        <p:nvPicPr>
          <p:cNvPr id="36" name="図 35" descr="Yamada&#10;&#10;AI 生成コンテンツは誤りを含む可能性があります。">
            <a:extLst>
              <a:ext uri="{FF2B5EF4-FFF2-40B4-BE49-F238E27FC236}">
                <a16:creationId xmlns:a16="http://schemas.microsoft.com/office/drawing/2014/main" id="{A6FB31E3-9708-DF1D-E6B1-7D594CD0385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33445" y="5207424"/>
            <a:ext cx="1896059" cy="15091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851FE520-E5E0-5CF2-7583-E84FCC1ED3A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10818" y="5659476"/>
            <a:ext cx="2991267" cy="7818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CE2D4A5-F485-2C7C-76B8-054CA30F82F3}"/>
              </a:ext>
            </a:extLst>
          </p:cNvPr>
          <p:cNvCxnSpPr>
            <a:cxnSpLocks/>
          </p:cNvCxnSpPr>
          <p:nvPr/>
        </p:nvCxnSpPr>
        <p:spPr>
          <a:xfrm>
            <a:off x="7014577" y="6265245"/>
            <a:ext cx="581162" cy="7556"/>
          </a:xfrm>
          <a:prstGeom prst="straightConnector1">
            <a:avLst/>
          </a:prstGeom>
          <a:ln w="69850">
            <a:solidFill>
              <a:schemeClr val="bg1"/>
            </a:solidFill>
            <a:tailEnd type="triangle"/>
          </a:ln>
          <a:effectLst>
            <a:glow rad="114300">
              <a:srgbClr val="0000CC">
                <a:alpha val="91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図 45" descr="The image depicts a person dressed in a suit holding a piece of paper, smiling, and surrounded by small stars.&#10;&#10;AI 生成コンテンツは誤りを含む可能性があります。">
            <a:extLst>
              <a:ext uri="{FF2B5EF4-FFF2-40B4-BE49-F238E27FC236}">
                <a16:creationId xmlns:a16="http://schemas.microsoft.com/office/drawing/2014/main" id="{0761D37F-ED34-1ACB-E7E0-324DB48CE37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28659" y="4915414"/>
            <a:ext cx="2666352" cy="2666352"/>
          </a:xfrm>
          <a:prstGeom prst="rect">
            <a:avLst/>
          </a:prstGeom>
        </p:spPr>
      </p:pic>
      <p:sp>
        <p:nvSpPr>
          <p:cNvPr id="47" name="Text 6">
            <a:extLst>
              <a:ext uri="{FF2B5EF4-FFF2-40B4-BE49-F238E27FC236}">
                <a16:creationId xmlns:a16="http://schemas.microsoft.com/office/drawing/2014/main" id="{464FA5F1-12B9-7A27-123B-0AB0CFF1F616}"/>
              </a:ext>
            </a:extLst>
          </p:cNvPr>
          <p:cNvSpPr txBox="1"/>
          <p:nvPr/>
        </p:nvSpPr>
        <p:spPr>
          <a:xfrm rot="21283525">
            <a:off x="8787602" y="5133052"/>
            <a:ext cx="2787919" cy="893789"/>
          </a:xfrm>
          <a:prstGeom prst="rect">
            <a:avLst/>
          </a:prstGeom>
          <a:noFill/>
          <a:ln/>
          <a:effectLst>
            <a:glow rad="127000">
              <a:srgbClr val="33CC33"/>
            </a:glow>
          </a:effectLst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77800">
                    <a:srgbClr val="008000"/>
                  </a:glow>
                </a:effectLst>
              </a:rPr>
              <a:t>毎回</a:t>
            </a:r>
            <a:r>
              <a:rPr lang="en-US" altLang="ja-JP" sz="2000" b="1">
                <a:solidFill>
                  <a:schemeClr val="bg1"/>
                </a:solidFill>
                <a:effectLst>
                  <a:glow rad="177800">
                    <a:srgbClr val="008000"/>
                  </a:glow>
                </a:effectLst>
              </a:rPr>
              <a:t>JSON</a:t>
            </a:r>
            <a:r>
              <a:rPr lang="ja-JP" altLang="en-US" sz="2000" b="1">
                <a:solidFill>
                  <a:schemeClr val="bg1"/>
                </a:solidFill>
                <a:effectLst>
                  <a:glow rad="177800">
                    <a:srgbClr val="008000"/>
                  </a:glow>
                </a:effectLst>
              </a:rPr>
              <a:t>の解析を</a:t>
            </a:r>
            <a:endParaRPr lang="en-US" altLang="ja-JP" sz="2000" b="1">
              <a:solidFill>
                <a:schemeClr val="bg1"/>
              </a:solidFill>
              <a:effectLst>
                <a:glow rad="177800">
                  <a:srgbClr val="008000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77800">
                    <a:srgbClr val="008000"/>
                  </a:glow>
                </a:effectLst>
              </a:rPr>
              <a:t>使わなくても</a:t>
            </a:r>
            <a:r>
              <a:rPr lang="en-US" altLang="ja-JP" sz="2000" b="1">
                <a:solidFill>
                  <a:schemeClr val="bg1"/>
                </a:solidFill>
                <a:effectLst>
                  <a:glow rad="177800">
                    <a:srgbClr val="008000"/>
                  </a:glow>
                </a:effectLst>
              </a:rPr>
              <a:t>OK</a:t>
            </a:r>
            <a:endParaRPr lang="en-US" sz="2000" b="1" dirty="0">
              <a:solidFill>
                <a:schemeClr val="bg1"/>
              </a:solidFill>
              <a:effectLst>
                <a:glow rad="177800">
                  <a:srgbClr val="008000"/>
                </a:glow>
              </a:effectLst>
            </a:endParaRP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323B58AC-E999-03AA-8416-22FD387B42B5}"/>
              </a:ext>
            </a:extLst>
          </p:cNvPr>
          <p:cNvCxnSpPr>
            <a:cxnSpLocks/>
          </p:cNvCxnSpPr>
          <p:nvPr/>
        </p:nvCxnSpPr>
        <p:spPr>
          <a:xfrm>
            <a:off x="3699243" y="2044703"/>
            <a:ext cx="508139" cy="1660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6D8AF17D-5DE7-AC7C-7311-72BC01399099}"/>
              </a:ext>
            </a:extLst>
          </p:cNvPr>
          <p:cNvCxnSpPr>
            <a:cxnSpLocks/>
          </p:cNvCxnSpPr>
          <p:nvPr/>
        </p:nvCxnSpPr>
        <p:spPr>
          <a:xfrm>
            <a:off x="7057194" y="2051154"/>
            <a:ext cx="508139" cy="1660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