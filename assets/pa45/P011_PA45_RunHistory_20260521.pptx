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9" r:id="rId2"/>
    <p:sldId id="285" r:id="rId3"/>
    <p:sldId id="259" r:id="rId4"/>
    <p:sldId id="257" r:id="rId5"/>
    <p:sldId id="256" r:id="rId6"/>
    <p:sldId id="271" r:id="rId7"/>
    <p:sldId id="261" r:id="rId8"/>
    <p:sldId id="280" r:id="rId9"/>
    <p:sldId id="291" r:id="rId10"/>
    <p:sldId id="289" r:id="rId11"/>
    <p:sldId id="290" r:id="rId12"/>
    <p:sldId id="286" r:id="rId13"/>
    <p:sldId id="284" r:id="rId14"/>
    <p:sldId id="272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58AFA-D1AA-4A9A-9800-8FBA641FEB0E}" v="1" dt="2026-04-28T05:42:1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0" d="100"/>
          <a:sy n="110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28T05:44:53.299" v="713" actId="14100"/>
      <pc:docMkLst>
        <pc:docMk/>
      </pc:docMkLst>
      <pc:sldChg chg="modSp mod">
        <pc:chgData name="Ueda Isamu" userId="35289799e0376f2e" providerId="LiveId" clId="{DD31E282-B62B-4911-91B6-43B1B98908F9}" dt="2026-04-28T05:44:19.288" v="709" actId="1076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28T05:43:48.753" v="697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23.458" v="686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0.382" v="705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41.371" v="694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7.038" v="708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9.288" v="709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3.850" v="707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7.940" v="702" actId="14100"/>
          <ac:spMkLst>
            <pc:docMk/>
            <pc:sldMk cId="0" sldId="268"/>
            <ac:spMk id="3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1.722" v="698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2.771" v="706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3:41.371" v="694" actId="1076"/>
          <ac:picMkLst>
            <pc:docMk/>
            <pc:sldMk cId="0" sldId="268"/>
            <ac:picMk id="18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29.094" v="711" actId="1076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28T05:44:29.094" v="711" actId="1076"/>
          <ac:spMkLst>
            <pc:docMk/>
            <pc:sldMk cId="0" sldId="269"/>
            <ac:spMk id="15" creationId="{59D5E270-E6AD-E457-0DD1-D6D69BCDC2F3}"/>
          </ac:spMkLst>
        </pc:spChg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4:26.522" v="710" actId="14100"/>
          <ac:picMkLst>
            <pc:docMk/>
            <pc:sldMk cId="0" sldId="269"/>
            <ac:picMk id="11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40.569" v="712" actId="2057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28T05:44:40.569" v="712" actId="2057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mod">
        <pc:chgData name="Ueda Isamu" userId="35289799e0376f2e" providerId="LiveId" clId="{DD31E282-B62B-4911-91B6-43B1B98908F9}" dt="2026-04-28T05:44:53.299" v="713" actId="14100"/>
        <pc:sldMkLst>
          <pc:docMk/>
          <pc:sldMk cId="0" sldId="280"/>
        </pc:sldMkLst>
        <pc:spChg chg="mod">
          <ac:chgData name="Ueda Isamu" userId="35289799e0376f2e" providerId="LiveId" clId="{DD31E282-B62B-4911-91B6-43B1B98908F9}" dt="2026-04-28T05:41:40.549" v="656" actId="96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53.299" v="713" actId="14100"/>
          <ac:spMkLst>
            <pc:docMk/>
            <pc:sldMk cId="0" sldId="280"/>
            <ac:spMk id="44" creationId="{F9B91B76-7920-EE96-CB51-D8B32827C982}"/>
          </ac:spMkLst>
        </pc:spChg>
        <pc:spChg chg="mod">
          <ac:chgData name="Ueda Isamu" userId="35289799e0376f2e" providerId="LiveId" clId="{DD31E282-B62B-4911-91B6-43B1B98908F9}" dt="2026-04-28T05:40:39.439" v="649" actId="20577"/>
          <ac:spMkLst>
            <pc:docMk/>
            <pc:sldMk cId="0" sldId="280"/>
            <ac:spMk id="51" creationId="{F34FF253-528E-97DF-BF89-4A55B2E7EBC4}"/>
          </ac:spMkLst>
        </pc:spChg>
        <pc:picChg chg="del">
          <ac:chgData name="Ueda Isamu" userId="35289799e0376f2e" providerId="LiveId" clId="{DD31E282-B62B-4911-91B6-43B1B98908F9}" dt="2026-04-28T05:40:34.040" v="647" actId="478"/>
          <ac:picMkLst>
            <pc:docMk/>
            <pc:sldMk cId="0" sldId="280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28T05:41:40.549" v="655" actId="27614"/>
          <ac:picMkLst>
            <pc:docMk/>
            <pc:sldMk cId="0" sldId="280"/>
            <ac:picMk id="12" creationId="{3E6630DE-036E-A137-BB8D-3B6889FA8E99}"/>
          </ac:picMkLst>
        </pc:picChg>
        <pc:picChg chg="add mod">
          <ac:chgData name="Ueda Isamu" userId="35289799e0376f2e" providerId="LiveId" clId="{DD31E282-B62B-4911-91B6-43B1B98908F9}" dt="2026-04-28T05:42:04.299" v="664" actId="14100"/>
          <ac:picMkLst>
            <pc:docMk/>
            <pc:sldMk cId="0" sldId="280"/>
            <ac:picMk id="15" creationId="{0A496CAA-10CA-2625-8307-AD86EA5E849F}"/>
          </ac:picMkLst>
        </pc:picChg>
        <pc:picChg chg="del">
          <ac:chgData name="Ueda Isamu" userId="35289799e0376f2e" providerId="LiveId" clId="{DD31E282-B62B-4911-91B6-43B1B98908F9}" dt="2026-04-28T05:40:34.591" v="648" actId="478"/>
          <ac:picMkLst>
            <pc:docMk/>
            <pc:sldMk cId="0" sldId="280"/>
            <ac:picMk id="43" creationId="{C2A29B6F-3C93-A1C3-76A2-A2F9DE2BAF70}"/>
          </ac:picMkLst>
        </pc:picChg>
      </pc:sldChg>
      <pc:sldChg chg="addSp delSp modSp add del mod">
        <pc:chgData name="Ueda Isamu" userId="35289799e0376f2e" providerId="LiveId" clId="{DD31E282-B62B-4911-91B6-43B1B98908F9}" dt="2026-04-28T05:43:04.861" v="683" actId="47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</pc:sldChg>
      <pc:sldChg chg="addSp delSp modSp add mod ord">
        <pc:chgData name="Ueda Isamu" userId="35289799e0376f2e" providerId="LiveId" clId="{DD31E282-B62B-4911-91B6-43B1B98908F9}" dt="2026-04-28T05:43:02.947" v="682" actId="27614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 ord">
          <ac:chgData name="Ueda Isamu" userId="35289799e0376f2e" providerId="LiveId" clId="{DD31E282-B62B-4911-91B6-43B1B98908F9}" dt="2026-04-28T05:42:28.090" v="672" actId="14100"/>
          <ac:spMkLst>
            <pc:docMk/>
            <pc:sldMk cId="3861659691" sldId="282"/>
            <ac:spMk id="10" creationId="{5E06D86B-F8D9-20E7-3D67-0EF3882034F2}"/>
          </ac:spMkLst>
        </pc:spChg>
        <pc:spChg chg="add del mod">
          <ac:chgData name="Ueda Isamu" userId="35289799e0376f2e" providerId="LiveId" clId="{DD31E282-B62B-4911-91B6-43B1B98908F9}" dt="2026-04-28T05:42:30.118" v="675" actId="478"/>
          <ac:spMkLst>
            <pc:docMk/>
            <pc:sldMk cId="3861659691" sldId="282"/>
            <ac:spMk id="12" creationId="{B61745D9-8D46-A514-CF17-682EE8BDCFC1}"/>
          </ac:spMkLst>
        </pc:spChg>
        <pc:picChg chg="del">
          <ac:chgData name="Ueda Isamu" userId="35289799e0376f2e" providerId="LiveId" clId="{DD31E282-B62B-4911-91B6-43B1B98908F9}" dt="2026-04-28T05:40:48.240" v="650" actId="478"/>
          <ac:picMkLst>
            <pc:docMk/>
            <pc:sldMk cId="3861659691" sldId="282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28T05:40:48.724" v="651" actId="478"/>
          <ac:picMkLst>
            <pc:docMk/>
            <pc:sldMk cId="3861659691" sldId="282"/>
            <ac:picMk id="14" creationId="{A872EEC3-0079-B857-A352-13B0525469F2}"/>
          </ac:picMkLst>
        </pc:picChg>
        <pc:picChg chg="add mod">
          <ac:chgData name="Ueda Isamu" userId="35289799e0376f2e" providerId="LiveId" clId="{DD31E282-B62B-4911-91B6-43B1B98908F9}" dt="2026-04-28T05:42:18.290" v="668" actId="1076"/>
          <ac:picMkLst>
            <pc:docMk/>
            <pc:sldMk cId="3861659691" sldId="282"/>
            <ac:picMk id="15" creationId="{35AE861C-8197-5C83-2921-F09023E68B00}"/>
          </ac:picMkLst>
        </pc:picChg>
        <pc:picChg chg="del mod">
          <ac:chgData name="Ueda Isamu" userId="35289799e0376f2e" providerId="LiveId" clId="{DD31E282-B62B-4911-91B6-43B1B98908F9}" dt="2026-04-28T05:42:29.623" v="673" actId="478"/>
          <ac:picMkLst>
            <pc:docMk/>
            <pc:sldMk cId="3861659691" sldId="282"/>
            <ac:picMk id="16" creationId="{7B3B07E8-D558-44C5-F536-149592DC9066}"/>
          </ac:picMkLst>
        </pc:picChg>
        <pc:picChg chg="del mod">
          <ac:chgData name="Ueda Isamu" userId="35289799e0376f2e" providerId="LiveId" clId="{DD31E282-B62B-4911-91B6-43B1B98908F9}" dt="2026-04-28T05:42:30.626" v="676" actId="478"/>
          <ac:picMkLst>
            <pc:docMk/>
            <pc:sldMk cId="3861659691" sldId="282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28T05:43:02.947" v="682" actId="27614"/>
          <ac:picMkLst>
            <pc:docMk/>
            <pc:sldMk cId="3861659691" sldId="282"/>
            <ac:picMk id="19" creationId="{80851CBC-6CCA-A916-ED75-20FD89A52C05}"/>
          </ac:picMkLst>
        </pc:picChg>
      </pc:sldChg>
      <pc:sldChg chg="addSp delSp modSp add del mod">
        <pc:chgData name="Ueda Isamu" userId="35289799e0376f2e" providerId="LiveId" clId="{DD31E282-B62B-4911-91B6-43B1B98908F9}" dt="2026-04-28T05:43:06.594" v="684" actId="47"/>
        <pc:sldMkLst>
          <pc:docMk/>
          <pc:sldMk cId="2686875315" sldId="283"/>
        </pc:sldMkLst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</pc:sldChg>
      <pc:sldChg chg="addSp delSp modSp add mod">
        <pc:chgData name="Ueda Isamu" userId="35289799e0376f2e" providerId="LiveId" clId="{DD31E282-B62B-4911-91B6-43B1B98908F9}" dt="2026-04-28T05:43:12.100" v="685" actId="478"/>
        <pc:sldMkLst>
          <pc:docMk/>
          <pc:sldMk cId="1541831861" sldId="284"/>
        </pc:sldMkLst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picChg chg="del">
          <ac:chgData name="Ueda Isamu" userId="35289799e0376f2e" providerId="LiveId" clId="{DD31E282-B62B-4911-91B6-43B1B98908F9}" dt="2026-04-28T05:43:12.100" v="685" actId="478"/>
          <ac:picMkLst>
            <pc:docMk/>
            <pc:sldMk cId="1541831861" sldId="284"/>
            <ac:picMk id="50" creationId="{003A3C3D-15E3-1F1A-D918-AB2472E805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>  Initialize variable・Set variable・Condition・Apply to each、</a:t>
            </a:r>
          </a:p>
          <a:p>
            <a:r>
              <a:rPr sz="1300"/>
              <a:t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>  変数・繰り返し・条件分岐、それぞれ単体でも使えますが、</a:t>
            </a:r>
          </a:p>
          <a:p>
            <a:r>
              <a:rPr sz="1300"/>
              <a:t>  組み合わさったとき、複雑な業務を1本のフローで自動化できます。</a:t>
            </a:r>
          </a:p>
          <a:p>
            <a:r>
              <a:rPr sz="1300"/>
              <a:t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>  Apply to eachのループの中でも外でも使えます。</a:t>
            </a:r>
          </a:p>
          <a:p>
            <a:r>
              <a:rPr sz="1300"/>
              <a:t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>  リストを1件ずつ見ながら、条件に合うものだけ処理する、</a:t>
            </a:r>
          </a:p>
          <a:p>
            <a:r>
              <a:rPr sz="1300"/>
              <a:t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>  出勤リストをループして、Conditionで出勤判定、Set variableでカウント。</a:t>
            </a:r>
          </a:p>
          <a:p>
            <a:r>
              <a:rPr sz="1300"/>
              <a:t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7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7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7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3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  <a:ea typeface="Meiryo UI"/>
              </a:rPr>
              <a:t>PA45 — Power Automate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34800" y="0"/>
            <a:ext cx="35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r"/>
            <a:r>
              <a:rPr sz="1400" b="0">
                <a:solidFill>
                  <a:srgbClr val="C7D8FF"/>
                </a:solidFill>
                <a:latin typeface="Meiryo UI"/>
                <a:ea typeface="Meiryo UI"/>
              </a:rPr>
              <a:t>第11回 / Vol.11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00000"/>
            <a:ext cx="121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475569"/>
                </a:solidFill>
                <a:latin typeface="Meiryo UI"/>
                <a:ea typeface="Meiryo UI"/>
              </a:rPr>
              <a:t>まもなく開始します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700000"/>
            <a:ext cx="12192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9600" b="1">
                <a:solidFill>
                  <a:srgbClr val="1E3A8A"/>
                </a:solidFill>
                <a:latin typeface="Meiryo UI"/>
                <a:ea typeface="Meiryo UI"/>
              </a:rPr>
              <a:t>20:15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749945"/>
            <a:ext cx="12192000" cy="40011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Meiryo UI"/>
                <a:ea typeface="Meiryo UI"/>
              </a:rPr>
              <a:t>第11回｜実行履歴</a:t>
            </a:r>
            <a:r>
              <a:rPr lang="ja-JP" altLang="en-US" sz="2600" b="1">
                <a:solidFill>
                  <a:srgbClr val="0F172A"/>
                </a:solidFill>
                <a:latin typeface="Meiryo UI"/>
                <a:ea typeface="Meiryo UI"/>
              </a:rPr>
              <a:t>と出力</a:t>
            </a:r>
            <a:r>
              <a:rPr sz="2600" b="1">
                <a:solidFill>
                  <a:srgbClr val="0F172A"/>
                </a:solidFill>
                <a:latin typeface="Meiryo UI"/>
                <a:ea typeface="Meiryo UI"/>
              </a:rPr>
              <a:t>を読めると自動化が楽しくなる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50000"/>
            <a:ext cx="121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Meiryo UI"/>
                <a:ea typeface="Meiryo UI"/>
              </a:rPr>
              <a:t>失敗しないフロー設計｜メールの重要度で振り分け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Meiryo UI"/>
                <a:ea typeface="Meiryo UI"/>
              </a:rPr>
              <a:t>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000" y="530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eiryo UI"/>
                <a:ea typeface="Meiryo UI"/>
              </a:rPr>
              <a:t>Power Automate と Outlook を</a:t>
            </a:r>
          </a:p>
          <a:p>
            <a:r>
              <a:rPr sz="1100" b="1">
                <a:solidFill>
                  <a:srgbClr val="0F172A"/>
                </a:solidFill>
                <a:latin typeface="Meiryo UI"/>
                <a:ea typeface="Meiryo UI"/>
              </a:rPr>
              <a:t>事前に起動しておくとスムーズ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Meiryo UI"/>
                <a:ea typeface="Meiryo UI"/>
              </a:rPr>
              <a:t>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6000" y="530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eiryo UI"/>
                <a:ea typeface="Meiryo UI"/>
              </a:rPr>
              <a:t>後日YouTubeで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Meiryo UI"/>
                <a:ea typeface="Meiryo UI"/>
              </a:rPr>
              <a:t>アーカイブ動画を公開予定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6000" y="5300000"/>
            <a:ext cx="3400000" cy="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16000" y="5300000"/>
            <a:ext cx="5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2200" b="0">
                <a:solidFill>
                  <a:srgbClr val="1E3A8A"/>
                </a:solidFill>
                <a:latin typeface="Meiryo UI"/>
                <a:ea typeface="Meiryo UI"/>
              </a:rPr>
              <a:t>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6000" y="5300000"/>
            <a:ext cx="27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Meiryo UI"/>
                <a:ea typeface="Meiryo UI"/>
              </a:rPr>
              <a:t>Teams表示名がNGの方は</a:t>
            </a:r>
          </a:p>
          <a:p>
            <a:pPr algn="l"/>
            <a:r>
              <a:rPr sz="1000" b="0">
                <a:solidFill>
                  <a:srgbClr val="475569"/>
                </a:solidFill>
                <a:latin typeface="Meiryo UI"/>
                <a:ea typeface="Meiryo UI"/>
              </a:rPr>
              <a:t>匿名参加でOKです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478000"/>
            <a:ext cx="12192000" cy="360000"/>
          </a:xfrm>
          <a:prstGeom prst="rect">
            <a:avLst/>
          </a:prstGeom>
          <a:noFill/>
          <a:ln>
            <a:noFill/>
          </a:ln>
        </p:spPr>
        <p:txBody>
          <a:bodyPr wrap="square" lIns="20000" tIns="0" rIns="20000" bIns="0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Meiryo UI"/>
                <a:ea typeface="Meiryo UI"/>
              </a:rPr>
              <a:t>Power Automate 45  |  Copyright © PA45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2A7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tIns="22860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Meiryo UI"/>
                <a:ea typeface="Meiryo UI"/>
              </a:rPr>
              <a:t>事前準備（今回はほぼ不要です）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96600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Meiryo UI"/>
                <a:ea typeface="Meiryo UI"/>
              </a:rPr>
              <a:t>今回のハンズオンは特別な準備が要りません。下の2つだけ確認しておきましょう。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110947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Meiryo UI"/>
                <a:ea typeface="Meiryo UI"/>
              </a:rPr>
              <a:t>STEP 1   Power Automate にサインインできる</a:t>
            </a:r>
          </a:p>
          <a:p>
            <a:r>
              <a:rPr sz="2000" b="1">
                <a:solidFill>
                  <a:srgbClr val="2A7DD4"/>
                </a:solidFill>
                <a:latin typeface="Meiryo UI"/>
                <a:ea typeface="Meiryo UI"/>
              </a:rPr>
              <a:t>👉 make.powerautomate.com を開いて、サインインできる状態にしておきます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49039"/>
            <a:ext cx="1109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7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2000" b="1">
                <a:solidFill>
                  <a:srgbClr val="2A7DD4"/>
                </a:solidFill>
                <a:latin typeface="Meiryo UI"/>
                <a:ea typeface="Meiryo UI"/>
              </a:rPr>
              <a:t>STEP 2   自分のメール（Outlook）が使える</a:t>
            </a:r>
          </a:p>
          <a:p>
            <a:r>
              <a:rPr sz="2000" b="1">
                <a:solidFill>
                  <a:srgbClr val="2A7DD4"/>
                </a:solidFill>
                <a:latin typeface="Meiryo UI"/>
                <a:ea typeface="Meiryo UI"/>
              </a:rPr>
              <a:t>👉 ハンズオン中、自分から自分へ1通メールを送ってフローを動かします。それだけです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01205" y="220370"/>
            <a:ext cx="24387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Vol.11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269842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PA45【メール受信 × 条件分岐 × 実行履歴】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151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第11回： </a:t>
            </a:r>
          </a:p>
          <a:p>
            <a:r>
              <a:rPr sz="3200" b="1">
                <a:solidFill>
                  <a:srgbClr val="1F2937"/>
                </a:solidFill>
                <a:latin typeface="Meiryo UI"/>
                <a:ea typeface="Meiryo UI"/>
              </a:rPr>
              <a:t>失敗しないフロー設計</a:t>
            </a:r>
          </a:p>
          <a:p>
            <a:r>
              <a:rPr sz="3200" b="1">
                <a:solidFill>
                  <a:srgbClr val="1F2937"/>
                </a:solidFill>
                <a:latin typeface="Meiryo UI"/>
                <a:ea typeface="Meiryo UI"/>
              </a:rPr>
              <a:t>実行履歴</a:t>
            </a:r>
            <a:r>
              <a:rPr lang="ja-JP" altLang="en-US" sz="3200" b="1">
                <a:solidFill>
                  <a:srgbClr val="1F2937"/>
                </a:solidFill>
                <a:latin typeface="Meiryo UI"/>
                <a:ea typeface="Meiryo UI"/>
              </a:rPr>
              <a:t>と出力をみてみよう</a:t>
            </a:r>
            <a:endParaRPr sz="3200" b="1">
              <a:solidFill>
                <a:srgbClr val="1F2937"/>
              </a:solidFill>
              <a:latin typeface="Meiryo UI"/>
              <a:ea typeface="Meiryo UI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Theme　メールの重要度で条件分岐｜実行履歴の出力を読む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2999" y="5273596"/>
            <a:ext cx="779502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Target　条件分岐（Vol.3）を触った方／はじめての方も、見るだけでOK</a:t>
            </a:r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</a:t>
            </a:r>
            <a:r>
              <a:rPr lang="ja-JP" altLang="en-US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仕組みを理解します</a:t>
            </a: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7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・広島コミュニティ </a:t>
            </a:r>
            <a:r>
              <a:rPr lang="en-US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PLUG </a:t>
            </a:r>
            <a:r>
              <a:rPr lang="ja-JP" altLang="en-US" sz="160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 </a:t>
            </a:r>
            <a:r>
              <a:rPr lang="en-US" sz="16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Automate 支援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今日やること（3つだけ）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メール受信でフローを作る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768937" y="4828031"/>
            <a:ext cx="3269054" cy="79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「新しいメールが届いたとき」をトリガーに、</a:t>
            </a:r>
          </a:p>
          <a:p>
            <a:r>
              <a:rPr sz="1600">
                <a:solidFill>
                  <a:srgbClr val="6B7280"/>
                </a:solidFill>
                <a:latin typeface="Meiryo UI"/>
                <a:ea typeface="Meiryo UI"/>
              </a:rPr>
              <a:t>届いたメールで動くフローを作ります。</a:t>
            </a:r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重要度で条件分岐させる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790106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「条件」アクションで、</a:t>
            </a:r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メールの重要度が</a:t>
            </a:r>
          </a:p>
          <a:p>
            <a:r>
              <a:rPr sz="1600">
                <a:solidFill>
                  <a:srgbClr val="6B7280"/>
                </a:solidFill>
                <a:latin typeface="Meiryo UI"/>
                <a:ea typeface="Meiryo UI"/>
              </a:rPr>
              <a:t>「高」かどうかで処理を分けます。</a:t>
            </a:r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実行履歴</a:t>
            </a:r>
            <a:r>
              <a:rPr lang="ja-JP" altLang="en-US" sz="14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と</a:t>
            </a:r>
            <a:r>
              <a:rPr lang="en-US" sz="14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出力を読む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427722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わざと失敗させて、実行履歴の出力から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Meiryo UI"/>
                <a:ea typeface="Meiryo UI"/>
              </a:rPr>
              <a:t>原因を見つけ、直します。</a:t>
            </a:r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852951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テーマ解説 (1/2)：実行履歴って何？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814990" y="6322778"/>
            <a:ext cx="7139243" cy="405006"/>
            <a:chOff x="6034969" y="604238"/>
            <a:chExt cx="5862289" cy="405006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342678" y="1807073"/>
            <a:ext cx="6583680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①「実行履歴」は、フローを動かした記録。</a:t>
            </a:r>
            <a:endParaRPr lang="en-US" sz="2000" b="0">
              <a:solidFill>
                <a:srgbClr val="1F2937"/>
              </a:solidFill>
              <a:latin typeface="Meiryo UI"/>
              <a:ea typeface="Meiryo UI"/>
            </a:endParaRPr>
          </a:p>
          <a:p>
            <a:pPr marL="0" indent="0" algn="l">
              <a:spcBef>
                <a:spcPts val="1000"/>
              </a:spcBef>
              <a:buNone/>
            </a:pP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いつ・どのアクションが・成功（緑）か失敗（赤）かが残ります。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②各アクションを開くと「入力」と「出力」が見られます。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endParaRPr sz="2000" b="0">
              <a:solidFill>
                <a:srgbClr val="1F2937"/>
              </a:solidFill>
              <a:latin typeface="Meiryo UI"/>
              <a:ea typeface="Meiryo U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601097" y="1737360"/>
            <a:ext cx="5486400" cy="4114800"/>
          </a:xfrm>
          <a:prstGeom prst="roundRect">
            <a:avLst>
              <a:gd name="adj" fmla="val 10741"/>
            </a:avLst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solidFill>
                  <a:srgbClr val="556677"/>
                </a:solidFill>
                <a:latin typeface="Meiryo UI"/>
                <a:ea typeface="Meiryo UI"/>
              </a:rPr>
              <a:t>実行履歴の一覧画面
（緑＝成功・赤＝失敗が見える画面）</a:t>
            </a:r>
          </a:p>
        </p:txBody>
      </p:sp>
      <p:pic>
        <p:nvPicPr>
          <p:cNvPr id="11" name="図 10" descr="The image displays a log of execution history for a software application, detailing various successful test events that occurred on different dates and times.&#10;&#10;AI 生成コンテンツは誤りを含む可能性があります。">
            <a:extLst>
              <a:ext uri="{FF2B5EF4-FFF2-40B4-BE49-F238E27FC236}">
                <a16:creationId xmlns:a16="http://schemas.microsoft.com/office/drawing/2014/main" id="{63FB1985-BEE1-52FF-70DD-1FFFBC99E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40" y="2496312"/>
            <a:ext cx="5194667" cy="25717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81527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テーマ解説 (2/2)：画面の「表示」と「値</a:t>
            </a:r>
            <a:r>
              <a:rPr lang="en-US" sz="3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」は違う</a:t>
            </a:r>
            <a:r>
              <a:rPr lang="ja-JP" altLang="en-US" sz="3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時がある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8961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82880" y="2107458"/>
            <a:ext cx="6583680" cy="3265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sz="2000" b="1">
                <a:solidFill>
                  <a:srgbClr val="C00000"/>
                </a:solidFill>
                <a:latin typeface="Meiryo UI"/>
                <a:ea typeface="Meiryo UI"/>
              </a:rPr>
              <a:t>④画面に見える「表示」と、</a:t>
            </a:r>
            <a:br>
              <a:rPr lang="en-US" sz="2000" b="1">
                <a:solidFill>
                  <a:srgbClr val="C00000"/>
                </a:solidFill>
                <a:latin typeface="Meiryo UI"/>
                <a:ea typeface="Meiryo UI"/>
              </a:rPr>
            </a:br>
            <a:r>
              <a:rPr lang="ja-JP" altLang="en-US" sz="2000" b="1">
                <a:solidFill>
                  <a:srgbClr val="C00000"/>
                </a:solidFill>
                <a:latin typeface="Meiryo UI"/>
                <a:ea typeface="Meiryo UI"/>
              </a:rPr>
              <a:t>　</a:t>
            </a:r>
            <a:r>
              <a:rPr sz="2000" b="1">
                <a:solidFill>
                  <a:srgbClr val="C00000"/>
                </a:solidFill>
                <a:latin typeface="Meiryo UI"/>
                <a:ea typeface="Meiryo UI"/>
              </a:rPr>
              <a:t>フローに実際に渡る「値」は違うことがあります</a:t>
            </a: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⑤例：メールの重要度。画面の表示は「高」でも、出力に渡る値は英語の "High" です。</a:t>
            </a:r>
          </a:p>
          <a:p>
            <a:pPr>
              <a:spcBef>
                <a:spcPts val="1000"/>
              </a:spcBef>
            </a:pP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⑥条件に「高」と書くと一致せず、フローは赤くならないまま間違った方へ進みます。</a:t>
            </a:r>
            <a:r>
              <a:rPr sz="2000" b="1">
                <a:solidFill>
                  <a:srgbClr val="C00000"/>
                </a:solidFill>
                <a:latin typeface="Meiryo UI"/>
                <a:ea typeface="Meiryo UI"/>
              </a:rPr>
              <a:t>出力を見ないと気づけません。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0" y="1737360"/>
            <a:ext cx="4572000" cy="4114800"/>
          </a:xfrm>
          <a:prstGeom prst="roundRect">
            <a:avLst/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solidFill>
                  <a:srgbClr val="556677"/>
                </a:solidFill>
                <a:latin typeface="Meiryo UI"/>
                <a:ea typeface="Meiryo UI"/>
              </a:rPr>
              <a:t>メールの重要度を「高」にしている画面
または 条件アクションの設定画面</a:t>
            </a:r>
          </a:p>
        </p:txBody>
      </p:sp>
      <p:pic>
        <p:nvPicPr>
          <p:cNvPr id="11" name="図 10" descr="The image shows a software interface with a Japanese text section, detailing how to set up a condition expression with parameters, including comparison operators and values.&#10;&#10;AI 生成コンテンツは誤りを含む可能性があります。">
            <a:extLst>
              <a:ext uri="{FF2B5EF4-FFF2-40B4-BE49-F238E27FC236}">
                <a16:creationId xmlns:a16="http://schemas.microsoft.com/office/drawing/2014/main" id="{864EEDAE-9E79-48C1-2375-93B16C5A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5383" y="2470664"/>
            <a:ext cx="4362994" cy="26264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図 15" descr="The image depicts a highly noticeable, yellow warning triangle with a black border and an exclamation mark inside, typically used to denote caution or danger.&#10;&#10;AI 生成コンテンツは誤りを含む可能性があります。">
            <a:extLst>
              <a:ext uri="{FF2B5EF4-FFF2-40B4-BE49-F238E27FC236}">
                <a16:creationId xmlns:a16="http://schemas.microsoft.com/office/drawing/2014/main" id="{C8432271-4886-A028-0343-4894A3D4B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6754" y="241059"/>
            <a:ext cx="1086650" cy="1086650"/>
          </a:xfrm>
          <a:prstGeom prst="rect">
            <a:avLst/>
          </a:prstGeom>
        </p:spPr>
      </p:pic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C4BE0E6-C887-3F7B-7B2A-B7AB36E89626}"/>
              </a:ext>
            </a:extLst>
          </p:cNvPr>
          <p:cNvSpPr/>
          <p:nvPr/>
        </p:nvSpPr>
        <p:spPr>
          <a:xfrm>
            <a:off x="9805851" y="4119154"/>
            <a:ext cx="1306286" cy="348343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05" y="-9144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2110" y="628650"/>
            <a:ext cx="96012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入力と出力って何？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82880" y="1781251"/>
            <a:ext cx="6583680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🎯 アクションには「入力」と「出力」があります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endParaRPr lang="en-US" altLang="ja-JP" sz="200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・</a:t>
            </a:r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入力</a:t>
            </a: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：そのアクションが受け取った値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（例：条件の入力 ＝「重要度」と「高」）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endParaRPr sz="2000" b="0">
              <a:solidFill>
                <a:srgbClr val="1F2937"/>
              </a:solidFill>
              <a:latin typeface="Meiryo UI"/>
              <a:ea typeface="Meiryo UI"/>
            </a:endParaRPr>
          </a:p>
          <a:p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・</a:t>
            </a:r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出力</a:t>
            </a: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：そのアクションが次に渡す値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（例：トリガーの出力 ＝ 件名・差出人・重要度 など）</a:t>
            </a:r>
            <a:endParaRPr lang="en-US" sz="2000" b="0">
              <a:solidFill>
                <a:srgbClr val="1F2937"/>
              </a:solidFill>
              <a:latin typeface="Meiryo UI"/>
              <a:ea typeface="Meiryo UI"/>
            </a:endParaRPr>
          </a:p>
          <a:p>
            <a:endParaRPr sz="2000" b="0">
              <a:solidFill>
                <a:srgbClr val="1F2937"/>
              </a:solidFill>
              <a:latin typeface="Meiryo UI"/>
              <a:ea typeface="Meiryo UI"/>
            </a:endParaRPr>
          </a:p>
          <a:p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・</a:t>
            </a:r>
            <a:r>
              <a:rPr sz="2000" b="1">
                <a:solidFill>
                  <a:srgbClr val="C00000"/>
                </a:solidFill>
                <a:latin typeface="Meiryo UI"/>
                <a:ea typeface="Meiryo UI"/>
              </a:rPr>
              <a:t>前のアクションの「出力」が、次のアクションの「入力」</a:t>
            </a: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になる。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この受け渡しでフローは動きます。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44343" y="1737360"/>
            <a:ext cx="5634446" cy="4114800"/>
          </a:xfrm>
          <a:prstGeom prst="roundRect">
            <a:avLst/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solidFill>
                  <a:srgbClr val="556677"/>
                </a:solidFill>
                <a:latin typeface="Meiryo UI"/>
                <a:ea typeface="Meiryo UI"/>
              </a:rPr>
              <a:t>アクションを開いて
「入力」「出力」が見えている画面</a:t>
            </a:r>
          </a:p>
        </p:txBody>
      </p:sp>
      <p:pic>
        <p:nvPicPr>
          <p:cNvPr id="11" name="図 10" descr="The image shows a user interface with a form or dashboard for monitoring and managing a new email notification, specifically for the V3 version, with fields for time, input, and various status indicators.&#10;&#10;AI 生成コンテンツは誤りを含む可能性があります。">
            <a:extLst>
              <a:ext uri="{FF2B5EF4-FFF2-40B4-BE49-F238E27FC236}">
                <a16:creationId xmlns:a16="http://schemas.microsoft.com/office/drawing/2014/main" id="{9075CAAA-BE7F-0705-74DC-CF9BA2487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23" y="2266908"/>
            <a:ext cx="5242726" cy="29789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図 13" descr="The image depicts two animated characters, one in a business suit and the other in traditional attire, energetically waving a sword in mo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1FA4F8A3-E816-D610-5316-58E852D90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718" y="101365"/>
            <a:ext cx="2823576" cy="2133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05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71551" y="636536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実行履歴で入力・出力を見る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37948" y="1494313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82880" y="1664075"/>
            <a:ext cx="6583680" cy="4428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🎯 実行</a:t>
            </a:r>
            <a:r>
              <a:rPr lang="ja-JP" altLang="en-US" sz="2000" b="1">
                <a:solidFill>
                  <a:srgbClr val="1F2937"/>
                </a:solidFill>
                <a:latin typeface="Meiryo UI"/>
                <a:ea typeface="Meiryo UI"/>
              </a:rPr>
              <a:t>結果</a:t>
            </a:r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を開くと、入力・出力が全部見えます</a:t>
            </a:r>
            <a:endParaRPr lang="en-US" sz="2000" b="1">
              <a:solidFill>
                <a:srgbClr val="1F2937"/>
              </a:solidFill>
              <a:latin typeface="Meiryo UI"/>
              <a:ea typeface="Meiryo UI"/>
            </a:endParaRPr>
          </a:p>
          <a:p>
            <a:pPr marL="0" indent="0" algn="l">
              <a:spcBef>
                <a:spcPts val="1000"/>
              </a:spcBef>
              <a:buNone/>
            </a:pPr>
            <a:endParaRPr lang="en-US" altLang="ja-JP" sz="2000" b="1">
              <a:solidFill>
                <a:srgbClr val="1F2937"/>
              </a:solidFill>
              <a:latin typeface="+mn-ea"/>
              <a:cs typeface="Noto Sans JP" pitchFamily="34" charset="-120"/>
            </a:endParaRPr>
          </a:p>
          <a:p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・フローを実行 → 左メニューの「実行履歴」を開く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endParaRPr sz="2000" b="0">
              <a:solidFill>
                <a:srgbClr val="1F2937"/>
              </a:solidFill>
              <a:latin typeface="Meiryo UI"/>
              <a:ea typeface="Meiryo UI"/>
            </a:endParaRPr>
          </a:p>
          <a:p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・見たい実行をクリック → 各アクションをクリック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endParaRPr sz="2000" b="0">
              <a:solidFill>
                <a:srgbClr val="1F2937"/>
              </a:solidFill>
              <a:latin typeface="Meiryo UI"/>
              <a:ea typeface="Meiryo UI"/>
            </a:endParaRPr>
          </a:p>
          <a:p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・そのアクションの「入力」と「出力」が表示されます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（例：トリガーの出力に </a:t>
            </a:r>
            <a:r>
              <a:rPr sz="2000" b="1">
                <a:solidFill>
                  <a:srgbClr val="C00000"/>
                </a:solidFill>
                <a:latin typeface="Meiryo UI"/>
                <a:ea typeface="Meiryo UI"/>
              </a:rPr>
              <a:t>"High" </a:t>
            </a: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が入っている）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endParaRPr sz="2000" b="0">
              <a:solidFill>
                <a:srgbClr val="1F2937"/>
              </a:solidFill>
              <a:latin typeface="Meiryo UI"/>
              <a:ea typeface="Meiryo UI"/>
            </a:endParaRPr>
          </a:p>
          <a:p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・思ったとおりに動かないときは、まずここを見る。</a:t>
            </a:r>
            <a:br>
              <a:rPr lang="en-US" sz="2000" b="0">
                <a:solidFill>
                  <a:srgbClr val="1F2937"/>
                </a:solidFill>
                <a:latin typeface="Meiryo UI"/>
                <a:ea typeface="Meiryo UI"/>
              </a:rPr>
            </a:br>
            <a:r>
              <a:rPr sz="2000" b="0">
                <a:solidFill>
                  <a:srgbClr val="1F2937"/>
                </a:solidFill>
                <a:latin typeface="Meiryo UI"/>
                <a:ea typeface="Meiryo UI"/>
              </a:rPr>
              <a:t>食い違っている値が必ず写っています。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1737360"/>
            <a:ext cx="5394960" cy="4114800"/>
          </a:xfrm>
          <a:prstGeom prst="roundRect">
            <a:avLst/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solidFill>
                  <a:srgbClr val="556677"/>
                </a:solidFill>
                <a:latin typeface="Meiryo UI"/>
                <a:ea typeface="Meiryo UI"/>
              </a:rPr>
              <a:t>実行履歴で トリガーの出力
が見えている画面</a:t>
            </a:r>
          </a:p>
        </p:txBody>
      </p:sp>
      <p:pic>
        <p:nvPicPr>
          <p:cNvPr id="11" name="図 10" descr="The image displays a JSON object representing an email with attributes like subject, body preview, importance, and various identifiers.&#10;&#10;AI 生成コンテンツは誤りを含む可能性があります。">
            <a:extLst>
              <a:ext uri="{FF2B5EF4-FFF2-40B4-BE49-F238E27FC236}">
                <a16:creationId xmlns:a16="http://schemas.microsoft.com/office/drawing/2014/main" id="{F3CBCE24-76A1-A5BD-25FC-AACDE0689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289" y="2019910"/>
            <a:ext cx="4660115" cy="35191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CFCC7EF-7393-925D-E760-242DDE64CAA5}"/>
              </a:ext>
            </a:extLst>
          </p:cNvPr>
          <p:cNvSpPr/>
          <p:nvPr/>
        </p:nvSpPr>
        <p:spPr>
          <a:xfrm>
            <a:off x="8536577" y="4130061"/>
            <a:ext cx="1306286" cy="348343"/>
          </a:xfrm>
          <a:prstGeom prst="roundRect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フロー解説 ①  トリガーと条件を置く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82880" y="1705357"/>
            <a:ext cx="6583680" cy="4260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Bef>
                <a:spcPts val="1000"/>
              </a:spcBef>
              <a:buNone/>
            </a:pPr>
            <a:r>
              <a:rPr b="1">
                <a:solidFill>
                  <a:srgbClr val="1F2937"/>
                </a:solidFill>
                <a:latin typeface="Meiryo UI"/>
                <a:ea typeface="Meiryo UI"/>
              </a:rPr>
              <a:t>🎯 目的：メールが届いたら重要度で仕分けるフローの形を作る</a:t>
            </a:r>
            <a:endParaRPr lang="en-US" altLang="ja-JP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r>
              <a:rPr b="0">
                <a:solidFill>
                  <a:srgbClr val="1F2937"/>
                </a:solidFill>
                <a:latin typeface="Meiryo UI"/>
                <a:ea typeface="Meiryo UI"/>
              </a:rPr>
              <a:t>・トリガー「新しいメールが届いたとき」を置く</a:t>
            </a:r>
            <a:endParaRPr lang="en-US" b="0">
              <a:solidFill>
                <a:srgbClr val="1F2937"/>
              </a:solidFill>
              <a:latin typeface="Meiryo UI"/>
              <a:ea typeface="Meiryo UI"/>
            </a:endParaRPr>
          </a:p>
          <a:p>
            <a:endParaRPr b="0">
              <a:solidFill>
                <a:srgbClr val="1F2937"/>
              </a:solidFill>
              <a:latin typeface="Meiryo UI"/>
              <a:ea typeface="Meiryo UI"/>
            </a:endParaRPr>
          </a:p>
          <a:p>
            <a:r>
              <a:rPr b="0">
                <a:solidFill>
                  <a:srgbClr val="1F2937"/>
                </a:solidFill>
                <a:latin typeface="Meiryo UI"/>
                <a:ea typeface="Meiryo UI"/>
              </a:rPr>
              <a:t>・「条件」アクションを追加する</a:t>
            </a:r>
            <a:endParaRPr lang="en-US" b="0">
              <a:solidFill>
                <a:srgbClr val="1F2937"/>
              </a:solidFill>
              <a:latin typeface="Meiryo UI"/>
              <a:ea typeface="Meiryo UI"/>
            </a:endParaRPr>
          </a:p>
          <a:p>
            <a:endParaRPr b="0">
              <a:solidFill>
                <a:srgbClr val="1F2937"/>
              </a:solidFill>
              <a:latin typeface="Meiryo UI"/>
              <a:ea typeface="Meiryo UI"/>
            </a:endParaRPr>
          </a:p>
          <a:p>
            <a:r>
              <a:rPr b="0">
                <a:solidFill>
                  <a:srgbClr val="1F2937"/>
                </a:solidFill>
                <a:latin typeface="Meiryo UI"/>
                <a:ea typeface="Meiryo UI"/>
              </a:rPr>
              <a:t>・条件：メールの重要度 が次の値に等しい「高」</a:t>
            </a:r>
            <a:br>
              <a:rPr lang="en-US" b="0">
                <a:solidFill>
                  <a:srgbClr val="1F2937"/>
                </a:solidFill>
                <a:latin typeface="Meiryo UI"/>
                <a:ea typeface="Meiryo UI"/>
              </a:rPr>
            </a:br>
            <a:r>
              <a:rPr b="0">
                <a:solidFill>
                  <a:srgbClr val="1F2937"/>
                </a:solidFill>
                <a:latin typeface="Meiryo UI"/>
                <a:ea typeface="Meiryo UI"/>
              </a:rPr>
              <a:t>（まずは、わざと日本語の「高」と書きます）</a:t>
            </a:r>
            <a:endParaRPr lang="en-US" b="0">
              <a:solidFill>
                <a:srgbClr val="1F2937"/>
              </a:solidFill>
              <a:latin typeface="Meiryo UI"/>
              <a:ea typeface="Meiryo UI"/>
            </a:endParaRPr>
          </a:p>
          <a:p>
            <a:endParaRPr b="0">
              <a:solidFill>
                <a:srgbClr val="1F2937"/>
              </a:solidFill>
              <a:latin typeface="Meiryo UI"/>
              <a:ea typeface="Meiryo UI"/>
            </a:endParaRPr>
          </a:p>
          <a:p>
            <a:r>
              <a:rPr b="0">
                <a:solidFill>
                  <a:srgbClr val="1F2937"/>
                </a:solidFill>
                <a:latin typeface="Meiryo UI"/>
                <a:ea typeface="Meiryo UI"/>
              </a:rPr>
              <a:t>・はい／いいえ それぞれに「作成」でメッセージを置く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31242" y="1737360"/>
            <a:ext cx="5181638" cy="4114800"/>
          </a:xfrm>
          <a:prstGeom prst="roundRect">
            <a:avLst>
              <a:gd name="adj" fmla="val 11164"/>
            </a:avLst>
          </a:prstGeom>
          <a:solidFill>
            <a:srgbClr val="F1F5FB"/>
          </a:solidFill>
          <a:ln w="19050">
            <a:solidFill>
              <a:srgbClr val="9CB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2A5E9E"/>
                </a:solidFill>
                <a:latin typeface="Meiryo UI"/>
                <a:ea typeface="Meiryo UI"/>
              </a:rPr>
              <a:t>📷 ここにスクショを貼る</a:t>
            </a:r>
          </a:p>
          <a:p>
            <a:pPr algn="ctr"/>
            <a:r>
              <a:rPr sz="1400">
                <a:solidFill>
                  <a:srgbClr val="556677"/>
                </a:solidFill>
                <a:latin typeface="Meiryo UI"/>
                <a:ea typeface="Meiryo UI"/>
              </a:rPr>
              <a:t>完成したフロー全体
（トリガー＋条件＋作成）</a:t>
            </a:r>
          </a:p>
        </p:txBody>
      </p:sp>
      <p:pic>
        <p:nvPicPr>
          <p:cNvPr id="11" name="図 10" descr="The image depicts a decision-making flowchart with a message received (V3) being marked as important, leading to a True or False outcome, and a message creation process with various steps.&#10;&#10;AI 生成コンテンツは誤りを含む可能性があります。">
            <a:extLst>
              <a:ext uri="{FF2B5EF4-FFF2-40B4-BE49-F238E27FC236}">
                <a16:creationId xmlns:a16="http://schemas.microsoft.com/office/drawing/2014/main" id="{BD7A203F-F9C5-A916-279D-CCBA430D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883" y="1920657"/>
            <a:ext cx="4790356" cy="3760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814990" y="6322778"/>
            <a:ext cx="7139243" cy="405006"/>
            <a:chOff x="6034969" y="604238"/>
            <a:chExt cx="5862289" cy="405006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Meiryo UI" pitchFamily="34" charset="0"/>
                <a:ea typeface="Meiryo UI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Vol.11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① フローが成功（緑）でも、結果が正しいとは限らない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544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赤いエラーが出なくても、間違った方へ静かに進むことがあります。</a:t>
            </a:r>
            <a:endParaRPr lang="en-US" sz="1800" dirty="0"/>
          </a:p>
          <a:p>
            <a:r>
              <a:rPr sz="1800">
                <a:solidFill>
                  <a:srgbClr val="4B5563"/>
                </a:solidFill>
                <a:latin typeface="Meiryo UI"/>
                <a:ea typeface="Meiryo UI"/>
              </a:rPr>
              <a:t>結果を信じる前に、実行履歴の出力で「本当に合っているか」を確かめましょう。</a:t>
            </a:r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71953" y="3163346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② 後続に値を渡すアクションは、まず出力で「本当の値」を確認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444844" y="3742639"/>
            <a:ext cx="101720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条件に書く前に、実行履歴でそのアクションの出力を見る。</a:t>
            </a:r>
          </a:p>
          <a:p>
            <a:r>
              <a:rPr sz="1800">
                <a:solidFill>
                  <a:srgbClr val="4B5563"/>
                </a:solidFill>
                <a:latin typeface="Meiryo UI"/>
                <a:ea typeface="Meiryo UI"/>
              </a:rPr>
              <a:t>「画面の表示」と「渡る値」は違うことがある、と知っておく。</a:t>
            </a: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③ 表示と値は違う ── 同じ罠があちこちに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重要度＝High/Normal/Low、承認結果＝Approve/Reject、はい・いいえ列＝true/false。</a:t>
            </a:r>
            <a:endParaRPr lang="en-US" sz="1800" dirty="0"/>
          </a:p>
          <a:p>
            <a:r>
              <a:rPr sz="1800">
                <a:solidFill>
                  <a:srgbClr val="4B5563"/>
                </a:solidFill>
                <a:latin typeface="Meiryo UI"/>
                <a:ea typeface="Meiryo UI"/>
              </a:rPr>
              <a:t>どれも英語や真偽値。出力を見れば「本当の値」が分かります。</a:t>
            </a:r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17320" y="2066544"/>
            <a:ext cx="2468880" cy="637793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17320" y="2181647"/>
            <a:ext cx="2468880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重要メール通知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重要度が高いメールを</a:t>
            </a:r>
          </a:p>
          <a:p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Teams等へすぐ通知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619049" y="3858372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新しいメールが届いたとき</a:t>
            </a:r>
          </a:p>
          <a:p>
            <a:r>
              <a:rPr sz="1600" b="1">
                <a:latin typeface="Meiryo UI"/>
                <a:ea typeface="Meiryo UI"/>
              </a:rPr>
              <a:t>→ 条件（重要度）</a:t>
            </a:r>
          </a:p>
          <a:p>
            <a:r>
              <a:rPr sz="1600" b="1">
                <a:latin typeface="Meiryo UI"/>
                <a:ea typeface="Meiryo UI"/>
              </a:rPr>
              <a:t>→ Teamsで通知</a:t>
            </a:r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メール → 条件 → 通知</a:t>
            </a:r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479687" y="1917917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9882" y="2109027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40680" y="1998232"/>
            <a:ext cx="2468880" cy="588606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440680" y="2125428"/>
            <a:ext cx="2468880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差出人で振分け</a:t>
            </a:r>
          </a:p>
        </p:txBody>
      </p:sp>
      <p:sp>
        <p:nvSpPr>
          <p:cNvPr id="21" name="Text 16"/>
          <p:cNvSpPr txBox="1"/>
          <p:nvPr/>
        </p:nvSpPr>
        <p:spPr>
          <a:xfrm>
            <a:off x="4416094" y="3038477"/>
            <a:ext cx="3829965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上司・取引先のメールを</a:t>
            </a:r>
            <a:endParaRPr lang="en-US" sz="3600" dirty="0"/>
          </a:p>
          <a:p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別フォルダへ自動仕分け</a:t>
            </a:r>
          </a:p>
        </p:txBody>
      </p:sp>
      <p:sp>
        <p:nvSpPr>
          <p:cNvPr id="22" name="Text 17"/>
          <p:cNvSpPr txBox="1"/>
          <p:nvPr/>
        </p:nvSpPr>
        <p:spPr>
          <a:xfrm>
            <a:off x="4509813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新しいメールが届いたとき</a:t>
            </a:r>
          </a:p>
          <a:p>
            <a:r>
              <a:rPr sz="1600" b="1">
                <a:latin typeface="Meiryo UI"/>
                <a:ea typeface="Meiryo UI"/>
              </a:rPr>
              <a:t>→ 条件（差出人）</a:t>
            </a:r>
          </a:p>
          <a:p>
            <a:r>
              <a:rPr sz="1600" b="1">
                <a:latin typeface="Meiryo UI"/>
                <a:ea typeface="Meiryo UI"/>
              </a:rPr>
              <a:t>→ フォルダへ移動</a:t>
            </a:r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4714569" y="5398054"/>
            <a:ext cx="3301062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メール → 条件 → 仕分け</a:t>
            </a:r>
          </a:p>
        </p:txBody>
      </p:sp>
      <p:sp>
        <p:nvSpPr>
          <p:cNvPr id="27" name="Shape 21"/>
          <p:cNvSpPr/>
          <p:nvPr/>
        </p:nvSpPr>
        <p:spPr>
          <a:xfrm>
            <a:off x="8246059" y="1790914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372600" y="1952181"/>
            <a:ext cx="2468880" cy="775966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372600" y="2215734"/>
            <a:ext cx="2468880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件名で仕分け</a:t>
            </a:r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件名に特定の語を含む</a:t>
            </a:r>
          </a:p>
          <a:p>
            <a:r>
              <a:rPr sz="2000" b="1">
                <a:solidFill>
                  <a:srgbClr val="1F2937"/>
                </a:solidFill>
                <a:latin typeface="Meiryo UI"/>
                <a:ea typeface="Meiryo UI"/>
              </a:rPr>
              <a:t>メールを自動で記録</a:t>
            </a:r>
          </a:p>
        </p:txBody>
      </p:sp>
      <p:sp>
        <p:nvSpPr>
          <p:cNvPr id="33" name="Text 26"/>
          <p:cNvSpPr txBox="1"/>
          <p:nvPr/>
        </p:nvSpPr>
        <p:spPr>
          <a:xfrm>
            <a:off x="8516611" y="388565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新しいメールが届いたとき</a:t>
            </a:r>
          </a:p>
          <a:p>
            <a:r>
              <a:rPr sz="1600" b="1">
                <a:latin typeface="Meiryo UI"/>
                <a:ea typeface="Meiryo UI"/>
              </a:rPr>
              <a:t>→ 条件（件名）</a:t>
            </a:r>
          </a:p>
          <a:p>
            <a:r>
              <a:rPr sz="1600" b="1">
                <a:latin typeface="Meiryo UI"/>
                <a:ea typeface="Meiryo UI"/>
              </a:rPr>
              <a:t>→ リストに記録</a:t>
            </a:r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メールの仕分けは応用がきく</a:t>
            </a:r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111360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latin typeface="Meiryo UI"/>
                <a:ea typeface="Meiryo UI"/>
              </a:rPr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>
                <a:latin typeface="Meiryo UI"/>
                <a:ea typeface="Meiryo UI"/>
              </a:rPr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Meiryo UI" pitchFamily="34" charset="0"/>
                <a:ea typeface="Meiryo UI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575082" y="5283885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>
                <a:latin typeface="Meiryo UI"/>
                <a:ea typeface="Meiryo UI"/>
              </a:rPr>
              <a:t>チャット欄に</a:t>
            </a:r>
            <a:r>
              <a:rPr lang="en-US" altLang="ja-JP">
                <a:latin typeface="Meiryo UI"/>
                <a:ea typeface="Meiryo UI"/>
              </a:rPr>
              <a:t>URL</a:t>
            </a:r>
            <a:r>
              <a:rPr lang="ja-JP" altLang="en-US">
                <a:latin typeface="Meiryo UI"/>
                <a:ea typeface="Meiryo UI"/>
              </a:rPr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1656</Words>
  <Application>Microsoft Office PowerPoint</Application>
  <PresentationFormat>ワイド画面</PresentationFormat>
  <Paragraphs>374</Paragraphs>
  <Slides>16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Meiryo UI</vt:lpstr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30</cp:revision>
  <dcterms:created xsi:type="dcterms:W3CDTF">2026-03-02T01:22:39Z</dcterms:created>
  <dcterms:modified xsi:type="dcterms:W3CDTF">2026-05-20T04:46:35Z</dcterms:modified>
</cp:coreProperties>
</file>