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B9AE0AD-04AF-57D0-ED59-D70F306921CC}"/>
              </a:ext>
            </a:extLst>
          </p:cNvPr>
          <p:cNvSpPr txBox="1"/>
          <p:nvPr/>
        </p:nvSpPr>
        <p:spPr>
          <a:xfrm>
            <a:off x="201886" y="1688811"/>
            <a:ext cx="10281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「申請日 → 氏名 → 所属 → 希望日 → 理由」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E1A5B5C-FEBE-7A0A-F1DE-EBC2E387A690}"/>
              </a:ext>
            </a:extLst>
          </p:cNvPr>
          <p:cNvSpPr txBox="1"/>
          <p:nvPr/>
        </p:nvSpPr>
        <p:spPr>
          <a:xfrm>
            <a:off x="201885" y="141018"/>
            <a:ext cx="110778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Copilot Studio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　操作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Tips</a:t>
            </a:r>
          </a:p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質問ノードは“聞く順番”を意識すると会話が自然になる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F1A96D6-87D8-D138-EF0B-F29E28085278}"/>
              </a:ext>
            </a:extLst>
          </p:cNvPr>
          <p:cNvSpPr/>
          <p:nvPr/>
        </p:nvSpPr>
        <p:spPr>
          <a:xfrm>
            <a:off x="45720" y="65314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2" name="図 51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9AD3D3E0-D0A4-2141-A73B-71EC00A41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48" b="95370" l="7588" r="95331">
                        <a14:foregroundMark x1="29377" y1="38148" x2="29377" y2="38148"/>
                        <a14:foregroundMark x1="17315" y1="33519" x2="21012" y2="68704"/>
                        <a14:foregroundMark x1="13619" y1="37593" x2="14397" y2="59444"/>
                        <a14:foregroundMark x1="14397" y1="59444" x2="14786" y2="59444"/>
                        <a14:foregroundMark x1="11673" y1="44074" x2="11284" y2="62407"/>
                        <a14:foregroundMark x1="9144" y1="43333" x2="9144" y2="43333"/>
                        <a14:foregroundMark x1="9339" y1="49259" x2="7782" y2="41667"/>
                        <a14:foregroundMark x1="90467" y1="31481" x2="81907" y2="67037"/>
                        <a14:foregroundMark x1="81907" y1="67037" x2="53307" y2="91667"/>
                        <a14:foregroundMark x1="52529" y1="7407" x2="52529" y2="7407"/>
                        <a14:foregroundMark x1="95525" y1="23148" x2="95525" y2="23148"/>
                        <a14:foregroundMark x1="51556" y1="3333" x2="51556" y2="3333"/>
                        <a14:foregroundMark x1="50778" y1="95370" x2="50778" y2="953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6611" y="844268"/>
            <a:ext cx="1278795" cy="1343482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pic>
        <p:nvPicPr>
          <p:cNvPr id="10" name="図 9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18DCFD6A-0E44-1EA0-5C30-EC613BCD9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765" y="2433739"/>
            <a:ext cx="2060219" cy="16282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7" name="図 16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E102A15F-3936-8682-20C2-FE92520335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3214" y="2433739"/>
            <a:ext cx="2060219" cy="16531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9" name="図 18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28A296DC-7AE5-095E-371F-855EE4002C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3315" y="2427277"/>
            <a:ext cx="2026989" cy="16116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図 21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67000172-A790-7A92-35C1-740185592F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5840" y="2418186"/>
            <a:ext cx="2076834" cy="16199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9DE77CA-9A5E-4AF1-15CB-26A816C35313}"/>
              </a:ext>
            </a:extLst>
          </p:cNvPr>
          <p:cNvSpPr/>
          <p:nvPr/>
        </p:nvSpPr>
        <p:spPr>
          <a:xfrm>
            <a:off x="316765" y="2757607"/>
            <a:ext cx="1420595" cy="263075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4" name="図 2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5C97CA21-37E5-548A-E2CD-55A4AA3840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0655" y="2405724"/>
            <a:ext cx="2051912" cy="164485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62211146-9811-2DBD-4194-F2CFD9980E3F}"/>
              </a:ext>
            </a:extLst>
          </p:cNvPr>
          <p:cNvSpPr/>
          <p:nvPr/>
        </p:nvSpPr>
        <p:spPr>
          <a:xfrm>
            <a:off x="2602520" y="2757607"/>
            <a:ext cx="1420595" cy="263075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91C79B34-44B4-3B82-54DD-1AF7E0C324B3}"/>
              </a:ext>
            </a:extLst>
          </p:cNvPr>
          <p:cNvSpPr/>
          <p:nvPr/>
        </p:nvSpPr>
        <p:spPr>
          <a:xfrm>
            <a:off x="4990957" y="2757607"/>
            <a:ext cx="1420595" cy="263075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F2E3672F-2DDC-0F83-816C-C2415F3A1730}"/>
              </a:ext>
            </a:extLst>
          </p:cNvPr>
          <p:cNvSpPr/>
          <p:nvPr/>
        </p:nvSpPr>
        <p:spPr>
          <a:xfrm>
            <a:off x="7298285" y="2764138"/>
            <a:ext cx="1420595" cy="263075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6606FB4B-6EB0-88CF-FF1A-801B08F5D549}"/>
              </a:ext>
            </a:extLst>
          </p:cNvPr>
          <p:cNvSpPr/>
          <p:nvPr/>
        </p:nvSpPr>
        <p:spPr>
          <a:xfrm>
            <a:off x="9656635" y="2757607"/>
            <a:ext cx="1420595" cy="263075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BE07873F-66E3-0AAD-D52E-E37C7103CEB5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>
            <a:off x="1737360" y="2889145"/>
            <a:ext cx="86516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53A2D111-4633-2B3D-26AA-9BDBD67D58EC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>
            <a:off x="4023115" y="2889145"/>
            <a:ext cx="96784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FC9D9D18-2975-6516-3A54-4932F0827BF9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6423910" y="2895676"/>
            <a:ext cx="87437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BE14CA31-B1A0-B938-321C-DE60708119E6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 flipV="1">
            <a:off x="8718880" y="2889145"/>
            <a:ext cx="937755" cy="653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358C786B-3306-C024-2DD4-04AA51418D8F}"/>
              </a:ext>
            </a:extLst>
          </p:cNvPr>
          <p:cNvSpPr txBox="1"/>
          <p:nvPr/>
        </p:nvSpPr>
        <p:spPr>
          <a:xfrm>
            <a:off x="574675" y="4915679"/>
            <a:ext cx="110778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👉 “会話”で進むツールだからこそ、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会話の順番の次第でユーザーの使いやすさが変わってくる。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