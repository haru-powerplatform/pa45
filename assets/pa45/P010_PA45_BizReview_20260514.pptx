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9" r:id="rId2"/>
    <p:sldId id="285" r:id="rId3"/>
    <p:sldId id="259" r:id="rId4"/>
    <p:sldId id="257" r:id="rId5"/>
    <p:sldId id="256" r:id="rId6"/>
    <p:sldId id="271" r:id="rId7"/>
    <p:sldId id="261" r:id="rId8"/>
    <p:sldId id="280" r:id="rId9"/>
    <p:sldId id="289" r:id="rId10"/>
    <p:sldId id="290" r:id="rId11"/>
    <p:sldId id="286" r:id="rId12"/>
    <p:sldId id="287" r:id="rId13"/>
    <p:sldId id="288" r:id="rId14"/>
    <p:sldId id="284" r:id="rId15"/>
    <p:sldId id="272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58AFA-D1AA-4A9A-9800-8FBA641FEB0E}" v="1" dt="2026-04-28T05:42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0" d="100"/>
          <a:sy n="110" d="100"/>
        </p:scale>
        <p:origin x="8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28T05:44:53.299" v="713" actId="14100"/>
      <pc:docMkLst>
        <pc:docMk/>
      </pc:docMkLst>
      <pc:sldChg chg="modSp mod">
        <pc:chgData name="Ueda Isamu" userId="35289799e0376f2e" providerId="LiveId" clId="{DD31E282-B62B-4911-91B6-43B1B98908F9}" dt="2026-04-28T05:44:19.288" v="709" actId="1076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28T05:43:48.753" v="697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23.458" v="686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0.382" v="705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41.371" v="694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7.038" v="708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9.288" v="709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3.850" v="707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7.940" v="702" actId="14100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1.722" v="698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2.771" v="706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3:41.371" v="694" actId="1076"/>
          <ac:picMkLst>
            <pc:docMk/>
            <pc:sldMk cId="0" sldId="268"/>
            <ac:picMk id="18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29.094" v="711" actId="1076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28T05:44:29.094" v="711" actId="1076"/>
          <ac:spMkLst>
            <pc:docMk/>
            <pc:sldMk cId="0" sldId="269"/>
            <ac:spMk id="15" creationId="{59D5E270-E6AD-E457-0DD1-D6D69BCDC2F3}"/>
          </ac:spMkLst>
        </pc:spChg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4:26.522" v="710" actId="14100"/>
          <ac:picMkLst>
            <pc:docMk/>
            <pc:sldMk cId="0" sldId="269"/>
            <ac:picMk id="11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40.569" v="712" actId="2057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28T05:44:40.569" v="712" actId="2057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mod">
        <pc:chgData name="Ueda Isamu" userId="35289799e0376f2e" providerId="LiveId" clId="{DD31E282-B62B-4911-91B6-43B1B98908F9}" dt="2026-04-28T05:44:53.299" v="713" actId="14100"/>
        <pc:sldMkLst>
          <pc:docMk/>
          <pc:sldMk cId="0" sldId="280"/>
        </pc:sldMkLst>
        <pc:spChg chg="mod">
          <ac:chgData name="Ueda Isamu" userId="35289799e0376f2e" providerId="LiveId" clId="{DD31E282-B62B-4911-91B6-43B1B98908F9}" dt="2026-04-28T05:41:40.549" v="656" actId="96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53.299" v="713" actId="14100"/>
          <ac:spMkLst>
            <pc:docMk/>
            <pc:sldMk cId="0" sldId="280"/>
            <ac:spMk id="44" creationId="{F9B91B76-7920-EE96-CB51-D8B32827C982}"/>
          </ac:spMkLst>
        </pc:spChg>
        <pc:spChg chg="mod">
          <ac:chgData name="Ueda Isamu" userId="35289799e0376f2e" providerId="LiveId" clId="{DD31E282-B62B-4911-91B6-43B1B98908F9}" dt="2026-04-28T05:40:39.439" v="649" actId="20577"/>
          <ac:spMkLst>
            <pc:docMk/>
            <pc:sldMk cId="0" sldId="280"/>
            <ac:spMk id="51" creationId="{F34FF253-528E-97DF-BF89-4A55B2E7EBC4}"/>
          </ac:spMkLst>
        </pc:spChg>
        <pc:picChg chg="del">
          <ac:chgData name="Ueda Isamu" userId="35289799e0376f2e" providerId="LiveId" clId="{DD31E282-B62B-4911-91B6-43B1B98908F9}" dt="2026-04-28T05:40:34.040" v="647" actId="478"/>
          <ac:picMkLst>
            <pc:docMk/>
            <pc:sldMk cId="0" sldId="280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28T05:41:40.549" v="655" actId="27614"/>
          <ac:picMkLst>
            <pc:docMk/>
            <pc:sldMk cId="0" sldId="280"/>
            <ac:picMk id="12" creationId="{3E6630DE-036E-A137-BB8D-3B6889FA8E99}"/>
          </ac:picMkLst>
        </pc:picChg>
        <pc:picChg chg="add mod">
          <ac:chgData name="Ueda Isamu" userId="35289799e0376f2e" providerId="LiveId" clId="{DD31E282-B62B-4911-91B6-43B1B98908F9}" dt="2026-04-28T05:42:04.299" v="664" actId="14100"/>
          <ac:picMkLst>
            <pc:docMk/>
            <pc:sldMk cId="0" sldId="280"/>
            <ac:picMk id="15" creationId="{0A496CAA-10CA-2625-8307-AD86EA5E849F}"/>
          </ac:picMkLst>
        </pc:picChg>
        <pc:picChg chg="del">
          <ac:chgData name="Ueda Isamu" userId="35289799e0376f2e" providerId="LiveId" clId="{DD31E282-B62B-4911-91B6-43B1B98908F9}" dt="2026-04-28T05:40:34.591" v="648" actId="478"/>
          <ac:picMkLst>
            <pc:docMk/>
            <pc:sldMk cId="0" sldId="280"/>
            <ac:picMk id="43" creationId="{C2A29B6F-3C93-A1C3-76A2-A2F9DE2BAF70}"/>
          </ac:picMkLst>
        </pc:picChg>
      </pc:sldChg>
      <pc:sldChg chg="addSp delSp modSp add del mod">
        <pc:chgData name="Ueda Isamu" userId="35289799e0376f2e" providerId="LiveId" clId="{DD31E282-B62B-4911-91B6-43B1B98908F9}" dt="2026-04-28T05:43:04.861" v="683" actId="47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</pc:sldChg>
      <pc:sldChg chg="addSp delSp modSp add mod ord">
        <pc:chgData name="Ueda Isamu" userId="35289799e0376f2e" providerId="LiveId" clId="{DD31E282-B62B-4911-91B6-43B1B98908F9}" dt="2026-04-28T05:43:02.947" v="682" actId="27614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 ord">
          <ac:chgData name="Ueda Isamu" userId="35289799e0376f2e" providerId="LiveId" clId="{DD31E282-B62B-4911-91B6-43B1B98908F9}" dt="2026-04-28T05:42:28.090" v="672" actId="14100"/>
          <ac:spMkLst>
            <pc:docMk/>
            <pc:sldMk cId="3861659691" sldId="282"/>
            <ac:spMk id="10" creationId="{5E06D86B-F8D9-20E7-3D67-0EF3882034F2}"/>
          </ac:spMkLst>
        </pc:spChg>
        <pc:spChg chg="add del mod">
          <ac:chgData name="Ueda Isamu" userId="35289799e0376f2e" providerId="LiveId" clId="{DD31E282-B62B-4911-91B6-43B1B98908F9}" dt="2026-04-28T05:42:30.118" v="675" actId="478"/>
          <ac:spMkLst>
            <pc:docMk/>
            <pc:sldMk cId="3861659691" sldId="282"/>
            <ac:spMk id="12" creationId="{B61745D9-8D46-A514-CF17-682EE8BDCFC1}"/>
          </ac:spMkLst>
        </pc:spChg>
        <pc:picChg chg="del">
          <ac:chgData name="Ueda Isamu" userId="35289799e0376f2e" providerId="LiveId" clId="{DD31E282-B62B-4911-91B6-43B1B98908F9}" dt="2026-04-28T05:40:48.240" v="650" actId="478"/>
          <ac:picMkLst>
            <pc:docMk/>
            <pc:sldMk cId="3861659691" sldId="282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28T05:40:48.724" v="651" actId="478"/>
          <ac:picMkLst>
            <pc:docMk/>
            <pc:sldMk cId="3861659691" sldId="282"/>
            <ac:picMk id="14" creationId="{A872EEC3-0079-B857-A352-13B0525469F2}"/>
          </ac:picMkLst>
        </pc:picChg>
        <pc:picChg chg="add mod">
          <ac:chgData name="Ueda Isamu" userId="35289799e0376f2e" providerId="LiveId" clId="{DD31E282-B62B-4911-91B6-43B1B98908F9}" dt="2026-04-28T05:42:18.290" v="668" actId="1076"/>
          <ac:picMkLst>
            <pc:docMk/>
            <pc:sldMk cId="3861659691" sldId="282"/>
            <ac:picMk id="15" creationId="{35AE861C-8197-5C83-2921-F09023E68B00}"/>
          </ac:picMkLst>
        </pc:picChg>
        <pc:picChg chg="del mod">
          <ac:chgData name="Ueda Isamu" userId="35289799e0376f2e" providerId="LiveId" clId="{DD31E282-B62B-4911-91B6-43B1B98908F9}" dt="2026-04-28T05:42:29.623" v="673" actId="478"/>
          <ac:picMkLst>
            <pc:docMk/>
            <pc:sldMk cId="3861659691" sldId="282"/>
            <ac:picMk id="16" creationId="{7B3B07E8-D558-44C5-F536-149592DC9066}"/>
          </ac:picMkLst>
        </pc:picChg>
        <pc:picChg chg="del mod">
          <ac:chgData name="Ueda Isamu" userId="35289799e0376f2e" providerId="LiveId" clId="{DD31E282-B62B-4911-91B6-43B1B98908F9}" dt="2026-04-28T05:42:30.626" v="676" actId="478"/>
          <ac:picMkLst>
            <pc:docMk/>
            <pc:sldMk cId="3861659691" sldId="282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28T05:43:02.947" v="682" actId="27614"/>
          <ac:picMkLst>
            <pc:docMk/>
            <pc:sldMk cId="3861659691" sldId="282"/>
            <ac:picMk id="19" creationId="{80851CBC-6CCA-A916-ED75-20FD89A52C05}"/>
          </ac:picMkLst>
        </pc:picChg>
      </pc:sldChg>
      <pc:sldChg chg="addSp delSp modSp add del mod">
        <pc:chgData name="Ueda Isamu" userId="35289799e0376f2e" providerId="LiveId" clId="{DD31E282-B62B-4911-91B6-43B1B98908F9}" dt="2026-04-28T05:43:06.594" v="684" actId="47"/>
        <pc:sldMkLst>
          <pc:docMk/>
          <pc:sldMk cId="2686875315" sldId="283"/>
        </pc:sldMkLst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</pc:sldChg>
      <pc:sldChg chg="addSp delSp modSp add mod">
        <pc:chgData name="Ueda Isamu" userId="35289799e0376f2e" providerId="LiveId" clId="{DD31E282-B62B-4911-91B6-43B1B98908F9}" dt="2026-04-28T05:43:12.100" v="685" actId="478"/>
        <pc:sldMkLst>
          <pc:docMk/>
          <pc:sldMk cId="1541831861" sldId="284"/>
        </pc:sldMkLst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picChg chg="del">
          <ac:chgData name="Ueda Isamu" userId="35289799e0376f2e" providerId="LiveId" clId="{DD31E282-B62B-4911-91B6-43B1B98908F9}" dt="2026-04-28T05:43:12.100" v="685" actId="478"/>
          <ac:picMkLst>
            <pc:docMk/>
            <pc:sldMk cId="1541831861" sldId="284"/>
            <ac:picMk id="50" creationId="{003A3C3D-15E3-1F1A-D918-AB2472E805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>  Initialize variable・Set variable・Condition・Apply to each、</a:t>
            </a:r>
          </a:p>
          <a:p>
            <a:r>
              <a:rPr sz="1300"/>
              <a:t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>  変数・繰り返し・条件分岐、それぞれ単体でも使えますが、</a:t>
            </a:r>
          </a:p>
          <a:p>
            <a:r>
              <a:rPr sz="1300"/>
              <a:t>  組み合わさったとき、複雑な業務を1本のフローで自動化できます。</a:t>
            </a:r>
          </a:p>
          <a:p>
            <a:r>
              <a:rPr sz="1300"/>
              <a:t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>  Apply to eachのループの中でも外でも使えます。</a:t>
            </a:r>
          </a:p>
          <a:p>
            <a:r>
              <a:rPr sz="1300"/>
              <a:t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>  リストを1件ずつ見ながら、条件に合うものだけ処理する、</a:t>
            </a:r>
          </a:p>
          <a:p>
            <a:r>
              <a:rPr sz="1300"/>
              <a:t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>  出勤リストをループして、Conditionで出勤判定、Set variableでカウント。</a:t>
            </a:r>
          </a:p>
          <a:p>
            <a:r>
              <a:rPr sz="1300"/>
              <a:t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forms.cloud.microsoft/r/RpevgiKG2v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7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Teams</a:t>
            </a:r>
            <a:r>
              <a:rPr kumimoji="1" lang="ja-JP" altLang="en-US" sz="4000"/>
              <a:t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A7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22860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ハンズオン 事前準備（5分でできます）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6600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+mj-ea"/>
                <a:ea typeface="+mj-ea"/>
              </a:rPr>
              <a:t>今回は総復習回。事前にSharePointに「経費申請」リストを作っておくとスムーズです（当日でもOK）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9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+mj-ea"/>
                <a:ea typeface="+mj-ea"/>
              </a:rPr>
              <a:t>STEP 1   SharePointサイトを開く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555555"/>
                </a:solidFill>
                <a:latin typeface="+mj-ea"/>
                <a:ea typeface="+mj-ea"/>
              </a:rPr>
              <a:t>👉 編集権限のあるSharePointサイト（社内サイト・チームサイト等）を1つ用意してください</a:t>
            </a:r>
          </a:p>
          <a:p>
            <a:pPr>
              <a:spcBef>
                <a:spcPts val="400"/>
              </a:spcBef>
            </a:pPr>
            <a:endParaRPr sz="1300" b="1">
              <a:solidFill>
                <a:srgbClr val="555555"/>
              </a:solidFill>
              <a:latin typeface="+mj-ea"/>
              <a:ea typeface="+mj-ea"/>
            </a:endParaRPr>
          </a:p>
          <a:p>
            <a:endParaRPr sz="1300" b="1">
              <a:solidFill>
                <a:srgbClr val="555555"/>
              </a:solidFill>
              <a:latin typeface="+mj-ea"/>
              <a:ea typeface="+mj-ea"/>
            </a:endParaRPr>
          </a:p>
          <a:p>
            <a:endParaRPr sz="1300" b="1">
              <a:solidFill>
                <a:srgbClr val="555555"/>
              </a:solidFill>
              <a:latin typeface="+mj-ea"/>
              <a:ea typeface="+mj-e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1109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+mj-ea"/>
                <a:ea typeface="+mj-ea"/>
              </a:rPr>
              <a:t>STEP 2   「経費申請」リストを新規作成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①  サイト &gt; 新規 &gt; リスト &gt; 空のリストを選択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②  名前: 経費申請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③  列を3つ追加: Detail（複数行テキスト）／Status（選択肢: 申請中・承認済・却下）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④  完了！  当日はこのリストに自動でアイテムが追加されます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Vol.10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【Forms × SharePoint × 承認 × Teams】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第10回： 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4つを1本につなぐ総復習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経費申請の自動化を体験しよう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Forms → SharePoint → 承認 → Teams｜実務応用の総まとめ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2999" y="5273596"/>
            <a:ext cx="779502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Vol.1〜9を一度でも触った方／実務応用を体験したい方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（はじめての方も、見るだけでOK）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Formsの回答をSharePointに自動登録する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Forms「新しい応答」をトリガーに、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「項目の作成」で経費申請リストに登録します。</a:t>
            </a:r>
          </a:p>
          <a:p>
            <a:pPr marL="0" indent="0">
              <a:buNone/>
            </a:pPr>
            <a:endParaRPr lang="en-US" sz="1600">
              <a:solidFill>
                <a:srgbClr val="6B7280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承認フローで上司の判断を待つ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「開始して承認を待機」で承認依頼を送信。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Teams上のカードで承認/却下を受け取ります。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結果でSharePoint更新＆Teams通知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条件分岐でStatusを承認済/却下に更新し、申請者にTeamsで結果を通知して完成！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65580" y="2195490"/>
            <a:ext cx="5598507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①Forms「新しい応答が送信されるとき」をトリガーにフローを起動し、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応答の詳細を取得して、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②SharePoint「項目の作成」で経費申請リストに新規アイテムを登録する。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③「開始して承認を待機」で承認カードを送り、結果（outcome）を待つ。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④条件分岐で Approve/Reject を判定し、Status更新＋Teams通知まで自動化するフロー。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The image shows a user interface with a form containing a file input, a checkbox for a property condition, and buttons for posting messages in chat or channel.&#10;&#10;AI 生成コンテンツは誤りを含む可能性があります。">
            <a:extLst>
              <a:ext uri="{FF2B5EF4-FFF2-40B4-BE49-F238E27FC236}">
                <a16:creationId xmlns:a16="http://schemas.microsoft.com/office/drawing/2014/main" id="{A17FFD3D-1303-2BC7-3253-E2DBE5E19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704" y="1709443"/>
            <a:ext cx="4904373" cy="456871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2" name="図 11" descr="A cartoon child with a blue shirt is pointing towards an illustration of an open eye with a light bulb.&#10;&#10;AI 生成コンテンツは誤りを含む可能性があります。">
            <a:extLst>
              <a:ext uri="{FF2B5EF4-FFF2-40B4-BE49-F238E27FC236}">
                <a16:creationId xmlns:a16="http://schemas.microsoft.com/office/drawing/2014/main" id="{DCFEA6E0-2BC7-E886-FA98-B0724535F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006" y="4595962"/>
            <a:ext cx="1363810" cy="1613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5" y="-9144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2110" y="628650"/>
            <a:ext cx="9601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事前準備 ①  Formsの設問を作る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04620" y="1781251"/>
            <a:ext cx="6544523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目的：申請者がスマホからも入力できる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  <a:hlinkClick r:id="rId2"/>
              </a:rPr>
              <a:t>「経費申請フォーム」</a:t>
            </a: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を用意する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・新しいFormsを作成（タイトル：経費申請）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・設問は次の4つだけでOK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① お名前（テキスト・短答／必須）</a:t>
            </a:r>
          </a:p>
          <a:p>
            <a:pPr marL="0" indent="0" algn="l">
              <a:buNone/>
            </a:pPr>
            <a:r>
              <a:t>　② 金額（数値・必須／オプションで「0以上の数値」制限）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③ 用途（テキスト・短答／必須）　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例：会議費、消耗品など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④ 詳細（テキスト・長答／任意）　申請理由を自由記述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・「回答の収集」でリンクをコピーしておく → 後で社内に共有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5" name="図 14" descr="The image shows a form with two proposals, a section for personal names, a field for monetary values, a section for purposes, and a field for additional details.&#10;&#10;AI 生成コンテンツは誤りを含む可能性があります。">
            <a:extLst>
              <a:ext uri="{FF2B5EF4-FFF2-40B4-BE49-F238E27FC236}">
                <a16:creationId xmlns:a16="http://schemas.microsoft.com/office/drawing/2014/main" id="{689B1446-4E1D-9168-07ED-183171FE5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97" y="644768"/>
            <a:ext cx="3520006" cy="54571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事前準備 ②  SharePointリストを作る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37948" y="1494313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65580" y="1714500"/>
            <a:ext cx="6971243" cy="4428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目的：申請データを蓄積して、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上司も経理もあとから見返せる「台帳」にする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・SharePointサイト &gt; 新規 &gt; リスト &gt; 空のリストを選択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・リスト名：経費申請</a:t>
            </a:r>
            <a:endParaRPr lang="en-US"/>
          </a:p>
          <a:p>
            <a:pPr marL="0" indent="0" algn="l">
              <a:buNone/>
            </a:pP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・列を3つ追加（Title列は最初からあるのでそのまま使用）</a:t>
            </a:r>
          </a:p>
          <a:p>
            <a:pPr marL="0" indent="0" algn="l">
              <a:buNone/>
            </a:pPr>
            <a:r>
              <a:t>　① Title（テキスト・既定）　申請の見出し</a:t>
            </a:r>
            <a:endParaRPr lang="en-US"/>
          </a:p>
          <a:p>
            <a:pPr marL="0" indent="0" algn="l">
              <a:buNone/>
            </a:pPr>
            <a:r>
              <a:rPr lang="ja-JP" altLang="en-US"/>
              <a:t>　　</a:t>
            </a:r>
            <a:r>
              <a:t>（フローでサマリ文を入れる）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② Detail（複数行テキスト）　Formsの「詳細」を保存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③ Status（選択肢）　「申請中」「承認済」「却下」の3択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・既定値：Status =「申請中」にしておくと安心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4" name="図 13" descr="No10 Expense Claim List&#10;&#10;AI 生成コンテンツは誤りを含む可能性があります。">
            <a:extLst>
              <a:ext uri="{FF2B5EF4-FFF2-40B4-BE49-F238E27FC236}">
                <a16:creationId xmlns:a16="http://schemas.microsoft.com/office/drawing/2014/main" id="{C2EF7902-2BBE-0FB4-C1D1-D35830F89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653" y="1864303"/>
            <a:ext cx="4810796" cy="39153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フロー解説 ①  申請を受け取る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243" y="1705357"/>
            <a:ext cx="7058328" cy="426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目的：紙やメールで来る申請を、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自動で受け取れるようにする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・Forms「新しい応答が送信されるとき」でフロー起動</a:t>
            </a:r>
            <a:endParaRPr lang="en-US"/>
          </a:p>
          <a:p>
            <a:pPr marL="0" indent="0" algn="l">
              <a:buNone/>
            </a:pP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sz="1600"/>
              <a:t>・「応答の詳細を取得」で 名前 / 金額 / 用途 を抜き出す</a:t>
            </a:r>
            <a:endParaRPr lang="en-US" sz="1600"/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・「作成（Compose）」で1行サマリにまとめる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（例：山田太郎 様 / 会議費 / ¥3,500）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→ あとでSPタイトルや承認カードに使い回せて便利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The image depicts a user interface with two sections, each containing a text field for inputting responses, with instructions to retrieve and summarize application details.&#10;&#10;AI 生成コンテンツは誤りを含む可能性があります。">
            <a:extLst>
              <a:ext uri="{FF2B5EF4-FFF2-40B4-BE49-F238E27FC236}">
                <a16:creationId xmlns:a16="http://schemas.microsoft.com/office/drawing/2014/main" id="{E3F313C9-ADB6-6A37-504D-0DE5F3B6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252" y="674831"/>
            <a:ext cx="3488397" cy="53574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A child in green clothing is depicted sitting on the floor, relaxing with a laptop open and on, while lying down.&#10;&#10;AI 生成コンテンツは誤りを含む可能性があります。">
            <a:extLst>
              <a:ext uri="{FF2B5EF4-FFF2-40B4-BE49-F238E27FC236}">
                <a16:creationId xmlns:a16="http://schemas.microsoft.com/office/drawing/2014/main" id="{49EE4930-6C21-6EBF-82EA-02FB98532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707" y="3353565"/>
            <a:ext cx="2106190" cy="1441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1103811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フロー解説 ②  登録 → 承認待ち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65580" y="2195490"/>
            <a:ext cx="7380546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目的：申請をデータとして残しつつ、上司の判断を仰ぐ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・「項目の作成」でSP「経費申請」リストに登録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Title=サマリ / Detail=詳細 / Status=申請中</a:t>
            </a: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→ 全社の申請が1か所に蓄積される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・「開始して承認を待機」で上司にTeams承認カード送信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→ フローは上司が押すまでじっと待機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Submitted&#10;&#10;AI 生成コンテンツは誤りを含む可能性があります。">
            <a:extLst>
              <a:ext uri="{FF2B5EF4-FFF2-40B4-BE49-F238E27FC236}">
                <a16:creationId xmlns:a16="http://schemas.microsoft.com/office/drawing/2014/main" id="{0DD0D0D2-FD45-AE74-8E14-81FC75DD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936" y="1794289"/>
            <a:ext cx="4115374" cy="42106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A hand holding a document with Japanese characters and a form with checkboxes and numbers.&#10;&#10;AI 生成コンテンツは誤りを含む可能性があります。">
            <a:extLst>
              <a:ext uri="{FF2B5EF4-FFF2-40B4-BE49-F238E27FC236}">
                <a16:creationId xmlns:a16="http://schemas.microsoft.com/office/drawing/2014/main" id="{59479EB1-0E7C-C3B6-9DC4-512C3E02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911" y="3675016"/>
            <a:ext cx="1639567" cy="1490184"/>
          </a:xfrm>
          <a:prstGeom prst="rect">
            <a:avLst/>
          </a:prstGeom>
        </p:spPr>
      </p:pic>
      <p:pic>
        <p:nvPicPr>
          <p:cNvPr id="16" name="図 15" descr="The image depicts a child in a blue shirt, sitting at a desk, looking confused and holding a smartphone, with an open email notification and a question mark above his head.&#10;&#10;AI 生成コンテンツは誤りを含む可能性があります。">
            <a:extLst>
              <a:ext uri="{FF2B5EF4-FFF2-40B4-BE49-F238E27FC236}">
                <a16:creationId xmlns:a16="http://schemas.microsoft.com/office/drawing/2014/main" id="{F06833EB-62C0-688B-7E01-15829AD70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656" y="4994690"/>
            <a:ext cx="1490185" cy="14901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3781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フロー解説 ③  結果で更新＆通知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0" y="1523390"/>
            <a:ext cx="11975897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94417" y="2164046"/>
            <a:ext cx="6915983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目的：承認結果をデータに反映し、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 申請者にすぐ伝える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・「条件」で outcome = Approve かを判定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※ outcome は英語固定（Approve / Reject）。日本語比較はNG</a:t>
            </a:r>
            <a:endParaRPr lang="en-US"/>
          </a:p>
          <a:p>
            <a:pPr marL="0" indent="0" algn="l">
              <a:buNone/>
            </a:pPr>
            <a:endParaRPr lang="en-US"/>
          </a:p>
          <a:p>
            <a:pPr marL="0" indent="0" algn="l">
              <a:buNone/>
            </a:pPr>
            <a:r>
              <a:t>・はい：Status「承認済」に更新 → Teamsで ✅ 通知</a:t>
            </a:r>
            <a:endParaRPr lang="en-US"/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・いいえ：Status「却下」に更新 → Teamsで ❌ 通知</a:t>
            </a:r>
            <a:endParaRPr lang="en-US"/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→ 経費申請以外にも、有休・稟議・備品申請にそのまま応用可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Reject&#10;&#10;AI 生成コンテンツは誤りを含む可能性があります。">
            <a:extLst>
              <a:ext uri="{FF2B5EF4-FFF2-40B4-BE49-F238E27FC236}">
                <a16:creationId xmlns:a16="http://schemas.microsoft.com/office/drawing/2014/main" id="{51253969-DE5D-4A72-3C6D-1FEDC2D29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489" y="1740257"/>
            <a:ext cx="4941984" cy="43044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cute, cartoonish cat holding a target with a cheerfu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DB25A7B8-36CA-2E8D-1D22-11781740D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91" y="5173320"/>
            <a:ext cx="1122182" cy="1181244"/>
          </a:xfrm>
          <a:prstGeom prst="rect">
            <a:avLst/>
          </a:prstGeom>
        </p:spPr>
      </p:pic>
      <p:pic>
        <p:nvPicPr>
          <p:cNvPr id="16" name="図 15" descr="The image depicts a gray cartoon cat with a red circle and cross, holding a magnifying glass.&#10;&#10;AI 生成コンテンツは誤りを含む可能性があります。">
            <a:extLst>
              <a:ext uri="{FF2B5EF4-FFF2-40B4-BE49-F238E27FC236}">
                <a16:creationId xmlns:a16="http://schemas.microsoft.com/office/drawing/2014/main" id="{AF3E22CA-FF0B-8F71-3F0B-A922DEFAE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206" y="5237266"/>
            <a:ext cx="1052236" cy="11076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Formsは「申請の受け皿」、SharePointは「データの置き場所」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Formsで入力 → SharePointに保存 の流れは、社内のあらゆる申請フローに使い回せます。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今回作るのは経費申請ですが、有休・稟議・備品にもそのまま応用できます。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承認結果（outcome）は英語固定「Approve / Reject」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条件分岐で日本語「承認」と比較するとハマります。outcomeは英語Approve/Rejectで比較すること。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これだけ覚えれば承認フローでつまずきません。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「項目の作成」の {Link} を承認カードに入れる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承認カードに項目のリンクを入れておくと、承認者がTeamsから直接SharePointへ飛べます。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小さな工夫ですが、運用ストレスがぐっと減ります。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52652" y="2066544"/>
            <a:ext cx="2563063" cy="637793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781605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Forms入力→SP登録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→上司承認→経理に通知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21292" y="3873215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Forms＋SharePoint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→Approvals→Teams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結果でStatus更新まで自動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Forms→SP→Approvals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479687" y="1917917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9882" y="2109027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35387" y="1998232"/>
            <a:ext cx="2063140" cy="588606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6052555" y="2125428"/>
            <a:ext cx="1544632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有休申請の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自動承認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1" y="3031102"/>
            <a:ext cx="3829965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休暇日・理由をFormsで申請</a:t>
            </a:r>
            <a:endParaRPr lang="en-US" sz="3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→上長承認→人事へ通知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Forms→SharePoint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→Approvals→Teams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承認結果で台帳更新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4714569" y="5398054"/>
            <a:ext cx="3301062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Forms→SP→Approvals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246059" y="1790914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591531" y="1952181"/>
            <a:ext cx="2162878" cy="775966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35613" y="2215734"/>
            <a:ext cx="2452753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稟議書の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多段承認</a:t>
            </a:r>
          </a:p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稟議書をFormsで起票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→課長→部長と順に承認</a:t>
            </a:r>
            <a:endParaRPr lang="en-US" sz="3600" dirty="0"/>
          </a:p>
        </p:txBody>
      </p:sp>
      <p:sp>
        <p:nvSpPr>
          <p:cNvPr id="33" name="Text 26"/>
          <p:cNvSpPr txBox="1"/>
          <p:nvPr/>
        </p:nvSpPr>
        <p:spPr>
          <a:xfrm>
            <a:off x="8318854" y="388565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Forms→SharePoint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→Approvals×複数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最終承認後にTeams通知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承認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実務応用の総まとめ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111360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575082" y="5283885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2228</TotalTime>
  <Words>1984</Words>
  <Application>Microsoft Office PowerPoint</Application>
  <PresentationFormat>ワイド画面</PresentationFormat>
  <Paragraphs>417</Paragraphs>
  <Slides>17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24</cp:revision>
  <dcterms:created xsi:type="dcterms:W3CDTF">2026-03-02T01:22:39Z</dcterms:created>
  <dcterms:modified xsi:type="dcterms:W3CDTF">2026-05-11T06:25:04Z</dcterms:modified>
</cp:coreProperties>
</file>