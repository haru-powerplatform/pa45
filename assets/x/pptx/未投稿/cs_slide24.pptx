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9DEC50E-1642-787F-8791-C7F38C628C4E}"/>
              </a:ext>
            </a:extLst>
          </p:cNvPr>
          <p:cNvCxnSpPr>
            <a:cxnSpLocks/>
          </p:cNvCxnSpPr>
          <p:nvPr/>
        </p:nvCxnSpPr>
        <p:spPr>
          <a:xfrm>
            <a:off x="2974307" y="1733692"/>
            <a:ext cx="0" cy="4827685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3CC003-8F84-D5EA-9D77-C399ED46FF05}"/>
              </a:ext>
            </a:extLst>
          </p:cNvPr>
          <p:cNvSpPr txBox="1"/>
          <p:nvPr/>
        </p:nvSpPr>
        <p:spPr>
          <a:xfrm>
            <a:off x="-34730" y="2315"/>
            <a:ext cx="1233569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【Vol.10】『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選択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』 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をはさむと 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HTML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テーブルが作りやすくなる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E8D08A5-15BA-96C7-0696-BCB940014C47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A3B7113-4C04-55FF-D998-779B54CF2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677" y="594326"/>
            <a:ext cx="1091521" cy="10915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37A36F-525B-ED90-B573-523191C9CEE9}"/>
              </a:ext>
            </a:extLst>
          </p:cNvPr>
          <p:cNvSpPr txBox="1"/>
          <p:nvPr/>
        </p:nvSpPr>
        <p:spPr>
          <a:xfrm>
            <a:off x="134791" y="113452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１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5F21EECF-B735-B8D5-88B6-3B1B4FB366B2}"/>
              </a:ext>
            </a:extLst>
          </p:cNvPr>
          <p:cNvSpPr/>
          <p:nvPr/>
        </p:nvSpPr>
        <p:spPr>
          <a:xfrm>
            <a:off x="2739735" y="1252914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5F6D6B-53B3-31C7-A259-1AFD30586552}"/>
              </a:ext>
            </a:extLst>
          </p:cNvPr>
          <p:cNvSpPr txBox="1"/>
          <p:nvPr/>
        </p:nvSpPr>
        <p:spPr>
          <a:xfrm>
            <a:off x="134791" y="575806"/>
            <a:ext cx="1151041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目的：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SharePoint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の一覧を「欲しい列だけのキレイな表」にする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0058C22-B931-C1F2-4E59-CDBDFECDAAFF}"/>
              </a:ext>
            </a:extLst>
          </p:cNvPr>
          <p:cNvSpPr txBox="1"/>
          <p:nvPr/>
        </p:nvSpPr>
        <p:spPr>
          <a:xfrm>
            <a:off x="3529208" y="1159389"/>
            <a:ext cx="4176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２（ココ！）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CC3A15A-4C2B-5390-11C4-80CF7F9C1DBE}"/>
              </a:ext>
            </a:extLst>
          </p:cNvPr>
          <p:cNvSpPr txBox="1"/>
          <p:nvPr/>
        </p:nvSpPr>
        <p:spPr>
          <a:xfrm>
            <a:off x="8429682" y="1159389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３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A9D3624C-42AB-554A-1203-D502FEE25B41}"/>
              </a:ext>
            </a:extLst>
          </p:cNvPr>
          <p:cNvSpPr/>
          <p:nvPr/>
        </p:nvSpPr>
        <p:spPr>
          <a:xfrm>
            <a:off x="7670828" y="1288168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1DAB11-D978-96A9-3F1F-62098854DF19}"/>
              </a:ext>
            </a:extLst>
          </p:cNvPr>
          <p:cNvSpPr txBox="1"/>
          <p:nvPr/>
        </p:nvSpPr>
        <p:spPr>
          <a:xfrm>
            <a:off x="54429" y="1824023"/>
            <a:ext cx="31032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【SPO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の一覧を取得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】</a:t>
            </a: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（複数の項目を取得）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・リスト全体を読む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  中身はまだ“全部の列”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0EFC11-4751-6253-9C40-2095B9F22765}"/>
              </a:ext>
            </a:extLst>
          </p:cNvPr>
          <p:cNvSpPr txBox="1"/>
          <p:nvPr/>
        </p:nvSpPr>
        <p:spPr>
          <a:xfrm>
            <a:off x="7839177" y="1759842"/>
            <a:ext cx="41317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【HTML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テーブルで表にする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】</a:t>
            </a: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：選択（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）の 出力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Columns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：名前・部署・年齢の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列をセット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で整理したおかげで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そのまま表が作れる</a:t>
            </a:r>
          </a:p>
        </p:txBody>
      </p:sp>
      <p:pic>
        <p:nvPicPr>
          <p:cNvPr id="16" name="図 1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D8A874-A984-966C-6570-97ECA6F22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873"/>
          <a:stretch>
            <a:fillRect/>
          </a:stretch>
        </p:blipFill>
        <p:spPr>
          <a:xfrm>
            <a:off x="423709" y="3477269"/>
            <a:ext cx="1915747" cy="32647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図 1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96379A0-C7C5-02A6-997C-DE540B9ABD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02" r="47371"/>
          <a:stretch>
            <a:fillRect/>
          </a:stretch>
        </p:blipFill>
        <p:spPr>
          <a:xfrm>
            <a:off x="4756535" y="3518238"/>
            <a:ext cx="1427873" cy="3073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図 1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C328702-E584-118A-2A1E-A0A57B359F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5157"/>
          <a:stretch>
            <a:fillRect/>
          </a:stretch>
        </p:blipFill>
        <p:spPr>
          <a:xfrm>
            <a:off x="3441087" y="3539565"/>
            <a:ext cx="1267075" cy="30735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DD78CB-C9EB-26FA-DB34-D21C4E4D783A}"/>
              </a:ext>
            </a:extLst>
          </p:cNvPr>
          <p:cNvSpPr txBox="1"/>
          <p:nvPr/>
        </p:nvSpPr>
        <p:spPr>
          <a:xfrm>
            <a:off x="3095588" y="1762468"/>
            <a:ext cx="480830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【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選択（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Select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）で列をしぼる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】</a:t>
            </a: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・欲しい列だけを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つに整理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中身は「名前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/ 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/ 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年齢」だけの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シンプルな配列に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この 出力 を次の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HTML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テーブルで使う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42FC773-3DE0-74BF-7E61-B5EE9D9DF129}"/>
              </a:ext>
            </a:extLst>
          </p:cNvPr>
          <p:cNvCxnSpPr>
            <a:cxnSpLocks/>
          </p:cNvCxnSpPr>
          <p:nvPr/>
        </p:nvCxnSpPr>
        <p:spPr>
          <a:xfrm flipH="1">
            <a:off x="7812131" y="1818764"/>
            <a:ext cx="54093" cy="4696087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1DC030C-FE68-9C9C-5BCF-7D089310032D}"/>
              </a:ext>
            </a:extLst>
          </p:cNvPr>
          <p:cNvSpPr/>
          <p:nvPr/>
        </p:nvSpPr>
        <p:spPr>
          <a:xfrm>
            <a:off x="402337" y="4275244"/>
            <a:ext cx="1937117" cy="727987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048DCDB-258E-45A0-A5F0-1C47E08C7D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455" r="88500" b="57431"/>
          <a:stretch>
            <a:fillRect/>
          </a:stretch>
        </p:blipFill>
        <p:spPr>
          <a:xfrm>
            <a:off x="8001186" y="3764162"/>
            <a:ext cx="1258379" cy="10221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8" name="図 2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E3735A22-8736-F64A-1E62-BDD01D213A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833" t="72686" r="52452" b="-1028"/>
          <a:stretch>
            <a:fillRect/>
          </a:stretch>
        </p:blipFill>
        <p:spPr>
          <a:xfrm>
            <a:off x="9297779" y="5194819"/>
            <a:ext cx="1321837" cy="16081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3712E0B-1969-C884-45DF-05B9934B526B}"/>
              </a:ext>
            </a:extLst>
          </p:cNvPr>
          <p:cNvSpPr/>
          <p:nvPr/>
        </p:nvSpPr>
        <p:spPr>
          <a:xfrm>
            <a:off x="3546363" y="5003232"/>
            <a:ext cx="1121204" cy="333643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FE88B91-9B51-722D-B2FC-8D09F139A0BC}"/>
              </a:ext>
            </a:extLst>
          </p:cNvPr>
          <p:cNvSpPr/>
          <p:nvPr/>
        </p:nvSpPr>
        <p:spPr>
          <a:xfrm>
            <a:off x="3428174" y="5580332"/>
            <a:ext cx="2795671" cy="1002763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A0D14BFB-2470-ABCA-ADB7-3C2241EA5E53}"/>
              </a:ext>
            </a:extLst>
          </p:cNvPr>
          <p:cNvSpPr/>
          <p:nvPr/>
        </p:nvSpPr>
        <p:spPr>
          <a:xfrm>
            <a:off x="8001186" y="4032645"/>
            <a:ext cx="1031780" cy="333643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CA58937E-D434-9EFD-D247-70C0D247F326}"/>
              </a:ext>
            </a:extLst>
          </p:cNvPr>
          <p:cNvCxnSpPr>
            <a:cxnSpLocks/>
            <a:stCxn id="22" idx="3"/>
            <a:endCxn id="37" idx="1"/>
          </p:cNvCxnSpPr>
          <p:nvPr/>
        </p:nvCxnSpPr>
        <p:spPr>
          <a:xfrm>
            <a:off x="2339454" y="4639238"/>
            <a:ext cx="1206909" cy="530816"/>
          </a:xfrm>
          <a:prstGeom prst="bentConnector3">
            <a:avLst/>
          </a:prstGeom>
          <a:ln w="44450">
            <a:solidFill>
              <a:srgbClr val="FF0000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EF64889F-8050-A788-2080-938173663C6F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 flipV="1">
            <a:off x="6223845" y="4199467"/>
            <a:ext cx="1777341" cy="1882247"/>
          </a:xfrm>
          <a:prstGeom prst="bentConnector3">
            <a:avLst>
              <a:gd name="adj1" fmla="val 50000"/>
            </a:avLst>
          </a:prstGeom>
          <a:ln w="44450">
            <a:solidFill>
              <a:srgbClr val="0000CC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図 6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7E890A6-632E-EF10-250C-64586568F9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750" r="88500" b="1"/>
          <a:stretch>
            <a:fillRect/>
          </a:stretch>
        </p:blipFill>
        <p:spPr>
          <a:xfrm>
            <a:off x="8020293" y="4475874"/>
            <a:ext cx="1258379" cy="22844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9" name="図 68" descr="テキスト, スコアボ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EF72117-18BD-6BEF-935D-4E155F99E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7012" y="3964665"/>
            <a:ext cx="1837633" cy="1076328"/>
          </a:xfrm>
          <a:prstGeom prst="rect">
            <a:avLst/>
          </a:prstGeom>
        </p:spPr>
      </p:pic>
      <p:sp>
        <p:nvSpPr>
          <p:cNvPr id="70" name="矢印: 右 69">
            <a:extLst>
              <a:ext uri="{FF2B5EF4-FFF2-40B4-BE49-F238E27FC236}">
                <a16:creationId xmlns:a16="http://schemas.microsoft.com/office/drawing/2014/main" id="{65596717-293E-3B7A-DC3F-7EACDECEC9D4}"/>
              </a:ext>
            </a:extLst>
          </p:cNvPr>
          <p:cNvSpPr/>
          <p:nvPr/>
        </p:nvSpPr>
        <p:spPr>
          <a:xfrm rot="10800000" flipH="1">
            <a:off x="4588426" y="5630539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矢印: 右 70">
            <a:extLst>
              <a:ext uri="{FF2B5EF4-FFF2-40B4-BE49-F238E27FC236}">
                <a16:creationId xmlns:a16="http://schemas.microsoft.com/office/drawing/2014/main" id="{F36B7CFE-648B-79FD-3ED6-633DF4F023C0}"/>
              </a:ext>
            </a:extLst>
          </p:cNvPr>
          <p:cNvSpPr/>
          <p:nvPr/>
        </p:nvSpPr>
        <p:spPr>
          <a:xfrm rot="10800000" flipH="1">
            <a:off x="4588425" y="5949346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矢印: 右 71">
            <a:extLst>
              <a:ext uri="{FF2B5EF4-FFF2-40B4-BE49-F238E27FC236}">
                <a16:creationId xmlns:a16="http://schemas.microsoft.com/office/drawing/2014/main" id="{5341C636-3E5A-33A6-0D3F-B1018FFBD1EB}"/>
              </a:ext>
            </a:extLst>
          </p:cNvPr>
          <p:cNvSpPr/>
          <p:nvPr/>
        </p:nvSpPr>
        <p:spPr>
          <a:xfrm rot="10800000" flipH="1">
            <a:off x="4582506" y="6280371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矢印: 右 72">
            <a:extLst>
              <a:ext uri="{FF2B5EF4-FFF2-40B4-BE49-F238E27FC236}">
                <a16:creationId xmlns:a16="http://schemas.microsoft.com/office/drawing/2014/main" id="{7600D063-A4C9-AD3B-AF45-F04A701A27E4}"/>
              </a:ext>
            </a:extLst>
          </p:cNvPr>
          <p:cNvSpPr/>
          <p:nvPr/>
        </p:nvSpPr>
        <p:spPr>
          <a:xfrm rot="10800000" flipH="1">
            <a:off x="9196480" y="5580332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矢印: 右 73">
            <a:extLst>
              <a:ext uri="{FF2B5EF4-FFF2-40B4-BE49-F238E27FC236}">
                <a16:creationId xmlns:a16="http://schemas.microsoft.com/office/drawing/2014/main" id="{7070BC8D-741A-EA8F-CC54-BE4321A93115}"/>
              </a:ext>
            </a:extLst>
          </p:cNvPr>
          <p:cNvSpPr/>
          <p:nvPr/>
        </p:nvSpPr>
        <p:spPr>
          <a:xfrm rot="10800000" flipH="1">
            <a:off x="9196480" y="5951749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矢印: 右 74">
            <a:extLst>
              <a:ext uri="{FF2B5EF4-FFF2-40B4-BE49-F238E27FC236}">
                <a16:creationId xmlns:a16="http://schemas.microsoft.com/office/drawing/2014/main" id="{3E0299DC-D624-22EC-9C17-4FF3BEB82082}"/>
              </a:ext>
            </a:extLst>
          </p:cNvPr>
          <p:cNvSpPr/>
          <p:nvPr/>
        </p:nvSpPr>
        <p:spPr>
          <a:xfrm rot="10800000" flipH="1">
            <a:off x="9177372" y="6397611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8" name="図 77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0153A8E-E90D-4978-D484-F1108328F9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806" y="3936017"/>
            <a:ext cx="1803680" cy="1803680"/>
          </a:xfrm>
          <a:prstGeom prst="rect">
            <a:avLst/>
          </a:prstGeom>
        </p:spPr>
      </p:pic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173CD6CF-9C35-C813-62DC-6D4817553417}"/>
              </a:ext>
            </a:extLst>
          </p:cNvPr>
          <p:cNvSpPr txBox="1"/>
          <p:nvPr/>
        </p:nvSpPr>
        <p:spPr>
          <a:xfrm rot="21317982">
            <a:off x="4426983" y="3557008"/>
            <a:ext cx="3593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body/Value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を選択するよ～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80" name="矢印: 右 79">
            <a:extLst>
              <a:ext uri="{FF2B5EF4-FFF2-40B4-BE49-F238E27FC236}">
                <a16:creationId xmlns:a16="http://schemas.microsoft.com/office/drawing/2014/main" id="{C171A883-E1D2-E26A-7877-CB226C8E362C}"/>
              </a:ext>
            </a:extLst>
          </p:cNvPr>
          <p:cNvSpPr/>
          <p:nvPr/>
        </p:nvSpPr>
        <p:spPr>
          <a:xfrm rot="8483814">
            <a:off x="4704580" y="458103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468D72B-74CB-E960-FDF5-EBA2F5DB3BB2}"/>
              </a:ext>
            </a:extLst>
          </p:cNvPr>
          <p:cNvSpPr txBox="1"/>
          <p:nvPr/>
        </p:nvSpPr>
        <p:spPr>
          <a:xfrm rot="21317982">
            <a:off x="9485730" y="3696143"/>
            <a:ext cx="254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綺麗な表が完成！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83" name="図 82" descr="A black figure holding an open book under a starry sky.&#10;&#10;AI 生成コンテンツは誤りを含む可能性があります。">
            <a:extLst>
              <a:ext uri="{FF2B5EF4-FFF2-40B4-BE49-F238E27FC236}">
                <a16:creationId xmlns:a16="http://schemas.microsoft.com/office/drawing/2014/main" id="{3378564C-36B3-B7B8-86F5-5CF05F8889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240" y="5021208"/>
            <a:ext cx="1743539" cy="17435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