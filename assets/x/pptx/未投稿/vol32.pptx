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" y="155448"/>
            <a:ext cx="13716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164592"/>
            <a:ext cx="1371600" cy="502920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2563EB"/>
                </a:solidFill>
                <a:latin typeface="Noto Sans JP"/>
              </a:rPr>
              <a:t>Vol.32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" y="109728"/>
            <a:ext cx="9052560" cy="713232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1E40AF"/>
                </a:solidFill>
                <a:latin typeface="Noto Sans JP"/>
              </a:rPr>
              <a:t>Power Automate：メールの添付を自動で保存する方法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73152"/>
            <a:ext cx="9052560" cy="713232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Noto Sans JP"/>
              </a:rPr>
              <a:t>Power Automate：メールの添付を自動で保存する方法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658368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941832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6384" y="859536"/>
            <a:ext cx="11247120" cy="621792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2563EB"/>
                </a:solidFill>
                <a:latin typeface="Noto Sans JP"/>
              </a:rPr>
              <a:t>結論　</a:t>
            </a:r>
            <a:r>
              <a:rPr sz="1650" b="1">
                <a:solidFill>
                  <a:srgbClr val="1F2937"/>
                </a:solidFill>
                <a:latin typeface="Noto Sans JP"/>
              </a:rPr>
              <a:t>必要な添付だけを、届いた瞬間に自動でフォルダへ。手作業のダウンロード&amp;保存はもうしない。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" y="1645920"/>
            <a:ext cx="3383280" cy="3694176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25400">
            <a:solidFill>
              <a:srgbClr val="A4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1755648"/>
            <a:ext cx="1828800" cy="420624"/>
          </a:xfrm>
          <a:prstGeom prst="roundRect">
            <a:avLst>
              <a:gd name="adj" fmla="val 28000"/>
            </a:avLst>
          </a:prstGeom>
          <a:solidFill>
            <a:srgbClr val="A4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755648"/>
            <a:ext cx="1828800" cy="420624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Noto Sans JP"/>
              </a:rPr>
              <a:t>こんな時に効く？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331720"/>
            <a:ext cx="365760" cy="658368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A4283C"/>
                </a:solidFill>
                <a:latin typeface="Noto Sans JP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31720"/>
            <a:ext cx="2816352" cy="676656"/>
          </a:xfrm>
          <a:prstGeom prst="rect">
            <a:avLst/>
          </a:prstGeom>
          <a:noFill/>
        </p:spPr>
        <p:txBody>
          <a:bodyPr wrap="square" anchor="t" lIns="50800" rIns="508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4B5563"/>
                </a:solidFill>
                <a:latin typeface="Noto Sans JP"/>
              </a:rPr>
              <a:t>請求書や注文書を毎回手で保存している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099816"/>
            <a:ext cx="365760" cy="658368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A4283C"/>
                </a:solidFill>
                <a:latin typeface="Noto Sans JP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99816"/>
            <a:ext cx="2816352" cy="676656"/>
          </a:xfrm>
          <a:prstGeom prst="rect">
            <a:avLst/>
          </a:prstGeom>
          <a:noFill/>
        </p:spPr>
        <p:txBody>
          <a:bodyPr wrap="square" anchor="t" lIns="50800" rIns="508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4B5563"/>
                </a:solidFill>
                <a:latin typeface="Noto Sans JP"/>
              </a:rPr>
              <a:t>添付の保存先がバラバラで探せない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867911"/>
            <a:ext cx="365760" cy="658368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A4283C"/>
                </a:solidFill>
                <a:latin typeface="Noto Sans JP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67911"/>
            <a:ext cx="2816352" cy="676656"/>
          </a:xfrm>
          <a:prstGeom prst="rect">
            <a:avLst/>
          </a:prstGeom>
          <a:noFill/>
        </p:spPr>
        <p:txBody>
          <a:bodyPr wrap="square" anchor="t" lIns="50800" rIns="508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4B5563"/>
                </a:solidFill>
                <a:latin typeface="Noto Sans JP"/>
              </a:rPr>
              <a:t>保存し忘れ・取りこぼしをなくしたい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572000"/>
            <a:ext cx="30175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A4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4608576"/>
            <a:ext cx="2834640" cy="566928"/>
          </a:xfrm>
          <a:prstGeom prst="rect">
            <a:avLst/>
          </a:prstGeom>
          <a:noFill/>
        </p:spPr>
        <p:txBody>
          <a:bodyPr wrap="square" anchor="t" lIns="50800" rIns="508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A4283C"/>
                </a:solidFill>
                <a:latin typeface="Noto Sans JP"/>
              </a:rPr>
              <a:t>Point　</a:t>
            </a:r>
            <a:r>
              <a:rPr sz="1350" b="1">
                <a:solidFill>
                  <a:srgbClr val="4B5563"/>
                </a:solidFill>
                <a:latin typeface="Noto Sans JP"/>
              </a:rPr>
              <a:t>狙いは“届いた瞬間に仕分け”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6B7280"/>
                </a:solidFill>
                <a:latin typeface="Noto Sans JP"/>
              </a:rPr>
              <a:t>―探す時間をゼロにする</a:t>
            </a:r>
          </a:p>
        </p:txBody>
      </p:sp>
      <p:pic>
        <p:nvPicPr>
          <p:cNvPr id="21" name="Picture 20" descr="chara_trou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488" y="1481328"/>
            <a:ext cx="628464" cy="932688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4663440" y="1682496"/>
            <a:ext cx="2724912" cy="457200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1682496"/>
            <a:ext cx="2724912" cy="457200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Noto Sans JP"/>
              </a:rPr>
              <a:t>実際のフロー（3アクション）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2231136"/>
            <a:ext cx="4370832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pa_outl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39" y="2322576"/>
            <a:ext cx="512064" cy="49116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36008" y="2276856"/>
            <a:ext cx="3273552" cy="621792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Noto Sans JP"/>
              </a:rPr>
              <a:t>① </a:t>
            </a:r>
            <a:r>
              <a:rPr sz="1450" b="1">
                <a:solidFill>
                  <a:srgbClr val="1F2937"/>
                </a:solidFill>
                <a:latin typeface="Noto Sans JP"/>
              </a:rPr>
              <a:t>新しいメールが届いたとき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280"/>
                </a:solidFill>
                <a:latin typeface="Noto Sans JP"/>
              </a:rPr>
              <a:t>Office 365 Outlook・添付あり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1271" y="2231136"/>
            <a:ext cx="274320" cy="694944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A6AEBA"/>
                </a:solidFill>
                <a:latin typeface="Noto Sans JP"/>
              </a:rPr>
              <a:t>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14008" y="2944368"/>
            <a:ext cx="23774" cy="237744"/>
          </a:xfrm>
          <a:prstGeom prst="rect">
            <a:avLst/>
          </a:prstGeom>
          <a:solidFill>
            <a:srgbClr val="C2C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920740" y="2962656"/>
            <a:ext cx="210312" cy="2103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20740" y="2948939"/>
            <a:ext cx="210312" cy="210312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Noto Sans JP"/>
              </a:rPr>
              <a:t>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0" y="3200400"/>
            <a:ext cx="4370832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pa_contro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39" y="3291840"/>
            <a:ext cx="512064" cy="51206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636008" y="3246120"/>
            <a:ext cx="3273552" cy="621792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Noto Sans JP"/>
              </a:rPr>
              <a:t>② </a:t>
            </a:r>
            <a:r>
              <a:rPr sz="1450" b="1">
                <a:solidFill>
                  <a:srgbClr val="1F2937"/>
                </a:solidFill>
                <a:latin typeface="Noto Sans JP"/>
              </a:rPr>
              <a:t>条件（Condition）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280"/>
                </a:solidFill>
                <a:latin typeface="Noto Sans JP"/>
              </a:rPr>
              <a:t>件名に「請求書」を含む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91271" y="3200400"/>
            <a:ext cx="274320" cy="694944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A6AEBA"/>
                </a:solidFill>
                <a:latin typeface="Noto Sans JP"/>
              </a:rPr>
              <a:t>⋮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14008" y="3913632"/>
            <a:ext cx="23774" cy="237744"/>
          </a:xfrm>
          <a:prstGeom prst="rect">
            <a:avLst/>
          </a:prstGeom>
          <a:solidFill>
            <a:srgbClr val="C2C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920740" y="3931920"/>
            <a:ext cx="210312" cy="2103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20740" y="3918204"/>
            <a:ext cx="210312" cy="210312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Noto Sans JP"/>
              </a:rPr>
              <a:t>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40480" y="4169664"/>
            <a:ext cx="4370832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pa_sharepoi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7639" y="4279392"/>
            <a:ext cx="512064" cy="51206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636008" y="4215384"/>
            <a:ext cx="3273552" cy="658368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6A34A"/>
                </a:solidFill>
                <a:latin typeface="Noto Sans JP"/>
              </a:rPr>
              <a:t>③ </a:t>
            </a:r>
            <a:r>
              <a:rPr sz="1450" b="1">
                <a:solidFill>
                  <a:srgbClr val="1F2937"/>
                </a:solidFill>
                <a:latin typeface="Noto Sans JP"/>
              </a:rPr>
              <a:t>ファイルの作成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280"/>
                </a:solidFill>
                <a:latin typeface="Noto Sans JP"/>
              </a:rPr>
              <a:t>SharePoint / OneDrive へ保存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91271" y="4169664"/>
            <a:ext cx="274320" cy="731520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A6AEBA"/>
                </a:solidFill>
                <a:latin typeface="Noto Sans JP"/>
              </a:rPr>
              <a:t>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03320" y="4937760"/>
            <a:ext cx="4645152" cy="274320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6A34A"/>
                </a:solidFill>
                <a:latin typeface="Noto Sans JP"/>
              </a:rPr>
              <a:t>→ 年月フォルダへ自動で振り分け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58200" y="1645920"/>
            <a:ext cx="3566160" cy="3694176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326880" y="1755648"/>
            <a:ext cx="1828800" cy="420624"/>
          </a:xfrm>
          <a:prstGeom prst="roundRect">
            <a:avLst>
              <a:gd name="adj" fmla="val 2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1755648"/>
            <a:ext cx="1828800" cy="420624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Noto Sans JP"/>
              </a:rPr>
              <a:t>実務でこう使う</a:t>
            </a:r>
          </a:p>
        </p:txBody>
      </p:sp>
      <p:pic>
        <p:nvPicPr>
          <p:cNvPr id="46" name="Picture 45" descr="icon_check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2792" y="2377440"/>
            <a:ext cx="213360" cy="23774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915400" y="2331720"/>
            <a:ext cx="2980944" cy="676656"/>
          </a:xfrm>
          <a:prstGeom prst="rect">
            <a:avLst/>
          </a:prstGeom>
          <a:noFill/>
        </p:spPr>
        <p:txBody>
          <a:bodyPr wrap="square" anchor="t" lIns="50800" rIns="508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4B5563"/>
                </a:solidFill>
                <a:latin typeface="Noto Sans JP"/>
              </a:rPr>
              <a:t>請求書を取引先フォルダへ自動保存</a:t>
            </a:r>
          </a:p>
        </p:txBody>
      </p:sp>
      <p:pic>
        <p:nvPicPr>
          <p:cNvPr id="48" name="Picture 47" descr="icon_check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2792" y="3108960"/>
            <a:ext cx="213360" cy="23774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915400" y="3063240"/>
            <a:ext cx="2980944" cy="676656"/>
          </a:xfrm>
          <a:prstGeom prst="rect">
            <a:avLst/>
          </a:prstGeom>
          <a:noFill/>
        </p:spPr>
        <p:txBody>
          <a:bodyPr wrap="square" anchor="t" lIns="50800" rIns="508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4B5563"/>
                </a:solidFill>
                <a:latin typeface="Noto Sans JP"/>
              </a:rPr>
              <a:t>申込書を SharePoint に集約</a:t>
            </a:r>
          </a:p>
        </p:txBody>
      </p:sp>
      <p:pic>
        <p:nvPicPr>
          <p:cNvPr id="50" name="Picture 49" descr="icon_check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2792" y="3840479"/>
            <a:ext cx="213360" cy="23774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915400" y="3794759"/>
            <a:ext cx="2980944" cy="676656"/>
          </a:xfrm>
          <a:prstGeom prst="rect">
            <a:avLst/>
          </a:prstGeom>
          <a:noFill/>
        </p:spPr>
        <p:txBody>
          <a:bodyPr wrap="square" anchor="t" lIns="50800" rIns="508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4B5563"/>
                </a:solidFill>
                <a:latin typeface="Noto Sans JP"/>
              </a:rPr>
              <a:t>保存と同時に Teams で受領通知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22792" y="4498848"/>
            <a:ext cx="3236976" cy="713232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chara_gu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4504" y="4370831"/>
            <a:ext cx="655141" cy="89611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299448" y="4480560"/>
            <a:ext cx="2606039" cy="749808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6A34A"/>
                </a:solidFill>
                <a:latin typeface="Noto Sans JP"/>
              </a:rPr>
              <a:t>メリット　</a:t>
            </a:r>
            <a:r>
              <a:rPr sz="1300" b="1">
                <a:solidFill>
                  <a:srgbClr val="064E3B"/>
                </a:solidFill>
                <a:latin typeface="Noto Sans JP"/>
              </a:rPr>
              <a:t>保存作業 毎回15分 → </a:t>
            </a:r>
            <a:r>
              <a:rPr sz="1700" b="1">
                <a:solidFill>
                  <a:srgbClr val="064E3B"/>
                </a:solidFill>
                <a:latin typeface="Noto Sans JP"/>
              </a:rPr>
              <a:t>0分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064E3B"/>
                </a:solidFill>
                <a:latin typeface="Noto Sans JP"/>
              </a:rPr>
              <a:t>探す手間・保存もれもゼロに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5468112"/>
            <a:ext cx="12191695" cy="138988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5468112"/>
            <a:ext cx="146304" cy="13898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chara_smi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016" y="5522976"/>
            <a:ext cx="995851" cy="131673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234440" y="5559552"/>
            <a:ext cx="5120640" cy="384048"/>
          </a:xfrm>
          <a:prstGeom prst="rect">
            <a:avLst/>
          </a:prstGeom>
          <a:noFill/>
        </p:spPr>
        <p:txBody>
          <a:bodyPr wrap="square" anchor="t" lIns="50800" rIns="508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Noto Sans JP"/>
              </a:rPr>
              <a:t>フロー構成（組む順番）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34440" y="5980176"/>
            <a:ext cx="6675120" cy="804672"/>
          </a:xfrm>
          <a:prstGeom prst="rect">
            <a:avLst/>
          </a:prstGeom>
          <a:noFill/>
        </p:spPr>
        <p:txBody>
          <a:bodyPr wrap="square" anchor="t" lIns="50800" rIns="508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1F5F9"/>
                </a:solidFill>
                <a:latin typeface="Noto Sans JP"/>
              </a:rPr>
              <a:t>① Outlook：新しいメール受信（添付ファイルあり）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1F5F9"/>
                </a:solidFill>
                <a:latin typeface="Noto Sans JP"/>
              </a:rPr>
              <a:t>② 条件：件名に「請求書」を含む 等で絞り込み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1F5F9"/>
                </a:solidFill>
                <a:latin typeface="Noto Sans JP"/>
              </a:rPr>
              <a:t>③ 保存：SharePoint / OneDrive にファイル作成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75320" y="5724144"/>
            <a:ext cx="3703320" cy="859536"/>
          </a:xfrm>
          <a:prstGeom prst="roundRect">
            <a:avLst>
              <a:gd name="adj" fmla="val 12000"/>
            </a:avLst>
          </a:prstGeom>
          <a:solidFill>
            <a:srgbClr val="1F2937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66760" y="5760720"/>
            <a:ext cx="3520440" cy="786384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9DC2FF"/>
                </a:solidFill>
                <a:latin typeface="Noto Sans JP"/>
              </a:rPr>
              <a:t>覚え方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Noto Sans JP"/>
              </a:rPr>
              <a:t>「届いたら・選んで・しまう」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Noto Sans JP"/>
              </a:rPr>
              <a:t>の3ステップだけ</a:t>
            </a:r>
          </a:p>
        </p:txBody>
      </p:sp>
      <p:pic>
        <p:nvPicPr>
          <p:cNvPr id="62" name="Picture 61" descr="chara_lapto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00" y="-128016"/>
            <a:ext cx="1322703" cy="18470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