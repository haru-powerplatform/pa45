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" name="Shape 15">
            <a:extLst>
              <a:ext uri="{FF2B5EF4-FFF2-40B4-BE49-F238E27FC236}">
                <a16:creationId xmlns:a16="http://schemas.microsoft.com/office/drawing/2014/main" id="{46CB19F3-9736-0960-A70B-0241EF7A3263}"/>
              </a:ext>
            </a:extLst>
          </p:cNvPr>
          <p:cNvSpPr/>
          <p:nvPr/>
        </p:nvSpPr>
        <p:spPr>
          <a:xfrm>
            <a:off x="253194" y="1312253"/>
            <a:ext cx="2407133" cy="2323525"/>
          </a:xfrm>
          <a:prstGeom prst="roundRect">
            <a:avLst>
              <a:gd name="adj" fmla="val 2809"/>
            </a:avLst>
          </a:prstGeom>
          <a:noFill/>
          <a:ln w="47625">
            <a:solidFill>
              <a:schemeClr val="tx1">
                <a:lumMod val="65000"/>
                <a:lumOff val="35000"/>
              </a:schemeClr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93" name="Shape 1">
            <a:extLst>
              <a:ext uri="{FF2B5EF4-FFF2-40B4-BE49-F238E27FC236}">
                <a16:creationId xmlns:a16="http://schemas.microsoft.com/office/drawing/2014/main" id="{33909C0C-1682-E3D9-4407-80EC8893CDCC}"/>
              </a:ext>
            </a:extLst>
          </p:cNvPr>
          <p:cNvSpPr/>
          <p:nvPr/>
        </p:nvSpPr>
        <p:spPr>
          <a:xfrm>
            <a:off x="-23859" y="-27911"/>
            <a:ext cx="12239718" cy="61495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Text 1"/>
          <p:cNvSpPr txBox="1"/>
          <p:nvPr/>
        </p:nvSpPr>
        <p:spPr>
          <a:xfrm>
            <a:off x="2063800" y="177278"/>
            <a:ext cx="67921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毎月の </a:t>
            </a:r>
            <a:r>
              <a:rPr lang="en-US" sz="2800" b="1" dirty="0">
                <a:solidFill>
                  <a:schemeClr val="bg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“◯営業日目” を自動で出す方法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959933" y="668427"/>
            <a:ext cx="822137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月初から平日だけカウントするシンプル発想</a:t>
            </a:r>
            <a:endParaRPr lang="en-US" sz="2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497222" y="1151055"/>
            <a:ext cx="1994374" cy="267005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欲しいシーン</a:t>
            </a:r>
            <a:r>
              <a:rPr lang="en-US" sz="28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</a:t>
            </a:r>
            <a:endParaRPr lang="en-US" sz="2800" u="sng" dirty="0"/>
          </a:p>
        </p:txBody>
      </p:sp>
      <p:sp>
        <p:nvSpPr>
          <p:cNvPr id="12" name="Text 6"/>
          <p:cNvSpPr txBox="1"/>
          <p:nvPr/>
        </p:nvSpPr>
        <p:spPr>
          <a:xfrm>
            <a:off x="686943" y="1965128"/>
            <a:ext cx="2143354" cy="497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レポート締め</a:t>
            </a:r>
            <a:endParaRPr lang="en-US" dirty="0"/>
          </a:p>
        </p:txBody>
      </p:sp>
      <p:sp>
        <p:nvSpPr>
          <p:cNvPr id="16" name="Text 8"/>
          <p:cNvSpPr txBox="1"/>
          <p:nvPr/>
        </p:nvSpPr>
        <p:spPr>
          <a:xfrm>
            <a:off x="747384" y="2861239"/>
            <a:ext cx="2143354" cy="601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毎月 </a:t>
            </a:r>
            <a:r>
              <a:rPr lang="en-US" b="1" dirty="0">
                <a:solidFill>
                  <a:srgbClr val="1F293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</a:t>
            </a: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に</a:t>
            </a:r>
            <a:endParaRPr lang="en-US" dirty="0"/>
          </a:p>
          <a:p>
            <a:pPr marL="0" indent="0" algn="l">
              <a:buNone/>
            </a:pPr>
            <a:r>
              <a:rPr lang="en-US" dirty="0">
                <a:solidFill>
                  <a:srgbClr val="4B556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請求処理</a:t>
            </a:r>
            <a:endParaRPr lang="en-US" dirty="0"/>
          </a:p>
        </p:txBody>
      </p:sp>
      <p:grpSp>
        <p:nvGrpSpPr>
          <p:cNvPr id="99" name="グループ化 98">
            <a:extLst>
              <a:ext uri="{FF2B5EF4-FFF2-40B4-BE49-F238E27FC236}">
                <a16:creationId xmlns:a16="http://schemas.microsoft.com/office/drawing/2014/main" id="{7AFABCC8-92B4-3281-3978-9F8B495DB010}"/>
              </a:ext>
            </a:extLst>
          </p:cNvPr>
          <p:cNvGrpSpPr/>
          <p:nvPr/>
        </p:nvGrpSpPr>
        <p:grpSpPr>
          <a:xfrm>
            <a:off x="3081576" y="1470664"/>
            <a:ext cx="2594918" cy="2157830"/>
            <a:chOff x="2969205" y="1692657"/>
            <a:chExt cx="1833372" cy="1427956"/>
          </a:xfrm>
        </p:grpSpPr>
        <p:pic>
          <p:nvPicPr>
            <p:cNvPr id="22" name="Image 9" descr="preencoded.png"/>
            <p:cNvPicPr>
              <a:picLocks noChangeAspect="1"/>
            </p:cNvPicPr>
            <p:nvPr/>
          </p:nvPicPr>
          <p:blipFill>
            <a:blip r:embed="rId3"/>
            <a:srcRect l="-2" r="-2"/>
            <a:stretch/>
          </p:blipFill>
          <p:spPr>
            <a:xfrm>
              <a:off x="2969205" y="1794316"/>
              <a:ext cx="1833372" cy="1326297"/>
            </a:xfrm>
            <a:prstGeom prst="rect">
              <a:avLst/>
            </a:prstGeom>
            <a:ln>
              <a:solidFill>
                <a:srgbClr val="0000CC"/>
              </a:solidFill>
            </a:ln>
          </p:spPr>
        </p:pic>
        <p:sp>
          <p:nvSpPr>
            <p:cNvPr id="23" name="Shape 11"/>
            <p:cNvSpPr/>
            <p:nvPr/>
          </p:nvSpPr>
          <p:spPr>
            <a:xfrm>
              <a:off x="3000338" y="1704172"/>
              <a:ext cx="885553" cy="291883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4" name="Text 12"/>
            <p:cNvSpPr/>
            <p:nvPr/>
          </p:nvSpPr>
          <p:spPr>
            <a:xfrm>
              <a:off x="3053562" y="1692657"/>
              <a:ext cx="767970" cy="291883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Start</a:t>
              </a:r>
              <a:endParaRPr lang="en-US" sz="2400" dirty="0"/>
            </a:p>
          </p:txBody>
        </p:sp>
        <p:pic>
          <p:nvPicPr>
            <p:cNvPr id="25" name="Image 10" descr="preencoded.png"/>
            <p:cNvPicPr>
              <a:picLocks noChangeAspect="1"/>
            </p:cNvPicPr>
            <p:nvPr/>
          </p:nvPicPr>
          <p:blipFill>
            <a:blip r:embed="rId4"/>
            <a:srcRect l="-57" r="-57"/>
            <a:stretch/>
          </p:blipFill>
          <p:spPr>
            <a:xfrm>
              <a:off x="3922377" y="1937865"/>
              <a:ext cx="276909" cy="316105"/>
            </a:xfrm>
            <a:prstGeom prst="rect">
              <a:avLst/>
            </a:prstGeom>
          </p:spPr>
        </p:pic>
        <p:sp>
          <p:nvSpPr>
            <p:cNvPr id="26" name="Text 13"/>
            <p:cNvSpPr txBox="1"/>
            <p:nvPr/>
          </p:nvSpPr>
          <p:spPr>
            <a:xfrm>
              <a:off x="3269562" y="2320676"/>
              <a:ext cx="1264007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① 月初をセット</a:t>
              </a:r>
              <a:endParaRPr lang="en-US" sz="1600" dirty="0"/>
            </a:p>
          </p:txBody>
        </p:sp>
        <p:sp>
          <p:nvSpPr>
            <p:cNvPr id="27" name="Shape 14"/>
            <p:cNvSpPr/>
            <p:nvPr/>
          </p:nvSpPr>
          <p:spPr>
            <a:xfrm>
              <a:off x="3125367" y="2559082"/>
              <a:ext cx="1591056" cy="496215"/>
            </a:xfrm>
            <a:prstGeom prst="roundRect">
              <a:avLst>
                <a:gd name="adj" fmla="val 133333"/>
              </a:avLst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28" name="Text 15"/>
            <p:cNvSpPr txBox="1"/>
            <p:nvPr/>
          </p:nvSpPr>
          <p:spPr>
            <a:xfrm>
              <a:off x="3152192" y="2567506"/>
              <a:ext cx="1580455" cy="449868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38100" tIns="38100" rIns="38100" bIns="38100" rtlCol="0" anchor="ctr"/>
            <a:lstStyle/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startOfMonth</a:t>
              </a:r>
            </a:p>
            <a:p>
              <a:pPr marL="0" indent="0" algn="ctr">
                <a:buNone/>
              </a:pPr>
              <a:r>
                <a:rPr lang="en-US" sz="2000" b="1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(</a:t>
              </a:r>
              <a:r>
                <a:rPr lang="en-US" sz="2000" b="1" dirty="0">
                  <a:solidFill>
                    <a:srgbClr val="6B7280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utcNow())</a:t>
              </a:r>
              <a:endParaRPr lang="en-US" sz="2000" b="1" dirty="0"/>
            </a:p>
          </p:txBody>
        </p:sp>
      </p:grp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5448575" y="2293772"/>
            <a:ext cx="529772" cy="586131"/>
          </a:xfrm>
          <a:prstGeom prst="rect">
            <a:avLst/>
          </a:prstGeom>
        </p:spPr>
      </p:pic>
      <p:grpSp>
        <p:nvGrpSpPr>
          <p:cNvPr id="100" name="グループ化 99">
            <a:extLst>
              <a:ext uri="{FF2B5EF4-FFF2-40B4-BE49-F238E27FC236}">
                <a16:creationId xmlns:a16="http://schemas.microsoft.com/office/drawing/2014/main" id="{616DD28A-EB3F-5D8A-2064-0984167F728F}"/>
              </a:ext>
            </a:extLst>
          </p:cNvPr>
          <p:cNvGrpSpPr/>
          <p:nvPr/>
        </p:nvGrpSpPr>
        <p:grpSpPr>
          <a:xfrm>
            <a:off x="5787861" y="1464149"/>
            <a:ext cx="2826313" cy="2159877"/>
            <a:chOff x="6624545" y="1753960"/>
            <a:chExt cx="2225395" cy="1591895"/>
          </a:xfrm>
        </p:grpSpPr>
        <p:pic>
          <p:nvPicPr>
            <p:cNvPr id="30" name="Image 12" descr="preencoded.png"/>
            <p:cNvPicPr>
              <a:picLocks noChangeAspect="1"/>
            </p:cNvPicPr>
            <p:nvPr/>
          </p:nvPicPr>
          <p:blipFill>
            <a:blip r:embed="rId6"/>
            <a:srcRect t="-23" b="-23"/>
            <a:stretch/>
          </p:blipFill>
          <p:spPr>
            <a:xfrm>
              <a:off x="6797462" y="1861582"/>
              <a:ext cx="1913788" cy="1484273"/>
            </a:xfrm>
            <a:prstGeom prst="rect">
              <a:avLst/>
            </a:prstGeom>
          </p:spPr>
        </p:pic>
        <p:sp>
          <p:nvSpPr>
            <p:cNvPr id="31" name="Shape 16"/>
            <p:cNvSpPr/>
            <p:nvPr/>
          </p:nvSpPr>
          <p:spPr>
            <a:xfrm>
              <a:off x="6789645" y="1781251"/>
              <a:ext cx="2006773" cy="344520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4000"/>
            </a:p>
          </p:txBody>
        </p:sp>
        <p:sp>
          <p:nvSpPr>
            <p:cNvPr id="32" name="Text 17"/>
            <p:cNvSpPr/>
            <p:nvPr/>
          </p:nvSpPr>
          <p:spPr>
            <a:xfrm>
              <a:off x="6905452" y="1753960"/>
              <a:ext cx="1813615" cy="364211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Loop Process</a:t>
              </a:r>
              <a:endParaRPr lang="en-US" sz="2400" dirty="0"/>
            </a:p>
          </p:txBody>
        </p:sp>
        <p:pic>
          <p:nvPicPr>
            <p:cNvPr id="33" name="Image 13" descr="preencoded.png"/>
            <p:cNvPicPr>
              <a:picLocks noChangeAspect="1"/>
            </p:cNvPicPr>
            <p:nvPr/>
          </p:nvPicPr>
          <p:blipFill>
            <a:blip r:embed="rId7"/>
            <a:srcRect/>
            <a:stretch/>
          </p:blipFill>
          <p:spPr>
            <a:xfrm>
              <a:off x="7627800" y="2160555"/>
              <a:ext cx="261008" cy="261008"/>
            </a:xfrm>
            <a:prstGeom prst="rect">
              <a:avLst/>
            </a:prstGeom>
          </p:spPr>
        </p:pic>
        <p:sp>
          <p:nvSpPr>
            <p:cNvPr id="34" name="Text 18"/>
            <p:cNvSpPr txBox="1"/>
            <p:nvPr/>
          </p:nvSpPr>
          <p:spPr>
            <a:xfrm>
              <a:off x="6796706" y="2493540"/>
              <a:ext cx="1900799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② 1日ずつ進めて判定</a:t>
              </a:r>
              <a:endParaRPr lang="en-US" dirty="0"/>
            </a:p>
          </p:txBody>
        </p:sp>
        <p:sp>
          <p:nvSpPr>
            <p:cNvPr id="35" name="Text 19"/>
            <p:cNvSpPr txBox="1"/>
            <p:nvPr/>
          </p:nvSpPr>
          <p:spPr>
            <a:xfrm>
              <a:off x="6624545" y="2805312"/>
              <a:ext cx="2225395" cy="42885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日付を+1日する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平日ならカウントUP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 (土日はカウントしない) </a:t>
              </a:r>
              <a:endParaRPr lang="en-US" sz="1600" dirty="0"/>
            </a:p>
          </p:txBody>
        </p:sp>
      </p:grpSp>
      <p:pic>
        <p:nvPicPr>
          <p:cNvPr id="36" name="Image 14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8415033" y="2355876"/>
            <a:ext cx="505978" cy="559805"/>
          </a:xfrm>
          <a:prstGeom prst="rect">
            <a:avLst/>
          </a:prstGeom>
        </p:spPr>
      </p:pic>
      <p:grpSp>
        <p:nvGrpSpPr>
          <p:cNvPr id="101" name="グループ化 100">
            <a:extLst>
              <a:ext uri="{FF2B5EF4-FFF2-40B4-BE49-F238E27FC236}">
                <a16:creationId xmlns:a16="http://schemas.microsoft.com/office/drawing/2014/main" id="{7C443620-0A70-45B8-0F43-7895B7C14B6B}"/>
              </a:ext>
            </a:extLst>
          </p:cNvPr>
          <p:cNvGrpSpPr/>
          <p:nvPr/>
        </p:nvGrpSpPr>
        <p:grpSpPr>
          <a:xfrm>
            <a:off x="8855963" y="1509313"/>
            <a:ext cx="2412953" cy="2126465"/>
            <a:chOff x="10180930" y="1583839"/>
            <a:chExt cx="1458468" cy="1531522"/>
          </a:xfrm>
        </p:grpSpPr>
        <p:pic>
          <p:nvPicPr>
            <p:cNvPr id="37" name="Image 15" descr="preencoded.png"/>
            <p:cNvPicPr>
              <a:picLocks noChangeAspect="1"/>
            </p:cNvPicPr>
            <p:nvPr/>
          </p:nvPicPr>
          <p:blipFill>
            <a:blip r:embed="rId8"/>
            <a:srcRect t="-6" b="-6"/>
            <a:stretch/>
          </p:blipFill>
          <p:spPr>
            <a:xfrm>
              <a:off x="10180930" y="1664942"/>
              <a:ext cx="1458468" cy="1450419"/>
            </a:xfrm>
            <a:prstGeom prst="rect">
              <a:avLst/>
            </a:prstGeom>
          </p:spPr>
        </p:pic>
        <p:sp>
          <p:nvSpPr>
            <p:cNvPr id="38" name="Shape 20"/>
            <p:cNvSpPr/>
            <p:nvPr/>
          </p:nvSpPr>
          <p:spPr>
            <a:xfrm>
              <a:off x="10255910" y="1583839"/>
              <a:ext cx="797854" cy="315817"/>
            </a:xfrm>
            <a:prstGeom prst="roundRect">
              <a:avLst>
                <a:gd name="adj" fmla="val 480770"/>
              </a:avLst>
            </a:prstGeom>
            <a:solidFill>
              <a:srgbClr val="2563EB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 sz="3600"/>
            </a:p>
          </p:txBody>
        </p:sp>
        <p:sp>
          <p:nvSpPr>
            <p:cNvPr id="39" name="Text 21"/>
            <p:cNvSpPr/>
            <p:nvPr/>
          </p:nvSpPr>
          <p:spPr>
            <a:xfrm>
              <a:off x="10268555" y="1644621"/>
              <a:ext cx="697093" cy="191110"/>
            </a:xfrm>
            <a:prstGeom prst="rect">
              <a:avLst/>
            </a:prstGeom>
            <a:solidFill>
              <a:srgbClr val="FFFFFF">
                <a:alpha val="0"/>
              </a:srgbClr>
            </a:solidFill>
            <a:ln>
              <a:solidFill>
                <a:srgbClr val="FFFFFF">
                  <a:alpha val="0"/>
                </a:srgbClr>
              </a:solidFill>
            </a:ln>
          </p:spPr>
          <p:txBody>
            <a:bodyPr wrap="square" lIns="76200" tIns="25400" rIns="76200" bIns="25400" rtlCol="0" anchor="ctr"/>
            <a:lstStyle/>
            <a:p>
              <a:pPr marL="0" indent="0" algn="ctr">
                <a:buNone/>
              </a:pPr>
              <a:r>
                <a:rPr lang="en-US" sz="2400" b="1" dirty="0">
                  <a:solidFill>
                    <a:srgbClr val="FFFFFF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Goal</a:t>
              </a:r>
              <a:endParaRPr lang="en-US" sz="2400" dirty="0"/>
            </a:p>
          </p:txBody>
        </p:sp>
        <p:pic>
          <p:nvPicPr>
            <p:cNvPr id="40" name="Image 16" descr="preencoded.png"/>
            <p:cNvPicPr>
              <a:picLocks noChangeAspect="1"/>
            </p:cNvPicPr>
            <p:nvPr/>
          </p:nvPicPr>
          <p:blipFill>
            <a:blip r:embed="rId9"/>
            <a:srcRect l="-57" r="-57"/>
            <a:stretch/>
          </p:blipFill>
          <p:spPr>
            <a:xfrm>
              <a:off x="10821735" y="1916835"/>
              <a:ext cx="270987" cy="309344"/>
            </a:xfrm>
            <a:prstGeom prst="rect">
              <a:avLst/>
            </a:prstGeom>
          </p:spPr>
        </p:pic>
        <p:sp>
          <p:nvSpPr>
            <p:cNvPr id="41" name="Text 22"/>
            <p:cNvSpPr txBox="1"/>
            <p:nvPr/>
          </p:nvSpPr>
          <p:spPr>
            <a:xfrm>
              <a:off x="10255910" y="2344610"/>
              <a:ext cx="1317650" cy="1911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74151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③ カウント到達</a:t>
              </a:r>
              <a:endParaRPr lang="en-US" dirty="0"/>
            </a:p>
          </p:txBody>
        </p:sp>
        <p:sp>
          <p:nvSpPr>
            <p:cNvPr id="42" name="Text 23"/>
            <p:cNvSpPr txBox="1"/>
            <p:nvPr/>
          </p:nvSpPr>
          <p:spPr>
            <a:xfrm>
              <a:off x="10266883" y="2662583"/>
              <a:ext cx="1331235" cy="3054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count = 5 になったら</a:t>
              </a:r>
              <a:endParaRPr lang="en-US" sz="1600" dirty="0"/>
            </a:p>
            <a:p>
              <a:pPr marL="0" indent="0" algn="ctr">
                <a:buNone/>
              </a:pPr>
              <a:r>
                <a:rPr lang="en-US" sz="1600" dirty="0">
                  <a:solidFill>
                    <a:srgbClr val="4B5563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その日が</a:t>
              </a:r>
              <a:r>
                <a:rPr lang="en-US" sz="1600" b="1" dirty="0">
                  <a:solidFill>
                    <a:srgbClr val="2563EB"/>
                  </a:solidFill>
                  <a:latin typeface="Noto Sans JP" pitchFamily="34" charset="0"/>
                  <a:ea typeface="Noto Sans JP" pitchFamily="34" charset="-122"/>
                  <a:cs typeface="Noto Sans JP" pitchFamily="34" charset="-120"/>
                </a:rPr>
                <a:t>「5営業日目」</a:t>
              </a:r>
              <a:endParaRPr lang="en-US" sz="1600" dirty="0"/>
            </a:p>
          </p:txBody>
        </p:sp>
      </p:grpSp>
      <p:pic>
        <p:nvPicPr>
          <p:cNvPr id="56" name="Image 20" descr="preencoded.png"/>
          <p:cNvPicPr>
            <a:picLocks noChangeAspect="1"/>
          </p:cNvPicPr>
          <p:nvPr/>
        </p:nvPicPr>
        <p:blipFill>
          <a:blip r:embed="rId10"/>
          <a:srcRect l="-7" r="-7"/>
          <a:stretch/>
        </p:blipFill>
        <p:spPr>
          <a:xfrm>
            <a:off x="188332" y="4081017"/>
            <a:ext cx="4665702" cy="2634108"/>
          </a:xfrm>
          <a:prstGeom prst="rect">
            <a:avLst/>
          </a:prstGeom>
        </p:spPr>
      </p:pic>
      <p:sp>
        <p:nvSpPr>
          <p:cNvPr id="57" name="Text 34"/>
          <p:cNvSpPr txBox="1"/>
          <p:nvPr/>
        </p:nvSpPr>
        <p:spPr>
          <a:xfrm>
            <a:off x="647909" y="4134875"/>
            <a:ext cx="4215202" cy="881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1D4ED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Power Automate 実装の要点 </a:t>
            </a:r>
            <a:endParaRPr lang="en-US" sz="2400" u="sng" dirty="0"/>
          </a:p>
        </p:txBody>
      </p:sp>
      <p:pic>
        <p:nvPicPr>
          <p:cNvPr id="58" name="Image 21" descr="preencoded.png"/>
          <p:cNvPicPr>
            <a:picLocks noChangeAspect="1"/>
          </p:cNvPicPr>
          <p:nvPr/>
        </p:nvPicPr>
        <p:blipFill>
          <a:blip r:embed="rId11"/>
          <a:srcRect l="-1507" r="-1507"/>
          <a:stretch/>
        </p:blipFill>
        <p:spPr>
          <a:xfrm>
            <a:off x="263295" y="4062633"/>
            <a:ext cx="357713" cy="216978"/>
          </a:xfrm>
          <a:prstGeom prst="rect">
            <a:avLst/>
          </a:prstGeom>
        </p:spPr>
      </p:pic>
      <p:sp>
        <p:nvSpPr>
          <p:cNvPr id="59" name="Shape 35"/>
          <p:cNvSpPr/>
          <p:nvPr/>
        </p:nvSpPr>
        <p:spPr>
          <a:xfrm>
            <a:off x="477087" y="4462322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0" name="Text 36"/>
          <p:cNvSpPr txBox="1"/>
          <p:nvPr/>
        </p:nvSpPr>
        <p:spPr>
          <a:xfrm>
            <a:off x="560826" y="4457326"/>
            <a:ext cx="3656504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Do 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until ループ条件</a:t>
            </a:r>
          </a:p>
          <a:p>
            <a:pPr marL="0" indent="0" algn="l">
              <a:buNone/>
            </a:pPr>
            <a:r>
              <a:rPr lang="en-US" sz="1400" b="1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r>
              <a:rPr lang="en-US" sz="14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('count')</a:t>
            </a:r>
            <a:r>
              <a:rPr lang="en-US" sz="1400" b="1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target と等しい </a:t>
            </a:r>
            <a:endParaRPr lang="en-US" sz="1400" b="1" dirty="0"/>
          </a:p>
        </p:txBody>
      </p:sp>
      <p:sp>
        <p:nvSpPr>
          <p:cNvPr id="62" name="Shape 38"/>
          <p:cNvSpPr/>
          <p:nvPr/>
        </p:nvSpPr>
        <p:spPr>
          <a:xfrm>
            <a:off x="450376" y="5184657"/>
            <a:ext cx="4152899" cy="578018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3" name="Text 39"/>
          <p:cNvSpPr txBox="1"/>
          <p:nvPr/>
        </p:nvSpPr>
        <p:spPr>
          <a:xfrm>
            <a:off x="497222" y="5218641"/>
            <a:ext cx="3838656" cy="57801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76200" rIns="76200" bIns="762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平日判定 (</a:t>
            </a:r>
            <a:r>
              <a:rPr lang="en-US" sz="1600" b="1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条件分岐)</a:t>
            </a:r>
          </a:p>
          <a:p>
            <a:pPr marL="0" indent="0" algn="l">
              <a:buNone/>
            </a:pPr>
            <a:r>
              <a:rPr lang="en-US" sz="160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dayOfWeek</a:t>
            </a:r>
            <a:r>
              <a:rPr lang="en-US" sz="160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(...)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が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0(日)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EF4444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6(土)</a:t>
            </a:r>
            <a:r>
              <a:rPr lang="en-US" sz="1600" dirty="0">
                <a:solidFill>
                  <a:srgbClr val="00000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以外 </a:t>
            </a:r>
            <a:endParaRPr lang="en-US" sz="1600" dirty="0"/>
          </a:p>
        </p:txBody>
      </p:sp>
      <p:sp>
        <p:nvSpPr>
          <p:cNvPr id="67" name="Shape 43"/>
          <p:cNvSpPr/>
          <p:nvPr/>
        </p:nvSpPr>
        <p:spPr>
          <a:xfrm>
            <a:off x="477087" y="5925332"/>
            <a:ext cx="4208990" cy="686097"/>
          </a:xfrm>
          <a:prstGeom prst="roundRect">
            <a:avLst>
              <a:gd name="adj" fmla="val 2838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ja-JP" altLang="en-US" sz="3200"/>
          </a:p>
        </p:txBody>
      </p:sp>
      <p:sp>
        <p:nvSpPr>
          <p:cNvPr id="68" name="Text 44"/>
          <p:cNvSpPr txBox="1"/>
          <p:nvPr/>
        </p:nvSpPr>
        <p:spPr>
          <a:xfrm>
            <a:off x="604734" y="6060802"/>
            <a:ext cx="1061599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B7280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日付加算</a:t>
            </a:r>
            <a:endParaRPr lang="en-US" sz="1600" dirty="0"/>
          </a:p>
        </p:txBody>
      </p:sp>
      <p:sp>
        <p:nvSpPr>
          <p:cNvPr id="69" name="Text 45"/>
          <p:cNvSpPr txBox="1"/>
          <p:nvPr/>
        </p:nvSpPr>
        <p:spPr>
          <a:xfrm>
            <a:off x="617383" y="6330204"/>
            <a:ext cx="4076177" cy="178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addDays(variables('date'), 1)</a:t>
            </a:r>
            <a:endParaRPr lang="en-US" b="1" dirty="0"/>
          </a:p>
        </p:txBody>
      </p:sp>
      <p:pic>
        <p:nvPicPr>
          <p:cNvPr id="70" name="Image 22" descr="preencoded.png"/>
          <p:cNvPicPr>
            <a:picLocks noChangeAspect="1"/>
          </p:cNvPicPr>
          <p:nvPr/>
        </p:nvPicPr>
        <p:blipFill>
          <a:blip r:embed="rId12"/>
          <a:srcRect l="-1" r="-1"/>
          <a:stretch/>
        </p:blipFill>
        <p:spPr>
          <a:xfrm>
            <a:off x="4912490" y="4135539"/>
            <a:ext cx="3233102" cy="2501544"/>
          </a:xfrm>
          <a:prstGeom prst="rect">
            <a:avLst/>
          </a:prstGeom>
        </p:spPr>
      </p:pic>
      <p:sp>
        <p:nvSpPr>
          <p:cNvPr id="71" name="Text 46"/>
          <p:cNvSpPr txBox="1"/>
          <p:nvPr/>
        </p:nvSpPr>
        <p:spPr>
          <a:xfrm>
            <a:off x="5332686" y="4056905"/>
            <a:ext cx="2844763" cy="2183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B91C1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ここでつまずきがち </a:t>
            </a:r>
            <a:endParaRPr lang="en-US" sz="2400" u="sng" dirty="0"/>
          </a:p>
        </p:txBody>
      </p:sp>
      <p:pic>
        <p:nvPicPr>
          <p:cNvPr id="72" name="Image 2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4991416" y="4031425"/>
            <a:ext cx="256310" cy="277896"/>
          </a:xfrm>
          <a:prstGeom prst="rect">
            <a:avLst/>
          </a:prstGeom>
        </p:spPr>
      </p:pic>
      <p:sp>
        <p:nvSpPr>
          <p:cNvPr id="74" name="Text 47"/>
          <p:cNvSpPr txBox="1"/>
          <p:nvPr/>
        </p:nvSpPr>
        <p:spPr>
          <a:xfrm>
            <a:off x="5361547" y="4677938"/>
            <a:ext cx="301163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月初は「1営業日目」。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count=0 から始めるとズレる。</a:t>
            </a:r>
            <a:endParaRPr lang="en-US" sz="1600" dirty="0"/>
          </a:p>
        </p:txBody>
      </p:sp>
      <p:pic>
        <p:nvPicPr>
          <p:cNvPr id="75" name="Image 25" descr="preencoded.png"/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32002" y="4648091"/>
            <a:ext cx="277223" cy="349938"/>
          </a:xfrm>
          <a:prstGeom prst="rect">
            <a:avLst/>
          </a:prstGeom>
        </p:spPr>
      </p:pic>
      <p:sp>
        <p:nvSpPr>
          <p:cNvPr id="76" name="Text 48"/>
          <p:cNvSpPr txBox="1"/>
          <p:nvPr/>
        </p:nvSpPr>
        <p:spPr>
          <a:xfrm>
            <a:off x="5443338" y="5333261"/>
            <a:ext cx="2702254" cy="4254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dayOfWeek() の戻り値。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0=日曜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, </a:t>
            </a:r>
            <a:r>
              <a:rPr lang="en-US" sz="1600" b="1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6=土曜</a:t>
            </a: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を暗記！</a:t>
            </a:r>
            <a:endParaRPr lang="en-US" sz="1600" dirty="0"/>
          </a:p>
        </p:txBody>
      </p:sp>
      <p:pic>
        <p:nvPicPr>
          <p:cNvPr id="77" name="Image 26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5057673" y="6108858"/>
            <a:ext cx="298149" cy="292421"/>
          </a:xfrm>
          <a:prstGeom prst="rect">
            <a:avLst/>
          </a:prstGeom>
        </p:spPr>
      </p:pic>
      <p:sp>
        <p:nvSpPr>
          <p:cNvPr id="78" name="Text 49"/>
          <p:cNvSpPr txBox="1"/>
          <p:nvPr/>
        </p:nvSpPr>
        <p:spPr>
          <a:xfrm>
            <a:off x="5416544" y="6108590"/>
            <a:ext cx="287572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祝日は考慮外。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374151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まずは土日除外だけで動かす。</a:t>
            </a:r>
            <a:endParaRPr lang="en-US" sz="1600" dirty="0"/>
          </a:p>
        </p:txBody>
      </p:sp>
      <p:pic>
        <p:nvPicPr>
          <p:cNvPr id="79" name="Image 27" descr="preencoded.png"/>
          <p:cNvPicPr>
            <a:picLocks noChangeAspect="1"/>
          </p:cNvPicPr>
          <p:nvPr/>
        </p:nvPicPr>
        <p:blipFill>
          <a:blip r:embed="rId16"/>
          <a:srcRect l="-13" r="-13"/>
          <a:stretch/>
        </p:blipFill>
        <p:spPr>
          <a:xfrm>
            <a:off x="8420577" y="4135538"/>
            <a:ext cx="3569022" cy="2545183"/>
          </a:xfrm>
          <a:prstGeom prst="rect">
            <a:avLst/>
          </a:prstGeom>
        </p:spPr>
      </p:pic>
      <p:sp>
        <p:nvSpPr>
          <p:cNvPr id="80" name="Text 50"/>
          <p:cNvSpPr txBox="1"/>
          <p:nvPr/>
        </p:nvSpPr>
        <p:spPr>
          <a:xfrm>
            <a:off x="8852318" y="4058237"/>
            <a:ext cx="3335671" cy="199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047857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これが自動になると… </a:t>
            </a:r>
            <a:endParaRPr lang="en-US" sz="2400" u="sng" dirty="0"/>
          </a:p>
        </p:txBody>
      </p:sp>
      <p:pic>
        <p:nvPicPr>
          <p:cNvPr id="81" name="Image 28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8531554" y="4017230"/>
            <a:ext cx="256611" cy="256611"/>
          </a:xfrm>
          <a:prstGeom prst="rect">
            <a:avLst/>
          </a:prstGeom>
        </p:spPr>
      </p:pic>
      <p:sp>
        <p:nvSpPr>
          <p:cNvPr id="82" name="Text 51"/>
          <p:cNvSpPr txBox="1"/>
          <p:nvPr/>
        </p:nvSpPr>
        <p:spPr>
          <a:xfrm>
            <a:off x="8855963" y="4615063"/>
            <a:ext cx="3214546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5営業日目に自動レポート送信</a:t>
            </a:r>
            <a:endParaRPr lang="en-US" dirty="0"/>
          </a:p>
        </p:txBody>
      </p:sp>
      <p:pic>
        <p:nvPicPr>
          <p:cNvPr id="83" name="Image 2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489206" y="4643672"/>
            <a:ext cx="249937" cy="249937"/>
          </a:xfrm>
          <a:prstGeom prst="rect">
            <a:avLst/>
          </a:prstGeom>
        </p:spPr>
      </p:pic>
      <p:sp>
        <p:nvSpPr>
          <p:cNvPr id="84" name="Text 52"/>
          <p:cNvSpPr txBox="1"/>
          <p:nvPr/>
        </p:nvSpPr>
        <p:spPr>
          <a:xfrm>
            <a:off x="8862385" y="5126900"/>
            <a:ext cx="3107219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2営業日目に未提出リマインド</a:t>
            </a:r>
            <a:endParaRPr lang="en-US" dirty="0"/>
          </a:p>
        </p:txBody>
      </p:sp>
      <p:pic>
        <p:nvPicPr>
          <p:cNvPr id="85" name="Image 30" descr="preencoded.png"/>
          <p:cNvPicPr>
            <a:picLocks noChangeAspect="1"/>
          </p:cNvPicPr>
          <p:nvPr/>
        </p:nvPicPr>
        <p:blipFill>
          <a:blip r:embed="rId19"/>
          <a:srcRect l="-2571" r="-2571"/>
          <a:stretch/>
        </p:blipFill>
        <p:spPr>
          <a:xfrm>
            <a:off x="8502323" y="5146363"/>
            <a:ext cx="202127" cy="219704"/>
          </a:xfrm>
          <a:prstGeom prst="rect">
            <a:avLst/>
          </a:prstGeom>
        </p:spPr>
      </p:pic>
      <p:sp>
        <p:nvSpPr>
          <p:cNvPr id="86" name="Text 53"/>
          <p:cNvSpPr txBox="1"/>
          <p:nvPr/>
        </p:nvSpPr>
        <p:spPr>
          <a:xfrm>
            <a:off x="8885979" y="5677820"/>
            <a:ext cx="3093884" cy="2391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dirty="0">
                <a:solidFill>
                  <a:srgbClr val="064E3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3営業日目にCSV自動生成</a:t>
            </a:r>
            <a:endParaRPr lang="en-US" dirty="0"/>
          </a:p>
        </p:txBody>
      </p:sp>
      <p:pic>
        <p:nvPicPr>
          <p:cNvPr id="87" name="Image 31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8559169" y="5686808"/>
            <a:ext cx="219702" cy="219702"/>
          </a:xfrm>
          <a:prstGeom prst="rect">
            <a:avLst/>
          </a:prstGeom>
        </p:spPr>
      </p:pic>
      <p:sp>
        <p:nvSpPr>
          <p:cNvPr id="88" name="Text 54"/>
          <p:cNvSpPr txBox="1"/>
          <p:nvPr/>
        </p:nvSpPr>
        <p:spPr>
          <a:xfrm>
            <a:off x="8907122" y="6151962"/>
            <a:ext cx="2676002" cy="3486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“月初ロジック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”で業務</a:t>
            </a:r>
            <a:r>
              <a:rPr lang="ja-JP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を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自動化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9" name="Shape 55"/>
          <p:cNvSpPr/>
          <p:nvPr/>
        </p:nvSpPr>
        <p:spPr>
          <a:xfrm>
            <a:off x="381305" y="7629754"/>
            <a:ext cx="11430000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0" name="Text 56"/>
          <p:cNvSpPr txBox="1"/>
          <p:nvPr/>
        </p:nvSpPr>
        <p:spPr>
          <a:xfrm>
            <a:off x="381305" y="7753198"/>
            <a:ext cx="49533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PA45では、こうした “月初ロジックのアルゴリズム” も一緒に45分で作って動かしています。</a:t>
            </a:r>
            <a:endParaRPr lang="en-US" sz="900" dirty="0"/>
          </a:p>
        </p:txBody>
      </p:sp>
      <p:sp>
        <p:nvSpPr>
          <p:cNvPr id="91" name="Text 57"/>
          <p:cNvSpPr txBox="1"/>
          <p:nvPr/>
        </p:nvSpPr>
        <p:spPr>
          <a:xfrm>
            <a:off x="11342218" y="7715707"/>
            <a:ext cx="5532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D1D5D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#PA45</a:t>
            </a:r>
            <a:endParaRPr lang="en-US" sz="1000" dirty="0"/>
          </a:p>
        </p:txBody>
      </p:sp>
      <p:sp>
        <p:nvSpPr>
          <p:cNvPr id="92" name="四角形: 角を丸くする 91">
            <a:extLst>
              <a:ext uri="{FF2B5EF4-FFF2-40B4-BE49-F238E27FC236}">
                <a16:creationId xmlns:a16="http://schemas.microsoft.com/office/drawing/2014/main" id="{CEF61DDC-0438-8CB3-0995-0DD42F2A00E2}"/>
              </a:ext>
            </a:extLst>
          </p:cNvPr>
          <p:cNvSpPr/>
          <p:nvPr/>
        </p:nvSpPr>
        <p:spPr>
          <a:xfrm>
            <a:off x="44269" y="-50800"/>
            <a:ext cx="12103265" cy="6858000"/>
          </a:xfrm>
          <a:prstGeom prst="roundRect">
            <a:avLst>
              <a:gd name="adj" fmla="val 3966"/>
            </a:avLst>
          </a:prstGeom>
          <a:noFill/>
          <a:ln w="1174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2000F949-BECD-8062-C199-E0595B1FCE64}"/>
              </a:ext>
            </a:extLst>
          </p:cNvPr>
          <p:cNvGrpSpPr/>
          <p:nvPr/>
        </p:nvGrpSpPr>
        <p:grpSpPr>
          <a:xfrm>
            <a:off x="188332" y="78173"/>
            <a:ext cx="1543203" cy="464514"/>
            <a:chOff x="188332" y="78173"/>
            <a:chExt cx="1543203" cy="464514"/>
          </a:xfrm>
        </p:grpSpPr>
        <p:sp>
          <p:nvSpPr>
            <p:cNvPr id="95" name="Shape 2">
              <a:extLst>
                <a:ext uri="{FF2B5EF4-FFF2-40B4-BE49-F238E27FC236}">
                  <a16:creationId xmlns:a16="http://schemas.microsoft.com/office/drawing/2014/main" id="{5D63F5D1-20F1-D271-C01C-94F597B0995B}"/>
                </a:ext>
              </a:extLst>
            </p:cNvPr>
            <p:cNvSpPr/>
            <p:nvPr/>
          </p:nvSpPr>
          <p:spPr>
            <a:xfrm>
              <a:off x="188332" y="78173"/>
              <a:ext cx="1543203" cy="464514"/>
            </a:xfrm>
            <a:prstGeom prst="roundRect">
              <a:avLst>
                <a:gd name="adj" fmla="val 266667"/>
              </a:avLst>
            </a:prstGeom>
            <a:solidFill>
              <a:srgbClr val="FFFFFF">
                <a:alpha val="20000"/>
              </a:srgbClr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6" name="Text 3">
              <a:extLst>
                <a:ext uri="{FF2B5EF4-FFF2-40B4-BE49-F238E27FC236}">
                  <a16:creationId xmlns:a16="http://schemas.microsoft.com/office/drawing/2014/main" id="{6B898D7F-D158-E3A9-0984-CE49369878DE}"/>
                </a:ext>
              </a:extLst>
            </p:cNvPr>
            <p:cNvSpPr txBox="1"/>
            <p:nvPr/>
          </p:nvSpPr>
          <p:spPr>
            <a:xfrm>
              <a:off x="348708" y="184194"/>
              <a:ext cx="1317625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3200" b="1" kern="0" spc="38">
                  <a:solidFill>
                    <a:srgbClr val="FFFFFF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Vol.28</a:t>
              </a:r>
              <a:endParaRPr lang="en-US" sz="3200" dirty="0"/>
            </a:p>
          </p:txBody>
        </p:sp>
      </p:grpSp>
      <p:pic>
        <p:nvPicPr>
          <p:cNvPr id="97" name="図 96" descr="The image depicts a stylized, blue and white arrow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994F9F13-608F-4441-D7F0-239F0077D80F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7044" y="538934"/>
            <a:ext cx="663502" cy="66350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" name="Image 4" descr="preencoded.png">
            <a:extLst>
              <a:ext uri="{FF2B5EF4-FFF2-40B4-BE49-F238E27FC236}">
                <a16:creationId xmlns:a16="http://schemas.microsoft.com/office/drawing/2014/main" id="{F7DD7E83-7E52-66A9-44C1-BAA25E54F626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72699" y="1985766"/>
            <a:ext cx="370363" cy="402568"/>
          </a:xfrm>
          <a:prstGeom prst="rect">
            <a:avLst/>
          </a:prstGeom>
        </p:spPr>
      </p:pic>
      <p:pic>
        <p:nvPicPr>
          <p:cNvPr id="102" name="Image 25" descr="preencoded.png">
            <a:extLst>
              <a:ext uri="{FF2B5EF4-FFF2-40B4-BE49-F238E27FC236}">
                <a16:creationId xmlns:a16="http://schemas.microsoft.com/office/drawing/2014/main" id="{D1783DD4-2973-DE91-D15F-2A81EE058434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-133" r="-133"/>
          <a:stretch/>
        </p:blipFill>
        <p:spPr>
          <a:xfrm>
            <a:off x="5043686" y="5342354"/>
            <a:ext cx="277223" cy="349938"/>
          </a:xfrm>
          <a:prstGeom prst="rect">
            <a:avLst/>
          </a:prstGeom>
        </p:spPr>
      </p:pic>
      <p:pic>
        <p:nvPicPr>
          <p:cNvPr id="105" name="Image 4" descr="preencoded.png">
            <a:extLst>
              <a:ext uri="{FF2B5EF4-FFF2-40B4-BE49-F238E27FC236}">
                <a16:creationId xmlns:a16="http://schemas.microsoft.com/office/drawing/2014/main" id="{171D8909-8A7F-AFAE-40AA-B7D79040FF1C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l="-2571" r="-2571"/>
          <a:stretch/>
        </p:blipFill>
        <p:spPr>
          <a:xfrm>
            <a:off x="264900" y="2916176"/>
            <a:ext cx="370363" cy="402568"/>
          </a:xfrm>
          <a:prstGeom prst="rect">
            <a:avLst/>
          </a:prstGeom>
        </p:spPr>
      </p:pic>
      <p:sp>
        <p:nvSpPr>
          <p:cNvPr id="106" name="Shape 15">
            <a:extLst>
              <a:ext uri="{FF2B5EF4-FFF2-40B4-BE49-F238E27FC236}">
                <a16:creationId xmlns:a16="http://schemas.microsoft.com/office/drawing/2014/main" id="{6AAA5069-9AA7-6013-D1BB-4F834F6918AD}"/>
              </a:ext>
            </a:extLst>
          </p:cNvPr>
          <p:cNvSpPr/>
          <p:nvPr/>
        </p:nvSpPr>
        <p:spPr>
          <a:xfrm>
            <a:off x="2830297" y="1316132"/>
            <a:ext cx="9126427" cy="2392876"/>
          </a:xfrm>
          <a:prstGeom prst="roundRect">
            <a:avLst>
              <a:gd name="adj" fmla="val 2809"/>
            </a:avLst>
          </a:prstGeom>
          <a:noFill/>
          <a:ln w="47625">
            <a:solidFill>
              <a:srgbClr val="0000CC"/>
            </a:solidFill>
            <a:prstDash val="solid"/>
          </a:ln>
        </p:spPr>
        <p:txBody>
          <a:bodyPr/>
          <a:lstStyle/>
          <a:p>
            <a:endParaRPr lang="ja-JP" altLang="en-US" sz="4000"/>
          </a:p>
        </p:txBody>
      </p:sp>
      <p:sp>
        <p:nvSpPr>
          <p:cNvPr id="20" name="Text 10"/>
          <p:cNvSpPr txBox="1"/>
          <p:nvPr/>
        </p:nvSpPr>
        <p:spPr>
          <a:xfrm>
            <a:off x="2867922" y="1111301"/>
            <a:ext cx="8680288" cy="335701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u="sng" dirty="0">
                <a:solidFill>
                  <a:srgbClr val="2563E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“月初スタート＋平日だけカウント” のシンプルアルゴリズム</a:t>
            </a:r>
            <a:endParaRPr lang="en-US" sz="2400" u="sng" dirty="0"/>
          </a:p>
        </p:txBody>
      </p:sp>
      <p:pic>
        <p:nvPicPr>
          <p:cNvPr id="108" name="図 107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03A854FF-9FFE-9A87-73DE-025142C04A42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09691" y="3227974"/>
            <a:ext cx="987028" cy="651439"/>
          </a:xfrm>
          <a:prstGeom prst="rect">
            <a:avLst/>
          </a:prstGeom>
        </p:spPr>
      </p:pic>
      <p:pic>
        <p:nvPicPr>
          <p:cNvPr id="109" name="図 108" descr="A simple wooden sign with a small plant hanging from the top, featuring a character or symbol in a stylized font.&#10;&#10;AI 生成コンテンツは誤りを含む可能性があります。">
            <a:extLst>
              <a:ext uri="{FF2B5EF4-FFF2-40B4-BE49-F238E27FC236}">
                <a16:creationId xmlns:a16="http://schemas.microsoft.com/office/drawing/2014/main" id="{41371E92-6E68-D949-0B55-54F6A7B4692D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55963" y="-129467"/>
            <a:ext cx="1755376" cy="1158549"/>
          </a:xfrm>
          <a:prstGeom prst="rect">
            <a:avLst/>
          </a:prstGeom>
        </p:spPr>
      </p:pic>
      <p:pic>
        <p:nvPicPr>
          <p:cNvPr id="111" name="図 110" descr="31&#10;&#10;AI 生成コンテンツは誤りを含む可能性があります。">
            <a:extLst>
              <a:ext uri="{FF2B5EF4-FFF2-40B4-BE49-F238E27FC236}">
                <a16:creationId xmlns:a16="http://schemas.microsoft.com/office/drawing/2014/main" id="{ECE658E8-787D-BE8B-CCB7-9595CD81D768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10718685" y="-89957"/>
            <a:ext cx="1341634" cy="1257782"/>
          </a:xfrm>
          <a:prstGeom prst="rect">
            <a:avLst/>
          </a:prstGeom>
        </p:spPr>
      </p:pic>
      <p:pic>
        <p:nvPicPr>
          <p:cNvPr id="113" name="図 112" descr="A cartoon child with a blue shirt is pointing towards an illustration of an open eye with a light bulb.&#10;&#10;AI 生成コンテンツは誤りを含む可能性があります。">
            <a:extLst>
              <a:ext uri="{FF2B5EF4-FFF2-40B4-BE49-F238E27FC236}">
                <a16:creationId xmlns:a16="http://schemas.microsoft.com/office/drawing/2014/main" id="{0F4795DE-C2CF-8C38-A661-22849A039D3C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783520" y="1498044"/>
            <a:ext cx="1414993" cy="167454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