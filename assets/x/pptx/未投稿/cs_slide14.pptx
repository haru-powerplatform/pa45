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B799ECC5-B2FB-82AC-A5D6-B90786FF6101}"/>
              </a:ext>
            </a:extLst>
          </p:cNvPr>
          <p:cNvCxnSpPr>
            <a:cxnSpLocks/>
          </p:cNvCxnSpPr>
          <p:nvPr/>
        </p:nvCxnSpPr>
        <p:spPr>
          <a:xfrm>
            <a:off x="4413634" y="1986618"/>
            <a:ext cx="71845" cy="4600876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AE9A93D-93EA-675A-B203-993379697E99}"/>
              </a:ext>
            </a:extLst>
          </p:cNvPr>
          <p:cNvSpPr txBox="1"/>
          <p:nvPr/>
        </p:nvSpPr>
        <p:spPr>
          <a:xfrm>
            <a:off x="-143692" y="-60623"/>
            <a:ext cx="12335692" cy="844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【Vol.2】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「変数の初期化」と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『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変数の設定</a:t>
            </a:r>
            <a:r>
              <a:rPr lang="en-US" altLang="ja-JP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』</a:t>
            </a:r>
            <a:r>
              <a:rPr lang="ja-JP" altLang="en-US" sz="36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の違い</a:t>
            </a:r>
            <a:endParaRPr lang="en-US" altLang="ja-JP" sz="36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688351F9-DE88-FA80-B12D-9EBA06D5BD36}"/>
              </a:ext>
            </a:extLst>
          </p:cNvPr>
          <p:cNvSpPr/>
          <p:nvPr/>
        </p:nvSpPr>
        <p:spPr>
          <a:xfrm>
            <a:off x="54428" y="59109"/>
            <a:ext cx="12083143" cy="6727372"/>
          </a:xfrm>
          <a:prstGeom prst="roundRect">
            <a:avLst>
              <a:gd name="adj" fmla="val 3966"/>
            </a:avLst>
          </a:prstGeom>
          <a:noFill/>
          <a:ln w="142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CC69E40-C38C-81BE-5942-CE64133562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33"/>
          <a:stretch>
            <a:fillRect/>
          </a:stretch>
        </p:blipFill>
        <p:spPr>
          <a:xfrm>
            <a:off x="192700" y="954591"/>
            <a:ext cx="3980287" cy="9084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73AF75A6-6C0D-46FA-5D0C-F16678F3E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167" y="983877"/>
            <a:ext cx="3744121" cy="8509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584AE7D-2129-8321-F8DC-E46F14EC9A13}"/>
              </a:ext>
            </a:extLst>
          </p:cNvPr>
          <p:cNvSpPr txBox="1"/>
          <p:nvPr/>
        </p:nvSpPr>
        <p:spPr>
          <a:xfrm>
            <a:off x="164480" y="1986618"/>
            <a:ext cx="35098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【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初期化の役割</a:t>
            </a:r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】</a:t>
            </a:r>
          </a:p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空の箱をつくる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FF0000"/>
                  </a:glow>
                </a:effectLst>
              </a:rPr>
              <a:t>箱に名前をつける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FF0000"/>
                </a:glow>
              </a:effectLst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5EB8BCD-8476-CE80-CA4E-D0130DA8511D}"/>
              </a:ext>
            </a:extLst>
          </p:cNvPr>
          <p:cNvSpPr txBox="1"/>
          <p:nvPr/>
        </p:nvSpPr>
        <p:spPr>
          <a:xfrm>
            <a:off x="4575049" y="2082160"/>
            <a:ext cx="38399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【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初期化の役割</a:t>
            </a:r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】</a:t>
            </a:r>
          </a:p>
          <a:p>
            <a:r>
              <a:rPr lang="en-US" altLang="ja-JP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=</a:t>
            </a:r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rgbClr val="0000CC"/>
                  </a:glow>
                </a:effectLst>
              </a:rPr>
              <a:t>箱にリンゴを入れる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rgbClr val="0000CC"/>
                </a:glow>
              </a:effectLst>
            </a:endParaRPr>
          </a:p>
        </p:txBody>
      </p:sp>
      <p:pic>
        <p:nvPicPr>
          <p:cNvPr id="22" name="図 21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F07AE437-AC36-1822-9504-03556BB764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700" y="3448807"/>
            <a:ext cx="3238430" cy="29668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6" name="図 25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0CDC1CC9-E30A-50FA-7B3B-FFE5FB375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6851" y="3324573"/>
            <a:ext cx="3221902" cy="30624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3" name="図 52" descr="建物, レンガ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EC37B66-8175-7FFC-5135-045E14E81B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426" y="4595200"/>
            <a:ext cx="2342640" cy="15825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35E6B8B-043F-24F9-2E2D-43DC4D04B7F4}"/>
              </a:ext>
            </a:extLst>
          </p:cNvPr>
          <p:cNvSpPr txBox="1"/>
          <p:nvPr/>
        </p:nvSpPr>
        <p:spPr>
          <a:xfrm>
            <a:off x="2379414" y="5777349"/>
            <a:ext cx="1474545" cy="707886"/>
          </a:xfrm>
          <a:prstGeom prst="rect">
            <a:avLst/>
          </a:prstGeom>
          <a:solidFill>
            <a:srgbClr val="FFFF00"/>
          </a:solidFill>
          <a:ln w="412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b="1"/>
              <a:t>りんごを</a:t>
            </a:r>
            <a:endParaRPr kumimoji="1" lang="en-US" altLang="ja-JP" sz="2000" b="1"/>
          </a:p>
          <a:p>
            <a:r>
              <a:rPr lang="ja-JP" altLang="en-US" sz="2000" b="1"/>
              <a:t>いれる箱</a:t>
            </a:r>
            <a:endParaRPr kumimoji="1" lang="ja-JP" altLang="en-US" sz="2000" b="1"/>
          </a:p>
        </p:txBody>
      </p:sp>
      <p:pic>
        <p:nvPicPr>
          <p:cNvPr id="10" name="図 9" descr="建物, レンガ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C2CC89D-4C9F-8212-4751-9C1B1420C4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015" y="4986057"/>
            <a:ext cx="2342640" cy="15825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図 16" descr="帽子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A39BE65-2FFA-0E46-EB11-350BC715F2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46" b="25583"/>
          <a:stretch>
            <a:fillRect/>
          </a:stretch>
        </p:blipFill>
        <p:spPr>
          <a:xfrm rot="196732">
            <a:off x="6758917" y="4880024"/>
            <a:ext cx="868369" cy="714618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FD11C84-836F-3979-93BB-3B68C30B91EF}"/>
              </a:ext>
            </a:extLst>
          </p:cNvPr>
          <p:cNvSpPr txBox="1"/>
          <p:nvPr/>
        </p:nvSpPr>
        <p:spPr>
          <a:xfrm>
            <a:off x="6455830" y="5976150"/>
            <a:ext cx="1474545" cy="707886"/>
          </a:xfrm>
          <a:prstGeom prst="rect">
            <a:avLst/>
          </a:prstGeom>
          <a:solidFill>
            <a:srgbClr val="FFFF00"/>
          </a:solidFill>
          <a:ln w="412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 b="1"/>
              <a:t>りんごを</a:t>
            </a:r>
            <a:endParaRPr kumimoji="1" lang="en-US" altLang="ja-JP" sz="2000" b="1"/>
          </a:p>
          <a:p>
            <a:r>
              <a:rPr lang="ja-JP" altLang="en-US" sz="2000" b="1"/>
              <a:t>いれる箱</a:t>
            </a:r>
            <a:endParaRPr kumimoji="1" lang="ja-JP" altLang="en-US" sz="2000" b="1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2F804ECE-A1BB-0CB4-DCDA-E74F4786AA3D}"/>
              </a:ext>
            </a:extLst>
          </p:cNvPr>
          <p:cNvCxnSpPr>
            <a:cxnSpLocks/>
          </p:cNvCxnSpPr>
          <p:nvPr/>
        </p:nvCxnSpPr>
        <p:spPr>
          <a:xfrm>
            <a:off x="8349280" y="1967764"/>
            <a:ext cx="71845" cy="4600876"/>
          </a:xfrm>
          <a:prstGeom prst="line">
            <a:avLst/>
          </a:prstGeom>
          <a:ln w="53975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図 34">
            <a:extLst>
              <a:ext uri="{FF2B5EF4-FFF2-40B4-BE49-F238E27FC236}">
                <a16:creationId xmlns:a16="http://schemas.microsoft.com/office/drawing/2014/main" id="{55856D9C-026B-7D08-BE0D-5B26919FCD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6410" y="1796054"/>
            <a:ext cx="801474" cy="1672637"/>
          </a:xfrm>
          <a:prstGeom prst="rect">
            <a:avLst/>
          </a:prstGeom>
        </p:spPr>
      </p:pic>
      <p:sp>
        <p:nvSpPr>
          <p:cNvPr id="38" name="矢印: 右 37">
            <a:extLst>
              <a:ext uri="{FF2B5EF4-FFF2-40B4-BE49-F238E27FC236}">
                <a16:creationId xmlns:a16="http://schemas.microsoft.com/office/drawing/2014/main" id="{CE05992B-8696-F534-D139-77D900C0CEA9}"/>
              </a:ext>
            </a:extLst>
          </p:cNvPr>
          <p:cNvSpPr/>
          <p:nvPr/>
        </p:nvSpPr>
        <p:spPr>
          <a:xfrm>
            <a:off x="3980972" y="1203804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右 40">
            <a:extLst>
              <a:ext uri="{FF2B5EF4-FFF2-40B4-BE49-F238E27FC236}">
                <a16:creationId xmlns:a16="http://schemas.microsoft.com/office/drawing/2014/main" id="{3FD2EF90-9F9D-F4FC-0C93-40F4769A861D}"/>
              </a:ext>
            </a:extLst>
          </p:cNvPr>
          <p:cNvSpPr/>
          <p:nvPr/>
        </p:nvSpPr>
        <p:spPr>
          <a:xfrm>
            <a:off x="8109258" y="1218075"/>
            <a:ext cx="551888" cy="410964"/>
          </a:xfrm>
          <a:prstGeom prst="rightArrow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  <a:effectLst>
            <a:glow rad="63500">
              <a:srgbClr val="FF0000">
                <a:alpha val="65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4" name="図 43" descr="QR コー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65A7A07-2DBE-D1A7-4616-5364DDD122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3146" y="1998349"/>
            <a:ext cx="2388260" cy="13615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6" name="図 45">
            <a:extLst>
              <a:ext uri="{FF2B5EF4-FFF2-40B4-BE49-F238E27FC236}">
                <a16:creationId xmlns:a16="http://schemas.microsoft.com/office/drawing/2014/main" id="{829EDC9B-A7A2-E2C8-AD48-DE9A2872DB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361" y="4356160"/>
            <a:ext cx="1983516" cy="22565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7" name="図 46" descr="建物, レンガ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DC537B-FAB2-CAAF-4FC5-A70CC294C5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835" y="5382169"/>
            <a:ext cx="1982076" cy="1339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4" name="図 63" descr="帽子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F08A9C7-21B6-4974-BCD0-C6479672DF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3278">
            <a:off x="10837346" y="5518733"/>
            <a:ext cx="892894" cy="933634"/>
          </a:xfrm>
          <a:prstGeom prst="rect">
            <a:avLst/>
          </a:prstGeom>
        </p:spPr>
      </p:pic>
      <p:sp>
        <p:nvSpPr>
          <p:cNvPr id="65" name="矢印: 環状 64">
            <a:extLst>
              <a:ext uri="{FF2B5EF4-FFF2-40B4-BE49-F238E27FC236}">
                <a16:creationId xmlns:a16="http://schemas.microsoft.com/office/drawing/2014/main" id="{C6AD3032-3984-5061-2CA7-5444F0B5B9F4}"/>
              </a:ext>
            </a:extLst>
          </p:cNvPr>
          <p:cNvSpPr/>
          <p:nvPr/>
        </p:nvSpPr>
        <p:spPr>
          <a:xfrm rot="20641031">
            <a:off x="9519504" y="5223670"/>
            <a:ext cx="1263836" cy="1416805"/>
          </a:xfrm>
          <a:prstGeom prst="circularArrow">
            <a:avLst>
              <a:gd name="adj1" fmla="val 12500"/>
              <a:gd name="adj2" fmla="val 803775"/>
              <a:gd name="adj3" fmla="val 20457681"/>
              <a:gd name="adj4" fmla="val 12797887"/>
              <a:gd name="adj5" fmla="val 12875"/>
            </a:avLst>
          </a:prstGeom>
          <a:solidFill>
            <a:srgbClr val="FFFF00"/>
          </a:solidFill>
          <a:ln w="635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F343D555-C332-0309-6FEB-3E9DBB0DE356}"/>
              </a:ext>
            </a:extLst>
          </p:cNvPr>
          <p:cNvSpPr txBox="1"/>
          <p:nvPr/>
        </p:nvSpPr>
        <p:spPr>
          <a:xfrm>
            <a:off x="8580937" y="3587700"/>
            <a:ext cx="40271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箱の名前を呼べば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  <a:p>
            <a:r>
              <a:rPr lang="ja-JP" altLang="en-US" sz="2800" b="1">
                <a:solidFill>
                  <a:schemeClr val="bg1"/>
                </a:solidFill>
                <a:effectLst>
                  <a:glow rad="101600">
                    <a:schemeClr val="tx1">
                      <a:lumMod val="95000"/>
                      <a:lumOff val="5000"/>
                    </a:schemeClr>
                  </a:glow>
                </a:effectLst>
              </a:rPr>
              <a:t>リンゴが取り出せる</a:t>
            </a:r>
            <a:endParaRPr lang="en-US" altLang="ja-JP" sz="2800" b="1">
              <a:solidFill>
                <a:schemeClr val="bg1"/>
              </a:solidFill>
              <a:effectLst>
                <a:glow rad="101600">
                  <a:schemeClr val="tx1">
                    <a:lumMod val="95000"/>
                    <a:lumOff val="5000"/>
                  </a:schemeClr>
                </a:glow>
              </a:effectLst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EB7AB3CE-19BC-B864-410C-5633B68763DE}"/>
              </a:ext>
            </a:extLst>
          </p:cNvPr>
          <p:cNvSpPr txBox="1"/>
          <p:nvPr/>
        </p:nvSpPr>
        <p:spPr>
          <a:xfrm>
            <a:off x="8785431" y="1015303"/>
            <a:ext cx="3227855" cy="714491"/>
          </a:xfrm>
          <a:prstGeom prst="rect">
            <a:avLst/>
          </a:prstGeom>
          <a:noFill/>
          <a:ln w="63500">
            <a:solidFill>
              <a:schemeClr val="tx1">
                <a:lumMod val="65000"/>
                <a:lumOff val="35000"/>
                <a:alpha val="93000"/>
              </a:schemeClr>
            </a:solidFill>
          </a:ln>
        </p:spPr>
        <p:txBody>
          <a:bodyPr wrap="square" tIns="0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動的コンテンツ</a:t>
            </a:r>
            <a:endParaRPr lang="en-US" altLang="ja-JP" sz="3200" b="1" u="sng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F505EB6C-D9FC-59CF-FB9E-7B73157323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9677" y="-66219"/>
            <a:ext cx="1327894" cy="13278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