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1" r:id="rId10"/>
    <p:sldId id="283" r:id="rId11"/>
    <p:sldId id="284" r:id="rId12"/>
    <p:sldId id="272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31A18-F8DF-4B0F-95F3-441F5794CAA8}" v="11" dt="2026-04-17T02:48:52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118" d="100"/>
          <a:sy n="118" d="100"/>
        </p:scale>
        <p:origin x="561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6/11/relationships/changesInfo" Target="changesInfos/changesInfo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17T11:58:09.756" v="646" actId="20577"/>
      <pc:docMkLst>
        <pc:docMk/>
      </pc:docMkLst>
      <pc:sldChg chg="modSp mod">
        <pc:chgData name="Ueda Isamu" userId="35289799e0376f2e" providerId="LiveId" clId="{DD31E282-B62B-4911-91B6-43B1B98908F9}" dt="2026-04-17T02:13:28.377" v="23" actId="20577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58:09.756" v="646" actId="20577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</pc:sldChg>
      <pc:sldChg chg="modSp mod">
        <pc:chgData name="Ueda Isamu" userId="35289799e0376f2e" providerId="LiveId" clId="{DD31E282-B62B-4911-91B6-43B1B98908F9}" dt="2026-04-17T11:05:56.530" v="641" actId="20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17T11:05:56.530" v="641" actId="20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add mod">
        <pc:chgData name="Ueda Isamu" userId="35289799e0376f2e" providerId="LiveId" clId="{DD31E282-B62B-4911-91B6-43B1B98908F9}" dt="2026-04-17T02:47:36.616" v="459" actId="1076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spChg chg="del">
          <ac:chgData name="Ueda Isamu" userId="35289799e0376f2e" providerId="LiveId" clId="{DD31E282-B62B-4911-91B6-43B1B98908F9}" dt="2026-04-17T02:14:56.587" v="133" actId="478"/>
          <ac:spMkLst>
            <pc:docMk/>
            <pc:sldMk cId="2459475835" sldId="281"/>
            <ac:spMk id="44" creationId="{F9B91B76-7920-EE96-CB51-D8B32827C982}"/>
          </ac:spMkLst>
        </pc:spChg>
        <pc:spChg chg="del">
          <ac:chgData name="Ueda Isamu" userId="35289799e0376f2e" providerId="LiveId" clId="{DD31E282-B62B-4911-91B6-43B1B98908F9}" dt="2026-04-17T02:14:51.542" v="131" actId="478"/>
          <ac:spMkLst>
            <pc:docMk/>
            <pc:sldMk cId="2459475835" sldId="281"/>
            <ac:spMk id="51" creationId="{F34FF253-528E-97DF-BF89-4A55B2E7EBC4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del mod">
          <ac:chgData name="Ueda Isamu" userId="35289799e0376f2e" providerId="LiveId" clId="{DD31E282-B62B-4911-91B6-43B1B98908F9}" dt="2026-04-17T02:21:19.453" v="195" actId="478"/>
          <ac:picMkLst>
            <pc:docMk/>
            <pc:sldMk cId="2459475835" sldId="281"/>
            <ac:picMk id="14" creationId="{A872EEC3-0079-B857-A352-13B0525469F2}"/>
          </ac:picMkLst>
        </pc:picChg>
        <pc:picChg chg="add del mod">
          <ac:chgData name="Ueda Isamu" userId="35289799e0376f2e" providerId="LiveId" clId="{DD31E282-B62B-4911-91B6-43B1B98908F9}" dt="2026-04-17T02:21:14.537" v="192" actId="478"/>
          <ac:picMkLst>
            <pc:docMk/>
            <pc:sldMk cId="2459475835" sldId="281"/>
            <ac:picMk id="16" creationId="{7B3B07E8-D558-44C5-F536-149592DC9066}"/>
          </ac:picMkLst>
        </pc:picChg>
        <pc:picChg chg="add del mod">
          <ac:chgData name="Ueda Isamu" userId="35289799e0376f2e" providerId="LiveId" clId="{DD31E282-B62B-4911-91B6-43B1B98908F9}" dt="2026-04-17T02:21:15.842" v="193" actId="478"/>
          <ac:picMkLst>
            <pc:docMk/>
            <pc:sldMk cId="2459475835" sldId="281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  <pc:picChg chg="del">
          <ac:chgData name="Ueda Isamu" userId="35289799e0376f2e" providerId="LiveId" clId="{DD31E282-B62B-4911-91B6-43B1B98908F9}" dt="2026-04-17T02:14:57.340" v="134" actId="478"/>
          <ac:picMkLst>
            <pc:docMk/>
            <pc:sldMk cId="2459475835" sldId="281"/>
            <ac:picMk id="43" creationId="{C2A29B6F-3C93-A1C3-76A2-A2F9DE2BAF70}"/>
          </ac:picMkLst>
        </pc:picChg>
      </pc:sldChg>
      <pc:sldChg chg="del">
        <pc:chgData name="Ueda Isamu" userId="35289799e0376f2e" providerId="LiveId" clId="{DD31E282-B62B-4911-91B6-43B1B98908F9}" dt="2026-04-17T01:08:17.011" v="0" actId="47"/>
        <pc:sldMkLst>
          <pc:docMk/>
          <pc:sldMk cId="0" sldId="282"/>
        </pc:sldMkLst>
      </pc:sldChg>
      <pc:sldChg chg="addSp modSp add mod ord">
        <pc:chgData name="Ueda Isamu" userId="35289799e0376f2e" providerId="LiveId" clId="{DD31E282-B62B-4911-91B6-43B1B98908F9}" dt="2026-04-17T02:21:10.454" v="191" actId="1076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17T02:21:10.454" v="191" actId="1076"/>
          <ac:spMkLst>
            <pc:docMk/>
            <pc:sldMk cId="3861659691" sldId="282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20:50.359" v="185" actId="1076"/>
          <ac:spMkLst>
            <pc:docMk/>
            <pc:sldMk cId="3861659691" sldId="282"/>
            <ac:spMk id="12" creationId="{B61745D9-8D46-A514-CF17-682EE8BDCFC1}"/>
          </ac:spMkLst>
        </pc:spChg>
        <pc:picChg chg="mod">
          <ac:chgData name="Ueda Isamu" userId="35289799e0376f2e" providerId="LiveId" clId="{DD31E282-B62B-4911-91B6-43B1B98908F9}" dt="2026-04-17T02:20:51.531" v="186" actId="1076"/>
          <ac:picMkLst>
            <pc:docMk/>
            <pc:sldMk cId="3861659691" sldId="282"/>
            <ac:picMk id="16" creationId="{7B3B07E8-D558-44C5-F536-149592DC9066}"/>
          </ac:picMkLst>
        </pc:picChg>
        <pc:picChg chg="mod">
          <ac:chgData name="Ueda Isamu" userId="35289799e0376f2e" providerId="LiveId" clId="{DD31E282-B62B-4911-91B6-43B1B98908F9}" dt="2026-04-17T02:20:53.535" v="187" actId="1076"/>
          <ac:picMkLst>
            <pc:docMk/>
            <pc:sldMk cId="3861659691" sldId="282"/>
            <ac:picMk id="18" creationId="{97FD49C7-206D-6C4B-3177-E4037E3C63D6}"/>
          </ac:picMkLst>
        </pc:picChg>
      </pc:sldChg>
      <pc:sldChg chg="addSp delSp modSp add mod">
        <pc:chgData name="Ueda Isamu" userId="35289799e0376f2e" providerId="LiveId" clId="{DD31E282-B62B-4911-91B6-43B1B98908F9}" dt="2026-04-17T02:48:27.942" v="511" actId="13926"/>
        <pc:sldMkLst>
          <pc:docMk/>
          <pc:sldMk cId="2686875315" sldId="283"/>
        </pc:sldMkLst>
        <pc:spChg chg="del">
          <ac:chgData name="Ueda Isamu" userId="35289799e0376f2e" providerId="LiveId" clId="{DD31E282-B62B-4911-91B6-43B1B98908F9}" dt="2026-04-17T02:42:39.360" v="251" actId="478"/>
          <ac:spMkLst>
            <pc:docMk/>
            <pc:sldMk cId="2686875315" sldId="283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  <pc:picChg chg="del">
          <ac:chgData name="Ueda Isamu" userId="35289799e0376f2e" providerId="LiveId" clId="{DD31E282-B62B-4911-91B6-43B1B98908F9}" dt="2026-04-17T02:42:36.546" v="248" actId="478"/>
          <ac:picMkLst>
            <pc:docMk/>
            <pc:sldMk cId="2686875315" sldId="283"/>
            <ac:picMk id="20" creationId="{73095EBC-5E6E-5317-87A5-17E37B58CC5E}"/>
          </ac:picMkLst>
        </pc:picChg>
        <pc:picChg chg="del">
          <ac:chgData name="Ueda Isamu" userId="35289799e0376f2e" providerId="LiveId" clId="{DD31E282-B62B-4911-91B6-43B1B98908F9}" dt="2026-04-17T02:42:37.963" v="250" actId="478"/>
          <ac:picMkLst>
            <pc:docMk/>
            <pc:sldMk cId="2686875315" sldId="283"/>
            <ac:picMk id="22" creationId="{79F3BB5C-856E-FA0C-3333-92328AEDB18C}"/>
          </ac:picMkLst>
        </pc:picChg>
        <pc:picChg chg="del">
          <ac:chgData name="Ueda Isamu" userId="35289799e0376f2e" providerId="LiveId" clId="{DD31E282-B62B-4911-91B6-43B1B98908F9}" dt="2026-04-17T02:42:52.661" v="253" actId="478"/>
          <ac:picMkLst>
            <pc:docMk/>
            <pc:sldMk cId="2686875315" sldId="283"/>
            <ac:picMk id="25" creationId="{24B8273A-79BB-524B-B355-12D0488F8274}"/>
          </ac:picMkLst>
        </pc:picChg>
        <pc:picChg chg="del">
          <ac:chgData name="Ueda Isamu" userId="35289799e0376f2e" providerId="LiveId" clId="{DD31E282-B62B-4911-91B6-43B1B98908F9}" dt="2026-04-17T02:42:37.130" v="249" actId="478"/>
          <ac:picMkLst>
            <pc:docMk/>
            <pc:sldMk cId="2686875315" sldId="283"/>
            <ac:picMk id="26" creationId="{90BB8993-B660-880F-C455-A312D2B2E10C}"/>
          </ac:picMkLst>
        </pc:picChg>
        <pc:picChg chg="del">
          <ac:chgData name="Ueda Isamu" userId="35289799e0376f2e" providerId="LiveId" clId="{DD31E282-B62B-4911-91B6-43B1B98908F9}" dt="2026-04-17T02:42:40.098" v="252" actId="478"/>
          <ac:picMkLst>
            <pc:docMk/>
            <pc:sldMk cId="2686875315" sldId="283"/>
            <ac:picMk id="27" creationId="{1540BB72-A70B-4993-9B89-22A2C53B10B1}"/>
          </ac:picMkLst>
        </pc:picChg>
      </pc:sldChg>
      <pc:sldChg chg="addSp delSp modSp add mod">
        <pc:chgData name="Ueda Isamu" userId="35289799e0376f2e" providerId="LiveId" clId="{DD31E282-B62B-4911-91B6-43B1B98908F9}" dt="2026-04-17T02:49:36.811" v="596" actId="478"/>
        <pc:sldMkLst>
          <pc:docMk/>
          <pc:sldMk cId="1541831861" sldId="284"/>
        </pc:sldMkLst>
        <pc:spChg chg="del mod">
          <ac:chgData name="Ueda Isamu" userId="35289799e0376f2e" providerId="LiveId" clId="{DD31E282-B62B-4911-91B6-43B1B98908F9}" dt="2026-04-17T02:48:54.791" v="522" actId="478"/>
          <ac:spMkLst>
            <pc:docMk/>
            <pc:sldMk cId="1541831861" sldId="284"/>
            <ac:spMk id="7" creationId="{00000000-0000-0000-0000-000000000000}"/>
          </ac:spMkLst>
        </pc:spChg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spChg chg="del">
          <ac:chgData name="Ueda Isamu" userId="35289799e0376f2e" providerId="LiveId" clId="{DD31E282-B62B-4911-91B6-43B1B98908F9}" dt="2026-04-17T02:48:43.215" v="514" actId="478"/>
          <ac:spMkLst>
            <pc:docMk/>
            <pc:sldMk cId="1541831861" sldId="284"/>
            <ac:spMk id="15" creationId="{B5DBE15C-3F0E-995C-C955-5A890D5C4AD0}"/>
          </ac:spMkLst>
        </pc:spChg>
        <pc:spChg chg="del">
          <ac:chgData name="Ueda Isamu" userId="35289799e0376f2e" providerId="LiveId" clId="{DD31E282-B62B-4911-91B6-43B1B98908F9}" dt="2026-04-17T02:48:49.830" v="519" actId="478"/>
          <ac:spMkLst>
            <pc:docMk/>
            <pc:sldMk cId="1541831861" sldId="284"/>
            <ac:spMk id="18" creationId="{7CBEC746-521C-9E2B-7D90-711E9905A4D7}"/>
          </ac:spMkLst>
        </pc:spChg>
        <pc:spChg chg="del">
          <ac:chgData name="Ueda Isamu" userId="35289799e0376f2e" providerId="LiveId" clId="{DD31E282-B62B-4911-91B6-43B1B98908F9}" dt="2026-04-17T02:49:36.811" v="596" actId="478"/>
          <ac:spMkLst>
            <pc:docMk/>
            <pc:sldMk cId="1541831861" sldId="284"/>
            <ac:spMk id="19" creationId="{B5110F6F-46C1-8584-E321-1DE91CADF579}"/>
          </ac:spMkLst>
        </pc:spChg>
        <pc:picChg chg="del">
          <ac:chgData name="Ueda Isamu" userId="35289799e0376f2e" providerId="LiveId" clId="{DD31E282-B62B-4911-91B6-43B1B98908F9}" dt="2026-04-17T02:48:41.561" v="513" actId="478"/>
          <ac:picMkLst>
            <pc:docMk/>
            <pc:sldMk cId="1541831861" sldId="284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17T02:48:47.863" v="518" actId="478"/>
          <ac:picMkLst>
            <pc:docMk/>
            <pc:sldMk cId="1541831861" sldId="284"/>
            <ac:picMk id="14" creationId="{25F6D668-986E-7313-5F03-1BEC504E4B18}"/>
          </ac:picMkLst>
        </pc:picChg>
        <pc:picChg chg="del">
          <ac:chgData name="Ueda Isamu" userId="35289799e0376f2e" providerId="LiveId" clId="{DD31E282-B62B-4911-91B6-43B1B98908F9}" dt="2026-04-17T02:48:44.024" v="515" actId="478"/>
          <ac:picMkLst>
            <pc:docMk/>
            <pc:sldMk cId="1541831861" sldId="284"/>
            <ac:picMk id="17" creationId="{F566F71E-C914-B0FA-ED5D-DC027EE1184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 xml:space="preserve">  Initialize variable・Set variable・Condition・Apply to each、</a:t>
            </a:r>
          </a:p>
          <a:p>
            <a:r>
              <a:rPr sz="1300"/>
              <a:t xml:space="preserve"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 xml:space="preserve"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 xml:space="preserve"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 xml:space="preserve">  変数・繰り返し・条件分岐、それぞれ単体でも使えますが、</a:t>
            </a:r>
          </a:p>
          <a:p>
            <a:r>
              <a:rPr sz="1300"/>
              <a:t xml:space="preserve">  組み合わさったとき、複雑な業務を1本のフローで自動化できます。</a:t>
            </a:r>
          </a:p>
          <a:p>
            <a:r>
              <a:rPr sz="1300"/>
              <a:t xml:space="preserve"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 xml:space="preserve">  Apply to eachのループの中でも外でも使えます。</a:t>
            </a:r>
          </a:p>
          <a:p>
            <a:r>
              <a:rPr sz="1300"/>
              <a:t xml:space="preserve"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 xml:space="preserve">  リストを1件ずつ見ながら、条件に合うものだけ処理する、</a:t>
            </a:r>
          </a:p>
          <a:p>
            <a:r>
              <a:rPr sz="1300"/>
              <a:t xml:space="preserve"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 xml:space="preserve">  出勤リストをループして、Conditionで出勤判定、Set variableでカウント。</a:t>
            </a:r>
          </a:p>
          <a:p>
            <a:r>
              <a:rPr sz="1300"/>
              <a:t xml:space="preserve"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 xml:space="preserve"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 xml:space="preserve"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microsoft.com/office/2007/relationships/hdphoto" Target="../media/hdphoto1.wdp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31.png"/><Relationship Id="rId17" Type="http://schemas.openxmlformats.org/officeDocument/2006/relationships/image" Target="../media/image32.png"/><Relationship Id="rId18" Type="http://schemas.openxmlformats.org/officeDocument/2006/relationships/image" Target="../media/image33.png"/><Relationship Id="rId19" Type="http://schemas.openxmlformats.org/officeDocument/2006/relationships/image" Target="../media/image34.png"/><Relationship Id="rId20" Type="http://schemas.openxmlformats.org/officeDocument/2006/relationships/image" Target="../media/image35.png"/><Relationship Id="rId21" Type="http://schemas.openxmlformats.org/officeDocument/2006/relationships/image" Target="../media/image36.png"/><Relationship Id="rId22" Type="http://schemas.openxmlformats.org/officeDocument/2006/relationships/image" Target="../media/image37.png"/><Relationship Id="rId23" Type="http://schemas.openxmlformats.org/officeDocument/2006/relationships/image" Target="../media/image38.png"/><Relationship Id="rId24" Type="http://schemas.openxmlformats.org/officeDocument/2006/relationships/image" Target="../media/image39.png"/><Relationship Id="rId25" Type="http://schemas.openxmlformats.org/officeDocument/2006/relationships/image" Target="../media/image40.png"/><Relationship Id="rId26" Type="http://schemas.openxmlformats.org/officeDocument/2006/relationships/image" Target="../media/image41.png"/><Relationship Id="rId27" Type="http://schemas.openxmlformats.org/officeDocument/2006/relationships/image" Target="../media/image42.png"/><Relationship Id="rId28" Type="http://schemas.openxmlformats.org/officeDocument/2006/relationships/image" Target="../media/image43.png"/><Relationship Id="rId29" Type="http://schemas.openxmlformats.org/officeDocument/2006/relationships/image" Target="../media/image44.png"/><Relationship Id="rId30" Type="http://schemas.openxmlformats.org/officeDocument/2006/relationships/image" Target="../media/image45.png"/><Relationship Id="rId31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Relationship Id="rId11" Type="http://schemas.openxmlformats.org/officeDocument/2006/relationships/image" Target="../media/image54.png"/><Relationship Id="rId12" Type="http://schemas.openxmlformats.org/officeDocument/2006/relationships/image" Target="../media/image55.png"/><Relationship Id="rId13" Type="http://schemas.openxmlformats.org/officeDocument/2006/relationships/image" Target="../media/image56.png"/><Relationship Id="rId14" Type="http://schemas.openxmlformats.org/officeDocument/2006/relationships/image" Target="../media/image57.png"/><Relationship Id="rId15" Type="http://schemas.openxmlformats.org/officeDocument/2006/relationships/image" Target="../media/image58.png"/><Relationship Id="rId16" Type="http://schemas.openxmlformats.org/officeDocument/2006/relationships/image" Target="../media/image59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62.png"/><Relationship Id="rId20" Type="http://schemas.microsoft.com/office/2007/relationships/hdphoto" Target="../media/hdphoto1.wdp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45.png"/><Relationship Id="rId7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9.png"/><Relationship Id="rId5" Type="http://schemas.openxmlformats.org/officeDocument/2006/relationships/image" Target="../media/image7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Relationship Id="rId9" Type="http://schemas.openxmlformats.org/officeDocument/2006/relationships/image" Target="../media/image9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SharePoint・Teams</a:t>
            </a:r>
            <a:r>
              <a:rPr kumimoji="1" lang="ja-JP" altLang="en-US" sz="4000"/>
              <a:t xml:space="preserve"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Vol.15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　　【SharePoint × 自動メール通知】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第15回：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「更新、気づかなかった…」を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もう繰り返さない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　共有フォルダにファイルが届いたら自動でメール通知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　資料の更新に気づくのが遅れがちな方／連絡漏れをなくしたい方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（プログラミング知識ゼロでOK）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 　夜45分ハンズオン 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/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 xml:space="preserve"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SharePointリストへ自動登録する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「アイテムを作成」アクションで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回答内容をリストの列にマッピングします。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Teamsで担当者に通知する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→ SharePoint → Teamsで申請フローが完成！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912" y="146180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3" name="図 42" descr="The image shows a diagram with a question prompting whether something occurred before 12 PM, with options to select 'True' or 'False', and includes an action to post a message in chat or channel.  AI 生成コンテンツは誤りを含む可能性があります。">
            <a:extLst>
              <a:ext uri="{FF2B5EF4-FFF2-40B4-BE49-F238E27FC236}">
                <a16:creationId xmlns:a16="http://schemas.microsoft.com/office/drawing/2014/main" id="{C2A29B6F-3C93-A1C3-76A2-A2F9DE2BA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529" y="2558206"/>
            <a:ext cx="3895055" cy="2669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8"/>
            <a:ext cx="3973286" cy="4996543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③SharePointリストの「アイテムを作成」で申請内容を自動登録し、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④Teamsにメッセージを投稿して、担当者にリアルタイムで知らせるフロー。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275778" y="3813714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The image is a screenshot from a software interface displaying a time zone conversion setting, with input fields for base time, submission time, source time zone (UTC), and destination time zone (Japan Standard Time), and a sorting feature for date and time patterns.  AI 生成コンテンツは誤りを含む可能性があります。">
            <a:extLst>
              <a:ext uri="{FF2B5EF4-FFF2-40B4-BE49-F238E27FC236}">
                <a16:creationId xmlns:a16="http://schemas.microsoft.com/office/drawing/2014/main" id="{A872EEC3-0079-B857-A352-13B052546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765" y="1574708"/>
            <a:ext cx="7176146" cy="45371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図 15" descr="The image depicts a stylized, blue silhouette of the iconic Big Ben clock tower with a small clock face and a blue sky background.  AI 生成コンテンツは誤りを含む可能性があります。">
            <a:extLst>
              <a:ext uri="{FF2B5EF4-FFF2-40B4-BE49-F238E27FC236}">
                <a16:creationId xmlns:a16="http://schemas.microsoft.com/office/drawing/2014/main" id="{7B3B07E8-D558-44C5-F536-149592DC9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2878" y="3015855"/>
            <a:ext cx="807220" cy="1544918"/>
          </a:xfrm>
          <a:prstGeom prst="rect">
            <a:avLst/>
          </a:prstGeom>
        </p:spPr>
      </p:pic>
      <p:pic>
        <p:nvPicPr>
          <p:cNvPr id="18" name="図 17" descr="The image depicts a green map highlighting Japan, with its various regions and cities distinctly marked.  AI 生成コンテンツは誤りを含む可能性があります。">
            <a:extLst>
              <a:ext uri="{FF2B5EF4-FFF2-40B4-BE49-F238E27FC236}">
                <a16:creationId xmlns:a16="http://schemas.microsoft.com/office/drawing/2014/main" id="{97FD49C7-206D-6C4B-3177-E4037E3C6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7943" y="4627001"/>
            <a:ext cx="1151709" cy="1151709"/>
          </a:xfrm>
          <a:prstGeom prst="rect">
            <a:avLst/>
          </a:prstGeom>
        </p:spPr>
      </p:pic>
      <p:sp>
        <p:nvSpPr>
          <p:cNvPr id="12" name="矢印: U ターン 11">
            <a:extLst>
              <a:ext uri="{FF2B5EF4-FFF2-40B4-BE49-F238E27FC236}">
                <a16:creationId xmlns:a16="http://schemas.microsoft.com/office/drawing/2014/main" id="{B61745D9-8D46-A514-CF17-682EE8BDCFC1}"/>
              </a:ext>
            </a:extLst>
          </p:cNvPr>
          <p:cNvSpPr/>
          <p:nvPr/>
        </p:nvSpPr>
        <p:spPr>
          <a:xfrm rot="5400000">
            <a:off x="9871502" y="4213256"/>
            <a:ext cx="807220" cy="975532"/>
          </a:xfrm>
          <a:prstGeom prst="uturnArrow">
            <a:avLst>
              <a:gd name="adj1" fmla="val 19336"/>
              <a:gd name="adj2" fmla="val 25000"/>
              <a:gd name="adj3" fmla="val 37137"/>
              <a:gd name="adj4" fmla="val 43750"/>
              <a:gd name="adj5" fmla="val 87721"/>
            </a:avLst>
          </a:prstGeom>
          <a:solidFill>
            <a:schemeClr val="bg1">
              <a:lumMod val="95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0" name="図 19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73095EBC-5E6E-5317-87A5-17E37B58C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400" y="3836834"/>
            <a:ext cx="8105004" cy="22566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図 21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79F3BB5C-856E-FA0C-3333-92328AEDB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64" y="1380548"/>
            <a:ext cx="6181272" cy="12019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5" name="図 24" descr="￣ﾁﾄ  AI 生成コンテンツは誤りを含む可能性があります。">
            <a:extLst>
              <a:ext uri="{FF2B5EF4-FFF2-40B4-BE49-F238E27FC236}">
                <a16:creationId xmlns:a16="http://schemas.microsoft.com/office/drawing/2014/main" id="{24B8273A-79BB-524B-B355-12D0488F82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5265" y="149396"/>
            <a:ext cx="3025224" cy="3399128"/>
          </a:xfrm>
          <a:prstGeom prst="rect">
            <a:avLst/>
          </a:prstGeom>
        </p:spPr>
      </p:pic>
      <p:pic>
        <p:nvPicPr>
          <p:cNvPr id="26" name="図 25" descr="2009-06-15T13:45:30  AI 生成コンテンツは誤りを含む可能性があります。">
            <a:extLst>
              <a:ext uri="{FF2B5EF4-FFF2-40B4-BE49-F238E27FC236}">
                <a16:creationId xmlns:a16="http://schemas.microsoft.com/office/drawing/2014/main" id="{90BB8993-B660-880F-C455-A312D2B2E1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689" t="35383" b="18386"/>
          <a:stretch>
            <a:fillRect/>
          </a:stretch>
        </p:blipFill>
        <p:spPr>
          <a:xfrm>
            <a:off x="6504442" y="2551604"/>
            <a:ext cx="2909480" cy="107582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758141" y="2898486"/>
            <a:ext cx="452555" cy="530514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 descr="The image depicts a computer screen showing a code snippet in Japanese, specifically a function `formatDateTime` that converts UTC time to Japan Standard Time, with parameters and a detailed code view.  AI 生成コンテンツは誤りを含む可能性があります。">
            <a:extLst>
              <a:ext uri="{FF2B5EF4-FFF2-40B4-BE49-F238E27FC236}">
                <a16:creationId xmlns:a16="http://schemas.microsoft.com/office/drawing/2014/main" id="{1540BB72-A70B-4993-9B89-22A2C53B10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562" t="10272" b="65939"/>
          <a:stretch>
            <a:fillRect/>
          </a:stretch>
        </p:blipFill>
        <p:spPr>
          <a:xfrm>
            <a:off x="3790940" y="5776265"/>
            <a:ext cx="8108134" cy="10241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C16EA426-E783-A598-7EF5-C60F79944EA6}"/>
              </a:ext>
            </a:extLst>
          </p:cNvPr>
          <p:cNvSpPr/>
          <p:nvPr/>
        </p:nvSpPr>
        <p:spPr>
          <a:xfrm>
            <a:off x="334607" y="4741177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9475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1" name="図 10" descr="The text describes a workflow where a new response is sent, and upon receiving it, the details are extracted, time zone conversion is performed, and the hour (HH) is extracted and converted from a string to a numerical format.  AI 生成コンテンツは誤りを含む可能性があります。">
            <a:extLst>
              <a:ext uri="{FF2B5EF4-FFF2-40B4-BE49-F238E27FC236}">
                <a16:creationId xmlns:a16="http://schemas.microsoft.com/office/drawing/2014/main" id="{F68FB933-EA39-0DBF-9AF9-8148DEDB9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12" y="1538935"/>
            <a:ext cx="2366966" cy="47730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図 13" descr="The image depicts a blue-clad figure with a stern expression, hands clenched into fists, and a backward bowed head.  AI 生成コンテンツは誤りを含む可能性があります。">
            <a:extLst>
              <a:ext uri="{FF2B5EF4-FFF2-40B4-BE49-F238E27FC236}">
                <a16:creationId xmlns:a16="http://schemas.microsoft.com/office/drawing/2014/main" id="{25F6D668-986E-7313-5F03-1BEC504E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8335" y="1587308"/>
            <a:ext cx="1915069" cy="2293496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B5DBE15C-3F0E-995C-C955-5A890D5C4AD0}"/>
              </a:ext>
            </a:extLst>
          </p:cNvPr>
          <p:cNvSpPr txBox="1"/>
          <p:nvPr/>
        </p:nvSpPr>
        <p:spPr>
          <a:xfrm>
            <a:off x="3257550" y="1555509"/>
            <a:ext cx="6416866" cy="2849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SharePointリストの「アイテムを作成」で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Formsの回答（申請者名・申請内容）を</a:t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リストの各列にマッピングします。</a:t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C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8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/>
            </a:r>
            <a:endParaRPr lang="en-US" altLang="ja-JP" sz="28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7" name="図 16" descr="The image shows a text snippet from a software interface, displaying a Japanese prompt to convert a string into an integer and a parameter input field with a placeholder for code.  AI 生成コンテンツは誤りを含む可能性があります。">
            <a:extLst>
              <a:ext uri="{FF2B5EF4-FFF2-40B4-BE49-F238E27FC236}">
                <a16:creationId xmlns:a16="http://schemas.microsoft.com/office/drawing/2014/main" id="{F566F71E-C914-B0FA-ED5D-DC027EE11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956" y="4417074"/>
            <a:ext cx="7342663" cy="237106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7CBEC746-521C-9E2B-7D90-711E9905A4D7}"/>
              </a:ext>
            </a:extLst>
          </p:cNvPr>
          <p:cNvSpPr/>
          <p:nvPr/>
        </p:nvSpPr>
        <p:spPr>
          <a:xfrm>
            <a:off x="325486" y="5641708"/>
            <a:ext cx="2306688" cy="747059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5110F6F-46C1-8584-E321-1DE91CADF579}"/>
              </a:ext>
            </a:extLst>
          </p:cNvPr>
          <p:cNvSpPr txBox="1"/>
          <p:nvPr/>
        </p:nvSpPr>
        <p:spPr>
          <a:xfrm>
            <a:off x="8092296" y="5918786"/>
            <a:ext cx="3774218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ja-JP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Title列 → </a:t>
            </a:r>
            <a:r>
              <a:rPr lang="ja-JP" altLang="en-US" sz="2800" b="1">
                <a:solidFill>
                  <a:srgbClr val="1F2937"/>
                </a:solidFill>
                <a:highlight>
                  <a:srgbClr val="FFFF00"/>
                </a:highlight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申請者名の回答</a:t>
            </a:r>
            <a:endParaRPr lang="en-US" altLang="ja-JP" sz="2800" b="1">
              <a:solidFill>
                <a:srgbClr val="1F2937"/>
              </a:solidFill>
              <a:highlight>
                <a:srgbClr val="FFFF00"/>
              </a:highlight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6875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Vol.14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 xml:space="preserve"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SharePointリストは「自動で書き込めるデータベース」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Formsの回答は動的コンテンツとしてSPの列にそのままマッピングできます。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一度登録すれば検索・集計・管理がしやすくなります。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Forms → SharePoint → Teamsは申請自動化の基本パターン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申請データはSPに蓄積され、Teams通知で「誰かが気づける」仕組みが完成します。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今日作ったフローが、あなたの最初の「申請自動化」です。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107734" y="2066544"/>
            <a:ext cx="1592843" cy="495605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520089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備品発注申請の自動化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発注フォームに回答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→SPリストに自動登録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74650" y="3891350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→アイテムを作成（SP）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→Teamsで発注通知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556455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650" y="2257654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850076" y="2066544"/>
            <a:ext cx="1792480" cy="495605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5918614" y="2138930"/>
            <a:ext cx="1940655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稟議・申請フローの自動化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2" y="3031102"/>
            <a:ext cx="3277210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申請フォーム受信</a:t>
            </a:r>
            <a:endParaRPr lang="en-US" sz="40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→承認者にTeams通知</a:t>
            </a:r>
            <a:endParaRPr lang="en-US" sz="40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→Teamsで承認者通知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→SharePoint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194852" y="176668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640007" y="2042347"/>
            <a:ext cx="1968754" cy="495605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618668" y="1851053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外部問い合わせ管理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r>
              <a:rPr lang="en-US" sz="2000" b="1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承認者通知</a:t>
            </a: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問い合わせ受信</a:t>
            </a:r>
          </a:p>
          <a:p>
            <a:pPr marL="0" indent="0" algn="l">
              <a:buNone/>
            </a:pPr>
            <a:r>
              <a:rPr lang="en-US" sz="24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→担当者にリアルタイム通知</a:t>
            </a:r>
            <a:endParaRPr lang="en-US" sz="4000" dirty="0"/>
          </a:p>
        </p:txBody>
      </p:sp>
      <p:sp>
        <p:nvSpPr>
          <p:cNvPr id="33" name="Text 26"/>
          <p:cNvSpPr txBox="1"/>
          <p:nvPr/>
        </p:nvSpPr>
        <p:spPr>
          <a:xfrm>
            <a:off x="8287207" y="3957087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→SP登録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→Teamsで担当者通知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SharePoint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申請自動化の第一歩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83850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PA45｜第11回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489102" y="4817454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1423</Words>
  <Application>Microsoft Office PowerPoint</Application>
  <PresentationFormat>ワイド画面</PresentationFormat>
  <Paragraphs>343</Paragraphs>
  <Slides>14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2026-04-17T11:58:17Z</dcterms:modified>
</cp:coreProperties>
</file>