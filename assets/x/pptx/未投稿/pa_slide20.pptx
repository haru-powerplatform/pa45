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" name="Shape 1">
            <a:extLst>
              <a:ext uri="{FF2B5EF4-FFF2-40B4-BE49-F238E27FC236}">
                <a16:creationId xmlns:a16="http://schemas.microsoft.com/office/drawing/2014/main" id="{572DE491-8C53-8AAE-4762-7DD36E63993E}"/>
              </a:ext>
            </a:extLst>
          </p:cNvPr>
          <p:cNvSpPr/>
          <p:nvPr/>
        </p:nvSpPr>
        <p:spPr>
          <a:xfrm>
            <a:off x="-17574" y="7990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457200" y="1162202"/>
            <a:ext cx="112772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216049" y="692670"/>
            <a:ext cx="8356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そんな時こそ</a:t>
            </a:r>
            <a:r>
              <a:rPr lang="en-US" altLang="ja-JP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if() </a:t>
            </a:r>
            <a:r>
              <a:rPr lang="ja-JP" altLang="en-US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r>
              <a:rPr lang="ja-JP" altLang="en-US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おススメ！！</a:t>
            </a:r>
            <a:endParaRPr lang="en-US" sz="36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946337" y="101776"/>
            <a:ext cx="1000384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「条件分岐を</a:t>
            </a:r>
            <a:r>
              <a:rPr 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使うほどじゃないんだけど…」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261557" y="1309954"/>
            <a:ext cx="3023882" cy="38816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94766" y="1319479"/>
            <a:ext cx="122530" cy="386242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42746" y="1481328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どんな時？ 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1383" y="1433322"/>
            <a:ext cx="333756" cy="33375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45733" y="1914297"/>
            <a:ext cx="296759" cy="32256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57706" y="1957539"/>
            <a:ext cx="24953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曜日に合わせて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「平日 / 休日」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を出したい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836837" y="2612123"/>
            <a:ext cx="2178908" cy="36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空欄なら</a:t>
            </a: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「未設定</a:t>
            </a:r>
            <a:r>
              <a:rPr lang="en-US" sz="1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</a:t>
            </a:r>
            <a:endParaRPr lang="en-US" sz="1600" dirty="0"/>
          </a:p>
        </p:txBody>
      </p:sp>
      <p:sp>
        <p:nvSpPr>
          <p:cNvPr id="18" name="Text 8"/>
          <p:cNvSpPr txBox="1"/>
          <p:nvPr/>
        </p:nvSpPr>
        <p:spPr>
          <a:xfrm>
            <a:off x="801620" y="3267792"/>
            <a:ext cx="2284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true/false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「承認 / 未承認」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に変換</a:t>
            </a:r>
            <a:endParaRPr lang="en-US" sz="1600" dirty="0"/>
          </a:p>
        </p:txBody>
      </p:sp>
      <p:sp>
        <p:nvSpPr>
          <p:cNvPr id="20" name="Text 9"/>
          <p:cNvSpPr txBox="1"/>
          <p:nvPr/>
        </p:nvSpPr>
        <p:spPr>
          <a:xfrm>
            <a:off x="898097" y="3966318"/>
            <a:ext cx="21541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“失敗したら別の値”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返したいだけ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409397" y="4491183"/>
            <a:ext cx="2776716" cy="55950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1"/>
          <p:cNvSpPr txBox="1"/>
          <p:nvPr/>
        </p:nvSpPr>
        <p:spPr>
          <a:xfrm>
            <a:off x="632765" y="4663021"/>
            <a:ext cx="24195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値を返すだけなら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は重すぎる！</a:t>
            </a:r>
            <a:endParaRPr lang="en-US" sz="16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96282" y="1348798"/>
            <a:ext cx="2000709" cy="3801882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3424098" y="1224382"/>
            <a:ext cx="2016252" cy="933172"/>
          </a:xfrm>
          <a:prstGeom prst="roundRect">
            <a:avLst>
              <a:gd name="adj" fmla="val 271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3"/>
          <p:cNvSpPr/>
          <p:nvPr/>
        </p:nvSpPr>
        <p:spPr>
          <a:xfrm>
            <a:off x="3731154" y="1500782"/>
            <a:ext cx="177668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</a:t>
            </a:r>
            <a:r>
              <a:rPr 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</a:t>
            </a: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467404" y="1295705"/>
            <a:ext cx="320041" cy="425584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3702403" y="2243827"/>
            <a:ext cx="1532536" cy="873363"/>
          </a:xfrm>
          <a:prstGeom prst="roundRect">
            <a:avLst>
              <a:gd name="adj" fmla="val 1874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15"/>
          <p:cNvSpPr txBox="1"/>
          <p:nvPr/>
        </p:nvSpPr>
        <p:spPr>
          <a:xfrm>
            <a:off x="3737849" y="2357323"/>
            <a:ext cx="1497788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>
                <a:solidFill>
                  <a:srgbClr val="6B7280"/>
                </a:solidFill>
                <a:latin typeface="ui-monospace" pitchFamily="34" charset="0"/>
              </a:rPr>
              <a:t>条件分岐</a:t>
            </a:r>
            <a:endParaRPr lang="en-US" sz="2400" b="1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4350641" y="2628675"/>
            <a:ext cx="336843" cy="384523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4069616" y="3203708"/>
            <a:ext cx="934061" cy="762610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1" name="Text 17"/>
          <p:cNvSpPr txBox="1"/>
          <p:nvPr/>
        </p:nvSpPr>
        <p:spPr>
          <a:xfrm>
            <a:off x="4073725" y="3305205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</a:t>
            </a:r>
            <a:endParaRPr lang="en-US" sz="2400" dirty="0"/>
          </a:p>
        </p:txBody>
      </p:sp>
      <p:sp>
        <p:nvSpPr>
          <p:cNvPr id="32" name="Text 18"/>
          <p:cNvSpPr txBox="1"/>
          <p:nvPr/>
        </p:nvSpPr>
        <p:spPr>
          <a:xfrm>
            <a:off x="4109125" y="3634392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"休日"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4020644" y="4114449"/>
            <a:ext cx="1010412" cy="753467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4" name="Text 20"/>
          <p:cNvSpPr txBox="1"/>
          <p:nvPr/>
        </p:nvSpPr>
        <p:spPr>
          <a:xfrm>
            <a:off x="4133155" y="4165133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</a:t>
            </a:r>
            <a:endParaRPr lang="en-US" sz="2400" dirty="0"/>
          </a:p>
        </p:txBody>
      </p:sp>
      <p:sp>
        <p:nvSpPr>
          <p:cNvPr id="35" name="Text 21"/>
          <p:cNvSpPr txBox="1"/>
          <p:nvPr/>
        </p:nvSpPr>
        <p:spPr>
          <a:xfrm>
            <a:off x="4058952" y="4524461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"平日"</a:t>
            </a:r>
            <a:endParaRPr lang="en-US" sz="16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>
            <a:off x="5556619" y="1287988"/>
            <a:ext cx="3156229" cy="3853548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1"/>
          <a:srcRect l="-24" r="-24"/>
          <a:stretch/>
        </p:blipFill>
        <p:spPr>
          <a:xfrm>
            <a:off x="5636650" y="1224381"/>
            <a:ext cx="2876990" cy="66554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190521" y="1357809"/>
            <a:ext cx="2431025" cy="39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if() なら1行 </a:t>
            </a:r>
            <a:endParaRPr lang="en-US" sz="32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5738604" y="1393321"/>
            <a:ext cx="288644" cy="313743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3"/>
          <a:srcRect l="-12" r="-12"/>
          <a:stretch/>
        </p:blipFill>
        <p:spPr>
          <a:xfrm>
            <a:off x="5679337" y="1948013"/>
            <a:ext cx="2885567" cy="2129883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814557" y="2045225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</a:t>
            </a:r>
            <a:endParaRPr lang="en-US" sz="2000" b="1" dirty="0"/>
          </a:p>
        </p:txBody>
      </p:sp>
      <p:sp>
        <p:nvSpPr>
          <p:cNvPr id="42" name="Text 24"/>
          <p:cNvSpPr txBox="1"/>
          <p:nvPr/>
        </p:nvSpPr>
        <p:spPr>
          <a:xfrm>
            <a:off x="5807584" y="246216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or(equals(..),..),</a:t>
            </a:r>
            <a:endParaRPr lang="en-US" sz="2000" b="1" dirty="0"/>
          </a:p>
        </p:txBody>
      </p:sp>
      <p:sp>
        <p:nvSpPr>
          <p:cNvPr id="43" name="Text 25"/>
          <p:cNvSpPr txBox="1"/>
          <p:nvPr/>
        </p:nvSpPr>
        <p:spPr>
          <a:xfrm>
            <a:off x="5793638" y="284803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"休日",</a:t>
            </a:r>
            <a:endParaRPr lang="en-US" sz="2000" b="1" dirty="0"/>
          </a:p>
        </p:txBody>
      </p:sp>
      <p:sp>
        <p:nvSpPr>
          <p:cNvPr id="44" name="Text 26"/>
          <p:cNvSpPr txBox="1"/>
          <p:nvPr/>
        </p:nvSpPr>
        <p:spPr>
          <a:xfrm>
            <a:off x="5800611" y="322271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"平日"</a:t>
            </a:r>
            <a:endParaRPr lang="en-US" sz="2000" b="1" dirty="0"/>
          </a:p>
        </p:txBody>
      </p:sp>
      <p:sp>
        <p:nvSpPr>
          <p:cNvPr id="45" name="Text 27"/>
          <p:cNvSpPr txBox="1"/>
          <p:nvPr/>
        </p:nvSpPr>
        <p:spPr>
          <a:xfrm>
            <a:off x="5812347" y="353071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b="1" dirty="0"/>
          </a:p>
        </p:txBody>
      </p:sp>
      <p:sp>
        <p:nvSpPr>
          <p:cNvPr id="46" name="Text 28"/>
          <p:cNvSpPr txBox="1"/>
          <p:nvPr/>
        </p:nvSpPr>
        <p:spPr>
          <a:xfrm>
            <a:off x="5636650" y="4331703"/>
            <a:ext cx="2626462" cy="60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分岐を作らず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そのまま値として使える </a:t>
            </a:r>
            <a:endParaRPr lang="en-US" dirty="0"/>
          </a:p>
        </p:txBody>
      </p:sp>
      <p:sp>
        <p:nvSpPr>
          <p:cNvPr id="47" name="Shape 29"/>
          <p:cNvSpPr/>
          <p:nvPr/>
        </p:nvSpPr>
        <p:spPr>
          <a:xfrm>
            <a:off x="8740470" y="1371940"/>
            <a:ext cx="9144" cy="3886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820414" y="1613232"/>
            <a:ext cx="3221391" cy="944431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8820414" y="1853313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8949193" y="1975278"/>
            <a:ext cx="208453" cy="289724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400072" y="1689402"/>
            <a:ext cx="2569976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 → ラベル切替</a:t>
            </a:r>
            <a:endParaRPr lang="en-US" sz="2000" dirty="0"/>
          </a:p>
        </p:txBody>
      </p:sp>
      <p:sp>
        <p:nvSpPr>
          <p:cNvPr id="54" name="Text 33"/>
          <p:cNvSpPr txBox="1"/>
          <p:nvPr/>
        </p:nvSpPr>
        <p:spPr>
          <a:xfrm>
            <a:off x="9606280" y="2019732"/>
            <a:ext cx="2751303" cy="41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土日 → "休日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"平日"</a:t>
            </a:r>
            <a:endParaRPr lang="en-US" b="1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77236" y="2699591"/>
            <a:ext cx="3230535" cy="1119772"/>
          </a:xfrm>
          <a:prstGeom prst="rect">
            <a:avLst/>
          </a:prstGeom>
        </p:spPr>
      </p:pic>
      <p:sp>
        <p:nvSpPr>
          <p:cNvPr id="56" name="Shape 34"/>
          <p:cNvSpPr/>
          <p:nvPr/>
        </p:nvSpPr>
        <p:spPr>
          <a:xfrm>
            <a:off x="8811049" y="2866868"/>
            <a:ext cx="475445" cy="508549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966067" y="2938166"/>
            <a:ext cx="208453" cy="289724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9480553" y="2834203"/>
            <a:ext cx="2972606" cy="28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空文字チェック</a:t>
            </a:r>
            <a:endParaRPr lang="en-US" sz="2000" dirty="0"/>
          </a:p>
        </p:txBody>
      </p:sp>
      <p:sp>
        <p:nvSpPr>
          <p:cNvPr id="59" name="Text 36"/>
          <p:cNvSpPr txBox="1"/>
          <p:nvPr/>
        </p:nvSpPr>
        <p:spPr>
          <a:xfrm>
            <a:off x="9581727" y="3131435"/>
            <a:ext cx="2343878" cy="53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 → "未設定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値あり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そのまま</a:t>
            </a:r>
            <a:endParaRPr lang="en-US" b="1" dirty="0"/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90167" y="3953169"/>
            <a:ext cx="3230535" cy="957817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1" name="Shape 37"/>
          <p:cNvSpPr/>
          <p:nvPr/>
        </p:nvSpPr>
        <p:spPr>
          <a:xfrm>
            <a:off x="8815698" y="4097918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17"/>
          <a:srcRect l="-33" r="-33"/>
          <a:stretch/>
        </p:blipFill>
        <p:spPr>
          <a:xfrm>
            <a:off x="8919212" y="4210916"/>
            <a:ext cx="268419" cy="289724"/>
          </a:xfrm>
          <a:prstGeom prst="rect">
            <a:avLst/>
          </a:prstGeom>
        </p:spPr>
      </p:pic>
      <p:sp>
        <p:nvSpPr>
          <p:cNvPr id="63" name="Text 38"/>
          <p:cNvSpPr txBox="1"/>
          <p:nvPr/>
        </p:nvSpPr>
        <p:spPr>
          <a:xfrm>
            <a:off x="9475092" y="4011616"/>
            <a:ext cx="2779858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ステータス変換</a:t>
            </a:r>
            <a:endParaRPr lang="en-US" sz="2000" dirty="0"/>
          </a:p>
        </p:txBody>
      </p:sp>
      <p:sp>
        <p:nvSpPr>
          <p:cNvPr id="64" name="Text 39"/>
          <p:cNvSpPr txBox="1"/>
          <p:nvPr/>
        </p:nvSpPr>
        <p:spPr>
          <a:xfrm>
            <a:off x="9606083" y="4442002"/>
            <a:ext cx="3062555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 → "承認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"未承認"</a:t>
            </a:r>
            <a:endParaRPr lang="en-US" b="1" dirty="0"/>
          </a:p>
        </p:txBody>
      </p:sp>
      <p:pic>
        <p:nvPicPr>
          <p:cNvPr id="70" name="Image 25" descr="preencoded.png"/>
          <p:cNvPicPr>
            <a:picLocks noChangeAspect="1"/>
          </p:cNvPicPr>
          <p:nvPr/>
        </p:nvPicPr>
        <p:blipFill>
          <a:blip r:embed="rId18"/>
          <a:srcRect t="-20" b="-20"/>
          <a:stretch/>
        </p:blipFill>
        <p:spPr>
          <a:xfrm>
            <a:off x="370634" y="5248051"/>
            <a:ext cx="11662027" cy="1336633"/>
          </a:xfrm>
          <a:prstGeom prst="rect">
            <a:avLst/>
          </a:prstGeom>
        </p:spPr>
      </p:pic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19">
            <a:alphaModFix amt="20000"/>
          </a:blip>
          <a:srcRect t="-180" b="-180"/>
          <a:stretch/>
        </p:blipFill>
        <p:spPr>
          <a:xfrm>
            <a:off x="11925605" y="6752844"/>
            <a:ext cx="190195" cy="152705"/>
          </a:xfrm>
          <a:prstGeom prst="rect">
            <a:avLst/>
          </a:prstGeom>
        </p:spPr>
      </p:pic>
      <p:sp>
        <p:nvSpPr>
          <p:cNvPr id="72" name="Text 43"/>
          <p:cNvSpPr txBox="1"/>
          <p:nvPr/>
        </p:nvSpPr>
        <p:spPr>
          <a:xfrm>
            <a:off x="601676" y="5475299"/>
            <a:ext cx="3258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9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 Syntax</a:t>
            </a:r>
            <a:endParaRPr lang="en-US" sz="2400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EACA020D-FF75-7EA1-C6C0-9E6738D03DA1}"/>
              </a:ext>
            </a:extLst>
          </p:cNvPr>
          <p:cNvGrpSpPr/>
          <p:nvPr/>
        </p:nvGrpSpPr>
        <p:grpSpPr>
          <a:xfrm>
            <a:off x="421458" y="5838902"/>
            <a:ext cx="5818174" cy="590702"/>
            <a:chOff x="647395" y="5772607"/>
            <a:chExt cx="3137306" cy="590702"/>
          </a:xfrm>
        </p:grpSpPr>
        <p:pic>
          <p:nvPicPr>
            <p:cNvPr id="73" name="Image 27" descr="preencoded.png"/>
            <p:cNvPicPr>
              <a:picLocks noChangeAspect="1"/>
            </p:cNvPicPr>
            <p:nvPr/>
          </p:nvPicPr>
          <p:blipFill>
            <a:blip r:embed="rId20"/>
            <a:srcRect t="-15" b="-15"/>
            <a:stretch/>
          </p:blipFill>
          <p:spPr>
            <a:xfrm>
              <a:off x="647395" y="5772607"/>
              <a:ext cx="3137306" cy="590702"/>
            </a:xfrm>
            <a:prstGeom prst="rect">
              <a:avLst/>
            </a:prstGeom>
          </p:spPr>
        </p:pic>
        <p:sp>
          <p:nvSpPr>
            <p:cNvPr id="74" name="Text 44"/>
            <p:cNvSpPr txBox="1"/>
            <p:nvPr/>
          </p:nvSpPr>
          <p:spPr>
            <a:xfrm>
              <a:off x="809244" y="5934456"/>
              <a:ext cx="2862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dirty="0">
                  <a:solidFill>
                    <a:srgbClr val="60A5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if</a:t>
              </a:r>
              <a:endParaRPr lang="en-US" sz="2800" dirty="0"/>
            </a:p>
          </p:txBody>
        </p:sp>
        <p:sp>
          <p:nvSpPr>
            <p:cNvPr id="75" name="Text 45"/>
            <p:cNvSpPr txBox="1"/>
            <p:nvPr/>
          </p:nvSpPr>
          <p:spPr>
            <a:xfrm>
              <a:off x="1053389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(</a:t>
              </a:r>
              <a:endParaRPr lang="en-US" sz="2800" dirty="0"/>
            </a:p>
          </p:txBody>
        </p:sp>
        <p:sp>
          <p:nvSpPr>
            <p:cNvPr id="76" name="Text 46"/>
            <p:cNvSpPr txBox="1"/>
            <p:nvPr/>
          </p:nvSpPr>
          <p:spPr>
            <a:xfrm>
              <a:off x="1194206" y="5934456"/>
              <a:ext cx="4197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A78B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条件</a:t>
              </a:r>
              <a:endParaRPr lang="en-US" sz="2800" dirty="0"/>
            </a:p>
          </p:txBody>
        </p:sp>
        <p:sp>
          <p:nvSpPr>
            <p:cNvPr id="77" name="Text 47"/>
            <p:cNvSpPr txBox="1"/>
            <p:nvPr/>
          </p:nvSpPr>
          <p:spPr>
            <a:xfrm>
              <a:off x="1613916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78" name="Text 48"/>
            <p:cNvSpPr txBox="1"/>
            <p:nvPr/>
          </p:nvSpPr>
          <p:spPr>
            <a:xfrm>
              <a:off x="1793138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34D399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真のとき</a:t>
              </a:r>
              <a:endParaRPr lang="en-US" sz="2800" dirty="0"/>
            </a:p>
          </p:txBody>
        </p:sp>
        <p:sp>
          <p:nvSpPr>
            <p:cNvPr id="79" name="Text 49"/>
            <p:cNvSpPr txBox="1"/>
            <p:nvPr/>
          </p:nvSpPr>
          <p:spPr>
            <a:xfrm>
              <a:off x="2566721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80" name="Text 50"/>
            <p:cNvSpPr txBox="1"/>
            <p:nvPr/>
          </p:nvSpPr>
          <p:spPr>
            <a:xfrm>
              <a:off x="2745943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F87171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偽のとき</a:t>
              </a:r>
              <a:endParaRPr lang="en-US" sz="2800" dirty="0"/>
            </a:p>
          </p:txBody>
        </p:sp>
        <p:sp>
          <p:nvSpPr>
            <p:cNvPr id="81" name="Text 51"/>
            <p:cNvSpPr txBox="1"/>
            <p:nvPr/>
          </p:nvSpPr>
          <p:spPr>
            <a:xfrm>
              <a:off x="3482035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)</a:t>
              </a:r>
              <a:endParaRPr lang="en-US" sz="2800" dirty="0"/>
            </a:p>
          </p:txBody>
        </p:sp>
      </p:grpSp>
      <p:sp>
        <p:nvSpPr>
          <p:cNvPr id="82" name="Text 52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21"/>
          <a:srcRect t="-530" b="-530"/>
          <a:stretch/>
        </p:blipFill>
        <p:spPr>
          <a:xfrm>
            <a:off x="5210505" y="3171361"/>
            <a:ext cx="463599" cy="535449"/>
          </a:xfrm>
          <a:prstGeom prst="rect">
            <a:avLst/>
          </a:prstGeom>
        </p:spPr>
      </p:pic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0501CB00-1417-8014-FEC6-2F35E43AF30B}"/>
              </a:ext>
            </a:extLst>
          </p:cNvPr>
          <p:cNvGrpSpPr/>
          <p:nvPr/>
        </p:nvGrpSpPr>
        <p:grpSpPr>
          <a:xfrm>
            <a:off x="6269205" y="5349127"/>
            <a:ext cx="5948002" cy="1092005"/>
            <a:chOff x="4013302" y="5347780"/>
            <a:chExt cx="3576906" cy="1092005"/>
          </a:xfrm>
        </p:grpSpPr>
        <p:sp>
          <p:nvSpPr>
            <p:cNvPr id="84" name="Shape 53"/>
            <p:cNvSpPr/>
            <p:nvPr/>
          </p:nvSpPr>
          <p:spPr>
            <a:xfrm>
              <a:off x="4013302" y="5553151"/>
              <a:ext cx="9144" cy="800100"/>
            </a:xfrm>
            <a:prstGeom prst="rect">
              <a:avLst/>
            </a:prstGeom>
            <a:solidFill>
              <a:srgbClr val="4B5563"/>
            </a:solidFill>
            <a:ln w="12700">
              <a:solidFill>
                <a:srgbClr val="4B556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pic>
          <p:nvPicPr>
            <p:cNvPr id="85" name="Image 29" descr="preencoded.png"/>
            <p:cNvPicPr>
              <a:picLocks noChangeAspect="1"/>
            </p:cNvPicPr>
            <p:nvPr/>
          </p:nvPicPr>
          <p:blipFill>
            <a:blip r:embed="rId22"/>
            <a:srcRect l="-760" r="-760"/>
            <a:stretch/>
          </p:blipFill>
          <p:spPr>
            <a:xfrm>
              <a:off x="4145380" y="5347780"/>
              <a:ext cx="153291" cy="302128"/>
            </a:xfrm>
            <a:prstGeom prst="rect">
              <a:avLst/>
            </a:prstGeom>
          </p:spPr>
        </p:pic>
        <p:sp>
          <p:nvSpPr>
            <p:cNvPr id="86" name="Text 54"/>
            <p:cNvSpPr txBox="1"/>
            <p:nvPr/>
          </p:nvSpPr>
          <p:spPr>
            <a:xfrm>
              <a:off x="4439186" y="5388300"/>
              <a:ext cx="315102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Conditionアクションより </a:t>
              </a:r>
              <a:r>
                <a:rPr lang="en-US" b="1" dirty="0">
                  <a:solidFill>
                    <a:srgbClr val="FCD34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“値の扱い” が直感的</a:t>
              </a:r>
              <a:endParaRPr lang="en-US" dirty="0"/>
            </a:p>
          </p:txBody>
        </p:sp>
        <p:pic>
          <p:nvPicPr>
            <p:cNvPr id="87" name="Image 30" descr="preencoded.png"/>
            <p:cNvPicPr>
              <a:picLocks noChangeAspect="1"/>
            </p:cNvPicPr>
            <p:nvPr/>
          </p:nvPicPr>
          <p:blipFill>
            <a:blip r:embed="rId23"/>
            <a:srcRect t="-842" b="-842"/>
            <a:stretch/>
          </p:blipFill>
          <p:spPr>
            <a:xfrm>
              <a:off x="4137847" y="5732552"/>
              <a:ext cx="190924" cy="302128"/>
            </a:xfrm>
            <a:prstGeom prst="rect">
              <a:avLst/>
            </a:prstGeom>
          </p:spPr>
        </p:pic>
        <p:sp>
          <p:nvSpPr>
            <p:cNvPr id="88" name="Text 55"/>
            <p:cNvSpPr txBox="1"/>
            <p:nvPr/>
          </p:nvSpPr>
          <p:spPr>
            <a:xfrm>
              <a:off x="4480560" y="5802423"/>
              <a:ext cx="230428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動的コンテンツ内でそのまま使える</a:t>
              </a:r>
              <a:endParaRPr lang="en-US" dirty="0"/>
            </a:p>
          </p:txBody>
        </p:sp>
        <p:pic>
          <p:nvPicPr>
            <p:cNvPr id="89" name="Image 31" descr="preencoded.png"/>
            <p:cNvPicPr>
              <a:picLocks noChangeAspect="1"/>
            </p:cNvPicPr>
            <p:nvPr/>
          </p:nvPicPr>
          <p:blipFill>
            <a:blip r:embed="rId24"/>
            <a:srcRect t="-842" b="-842"/>
            <a:stretch/>
          </p:blipFill>
          <p:spPr>
            <a:xfrm>
              <a:off x="4137847" y="6137657"/>
              <a:ext cx="190924" cy="302128"/>
            </a:xfrm>
            <a:prstGeom prst="rect">
              <a:avLst/>
            </a:prstGeom>
          </p:spPr>
        </p:pic>
        <p:sp>
          <p:nvSpPr>
            <p:cNvPr id="90" name="Text 56"/>
            <p:cNvSpPr txBox="1"/>
            <p:nvPr/>
          </p:nvSpPr>
          <p:spPr>
            <a:xfrm>
              <a:off x="4480560" y="6209258"/>
              <a:ext cx="26481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組み合わせれば、</a:t>
              </a: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Excelのような表現に</a:t>
              </a:r>
              <a:endParaRPr lang="en-US" dirty="0"/>
            </a:p>
          </p:txBody>
        </p:sp>
      </p:grp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8B208360-60BB-ABA2-ADEA-076C5D8CA3C5}"/>
              </a:ext>
            </a:extLst>
          </p:cNvPr>
          <p:cNvSpPr/>
          <p:nvPr/>
        </p:nvSpPr>
        <p:spPr>
          <a:xfrm>
            <a:off x="43861" y="7990"/>
            <a:ext cx="12103265" cy="6821206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12F9C482-E943-E5EA-F961-EBDA83E1829C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7" name="Shape 2">
              <a:extLst>
                <a:ext uri="{FF2B5EF4-FFF2-40B4-BE49-F238E27FC236}">
                  <a16:creationId xmlns:a16="http://schemas.microsoft.com/office/drawing/2014/main" id="{FB491154-080A-A31C-3261-D44BEE8BC7BA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8" name="Text 3">
              <a:extLst>
                <a:ext uri="{FF2B5EF4-FFF2-40B4-BE49-F238E27FC236}">
                  <a16:creationId xmlns:a16="http://schemas.microsoft.com/office/drawing/2014/main" id="{5DA92909-1533-3A6E-6ACA-CEB13D8FBB44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Vol.29</a:t>
              </a:r>
              <a:endParaRPr lang="en-US" sz="3200" dirty="0"/>
            </a:p>
          </p:txBody>
        </p:sp>
      </p:grpSp>
      <p:pic>
        <p:nvPicPr>
          <p:cNvPr id="99" name="図 9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BE07A22-2A2F-8398-7078-081131137D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3982" y="58829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5A5BA2C2-A95A-A737-AD0B-84148A922A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64844" y="2585923"/>
            <a:ext cx="296759" cy="322564"/>
          </a:xfrm>
          <a:prstGeom prst="rect">
            <a:avLst/>
          </a:prstGeom>
        </p:spPr>
      </p:pic>
      <p:pic>
        <p:nvPicPr>
          <p:cNvPr id="3" name="Image 5" descr="preencoded.png">
            <a:extLst>
              <a:ext uri="{FF2B5EF4-FFF2-40B4-BE49-F238E27FC236}">
                <a16:creationId xmlns:a16="http://schemas.microsoft.com/office/drawing/2014/main" id="{DB578397-204C-88CC-75AC-1365E0A70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55452" y="3288623"/>
            <a:ext cx="296759" cy="322564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32117AB2-32FF-A6BB-7928-F55ABA34A9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84087" y="3937059"/>
            <a:ext cx="296759" cy="322564"/>
          </a:xfrm>
          <a:prstGeom prst="rect">
            <a:avLst/>
          </a:prstGeom>
        </p:spPr>
      </p:pic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11D6D878-50DF-1F05-124D-25C4369DAE00}"/>
              </a:ext>
            </a:extLst>
          </p:cNvPr>
          <p:cNvCxnSpPr>
            <a:cxnSpLocks/>
            <a:stCxn id="27" idx="1"/>
            <a:endCxn id="30" idx="1"/>
          </p:cNvCxnSpPr>
          <p:nvPr/>
        </p:nvCxnSpPr>
        <p:spPr>
          <a:xfrm rot="10800000" flipH="1" flipV="1">
            <a:off x="3702402" y="2680509"/>
            <a:ext cx="367213" cy="904504"/>
          </a:xfrm>
          <a:prstGeom prst="bentConnector3">
            <a:avLst>
              <a:gd name="adj1" fmla="val -62253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665501A4-5D23-A23A-D807-5C2F1BE6CA11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 rot="10800000" flipH="1" flipV="1">
            <a:off x="3702402" y="2680509"/>
            <a:ext cx="318241" cy="1810674"/>
          </a:xfrm>
          <a:prstGeom prst="bentConnector3">
            <a:avLst>
              <a:gd name="adj1" fmla="val -71832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Shape 15">
            <a:extLst>
              <a:ext uri="{FF2B5EF4-FFF2-40B4-BE49-F238E27FC236}">
                <a16:creationId xmlns:a16="http://schemas.microsoft.com/office/drawing/2014/main" id="{4A72E84C-EB39-F047-6677-B03D4D3D0FA6}"/>
              </a:ext>
            </a:extLst>
          </p:cNvPr>
          <p:cNvSpPr/>
          <p:nvPr/>
        </p:nvSpPr>
        <p:spPr>
          <a:xfrm>
            <a:off x="8781467" y="1296886"/>
            <a:ext cx="3311626" cy="3748950"/>
          </a:xfrm>
          <a:prstGeom prst="roundRect">
            <a:avLst>
              <a:gd name="adj" fmla="val 2809"/>
            </a:avLst>
          </a:prstGeom>
          <a:noFill/>
          <a:ln w="41275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8" name="Text 30"/>
          <p:cNvSpPr txBox="1"/>
          <p:nvPr/>
        </p:nvSpPr>
        <p:spPr>
          <a:xfrm>
            <a:off x="9348626" y="1096283"/>
            <a:ext cx="2326766" cy="4704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実務での利用例 </a:t>
            </a:r>
            <a:endParaRPr lang="en-US" sz="24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946589" y="1143700"/>
            <a:ext cx="268419" cy="3261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1" name="図 110" descr="The image depicts two characters, one with blue hair and a blue dress, holding hands and wearing blue and pink heart-shaped decorations, with one character smiling and the other looking down.&#10;&#10;AI 生成コンテンツは誤りを含む可能性があります。">
            <a:extLst>
              <a:ext uri="{FF2B5EF4-FFF2-40B4-BE49-F238E27FC236}">
                <a16:creationId xmlns:a16="http://schemas.microsoft.com/office/drawing/2014/main" id="{F899778E-E57C-2CE6-45DC-630B60048B5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58961" y="-414920"/>
            <a:ext cx="1931471" cy="1742616"/>
          </a:xfrm>
          <a:prstGeom prst="rect">
            <a:avLst/>
          </a:prstGeom>
        </p:spPr>
      </p:pic>
      <p:pic>
        <p:nvPicPr>
          <p:cNvPr id="113" name="図 112" descr="The image depicts a cartoon character with a red shirt, blue face, and a black mask, holding their head in a pained expression against a contrasting grey, textured wall.&#10;&#10;AI 生成コンテンツは誤りを含む可能性があります。">
            <a:extLst>
              <a:ext uri="{FF2B5EF4-FFF2-40B4-BE49-F238E27FC236}">
                <a16:creationId xmlns:a16="http://schemas.microsoft.com/office/drawing/2014/main" id="{4709BB14-7A38-0507-54BA-990CD7709E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5973" y="2950720"/>
            <a:ext cx="995573" cy="1063726"/>
          </a:xfrm>
          <a:prstGeom prst="rect">
            <a:avLst/>
          </a:prstGeom>
          <a:effectLst>
            <a:glow rad="63500">
              <a:schemeClr val="bg1">
                <a:alpha val="88000"/>
              </a:schemeClr>
            </a:glow>
          </a:effectLst>
        </p:spPr>
      </p:pic>
      <p:pic>
        <p:nvPicPr>
          <p:cNvPr id="115" name="図 114" descr="The image depicts a cartoon character with a red shirt, wearing a hood and holding a wet hand, sugges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3A14DF1B-C304-12DB-50AC-7BA974B6F6B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899062" y="4432077"/>
            <a:ext cx="577960" cy="781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