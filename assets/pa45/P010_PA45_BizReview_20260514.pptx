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79" r:id="rId2"/>
    <p:sldId id="285" r:id="rId3"/>
    <p:sldId id="259" r:id="rId4"/>
    <p:sldId id="257" r:id="rId5"/>
    <p:sldId id="256" r:id="rId6"/>
    <p:sldId id="271" r:id="rId7"/>
    <p:sldId id="261" r:id="rId8"/>
    <p:sldId id="280" r:id="rId9"/>
    <p:sldId id="291" r:id="rId10"/>
    <p:sldId id="289" r:id="rId11"/>
    <p:sldId id="290" r:id="rId12"/>
    <p:sldId id="286" r:id="rId13"/>
    <p:sldId id="287" r:id="rId14"/>
    <p:sldId id="288" r:id="rId15"/>
    <p:sldId id="284" r:id="rId16"/>
    <p:sldId id="272" r:id="rId17"/>
    <p:sldId id="268" r:id="rId18"/>
    <p:sldId id="269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F58AFA-D1AA-4A9A-9800-8FBA641FEB0E}" v="1" dt="2026-04-28T05:42:15.0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10" d="100"/>
          <a:sy n="110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6/11/relationships/changesInfo" Target="changesInfos/changesInfo1.xml"/><Relationship Id="rId2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28T05:44:53.299" v="713" actId="14100"/>
      <pc:docMkLst>
        <pc:docMk/>
      </pc:docMkLst>
      <pc:sldChg chg="modSp mod">
        <pc:chgData name="Ueda Isamu" userId="35289799e0376f2e" providerId="LiveId" clId="{DD31E282-B62B-4911-91B6-43B1B98908F9}" dt="2026-04-28T05:44:19.288" v="709" actId="1076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28T05:43:48.753" v="697" actId="14100"/>
          <ac:spMkLst>
            <pc:docMk/>
            <pc:sldMk cId="0" sldId="268"/>
            <ac:spMk id="8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23.458" v="686" actId="14100"/>
          <ac:spMkLst>
            <pc:docMk/>
            <pc:sldMk cId="0" sldId="268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1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0.382" v="705" actId="107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41.371" v="694" actId="1076"/>
          <ac:spMkLst>
            <pc:docMk/>
            <pc:sldMk cId="0" sldId="268"/>
            <ac:spMk id="1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7.038" v="708" actId="1076"/>
          <ac:spMkLst>
            <pc:docMk/>
            <pc:sldMk cId="0" sldId="268"/>
            <ac:spMk id="1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9.288" v="709" actId="1076"/>
          <ac:spMkLst>
            <pc:docMk/>
            <pc:sldMk cId="0" sldId="268"/>
            <ac:spMk id="2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2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3.850" v="707" actId="1076"/>
          <ac:spMkLst>
            <pc:docMk/>
            <pc:sldMk cId="0" sldId="268"/>
            <ac:spMk id="2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7.940" v="702" actId="14100"/>
          <ac:spMkLst>
            <pc:docMk/>
            <pc:sldMk cId="0" sldId="268"/>
            <ac:spMk id="3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1.722" v="698" actId="1076"/>
          <ac:spMkLst>
            <pc:docMk/>
            <pc:sldMk cId="0" sldId="268"/>
            <ac:spMk id="3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32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2.771" v="706" actId="1076"/>
          <ac:spMkLst>
            <pc:docMk/>
            <pc:sldMk cId="0" sldId="268"/>
            <ac:spMk id="33" creationId="{00000000-0000-0000-0000-000000000000}"/>
          </ac:spMkLst>
        </pc:spChg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3:41.371" v="694" actId="1076"/>
          <ac:picMkLst>
            <pc:docMk/>
            <pc:sldMk cId="0" sldId="268"/>
            <ac:picMk id="18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29.094" v="711" actId="1076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28T05:44:29.094" v="711" actId="1076"/>
          <ac:spMkLst>
            <pc:docMk/>
            <pc:sldMk cId="0" sldId="269"/>
            <ac:spMk id="15" creationId="{59D5E270-E6AD-E457-0DD1-D6D69BCDC2F3}"/>
          </ac:spMkLst>
        </pc:spChg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4:26.522" v="710" actId="14100"/>
          <ac:picMkLst>
            <pc:docMk/>
            <pc:sldMk cId="0" sldId="269"/>
            <ac:picMk id="11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40.569" v="712" actId="2057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28T05:44:40.569" v="712" actId="2057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mod">
        <pc:chgData name="Ueda Isamu" userId="35289799e0376f2e" providerId="LiveId" clId="{DD31E282-B62B-4911-91B6-43B1B98908F9}" dt="2026-04-28T05:44:53.299" v="713" actId="14100"/>
        <pc:sldMkLst>
          <pc:docMk/>
          <pc:sldMk cId="0" sldId="280"/>
        </pc:sldMkLst>
        <pc:spChg chg="mod">
          <ac:chgData name="Ueda Isamu" userId="35289799e0376f2e" providerId="LiveId" clId="{DD31E282-B62B-4911-91B6-43B1B98908F9}" dt="2026-04-28T05:41:40.549" v="656" actId="962"/>
          <ac:spMkLst>
            <pc:docMk/>
            <pc:sldMk cId="0" sldId="280"/>
            <ac:spMk id="13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53.299" v="713" actId="14100"/>
          <ac:spMkLst>
            <pc:docMk/>
            <pc:sldMk cId="0" sldId="280"/>
            <ac:spMk id="44" creationId="{F9B91B76-7920-EE96-CB51-D8B32827C982}"/>
          </ac:spMkLst>
        </pc:spChg>
        <pc:spChg chg="mod">
          <ac:chgData name="Ueda Isamu" userId="35289799e0376f2e" providerId="LiveId" clId="{DD31E282-B62B-4911-91B6-43B1B98908F9}" dt="2026-04-28T05:40:39.439" v="649" actId="20577"/>
          <ac:spMkLst>
            <pc:docMk/>
            <pc:sldMk cId="0" sldId="280"/>
            <ac:spMk id="51" creationId="{F34FF253-528E-97DF-BF89-4A55B2E7EBC4}"/>
          </ac:spMkLst>
        </pc:spChg>
        <pc:picChg chg="del">
          <ac:chgData name="Ueda Isamu" userId="35289799e0376f2e" providerId="LiveId" clId="{DD31E282-B62B-4911-91B6-43B1B98908F9}" dt="2026-04-28T05:40:34.040" v="647" actId="478"/>
          <ac:picMkLst>
            <pc:docMk/>
            <pc:sldMk cId="0" sldId="280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28T05:41:40.549" v="655" actId="27614"/>
          <ac:picMkLst>
            <pc:docMk/>
            <pc:sldMk cId="0" sldId="280"/>
            <ac:picMk id="12" creationId="{3E6630DE-036E-A137-BB8D-3B6889FA8E99}"/>
          </ac:picMkLst>
        </pc:picChg>
        <pc:picChg chg="add mod">
          <ac:chgData name="Ueda Isamu" userId="35289799e0376f2e" providerId="LiveId" clId="{DD31E282-B62B-4911-91B6-43B1B98908F9}" dt="2026-04-28T05:42:04.299" v="664" actId="14100"/>
          <ac:picMkLst>
            <pc:docMk/>
            <pc:sldMk cId="0" sldId="280"/>
            <ac:picMk id="15" creationId="{0A496CAA-10CA-2625-8307-AD86EA5E849F}"/>
          </ac:picMkLst>
        </pc:picChg>
        <pc:picChg chg="del">
          <ac:chgData name="Ueda Isamu" userId="35289799e0376f2e" providerId="LiveId" clId="{DD31E282-B62B-4911-91B6-43B1B98908F9}" dt="2026-04-28T05:40:34.591" v="648" actId="478"/>
          <ac:picMkLst>
            <pc:docMk/>
            <pc:sldMk cId="0" sldId="280"/>
            <ac:picMk id="43" creationId="{C2A29B6F-3C93-A1C3-76A2-A2F9DE2BAF70}"/>
          </ac:picMkLst>
        </pc:picChg>
      </pc:sldChg>
      <pc:sldChg chg="addSp delSp modSp add del mod">
        <pc:chgData name="Ueda Isamu" userId="35289799e0376f2e" providerId="LiveId" clId="{DD31E282-B62B-4911-91B6-43B1B98908F9}" dt="2026-04-28T05:43:04.861" v="683" actId="47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</pc:sldChg>
      <pc:sldChg chg="addSp delSp modSp add mod ord">
        <pc:chgData name="Ueda Isamu" userId="35289799e0376f2e" providerId="LiveId" clId="{DD31E282-B62B-4911-91B6-43B1B98908F9}" dt="2026-04-28T05:43:02.947" v="682" actId="27614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 ord">
          <ac:chgData name="Ueda Isamu" userId="35289799e0376f2e" providerId="LiveId" clId="{DD31E282-B62B-4911-91B6-43B1B98908F9}" dt="2026-04-28T05:42:28.090" v="672" actId="14100"/>
          <ac:spMkLst>
            <pc:docMk/>
            <pc:sldMk cId="3861659691" sldId="282"/>
            <ac:spMk id="10" creationId="{5E06D86B-F8D9-20E7-3D67-0EF3882034F2}"/>
          </ac:spMkLst>
        </pc:spChg>
        <pc:spChg chg="add del mod">
          <ac:chgData name="Ueda Isamu" userId="35289799e0376f2e" providerId="LiveId" clId="{DD31E282-B62B-4911-91B6-43B1B98908F9}" dt="2026-04-28T05:42:30.118" v="675" actId="478"/>
          <ac:spMkLst>
            <pc:docMk/>
            <pc:sldMk cId="3861659691" sldId="282"/>
            <ac:spMk id="12" creationId="{B61745D9-8D46-A514-CF17-682EE8BDCFC1}"/>
          </ac:spMkLst>
        </pc:spChg>
        <pc:picChg chg="del">
          <ac:chgData name="Ueda Isamu" userId="35289799e0376f2e" providerId="LiveId" clId="{DD31E282-B62B-4911-91B6-43B1B98908F9}" dt="2026-04-28T05:40:48.240" v="650" actId="478"/>
          <ac:picMkLst>
            <pc:docMk/>
            <pc:sldMk cId="3861659691" sldId="282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28T05:40:48.724" v="651" actId="478"/>
          <ac:picMkLst>
            <pc:docMk/>
            <pc:sldMk cId="3861659691" sldId="282"/>
            <ac:picMk id="14" creationId="{A872EEC3-0079-B857-A352-13B0525469F2}"/>
          </ac:picMkLst>
        </pc:picChg>
        <pc:picChg chg="add mod">
          <ac:chgData name="Ueda Isamu" userId="35289799e0376f2e" providerId="LiveId" clId="{DD31E282-B62B-4911-91B6-43B1B98908F9}" dt="2026-04-28T05:42:18.290" v="668" actId="1076"/>
          <ac:picMkLst>
            <pc:docMk/>
            <pc:sldMk cId="3861659691" sldId="282"/>
            <ac:picMk id="15" creationId="{35AE861C-8197-5C83-2921-F09023E68B00}"/>
          </ac:picMkLst>
        </pc:picChg>
        <pc:picChg chg="del mod">
          <ac:chgData name="Ueda Isamu" userId="35289799e0376f2e" providerId="LiveId" clId="{DD31E282-B62B-4911-91B6-43B1B98908F9}" dt="2026-04-28T05:42:29.623" v="673" actId="478"/>
          <ac:picMkLst>
            <pc:docMk/>
            <pc:sldMk cId="3861659691" sldId="282"/>
            <ac:picMk id="16" creationId="{7B3B07E8-D558-44C5-F536-149592DC9066}"/>
          </ac:picMkLst>
        </pc:picChg>
        <pc:picChg chg="del mod">
          <ac:chgData name="Ueda Isamu" userId="35289799e0376f2e" providerId="LiveId" clId="{DD31E282-B62B-4911-91B6-43B1B98908F9}" dt="2026-04-28T05:42:30.626" v="676" actId="478"/>
          <ac:picMkLst>
            <pc:docMk/>
            <pc:sldMk cId="3861659691" sldId="282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28T05:43:02.947" v="682" actId="27614"/>
          <ac:picMkLst>
            <pc:docMk/>
            <pc:sldMk cId="3861659691" sldId="282"/>
            <ac:picMk id="19" creationId="{80851CBC-6CCA-A916-ED75-20FD89A52C05}"/>
          </ac:picMkLst>
        </pc:picChg>
      </pc:sldChg>
      <pc:sldChg chg="addSp delSp modSp add del mod">
        <pc:chgData name="Ueda Isamu" userId="35289799e0376f2e" providerId="LiveId" clId="{DD31E282-B62B-4911-91B6-43B1B98908F9}" dt="2026-04-28T05:43:06.594" v="684" actId="47"/>
        <pc:sldMkLst>
          <pc:docMk/>
          <pc:sldMk cId="2686875315" sldId="283"/>
        </pc:sldMkLst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</pc:sldChg>
      <pc:sldChg chg="addSp delSp modSp add mod">
        <pc:chgData name="Ueda Isamu" userId="35289799e0376f2e" providerId="LiveId" clId="{DD31E282-B62B-4911-91B6-43B1B98908F9}" dt="2026-04-28T05:43:12.100" v="685" actId="478"/>
        <pc:sldMkLst>
          <pc:docMk/>
          <pc:sldMk cId="1541831861" sldId="284"/>
        </pc:sldMkLst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picChg chg="del">
          <ac:chgData name="Ueda Isamu" userId="35289799e0376f2e" providerId="LiveId" clId="{DD31E282-B62B-4911-91B6-43B1B98908F9}" dt="2026-04-28T05:43:12.100" v="685" actId="478"/>
          <ac:picMkLst>
            <pc:docMk/>
            <pc:sldMk cId="1541831861" sldId="284"/>
            <ac:picMk id="50" creationId="{003A3C3D-15E3-1F1A-D918-AB2472E8059D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【オープニング】</a:t>
            </a:r>
          </a:p>
          <a:p>
            <a:r>
              <a:rPr sz="1300"/>
              <a:t>第5回へようこそ！今日はついに「総復習回」です。</a:t>
            </a:r>
          </a:p>
          <a:p>
            <a:endParaRPr sz="1300"/>
          </a:p>
          <a:p>
            <a:r>
              <a:rPr sz="1300"/>
              <a:t>第1〜4回で学んだ4つのアクション、</a:t>
            </a:r>
          </a:p>
          <a:p>
            <a:r>
              <a:rPr sz="1300"/>
              <a:t>Initialize variable・Set variable・Condition・Apply to each、</a:t>
            </a:r>
          </a:p>
          <a:p>
            <a:r>
              <a:rPr sz="1300"/>
              <a:t>今日はこれを全部つなげて1本のフローを作ります。</a:t>
            </a:r>
          </a:p>
          <a:p>
            <a:endParaRPr sz="1300"/>
          </a:p>
          <a:p>
            <a:r>
              <a:rPr sz="1300"/>
              <a:t>料理に例えると——</a:t>
            </a:r>
          </a:p>
          <a:p>
            <a:r>
              <a:rPr sz="1300"/>
              <a:t>バラバラに覚えた食材を、今日初めて一つの料理として仕上げる日です。</a:t>
            </a:r>
          </a:p>
          <a:p>
            <a:r>
              <a:rPr sz="1300"/>
              <a:t>今日が終わると「あ、自動化ってこういうことか！」という感覚がつかめると思います。</a:t>
            </a:r>
          </a:p>
          <a:p>
            <a:endParaRPr sz="1300"/>
          </a:p>
          <a:p>
            <a:r>
              <a:rPr sz="1300"/>
              <a:t>それでは早速いきましょう！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【PA45の紹介】</a:t>
            </a:r>
          </a:p>
          <a:p>
            <a:r>
              <a:rPr sz="1300"/>
              <a:t>PA45は毎週木曜夜に開いている、45分完結のPower Automateハンズオン勉強会です。</a:t>
            </a:r>
          </a:p>
          <a:p>
            <a:endParaRPr sz="1300"/>
          </a:p>
          <a:p>
            <a:r>
              <a:rPr sz="1300"/>
              <a:t>3つの特徴をおさらいします。</a:t>
            </a:r>
          </a:p>
          <a:p>
            <a:r>
              <a:rPr sz="1300"/>
              <a:t>・45分完結：長い研修は不要。要点だけ凝縮しています。</a:t>
            </a:r>
          </a:p>
          <a:p>
            <a:r>
              <a:rPr sz="1300"/>
              <a:t>・実践型：座学ではなく、今日この場で実際に手を動かします。</a:t>
            </a:r>
          </a:p>
          <a:p>
            <a:r>
              <a:rPr sz="1300"/>
              <a:t>・一緒に作る：ゼロから一緒に作ることで、仕組みを体感で理解できます。</a:t>
            </a:r>
          </a:p>
          <a:p>
            <a:endParaRPr sz="1300"/>
          </a:p>
          <a:p>
            <a:r>
              <a:rPr sz="1300"/>
              <a:t>プログラミング経験はまったく必要ありません。</a:t>
            </a:r>
          </a:p>
          <a:p>
            <a:r>
              <a:rPr sz="1300"/>
              <a:t>むしろ「全然知らない」という方が一番伸びます。安心して進めてください。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【ルールの説明】</a:t>
            </a:r>
          </a:p>
          <a:p>
            <a:r>
              <a:rPr sz="1300"/>
              <a:t>ルールはシンプルです。</a:t>
            </a:r>
          </a:p>
          <a:p>
            <a:endParaRPr sz="1300"/>
          </a:p>
          <a:p>
            <a:r>
              <a:rPr sz="1300"/>
              <a:t>📌 学び合うために</a:t>
            </a:r>
          </a:p>
          <a:p>
            <a:r>
              <a:rPr sz="1300"/>
              <a:t>・誹謗中傷・不適切な発言はNG。みんなで気持ちよく学びましょう。</a:t>
            </a:r>
          </a:p>
          <a:p>
            <a:r>
              <a:rPr sz="1300"/>
              <a:t>・質問はチャットへ。「できた！」の声も大歓迎です。</a:t>
            </a:r>
          </a:p>
          <a:p>
            <a:endParaRPr sz="1300"/>
          </a:p>
          <a:p>
            <a:r>
              <a:rPr sz="1300"/>
              <a:t>📌 録画について</a:t>
            </a:r>
          </a:p>
          <a:p>
            <a:r>
              <a:rPr sz="1300"/>
              <a:t>後日YouTubeで公開予定です。表が映る場合があります。</a:t>
            </a:r>
          </a:p>
          <a:p>
            <a:r>
              <a:rPr sz="1300"/>
              <a:t>匿名参加の方はご安心ください（名前非表示にできます）。</a:t>
            </a:r>
          </a:p>
          <a:p>
            <a:endParaRPr sz="1300"/>
          </a:p>
          <a:p>
            <a:r>
              <a:rPr sz="1300"/>
              <a:t>📌 アウトプットで学びが定着！</a:t>
            </a:r>
          </a:p>
          <a:p>
            <a:r>
              <a:rPr sz="1300"/>
              <a:t>・#PA45 でXに投稿してみましょう。</a:t>
            </a:r>
          </a:p>
          <a:p>
            <a:r>
              <a:rPr sz="1300"/>
              <a:t>・「作ったフロー」「気づき」など何でもOKです。</a:t>
            </a:r>
          </a:p>
          <a:p>
            <a:endParaRPr sz="1300"/>
          </a:p>
          <a:p>
            <a:r>
              <a:rPr sz="1300"/>
              <a:t>初心者大歓迎の講座なので、分からなくて当然。</a:t>
            </a:r>
          </a:p>
          <a:p>
            <a:r>
              <a:rPr sz="1300"/>
              <a:t>遠慮なく「？」を投げてください！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【今日のゴール説明】</a:t>
            </a:r>
          </a:p>
          <a:p>
            <a:r>
              <a:rPr sz="1300"/>
              <a:t>今日やることは3つだけです。</a:t>
            </a:r>
          </a:p>
          <a:p>
            <a:endParaRPr sz="1300"/>
          </a:p>
          <a:p>
            <a:r>
              <a:rPr sz="1300"/>
              <a:t>① 4つのアクションの役割を整理する</a:t>
            </a:r>
          </a:p>
          <a:p>
            <a:r>
              <a:rPr sz="1300"/>
              <a:t>  Initialize variable・Set variable・Condition・Apply to each、</a:t>
            </a:r>
          </a:p>
          <a:p>
            <a:r>
              <a:rPr sz="1300"/>
              <a:t>  それぞれが何をするものか、ざっと復習します。</a:t>
            </a:r>
          </a:p>
          <a:p>
            <a:endParaRPr sz="1300"/>
          </a:p>
          <a:p>
            <a:r>
              <a:rPr sz="1300"/>
              <a:t>② フローの全体像を組み立てる</a:t>
            </a:r>
          </a:p>
          <a:p>
            <a:r>
              <a:rPr sz="1300"/>
              <a:t>  4つのアクションをどうつなぐか、流れをステップで理解します。</a:t>
            </a:r>
          </a:p>
          <a:p>
            <a:endParaRPr sz="1300"/>
          </a:p>
          <a:p>
            <a:r>
              <a:rPr sz="1300"/>
              <a:t>③ 組み合わせフローを実際に動かす</a:t>
            </a:r>
          </a:p>
          <a:p>
            <a:r>
              <a:rPr sz="1300"/>
              <a:t>  未対応件数をカウントするフローを完成させます。</a:t>
            </a:r>
          </a:p>
          <a:p>
            <a:endParaRPr sz="1300"/>
          </a:p>
          <a:p>
            <a:r>
              <a:rPr sz="1300"/>
              <a:t>「全部分からなくて当然」という前提で進めます。</a:t>
            </a:r>
          </a:p>
          <a:p>
            <a:r>
              <a:rPr sz="1300"/>
              <a:t>「あ、こういうことか」が1つでも増えれば今日は大成功です！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【今日の核心・先出し】</a:t>
            </a:r>
          </a:p>
          <a:p>
            <a:r>
              <a:rPr sz="1300"/>
              <a:t>結論から先にお伝えします。今日の最重要ポイントは3つです。</a:t>
            </a:r>
          </a:p>
          <a:p>
            <a:endParaRPr sz="1300"/>
          </a:p>
          <a:p>
            <a:r>
              <a:rPr sz="1300"/>
              <a:t>① アクションは組み合わせて初めて「本当の自動化」になる</a:t>
            </a:r>
          </a:p>
          <a:p>
            <a:r>
              <a:rPr sz="1300"/>
              <a:t>  変数・繰り返し・条件分岐、それぞれ単体でも使えますが、</a:t>
            </a:r>
          </a:p>
          <a:p>
            <a:r>
              <a:rPr sz="1300"/>
              <a:t>  組み合わさったとき、複雑な業務を1本のフローで自動化できます。</a:t>
            </a:r>
          </a:p>
          <a:p>
            <a:r>
              <a:rPr sz="1300"/>
              <a:t>  「これ自動化できる！」の判断基準が今日つかめます。</a:t>
            </a:r>
          </a:p>
          <a:p>
            <a:endParaRPr sz="1300"/>
          </a:p>
          <a:p>
            <a:r>
              <a:rPr sz="1300"/>
              <a:t>② 変数はフロー全体で使えるメモ帳</a:t>
            </a:r>
          </a:p>
          <a:p>
            <a:r>
              <a:rPr sz="1300"/>
              <a:t>  Apply to eachのループの中でも外でも使えます。</a:t>
            </a:r>
          </a:p>
          <a:p>
            <a:r>
              <a:rPr sz="1300"/>
              <a:t>  「今いくつカウントしたか」を覚えておく役割です。</a:t>
            </a:r>
          </a:p>
          <a:p>
            <a:endParaRPr sz="1300"/>
          </a:p>
          <a:p>
            <a:r>
              <a:rPr sz="1300"/>
              <a:t>③ Apply to eachの中にConditionを入れると「絞り込み繰り返し」ができる</a:t>
            </a:r>
          </a:p>
          <a:p>
            <a:r>
              <a:rPr sz="1300"/>
              <a:t>  リストを1件ずつ見ながら、条件に合うものだけ処理する、</a:t>
            </a:r>
          </a:p>
          <a:p>
            <a:r>
              <a:rPr sz="1300"/>
              <a:t>  この組み合わせが実務で超よく使うパターンです。</a:t>
            </a:r>
          </a:p>
          <a:p>
            <a:endParaRPr sz="1300"/>
          </a:p>
          <a:p>
            <a:r>
              <a:rPr sz="1300"/>
              <a:t>この3つを体感するのが今日のミッションです！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【実務への応用】</a:t>
            </a:r>
          </a:p>
          <a:p>
            <a:r>
              <a:rPr sz="1300"/>
              <a:t>今日覚えたパターン——</a:t>
            </a:r>
          </a:p>
          <a:p>
            <a:r>
              <a:rPr sz="1300"/>
              <a:t>Apply to each ＋ Condition ＋ 変数の組み合わせは、</a:t>
            </a:r>
          </a:p>
          <a:p>
            <a:r>
              <a:rPr sz="1300"/>
              <a:t>実はたくさんの実務に使えます。</a:t>
            </a:r>
          </a:p>
          <a:p>
            <a:endParaRPr sz="1300"/>
          </a:p>
          <a:p>
            <a:r>
              <a:rPr sz="1300"/>
              <a:t>3つの例を見てください。</a:t>
            </a:r>
          </a:p>
          <a:p>
            <a:endParaRPr sz="1300"/>
          </a:p>
          <a:p>
            <a:r>
              <a:rPr sz="1300"/>
              <a:t>📊 勤怠集計</a:t>
            </a:r>
          </a:p>
          <a:p>
            <a:r>
              <a:rPr sz="1300"/>
              <a:t>  出勤リストをループして、Conditionで出勤判定、Set variableでカウント。</a:t>
            </a:r>
          </a:p>
          <a:p>
            <a:r>
              <a:rPr sz="1300"/>
              <a:t>  今日作ったフローとほぼ同じ構造です。</a:t>
            </a:r>
          </a:p>
          <a:p>
            <a:endParaRPr sz="1300"/>
          </a:p>
          <a:p>
            <a:r>
              <a:rPr sz="1300"/>
              <a:t>📋 申請振り分け</a:t>
            </a:r>
          </a:p>
          <a:p>
            <a:r>
              <a:rPr sz="1300"/>
              <a:t>  申請リストをループして、Conditionでカテゴリ判定、変数で合計を加算。</a:t>
            </a:r>
          </a:p>
          <a:p>
            <a:endParaRPr sz="1300"/>
          </a:p>
          <a:p>
            <a:r>
              <a:rPr sz="1300"/>
              <a:t>📝 テスト結果集計</a:t>
            </a:r>
          </a:p>
          <a:p>
            <a:r>
              <a:rPr sz="1300"/>
              <a:t>  点数リストをループして、Conditionで合否判定、合格者数をカウント。</a:t>
            </a:r>
          </a:p>
          <a:p>
            <a:endParaRPr sz="1300"/>
          </a:p>
          <a:p>
            <a:r>
              <a:rPr sz="1300"/>
              <a:t>全部「同じ型」です。</a:t>
            </a:r>
          </a:p>
          <a:p>
            <a:r>
              <a:rPr sz="1300"/>
              <a:t>今日作ったフローが「テンプレート」になります。</a:t>
            </a:r>
          </a:p>
          <a:p>
            <a:r>
              <a:rPr sz="1300"/>
              <a:t>中身の条件と変数を変えるだけで、様々な業務に応用できます。</a:t>
            </a:r>
          </a:p>
          <a:p>
            <a:endParaRPr sz="1300"/>
          </a:p>
          <a:p>
            <a:r>
              <a:rPr sz="1300"/>
              <a:t>「これ、職場で使えそう」と思ったものはありましたか？</a:t>
            </a:r>
          </a:p>
          <a:p>
            <a:r>
              <a:rPr sz="1300"/>
              <a:t>ぜひ#PA45でシェアしてください！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【クロージング】</a:t>
            </a:r>
          </a:p>
          <a:p>
            <a:r>
              <a:rPr sz="1300"/>
              <a:t>お疲れさまでした！今日も一緒に作り切りましたね。</a:t>
            </a:r>
          </a:p>
          <a:p>
            <a:endParaRPr sz="1300"/>
          </a:p>
          <a:p>
            <a:r>
              <a:rPr sz="1300"/>
              <a:t>今日のおさらいを30秒で——</a:t>
            </a:r>
          </a:p>
          <a:p>
            <a:r>
              <a:rPr sz="1300"/>
              <a:t>・Initialize variable：最初に変数を0でリセット（空の箱を用意）</a:t>
            </a:r>
          </a:p>
          <a:p>
            <a:r>
              <a:rPr sz="1300"/>
              <a:t>・Apply to each：Excelを1行ずつ処理（コンベアベルト）</a:t>
            </a:r>
          </a:p>
          <a:p>
            <a:r>
              <a:rPr sz="1300"/>
              <a:t>・Condition：未対応かどうかを判定（条件おじさん）</a:t>
            </a:r>
          </a:p>
          <a:p>
            <a:r>
              <a:rPr sz="1300"/>
              <a:t>・Set variable：件数を+1してカウントアップ</a:t>
            </a:r>
          </a:p>
          <a:p>
            <a:endParaRPr sz="1300"/>
          </a:p>
          <a:p>
            <a:r>
              <a:rPr sz="1300"/>
              <a:t>この4つが合わさって「自動集計フロー」になりました。</a:t>
            </a:r>
          </a:p>
          <a:p>
            <a:endParaRPr sz="1300"/>
          </a:p>
          <a:p>
            <a:r>
              <a:rPr sz="1300"/>
              <a:t>最後にアンケートへのご協力をお願いします！</a:t>
            </a:r>
          </a:p>
          <a:p>
            <a:r>
              <a:rPr sz="1300"/>
              <a:t>チャット欄にURLを貼ります。1分で終わります。</a:t>
            </a:r>
          </a:p>
          <a:p>
            <a:r>
              <a:rPr sz="1300"/>
              <a:t>メールアドレスを入力してくださった方にはPA45バッジをXのDMでお届けします。</a:t>
            </a:r>
          </a:p>
          <a:p>
            <a:endParaRPr sz="1300"/>
          </a:p>
          <a:p>
            <a:r>
              <a:rPr sz="1300"/>
              <a:t>今日の気づきや感想を #PA45 でポストしてもらえると嬉しいです。</a:t>
            </a:r>
          </a:p>
          <a:p>
            <a:r>
              <a:rPr sz="1300"/>
              <a:t>来週もお待ちしています！ありがとうございました！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microsoft.com/office/2007/relationships/hdphoto" Target="../media/hdphoto1.wdp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image" Target="../media/image28.png"/><Relationship Id="rId16" Type="http://schemas.openxmlformats.org/officeDocument/2006/relationships/image" Target="../media/image29.png"/><Relationship Id="rId17" Type="http://schemas.openxmlformats.org/officeDocument/2006/relationships/image" Target="../media/image30.png"/><Relationship Id="rId18" Type="http://schemas.openxmlformats.org/officeDocument/2006/relationships/image" Target="../media/image31.png"/><Relationship Id="rId19" Type="http://schemas.openxmlformats.org/officeDocument/2006/relationships/image" Target="../media/image32.png"/><Relationship Id="rId20" Type="http://schemas.openxmlformats.org/officeDocument/2006/relationships/image" Target="../media/image33.png"/><Relationship Id="rId21" Type="http://schemas.openxmlformats.org/officeDocument/2006/relationships/image" Target="../media/image34.png"/><Relationship Id="rId22" Type="http://schemas.openxmlformats.org/officeDocument/2006/relationships/image" Target="../media/image35.png"/><Relationship Id="rId23" Type="http://schemas.openxmlformats.org/officeDocument/2006/relationships/image" Target="../media/image36.png"/><Relationship Id="rId24" Type="http://schemas.openxmlformats.org/officeDocument/2006/relationships/image" Target="../media/image37.png"/><Relationship Id="rId25" Type="http://schemas.openxmlformats.org/officeDocument/2006/relationships/image" Target="../media/image38.png"/><Relationship Id="rId26" Type="http://schemas.openxmlformats.org/officeDocument/2006/relationships/image" Target="../media/image39.png"/><Relationship Id="rId27" Type="http://schemas.openxmlformats.org/officeDocument/2006/relationships/image" Target="../media/image40.png"/><Relationship Id="rId28" Type="http://schemas.openxmlformats.org/officeDocument/2006/relationships/image" Target="../media/image41.png"/><Relationship Id="rId29" Type="http://schemas.openxmlformats.org/officeDocument/2006/relationships/image" Target="../media/image42.png"/><Relationship Id="rId30" Type="http://schemas.openxmlformats.org/officeDocument/2006/relationships/image" Target="../media/image43.png"/><Relationship Id="rId31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Relationship Id="rId10" Type="http://schemas.openxmlformats.org/officeDocument/2006/relationships/image" Target="../media/image51.png"/><Relationship Id="rId11" Type="http://schemas.openxmlformats.org/officeDocument/2006/relationships/image" Target="../media/image52.png"/><Relationship Id="rId12" Type="http://schemas.openxmlformats.org/officeDocument/2006/relationships/image" Target="../media/image53.png"/><Relationship Id="rId13" Type="http://schemas.openxmlformats.org/officeDocument/2006/relationships/image" Target="../media/image54.png"/><Relationship Id="rId14" Type="http://schemas.openxmlformats.org/officeDocument/2006/relationships/image" Target="../media/image55.png"/><Relationship Id="rId15" Type="http://schemas.openxmlformats.org/officeDocument/2006/relationships/image" Target="../media/image56.png"/><Relationship Id="rId16" Type="http://schemas.openxmlformats.org/officeDocument/2006/relationships/image" Target="../media/image57.png"/><Relationship Id="rId17" Type="http://schemas.openxmlformats.org/officeDocument/2006/relationships/image" Target="../media/image58.png"/><Relationship Id="rId18" Type="http://schemas.openxmlformats.org/officeDocument/2006/relationships/image" Target="../media/image59.png"/><Relationship Id="rId19" Type="http://schemas.openxmlformats.org/officeDocument/2006/relationships/image" Target="../media/image60.png"/><Relationship Id="rId20" Type="http://schemas.microsoft.com/office/2007/relationships/hdphoto" Target="../media/hdphoto1.wdp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Relationship Id="rId8" Type="http://schemas.openxmlformats.org/officeDocument/2006/relationships/image" Target="../media/image66.png"/><Relationship Id="rId9" Type="http://schemas.openxmlformats.org/officeDocument/2006/relationships/image" Target="../media/image67.png"/><Relationship Id="rId10" Type="http://schemas.openxmlformats.org/officeDocument/2006/relationships/image" Target="../media/image68.png"/><Relationship Id="rId11" Type="http://schemas.openxmlformats.org/officeDocument/2006/relationships/image" Target="../media/image69.png"/><Relationship Id="rId12" Type="http://schemas.openxmlformats.org/officeDocument/2006/relationships/image" Target="../media/image70.png"/><Relationship Id="rId1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forms.cloud.microsoft/r/RpevgiKG2v" TargetMode="External"/><Relationship Id="rId3" Type="http://schemas.openxmlformats.org/officeDocument/2006/relationships/image" Target="../media/image7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image" Target="../media/image43.png"/><Relationship Id="rId7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89.png"/><Relationship Id="rId5" Type="http://schemas.openxmlformats.org/officeDocument/2006/relationships/image" Target="../media/image7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350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 UI"/>
              </a:rPr>
              <a:t>PA45 — Power Automate 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34800" y="0"/>
            <a:ext cx="350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r"/>
            <a:r>
              <a:rPr sz="1400" b="0">
                <a:solidFill>
                  <a:srgbClr val="C7D8FF"/>
                </a:solidFill>
                <a:latin typeface="Yu Gothic UI"/>
              </a:rPr>
              <a:t>第10回 / Vol.10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100000"/>
            <a:ext cx="1219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200" b="0">
                <a:solidFill>
                  <a:srgbClr val="475569"/>
                </a:solidFill>
                <a:latin typeface="Yu Gothic UI"/>
              </a:rPr>
              <a:t>まもなく開始します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700000"/>
            <a:ext cx="12192000" cy="17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9600" b="1">
                <a:solidFill>
                  <a:srgbClr val="1E3A8A"/>
                </a:solidFill>
                <a:latin typeface="Yu Gothic UI"/>
              </a:rPr>
              <a:t>20:15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700000"/>
            <a:ext cx="12192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600" b="1">
                <a:solidFill>
                  <a:srgbClr val="0F172A"/>
                </a:solidFill>
                <a:latin typeface="Yu Gothic UI"/>
              </a:rPr>
              <a:t>第10回｜4つを1本につなぐ総復習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250000"/>
            <a:ext cx="12192000" cy="4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Yu Gothic UI"/>
              </a:rPr>
              <a:t>経費申請の自動化（Forms × SharePoint × 承認 × Teams）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000" y="5300000"/>
            <a:ext cx="3400000" cy="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6000" y="5300000"/>
            <a:ext cx="55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200" b="0">
                <a:solidFill>
                  <a:srgbClr val="1E3A8A"/>
                </a:solidFill>
                <a:latin typeface="Yu Gothic UI"/>
              </a:rPr>
              <a:t>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6000" y="5300000"/>
            <a:ext cx="27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Yu Gothic UI"/>
              </a:rPr>
              <a:t>Power Automate と Teams を</a:t>
            </a:r>
          </a:p>
          <a:p>
            <a:pPr algn="l"/>
            <a:r>
              <a:rPr sz="1000" b="0">
                <a:solidFill>
                  <a:srgbClr val="475569"/>
                </a:solidFill>
                <a:latin typeface="Yu Gothic UI"/>
              </a:rPr>
              <a:t>事前に起動しておくとスムーズ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6000" y="5300000"/>
            <a:ext cx="3400000" cy="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6000" y="5300000"/>
            <a:ext cx="55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200" b="0">
                <a:solidFill>
                  <a:srgbClr val="1E3A8A"/>
                </a:solidFill>
                <a:latin typeface="Yu Gothic UI"/>
              </a:rPr>
              <a:t>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6000" y="5300000"/>
            <a:ext cx="27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Yu Gothic UI"/>
              </a:rPr>
              <a:t>後日YouTubeで</a:t>
            </a:r>
          </a:p>
          <a:p>
            <a:pPr algn="l"/>
            <a:r>
              <a:rPr sz="1000" b="0">
                <a:solidFill>
                  <a:srgbClr val="475569"/>
                </a:solidFill>
                <a:latin typeface="Yu Gothic UI"/>
              </a:rPr>
              <a:t>アーカイブ動画を公開予定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96000" y="5300000"/>
            <a:ext cx="3400000" cy="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6000" y="5300000"/>
            <a:ext cx="55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200" b="0">
                <a:solidFill>
                  <a:srgbClr val="1E3A8A"/>
                </a:solidFill>
                <a:latin typeface="Yu Gothic UI"/>
              </a:rPr>
              <a:t>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76000" y="5300000"/>
            <a:ext cx="27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Yu Gothic UI"/>
              </a:rPr>
              <a:t>Teams表示名がNGの方は</a:t>
            </a:r>
          </a:p>
          <a:p>
            <a:pPr algn="l"/>
            <a:r>
              <a:rPr sz="1000" b="0">
                <a:solidFill>
                  <a:srgbClr val="475569"/>
                </a:solidFill>
                <a:latin typeface="Yu Gothic UI"/>
              </a:rPr>
              <a:t>匿名参加でOKです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6478000"/>
            <a:ext cx="1219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Yu Gothic UI"/>
              </a:rPr>
              <a:t>Power Automate 45  |  Copyright © PA45</a:t>
            </a:r>
          </a:p>
        </p:txBody>
      </p:sp>
    </p:spTree>
    <p:extLst>
      <p:ext uri="{BB962C8B-B14F-4D97-AF65-F5344CB8AC3E}">
        <p14:creationId xmlns:p14="http://schemas.microsoft.com/office/powerpoint/2010/main" val="1581914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A7D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0" tIns="228600"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ハンズオン 事前準備（5分でできます）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966001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333333"/>
                </a:solidFill>
                <a:latin typeface="+mj-ea"/>
                <a:ea typeface="+mj-ea"/>
              </a:rPr>
              <a:t>今回は総復習回。事前にSharePointに「経費申請」リストを作っておくとスムーズです（当日でもOK）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10947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/>
            <a:r>
              <a:rPr sz="2000" b="1">
                <a:solidFill>
                  <a:srgbClr val="2A7DD4"/>
                </a:solidFill>
                <a:latin typeface="+mj-ea"/>
                <a:ea typeface="+mj-ea"/>
              </a:rPr>
              <a:t>STEP 1   SharePointサイトを開く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555555"/>
                </a:solidFill>
                <a:latin typeface="+mj-ea"/>
                <a:ea typeface="+mj-ea"/>
              </a:rPr>
              <a:t>👉 編集権限のあるSharePointサイト（社内サイト・チームサイト等）を1つ用意してください</a:t>
            </a:r>
          </a:p>
          <a:p>
            <a:pPr>
              <a:spcBef>
                <a:spcPts val="400"/>
              </a:spcBef>
            </a:pPr>
            <a:endParaRPr sz="1300" b="1">
              <a:solidFill>
                <a:srgbClr val="555555"/>
              </a:solidFill>
              <a:latin typeface="+mj-ea"/>
              <a:ea typeface="+mj-ea"/>
            </a:endParaRPr>
          </a:p>
          <a:p>
            <a:endParaRPr sz="1300" b="1">
              <a:solidFill>
                <a:srgbClr val="555555"/>
              </a:solidFill>
              <a:latin typeface="+mj-ea"/>
              <a:ea typeface="+mj-ea"/>
            </a:endParaRPr>
          </a:p>
          <a:p>
            <a:endParaRPr sz="1300" b="1">
              <a:solidFill>
                <a:srgbClr val="555555"/>
              </a:solidFill>
              <a:latin typeface="+mj-ea"/>
              <a:ea typeface="+mj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3749039"/>
            <a:ext cx="110947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/>
            <a:r>
              <a:rPr sz="2000" b="1">
                <a:solidFill>
                  <a:srgbClr val="2A7DD4"/>
                </a:solidFill>
                <a:latin typeface="+mj-ea"/>
                <a:ea typeface="+mj-ea"/>
              </a:rPr>
              <a:t>STEP 2   「経費申請」リストを新規作成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333333"/>
                </a:solidFill>
                <a:latin typeface="+mj-ea"/>
                <a:ea typeface="+mj-ea"/>
              </a:rPr>
              <a:t>①  サイト &gt; 新規 &gt; リスト &gt; 空のリストを選択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333333"/>
                </a:solidFill>
                <a:latin typeface="+mj-ea"/>
                <a:ea typeface="+mj-ea"/>
              </a:rPr>
              <a:t>②  名前: 経費申請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333333"/>
                </a:solidFill>
                <a:latin typeface="+mj-ea"/>
                <a:ea typeface="+mj-ea"/>
              </a:rPr>
              <a:t>③  列を3つ追加: Detail（複数行テキスト）／Status（選択肢: 申請中・承認済・却下）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333333"/>
                </a:solidFill>
                <a:latin typeface="+mj-ea"/>
                <a:ea typeface="+mj-ea"/>
              </a:rPr>
              <a:t>④  完了！  当日はこのリストに自動でアイテムが追加されます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915" y="-5028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2"/>
          <p:cNvSpPr/>
          <p:nvPr/>
        </p:nvSpPr>
        <p:spPr>
          <a:xfrm>
            <a:off x="5986150" y="-33783"/>
            <a:ext cx="6096305" cy="6858000"/>
          </a:xfrm>
          <a:prstGeom prst="rect">
            <a:avLst/>
          </a:prstGeom>
          <a:solidFill>
            <a:srgbClr val="EFF6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9753905" y="0"/>
            <a:ext cx="2438705" cy="2438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762805"/>
            <a:ext cx="12191695" cy="152705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4"/>
          <p:cNvSpPr/>
          <p:nvPr/>
        </p:nvSpPr>
        <p:spPr>
          <a:xfrm>
            <a:off x="436031" y="217298"/>
            <a:ext cx="7869289" cy="604873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5"/>
          <p:cNvSpPr/>
          <p:nvPr/>
        </p:nvSpPr>
        <p:spPr>
          <a:xfrm>
            <a:off x="308848" y="427340"/>
            <a:ext cx="7996472" cy="2233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入門講座</a:t>
            </a:r>
            <a:endParaRPr lang="en-US" sz="4400" dirty="0"/>
          </a:p>
        </p:txBody>
      </p:sp>
      <p:sp>
        <p:nvSpPr>
          <p:cNvPr id="10" name="Shape 6"/>
          <p:cNvSpPr/>
          <p:nvPr/>
        </p:nvSpPr>
        <p:spPr>
          <a:xfrm>
            <a:off x="8978012" y="217298"/>
            <a:ext cx="2285093" cy="774651"/>
          </a:xfrm>
          <a:prstGeom prst="roundRect">
            <a:avLst>
              <a:gd name="adj" fmla="val 239808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7"/>
          <p:cNvSpPr/>
          <p:nvPr/>
        </p:nvSpPr>
        <p:spPr>
          <a:xfrm>
            <a:off x="8996224" y="230202"/>
            <a:ext cx="2360005" cy="7772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800" b="1" kern="0" spc="3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Vol.10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684391" y="1363842"/>
            <a:ext cx="11269842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PA45【Forms × SharePoint × 承認 × Teams】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84391" y="2865204"/>
            <a:ext cx="12536294" cy="151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第10回： </a:t>
            </a:r>
          </a:p>
          <a:p>
            <a:pPr marL="0" indent="0" algn="l">
              <a:buNone/>
            </a:pPr>
            <a:r>
              <a:rPr lang="en-US" sz="32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4つを1本につなぐ総復習</a:t>
            </a:r>
          </a:p>
          <a:p>
            <a:pPr marL="0" indent="0" algn="l">
              <a:buNone/>
            </a:pPr>
            <a:r>
              <a:rPr lang="en-US" sz="32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経費申請の自動化を体験しよう</a:t>
            </a:r>
            <a:endParaRPr lang="en-US" sz="3200" dirty="0"/>
          </a:p>
        </p:txBody>
      </p:sp>
      <p:sp>
        <p:nvSpPr>
          <p:cNvPr id="15" name="Shape 11"/>
          <p:cNvSpPr/>
          <p:nvPr/>
        </p:nvSpPr>
        <p:spPr>
          <a:xfrm>
            <a:off x="685800" y="4682893"/>
            <a:ext cx="75895" cy="14666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67105" y="4660782"/>
            <a:ext cx="7929119" cy="285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Theme　Forms → SharePoint → 承認 → Teams｜実務応用の総まとめ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1142999" y="5273596"/>
            <a:ext cx="7795029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Target　Vol.1〜9を一度でも触った方／実務応用を体験したい方</a:t>
            </a:r>
          </a:p>
          <a:p>
            <a:pPr marL="0" indent="0" algn="l">
              <a:buNone/>
            </a:pP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　（はじめての方も、見るだけでOK）</a:t>
            </a:r>
            <a:endParaRPr lang="en-US" dirty="0"/>
          </a:p>
        </p:txBody>
      </p:sp>
      <p:sp>
        <p:nvSpPr>
          <p:cNvPr id="18" name="Text 14"/>
          <p:cNvSpPr txBox="1"/>
          <p:nvPr/>
        </p:nvSpPr>
        <p:spPr>
          <a:xfrm>
            <a:off x="1143000" y="5861812"/>
            <a:ext cx="6572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Time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約</a:t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10分ハンズオン </a:t>
            </a:r>
            <a:endParaRPr lang="en-US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5"/>
          <a:srcRect t="-56" b="-56"/>
          <a:stretch/>
        </p:blipFill>
        <p:spPr>
          <a:xfrm>
            <a:off x="11249193" y="2736665"/>
            <a:ext cx="647395" cy="652882"/>
          </a:xfrm>
          <a:prstGeom prst="rect">
            <a:avLst/>
          </a:prstGeom>
        </p:spPr>
      </p:pic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401898" y="2889370"/>
            <a:ext cx="342900" cy="342900"/>
          </a:xfrm>
          <a:prstGeom prst="rect">
            <a:avLst/>
          </a:prstGeom>
        </p:spPr>
      </p:pic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7"/>
          <a:srcRect t="-7" b="-7"/>
          <a:stretch/>
        </p:blipFill>
        <p:spPr>
          <a:xfrm>
            <a:off x="8226217" y="5376956"/>
            <a:ext cx="609905" cy="652882"/>
          </a:xfrm>
          <a:prstGeom prst="rect">
            <a:avLst/>
          </a:prstGeom>
        </p:spPr>
      </p:pic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8"/>
          <a:srcRect l="-743" r="-743"/>
          <a:stretch/>
        </p:blipFill>
        <p:spPr>
          <a:xfrm>
            <a:off x="8378921" y="5528746"/>
            <a:ext cx="304495" cy="342900"/>
          </a:xfrm>
          <a:prstGeom prst="rect">
            <a:avLst/>
          </a:prstGeom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F62F2BB1-FC9A-9BF5-5863-AC5C7020B0F7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1" name="Shape 31">
              <a:extLst>
                <a:ext uri="{FF2B5EF4-FFF2-40B4-BE49-F238E27FC236}">
                  <a16:creationId xmlns:a16="http://schemas.microsoft.com/office/drawing/2014/main" id="{E330C5C1-44AB-B83C-FC54-E15E76393B08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2" name="Text 21">
              <a:extLst>
                <a:ext uri="{FF2B5EF4-FFF2-40B4-BE49-F238E27FC236}">
                  <a16:creationId xmlns:a16="http://schemas.microsoft.com/office/drawing/2014/main" id="{53E96C5C-B4CA-6382-053D-33B08C4E9626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3" name="Image 2" descr="preencoded.png">
              <a:extLst>
                <a:ext uri="{FF2B5EF4-FFF2-40B4-BE49-F238E27FC236}">
                  <a16:creationId xmlns:a16="http://schemas.microsoft.com/office/drawing/2014/main" id="{08EBD2AE-13BF-C3DE-E2D6-955D3ED4F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29" name="図 28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0A5D2121-E3AD-8CFB-9A1D-21A7BE0B19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2734" b="96973" l="4590" r="98047">
                        <a14:foregroundMark x1="51758" y1="13281" x2="24121" y2="14941"/>
                        <a14:foregroundMark x1="24121" y1="14941" x2="13965" y2="53516"/>
                        <a14:foregroundMark x1="13965" y1="53516" x2="41309" y2="76953"/>
                        <a14:foregroundMark x1="41309" y1="76953" x2="69727" y2="85059"/>
                        <a14:foregroundMark x1="69727" y1="85059" x2="92188" y2="74902"/>
                        <a14:foregroundMark x1="92188" y1="74902" x2="89648" y2="30664"/>
                        <a14:foregroundMark x1="56738" y1="12402" x2="17773" y2="38574"/>
                        <a14:foregroundMark x1="17773" y1="38574" x2="26758" y2="73926"/>
                        <a14:foregroundMark x1="26758" y1="73926" x2="31445" y2="33105"/>
                        <a14:foregroundMark x1="31445" y1="33105" x2="28027" y2="61230"/>
                        <a14:foregroundMark x1="28027" y1="61230" x2="15820" y2="30371"/>
                        <a14:foregroundMark x1="15820" y1="30371" x2="9277" y2="52734"/>
                        <a14:foregroundMark x1="9277" y1="52734" x2="18066" y2="77344"/>
                        <a14:foregroundMark x1="18066" y1="77344" x2="57129" y2="85059"/>
                        <a14:foregroundMark x1="57129" y1="85059" x2="78125" y2="82715"/>
                        <a14:foregroundMark x1="53809" y1="98926" x2="13379" y2="66309"/>
                        <a14:foregroundMark x1="13379" y1="66309" x2="10840" y2="25391"/>
                        <a14:foregroundMark x1="10840" y1="25391" x2="24414" y2="8789"/>
                        <a14:foregroundMark x1="24414" y1="8789" x2="30664" y2="8594"/>
                        <a14:foregroundMark x1="60742" y1="7715" x2="61914" y2="13867"/>
                        <a14:foregroundMark x1="61914" y1="15039" x2="65332" y2="16113"/>
                        <a14:foregroundMark x1="59277" y1="23633" x2="38867" y2="72266"/>
                        <a14:foregroundMark x1="38867" y1="72266" x2="63477" y2="90625"/>
                        <a14:foregroundMark x1="63477" y1="90625" x2="72363" y2="85645"/>
                        <a14:foregroundMark x1="31934" y1="92383" x2="31934" y2="92383"/>
                        <a14:foregroundMark x1="28516" y1="91309" x2="25488" y2="89063"/>
                        <a14:foregroundMark x1="22363" y1="86914" x2="22070" y2="86230"/>
                        <a14:foregroundMark x1="20898" y1="83789" x2="18652" y2="82227"/>
                        <a14:foregroundMark x1="16406" y1="79980" x2="15625" y2="78613"/>
                        <a14:foregroundMark x1="6152" y1="33984" x2="17676" y2="74023"/>
                        <a14:foregroundMark x1="17676" y1="74023" x2="20703" y2="77246"/>
                        <a14:foregroundMark x1="92676" y1="35547" x2="56934" y2="11133"/>
                        <a14:foregroundMark x1="56934" y1="11133" x2="76953" y2="16113"/>
                        <a14:foregroundMark x1="80273" y1="23340" x2="68848" y2="43555"/>
                        <a14:foregroundMark x1="68848" y1="43555" x2="69629" y2="43750"/>
                        <a14:foregroundMark x1="76270" y1="14844" x2="97168" y2="38965"/>
                        <a14:foregroundMark x1="97168" y1="38965" x2="93750" y2="67969"/>
                        <a14:foregroundMark x1="93750" y1="67969" x2="92383" y2="69629"/>
                        <a14:foregroundMark x1="87891" y1="61035" x2="84570" y2="81152"/>
                        <a14:foregroundMark x1="65527" y1="95605" x2="40820" y2="96973"/>
                        <a14:foregroundMark x1="40820" y1="96973" x2="40039" y2="96289"/>
                        <a14:foregroundMark x1="98047" y1="42871" x2="96094" y2="60352"/>
                        <a14:foregroundMark x1="44141" y1="2832" x2="54980" y2="22949"/>
                        <a14:foregroundMark x1="4590" y1="44043" x2="11621" y2="70410"/>
                        <a14:foregroundMark x1="11621" y1="70410" x2="16699" y2="715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10094" y="3534536"/>
            <a:ext cx="2600296" cy="26002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1">
            <a:extLst>
              <a:ext uri="{FF2B5EF4-FFF2-40B4-BE49-F238E27FC236}">
                <a16:creationId xmlns:a16="http://schemas.microsoft.com/office/drawing/2014/main" id="{E5E8C8BD-7816-5C3C-C635-2DE5D831334E}"/>
              </a:ext>
            </a:extLst>
          </p:cNvPr>
          <p:cNvSpPr/>
          <p:nvPr/>
        </p:nvSpPr>
        <p:spPr>
          <a:xfrm>
            <a:off x="8162239" y="923544"/>
            <a:ext cx="3648456" cy="267005"/>
          </a:xfrm>
          <a:prstGeom prst="roundRect">
            <a:avLst>
              <a:gd name="adj" fmla="val 342465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33195"/>
            <a:ext cx="12191695" cy="49149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3"/>
          <p:cNvSpPr txBox="1"/>
          <p:nvPr/>
        </p:nvSpPr>
        <p:spPr>
          <a:xfrm>
            <a:off x="295351" y="1433779"/>
            <a:ext cx="116019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忙しい人のための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45分ハンズオン</a:t>
            </a:r>
            <a:endParaRPr lang="en-US" sz="3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rcRect l="-8" r="-8"/>
          <a:stretch/>
        </p:blipFill>
        <p:spPr>
          <a:xfrm>
            <a:off x="381305" y="2881274"/>
            <a:ext cx="3657600" cy="24094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9046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rcRect l="-107" r="-107"/>
          <a:stretch/>
        </p:blipFill>
        <p:spPr>
          <a:xfrm>
            <a:off x="2076602" y="3271723"/>
            <a:ext cx="267005" cy="30449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93495" y="3897738"/>
            <a:ext cx="12100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45分完結</a:t>
            </a:r>
            <a:endParaRPr lang="en-US" sz="2000" dirty="0"/>
          </a:p>
        </p:txBody>
      </p:sp>
      <p:sp>
        <p:nvSpPr>
          <p:cNvPr id="12" name="Text 6"/>
          <p:cNvSpPr txBox="1"/>
          <p:nvPr/>
        </p:nvSpPr>
        <p:spPr>
          <a:xfrm>
            <a:off x="1077998" y="4426262"/>
            <a:ext cx="2531218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長時間の研修は不要。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要点だけを凝縮して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最短でスキル習得。 </a:t>
            </a:r>
            <a:endParaRPr lang="en-US" sz="14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3"/>
          <a:srcRect l="-8" r="-8"/>
          <a:stretch/>
        </p:blipFill>
        <p:spPr>
          <a:xfrm>
            <a:off x="4222672" y="2905049"/>
            <a:ext cx="3657600" cy="240944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7908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0E7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5905195" y="3271723"/>
            <a:ext cx="381305" cy="30449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860431" y="3897738"/>
            <a:ext cx="2294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実践型ハンズオン</a:t>
            </a:r>
            <a:endParaRPr lang="en-US" sz="2000" dirty="0"/>
          </a:p>
        </p:txBody>
      </p:sp>
      <p:sp>
        <p:nvSpPr>
          <p:cNvPr id="17" name="Text 9"/>
          <p:cNvSpPr txBox="1"/>
          <p:nvPr/>
        </p:nvSpPr>
        <p:spPr>
          <a:xfrm>
            <a:off x="4727029" y="4405579"/>
            <a:ext cx="2869023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座学だけではありません。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その場で実際に手を動かし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「使える」技術を学びます。 </a:t>
            </a:r>
            <a:endParaRPr lang="en-US" sz="14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3"/>
          <a:srcRect l="-8" r="-8"/>
          <a:stretch/>
        </p:blipFill>
        <p:spPr>
          <a:xfrm>
            <a:off x="8153705" y="2881274"/>
            <a:ext cx="3657600" cy="240944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96770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6"/>
          <a:srcRect l="-90" r="-90"/>
          <a:stretch/>
        </p:blipFill>
        <p:spPr>
          <a:xfrm>
            <a:off x="9791395" y="3271723"/>
            <a:ext cx="381305" cy="30449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235001" y="3897738"/>
            <a:ext cx="143421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一緒に作る</a:t>
            </a:r>
            <a:endParaRPr lang="en-US" sz="2000" dirty="0"/>
          </a:p>
        </p:txBody>
      </p:sp>
      <p:sp>
        <p:nvSpPr>
          <p:cNvPr id="22" name="Text 12"/>
          <p:cNvSpPr txBox="1"/>
          <p:nvPr/>
        </p:nvSpPr>
        <p:spPr>
          <a:xfrm>
            <a:off x="8794671" y="4348702"/>
            <a:ext cx="2628797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ゼロから一緒に作ることで</a:t>
            </a:r>
            <a:endParaRPr lang="en-US" sz="1400" dirty="0"/>
          </a:p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仕組みを理解します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。 </a:t>
            </a:r>
            <a:endParaRPr lang="en-US" sz="14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7"/>
          <a:srcRect t="-40" b="-40"/>
          <a:stretch/>
        </p:blipFill>
        <p:spPr>
          <a:xfrm>
            <a:off x="3625596" y="5471770"/>
            <a:ext cx="4939589" cy="629107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3940150" y="5596128"/>
            <a:ext cx="323698" cy="381305"/>
          </a:xfrm>
          <a:prstGeom prst="roundRect">
            <a:avLst>
              <a:gd name="adj" fmla="val 282486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14"/>
          <p:cNvSpPr txBox="1"/>
          <p:nvPr/>
        </p:nvSpPr>
        <p:spPr>
          <a:xfrm>
            <a:off x="4416552" y="5652821"/>
            <a:ext cx="475357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未経験・知識ゼロでも大丈夫！</a:t>
            </a:r>
            <a:endParaRPr lang="en-US" sz="13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8"/>
          <a:srcRect l="-1648" r="-1648"/>
          <a:stretch/>
        </p:blipFill>
        <p:spPr>
          <a:xfrm>
            <a:off x="4016959" y="5686654"/>
            <a:ext cx="171907" cy="190195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16"/>
          <p:cNvSpPr/>
          <p:nvPr/>
        </p:nvSpPr>
        <p:spPr>
          <a:xfrm>
            <a:off x="0" y="13240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7"/>
          <p:cNvSpPr txBox="1"/>
          <p:nvPr/>
        </p:nvSpPr>
        <p:spPr>
          <a:xfrm>
            <a:off x="457200" y="152705"/>
            <a:ext cx="23180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457200" y="457200"/>
            <a:ext cx="3439058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en-US" sz="18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とは？</a:t>
            </a:r>
            <a:endParaRPr lang="en-US" sz="4500" dirty="0"/>
          </a:p>
        </p:txBody>
      </p:sp>
      <p:sp>
        <p:nvSpPr>
          <p:cNvPr id="31" name="Shape 19"/>
          <p:cNvSpPr/>
          <p:nvPr/>
        </p:nvSpPr>
        <p:spPr>
          <a:xfrm>
            <a:off x="10669220" y="266700"/>
            <a:ext cx="152705" cy="152705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0"/>
          <p:cNvSpPr txBox="1"/>
          <p:nvPr/>
        </p:nvSpPr>
        <p:spPr>
          <a:xfrm>
            <a:off x="10935310" y="210007"/>
            <a:ext cx="8860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35" name="Shape 22"/>
          <p:cNvSpPr/>
          <p:nvPr/>
        </p:nvSpPr>
        <p:spPr>
          <a:xfrm>
            <a:off x="0" y="6248095"/>
            <a:ext cx="1219169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23"/>
          <p:cNvSpPr/>
          <p:nvPr/>
        </p:nvSpPr>
        <p:spPr>
          <a:xfrm>
            <a:off x="0" y="62480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24"/>
          <p:cNvSpPr txBox="1"/>
          <p:nvPr/>
        </p:nvSpPr>
        <p:spPr>
          <a:xfrm>
            <a:off x="457200" y="6443777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10490911" y="6443777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9"/>
          <a:srcRect t="-1" b="-1"/>
          <a:stretch/>
        </p:blipFill>
        <p:spPr>
          <a:xfrm>
            <a:off x="0" y="6743700"/>
            <a:ext cx="12191695" cy="114300"/>
          </a:xfrm>
          <a:prstGeom prst="rect">
            <a:avLst/>
          </a:prstGeom>
        </p:spPr>
      </p:pic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573DEEFF-2E18-F859-557D-46C5895E5E23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9" name="Shape 31">
              <a:extLst>
                <a:ext uri="{FF2B5EF4-FFF2-40B4-BE49-F238E27FC236}">
                  <a16:creationId xmlns:a16="http://schemas.microsoft.com/office/drawing/2014/main" id="{EB34D72B-3BD9-5C6D-172D-3C12236AFA7F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0" name="Text 21">
              <a:extLst>
                <a:ext uri="{FF2B5EF4-FFF2-40B4-BE49-F238E27FC236}">
                  <a16:creationId xmlns:a16="http://schemas.microsoft.com/office/drawing/2014/main" id="{60D4689B-59D1-541B-9719-C75A816A4F1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1" name="Image 2" descr="preencoded.png">
              <a:extLst>
                <a:ext uri="{FF2B5EF4-FFF2-40B4-BE49-F238E27FC236}">
                  <a16:creationId xmlns:a16="http://schemas.microsoft.com/office/drawing/2014/main" id="{91D0F47D-91FD-FF45-2771-9D7B634F6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067105"/>
            <a:ext cx="12191695" cy="5257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381305" y="1295705"/>
            <a:ext cx="3683203" cy="2305202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0" y="1524305"/>
            <a:ext cx="533095" cy="533095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771754" y="1647749"/>
            <a:ext cx="362102" cy="286207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371599" y="1524305"/>
            <a:ext cx="244671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みんなで気持ちよく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学ぶために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895197" y="254603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誹謗中傷・不適切な発言は</a:t>
            </a: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禁止</a:t>
            </a:r>
            <a:endParaRPr lang="en-US" sz="14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4" y="2553004"/>
            <a:ext cx="209398" cy="209398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902429" y="2999232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お互いを尊重し合いましょう</a:t>
            </a:r>
            <a:endParaRPr lang="en-US" sz="14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136" y="2956725"/>
            <a:ext cx="209398" cy="209398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 t="-1" b="-1"/>
          <a:stretch/>
        </p:blipFill>
        <p:spPr>
          <a:xfrm>
            <a:off x="4254703" y="1295705"/>
            <a:ext cx="3683203" cy="2305202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59198" y="1524305"/>
            <a:ext cx="533095" cy="53309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 l="-266" r="-266"/>
          <a:stretch/>
        </p:blipFill>
        <p:spPr>
          <a:xfrm>
            <a:off x="4664354" y="1647749"/>
            <a:ext cx="323698" cy="286207"/>
          </a:xfrm>
          <a:prstGeom prst="rect">
            <a:avLst/>
          </a:prstGeom>
        </p:spPr>
      </p:pic>
      <p:sp>
        <p:nvSpPr>
          <p:cNvPr id="20" name="Text 7"/>
          <p:cNvSpPr txBox="1"/>
          <p:nvPr/>
        </p:nvSpPr>
        <p:spPr>
          <a:xfrm>
            <a:off x="5274259" y="1673670"/>
            <a:ext cx="254081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講座の録画について</a:t>
            </a:r>
            <a:endParaRPr lang="en-US" sz="1600" dirty="0"/>
          </a:p>
        </p:txBody>
      </p:sp>
      <p:sp>
        <p:nvSpPr>
          <p:cNvPr id="21" name="Text 8"/>
          <p:cNvSpPr txBox="1"/>
          <p:nvPr/>
        </p:nvSpPr>
        <p:spPr>
          <a:xfrm>
            <a:off x="480060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</a:t>
            </a:r>
            <a:r>
              <a:rPr 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YouTube公開</a:t>
            </a:r>
            <a:r>
              <a:rPr lang="ja-JP" alt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予定</a:t>
            </a:r>
            <a:endParaRPr lang="en-US" sz="1400" dirty="0"/>
          </a:p>
        </p:txBody>
      </p:sp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459755" y="2316941"/>
            <a:ext cx="222199" cy="222199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4799966" y="2759178"/>
            <a:ext cx="30961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表示名が映る場合があります</a:t>
            </a:r>
            <a:endParaRPr lang="en-US" sz="140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10"/>
          <a:srcRect l="-1507" r="-1507"/>
          <a:stretch/>
        </p:blipFill>
        <p:spPr>
          <a:xfrm>
            <a:off x="4444986" y="2768803"/>
            <a:ext cx="286120" cy="222199"/>
          </a:xfrm>
          <a:prstGeom prst="rect">
            <a:avLst/>
          </a:prstGeom>
        </p:spPr>
      </p:pic>
      <p:sp>
        <p:nvSpPr>
          <p:cNvPr id="25" name="Text 10"/>
          <p:cNvSpPr txBox="1"/>
          <p:nvPr/>
        </p:nvSpPr>
        <p:spPr>
          <a:xfrm>
            <a:off x="4794577" y="3183750"/>
            <a:ext cx="311536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匿名参加で非表示にできます</a:t>
            </a:r>
            <a:endParaRPr lang="en-US" sz="1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1"/>
          <a:srcRect l="-837" r="-837"/>
          <a:stretch/>
        </p:blipFill>
        <p:spPr>
          <a:xfrm>
            <a:off x="4467442" y="3183750"/>
            <a:ext cx="236379" cy="206654"/>
          </a:xfrm>
          <a:prstGeom prst="rect">
            <a:avLst/>
          </a:prstGeom>
        </p:spPr>
      </p:pic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2"/>
          <a:srcRect l="-1" r="-1"/>
          <a:stretch/>
        </p:blipFill>
        <p:spPr>
          <a:xfrm>
            <a:off x="8128102" y="1295705"/>
            <a:ext cx="3683203" cy="2305202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32597" y="1524305"/>
            <a:ext cx="533095" cy="533095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rcRect l="-607" r="-607"/>
          <a:stretch/>
        </p:blipFill>
        <p:spPr>
          <a:xfrm>
            <a:off x="8518550" y="1647749"/>
            <a:ext cx="362102" cy="286207"/>
          </a:xfrm>
          <a:prstGeom prst="rect">
            <a:avLst/>
          </a:prstGeom>
        </p:spPr>
      </p:pic>
      <p:sp>
        <p:nvSpPr>
          <p:cNvPr id="30" name="Text 11"/>
          <p:cNvSpPr txBox="1"/>
          <p:nvPr/>
        </p:nvSpPr>
        <p:spPr>
          <a:xfrm>
            <a:off x="9118396" y="1524305"/>
            <a:ext cx="217569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チャットは気軽に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どうぞ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863896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「できました！」の声など大歓迎</a:t>
            </a:r>
            <a:endParaRPr lang="en-US" sz="14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8323811" y="2357209"/>
            <a:ext cx="242288" cy="242288"/>
          </a:xfrm>
          <a:prstGeom prst="rect">
            <a:avLst/>
          </a:prstGeom>
        </p:spPr>
      </p:pic>
      <p:sp>
        <p:nvSpPr>
          <p:cNvPr id="33" name="Text 13"/>
          <p:cNvSpPr txBox="1"/>
          <p:nvPr/>
        </p:nvSpPr>
        <p:spPr>
          <a:xfrm>
            <a:off x="8722752" y="2735885"/>
            <a:ext cx="31345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小さな質問でも</a:t>
            </a:r>
            <a:r>
              <a:rPr lang="en-US" sz="1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</a:t>
            </a: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です</a:t>
            </a:r>
            <a:endParaRPr lang="en-US" sz="14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323811" y="2748714"/>
            <a:ext cx="242288" cy="242288"/>
          </a:xfrm>
          <a:prstGeom prst="rect">
            <a:avLst/>
          </a:prstGeom>
        </p:spPr>
      </p:pic>
      <p:sp>
        <p:nvSpPr>
          <p:cNvPr id="35" name="Text 14"/>
          <p:cNvSpPr txBox="1"/>
          <p:nvPr/>
        </p:nvSpPr>
        <p:spPr>
          <a:xfrm>
            <a:off x="8641994" y="316199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反応があると講師も嬉しいです</a:t>
            </a:r>
            <a:endParaRPr lang="en-US" sz="140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343442" y="3148206"/>
            <a:ext cx="216712" cy="216712"/>
          </a:xfrm>
          <a:prstGeom prst="rect">
            <a:avLst/>
          </a:prstGeom>
        </p:spPr>
      </p:pic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7"/>
          <a:srcRect t="-1" b="-1"/>
          <a:stretch/>
        </p:blipFill>
        <p:spPr>
          <a:xfrm>
            <a:off x="381305" y="3791102"/>
            <a:ext cx="5619902" cy="2305202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8">
            <a:alphaModFix amt="10000"/>
          </a:blip>
          <a:srcRect/>
          <a:stretch/>
        </p:blipFill>
        <p:spPr>
          <a:xfrm>
            <a:off x="4914900" y="5009998"/>
            <a:ext cx="1218895" cy="1218895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29107" y="4038905"/>
            <a:ext cx="609905" cy="609905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790956" y="4200754"/>
            <a:ext cx="286207" cy="286207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21"/>
          <a:srcRect t="-2" b="-2"/>
          <a:stretch/>
        </p:blipFill>
        <p:spPr>
          <a:xfrm>
            <a:off x="6191402" y="3791102"/>
            <a:ext cx="5619902" cy="2305202"/>
          </a:xfrm>
          <a:prstGeom prst="rect">
            <a:avLst/>
          </a:prstGeom>
        </p:spPr>
      </p:pic>
      <p:pic>
        <p:nvPicPr>
          <p:cNvPr id="42" name="Image 25" descr="preencoded.png"/>
          <p:cNvPicPr>
            <a:picLocks noChangeAspect="1"/>
          </p:cNvPicPr>
          <p:nvPr/>
        </p:nvPicPr>
        <p:blipFill>
          <a:blip r:embed="rId22">
            <a:alphaModFix amt="10000"/>
          </a:blip>
          <a:srcRect l="-23" r="-23"/>
          <a:stretch/>
        </p:blipFill>
        <p:spPr>
          <a:xfrm>
            <a:off x="10420502" y="5009998"/>
            <a:ext cx="1524305" cy="1218895"/>
          </a:xfrm>
          <a:prstGeom prst="rect">
            <a:avLst/>
          </a:prstGeom>
        </p:spPr>
      </p:pic>
      <p:pic>
        <p:nvPicPr>
          <p:cNvPr id="43" name="Image 26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439205" y="4038905"/>
            <a:ext cx="609905" cy="609905"/>
          </a:xfrm>
          <a:prstGeom prst="rect">
            <a:avLst/>
          </a:prstGeom>
        </p:spPr>
      </p:pic>
      <p:pic>
        <p:nvPicPr>
          <p:cNvPr id="44" name="Image 27" descr="preencoded.png"/>
          <p:cNvPicPr>
            <a:picLocks noChangeAspect="1"/>
          </p:cNvPicPr>
          <p:nvPr/>
        </p:nvPicPr>
        <p:blipFill>
          <a:blip r:embed="rId23"/>
          <a:srcRect t="-530" b="-530"/>
          <a:stretch/>
        </p:blipFill>
        <p:spPr>
          <a:xfrm>
            <a:off x="6619342" y="4200754"/>
            <a:ext cx="247802" cy="286207"/>
          </a:xfrm>
          <a:prstGeom prst="rect">
            <a:avLst/>
          </a:prstGeom>
        </p:spPr>
      </p:pic>
      <p:sp>
        <p:nvSpPr>
          <p:cNvPr id="45" name="Shape 15"/>
          <p:cNvSpPr/>
          <p:nvPr/>
        </p:nvSpPr>
        <p:spPr>
          <a:xfrm>
            <a:off x="1429207" y="4644238"/>
            <a:ext cx="4324198" cy="19202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16"/>
          <p:cNvSpPr txBox="1"/>
          <p:nvPr/>
        </p:nvSpPr>
        <p:spPr>
          <a:xfrm>
            <a:off x="1429207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アウトプットで学びが定着</a:t>
            </a:r>
            <a:endParaRPr lang="en-US" sz="2400" dirty="0"/>
          </a:p>
        </p:txBody>
      </p:sp>
      <p:sp>
        <p:nvSpPr>
          <p:cNvPr id="47" name="Text 17"/>
          <p:cNvSpPr txBox="1"/>
          <p:nvPr/>
        </p:nvSpPr>
        <p:spPr>
          <a:xfrm>
            <a:off x="1580997" y="4777740"/>
            <a:ext cx="42108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をつけて投稿しよう！</a:t>
            </a:r>
            <a:endParaRPr lang="en-US" sz="1600" dirty="0"/>
          </a:p>
        </p:txBody>
      </p:sp>
      <p:sp>
        <p:nvSpPr>
          <p:cNvPr id="48" name="Text 18"/>
          <p:cNvSpPr txBox="1"/>
          <p:nvPr/>
        </p:nvSpPr>
        <p:spPr>
          <a:xfrm>
            <a:off x="1580997" y="5183398"/>
            <a:ext cx="4325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「作ったフロー」「気づき」など何でもOK</a:t>
            </a:r>
            <a:endParaRPr lang="en-US" sz="1600" dirty="0"/>
          </a:p>
        </p:txBody>
      </p:sp>
      <p:sp>
        <p:nvSpPr>
          <p:cNvPr id="49" name="Text 19"/>
          <p:cNvSpPr txBox="1"/>
          <p:nvPr/>
        </p:nvSpPr>
        <p:spPr>
          <a:xfrm>
            <a:off x="1580997" y="5591735"/>
            <a:ext cx="4286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投稿は</a:t>
            </a:r>
            <a:r>
              <a:rPr lang="ja-JP" alt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運営</a:t>
            </a: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の励みになります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！</a:t>
            </a:r>
            <a:endParaRPr lang="en-US" sz="160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24"/>
          <a:srcRect l="-760" r="-760"/>
          <a:stretch/>
        </p:blipFill>
        <p:spPr>
          <a:xfrm>
            <a:off x="1179048" y="4768333"/>
            <a:ext cx="228601" cy="25734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25"/>
          <a:srcRect t="-100" b="-100"/>
          <a:stretch/>
        </p:blipFill>
        <p:spPr>
          <a:xfrm>
            <a:off x="1179048" y="5181514"/>
            <a:ext cx="171108" cy="228601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26"/>
          <a:srcRect/>
          <a:stretch/>
        </p:blipFill>
        <p:spPr>
          <a:xfrm>
            <a:off x="1179048" y="5589309"/>
            <a:ext cx="228601" cy="228601"/>
          </a:xfrm>
          <a:prstGeom prst="rect">
            <a:avLst/>
          </a:prstGeom>
        </p:spPr>
      </p:pic>
      <p:sp>
        <p:nvSpPr>
          <p:cNvPr id="53" name="Shape 20"/>
          <p:cNvSpPr/>
          <p:nvPr/>
        </p:nvSpPr>
        <p:spPr>
          <a:xfrm>
            <a:off x="7239305" y="4644238"/>
            <a:ext cx="4324198" cy="19202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21"/>
          <p:cNvSpPr txBox="1"/>
          <p:nvPr/>
        </p:nvSpPr>
        <p:spPr>
          <a:xfrm>
            <a:off x="7239305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初心者大歓迎の講座です</a:t>
            </a:r>
            <a:endParaRPr lang="en-US" sz="2400" dirty="0"/>
          </a:p>
        </p:txBody>
      </p:sp>
      <p:sp>
        <p:nvSpPr>
          <p:cNvPr id="55" name="Text 22"/>
          <p:cNvSpPr txBox="1"/>
          <p:nvPr/>
        </p:nvSpPr>
        <p:spPr>
          <a:xfrm>
            <a:off x="7487107" y="4777740"/>
            <a:ext cx="426750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難しい専門用語は使いません</a:t>
            </a:r>
            <a:endParaRPr lang="en-US" sz="1600" dirty="0"/>
          </a:p>
        </p:txBody>
      </p:sp>
      <p:sp>
        <p:nvSpPr>
          <p:cNvPr id="56" name="Text 23"/>
          <p:cNvSpPr txBox="1"/>
          <p:nvPr/>
        </p:nvSpPr>
        <p:spPr>
          <a:xfrm>
            <a:off x="7487107" y="5187602"/>
            <a:ext cx="4343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置いてけぼりにならないようゆっくり進行</a:t>
            </a:r>
            <a:endParaRPr lang="en-US" sz="1600" dirty="0"/>
          </a:p>
        </p:txBody>
      </p:sp>
      <p:sp>
        <p:nvSpPr>
          <p:cNvPr id="57" name="Text 24"/>
          <p:cNvSpPr txBox="1"/>
          <p:nvPr/>
        </p:nvSpPr>
        <p:spPr>
          <a:xfrm>
            <a:off x="7487107" y="5569117"/>
            <a:ext cx="42108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</a:t>
            </a:r>
            <a:r>
              <a:rPr lang="en-US" sz="160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してご参加ください</a:t>
            </a:r>
            <a:endParaRPr lang="en-US" sz="1600" dirty="0"/>
          </a:p>
        </p:txBody>
      </p:sp>
      <p:pic>
        <p:nvPicPr>
          <p:cNvPr id="58" name="Image 31" descr="preencoded.png"/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 rot="21065181">
            <a:off x="7152519" y="4767307"/>
            <a:ext cx="258514" cy="258514"/>
          </a:xfrm>
          <a:prstGeom prst="rect">
            <a:avLst/>
          </a:prstGeom>
        </p:spPr>
      </p:pic>
      <p:pic>
        <p:nvPicPr>
          <p:cNvPr id="59" name="Image 32" descr="preencoded.png"/>
          <p:cNvPicPr>
            <a:picLocks noChangeAspect="1"/>
          </p:cNvPicPr>
          <p:nvPr/>
        </p:nvPicPr>
        <p:blipFill>
          <a:blip r:embed="rId28"/>
          <a:srcRect t="-180" b="-180"/>
          <a:stretch/>
        </p:blipFill>
        <p:spPr>
          <a:xfrm rot="21065181">
            <a:off x="7150980" y="5180425"/>
            <a:ext cx="143009" cy="229638"/>
          </a:xfrm>
          <a:prstGeom prst="rect">
            <a:avLst/>
          </a:prstGeom>
        </p:spPr>
      </p:pic>
      <p:pic>
        <p:nvPicPr>
          <p:cNvPr id="60" name="Image 33" descr="preencoded.png"/>
          <p:cNvPicPr>
            <a:picLocks noChangeAspect="1"/>
          </p:cNvPicPr>
          <p:nvPr/>
        </p:nvPicPr>
        <p:blipFill>
          <a:blip r:embed="rId29"/>
          <a:srcRect/>
          <a:stretch/>
        </p:blipFill>
        <p:spPr>
          <a:xfrm rot="21065181">
            <a:off x="7150457" y="5564667"/>
            <a:ext cx="229638" cy="229638"/>
          </a:xfrm>
          <a:prstGeom prst="rect">
            <a:avLst/>
          </a:prstGeom>
        </p:spPr>
      </p:pic>
      <p:sp>
        <p:nvSpPr>
          <p:cNvPr id="61" name="Shape 25"/>
          <p:cNvSpPr/>
          <p:nvPr/>
        </p:nvSpPr>
        <p:spPr>
          <a:xfrm>
            <a:off x="0" y="0"/>
            <a:ext cx="12191695" cy="10671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26"/>
          <p:cNvSpPr/>
          <p:nvPr/>
        </p:nvSpPr>
        <p:spPr>
          <a:xfrm>
            <a:off x="0" y="105796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27"/>
          <p:cNvSpPr txBox="1"/>
          <p:nvPr/>
        </p:nvSpPr>
        <p:spPr>
          <a:xfrm>
            <a:off x="381305" y="-9144"/>
            <a:ext cx="5391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35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Online Course</a:t>
            </a:r>
            <a:endParaRPr lang="en-US" sz="1300" dirty="0"/>
          </a:p>
        </p:txBody>
      </p:sp>
      <p:sp>
        <p:nvSpPr>
          <p:cNvPr id="64" name="Text 28"/>
          <p:cNvSpPr txBox="1"/>
          <p:nvPr/>
        </p:nvSpPr>
        <p:spPr>
          <a:xfrm>
            <a:off x="344647" y="385241"/>
            <a:ext cx="75652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ご参加にあたっての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お願い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（ルール）</a:t>
            </a:r>
            <a:endParaRPr lang="en-US" sz="3600" dirty="0"/>
          </a:p>
        </p:txBody>
      </p:sp>
      <p:sp>
        <p:nvSpPr>
          <p:cNvPr id="65" name="Shape 29"/>
          <p:cNvSpPr/>
          <p:nvPr/>
        </p:nvSpPr>
        <p:spPr>
          <a:xfrm>
            <a:off x="10477195" y="295351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30"/>
          <p:cNvSpPr txBox="1"/>
          <p:nvPr/>
        </p:nvSpPr>
        <p:spPr>
          <a:xfrm>
            <a:off x="10667390" y="219456"/>
            <a:ext cx="1228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Guidelines</a:t>
            </a:r>
            <a:endParaRPr lang="en-US" sz="1500" dirty="0"/>
          </a:p>
        </p:txBody>
      </p:sp>
      <p:sp>
        <p:nvSpPr>
          <p:cNvPr id="70" name="Shape 33"/>
          <p:cNvSpPr/>
          <p:nvPr/>
        </p:nvSpPr>
        <p:spPr>
          <a:xfrm>
            <a:off x="0" y="6324905"/>
            <a:ext cx="12191695" cy="5330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34"/>
          <p:cNvSpPr/>
          <p:nvPr/>
        </p:nvSpPr>
        <p:spPr>
          <a:xfrm>
            <a:off x="0" y="632490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35"/>
          <p:cNvSpPr txBox="1"/>
          <p:nvPr/>
        </p:nvSpPr>
        <p:spPr>
          <a:xfrm>
            <a:off x="381305" y="6500470"/>
            <a:ext cx="23015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73" name="Text 36"/>
          <p:cNvSpPr txBox="1"/>
          <p:nvPr/>
        </p:nvSpPr>
        <p:spPr>
          <a:xfrm>
            <a:off x="10696651" y="6500470"/>
            <a:ext cx="13249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74" name="Image 35" descr="preencoded.png"/>
          <p:cNvPicPr>
            <a:picLocks noChangeAspect="1"/>
          </p:cNvPicPr>
          <p:nvPr/>
        </p:nvPicPr>
        <p:blipFill>
          <a:blip r:embed="rId30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8E4ED06A-AC89-9A5E-A038-C0DE0C4BEAAA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82" name="Shape 31">
              <a:extLst>
                <a:ext uri="{FF2B5EF4-FFF2-40B4-BE49-F238E27FC236}">
                  <a16:creationId xmlns:a16="http://schemas.microsoft.com/office/drawing/2014/main" id="{816E518C-775F-CF5E-F78F-7DC8A323C86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3" name="Text 21">
              <a:extLst>
                <a:ext uri="{FF2B5EF4-FFF2-40B4-BE49-F238E27FC236}">
                  <a16:creationId xmlns:a16="http://schemas.microsoft.com/office/drawing/2014/main" id="{C48EAE25-B3A2-44BF-FDA3-59AEEDA2C26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84" name="Image 2" descr="preencoded.png">
              <a:extLst>
                <a:ext uri="{FF2B5EF4-FFF2-40B4-BE49-F238E27FC236}">
                  <a16:creationId xmlns:a16="http://schemas.microsoft.com/office/drawing/2014/main" id="{23CC5DF4-18BE-DCF5-C8FA-FBF931AFD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</a:t>
            </a:r>
            <a:r>
              <a:rPr lang="en-US" sz="1600" b="1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Automate 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今日やること（3つだけ）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457200" y="2093976"/>
            <a:ext cx="3606394" cy="369783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35554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rcRect l="-9464" r="-9464"/>
          <a:stretch/>
        </p:blipFill>
        <p:spPr>
          <a:xfrm>
            <a:off x="2618842" y="2199132"/>
            <a:ext cx="1419149" cy="15910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292194" y="2093976"/>
            <a:ext cx="3606394" cy="3697834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670548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>
            <a:alphaModFix amt="20000"/>
          </a:blip>
          <a:srcRect t="-3661" b="-3661"/>
          <a:stretch/>
        </p:blipFill>
        <p:spPr>
          <a:xfrm>
            <a:off x="6010351" y="2154326"/>
            <a:ext cx="1867205" cy="1781251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8128102" y="2093976"/>
            <a:ext cx="3606394" cy="3697834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10505542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163556" y="2237537"/>
            <a:ext cx="1476756" cy="1476756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8"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55902" y="2380183"/>
            <a:ext cx="609905" cy="609905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1927555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Text 14"/>
          <p:cNvSpPr txBox="1"/>
          <p:nvPr/>
        </p:nvSpPr>
        <p:spPr>
          <a:xfrm>
            <a:off x="901005" y="3931919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Formsの回答をSharePointに自動登録する</a:t>
            </a:r>
            <a:endParaRPr lang="en-US" sz="1400" dirty="0"/>
          </a:p>
        </p:txBody>
      </p:sp>
      <p:sp>
        <p:nvSpPr>
          <p:cNvPr id="27" name="Text 15"/>
          <p:cNvSpPr txBox="1"/>
          <p:nvPr/>
        </p:nvSpPr>
        <p:spPr>
          <a:xfrm>
            <a:off x="1175032" y="4542282"/>
            <a:ext cx="2557549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Forms「新しい応答」をトリガーに、</a:t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「項目の作成」で経費申請リストに登録します。</a:t>
            </a:r>
          </a:p>
          <a:p>
            <a:pPr marL="0" indent="0">
              <a:buNone/>
            </a:pPr>
            <a:endParaRPr lang="en-US" sz="1600">
              <a:solidFill>
                <a:srgbClr val="6B7280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75104" y="3213202"/>
            <a:ext cx="571500" cy="571500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90895" y="2380183"/>
            <a:ext cx="609905" cy="609905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762549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17"/>
          <p:cNvSpPr txBox="1"/>
          <p:nvPr/>
        </p:nvSpPr>
        <p:spPr>
          <a:xfrm>
            <a:off x="4663706" y="393740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承認フローで上司の判断を待つ</a:t>
            </a:r>
            <a:endParaRPr lang="en-US" sz="1400" dirty="0"/>
          </a:p>
        </p:txBody>
      </p:sp>
      <p:sp>
        <p:nvSpPr>
          <p:cNvPr id="32" name="Text 18"/>
          <p:cNvSpPr txBox="1"/>
          <p:nvPr/>
        </p:nvSpPr>
        <p:spPr>
          <a:xfrm>
            <a:off x="4673600" y="4718304"/>
            <a:ext cx="266537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「開始して承認を待機」で承認依頼を送信。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Teams上のカードで承認/却下を受け取ります。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810098" y="3213202"/>
            <a:ext cx="571500" cy="571500"/>
          </a:xfrm>
          <a:prstGeom prst="rect">
            <a:avLst/>
          </a:prstGeom>
        </p:spPr>
      </p:pic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26803" y="2380183"/>
            <a:ext cx="609905" cy="609905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9597542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200" dirty="0"/>
          </a:p>
        </p:txBody>
      </p:sp>
      <p:sp>
        <p:nvSpPr>
          <p:cNvPr id="36" name="Text 20"/>
          <p:cNvSpPr txBox="1"/>
          <p:nvPr/>
        </p:nvSpPr>
        <p:spPr>
          <a:xfrm>
            <a:off x="8490995" y="407773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結果でSharePoint更新＆Teams通知</a:t>
            </a:r>
            <a:endParaRPr lang="en-US" sz="1400" dirty="0"/>
          </a:p>
        </p:txBody>
      </p:sp>
      <p:sp>
        <p:nvSpPr>
          <p:cNvPr id="37" name="Text 21"/>
          <p:cNvSpPr txBox="1"/>
          <p:nvPr/>
        </p:nvSpPr>
        <p:spPr>
          <a:xfrm>
            <a:off x="8212590" y="4718304"/>
            <a:ext cx="3218324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alt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条件分岐でStatusを承認済/却下に更新し、申請者にTeamsで結果を通知して完成！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8" name="Image 14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645091" y="3213202"/>
            <a:ext cx="571500" cy="571500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852951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テーマ解説 (1/2)：申請を受け取って整える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265580" y="2195490"/>
            <a:ext cx="5598507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①Forms「新しい応答が送信されるとき」をトリガーに起動。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②「応答の詳細を取得する」で、申請内容（名前・金額・用途・詳細）をひとつずつ取り出す。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③「作成（Compose）」で、金額・用途・詳細をひとまとめの文字列に整形し、</a:t>
            </a: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 後段のSharePoint Title や承認カードで使い回せるようにする。</a:t>
            </a: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52" name="Picture 51" descr="vol10-flow-1o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0000" y="2000000"/>
            <a:ext cx="2700000" cy="44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81527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テーマ解説 (2/2)：登録→承認→結果通知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265579" y="2229307"/>
            <a:ext cx="6248431" cy="391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④「項目の作成」でSharePoint「経費申請」リストに登録（Status=申請中）。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b="1"/>
              <a:t>⑤「開始して承認を待機」で上司にTeams承認カードを送信し、結果を待つ。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b="1"/>
              <a:t>⑥「条件」で承認結果（outcome）が Approve かを判定。</a:t>
            </a: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 - True（承認）：項目をStatus=承認済に更新 → Teamsで通知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sz="2000" b="1"/>
              <a:t>   - False（却下）：項目をStatus=却下に更新 → Teamsで通知</a:t>
            </a:r>
            <a:endParaRPr lang="ja-JP" altLang="en-US" sz="24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52" name="Picture 51" descr="vol10-flow-2o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6474" y="1765289"/>
            <a:ext cx="4202221" cy="43561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305" y="-9144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22110" y="628650"/>
            <a:ext cx="960120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事前準備 ①  Formsの設問を作る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204620" y="1781251"/>
            <a:ext cx="6544523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🎯 目的：申請者がスマホからも入力できる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  <a:hlinkClick r:id="rId2"/>
              </a:rPr>
              <a:t>「経費申請フォーム」</a:t>
            </a: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を用意する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・新しいFormsを作成（タイトル：経費申請）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・設問は次の4つだけでOK</a:t>
            </a:r>
            <a:endParaRPr lang="ja-JP" altLang="en-US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① お名前（テキスト・短答／必須）</a:t>
            </a:r>
          </a:p>
          <a:p>
            <a:pPr marL="0" indent="0" algn="l">
              <a:buNone/>
            </a:pPr>
            <a:r>
              <a:t>　② 金額（数値・必須／オプションで「0以上の数値」制限）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③ 用途（テキスト・短答／必須）　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例：会議費、消耗品など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　④ 詳細（テキスト・長答／任意）　申請理由を自由記述</a:t>
            </a:r>
            <a:endParaRPr lang="ja-JP" altLang="en-US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・「回答の収集」でリンクをコピーしておく → 後で社内に共有</a:t>
            </a:r>
            <a:endParaRPr lang="ja-JP" altLang="en-US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5" name="図 14" descr="The image shows a form with two proposals, a section for personal names, a field for monetary values, a section for purposes, and a field for additional details.&#10;&#10;AI 生成コンテンツは誤りを含む可能性があります。">
            <a:extLst>
              <a:ext uri="{FF2B5EF4-FFF2-40B4-BE49-F238E27FC236}">
                <a16:creationId xmlns:a16="http://schemas.microsoft.com/office/drawing/2014/main" id="{689B1446-4E1D-9168-07ED-183171FE5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7497" y="644768"/>
            <a:ext cx="3520006" cy="54571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71551" y="636536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事前準備 ②  SharePointリストを作る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37948" y="1494313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371551" y="1664075"/>
            <a:ext cx="6971243" cy="4428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+mn-ea"/>
                <a:cs typeface="Noto Sans JP" pitchFamily="34" charset="-120"/>
              </a:rPr>
              <a:t>🎯 目的：申請データを蓄積して、</a:t>
            </a:r>
            <a:endParaRPr lang="en-US" altLang="ja-JP" sz="2000" b="1">
              <a:solidFill>
                <a:srgbClr val="1F2937"/>
              </a:solidFill>
              <a:latin typeface="+mn-ea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+mn-ea"/>
                <a:cs typeface="Noto Sans JP" pitchFamily="34" charset="-120"/>
              </a:rPr>
              <a:t>上司も経理もあとから見返せる「台帳」にする</a:t>
            </a:r>
            <a:endParaRPr lang="en-US" altLang="ja-JP" sz="2000" b="1">
              <a:solidFill>
                <a:srgbClr val="1F2937"/>
              </a:solidFill>
              <a:latin typeface="+mn-ea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+mn-ea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+mn-ea"/>
                <a:cs typeface="Noto Sans JP" pitchFamily="34" charset="-120"/>
              </a:rPr>
              <a:t>・SharePointサイト &gt; 新規 &gt; リスト &gt; 空のリストを選択</a:t>
            </a:r>
            <a:endParaRPr lang="en-US" altLang="ja-JP" sz="2000" b="1">
              <a:solidFill>
                <a:srgbClr val="1F2937"/>
              </a:solidFill>
              <a:latin typeface="+mn-ea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+mn-ea"/>
              <a:cs typeface="Noto Sans JP" pitchFamily="34" charset="-120"/>
            </a:endParaRPr>
          </a:p>
          <a:p>
            <a:pPr marL="0" indent="0" algn="l">
              <a:buNone/>
            </a:pPr>
            <a:r>
              <a:rPr b="1">
                <a:latin typeface="+mn-ea"/>
              </a:rPr>
              <a:t>・リスト名：経費申請</a:t>
            </a:r>
            <a:endParaRPr lang="en-US" b="1">
              <a:latin typeface="+mn-ea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+mn-ea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+mn-ea"/>
                <a:cs typeface="Noto Sans JP" pitchFamily="34" charset="-120"/>
              </a:rPr>
              <a:t>・列を3つ追加（</a:t>
            </a:r>
            <a:r>
              <a:rPr lang="ja-JP" altLang="en-US" sz="2000" b="1">
                <a:solidFill>
                  <a:srgbClr val="1F2937"/>
                </a:solidFill>
                <a:latin typeface="+mn-ea"/>
                <a:cs typeface="Microsoft Sans Serif" panose="020B0604020202020204" pitchFamily="34" charset="0"/>
              </a:rPr>
              <a:t>Title</a:t>
            </a:r>
            <a:r>
              <a:rPr lang="ja-JP" altLang="en-US" sz="2000" b="1">
                <a:solidFill>
                  <a:srgbClr val="1F2937"/>
                </a:solidFill>
                <a:latin typeface="+mn-ea"/>
                <a:cs typeface="Noto Sans JP" pitchFamily="34" charset="-120"/>
              </a:rPr>
              <a:t>列は最初からあるのでそのまま使用）</a:t>
            </a:r>
          </a:p>
          <a:p>
            <a:pPr marL="0" indent="0" algn="l">
              <a:buNone/>
            </a:pPr>
            <a:r>
              <a:rPr b="1">
                <a:latin typeface="+mn-ea"/>
              </a:rPr>
              <a:t>　① Title（テキスト・既定）　申請の見出し</a:t>
            </a:r>
            <a:endParaRPr lang="en-US" b="1">
              <a:latin typeface="+mn-ea"/>
            </a:endParaRPr>
          </a:p>
          <a:p>
            <a:pPr marL="0" indent="0" algn="l">
              <a:buNone/>
            </a:pPr>
            <a:r>
              <a:rPr lang="ja-JP" altLang="en-US" b="1">
                <a:latin typeface="+mn-ea"/>
              </a:rPr>
              <a:t>　　</a:t>
            </a:r>
            <a:r>
              <a:rPr b="1">
                <a:latin typeface="+mn-ea"/>
              </a:rPr>
              <a:t>（フローでサマリ文を入れる）</a:t>
            </a:r>
            <a:endParaRPr lang="en-US" altLang="ja-JP" sz="2000" b="1">
              <a:solidFill>
                <a:srgbClr val="1F2937"/>
              </a:solidFill>
              <a:latin typeface="+mn-ea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+mn-ea"/>
                <a:cs typeface="Noto Sans JP" pitchFamily="34" charset="-120"/>
              </a:rPr>
              <a:t>　② Detail（複数行テキスト）　Formsの「詳細」を保存</a:t>
            </a:r>
            <a:endParaRPr lang="en-US" altLang="ja-JP" sz="2000" b="1">
              <a:solidFill>
                <a:srgbClr val="1F2937"/>
              </a:solidFill>
              <a:latin typeface="+mn-ea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+mn-ea"/>
              <a:cs typeface="Noto Sans JP" pitchFamily="34" charset="-120"/>
            </a:endParaRPr>
          </a:p>
          <a:p>
            <a:pPr marL="0" indent="0" algn="l">
              <a:buNone/>
            </a:pPr>
            <a:r>
              <a:rPr b="1">
                <a:latin typeface="+mn-ea"/>
              </a:rPr>
              <a:t>　③ Status（選択肢）　「申請中」「承認済」「却下」の3択</a:t>
            </a:r>
            <a:endParaRPr lang="ja-JP" altLang="en-US" sz="2000" b="1">
              <a:solidFill>
                <a:srgbClr val="1F2937"/>
              </a:solidFill>
              <a:latin typeface="+mn-ea"/>
              <a:cs typeface="Noto Sans JP" pitchFamily="34" charset="-120"/>
            </a:endParaRPr>
          </a:p>
          <a:p>
            <a:pPr marL="0" indent="0" algn="l">
              <a:buNone/>
            </a:pPr>
            <a:r>
              <a:rPr b="1">
                <a:latin typeface="+mn-ea"/>
              </a:rPr>
              <a:t>・既定値：Status =「申請中」にしておくと安心</a:t>
            </a:r>
            <a:endParaRPr lang="ja-JP" altLang="en-US" sz="2000" b="1">
              <a:solidFill>
                <a:srgbClr val="1F2937"/>
              </a:solidFill>
              <a:latin typeface="+mn-ea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 dirty="0">
              <a:solidFill>
                <a:srgbClr val="1F2937"/>
              </a:solidFill>
              <a:latin typeface="+mn-ea"/>
              <a:cs typeface="Noto Sans JP" pitchFamily="34" charset="-120"/>
            </a:endParaRPr>
          </a:p>
        </p:txBody>
      </p:sp>
      <p:pic>
        <p:nvPicPr>
          <p:cNvPr id="14" name="図 13" descr="No10 Expense Claim List&#10;&#10;AI 生成コンテンツは誤りを含む可能性があります。">
            <a:extLst>
              <a:ext uri="{FF2B5EF4-FFF2-40B4-BE49-F238E27FC236}">
                <a16:creationId xmlns:a16="http://schemas.microsoft.com/office/drawing/2014/main" id="{C2EF7902-2BBE-0FB4-C1D1-D35830F89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4526" y="1808797"/>
            <a:ext cx="4439707" cy="36133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フロー解説 ①  申請を受け取る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26243" y="1705357"/>
            <a:ext cx="7058328" cy="4260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🎯 目的：紙やメールで来る申請を、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自動で受け取れるようにする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・Forms「新しい応答が送信されるとき」でフロー起動</a:t>
            </a:r>
            <a:endParaRPr lang="en-US"/>
          </a:p>
          <a:p>
            <a:pPr marL="0" indent="0" algn="l">
              <a:buNone/>
            </a:pP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sz="1600"/>
              <a:t>・「応答の詳細を取得」で 名前 / 金額 / 用途 を抜き出す</a:t>
            </a:r>
            <a:endParaRPr lang="en-US" sz="1600"/>
          </a:p>
          <a:p>
            <a:pPr marL="0" indent="0" algn="l">
              <a:buNone/>
            </a:pPr>
            <a:endParaRPr lang="ja-JP" altLang="en-US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・「作成（Compose）」で1行サマリにまとめる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（例：山田太郎 様 / 会議費 / ¥3,500）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　→ あとでSPタイトルや承認カードに使い回せて便利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1" name="図 10" descr="The image depicts a user interface with two sections, each containing a text field for inputting responses, with instructions to retrieve and summarize application details.&#10;&#10;AI 生成コンテンツは誤りを含む可能性があります。">
            <a:extLst>
              <a:ext uri="{FF2B5EF4-FFF2-40B4-BE49-F238E27FC236}">
                <a16:creationId xmlns:a16="http://schemas.microsoft.com/office/drawing/2014/main" id="{E3F313C9-ADB6-6A37-504D-0DE5F3B6B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9252" y="674831"/>
            <a:ext cx="3488397" cy="535746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図 13" descr="A child in green clothing is depicted sitting on the floor, relaxing with a laptop open and on, while lying down.&#10;&#10;AI 生成コンテンツは誤りを含む可能性があります。">
            <a:extLst>
              <a:ext uri="{FF2B5EF4-FFF2-40B4-BE49-F238E27FC236}">
                <a16:creationId xmlns:a16="http://schemas.microsoft.com/office/drawing/2014/main" id="{49EE4930-6C21-6EBF-82EA-02FB985325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9707" y="3353565"/>
            <a:ext cx="2106190" cy="144157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1103811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フロー解説 ②  登録 → 承認待ち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207159" y="1948175"/>
            <a:ext cx="7380546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🎯 目的：申請をデータとして残しつつ、上司の判断を仰ぐ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sz="2000"/>
              <a:t>・「項目の作成」でSP「経費申請」リストに登録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sz="2000"/>
              <a:t>　Title=サマリ / Detail=詳細 / Status=申請中</a:t>
            </a:r>
            <a:endParaRPr lang="ja-JP" altLang="en-US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→ 全社の申請が1か所に蓄積される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sz="2000"/>
              <a:t>・「開始して承認を待機」で上司にTeams承認カード送信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→ フローは上司が押すまでじっと待機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1" name="図 10" descr="Submitted&#10;&#10;AI 生成コンテンツは誤りを含む可能性があります。">
            <a:extLst>
              <a:ext uri="{FF2B5EF4-FFF2-40B4-BE49-F238E27FC236}">
                <a16:creationId xmlns:a16="http://schemas.microsoft.com/office/drawing/2014/main" id="{0DD0D0D2-FD45-AE74-8E14-81FC75DD9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5320" y="1760009"/>
            <a:ext cx="4115374" cy="421063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図 13" descr="A hand holding a document with Japanese characters and a form with checkboxes and numbers.&#10;&#10;AI 生成コンテンツは誤りを含む可能性があります。">
            <a:extLst>
              <a:ext uri="{FF2B5EF4-FFF2-40B4-BE49-F238E27FC236}">
                <a16:creationId xmlns:a16="http://schemas.microsoft.com/office/drawing/2014/main" id="{59479EB1-0E7C-C3B6-9DC4-512C3E02C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5274" y="2596920"/>
            <a:ext cx="1639567" cy="1490184"/>
          </a:xfrm>
          <a:prstGeom prst="rect">
            <a:avLst/>
          </a:prstGeom>
        </p:spPr>
      </p:pic>
      <p:pic>
        <p:nvPicPr>
          <p:cNvPr id="16" name="図 15" descr="The image depicts a child in a blue shirt, sitting at a desk, looking confused and holding a smartphone, with an open email notification and a question mark above his head.&#10;&#10;AI 生成コンテンツは誤りを含む可能性があります。">
            <a:extLst>
              <a:ext uri="{FF2B5EF4-FFF2-40B4-BE49-F238E27FC236}">
                <a16:creationId xmlns:a16="http://schemas.microsoft.com/office/drawing/2014/main" id="{F06833EB-62C0-688B-7E01-15829AD707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4656" y="4994690"/>
            <a:ext cx="1490185" cy="14901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83781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フロー解説 ③  結果で更新＆通知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0" y="1523390"/>
            <a:ext cx="11975897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94417" y="2164046"/>
            <a:ext cx="6915983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🎯 目的：承認結果をデータに反映し、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 申請者にすぐ伝える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・「条件」で outcome = Approve かを判定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　※ outcome は英語固定（Approve / Reject）。日本語比較はNG</a:t>
            </a:r>
            <a:endParaRPr lang="en-US"/>
          </a:p>
          <a:p>
            <a:pPr marL="0" indent="0" algn="l">
              <a:buNone/>
            </a:pPr>
            <a:endParaRPr lang="en-US"/>
          </a:p>
          <a:p>
            <a:pPr marL="0" indent="0" algn="l">
              <a:buNone/>
            </a:pPr>
            <a:r>
              <a:t>・はい：Status「承認済」に更新 → Teamsで ✅ 通知</a:t>
            </a:r>
            <a:endParaRPr lang="en-US"/>
          </a:p>
          <a:p>
            <a:pPr marL="0" indent="0" algn="l">
              <a:buNone/>
            </a:pPr>
            <a:endParaRPr lang="ja-JP" altLang="en-US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・いいえ：Status「却下」に更新 → Teamsで ❌ 通知</a:t>
            </a:r>
            <a:endParaRPr lang="en-US"/>
          </a:p>
          <a:p>
            <a:pPr marL="0" indent="0" algn="l">
              <a:buNone/>
            </a:pPr>
            <a:endParaRPr lang="ja-JP" altLang="en-US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t>　→ 経費申請以外にも、有休・稟議・備品申請にそのまま応用可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1" name="図 10" descr="Reject&#10;&#10;AI 生成コンテンツは誤りを含む可能性があります。">
            <a:extLst>
              <a:ext uri="{FF2B5EF4-FFF2-40B4-BE49-F238E27FC236}">
                <a16:creationId xmlns:a16="http://schemas.microsoft.com/office/drawing/2014/main" id="{51253969-DE5D-4A72-3C6D-1FEDC2D29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7489" y="1740257"/>
            <a:ext cx="4941984" cy="430445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図 13" descr="The image depicts a cute, cartoonish cat holding a target with a cheerful expression.&#10;&#10;AI 生成コンテンツは誤りを含む可能性があります。">
            <a:extLst>
              <a:ext uri="{FF2B5EF4-FFF2-40B4-BE49-F238E27FC236}">
                <a16:creationId xmlns:a16="http://schemas.microsoft.com/office/drawing/2014/main" id="{DB25A7B8-36CA-2E8D-1D22-11781740D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691" y="5173320"/>
            <a:ext cx="1122182" cy="1181244"/>
          </a:xfrm>
          <a:prstGeom prst="rect">
            <a:avLst/>
          </a:prstGeom>
        </p:spPr>
      </p:pic>
      <p:pic>
        <p:nvPicPr>
          <p:cNvPr id="16" name="図 15" descr="The image depicts a gray cartoon cat with a red circle and cross, holding a magnifying glass.&#10;&#10;AI 生成コンテンツは誤りを含む可能性があります。">
            <a:extLst>
              <a:ext uri="{FF2B5EF4-FFF2-40B4-BE49-F238E27FC236}">
                <a16:creationId xmlns:a16="http://schemas.microsoft.com/office/drawing/2014/main" id="{AF3E22CA-FF0B-8F71-3F0B-A922DEFAE5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9206" y="5237266"/>
            <a:ext cx="1052236" cy="110761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1" y="1501341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814990" y="6322778"/>
            <a:ext cx="7139243" cy="405006"/>
            <a:chOff x="6034969" y="604238"/>
            <a:chExt cx="5862289" cy="405006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</p:grpSp>
      <p:sp>
        <p:nvSpPr>
          <p:cNvPr id="10" name="Text 5">
            <a:extLst>
              <a:ext uri="{FF2B5EF4-FFF2-40B4-BE49-F238E27FC236}">
                <a16:creationId xmlns:a16="http://schemas.microsoft.com/office/drawing/2014/main" id="{0DA7D246-5DFE-385C-DC4F-E8A338DB3505}"/>
              </a:ext>
            </a:extLst>
          </p:cNvPr>
          <p:cNvSpPr txBox="1"/>
          <p:nvPr/>
        </p:nvSpPr>
        <p:spPr>
          <a:xfrm>
            <a:off x="3030322" y="3331497"/>
            <a:ext cx="8169837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4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</a:rPr>
              <a:t>ハンズオン行きましょう。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5418318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71500" y="571500"/>
            <a:ext cx="1333195" cy="476402"/>
          </a:xfrm>
          <a:prstGeom prst="roundRect">
            <a:avLst>
              <a:gd name="adj" fmla="val 191939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95196" y="1558137"/>
            <a:ext cx="11194477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52805" y="3143707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52805" y="3143707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952805" y="4762195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52805" y="476219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91540" y="642823"/>
            <a:ext cx="70317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Vol.10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190902" y="523951"/>
            <a:ext cx="935431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1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</a:rPr>
              <a:t>今日のポイント　３つ</a:t>
            </a:r>
            <a:endParaRPr lang="en-US" sz="3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469" r="-469"/>
          <a:stretch/>
        </p:blipFill>
        <p:spPr>
          <a:xfrm>
            <a:off x="1462126" y="2024482"/>
            <a:ext cx="504749" cy="5715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381098" y="1570939"/>
            <a:ext cx="8763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Formsは「申請の受け皿」、SharePointは「データの置き場所」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2381098" y="2124151"/>
            <a:ext cx="95442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Formsで入力 → SharePointに保存 の流れは、社内のあらゆる申請フローに使い回せます。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今回作るのは経費申請ですが、有休・稟議・備品にもそのまま応用できます。</a:t>
            </a:r>
            <a:endParaRPr lang="en-US" sz="18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29207" y="3642970"/>
            <a:ext cx="571500" cy="5715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71953" y="3163346"/>
            <a:ext cx="8686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承認結果（outcome）は英語固定「Approve / Reject」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2444844" y="3742639"/>
            <a:ext cx="101720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条件分岐で日本語「承認」</a:t>
            </a:r>
            <a:r>
              <a:rPr lang="en-US" sz="18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と比較するとハマります。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outcome</a:t>
            </a: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は英語Approve/Rejectで比較すること。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これだけ覚えれば承認フローでつまずきません。</a:t>
            </a:r>
            <a:endParaRPr lang="en-US" sz="18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469" r="-469"/>
          <a:stretch/>
        </p:blipFill>
        <p:spPr>
          <a:xfrm>
            <a:off x="1462126" y="5262372"/>
            <a:ext cx="504749" cy="571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381098" y="4905756"/>
            <a:ext cx="95442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「項目の作成」の {Link} を承認カードに入れる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2381097" y="5362956"/>
            <a:ext cx="981059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承認カードに項目のリンクを入れておくと、承認者がTeamsから直接SharePointへ飛べます。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小さな工夫ですが、運用ストレスがぐっと減ります。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0306202" y="6191402"/>
            <a:ext cx="15051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447495"/>
            <a:ext cx="12191695" cy="526694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304495" y="1752905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19049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" y="2257654"/>
            <a:ext cx="304495" cy="304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52652" y="2066544"/>
            <a:ext cx="2563063" cy="637793"/>
          </a:xfrm>
          <a:prstGeom prst="roundRect">
            <a:avLst>
              <a:gd name="adj" fmla="val 112613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1582868" y="2181647"/>
            <a:ext cx="2781605" cy="39902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6D28D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経費申請の自動化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26923" y="2980944"/>
            <a:ext cx="3542488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Forms入力→SP登録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→上司承認→経理に通知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619049" y="3858372"/>
            <a:ext cx="3594761" cy="100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Forms＋SharePoint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→Approvals→Teams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結果でStatus更新まで自動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12" name="Shape 9"/>
          <p:cNvSpPr/>
          <p:nvPr/>
        </p:nvSpPr>
        <p:spPr>
          <a:xfrm>
            <a:off x="304494" y="5309921"/>
            <a:ext cx="3622853" cy="1052474"/>
          </a:xfrm>
          <a:prstGeom prst="roundRect">
            <a:avLst>
              <a:gd name="adj" fmla="val 22848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13" name="Text 10"/>
          <p:cNvSpPr txBox="1"/>
          <p:nvPr/>
        </p:nvSpPr>
        <p:spPr>
          <a:xfrm>
            <a:off x="934516" y="5379112"/>
            <a:ext cx="2873045" cy="883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Forms→SP→Approvals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16" name="Shape 12"/>
          <p:cNvSpPr/>
          <p:nvPr/>
        </p:nvSpPr>
        <p:spPr>
          <a:xfrm>
            <a:off x="4267505" y="175453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4479687" y="1917917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9882" y="2109027"/>
            <a:ext cx="304495" cy="30449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735387" y="1998232"/>
            <a:ext cx="2063140" cy="588606"/>
          </a:xfrm>
          <a:prstGeom prst="roundRect">
            <a:avLst>
              <a:gd name="adj" fmla="val 112613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20" name="Text 15"/>
          <p:cNvSpPr txBox="1"/>
          <p:nvPr/>
        </p:nvSpPr>
        <p:spPr>
          <a:xfrm>
            <a:off x="6052555" y="2125428"/>
            <a:ext cx="1544632" cy="33421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有休申請の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自動承認</a:t>
            </a:r>
            <a:endParaRPr lang="en-US" sz="3600" dirty="0"/>
          </a:p>
        </p:txBody>
      </p:sp>
      <p:sp>
        <p:nvSpPr>
          <p:cNvPr id="21" name="Text 16"/>
          <p:cNvSpPr txBox="1"/>
          <p:nvPr/>
        </p:nvSpPr>
        <p:spPr>
          <a:xfrm>
            <a:off x="4416094" y="3038477"/>
            <a:ext cx="3829965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休暇日・理由をFormsで申請</a:t>
            </a:r>
            <a:endParaRPr lang="en-US" sz="3600" dirty="0"/>
          </a:p>
          <a:p>
            <a:pPr marL="0" indent="0" algn="l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→上長承認→人事へ通知</a:t>
            </a:r>
            <a:endParaRPr lang="en-US" sz="3600" dirty="0"/>
          </a:p>
        </p:txBody>
      </p:sp>
      <p:sp>
        <p:nvSpPr>
          <p:cNvPr id="22" name="Text 17"/>
          <p:cNvSpPr txBox="1"/>
          <p:nvPr/>
        </p:nvSpPr>
        <p:spPr>
          <a:xfrm>
            <a:off x="4509813" y="3873215"/>
            <a:ext cx="3594761" cy="1105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Forms→SharePoint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→Approvals→Teams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承認結果で台帳更新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23" name="Shape 18"/>
          <p:cNvSpPr/>
          <p:nvPr/>
        </p:nvSpPr>
        <p:spPr>
          <a:xfrm>
            <a:off x="4402836" y="5309921"/>
            <a:ext cx="3477463" cy="1052474"/>
          </a:xfrm>
          <a:prstGeom prst="roundRect">
            <a:avLst>
              <a:gd name="adj" fmla="val 22848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24" name="Text 19"/>
          <p:cNvSpPr txBox="1"/>
          <p:nvPr/>
        </p:nvSpPr>
        <p:spPr>
          <a:xfrm>
            <a:off x="4714569" y="5398054"/>
            <a:ext cx="3301062" cy="79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Forms→SP→Approvals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27" name="Shape 21"/>
          <p:cNvSpPr/>
          <p:nvPr/>
        </p:nvSpPr>
        <p:spPr>
          <a:xfrm>
            <a:off x="8246059" y="1790914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28" name="Shape 22"/>
          <p:cNvSpPr/>
          <p:nvPr/>
        </p:nvSpPr>
        <p:spPr>
          <a:xfrm>
            <a:off x="8492947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8645652" y="2257654"/>
            <a:ext cx="381305" cy="304495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591531" y="1952181"/>
            <a:ext cx="2162878" cy="775966"/>
          </a:xfrm>
          <a:prstGeom prst="roundRect">
            <a:avLst>
              <a:gd name="adj" fmla="val 112613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1" name="Text 24"/>
          <p:cNvSpPr txBox="1"/>
          <p:nvPr/>
        </p:nvSpPr>
        <p:spPr>
          <a:xfrm>
            <a:off x="9635613" y="2215734"/>
            <a:ext cx="2452753" cy="7759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稟議書の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多段承認</a:t>
            </a:r>
          </a:p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2" name="Text 25"/>
          <p:cNvSpPr txBox="1"/>
          <p:nvPr/>
        </p:nvSpPr>
        <p:spPr>
          <a:xfrm>
            <a:off x="8356532" y="3059349"/>
            <a:ext cx="3294686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稟議書をFormsで起票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→課長→部長と順に承認</a:t>
            </a:r>
            <a:endParaRPr lang="en-US" sz="3600" dirty="0"/>
          </a:p>
        </p:txBody>
      </p:sp>
      <p:sp>
        <p:nvSpPr>
          <p:cNvPr id="33" name="Text 26"/>
          <p:cNvSpPr txBox="1"/>
          <p:nvPr/>
        </p:nvSpPr>
        <p:spPr>
          <a:xfrm>
            <a:off x="8516611" y="3885659"/>
            <a:ext cx="3467202" cy="14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Forms→SharePoint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→Approvals×複数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最終承認後にTeams通知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35" name="Text 28"/>
          <p:cNvSpPr txBox="1"/>
          <p:nvPr/>
        </p:nvSpPr>
        <p:spPr>
          <a:xfrm>
            <a:off x="8425281" y="5426075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8" name="Shape 30"/>
          <p:cNvSpPr/>
          <p:nvPr/>
        </p:nvSpPr>
        <p:spPr>
          <a:xfrm>
            <a:off x="0" y="28803"/>
            <a:ext cx="12191695" cy="14474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39" name="Shape 31"/>
          <p:cNvSpPr/>
          <p:nvPr/>
        </p:nvSpPr>
        <p:spPr>
          <a:xfrm>
            <a:off x="0" y="14383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41" name="Text 33"/>
          <p:cNvSpPr txBox="1"/>
          <p:nvPr/>
        </p:nvSpPr>
        <p:spPr>
          <a:xfrm>
            <a:off x="421292" y="526048"/>
            <a:ext cx="1103040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 × SharePoint × 承認 × Teams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実務応用の総まとめ</a:t>
            </a:r>
            <a:endParaRPr lang="en-US" sz="4500" dirty="0"/>
          </a:p>
        </p:txBody>
      </p:sp>
      <p:sp>
        <p:nvSpPr>
          <p:cNvPr id="43" name="Text 35"/>
          <p:cNvSpPr txBox="1"/>
          <p:nvPr/>
        </p:nvSpPr>
        <p:spPr>
          <a:xfrm>
            <a:off x="10911535" y="212905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0" y="6710782"/>
            <a:ext cx="12191695" cy="20025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47" name="Shape 38"/>
          <p:cNvSpPr/>
          <p:nvPr/>
        </p:nvSpPr>
        <p:spPr>
          <a:xfrm>
            <a:off x="0" y="6710782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48" name="Text 39"/>
          <p:cNvSpPr txBox="1"/>
          <p:nvPr/>
        </p:nvSpPr>
        <p:spPr>
          <a:xfrm>
            <a:off x="457200" y="6719926"/>
            <a:ext cx="22448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10646359" y="6719926"/>
            <a:ext cx="13039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6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F7690295-1154-A342-6B81-03B3E5B49ED6}"/>
              </a:ext>
            </a:extLst>
          </p:cNvPr>
          <p:cNvGrpSpPr/>
          <p:nvPr/>
        </p:nvGrpSpPr>
        <p:grpSpPr>
          <a:xfrm>
            <a:off x="4773516" y="6453440"/>
            <a:ext cx="7350682" cy="405017"/>
            <a:chOff x="5861349" y="604238"/>
            <a:chExt cx="6035909" cy="405017"/>
          </a:xfrm>
        </p:grpSpPr>
        <p:sp>
          <p:nvSpPr>
            <p:cNvPr id="56" name="Shape 31">
              <a:extLst>
                <a:ext uri="{FF2B5EF4-FFF2-40B4-BE49-F238E27FC236}">
                  <a16:creationId xmlns:a16="http://schemas.microsoft.com/office/drawing/2014/main" id="{A6315A21-492C-5343-0D62-6269B78C81F1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7" name="Text 21">
              <a:extLst>
                <a:ext uri="{FF2B5EF4-FFF2-40B4-BE49-F238E27FC236}">
                  <a16:creationId xmlns:a16="http://schemas.microsoft.com/office/drawing/2014/main" id="{CC8E7B5D-12F5-D155-68AA-50C8A94C417F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8" name="Image 2" descr="preencoded.png">
              <a:extLst>
                <a:ext uri="{FF2B5EF4-FFF2-40B4-BE49-F238E27FC236}">
                  <a16:creationId xmlns:a16="http://schemas.microsoft.com/office/drawing/2014/main" id="{7DCBFAF5-3DBE-80E1-29A0-F367DA25D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76352" y="-21387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61976" y="301467"/>
            <a:ext cx="5410505" cy="675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Next Action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71500" y="1581825"/>
            <a:ext cx="560070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アンケートのお願い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2124151"/>
            <a:ext cx="5486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所要時間：約1分</a:t>
            </a:r>
            <a:endParaRPr lang="en-US" sz="15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15" b="-15"/>
          <a:stretch/>
        </p:blipFill>
        <p:spPr>
          <a:xfrm>
            <a:off x="571500" y="2695651"/>
            <a:ext cx="5296205" cy="83850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326" y="2763275"/>
            <a:ext cx="389576" cy="38957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00607" y="2828588"/>
            <a:ext cx="3657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チャットをご確認ください</a:t>
            </a:r>
            <a:endParaRPr lang="en-US" sz="2400" dirty="0"/>
          </a:p>
        </p:txBody>
      </p:sp>
      <p:sp>
        <p:nvSpPr>
          <p:cNvPr id="10" name="Text 5"/>
          <p:cNvSpPr txBox="1"/>
          <p:nvPr/>
        </p:nvSpPr>
        <p:spPr>
          <a:xfrm>
            <a:off x="1014527" y="3261122"/>
            <a:ext cx="4819803" cy="20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このあとチャット欄にアンケートURLを貼ります。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t="-15" b="-15"/>
          <a:stretch/>
        </p:blipFill>
        <p:spPr>
          <a:xfrm>
            <a:off x="571500" y="3762756"/>
            <a:ext cx="5296205" cy="1113609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722" y="3790544"/>
            <a:ext cx="365759" cy="36575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04595" y="3914546"/>
            <a:ext cx="4134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安心の匿名フォーム</a:t>
            </a:r>
            <a:endParaRPr lang="en-US" sz="2400" dirty="0"/>
          </a:p>
        </p:txBody>
      </p:sp>
      <p:sp>
        <p:nvSpPr>
          <p:cNvPr id="14" name="Text 7"/>
          <p:cNvSpPr txBox="1"/>
          <p:nvPr/>
        </p:nvSpPr>
        <p:spPr>
          <a:xfrm>
            <a:off x="888705" y="4226973"/>
            <a:ext cx="4991405" cy="59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バッジ送付ご希望の方のみ送信用の</a:t>
            </a:r>
            <a:endParaRPr lang="en-US" altLang="ja-JP"/>
          </a:p>
          <a:p>
            <a:pPr marL="0" indent="0" algn="l">
              <a:buNone/>
            </a:pPr>
            <a:r>
              <a:rPr lang="ja-JP" altLang="en-US"/>
              <a:t>メールアドレスを記入（任意）</a:t>
            </a:r>
            <a:endParaRPr lang="en-US" dirty="0"/>
          </a:p>
        </p:txBody>
      </p:sp>
      <p:sp>
        <p:nvSpPr>
          <p:cNvPr id="17" name="Text 9"/>
          <p:cNvSpPr txBox="1"/>
          <p:nvPr/>
        </p:nvSpPr>
        <p:spPr>
          <a:xfrm>
            <a:off x="6172200" y="351214"/>
            <a:ext cx="541050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🎁 </a:t>
            </a:r>
            <a:r>
              <a:rPr 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Special </a:t>
            </a:r>
            <a:r>
              <a:rPr lang="en-US" sz="24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Gift</a:t>
            </a:r>
            <a:endParaRPr lang="en-US" sz="2400" dirty="0"/>
          </a:p>
        </p:txBody>
      </p:sp>
      <p:sp>
        <p:nvSpPr>
          <p:cNvPr id="18" name="Shape 10"/>
          <p:cNvSpPr/>
          <p:nvPr/>
        </p:nvSpPr>
        <p:spPr>
          <a:xfrm>
            <a:off x="6324905" y="943661"/>
            <a:ext cx="5296205" cy="4819802"/>
          </a:xfrm>
          <a:prstGeom prst="roundRect">
            <a:avLst>
              <a:gd name="adj" fmla="val 9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3"/>
          <p:cNvSpPr txBox="1"/>
          <p:nvPr/>
        </p:nvSpPr>
        <p:spPr>
          <a:xfrm>
            <a:off x="7308298" y="1501051"/>
            <a:ext cx="332850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バッジ</a:t>
            </a:r>
            <a:endParaRPr lang="en-US" sz="320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58607" y="2553005"/>
            <a:ext cx="1828800" cy="18288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581998" y="2400300"/>
            <a:ext cx="457200" cy="457200"/>
          </a:xfrm>
          <a:prstGeom prst="ellipse">
            <a:avLst/>
          </a:prstGeom>
          <a:solidFill>
            <a:srgbClr val="FBBF24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16"/>
          <p:cNvSpPr/>
          <p:nvPr/>
        </p:nvSpPr>
        <p:spPr>
          <a:xfrm>
            <a:off x="7981798" y="4153205"/>
            <a:ext cx="304495" cy="304495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 t="-27" b="-27"/>
          <a:stretch/>
        </p:blipFill>
        <p:spPr>
          <a:xfrm>
            <a:off x="6964029" y="4572915"/>
            <a:ext cx="3887691" cy="608989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7610856" y="4703859"/>
            <a:ext cx="318516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後日、お届けします</a:t>
            </a:r>
            <a:endParaRPr lang="en-US" dirty="0"/>
          </a:p>
        </p:txBody>
      </p:sp>
      <p:sp>
        <p:nvSpPr>
          <p:cNvPr id="30" name="Shape 18"/>
          <p:cNvSpPr/>
          <p:nvPr/>
        </p:nvSpPr>
        <p:spPr>
          <a:xfrm>
            <a:off x="571500" y="6059946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9"/>
          <p:cNvSpPr txBox="1"/>
          <p:nvPr/>
        </p:nvSpPr>
        <p:spPr>
          <a:xfrm>
            <a:off x="416605" y="6310922"/>
            <a:ext cx="1745831" cy="30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PA45｜第10回</a:t>
            </a:r>
            <a:endParaRPr lang="en-US" sz="1000" dirty="0"/>
          </a:p>
        </p:txBody>
      </p:sp>
      <p:sp>
        <p:nvSpPr>
          <p:cNvPr id="32" name="Text 20"/>
          <p:cNvSpPr txBox="1"/>
          <p:nvPr/>
        </p:nvSpPr>
        <p:spPr>
          <a:xfrm>
            <a:off x="1789857" y="6332753"/>
            <a:ext cx="1143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|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1952726" y="6322778"/>
            <a:ext cx="1137514" cy="24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5314493" y="6086939"/>
            <a:ext cx="3905707" cy="215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26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9970657" y="6081059"/>
            <a:ext cx="1948586" cy="30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861E8B3-E3DD-C84F-65D8-8D354C918F83}"/>
              </a:ext>
            </a:extLst>
          </p:cNvPr>
          <p:cNvSpPr/>
          <p:nvPr/>
        </p:nvSpPr>
        <p:spPr>
          <a:xfrm>
            <a:off x="147676" y="1572681"/>
            <a:ext cx="114300" cy="4569257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9AE478BF-D1A4-1FF1-7F4F-D75181898C42}"/>
              </a:ext>
            </a:extLst>
          </p:cNvPr>
          <p:cNvSpPr txBox="1"/>
          <p:nvPr/>
        </p:nvSpPr>
        <p:spPr>
          <a:xfrm>
            <a:off x="8511823" y="3258573"/>
            <a:ext cx="96765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4400" kern="0" spc="60">
                <a:solidFill>
                  <a:schemeClr val="bg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？</a:t>
            </a:r>
            <a:endParaRPr lang="en-US" sz="4400" dirty="0">
              <a:solidFill>
                <a:schemeClr val="bg1"/>
              </a:solidFill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18F671B6-865B-825E-58B6-45733630EC64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39" name="Shape 31">
              <a:extLst>
                <a:ext uri="{FF2B5EF4-FFF2-40B4-BE49-F238E27FC236}">
                  <a16:creationId xmlns:a16="http://schemas.microsoft.com/office/drawing/2014/main" id="{09F6BD02-AAED-4AE4-1723-76C382164EFB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0" name="Text 21">
              <a:extLst>
                <a:ext uri="{FF2B5EF4-FFF2-40B4-BE49-F238E27FC236}">
                  <a16:creationId xmlns:a16="http://schemas.microsoft.com/office/drawing/2014/main" id="{3D079374-4B86-0A08-8A21-A5F6A82AFA61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1" name="Image 2" descr="preencoded.png">
              <a:extLst>
                <a:ext uri="{FF2B5EF4-FFF2-40B4-BE49-F238E27FC236}">
                  <a16:creationId xmlns:a16="http://schemas.microsoft.com/office/drawing/2014/main" id="{C6953FA1-8653-2010-F17C-64622806C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5" name="Text 2">
            <a:extLst>
              <a:ext uri="{FF2B5EF4-FFF2-40B4-BE49-F238E27FC236}">
                <a16:creationId xmlns:a16="http://schemas.microsoft.com/office/drawing/2014/main" id="{59D5E270-E6AD-E457-0DD1-D6D69BCDC2F3}"/>
              </a:ext>
            </a:extLst>
          </p:cNvPr>
          <p:cNvSpPr txBox="1"/>
          <p:nvPr/>
        </p:nvSpPr>
        <p:spPr>
          <a:xfrm>
            <a:off x="575082" y="5283885"/>
            <a:ext cx="402846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チャット欄に</a:t>
            </a:r>
            <a:r>
              <a:rPr lang="en-US" altLang="ja-JP"/>
              <a:t>URL</a:t>
            </a:r>
            <a:r>
              <a:rPr lang="ja-JP" altLang="en-US"/>
              <a:t>を貼り付けます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2262</TotalTime>
  <Words>2070</Words>
  <Application>Microsoft Office PowerPoint</Application>
  <PresentationFormat>ワイド画面</PresentationFormat>
  <Paragraphs>434</Paragraphs>
  <Slides>18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3" baseType="lpstr">
      <vt:lpstr>BIZ UDGothic</vt:lpstr>
      <vt:lpstr>Noto Sans JP</vt:lpstr>
      <vt:lpstr>ui-monospace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27</cp:revision>
  <dcterms:created xsi:type="dcterms:W3CDTF">2026-03-02T01:22:39Z</dcterms:created>
  <dcterms:modified xsi:type="dcterms:W3CDTF">2026-05-14T05:09:02Z</dcterms:modified>
</cp:coreProperties>
</file>