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B93ED56-3850-9E4E-97B1-95BA32B5CB0D}"/>
              </a:ext>
            </a:extLst>
          </p:cNvPr>
          <p:cNvSpPr/>
          <p:nvPr/>
        </p:nvSpPr>
        <p:spPr>
          <a:xfrm>
            <a:off x="58783" y="482661"/>
            <a:ext cx="12133217" cy="635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3967999B-2C89-0572-1CE6-AAB896C7A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7" y="704387"/>
            <a:ext cx="11855977" cy="61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5DCDC9-BBB8-1268-26B1-16DA87AA7306}"/>
              </a:ext>
            </a:extLst>
          </p:cNvPr>
          <p:cNvSpPr txBox="1"/>
          <p:nvPr/>
        </p:nvSpPr>
        <p:spPr>
          <a:xfrm>
            <a:off x="922147" y="768693"/>
            <a:ext cx="109666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5563"/>
                </a:solidFill>
              </a:rPr>
              <a:t>💡</a:t>
            </a:r>
            <a:r>
              <a:rPr lang="ja-JP" altLang="en-US" sz="2800" b="1">
                <a:solidFill>
                  <a:srgbClr val="4B5563"/>
                </a:solidFill>
              </a:rPr>
              <a:t>苦手な</a:t>
            </a:r>
            <a:r>
              <a:rPr lang="en-US" altLang="ja-JP" sz="2800" b="1">
                <a:solidFill>
                  <a:srgbClr val="4B5563"/>
                </a:solidFill>
              </a:rPr>
              <a:t>JSON</a:t>
            </a:r>
            <a:r>
              <a:rPr lang="ja-JP" altLang="en-US" sz="2800" b="1">
                <a:solidFill>
                  <a:srgbClr val="4B5563"/>
                </a:solidFill>
              </a:rPr>
              <a:t>を克服。イラストイメージで迷子にならない。</a:t>
            </a:r>
            <a:endParaRPr sz="2800" b="1">
              <a:solidFill>
                <a:srgbClr val="4B5563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0B243C-EA87-129F-87BF-5B33D04AE2A2}"/>
              </a:ext>
            </a:extLst>
          </p:cNvPr>
          <p:cNvSpPr/>
          <p:nvPr/>
        </p:nvSpPr>
        <p:spPr>
          <a:xfrm>
            <a:off x="736891" y="1482319"/>
            <a:ext cx="2953365" cy="888786"/>
          </a:xfrm>
          <a:prstGeom prst="roundRect">
            <a:avLst>
              <a:gd name="adj" fmla="val 14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配列</a:t>
            </a:r>
            <a:endParaRPr lang="en-US" altLang="ja-JP"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</a:t>
            </a:r>
            <a:r>
              <a:rPr lang="en-US" altLang="ja-JP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Array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）</a:t>
            </a:r>
            <a:endParaRPr sz="1300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220E48-43DB-110D-2728-C060F668A84B}"/>
              </a:ext>
            </a:extLst>
          </p:cNvPr>
          <p:cNvSpPr/>
          <p:nvPr/>
        </p:nvSpPr>
        <p:spPr>
          <a:xfrm>
            <a:off x="4682690" y="1516453"/>
            <a:ext cx="2985392" cy="926216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オブジェクト</a:t>
            </a:r>
            <a:endParaRPr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</a:t>
            </a:r>
            <a:r>
              <a:rPr lang="en-US" altLang="ja-JP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Object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）</a:t>
            </a:r>
            <a:endParaRPr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9B44A6-C8D9-068E-8E03-DF0D17E7F44E}"/>
              </a:ext>
            </a:extLst>
          </p:cNvPr>
          <p:cNvSpPr/>
          <p:nvPr/>
        </p:nvSpPr>
        <p:spPr>
          <a:xfrm>
            <a:off x="8524643" y="1432780"/>
            <a:ext cx="3433818" cy="958398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item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（アイテム）</a:t>
            </a:r>
            <a:endParaRPr lang="en-US"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lang="en-US" altLang="ja-JP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項目目・値</a:t>
            </a:r>
            <a:endParaRPr sz="1300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B33E79-6DF4-1DB2-ECE6-DB0537FF6738}"/>
              </a:ext>
            </a:extLst>
          </p:cNvPr>
          <p:cNvSpPr/>
          <p:nvPr/>
        </p:nvSpPr>
        <p:spPr>
          <a:xfrm>
            <a:off x="246502" y="2547882"/>
            <a:ext cx="3959758" cy="3979155"/>
          </a:xfrm>
          <a:prstGeom prst="roundRect">
            <a:avLst>
              <a:gd name="adj" fmla="val 4095"/>
            </a:avLst>
          </a:prstGeom>
          <a:solidFill>
            <a:schemeClr val="bg1"/>
          </a:solidFill>
          <a:ln w="6032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C731346-D1E4-5750-AEB1-3B9FE5FE1E5E}"/>
              </a:ext>
            </a:extLst>
          </p:cNvPr>
          <p:cNvSpPr/>
          <p:nvPr/>
        </p:nvSpPr>
        <p:spPr>
          <a:xfrm>
            <a:off x="422212" y="3083585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92EC76-24B8-6B94-64EB-06B2A6A4119F}"/>
              </a:ext>
            </a:extLst>
          </p:cNvPr>
          <p:cNvSpPr/>
          <p:nvPr/>
        </p:nvSpPr>
        <p:spPr>
          <a:xfrm>
            <a:off x="422212" y="3577361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124DBD5-3987-008D-7824-2B7AE99EB7AA}"/>
              </a:ext>
            </a:extLst>
          </p:cNvPr>
          <p:cNvSpPr/>
          <p:nvPr/>
        </p:nvSpPr>
        <p:spPr>
          <a:xfrm>
            <a:off x="422212" y="4071137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A83F05-4DCF-FA03-E955-054C39FAB4E8}"/>
              </a:ext>
            </a:extLst>
          </p:cNvPr>
          <p:cNvSpPr txBox="1"/>
          <p:nvPr/>
        </p:nvSpPr>
        <p:spPr>
          <a:xfrm>
            <a:off x="138746" y="4516530"/>
            <a:ext cx="3805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配列という大きな棚の引き出しに</a:t>
            </a:r>
            <a:endParaRPr lang="en-US" altLang="ja-JP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同じ形の箱📦が入っている</a:t>
            </a:r>
            <a:endParaRPr lang="en-US" altLang="ja-JP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510FBCC-2DA5-95C8-3826-BE910229D531}"/>
              </a:ext>
            </a:extLst>
          </p:cNvPr>
          <p:cNvSpPr/>
          <p:nvPr/>
        </p:nvSpPr>
        <p:spPr>
          <a:xfrm>
            <a:off x="7891128" y="2544246"/>
            <a:ext cx="4037609" cy="4039433"/>
          </a:xfrm>
          <a:prstGeom prst="roundRect">
            <a:avLst>
              <a:gd name="adj" fmla="val 4215"/>
            </a:avLst>
          </a:prstGeom>
          <a:solidFill>
            <a:schemeClr val="bg1"/>
          </a:solidFill>
          <a:ln w="60325">
            <a:solidFill>
              <a:srgbClr val="16A34A"/>
            </a:solidFill>
          </a:ln>
          <a:effectLst>
            <a:outerShdw blurRad="508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A2D85F-8097-5BB6-0228-32E4A0DE1598}"/>
              </a:ext>
            </a:extLst>
          </p:cNvPr>
          <p:cNvSpPr txBox="1"/>
          <p:nvPr/>
        </p:nvSpPr>
        <p:spPr>
          <a:xfrm>
            <a:off x="10928668" y="6510528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</a:rPr>
              <a:t>#PA45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FE098AD9-E96E-7014-B8F0-75E45D2DE1F3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AFAC19F9-058C-41E6-E684-906712210A84}"/>
              </a:ext>
            </a:extLst>
          </p:cNvPr>
          <p:cNvSpPr txBox="1"/>
          <p:nvPr/>
        </p:nvSpPr>
        <p:spPr>
          <a:xfrm>
            <a:off x="1826709" y="129388"/>
            <a:ext cx="952553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r>
              <a:rPr lang="ja-JP" altLang="en-US" sz="40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“箱モデル”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で理解する</a:t>
            </a: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21F61FEE-3BB9-EA6B-425B-13F2E15F0BC6}"/>
              </a:ext>
            </a:extLst>
          </p:cNvPr>
          <p:cNvSpPr/>
          <p:nvPr/>
        </p:nvSpPr>
        <p:spPr>
          <a:xfrm>
            <a:off x="215168" y="59640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B0175960-6109-0E76-BED3-5694F44C6659}"/>
              </a:ext>
            </a:extLst>
          </p:cNvPr>
          <p:cNvSpPr/>
          <p:nvPr/>
        </p:nvSpPr>
        <p:spPr>
          <a:xfrm>
            <a:off x="6858" y="-45072"/>
            <a:ext cx="12120300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011F91D6-22E6-34EB-D991-44EEB272D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pic>
        <p:nvPicPr>
          <p:cNvPr id="69" name="Image 10" descr="preencoded.png">
            <a:extLst>
              <a:ext uri="{FF2B5EF4-FFF2-40B4-BE49-F238E27FC236}">
                <a16:creationId xmlns:a16="http://schemas.microsoft.com/office/drawing/2014/main" id="{68069ADB-F40E-D676-5F87-A49D959A2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7819260" y="1430971"/>
            <a:ext cx="520848" cy="1040033"/>
          </a:xfrm>
          <a:prstGeom prst="rect">
            <a:avLst/>
          </a:prstGeom>
        </p:spPr>
      </p:pic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90A5212B-B707-80FC-91B0-B23295F8E3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4116647" y="1425861"/>
            <a:ext cx="520848" cy="1040033"/>
          </a:xfrm>
          <a:prstGeom prst="rect">
            <a:avLst/>
          </a:prstGeom>
        </p:spPr>
      </p:pic>
      <p:sp>
        <p:nvSpPr>
          <p:cNvPr id="46" name="Text 3">
            <a:extLst>
              <a:ext uri="{FF2B5EF4-FFF2-40B4-BE49-F238E27FC236}">
                <a16:creationId xmlns:a16="http://schemas.microsoft.com/office/drawing/2014/main" id="{6FAC4C93-EBEB-6FC7-CE9F-A6C4E1CED4B9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Vol.18</a:t>
            </a:r>
            <a:endParaRPr lang="en-US" sz="32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1045135-E07B-ADD4-5BCB-ADD106EC5DE5}"/>
              </a:ext>
            </a:extLst>
          </p:cNvPr>
          <p:cNvGrpSpPr/>
          <p:nvPr/>
        </p:nvGrpSpPr>
        <p:grpSpPr>
          <a:xfrm>
            <a:off x="361781" y="5193053"/>
            <a:ext cx="3679478" cy="1209759"/>
            <a:chOff x="580644" y="4134002"/>
            <a:chExt cx="3258007" cy="771754"/>
          </a:xfrm>
        </p:grpSpPr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8AC62E42-5137-1104-AB48-47C0AF1B1E6C}"/>
                </a:ext>
              </a:extLst>
            </p:cNvPr>
            <p:cNvSpPr/>
            <p:nvPr/>
          </p:nvSpPr>
          <p:spPr>
            <a:xfrm>
              <a:off x="580644" y="4134002"/>
              <a:ext cx="3258007" cy="771754"/>
            </a:xfrm>
            <a:prstGeom prst="roundRect">
              <a:avLst>
                <a:gd name="adj" fmla="val 11702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3093DA78-F5B4-07B0-D4F4-736D150E55A8}"/>
                </a:ext>
              </a:extLst>
            </p:cNvPr>
            <p:cNvSpPr txBox="1"/>
            <p:nvPr/>
          </p:nvSpPr>
          <p:spPr>
            <a:xfrm>
              <a:off x="666598" y="4377836"/>
              <a:ext cx="3086100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bg2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「この中を1個ずつ処理して」</a:t>
              </a:r>
              <a:endParaRPr lang="en-US" sz="2000" b="1" dirty="0">
                <a:solidFill>
                  <a:schemeClr val="bg2"/>
                </a:solidFill>
              </a:endParaRPr>
            </a:p>
            <a:p>
              <a:pPr marL="0" indent="0" algn="l">
                <a:buNone/>
              </a:pPr>
              <a:r>
                <a:rPr lang="en-US" sz="2000" b="1" dirty="0">
                  <a:solidFill>
                    <a:schemeClr val="bg2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👉 Apply to each の出番</a:t>
              </a:r>
              <a:endParaRPr lang="en-US" sz="20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4884645B-0FBB-574C-102D-F471E2E32A70}"/>
              </a:ext>
            </a:extLst>
          </p:cNvPr>
          <p:cNvSpPr/>
          <p:nvPr/>
        </p:nvSpPr>
        <p:spPr>
          <a:xfrm>
            <a:off x="4358946" y="2567759"/>
            <a:ext cx="3343244" cy="3979155"/>
          </a:xfrm>
          <a:prstGeom prst="roundRect">
            <a:avLst>
              <a:gd name="adj" fmla="val 4095"/>
            </a:avLst>
          </a:prstGeom>
          <a:solidFill>
            <a:schemeClr val="bg1"/>
          </a:solidFill>
          <a:ln w="60325">
            <a:solidFill>
              <a:srgbClr val="0000CC"/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922D146B-07FD-0536-8325-7DCFFCADBBB4}"/>
              </a:ext>
            </a:extLst>
          </p:cNvPr>
          <p:cNvSpPr txBox="1"/>
          <p:nvPr/>
        </p:nvSpPr>
        <p:spPr>
          <a:xfrm>
            <a:off x="4217378" y="2501956"/>
            <a:ext cx="1960785" cy="159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96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556D72E1-B499-3E21-A974-21883411AFF1}"/>
              </a:ext>
            </a:extLst>
          </p:cNvPr>
          <p:cNvSpPr txBox="1"/>
          <p:nvPr/>
        </p:nvSpPr>
        <p:spPr>
          <a:xfrm>
            <a:off x="4246209" y="4687139"/>
            <a:ext cx="3284048" cy="43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Object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（大きい箱）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1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件分の情報セット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9" name="図 58" descr="The image depicts a colorful, textured sandwich with a crunchy bread exterior, topped with lettuce, tomato, and sprinkled with colorful, shredded vegetables.&#10;&#10;AI 生成コンテンツは誤りを含む可能性があります。">
            <a:extLst>
              <a:ext uri="{FF2B5EF4-FFF2-40B4-BE49-F238E27FC236}">
                <a16:creationId xmlns:a16="http://schemas.microsoft.com/office/drawing/2014/main" id="{FE291F05-186C-AF34-9877-BFCCF3F4A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709" y="2658351"/>
            <a:ext cx="855744" cy="855744"/>
          </a:xfrm>
          <a:prstGeom prst="rect">
            <a:avLst/>
          </a:prstGeom>
        </p:spPr>
      </p:pic>
      <p:pic>
        <p:nvPicPr>
          <p:cNvPr id="60" name="図 59" descr="The image depicts a colorful, blue-striped bowl filled with white rice, garnished with greenery, and a side of red curry.&#10;&#10;AI 生成コンテンツは誤りを含む可能性があります。">
            <a:extLst>
              <a:ext uri="{FF2B5EF4-FFF2-40B4-BE49-F238E27FC236}">
                <a16:creationId xmlns:a16="http://schemas.microsoft.com/office/drawing/2014/main" id="{D1A1361B-430A-9C92-82C5-9170CAE58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047" y="3660662"/>
            <a:ext cx="851876" cy="781596"/>
          </a:xfrm>
          <a:prstGeom prst="rect">
            <a:avLst/>
          </a:prstGeom>
        </p:spPr>
      </p:pic>
      <p:sp>
        <p:nvSpPr>
          <p:cNvPr id="63" name="Text 6">
            <a:extLst>
              <a:ext uri="{FF2B5EF4-FFF2-40B4-BE49-F238E27FC236}">
                <a16:creationId xmlns:a16="http://schemas.microsoft.com/office/drawing/2014/main" id="{A38F56E2-F928-170B-C0FD-8669B0268239}"/>
              </a:ext>
            </a:extLst>
          </p:cNvPr>
          <p:cNvSpPr txBox="1"/>
          <p:nvPr/>
        </p:nvSpPr>
        <p:spPr>
          <a:xfrm>
            <a:off x="4471378" y="3892641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オブジェクト（</a:t>
            </a:r>
            <a:r>
              <a:rPr lang="en-US" altLang="ja-JP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Object</a:t>
            </a: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）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6FB284CC-9DD4-5890-08A1-2A0619089247}"/>
              </a:ext>
            </a:extLst>
          </p:cNvPr>
          <p:cNvGrpSpPr/>
          <p:nvPr/>
        </p:nvGrpSpPr>
        <p:grpSpPr>
          <a:xfrm>
            <a:off x="9225987" y="3123577"/>
            <a:ext cx="2396710" cy="479169"/>
            <a:chOff x="346466" y="4437864"/>
            <a:chExt cx="3679755" cy="479169"/>
          </a:xfrm>
        </p:grpSpPr>
        <p:pic>
          <p:nvPicPr>
            <p:cNvPr id="76" name="Image 6" descr="preencoded.png">
              <a:extLst>
                <a:ext uri="{FF2B5EF4-FFF2-40B4-BE49-F238E27FC236}">
                  <a16:creationId xmlns:a16="http://schemas.microsoft.com/office/drawing/2014/main" id="{71F3AF73-54C4-8DF7-36AF-254898C02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60000"/>
            </a:blip>
            <a:srcRect l="-9" r="-9"/>
            <a:stretch/>
          </p:blipFill>
          <p:spPr>
            <a:xfrm>
              <a:off x="346466" y="4437864"/>
              <a:ext cx="3679755" cy="4791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</p:pic>
        <p:sp>
          <p:nvSpPr>
            <p:cNvPr id="77" name="Text 21">
              <a:extLst>
                <a:ext uri="{FF2B5EF4-FFF2-40B4-BE49-F238E27FC236}">
                  <a16:creationId xmlns:a16="http://schemas.microsoft.com/office/drawing/2014/main" id="{B7B6BAB4-8427-B6CE-4632-630F90E16AD9}"/>
                </a:ext>
              </a:extLst>
            </p:cNvPr>
            <p:cNvSpPr txBox="1"/>
            <p:nvPr/>
          </p:nvSpPr>
          <p:spPr>
            <a:xfrm>
              <a:off x="422873" y="4487262"/>
              <a:ext cx="3483091" cy="349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おかず</a:t>
              </a:r>
              <a:r>
                <a: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 “</a:t>
              </a:r>
              <a:r>
                <a:rPr lang="ja-JP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ハンバーグ</a:t>
              </a:r>
              <a:r>
                <a: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"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2" name="Shape 22">
            <a:extLst>
              <a:ext uri="{FF2B5EF4-FFF2-40B4-BE49-F238E27FC236}">
                <a16:creationId xmlns:a16="http://schemas.microsoft.com/office/drawing/2014/main" id="{7CB59F9B-CC92-E28F-11BF-D702F23848FB}"/>
              </a:ext>
            </a:extLst>
          </p:cNvPr>
          <p:cNvSpPr/>
          <p:nvPr/>
        </p:nvSpPr>
        <p:spPr>
          <a:xfrm>
            <a:off x="8061649" y="5193053"/>
            <a:ext cx="3727579" cy="1344872"/>
          </a:xfrm>
          <a:prstGeom prst="roundRect">
            <a:avLst>
              <a:gd name="adj" fmla="val 117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13E12F17-0D1B-9846-A5FD-4A4B9D73D7EC}"/>
              </a:ext>
            </a:extLst>
          </p:cNvPr>
          <p:cNvSpPr txBox="1"/>
          <p:nvPr/>
        </p:nvSpPr>
        <p:spPr>
          <a:xfrm>
            <a:off x="8266042" y="5310228"/>
            <a:ext cx="3548931" cy="1127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chemeClr val="bg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Item()が「1レコード」に相当。</a:t>
            </a:r>
            <a:endParaRPr lang="en-US" b="1">
              <a:solidFill>
                <a:schemeClr val="bg2"/>
              </a:solidFill>
            </a:endParaRPr>
          </a:p>
          <a:p>
            <a:r>
              <a:rPr lang="ja-JP" altLang="en-US" b="1">
                <a:solidFill>
                  <a:schemeClr val="bg2"/>
                </a:solidFill>
              </a:rPr>
              <a:t>👉</a:t>
            </a:r>
            <a:r>
              <a:rPr lang="en-US" b="1">
                <a:solidFill>
                  <a:schemeClr val="bg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動的コンテンツで値を</a:t>
            </a:r>
          </a:p>
          <a:p>
            <a:pPr marL="0" indent="0" algn="l">
              <a:buNone/>
            </a:pPr>
            <a:r>
              <a:rPr lang="en-US" b="1">
                <a:solidFill>
                  <a:schemeClr val="bg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取り出す単位。</a:t>
            </a:r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F906AFAB-1C19-2FA2-2BD3-6283929EF0CB}"/>
              </a:ext>
            </a:extLst>
          </p:cNvPr>
          <p:cNvSpPr txBox="1"/>
          <p:nvPr/>
        </p:nvSpPr>
        <p:spPr>
          <a:xfrm>
            <a:off x="2556851" y="2498942"/>
            <a:ext cx="1047502" cy="9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4000" dirty="0"/>
          </a:p>
        </p:txBody>
      </p:sp>
      <p:sp>
        <p:nvSpPr>
          <p:cNvPr id="87" name="Text 17">
            <a:extLst>
              <a:ext uri="{FF2B5EF4-FFF2-40B4-BE49-F238E27FC236}">
                <a16:creationId xmlns:a16="http://schemas.microsoft.com/office/drawing/2014/main" id="{A13F90C7-2381-8156-9F19-763BC1A63904}"/>
              </a:ext>
            </a:extLst>
          </p:cNvPr>
          <p:cNvSpPr txBox="1"/>
          <p:nvPr/>
        </p:nvSpPr>
        <p:spPr>
          <a:xfrm>
            <a:off x="2530781" y="3063532"/>
            <a:ext cx="1047502" cy="9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4000" dirty="0"/>
          </a:p>
        </p:txBody>
      </p:sp>
      <p:sp>
        <p:nvSpPr>
          <p:cNvPr id="88" name="Text 17">
            <a:extLst>
              <a:ext uri="{FF2B5EF4-FFF2-40B4-BE49-F238E27FC236}">
                <a16:creationId xmlns:a16="http://schemas.microsoft.com/office/drawing/2014/main" id="{1C407C1B-1A57-0BF0-E895-F2356DA60744}"/>
              </a:ext>
            </a:extLst>
          </p:cNvPr>
          <p:cNvSpPr txBox="1"/>
          <p:nvPr/>
        </p:nvSpPr>
        <p:spPr>
          <a:xfrm>
            <a:off x="2515239" y="3682214"/>
            <a:ext cx="1047502" cy="9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4000" dirty="0"/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4BFEE711-A3DF-FBA4-57E4-99371E0C6364}"/>
              </a:ext>
            </a:extLst>
          </p:cNvPr>
          <p:cNvCxnSpPr/>
          <p:nvPr/>
        </p:nvCxnSpPr>
        <p:spPr>
          <a:xfrm flipV="1">
            <a:off x="3238500" y="3479077"/>
            <a:ext cx="451757" cy="478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 17">
            <a:extLst>
              <a:ext uri="{FF2B5EF4-FFF2-40B4-BE49-F238E27FC236}">
                <a16:creationId xmlns:a16="http://schemas.microsoft.com/office/drawing/2014/main" id="{7715288E-058E-3EDC-AB08-48EA2CD5F2C0}"/>
              </a:ext>
            </a:extLst>
          </p:cNvPr>
          <p:cNvSpPr txBox="1"/>
          <p:nvPr/>
        </p:nvSpPr>
        <p:spPr>
          <a:xfrm>
            <a:off x="6727336" y="1437541"/>
            <a:ext cx="1046730" cy="102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5400" dirty="0"/>
          </a:p>
        </p:txBody>
      </p:sp>
      <p:pic>
        <p:nvPicPr>
          <p:cNvPr id="114" name="図 113" descr="The image depicts a colorful, textured sandwich with a crunchy bread exterior, topped with lettuce, tomato, and sprinkled with colorful, shredded vegetables.&#10;&#10;AI 生成コンテンツは誤りを含む可能性があります。">
            <a:extLst>
              <a:ext uri="{FF2B5EF4-FFF2-40B4-BE49-F238E27FC236}">
                <a16:creationId xmlns:a16="http://schemas.microsoft.com/office/drawing/2014/main" id="{5A5A62C5-5832-323D-5B74-99895D11E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649" y="2659619"/>
            <a:ext cx="1128828" cy="1128828"/>
          </a:xfrm>
          <a:prstGeom prst="rect">
            <a:avLst/>
          </a:prstGeom>
        </p:spPr>
      </p:pic>
      <p:sp>
        <p:nvSpPr>
          <p:cNvPr id="119" name="左中かっこ 118">
            <a:extLst>
              <a:ext uri="{FF2B5EF4-FFF2-40B4-BE49-F238E27FC236}">
                <a16:creationId xmlns:a16="http://schemas.microsoft.com/office/drawing/2014/main" id="{E8D2EB65-BE67-15C5-FF88-AE908BCB208A}"/>
              </a:ext>
            </a:extLst>
          </p:cNvPr>
          <p:cNvSpPr/>
          <p:nvPr/>
        </p:nvSpPr>
        <p:spPr>
          <a:xfrm>
            <a:off x="2299400" y="2824843"/>
            <a:ext cx="324057" cy="1515161"/>
          </a:xfrm>
          <a:prstGeom prst="leftBrace">
            <a:avLst>
              <a:gd name="adj1" fmla="val 34351"/>
              <a:gd name="adj2" fmla="val 2618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左中かっこ 119">
            <a:extLst>
              <a:ext uri="{FF2B5EF4-FFF2-40B4-BE49-F238E27FC236}">
                <a16:creationId xmlns:a16="http://schemas.microsoft.com/office/drawing/2014/main" id="{3A367488-B6D5-CF98-DACB-28E3E388590D}"/>
              </a:ext>
            </a:extLst>
          </p:cNvPr>
          <p:cNvSpPr/>
          <p:nvPr/>
        </p:nvSpPr>
        <p:spPr>
          <a:xfrm>
            <a:off x="6072653" y="2824843"/>
            <a:ext cx="324057" cy="1515161"/>
          </a:xfrm>
          <a:prstGeom prst="leftBrace">
            <a:avLst>
              <a:gd name="adj1" fmla="val 34351"/>
              <a:gd name="adj2" fmla="val 2618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0994C045-69A3-A965-C48D-3DDE467F1BD0}"/>
              </a:ext>
            </a:extLst>
          </p:cNvPr>
          <p:cNvGrpSpPr/>
          <p:nvPr/>
        </p:nvGrpSpPr>
        <p:grpSpPr>
          <a:xfrm>
            <a:off x="4491228" y="5246422"/>
            <a:ext cx="3160185" cy="1209759"/>
            <a:chOff x="580644" y="4134002"/>
            <a:chExt cx="3344260" cy="771754"/>
          </a:xfrm>
        </p:grpSpPr>
        <p:sp>
          <p:nvSpPr>
            <p:cNvPr id="123" name="Shape 13">
              <a:extLst>
                <a:ext uri="{FF2B5EF4-FFF2-40B4-BE49-F238E27FC236}">
                  <a16:creationId xmlns:a16="http://schemas.microsoft.com/office/drawing/2014/main" id="{2144B7F6-76A5-C8AA-EBA6-13D10BD09CC2}"/>
                </a:ext>
              </a:extLst>
            </p:cNvPr>
            <p:cNvSpPr/>
            <p:nvPr/>
          </p:nvSpPr>
          <p:spPr>
            <a:xfrm>
              <a:off x="580644" y="4134002"/>
              <a:ext cx="3258007" cy="771754"/>
            </a:xfrm>
            <a:prstGeom prst="roundRect">
              <a:avLst>
                <a:gd name="adj" fmla="val 11702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124" name="Text 14">
              <a:extLst>
                <a:ext uri="{FF2B5EF4-FFF2-40B4-BE49-F238E27FC236}">
                  <a16:creationId xmlns:a16="http://schemas.microsoft.com/office/drawing/2014/main" id="{930E92CB-372B-0A8B-8ACD-CF01FA7CC172}"/>
                </a:ext>
              </a:extLst>
            </p:cNvPr>
            <p:cNvSpPr txBox="1"/>
            <p:nvPr/>
          </p:nvSpPr>
          <p:spPr>
            <a:xfrm>
              <a:off x="793333" y="4238970"/>
              <a:ext cx="305775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dirty="0"/>
            </a:p>
          </p:txBody>
        </p:sp>
        <p:sp>
          <p:nvSpPr>
            <p:cNvPr id="125" name="Text 15">
              <a:extLst>
                <a:ext uri="{FF2B5EF4-FFF2-40B4-BE49-F238E27FC236}">
                  <a16:creationId xmlns:a16="http://schemas.microsoft.com/office/drawing/2014/main" id="{3283BC15-413D-3FFD-E845-FF8A16AA8FEB}"/>
                </a:ext>
              </a:extLst>
            </p:cNvPr>
            <p:cNvSpPr txBox="1"/>
            <p:nvPr/>
          </p:nvSpPr>
          <p:spPr>
            <a:xfrm>
              <a:off x="838804" y="4343790"/>
              <a:ext cx="3086100" cy="389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altLang="ja-JP" sz="2000" b="1">
                  <a:solidFill>
                    <a:schemeClr val="bg2"/>
                  </a:solidFill>
                </a:rPr>
                <a:t>【</a:t>
              </a:r>
              <a:r>
                <a:rPr lang="ja-JP" altLang="en-US" sz="2000" b="1">
                  <a:solidFill>
                    <a:schemeClr val="bg2"/>
                  </a:solidFill>
                </a:rPr>
                <a:t>複数</a:t>
              </a:r>
              <a:r>
                <a:rPr lang="en-US" altLang="ja-JP" sz="2000" b="1">
                  <a:solidFill>
                    <a:schemeClr val="bg2"/>
                  </a:solidFill>
                </a:rPr>
                <a:t>】</a:t>
              </a:r>
              <a:r>
                <a:rPr lang="ja-JP" altLang="en-US" sz="2000" b="1">
                  <a:solidFill>
                    <a:schemeClr val="bg2"/>
                  </a:solidFill>
                </a:rPr>
                <a:t>の</a:t>
              </a:r>
              <a:r>
                <a:rPr lang="en-US" altLang="ja-JP" sz="2000" b="1">
                  <a:solidFill>
                    <a:schemeClr val="bg2"/>
                  </a:solidFill>
                </a:rPr>
                <a:t>item	</a:t>
              </a:r>
              <a:r>
                <a:rPr lang="ja-JP" altLang="en-US" sz="2000" b="1">
                  <a:solidFill>
                    <a:schemeClr val="bg2"/>
                  </a:solidFill>
                </a:rPr>
                <a:t>を</a:t>
              </a:r>
              <a:endParaRPr lang="en-US" altLang="ja-JP" sz="2000" b="1">
                <a:solidFill>
                  <a:schemeClr val="bg2"/>
                </a:solidFill>
              </a:endParaRPr>
            </a:p>
            <a:p>
              <a:pPr marL="0" indent="0" algn="l">
                <a:buNone/>
              </a:pPr>
              <a:r>
                <a:rPr lang="ja-JP" altLang="en-US" sz="2000" b="1">
                  <a:solidFill>
                    <a:schemeClr val="bg2"/>
                  </a:solidFill>
                </a:rPr>
                <a:t>まとめた、</a:t>
              </a:r>
              <a:endParaRPr lang="en-US" altLang="ja-JP" sz="2000" b="1">
                <a:solidFill>
                  <a:schemeClr val="bg2"/>
                </a:solidFill>
              </a:endParaRPr>
            </a:p>
            <a:p>
              <a:r>
                <a:rPr lang="en-US" altLang="ja-JP" sz="2000" b="1">
                  <a:solidFill>
                    <a:schemeClr val="bg2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👉 </a:t>
              </a:r>
              <a:r>
                <a:rPr lang="en-US" altLang="ja-JP" sz="2000" b="1">
                  <a:solidFill>
                    <a:schemeClr val="bg2"/>
                  </a:solidFill>
                </a:rPr>
                <a:t>1</a:t>
              </a:r>
              <a:r>
                <a:rPr lang="ja-JP" altLang="en-US" sz="2000" b="1">
                  <a:solidFill>
                    <a:schemeClr val="bg2"/>
                  </a:solidFill>
                </a:rPr>
                <a:t>つ分の情報パック</a:t>
              </a:r>
              <a:endParaRPr lang="en-US" sz="20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26" name="Text 21">
            <a:extLst>
              <a:ext uri="{FF2B5EF4-FFF2-40B4-BE49-F238E27FC236}">
                <a16:creationId xmlns:a16="http://schemas.microsoft.com/office/drawing/2014/main" id="{EC194B12-3DFE-7209-4489-7ACEDDD84704}"/>
              </a:ext>
            </a:extLst>
          </p:cNvPr>
          <p:cNvSpPr txBox="1"/>
          <p:nvPr/>
        </p:nvSpPr>
        <p:spPr>
          <a:xfrm>
            <a:off x="8118173" y="3961670"/>
            <a:ext cx="4015044" cy="11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Object </a:t>
            </a: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の中の 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つの項目</a:t>
            </a:r>
            <a:endParaRPr lang="en-US" altLang="ja-JP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✅「キー」＋「値」で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セット</a:t>
            </a:r>
            <a:endParaRPr lang="en-US" altLang="ja-JP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✅動的コンテンツで取り出す際の</a:t>
            </a:r>
            <a:endParaRPr lang="en-US" altLang="ja-JP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“最小単位”が 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item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8" name="Text 6">
            <a:extLst>
              <a:ext uri="{FF2B5EF4-FFF2-40B4-BE49-F238E27FC236}">
                <a16:creationId xmlns:a16="http://schemas.microsoft.com/office/drawing/2014/main" id="{40C2A1AF-ABE6-B498-A6D9-57A1C75552ED}"/>
              </a:ext>
            </a:extLst>
          </p:cNvPr>
          <p:cNvSpPr txBox="1"/>
          <p:nvPr/>
        </p:nvSpPr>
        <p:spPr>
          <a:xfrm>
            <a:off x="7720316" y="3314172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28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item</a:t>
            </a:r>
          </a:p>
        </p:txBody>
      </p:sp>
      <p:pic>
        <p:nvPicPr>
          <p:cNvPr id="132" name="図 131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624AB085-2D7D-3E76-981C-5BAD4B635C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783767" y="2464588"/>
            <a:ext cx="1429930" cy="20414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0" name="図 129" descr="The image depicts a colorful, textured sandwich with a crunchy bread exterior, topped with lettuce, tomato, and sprinkled with colorful, shredded vegetables.&#10;&#10;AI 生成コンテンツは誤りを含む可能性があります。">
            <a:extLst>
              <a:ext uri="{FF2B5EF4-FFF2-40B4-BE49-F238E27FC236}">
                <a16:creationId xmlns:a16="http://schemas.microsoft.com/office/drawing/2014/main" id="{35BB35B0-46EB-608D-D0A8-938F70BE0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6186" y="1478669"/>
            <a:ext cx="1015064" cy="1015064"/>
          </a:xfrm>
          <a:prstGeom prst="rect">
            <a:avLst/>
          </a:prstGeom>
        </p:spPr>
      </p:pic>
      <p:sp>
        <p:nvSpPr>
          <p:cNvPr id="118" name="Text 6">
            <a:extLst>
              <a:ext uri="{FF2B5EF4-FFF2-40B4-BE49-F238E27FC236}">
                <a16:creationId xmlns:a16="http://schemas.microsoft.com/office/drawing/2014/main" id="{44A9D180-8B41-2603-4867-DAE2762AB9C0}"/>
              </a:ext>
            </a:extLst>
          </p:cNvPr>
          <p:cNvSpPr txBox="1"/>
          <p:nvPr/>
        </p:nvSpPr>
        <p:spPr>
          <a:xfrm>
            <a:off x="634376" y="3788447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配列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（</a:t>
            </a:r>
            <a:r>
              <a:rPr lang="en-US" altLang="ja-JP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Array</a:t>
            </a: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）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pic>
        <p:nvPicPr>
          <p:cNvPr id="133" name="図 132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CA39A9B6-F9D0-B504-3CE0-E91A08E6A80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2556447" y="1394545"/>
            <a:ext cx="735947" cy="10506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