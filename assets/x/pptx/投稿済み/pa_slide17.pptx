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Shape 1">
            <a:extLst>
              <a:ext uri="{FF2B5EF4-FFF2-40B4-BE49-F238E27FC236}">
                <a16:creationId xmlns:a16="http://schemas.microsoft.com/office/drawing/2014/main" id="{F59D013C-A0C5-562C-2348-5130310820E8}"/>
              </a:ext>
            </a:extLst>
          </p:cNvPr>
          <p:cNvSpPr/>
          <p:nvPr/>
        </p:nvSpPr>
        <p:spPr>
          <a:xfrm>
            <a:off x="-47718" y="-215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44030" y="1210648"/>
            <a:ext cx="11430000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5" name="Text 3"/>
          <p:cNvSpPr txBox="1"/>
          <p:nvPr/>
        </p:nvSpPr>
        <p:spPr>
          <a:xfrm>
            <a:off x="2093637" y="-50800"/>
            <a:ext cx="7857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前月末は</a:t>
            </a:r>
            <a:r>
              <a:rPr lang="en-US" sz="2700" b="1" kern="0" spc="-67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『月初から1日戻る』で一発 </a:t>
            </a:r>
            <a:endParaRPr lang="en-US" sz="2700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0633" y="454457"/>
            <a:ext cx="133502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1333" y="760680"/>
            <a:ext cx="107533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月末の日数を数えるのではなく、月初を基準にするのが正解。 </a:t>
            </a:r>
            <a:endParaRPr lang="en-US" sz="280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64836" y="1534771"/>
            <a:ext cx="3118382" cy="3857854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l="-198" r="-198"/>
          <a:stretch/>
        </p:blipFill>
        <p:spPr>
          <a:xfrm>
            <a:off x="203568" y="1538724"/>
            <a:ext cx="2704020" cy="75389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38496" y="1689599"/>
            <a:ext cx="21323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 </a:t>
            </a:r>
            <a:endParaRPr lang="en-US" sz="3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8853" y="1650901"/>
            <a:ext cx="337414" cy="33741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32797" y="2412275"/>
            <a:ext cx="2343607" cy="9579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16" name="Text 9"/>
          <p:cNvSpPr txBox="1"/>
          <p:nvPr/>
        </p:nvSpPr>
        <p:spPr>
          <a:xfrm>
            <a:off x="509642" y="2155023"/>
            <a:ext cx="241950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やりがちな考え方</a:t>
            </a:r>
            <a:endParaRPr lang="en-US" dirty="0"/>
          </a:p>
        </p:txBody>
      </p:sp>
      <p:sp>
        <p:nvSpPr>
          <p:cNvPr id="17" name="Text 10"/>
          <p:cNvSpPr txBox="1"/>
          <p:nvPr/>
        </p:nvSpPr>
        <p:spPr>
          <a:xfrm>
            <a:off x="306970" y="2726715"/>
            <a:ext cx="3657599" cy="238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「前月は31日？30日？」と</a:t>
            </a:r>
            <a:endParaRPr lang="en-US" dirty="0"/>
          </a:p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</a:t>
            </a:r>
            <a:r>
              <a:rPr lang="ja-JP" alt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日数が違う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ため迷う </a:t>
            </a: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7904" y="2654898"/>
            <a:ext cx="178953" cy="35790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18173" y="3425648"/>
            <a:ext cx="273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毎月日付が変わるため、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固定の式が作れない </a:t>
            </a:r>
            <a:endParaRPr lang="en-US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88332" y="4056753"/>
            <a:ext cx="3060745" cy="12647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246888" y="4169066"/>
            <a:ext cx="14485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結果として…</a:t>
            </a:r>
            <a:endParaRPr lang="en-US" sz="1600" b="1" dirty="0"/>
          </a:p>
        </p:txBody>
      </p:sp>
      <p:sp>
        <p:nvSpPr>
          <p:cNvPr id="23" name="Text 13"/>
          <p:cNvSpPr txBox="1"/>
          <p:nvPr/>
        </p:nvSpPr>
        <p:spPr>
          <a:xfrm>
            <a:off x="-76051" y="4547751"/>
            <a:ext cx="3505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「前月末」を毎回手入力しがち</a:t>
            </a:r>
            <a:endParaRPr lang="en-US" dirty="0"/>
          </a:p>
        </p:txBody>
      </p:sp>
      <p:sp>
        <p:nvSpPr>
          <p:cNvPr id="24" name="Text 14"/>
          <p:cNvSpPr txBox="1"/>
          <p:nvPr/>
        </p:nvSpPr>
        <p:spPr>
          <a:xfrm>
            <a:off x="219075" y="4957973"/>
            <a:ext cx="28729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（一番不安定なNGパターン）</a:t>
            </a: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3351275" y="1592375"/>
            <a:ext cx="5813461" cy="3857854"/>
          </a:xfrm>
          <a:prstGeom prst="roundRect">
            <a:avLst>
              <a:gd name="adj" fmla="val 2809"/>
            </a:avLst>
          </a:prstGeom>
          <a:noFill/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74" r="-74"/>
          <a:stretch/>
        </p:blipFill>
        <p:spPr>
          <a:xfrm>
            <a:off x="3482062" y="1310077"/>
            <a:ext cx="5542195" cy="5279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89272" y="1418710"/>
            <a:ext cx="5075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考え方の転換：『月初から1日戻る』</a:t>
            </a:r>
            <a:endParaRPr lang="en-US" sz="2400" dirty="0"/>
          </a:p>
        </p:txBody>
      </p:sp>
      <p:sp>
        <p:nvSpPr>
          <p:cNvPr id="28" name="Shape 17"/>
          <p:cNvSpPr/>
          <p:nvPr/>
        </p:nvSpPr>
        <p:spPr>
          <a:xfrm>
            <a:off x="5143957" y="3049429"/>
            <a:ext cx="38405" cy="761695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43559" y="3343853"/>
            <a:ext cx="2070709" cy="496811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84655" y="3377629"/>
            <a:ext cx="381304" cy="381304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357494" y="3420618"/>
            <a:ext cx="1097736" cy="36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r>
              <a:rPr lang="en-US" sz="28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en-US" sz="28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endParaRPr lang="en-US" sz="2800" dirty="0"/>
          </a:p>
        </p:txBody>
      </p:sp>
      <p:sp>
        <p:nvSpPr>
          <p:cNvPr id="32" name="Text 19"/>
          <p:cNvSpPr txBox="1"/>
          <p:nvPr/>
        </p:nvSpPr>
        <p:spPr>
          <a:xfrm>
            <a:off x="7526558" y="3269199"/>
            <a:ext cx="1276502" cy="463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（1日戻る）</a:t>
            </a:r>
            <a:endParaRPr lang="en-US" dirty="0"/>
          </a:p>
        </p:txBody>
      </p:sp>
      <p:sp>
        <p:nvSpPr>
          <p:cNvPr id="33" name="Shape 20"/>
          <p:cNvSpPr/>
          <p:nvPr/>
        </p:nvSpPr>
        <p:spPr>
          <a:xfrm>
            <a:off x="5058562" y="3850836"/>
            <a:ext cx="190195" cy="142646"/>
          </a:xfrm>
          <a:prstGeom prst="rect">
            <a:avLst/>
          </a:prstGeom>
          <a:noFill/>
          <a:ln w="1905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rcRect t="-4" b="-4"/>
          <a:stretch/>
        </p:blipFill>
        <p:spPr>
          <a:xfrm>
            <a:off x="9336024" y="1573005"/>
            <a:ext cx="2556662" cy="3857854"/>
          </a:xfrm>
          <a:prstGeom prst="rect">
            <a:avLst/>
          </a:prstGeom>
          <a:ln w="47625">
            <a:solidFill>
              <a:srgbClr val="166534"/>
            </a:solidFill>
          </a:ln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/>
          <a:srcRect l="-198" r="-198"/>
          <a:stretch/>
        </p:blipFill>
        <p:spPr>
          <a:xfrm>
            <a:off x="9354017" y="1503190"/>
            <a:ext cx="2504836" cy="69836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9741649" y="1831747"/>
            <a:ext cx="21323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 </a:t>
            </a:r>
            <a:endParaRPr lang="en-US" sz="32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365174" y="1821170"/>
            <a:ext cx="301088" cy="301088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9425932" y="2629455"/>
            <a:ext cx="2343607" cy="9144"/>
          </a:xfrm>
          <a:prstGeom prst="rect">
            <a:avLst/>
          </a:prstGeom>
          <a:solidFill>
            <a:srgbClr val="A7F3D0"/>
          </a:solidFill>
          <a:ln w="34925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9" name="Text 23"/>
          <p:cNvSpPr txBox="1"/>
          <p:nvPr/>
        </p:nvSpPr>
        <p:spPr>
          <a:xfrm>
            <a:off x="9454528" y="2367661"/>
            <a:ext cx="241950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</a:t>
            </a:r>
            <a:r>
              <a:rPr lang="en-US" b="1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発想</a:t>
            </a:r>
            <a:endParaRPr lang="en-US" dirty="0"/>
          </a:p>
        </p:txBody>
      </p:sp>
      <p:sp>
        <p:nvSpPr>
          <p:cNvPr id="40" name="Text 24"/>
          <p:cNvSpPr txBox="1"/>
          <p:nvPr/>
        </p:nvSpPr>
        <p:spPr>
          <a:xfrm>
            <a:off x="9750308" y="2800807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今月の月初 − 1日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= 前月末 と考える </a:t>
            </a:r>
            <a:endParaRPr lang="en-US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389700" y="2739575"/>
            <a:ext cx="201549" cy="403098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9628120" y="3625127"/>
            <a:ext cx="2276856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月末を“直接”求めようとしないのがコツ </a:t>
            </a:r>
            <a:endParaRPr lang="en-US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365174" y="4432210"/>
            <a:ext cx="2478118" cy="819302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9463857" y="4579790"/>
            <a:ext cx="22631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2400" b="1" dirty="0"/>
          </a:p>
        </p:txBody>
      </p:sp>
      <p:sp>
        <p:nvSpPr>
          <p:cNvPr id="46" name="Text 27"/>
          <p:cNvSpPr txBox="1"/>
          <p:nvPr/>
        </p:nvSpPr>
        <p:spPr>
          <a:xfrm>
            <a:off x="9354017" y="4819398"/>
            <a:ext cx="2583181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どの月でも式が超安定！</a:t>
            </a:r>
            <a:endParaRPr lang="en-US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7"/>
          <a:srcRect l="-14" r="-14"/>
          <a:stretch/>
        </p:blipFill>
        <p:spPr>
          <a:xfrm>
            <a:off x="486195" y="5513464"/>
            <a:ext cx="11477200" cy="127933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8"/>
          <a:srcRect t="-188" b="-188"/>
          <a:stretch/>
        </p:blipFill>
        <p:spPr>
          <a:xfrm>
            <a:off x="355849" y="5550103"/>
            <a:ext cx="224049" cy="121889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1317485" y="5699023"/>
            <a:ext cx="7135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式の具体例（コピペで使えます） </a:t>
            </a:r>
            <a:endParaRPr lang="en-US" sz="24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9"/>
          <a:srcRect l="-837" r="-837"/>
          <a:stretch/>
        </p:blipFill>
        <p:spPr>
          <a:xfrm>
            <a:off x="826848" y="5671411"/>
            <a:ext cx="361344" cy="315904"/>
          </a:xfrm>
          <a:prstGeom prst="rect">
            <a:avLst/>
          </a:prstGeom>
        </p:spPr>
      </p:pic>
      <p:sp>
        <p:nvSpPr>
          <p:cNvPr id="54" name="Text 32"/>
          <p:cNvSpPr txBox="1"/>
          <p:nvPr/>
        </p:nvSpPr>
        <p:spPr>
          <a:xfrm>
            <a:off x="1164488" y="6103954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今月の月初</a:t>
            </a:r>
            <a:endParaRPr lang="en-US" sz="2000" dirty="0"/>
          </a:p>
        </p:txBody>
      </p:sp>
      <p:sp>
        <p:nvSpPr>
          <p:cNvPr id="55" name="Shape 33"/>
          <p:cNvSpPr/>
          <p:nvPr/>
        </p:nvSpPr>
        <p:spPr>
          <a:xfrm>
            <a:off x="1174089" y="6310956"/>
            <a:ext cx="3514954" cy="409651"/>
          </a:xfrm>
          <a:prstGeom prst="roundRect">
            <a:avLst>
              <a:gd name="adj" fmla="val 4152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56" name="Text 34"/>
          <p:cNvSpPr txBox="1"/>
          <p:nvPr/>
        </p:nvSpPr>
        <p:spPr>
          <a:xfrm>
            <a:off x="1259129" y="6463662"/>
            <a:ext cx="3884828" cy="10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startOfMonth(utcNow())</a:t>
            </a:r>
            <a:endParaRPr lang="en-US" sz="2400" dirty="0"/>
          </a:p>
        </p:txBody>
      </p:sp>
      <p:sp>
        <p:nvSpPr>
          <p:cNvPr id="57" name="Text 35"/>
          <p:cNvSpPr txBox="1"/>
          <p:nvPr/>
        </p:nvSpPr>
        <p:spPr>
          <a:xfrm>
            <a:off x="5719869" y="6038328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前月末（完成形）</a:t>
            </a:r>
            <a:endParaRPr lang="en-US" sz="2000" dirty="0"/>
          </a:p>
        </p:txBody>
      </p:sp>
      <p:sp>
        <p:nvSpPr>
          <p:cNvPr id="58" name="Shape 36"/>
          <p:cNvSpPr/>
          <p:nvPr/>
        </p:nvSpPr>
        <p:spPr>
          <a:xfrm>
            <a:off x="5583131" y="6372455"/>
            <a:ext cx="3514954" cy="409651"/>
          </a:xfrm>
          <a:prstGeom prst="roundRect">
            <a:avLst>
              <a:gd name="adj" fmla="val 4152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59" name="Text 37"/>
          <p:cNvSpPr txBox="1"/>
          <p:nvPr/>
        </p:nvSpPr>
        <p:spPr>
          <a:xfrm>
            <a:off x="5798210" y="6448806"/>
            <a:ext cx="6138987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addDays(startOfMonth(utcNow()), -1)</a:t>
            </a:r>
            <a:endParaRPr lang="en-US" sz="2400" dirty="0"/>
          </a:p>
        </p:txBody>
      </p:sp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20"/>
          <a:srcRect t="-5" b="-5"/>
          <a:stretch/>
        </p:blipFill>
        <p:spPr>
          <a:xfrm>
            <a:off x="3419957" y="1912913"/>
            <a:ext cx="3657600" cy="1349209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3351310" y="1998852"/>
            <a:ext cx="13377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kern="0" spc="4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2400" u="sng" dirty="0"/>
          </a:p>
        </p:txBody>
      </p:sp>
      <p:sp>
        <p:nvSpPr>
          <p:cNvPr id="63" name="Text 40"/>
          <p:cNvSpPr txBox="1"/>
          <p:nvPr/>
        </p:nvSpPr>
        <p:spPr>
          <a:xfrm>
            <a:off x="3494346" y="2414815"/>
            <a:ext cx="34446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4ED8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nsolas" pitchFamily="34" charset="-120"/>
              </a:rPr>
              <a:t>startOfMonth(今月)</a:t>
            </a:r>
            <a:endParaRPr lang="en-US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4" name="Text 41"/>
          <p:cNvSpPr txBox="1"/>
          <p:nvPr/>
        </p:nvSpPr>
        <p:spPr>
          <a:xfrm>
            <a:off x="3789272" y="2923749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今月の「1日」を出す</a:t>
            </a:r>
            <a:endParaRPr lang="en-US" sz="2000" b="1" dirty="0"/>
          </a:p>
        </p:txBody>
      </p:sp>
      <p:sp>
        <p:nvSpPr>
          <p:cNvPr id="65" name="Text 42"/>
          <p:cNvSpPr txBox="1"/>
          <p:nvPr/>
        </p:nvSpPr>
        <p:spPr>
          <a:xfrm>
            <a:off x="7226232" y="2020635"/>
            <a:ext cx="1658535" cy="88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月末日は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毎月バラバラ…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基準にならない</a:t>
            </a:r>
            <a:endParaRPr lang="en-US" dirty="0"/>
          </a:p>
        </p:txBody>
      </p:sp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591304" y="2872791"/>
            <a:ext cx="320041" cy="320041"/>
          </a:xfrm>
          <a:prstGeom prst="rect">
            <a:avLst/>
          </a:prstGeom>
        </p:spPr>
      </p:pic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2"/>
          <a:srcRect l="-13" r="-13"/>
          <a:stretch/>
        </p:blipFill>
        <p:spPr>
          <a:xfrm>
            <a:off x="3508279" y="3910361"/>
            <a:ext cx="3657600" cy="1465890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3134545" y="4096054"/>
            <a:ext cx="3353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kern="0" spc="45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 (Goal)</a:t>
            </a:r>
            <a:endParaRPr lang="en-US" sz="28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Text 44"/>
          <p:cNvSpPr txBox="1"/>
          <p:nvPr/>
        </p:nvSpPr>
        <p:spPr>
          <a:xfrm>
            <a:off x="3261367" y="4474096"/>
            <a:ext cx="4290338" cy="421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addDays(..., -1)</a:t>
            </a:r>
            <a:endParaRPr lang="en-US" sz="3200" dirty="0"/>
          </a:p>
        </p:txBody>
      </p:sp>
      <p:sp>
        <p:nvSpPr>
          <p:cNvPr id="70" name="Shape 45"/>
          <p:cNvSpPr/>
          <p:nvPr/>
        </p:nvSpPr>
        <p:spPr>
          <a:xfrm>
            <a:off x="3610754" y="5018385"/>
            <a:ext cx="3271059" cy="267005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71" name="Text 46"/>
          <p:cNvSpPr txBox="1"/>
          <p:nvPr/>
        </p:nvSpPr>
        <p:spPr>
          <a:xfrm>
            <a:off x="3793925" y="4968284"/>
            <a:ext cx="3112753" cy="4216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🟩 これが前月末の日付！</a:t>
            </a:r>
            <a:endParaRPr lang="en-US" dirty="0"/>
          </a:p>
        </p:txBody>
      </p:sp>
      <p:sp>
        <p:nvSpPr>
          <p:cNvPr id="72" name="Text 47"/>
          <p:cNvSpPr txBox="1"/>
          <p:nvPr/>
        </p:nvSpPr>
        <p:spPr>
          <a:xfrm>
            <a:off x="7232352" y="4002072"/>
            <a:ext cx="2165116" cy="1332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でも</a:t>
            </a:r>
            <a:r>
              <a:rPr lang="en-US" sz="16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月初は必ず1日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ここを基準にすれば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絶対にズレない</a:t>
            </a:r>
            <a:endParaRPr lang="en-US" sz="1600" dirty="0"/>
          </a:p>
        </p:txBody>
      </p:sp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 rot="9936765" flipH="1">
            <a:off x="6655233" y="4074495"/>
            <a:ext cx="502890" cy="449349"/>
          </a:xfrm>
          <a:prstGeom prst="rect">
            <a:avLst/>
          </a:prstGeom>
        </p:spPr>
      </p:pic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6E2D43E0-C871-08F1-5E98-F1C4F8C5D5E3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233A0989-D12D-8863-4324-AD71EF8EEA1B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77" name="Shape 2">
              <a:extLst>
                <a:ext uri="{FF2B5EF4-FFF2-40B4-BE49-F238E27FC236}">
                  <a16:creationId xmlns:a16="http://schemas.microsoft.com/office/drawing/2014/main" id="{146157D0-9C04-2F93-0CDA-7892CCA94C4E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8" name="Text 3">
              <a:extLst>
                <a:ext uri="{FF2B5EF4-FFF2-40B4-BE49-F238E27FC236}">
                  <a16:creationId xmlns:a16="http://schemas.microsoft.com/office/drawing/2014/main" id="{4680ED02-8168-FCEB-8F9C-A7A8969DE38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Vol.26</a:t>
              </a:r>
              <a:endParaRPr lang="en-US" sz="3200" dirty="0"/>
            </a:p>
          </p:txBody>
        </p:sp>
      </p:grpSp>
      <p:pic>
        <p:nvPicPr>
          <p:cNvPr id="79" name="図 7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F25C6D16-A6AB-59DD-2005-919181A6A3A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4444" y="563512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14" descr="preencoded.png">
            <a:extLst>
              <a:ext uri="{FF2B5EF4-FFF2-40B4-BE49-F238E27FC236}">
                <a16:creationId xmlns:a16="http://schemas.microsoft.com/office/drawing/2014/main" id="{6BB5EC48-2014-40B0-7D38-4E30D07409B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381298" y="3518270"/>
            <a:ext cx="201549" cy="403098"/>
          </a:xfrm>
          <a:prstGeom prst="rect">
            <a:avLst/>
          </a:prstGeom>
        </p:spPr>
      </p:pic>
      <p:pic>
        <p:nvPicPr>
          <p:cNvPr id="80" name="図 79" descr="A blue-clad young boy is depicted with a downcast expression and tears, possibly reflec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0ED86782-1B81-EBF6-701C-201B46F24C2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07538" y="1310077"/>
            <a:ext cx="1191887" cy="1328008"/>
          </a:xfrm>
          <a:prstGeom prst="rect">
            <a:avLst/>
          </a:prstGeom>
        </p:spPr>
      </p:pic>
      <p:pic>
        <p:nvPicPr>
          <p:cNvPr id="81" name="Image 5" descr="preencoded.png">
            <a:extLst>
              <a:ext uri="{FF2B5EF4-FFF2-40B4-BE49-F238E27FC236}">
                <a16:creationId xmlns:a16="http://schemas.microsoft.com/office/drawing/2014/main" id="{A713A7BB-C759-3E09-BC1E-F4BA2F872C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5543" y="3375048"/>
            <a:ext cx="178953" cy="357906"/>
          </a:xfrm>
          <a:prstGeom prst="rect">
            <a:avLst/>
          </a:prstGeom>
        </p:spPr>
      </p:pic>
      <p:pic>
        <p:nvPicPr>
          <p:cNvPr id="82" name="図 81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ED4CCAAA-F817-9D56-3BCB-2D1FE3F1E36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90536" y="3323272"/>
            <a:ext cx="1027877" cy="963635"/>
          </a:xfrm>
          <a:prstGeom prst="rect">
            <a:avLst/>
          </a:prstGeom>
        </p:spPr>
      </p:pic>
      <p:pic>
        <p:nvPicPr>
          <p:cNvPr id="84" name="図 83" descr="A red race car with a driver in a red suit and green cap is pointing towards a person holding a camera.&#10;&#10;AI 生成コンテンツは誤りを含む可能性があります。">
            <a:extLst>
              <a:ext uri="{FF2B5EF4-FFF2-40B4-BE49-F238E27FC236}">
                <a16:creationId xmlns:a16="http://schemas.microsoft.com/office/drawing/2014/main" id="{E2DCB5AC-9133-ED3B-0E3A-56689BBDC56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07839" y="1243163"/>
            <a:ext cx="1387599" cy="1387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5" name="図 84">
            <a:extLst>
              <a:ext uri="{FF2B5EF4-FFF2-40B4-BE49-F238E27FC236}">
                <a16:creationId xmlns:a16="http://schemas.microsoft.com/office/drawing/2014/main" id="{F58FA252-432B-5C3B-FFCB-CC13AE29318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31506" y="5430859"/>
            <a:ext cx="958727" cy="850870"/>
          </a:xfrm>
          <a:prstGeom prst="rect">
            <a:avLst/>
          </a:prstGeom>
          <a:effectLst>
            <a:glow rad="88900">
              <a:schemeClr val="bg1">
                <a:alpha val="90000"/>
              </a:schemeClr>
            </a:glo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