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A65C5910-E0B8-21E0-8A80-1B10111C53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20" t="8578" r="3449" b="1"/>
          <a:stretch>
            <a:fillRect/>
          </a:stretch>
        </p:blipFill>
        <p:spPr>
          <a:xfrm>
            <a:off x="6009736" y="2431293"/>
            <a:ext cx="6055743" cy="4229491"/>
          </a:xfrm>
          <a:prstGeom prst="rect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図 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E475C6B-F084-2D31-9F4D-DAB0F5CB2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84" y="2380890"/>
            <a:ext cx="2514618" cy="4124355"/>
          </a:xfrm>
          <a:prstGeom prst="rect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図 8" descr="ダイアグラム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01CA914F-AFE9-E7BA-2275-AAF7A3E1A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385" y="2431293"/>
            <a:ext cx="2923233" cy="3502532"/>
          </a:xfrm>
          <a:prstGeom prst="rect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38359A0-9539-2139-88EF-853FF011F9A2}"/>
              </a:ext>
            </a:extLst>
          </p:cNvPr>
          <p:cNvSpPr txBox="1"/>
          <p:nvPr/>
        </p:nvSpPr>
        <p:spPr>
          <a:xfrm>
            <a:off x="0" y="197216"/>
            <a:ext cx="107752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✅</a:t>
            </a:r>
            <a: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Copilot Studio × Power Automate × Word</a:t>
            </a: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連携</a:t>
            </a:r>
            <a:br>
              <a:rPr lang="en-US" altLang="ja-JP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ja-JP" altLang="en-US" sz="3200" b="1" u="sng">
                <a:solidFill>
                  <a:schemeClr val="tx1">
                    <a:lumMod val="65000"/>
                    <a:lumOff val="35000"/>
                  </a:schemeClr>
                </a:solidFill>
              </a:rPr>
              <a:t>つまずきポイント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02705C2-00A1-8A4A-D9CE-9AAE466B371C}"/>
              </a:ext>
            </a:extLst>
          </p:cNvPr>
          <p:cNvSpPr/>
          <p:nvPr/>
        </p:nvSpPr>
        <p:spPr>
          <a:xfrm>
            <a:off x="16883" y="0"/>
            <a:ext cx="12175117" cy="6858000"/>
          </a:xfrm>
          <a:prstGeom prst="roundRect">
            <a:avLst>
              <a:gd name="adj" fmla="val 3966"/>
            </a:avLst>
          </a:prstGeom>
          <a:noFill/>
          <a:ln w="571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D4E9034-A486-86F5-D3A0-D6F2DF59886D}"/>
              </a:ext>
            </a:extLst>
          </p:cNvPr>
          <p:cNvSpPr/>
          <p:nvPr/>
        </p:nvSpPr>
        <p:spPr>
          <a:xfrm>
            <a:off x="2901502" y="4049485"/>
            <a:ext cx="1409241" cy="404949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9471092E-F9B1-37CA-8B0A-1E3D7A4B89DB}"/>
              </a:ext>
            </a:extLst>
          </p:cNvPr>
          <p:cNvSpPr/>
          <p:nvPr/>
        </p:nvSpPr>
        <p:spPr>
          <a:xfrm>
            <a:off x="9178204" y="3003636"/>
            <a:ext cx="2486927" cy="555993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E678DE0-634C-5BA4-1EE1-A97412886D30}"/>
              </a:ext>
            </a:extLst>
          </p:cNvPr>
          <p:cNvSpPr txBox="1"/>
          <p:nvPr/>
        </p:nvSpPr>
        <p:spPr>
          <a:xfrm>
            <a:off x="370907" y="1537675"/>
            <a:ext cx="114501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1">
                <a:solidFill>
                  <a:schemeClr val="tx1">
                    <a:lumMod val="65000"/>
                    <a:lumOff val="35000"/>
                  </a:schemeClr>
                </a:solidFill>
              </a:rPr>
              <a:t>✅同じ変数名を使うことで、値の受け渡しミスを防ぐ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7454871-7E93-ACF6-3F2A-F32DD9438D11}"/>
              </a:ext>
            </a:extLst>
          </p:cNvPr>
          <p:cNvSpPr/>
          <p:nvPr/>
        </p:nvSpPr>
        <p:spPr>
          <a:xfrm>
            <a:off x="256273" y="3559629"/>
            <a:ext cx="1775001" cy="561702"/>
          </a:xfrm>
          <a:prstGeom prst="roundRect">
            <a:avLst>
              <a:gd name="adj" fmla="val 6918"/>
            </a:avLst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0C8B4C3D-C43E-C559-B92E-3D54102649E2}"/>
              </a:ext>
            </a:extLst>
          </p:cNvPr>
          <p:cNvCxnSpPr>
            <a:endCxn id="9" idx="1"/>
          </p:cNvCxnSpPr>
          <p:nvPr/>
        </p:nvCxnSpPr>
        <p:spPr>
          <a:xfrm>
            <a:off x="2048157" y="3840480"/>
            <a:ext cx="870228" cy="342079"/>
          </a:xfrm>
          <a:prstGeom prst="bentConnector3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2748E1A-FB89-DA05-455E-12E67D3107C2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4363118" y="3281633"/>
            <a:ext cx="4815086" cy="970326"/>
          </a:xfrm>
          <a:prstGeom prst="bentConnector3">
            <a:avLst>
              <a:gd name="adj1" fmla="val 33044"/>
            </a:avLst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図 26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09B47A65-6943-D8AF-9A75-389213BE8C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148" b="95370" l="7588" r="95331">
                        <a14:foregroundMark x1="29377" y1="38148" x2="29377" y2="38148"/>
                        <a14:foregroundMark x1="17315" y1="33519" x2="21012" y2="68704"/>
                        <a14:foregroundMark x1="13619" y1="37593" x2="14397" y2="59444"/>
                        <a14:foregroundMark x1="14397" y1="59444" x2="14786" y2="59444"/>
                        <a14:foregroundMark x1="11673" y1="44074" x2="11284" y2="62407"/>
                        <a14:foregroundMark x1="9144" y1="43333" x2="9144" y2="43333"/>
                        <a14:foregroundMark x1="9339" y1="49259" x2="7782" y2="41667"/>
                        <a14:foregroundMark x1="90467" y1="31481" x2="81907" y2="67037"/>
                        <a14:foregroundMark x1="81907" y1="67037" x2="53307" y2="91667"/>
                        <a14:foregroundMark x1="52529" y1="7407" x2="52529" y2="7407"/>
                        <a14:foregroundMark x1="95525" y1="23148" x2="95525" y2="23148"/>
                        <a14:foregroundMark x1="51556" y1="3333" x2="51556" y2="3333"/>
                        <a14:foregroundMark x1="50778" y1="95370" x2="50778" y2="95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8862" y="5668793"/>
            <a:ext cx="1124846" cy="1181745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29" name="図 28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58A5D225-A532-55A8-5966-3647207F17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7" t="14837" r="5317" b="13305"/>
          <a:stretch>
            <a:fillRect/>
          </a:stretch>
        </p:blipFill>
        <p:spPr>
          <a:xfrm>
            <a:off x="3817578" y="5832426"/>
            <a:ext cx="1124846" cy="88455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pic>
        <p:nvPicPr>
          <p:cNvPr id="31" name="図 30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4F666571-F9C3-D488-4563-09BDE14DE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500" b="90000" l="9583" r="90000">
                        <a14:foregroundMark x1="16500" y1="58750" x2="19667" y2="73083"/>
                        <a14:foregroundMark x1="19667" y1="73083" x2="26500" y2="65333"/>
                        <a14:foregroundMark x1="26500" y1="65333" x2="31417" y2="72417"/>
                        <a14:foregroundMark x1="31417" y1="72417" x2="36583" y2="60250"/>
                        <a14:foregroundMark x1="36583" y1="60250" x2="36167" y2="56750"/>
                        <a14:foregroundMark x1="24833" y1="60583" x2="28250" y2="65750"/>
                        <a14:foregroundMark x1="40750" y1="9500" x2="40750" y2="9500"/>
                        <a14:foregroundMark x1="26083" y1="58500" x2="26083" y2="58500"/>
                        <a14:foregroundMark x1="9583" y1="62500" x2="9583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55" t="7524" r="13105" b="8763"/>
          <a:stretch>
            <a:fillRect/>
          </a:stretch>
        </p:blipFill>
        <p:spPr>
          <a:xfrm>
            <a:off x="7781431" y="5789065"/>
            <a:ext cx="916152" cy="970326"/>
          </a:xfrm>
          <a:prstGeom prst="rect">
            <a:avLst/>
          </a:prstGeom>
          <a:effectLst>
            <a:glow rad="101600">
              <a:schemeClr val="accent2">
                <a:alpha val="76000"/>
              </a:schemeClr>
            </a:glow>
          </a:effectLst>
        </p:spPr>
      </p:pic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03F64913-86CF-762A-28A2-1F032E7A395F}"/>
              </a:ext>
            </a:extLst>
          </p:cNvPr>
          <p:cNvCxnSpPr/>
          <p:nvPr/>
        </p:nvCxnSpPr>
        <p:spPr>
          <a:xfrm>
            <a:off x="2253343" y="6274228"/>
            <a:ext cx="1352779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D1D0ACCE-EF7F-1D17-2CF8-1C0B7B6457A3}"/>
              </a:ext>
            </a:extLst>
          </p:cNvPr>
          <p:cNvCxnSpPr>
            <a:cxnSpLocks/>
          </p:cNvCxnSpPr>
          <p:nvPr/>
        </p:nvCxnSpPr>
        <p:spPr>
          <a:xfrm>
            <a:off x="5165228" y="6274228"/>
            <a:ext cx="2313258" cy="0"/>
          </a:xfrm>
          <a:prstGeom prst="straightConnector1">
            <a:avLst/>
          </a:prstGeom>
          <a:ln w="889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