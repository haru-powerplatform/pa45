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9" r:id="rId2"/>
    <p:sldId id="285" r:id="rId3"/>
    <p:sldId id="259" r:id="rId4"/>
    <p:sldId id="257" r:id="rId5"/>
    <p:sldId id="256" r:id="rId6"/>
    <p:sldId id="271" r:id="rId7"/>
    <p:sldId id="261" r:id="rId8"/>
    <p:sldId id="280" r:id="rId9"/>
    <p:sldId id="291" r:id="rId10"/>
    <p:sldId id="289" r:id="rId11"/>
    <p:sldId id="290" r:id="rId12"/>
    <p:sldId id="286" r:id="rId13"/>
    <p:sldId id="287" r:id="rId14"/>
    <p:sldId id="288" r:id="rId15"/>
    <p:sldId id="284" r:id="rId16"/>
    <p:sldId id="272" r:id="rId17"/>
    <p:sldId id="268" r:id="rId18"/>
    <p:sldId id="26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F58AFA-D1AA-4A9A-9800-8FBA641FEB0E}" v="1" dt="2026-04-28T05:42:15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3909" autoAdjust="0"/>
  </p:normalViewPr>
  <p:slideViewPr>
    <p:cSldViewPr snapToGrid="0" snapToObjects="1">
      <p:cViewPr varScale="1">
        <p:scale>
          <a:sx n="91" d="100"/>
          <a:sy n="91" d="100"/>
        </p:scale>
        <p:origin x="48" y="2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>  Initialize variable・Set variable・Condition・Apply to each、</a:t>
            </a:r>
          </a:p>
          <a:p>
            <a:r>
              <a:rPr sz="1300"/>
              <a:t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>  変数・繰り返し・条件分岐、それぞれ単体でも使えますが、</a:t>
            </a:r>
          </a:p>
          <a:p>
            <a:r>
              <a:rPr sz="1300"/>
              <a:t>  組み合わさったとき、複雑な業務を1本のフローで自動化できます。</a:t>
            </a:r>
          </a:p>
          <a:p>
            <a:r>
              <a:rPr sz="1300"/>
              <a:t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>  Apply to eachのループの中でも外でも使えます。</a:t>
            </a:r>
          </a:p>
          <a:p>
            <a:r>
              <a:rPr sz="1300"/>
              <a:t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>  リストを1件ずつ見ながら、条件に合うものだけ処理する、</a:t>
            </a:r>
          </a:p>
          <a:p>
            <a:r>
              <a:rPr sz="1300"/>
              <a:t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>  出勤リストをループして、Conditionで出勤判定、Set variableでカウント。</a:t>
            </a:r>
          </a:p>
          <a:p>
            <a:r>
              <a:rPr sz="1300"/>
              <a:t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31" Type="http://schemas.openxmlformats.org/officeDocument/2006/relationships/image" Target="../media/image7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7.png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hyperlink" Target="https://forms.cloud.microsoft/r/RpevgiKG2v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1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7.png"/><Relationship Id="rId4" Type="http://schemas.openxmlformats.org/officeDocument/2006/relationships/image" Target="../media/image89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35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Yu Gothic UI"/>
              </a:rPr>
              <a:t>PA45 — Power Automate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34800" y="0"/>
            <a:ext cx="35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r"/>
            <a:r>
              <a:rPr sz="1400" b="0">
                <a:solidFill>
                  <a:srgbClr val="C7D8FF"/>
                </a:solidFill>
                <a:latin typeface="Yu Gothic UI"/>
              </a:rPr>
              <a:t>第10回 / Vol.10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100000"/>
            <a:ext cx="121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200" b="0">
                <a:solidFill>
                  <a:srgbClr val="475569"/>
                </a:solidFill>
                <a:latin typeface="Yu Gothic UI"/>
              </a:rPr>
              <a:t>まもなく開始します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700000"/>
            <a:ext cx="12192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9600" b="1">
                <a:solidFill>
                  <a:srgbClr val="1E3A8A"/>
                </a:solidFill>
                <a:latin typeface="Yu Gothic UI"/>
              </a:rPr>
              <a:t>20:15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700000"/>
            <a:ext cx="121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Yu Gothic UI"/>
              </a:rPr>
              <a:t>第10回｜4つを1本につなぐ総復習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50000"/>
            <a:ext cx="121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Yu Gothic UI"/>
              </a:rPr>
              <a:t>経費申請の自動化（Forms × SharePoint × 承認 × Teams）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000" y="5300000"/>
            <a:ext cx="3400000" cy="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6000" y="5300000"/>
            <a:ext cx="5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200" b="0">
                <a:solidFill>
                  <a:srgbClr val="1E3A8A"/>
                </a:solidFill>
                <a:latin typeface="Yu Gothic UI"/>
              </a:rPr>
              <a:t>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6000" y="5300000"/>
            <a:ext cx="27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Yu Gothic UI"/>
              </a:rPr>
              <a:t>Power Automate と Teams を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Yu Gothic UI"/>
              </a:rPr>
              <a:t>事前に起動しておくとスムーズ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6000" y="5300000"/>
            <a:ext cx="3400000" cy="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6000" y="5300000"/>
            <a:ext cx="5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200" b="0">
                <a:solidFill>
                  <a:srgbClr val="1E3A8A"/>
                </a:solidFill>
                <a:latin typeface="Yu Gothic UI"/>
              </a:rPr>
              <a:t>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6000" y="5300000"/>
            <a:ext cx="27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Yu Gothic UI"/>
              </a:rPr>
              <a:t>後日YouTubeで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Yu Gothic UI"/>
              </a:rPr>
              <a:t>アーカイブ動画を公開予定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6000" y="5300000"/>
            <a:ext cx="3400000" cy="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6000" y="5300000"/>
            <a:ext cx="5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200" b="0">
                <a:solidFill>
                  <a:srgbClr val="1E3A8A"/>
                </a:solidFill>
                <a:latin typeface="Yu Gothic UI"/>
              </a:rPr>
              <a:t>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6000" y="5417251"/>
            <a:ext cx="2700000" cy="41549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Yu Gothic UI"/>
              </a:rPr>
              <a:t>Teams表示名がNGの方は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Yu Gothic UI"/>
              </a:rPr>
              <a:t>匿名参加</a:t>
            </a:r>
            <a:r>
              <a:rPr lang="ja-JP" altLang="en-US" sz="1000" b="0">
                <a:solidFill>
                  <a:srgbClr val="475569"/>
                </a:solidFill>
                <a:latin typeface="Yu Gothic UI"/>
              </a:rPr>
              <a:t>をお願い致します。</a:t>
            </a:r>
            <a:endParaRPr sz="1000" b="0">
              <a:solidFill>
                <a:srgbClr val="475569"/>
              </a:solidFill>
              <a:latin typeface="Yu Gothic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6478000"/>
            <a:ext cx="121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Yu Gothic UI"/>
              </a:rPr>
              <a:t>Power Automate 45  |  Copyright © PA45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A7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22860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ハンズオン 事前準備（5分でできます）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96600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+mj-ea"/>
                <a:ea typeface="+mj-ea"/>
              </a:rPr>
              <a:t>今回は総復習回。事前にSharePointに「経費申請」リストを作っておくとスムーズです（当日でもOK）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10947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000" b="1">
                <a:solidFill>
                  <a:srgbClr val="2A7DD4"/>
                </a:solidFill>
                <a:latin typeface="+mj-ea"/>
                <a:ea typeface="+mj-ea"/>
              </a:rPr>
              <a:t>STEP 1   SharePointサイトを開く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555555"/>
                </a:solidFill>
                <a:latin typeface="+mj-ea"/>
                <a:ea typeface="+mj-ea"/>
              </a:rPr>
              <a:t>👉 編集権限のあるSharePointサイト（社内サイト・チームサイト等）を1つ用意してください</a:t>
            </a:r>
          </a:p>
          <a:p>
            <a:pPr>
              <a:spcBef>
                <a:spcPts val="400"/>
              </a:spcBef>
            </a:pPr>
            <a:endParaRPr sz="1300" b="1">
              <a:solidFill>
                <a:srgbClr val="555555"/>
              </a:solidFill>
              <a:latin typeface="+mj-ea"/>
              <a:ea typeface="+mj-ea"/>
            </a:endParaRPr>
          </a:p>
          <a:p>
            <a:endParaRPr sz="1300" b="1">
              <a:solidFill>
                <a:srgbClr val="555555"/>
              </a:solidFill>
              <a:latin typeface="+mj-ea"/>
              <a:ea typeface="+mj-ea"/>
            </a:endParaRPr>
          </a:p>
          <a:p>
            <a:endParaRPr sz="1300" b="1">
              <a:solidFill>
                <a:srgbClr val="555555"/>
              </a:solidFill>
              <a:latin typeface="+mj-ea"/>
              <a:ea typeface="+mj-e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3749039"/>
            <a:ext cx="1109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000" b="1">
                <a:solidFill>
                  <a:srgbClr val="2A7DD4"/>
                </a:solidFill>
                <a:latin typeface="+mj-ea"/>
                <a:ea typeface="+mj-ea"/>
              </a:rPr>
              <a:t>STEP 2   「経費申請」リストを新規作成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33333"/>
                </a:solidFill>
                <a:latin typeface="+mj-ea"/>
                <a:ea typeface="+mj-ea"/>
              </a:rPr>
              <a:t>①  サイト &gt; 新規 &gt; リスト &gt; 空のリストを選択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33333"/>
                </a:solidFill>
                <a:latin typeface="+mj-ea"/>
                <a:ea typeface="+mj-ea"/>
              </a:rPr>
              <a:t>②  名前: 経費申請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33333"/>
                </a:solidFill>
                <a:latin typeface="+mj-ea"/>
                <a:ea typeface="+mj-ea"/>
              </a:rPr>
              <a:t>③  列を3つ追加: Detail（複数行テキスト）／Status（選択肢: 申請中・承認済・却下）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333333"/>
                </a:solidFill>
                <a:latin typeface="+mj-ea"/>
                <a:ea typeface="+mj-ea"/>
              </a:rPr>
              <a:t>④  完了！  当日はこのリストに自動でアイテムが追加されます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Vol.10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269842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PA45【Forms × SharePoint × 承認 × Teams】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151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第10回： </a:t>
            </a:r>
          </a:p>
          <a:p>
            <a:pPr marL="0" indent="0" algn="l">
              <a:buNone/>
            </a:pPr>
            <a:r>
              <a:rPr lang="en-US" sz="32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4つを1本につなぐ総復習</a:t>
            </a:r>
          </a:p>
          <a:p>
            <a:pPr marL="0" indent="0" algn="l">
              <a:buNone/>
            </a:pPr>
            <a:r>
              <a:rPr lang="en-US" sz="32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経費申請の自動化を体験しよう</a:t>
            </a:r>
            <a:endParaRPr lang="en-US" sz="32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Forms → SharePoint → 承認 → Teams｜実務応用の総まとめ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2999" y="5273596"/>
            <a:ext cx="779502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Vol.1〜9を一度でも触った方／実務応用を体験したい方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（はじめての方も、見るだけでOK）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10分ハンズオン </a:t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9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</a:t>
            </a:r>
            <a:r>
              <a:rPr lang="en-US" sz="1600" b="1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Automate 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Formsの回答をSharePointに自動登録する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Forms「新しい応答」をトリガーに、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「項目の作成」で経費申請リストに登録します。</a:t>
            </a:r>
          </a:p>
          <a:p>
            <a:pPr marL="0" indent="0">
              <a:buNone/>
            </a:pPr>
            <a:endParaRPr lang="en-US" sz="1600">
              <a:solidFill>
                <a:srgbClr val="6B7280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承認フローで上司の判断を待つ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「開始して承認を待機」で承認依頼を送信。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Teams上のカードで承認/却下を受け取ります。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結果でSharePoint更新＆Teams通知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条件分岐でStatusを承認済/却下に更新し、申請者にTeamsで結果を通知して完成！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85295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 (1/2)：申請を受け取って整える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265580" y="2195490"/>
            <a:ext cx="5598507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①Forms「新しい応答が送信されるとき」をトリガーに起動。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②「応答の詳細を取得する」で、申請内容（名前・金額・用途・詳細）をひとつずつ取り出す。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③「作成（Compose）」で、金額・用途・詳細をひとまとめの文字列に整形し、</a:t>
            </a: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後段のSharePoint Title や承認カードで使い回せるようにする。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52" name="Picture 51" descr="vol10-flow-1o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000" y="2000000"/>
            <a:ext cx="2700000" cy="44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81527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 (2/2)：登録→承認→結果通知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265579" y="2229307"/>
            <a:ext cx="6248431" cy="391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④「項目の作成」でSharePoint「経費申請」リストに登録（Status=申請中）。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b="1"/>
              <a:t>⑤「開始して承認を待機」で上司にTeams承認カードを送信し、結果を待つ。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b="1"/>
              <a:t>⑥「条件」で承認結果（outcome）が Approve かを判定。</a:t>
            </a: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- True（承認）：項目をStatus=承認済に更新 → Teamsで通知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sz="2000" b="1"/>
              <a:t>   - False（却下）：項目をStatus=却下に更新 → Teamsで通知</a:t>
            </a:r>
            <a:endParaRPr lang="ja-JP" altLang="en-US" sz="24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52" name="Picture 51" descr="vol10-flow-2o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474" y="1765289"/>
            <a:ext cx="4202221" cy="43561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05" y="-9144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2110" y="628650"/>
            <a:ext cx="96012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事前準備 ①  Formsの設問を作る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204620" y="1781251"/>
            <a:ext cx="6544523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🎯 目的：申請者がスマホからも入力できる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  <a:hlinkClick r:id="rId2"/>
              </a:rPr>
              <a:t>「経費申請フォーム」</a:t>
            </a: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を用意する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・新しいFormsを作成（タイトル：経費申請）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・設問は次の4つだけでOK</a:t>
            </a:r>
            <a:endParaRPr lang="ja-JP" altLang="en-US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① お名前（テキスト・短答／必須）</a:t>
            </a:r>
          </a:p>
          <a:p>
            <a:pPr marL="0" indent="0" algn="l">
              <a:buNone/>
            </a:pPr>
            <a:r>
              <a:t>　② 金額（数値・必須／オプションで「0以上の数値」制限）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③ 用途（テキスト・短答／必須）　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例：会議費、消耗品など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　④ 詳細（テキスト・長答／任意）　申請理由を自由記述</a:t>
            </a:r>
            <a:endParaRPr lang="ja-JP" altLang="en-US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・「回答の収集」でリンクをコピーしておく → 後で社内に共有</a:t>
            </a:r>
            <a:endParaRPr lang="ja-JP" altLang="en-US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5" name="図 14" descr="The image shows a form with two proposals, a section for personal names, a field for monetary values, a section for purposes, and a field for additional details.&#10;&#10;AI 生成コンテンツは誤りを含む可能性があります。">
            <a:extLst>
              <a:ext uri="{FF2B5EF4-FFF2-40B4-BE49-F238E27FC236}">
                <a16:creationId xmlns:a16="http://schemas.microsoft.com/office/drawing/2014/main" id="{689B1446-4E1D-9168-07ED-183171FE5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497" y="644768"/>
            <a:ext cx="3520006" cy="54571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71551" y="636536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事前準備 ②  SharePointリストを作る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37948" y="1494313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371551" y="1664075"/>
            <a:ext cx="6971243" cy="4428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+mn-ea"/>
                <a:cs typeface="Noto Sans JP" pitchFamily="34" charset="-120"/>
              </a:rPr>
              <a:t>🎯 目的：申請データを蓄積して、</a:t>
            </a:r>
            <a:endParaRPr lang="en-US" altLang="ja-JP" sz="2000" b="1">
              <a:solidFill>
                <a:srgbClr val="1F2937"/>
              </a:solidFill>
              <a:latin typeface="+mn-ea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+mn-ea"/>
                <a:cs typeface="Noto Sans JP" pitchFamily="34" charset="-120"/>
              </a:rPr>
              <a:t>上司も経理もあとから見返せる「台帳」にする</a:t>
            </a:r>
            <a:endParaRPr lang="en-US" altLang="ja-JP" sz="2000" b="1">
              <a:solidFill>
                <a:srgbClr val="1F2937"/>
              </a:solidFill>
              <a:latin typeface="+mn-ea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+mn-ea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+mn-ea"/>
                <a:cs typeface="Noto Sans JP" pitchFamily="34" charset="-120"/>
              </a:rPr>
              <a:t>・SharePointサイト &gt; 新規 &gt; リスト &gt; 空のリストを選択</a:t>
            </a:r>
            <a:endParaRPr lang="en-US" altLang="ja-JP" sz="2000" b="1">
              <a:solidFill>
                <a:srgbClr val="1F2937"/>
              </a:solidFill>
              <a:latin typeface="+mn-ea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+mn-ea"/>
              <a:cs typeface="Noto Sans JP" pitchFamily="34" charset="-120"/>
            </a:endParaRPr>
          </a:p>
          <a:p>
            <a:pPr marL="0" indent="0" algn="l">
              <a:buNone/>
            </a:pPr>
            <a:r>
              <a:rPr b="1">
                <a:latin typeface="+mn-ea"/>
              </a:rPr>
              <a:t>・リスト名：経費申請</a:t>
            </a:r>
            <a:endParaRPr lang="en-US" b="1">
              <a:latin typeface="+mn-ea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+mn-ea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+mn-ea"/>
                <a:cs typeface="Noto Sans JP" pitchFamily="34" charset="-120"/>
              </a:rPr>
              <a:t>・列を3つ追加（</a:t>
            </a:r>
            <a:r>
              <a:rPr lang="ja-JP" altLang="en-US" sz="2000" b="1">
                <a:solidFill>
                  <a:srgbClr val="1F2937"/>
                </a:solidFill>
                <a:latin typeface="+mn-ea"/>
                <a:cs typeface="Microsoft Sans Serif" panose="020B0604020202020204" pitchFamily="34" charset="0"/>
              </a:rPr>
              <a:t>Title</a:t>
            </a:r>
            <a:r>
              <a:rPr lang="ja-JP" altLang="en-US" sz="2000" b="1">
                <a:solidFill>
                  <a:srgbClr val="1F2937"/>
                </a:solidFill>
                <a:latin typeface="+mn-ea"/>
                <a:cs typeface="Noto Sans JP" pitchFamily="34" charset="-120"/>
              </a:rPr>
              <a:t>列は最初からあるのでそのまま使用）</a:t>
            </a:r>
          </a:p>
          <a:p>
            <a:pPr marL="0" indent="0" algn="l">
              <a:buNone/>
            </a:pPr>
            <a:r>
              <a:rPr b="1">
                <a:latin typeface="+mn-ea"/>
              </a:rPr>
              <a:t>　① Title（テキスト・既定）　申請の見出し</a:t>
            </a:r>
            <a:endParaRPr lang="en-US" b="1">
              <a:latin typeface="+mn-ea"/>
            </a:endParaRPr>
          </a:p>
          <a:p>
            <a:pPr marL="0" indent="0" algn="l">
              <a:buNone/>
            </a:pPr>
            <a:r>
              <a:rPr lang="ja-JP" altLang="en-US" b="1">
                <a:latin typeface="+mn-ea"/>
              </a:rPr>
              <a:t>　　</a:t>
            </a:r>
            <a:r>
              <a:rPr b="1">
                <a:latin typeface="+mn-ea"/>
              </a:rPr>
              <a:t>（フローでサマリ文を入れる）</a:t>
            </a:r>
            <a:endParaRPr lang="en-US" altLang="ja-JP" sz="2000" b="1">
              <a:solidFill>
                <a:srgbClr val="1F2937"/>
              </a:solidFill>
              <a:latin typeface="+mn-ea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+mn-ea"/>
                <a:cs typeface="Noto Sans JP" pitchFamily="34" charset="-120"/>
              </a:rPr>
              <a:t>　② Detail（複数行テキスト）　Formsの「詳細」を保存</a:t>
            </a:r>
            <a:endParaRPr lang="en-US" altLang="ja-JP" sz="2000" b="1">
              <a:solidFill>
                <a:srgbClr val="1F2937"/>
              </a:solidFill>
              <a:latin typeface="+mn-ea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+mn-ea"/>
              <a:cs typeface="Noto Sans JP" pitchFamily="34" charset="-120"/>
            </a:endParaRPr>
          </a:p>
          <a:p>
            <a:pPr marL="0" indent="0" algn="l">
              <a:buNone/>
            </a:pPr>
            <a:r>
              <a:rPr b="1">
                <a:latin typeface="+mn-ea"/>
              </a:rPr>
              <a:t>　③ Status（選択肢）　「申請中」「承認済」「却下」の3択</a:t>
            </a:r>
            <a:endParaRPr lang="ja-JP" altLang="en-US" sz="2000" b="1">
              <a:solidFill>
                <a:srgbClr val="1F2937"/>
              </a:solidFill>
              <a:latin typeface="+mn-ea"/>
              <a:cs typeface="Noto Sans JP" pitchFamily="34" charset="-120"/>
            </a:endParaRPr>
          </a:p>
          <a:p>
            <a:pPr marL="0" indent="0" algn="l">
              <a:buNone/>
            </a:pPr>
            <a:r>
              <a:rPr b="1">
                <a:latin typeface="+mn-ea"/>
              </a:rPr>
              <a:t>・既定値：Status =「申請中」にしておくと安心</a:t>
            </a:r>
            <a:endParaRPr lang="ja-JP" altLang="en-US" sz="2000" b="1">
              <a:solidFill>
                <a:srgbClr val="1F2937"/>
              </a:solidFill>
              <a:latin typeface="+mn-ea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 dirty="0">
              <a:solidFill>
                <a:srgbClr val="1F2937"/>
              </a:solidFill>
              <a:latin typeface="+mn-ea"/>
              <a:cs typeface="Noto Sans JP" pitchFamily="34" charset="-120"/>
            </a:endParaRPr>
          </a:p>
        </p:txBody>
      </p:sp>
      <p:pic>
        <p:nvPicPr>
          <p:cNvPr id="14" name="図 13" descr="No10 Expense Claim List&#10;&#10;AI 生成コンテンツは誤りを含む可能性があります。">
            <a:extLst>
              <a:ext uri="{FF2B5EF4-FFF2-40B4-BE49-F238E27FC236}">
                <a16:creationId xmlns:a16="http://schemas.microsoft.com/office/drawing/2014/main" id="{C2EF7902-2BBE-0FB4-C1D1-D35830F89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526" y="1808797"/>
            <a:ext cx="4439707" cy="36133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フロー解説 ①  申請を受け取る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243" y="1705357"/>
            <a:ext cx="7058328" cy="4260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🎯 目的：紙やメールで来る申請を、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自動で受け取れるようにする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・Forms「新しい応答が送信されるとき」でフロー起動</a:t>
            </a:r>
            <a:endParaRPr lang="en-US"/>
          </a:p>
          <a:p>
            <a:pPr marL="0" indent="0" algn="l">
              <a:buNone/>
            </a:pP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sz="1600"/>
              <a:t>・「応答の詳細を取得」で 名前 / 金額 / 用途 を抜き出す</a:t>
            </a:r>
            <a:endParaRPr lang="en-US" sz="1600"/>
          </a:p>
          <a:p>
            <a:pPr marL="0" indent="0" algn="l">
              <a:buNone/>
            </a:pPr>
            <a:endParaRPr lang="ja-JP" altLang="en-US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・「作成（Compose）」で1行サマリにまとめる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（例：山田太郎 様 / 会議費 / ¥3,500）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　→ あとでSPタイトルや承認カードに使い回せて便利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1" name="図 10" descr="The image depicts a user interface with two sections, each containing a text field for inputting responses, with instructions to retrieve and summarize application details.&#10;&#10;AI 生成コンテンツは誤りを含む可能性があります。">
            <a:extLst>
              <a:ext uri="{FF2B5EF4-FFF2-40B4-BE49-F238E27FC236}">
                <a16:creationId xmlns:a16="http://schemas.microsoft.com/office/drawing/2014/main" id="{E3F313C9-ADB6-6A37-504D-0DE5F3B6B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252" y="674831"/>
            <a:ext cx="3488397" cy="53574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A child in green clothing is depicted sitting on the floor, relaxing with a laptop open and on, while lying down.&#10;&#10;AI 生成コンテンツは誤りを含む可能性があります。">
            <a:extLst>
              <a:ext uri="{FF2B5EF4-FFF2-40B4-BE49-F238E27FC236}">
                <a16:creationId xmlns:a16="http://schemas.microsoft.com/office/drawing/2014/main" id="{49EE4930-6C21-6EBF-82EA-02FB98532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707" y="3353565"/>
            <a:ext cx="2106190" cy="14415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1103811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フロー解説 ②  登録 → 承認待ち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207159" y="1948175"/>
            <a:ext cx="7380546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🎯 目的：申請をデータとして残しつつ、上司の判断を仰ぐ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sz="2000"/>
              <a:t>・「項目の作成」でSP「経費申請」リストに登録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sz="2000"/>
              <a:t>　Title=サマリ / Detail=詳細 / Status=申請中</a:t>
            </a:r>
            <a:endParaRPr lang="ja-JP" altLang="en-US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→ 全社の申請が1か所に蓄積される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sz="2000"/>
              <a:t>・「開始して承認を待機」で上司にTeams承認カード送信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→ フローは上司が押すまでじっと待機</a:t>
            </a: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1" name="図 10" descr="Submitted&#10;&#10;AI 生成コンテンツは誤りを含む可能性があります。">
            <a:extLst>
              <a:ext uri="{FF2B5EF4-FFF2-40B4-BE49-F238E27FC236}">
                <a16:creationId xmlns:a16="http://schemas.microsoft.com/office/drawing/2014/main" id="{0DD0D0D2-FD45-AE74-8E14-81FC75DD9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320" y="1760009"/>
            <a:ext cx="4115374" cy="42106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A hand holding a document with Japanese characters and a form with checkboxes and numbers.&#10;&#10;AI 生成コンテンツは誤りを含む可能性があります。">
            <a:extLst>
              <a:ext uri="{FF2B5EF4-FFF2-40B4-BE49-F238E27FC236}">
                <a16:creationId xmlns:a16="http://schemas.microsoft.com/office/drawing/2014/main" id="{59479EB1-0E7C-C3B6-9DC4-512C3E02C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274" y="2596920"/>
            <a:ext cx="1639567" cy="1490184"/>
          </a:xfrm>
          <a:prstGeom prst="rect">
            <a:avLst/>
          </a:prstGeom>
        </p:spPr>
      </p:pic>
      <p:pic>
        <p:nvPicPr>
          <p:cNvPr id="16" name="図 15" descr="The image depicts a child in a blue shirt, sitting at a desk, looking confused and holding a smartphone, with an open email notification and a question mark above his head.&#10;&#10;AI 生成コンテンツは誤りを含む可能性があります。">
            <a:extLst>
              <a:ext uri="{FF2B5EF4-FFF2-40B4-BE49-F238E27FC236}">
                <a16:creationId xmlns:a16="http://schemas.microsoft.com/office/drawing/2014/main" id="{F06833EB-62C0-688B-7E01-15829AD70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4656" y="4994690"/>
            <a:ext cx="1490185" cy="14901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83781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フロー解説 ③  結果で更新＆通知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0" y="1523390"/>
            <a:ext cx="11975897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94417" y="2164046"/>
            <a:ext cx="6915983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🎯 目的：承認結果をデータに反映し、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 申請者にすぐ伝える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・「条件」で outcome = Approve かを判定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　※ outcome は英語固定（Approve / Reject）。日本語比較はNG</a:t>
            </a:r>
            <a:endParaRPr lang="en-US"/>
          </a:p>
          <a:p>
            <a:pPr marL="0" indent="0" algn="l">
              <a:buNone/>
            </a:pPr>
            <a:endParaRPr lang="en-US"/>
          </a:p>
          <a:p>
            <a:pPr marL="0" indent="0" algn="l">
              <a:buNone/>
            </a:pPr>
            <a:r>
              <a:t>・はい：Status「承認済」に更新 → Teamsで ✅ 通知</a:t>
            </a:r>
            <a:endParaRPr lang="en-US"/>
          </a:p>
          <a:p>
            <a:pPr marL="0" indent="0" algn="l">
              <a:buNone/>
            </a:pPr>
            <a:endParaRPr lang="ja-JP" altLang="en-US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・いいえ：Status「却下」に更新 → Teamsで ❌ 通知</a:t>
            </a:r>
            <a:endParaRPr lang="en-US"/>
          </a:p>
          <a:p>
            <a:pPr marL="0" indent="0" algn="l">
              <a:buNone/>
            </a:pPr>
            <a:endParaRPr lang="ja-JP" altLang="en-US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t>　→ 経費申請以外にも、有休・稟議・備品申請にそのまま応用可</a:t>
            </a:r>
            <a:endParaRPr lang="en-US" altLang="ja-JP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1" name="図 10" descr="Reject&#10;&#10;AI 生成コンテンツは誤りを含む可能性があります。">
            <a:extLst>
              <a:ext uri="{FF2B5EF4-FFF2-40B4-BE49-F238E27FC236}">
                <a16:creationId xmlns:a16="http://schemas.microsoft.com/office/drawing/2014/main" id="{51253969-DE5D-4A72-3C6D-1FEDC2D29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489" y="1740257"/>
            <a:ext cx="4941984" cy="43044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cute, cartoonish cat holding a target with a cheerful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DB25A7B8-36CA-2E8D-1D22-11781740D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691" y="5173320"/>
            <a:ext cx="1122182" cy="1181244"/>
          </a:xfrm>
          <a:prstGeom prst="rect">
            <a:avLst/>
          </a:prstGeom>
        </p:spPr>
      </p:pic>
      <p:pic>
        <p:nvPicPr>
          <p:cNvPr id="16" name="図 15" descr="The image depicts a gray cartoon cat with a red circle and cross, holding a magnifying glass.&#10;&#10;AI 生成コンテンツは誤りを含む可能性があります。">
            <a:extLst>
              <a:ext uri="{FF2B5EF4-FFF2-40B4-BE49-F238E27FC236}">
                <a16:creationId xmlns:a16="http://schemas.microsoft.com/office/drawing/2014/main" id="{AF3E22CA-FF0B-8F71-3F0B-A922DEFAE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9206" y="5237266"/>
            <a:ext cx="1052236" cy="11076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814990" y="6322778"/>
            <a:ext cx="7139243" cy="405006"/>
            <a:chOff x="6034969" y="604238"/>
            <a:chExt cx="5862289" cy="405006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Formsは「申請の受け皿」、SharePointは「データの置き場所」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5442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Formsで入力 → SharePointに保存 の流れは、社内のあらゆる申請フローに使い回せます。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今回作るのは経費申請ですが、有休・稟議・備品にもそのまま応用できます。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71953" y="3163346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承認結果（outcome）は英語固定「Approve / Reject」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444844" y="3742639"/>
            <a:ext cx="101720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条件分岐で日本語「承認」</a:t>
            </a:r>
            <a:r>
              <a:rPr lang="en-US" sz="18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と比較するとハマります。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outcome</a:t>
            </a: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は英語Approve/Rejectで比較すること。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これだけ覚えれば承認フローでつまずきません。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「項目の作成」の {Link} を承認カードに入れる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承認カードに項目のリンクを入れておくと、承認者がTeamsから直接SharePointへ飛べます。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小さな工夫ですが、運用ストレスがぐっと減ります。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52652" y="2066544"/>
            <a:ext cx="2563063" cy="637793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582868" y="2181647"/>
            <a:ext cx="2781605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Forms入力→SP登録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→上司承認→経理に通知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619049" y="3858372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Forms＋SharePoint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→Approvals→Teams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結果でStatus更新まで自動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Forms→SP→Approvals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479687" y="1917917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9882" y="2109027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735387" y="1998232"/>
            <a:ext cx="2063140" cy="588606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6052555" y="2125428"/>
            <a:ext cx="1544632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有休申請の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自動承認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16094" y="3038477"/>
            <a:ext cx="3829965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休暇日・理由をFormsで申請</a:t>
            </a:r>
            <a:endParaRPr lang="en-US" sz="36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→上長承認→人事へ通知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4509813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Forms→SharePoint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→Approvals→Teams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承認結果で台帳更新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4714569" y="5398054"/>
            <a:ext cx="3301062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Forms→SP→Approvals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246059" y="1790914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591531" y="1952181"/>
            <a:ext cx="2162878" cy="775966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35613" y="2215734"/>
            <a:ext cx="2452753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稟議書の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多段承認</a:t>
            </a:r>
          </a:p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稟議書をFormsで起票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→課長→部長と順に承認</a:t>
            </a:r>
            <a:endParaRPr lang="en-US" sz="3600" dirty="0"/>
          </a:p>
        </p:txBody>
      </p:sp>
      <p:sp>
        <p:nvSpPr>
          <p:cNvPr id="33" name="Text 26"/>
          <p:cNvSpPr txBox="1"/>
          <p:nvPr/>
        </p:nvSpPr>
        <p:spPr>
          <a:xfrm>
            <a:off x="8516611" y="3885659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Forms→SharePoint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→Approvals×複数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最終承認後にTeams通知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承認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実務応用の総まとめ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1113609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PA45｜第10回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575082" y="5283885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3506</TotalTime>
  <Words>2068</Words>
  <Application>Microsoft Office PowerPoint</Application>
  <PresentationFormat>ワイド画面</PresentationFormat>
  <Paragraphs>440</Paragraphs>
  <Slides>18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4" baseType="lpstr">
      <vt:lpstr>BIZ UDゴシック</vt:lpstr>
      <vt:lpstr>Noto Sans JP</vt:lpstr>
      <vt:lpstr>ui-monospace</vt:lpstr>
      <vt:lpstr>Yu Gothic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28</cp:revision>
  <dcterms:created xsi:type="dcterms:W3CDTF">2026-03-02T01:22:39Z</dcterms:created>
  <dcterms:modified xsi:type="dcterms:W3CDTF">2026-05-16T08:02:43Z</dcterms:modified>
</cp:coreProperties>
</file>