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7" r:id="rId2"/>
    <p:sldId id="256" r:id="rId3"/>
    <p:sldId id="271" r:id="rId4"/>
    <p:sldId id="270" r:id="rId5"/>
    <p:sldId id="259" r:id="rId6"/>
    <p:sldId id="260" r:id="rId7"/>
    <p:sldId id="261" r:id="rId8"/>
    <p:sldId id="262" r:id="rId9"/>
    <p:sldId id="263" r:id="rId10"/>
    <p:sldId id="258" r:id="rId11"/>
    <p:sldId id="264" r:id="rId12"/>
    <p:sldId id="265" r:id="rId13"/>
    <p:sldId id="266" r:id="rId14"/>
    <p:sldId id="268" r:id="rId15"/>
    <p:sldId id="267"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04" autoAdjust="0"/>
    <p:restoredTop sz="72321" autoAdjust="0"/>
  </p:normalViewPr>
  <p:slideViewPr>
    <p:cSldViewPr snapToGrid="0" snapToObjects="1">
      <p:cViewPr varScale="1">
        <p:scale>
          <a:sx n="64" d="100"/>
          <a:sy n="64" d="100"/>
        </p:scale>
        <p:origin x="156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2403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kumimoji="1" lang="ja-JP" altLang="en-US" sz="1200" b="0" i="0" kern="1200">
                <a:solidFill>
                  <a:schemeClr val="tx1"/>
                </a:solidFill>
                <a:effectLst/>
                <a:latin typeface="+mn-lt"/>
                <a:ea typeface="+mn-ea"/>
                <a:cs typeface="+mn-cs"/>
              </a:rPr>
              <a:t>皆さん、こんばんは。本日は「</a:t>
            </a:r>
            <a:r>
              <a:rPr kumimoji="1" lang="en-US" altLang="ja-JP" sz="1200" b="0" i="0" kern="1200">
                <a:solidFill>
                  <a:schemeClr val="tx1"/>
                </a:solidFill>
                <a:effectLst/>
                <a:latin typeface="+mn-lt"/>
                <a:ea typeface="+mn-ea"/>
                <a:cs typeface="+mn-cs"/>
              </a:rPr>
              <a:t>PA45 </a:t>
            </a:r>
            <a:r>
              <a:rPr kumimoji="1" lang="ja-JP" altLang="en-US" sz="1200" b="0" i="0" kern="1200">
                <a:solidFill>
                  <a:schemeClr val="tx1"/>
                </a:solidFill>
                <a:effectLst/>
                <a:latin typeface="+mn-lt"/>
                <a:ea typeface="+mn-ea"/>
                <a:cs typeface="+mn-cs"/>
              </a:rPr>
              <a:t>忙しい人のための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分ハンズオン」にご参加いただきありがとうございます。</a:t>
            </a:r>
          </a:p>
          <a:p>
            <a:pPr fontAlgn="t"/>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長時間の研修を受けなくても“</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粒だけ”確実に身につける</a:t>
            </a:r>
            <a:r>
              <a:rPr kumimoji="1" lang="ja-JP" altLang="en-US" sz="1200" b="0" i="0" kern="1200">
                <a:solidFill>
                  <a:schemeClr val="tx1"/>
                </a:solidFill>
                <a:effectLst/>
                <a:latin typeface="+mn-lt"/>
                <a:ea typeface="+mn-ea"/>
                <a:cs typeface="+mn-cs"/>
              </a:rPr>
              <a:t> をコンセプトにしています。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例えば、今日のように「変数」という</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パーツだけをしっかり理解することで、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“フロー全体の理解が一気にラクになる” という経験をしていただけます。</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は触ったことがなくても問題ありません。</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途中で「できました！」「ちょっと迷いました</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」など、気軽にチャットしてくださいね。</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アウトプット歓迎の講座</a:t>
            </a:r>
            <a:r>
              <a:rPr kumimoji="1" lang="ja-JP" altLang="en-US" sz="1200" b="0" i="0" kern="1200">
                <a:solidFill>
                  <a:schemeClr val="tx1"/>
                </a:solidFill>
                <a:effectLst/>
                <a:latin typeface="+mn-lt"/>
                <a:ea typeface="+mn-ea"/>
                <a:cs typeface="+mn-cs"/>
              </a:rPr>
              <a:t>なので、少しの反応でもとても嬉しいです。</a:t>
            </a:r>
          </a:p>
          <a:p>
            <a:pPr fontAlgn="t"/>
            <a:r>
              <a:rPr kumimoji="1" lang="ja-JP" altLang="en-US" sz="1200" b="0" i="0" kern="1200">
                <a:solidFill>
                  <a:schemeClr val="tx1"/>
                </a:solidFill>
                <a:effectLst/>
                <a:latin typeface="+mn-lt"/>
                <a:ea typeface="+mn-ea"/>
                <a:cs typeface="+mn-cs"/>
              </a:rPr>
              <a:t>では、今日も</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分で「できた！」を一緒に作っていきましょう。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20:18</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2</a:t>
            </a:r>
            <a:r>
              <a:rPr kumimoji="1" lang="ja-JP" altLang="en-US" sz="1200" b="1" i="0" kern="1200">
                <a:solidFill>
                  <a:schemeClr val="tx1"/>
                </a:solidFill>
                <a:effectLst/>
                <a:latin typeface="+mn-lt"/>
                <a:ea typeface="+mn-ea"/>
                <a:cs typeface="+mn-cs"/>
              </a:rPr>
              <a:t>｜参加ルール・お願い（</a:t>
            </a:r>
            <a:r>
              <a:rPr kumimoji="1" lang="en-US" altLang="ja-JP" sz="1200" b="1" i="0" kern="1200">
                <a:solidFill>
                  <a:schemeClr val="tx1"/>
                </a:solidFill>
                <a:effectLst/>
                <a:latin typeface="+mn-lt"/>
                <a:ea typeface="+mn-ea"/>
                <a:cs typeface="+mn-cs"/>
              </a:rPr>
              <a:t>20:18〜 / 2</a:t>
            </a:r>
            <a:r>
              <a:rPr kumimoji="1" lang="ja-JP" altLang="en-US" sz="1200" b="1" i="0" kern="1200">
                <a:solidFill>
                  <a:schemeClr val="tx1"/>
                </a:solidFill>
                <a:effectLst/>
                <a:latin typeface="+mn-lt"/>
                <a:ea typeface="+mn-ea"/>
                <a:cs typeface="+mn-cs"/>
              </a:rPr>
              <a:t>分）</a:t>
            </a:r>
          </a:p>
          <a:p>
            <a:pPr fontAlgn="t"/>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は、初心者の方でも安心して学べる場です。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誹謗中傷や不適切なコメントは</a:t>
            </a:r>
            <a:r>
              <a:rPr kumimoji="1" lang="en-US" altLang="ja-JP" sz="1200" b="0" i="0" kern="1200">
                <a:solidFill>
                  <a:schemeClr val="tx1"/>
                </a:solidFill>
                <a:effectLst/>
                <a:latin typeface="+mn-lt"/>
                <a:ea typeface="+mn-ea"/>
                <a:cs typeface="+mn-cs"/>
              </a:rPr>
              <a:t>NG</a:t>
            </a:r>
            <a:r>
              <a:rPr kumimoji="1" lang="ja-JP" altLang="en-US" sz="1200" b="0" i="0" kern="1200">
                <a:solidFill>
                  <a:schemeClr val="tx1"/>
                </a:solidFill>
                <a:effectLst/>
                <a:latin typeface="+mn-lt"/>
                <a:ea typeface="+mn-ea"/>
                <a:cs typeface="+mn-cs"/>
              </a:rPr>
              <a:t>ですが、質問・リアクションは大歓迎です。</a:t>
            </a:r>
          </a:p>
          <a:p>
            <a:pPr fontAlgn="t"/>
            <a:r>
              <a:rPr kumimoji="1" lang="ja-JP" altLang="en-US" sz="1200" b="0" i="0" kern="1200">
                <a:solidFill>
                  <a:schemeClr val="tx1"/>
                </a:solidFill>
                <a:effectLst/>
                <a:latin typeface="+mn-lt"/>
                <a:ea typeface="+mn-ea"/>
                <a:cs typeface="+mn-cs"/>
              </a:rPr>
              <a:t>例えば、「変数って何？箱ってどういうこと？」のような</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基本的な疑問こそ、どんどん聞いてほしいポイント</a:t>
            </a:r>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講座は録画して後日</a:t>
            </a:r>
            <a:r>
              <a:rPr kumimoji="1" lang="en-US" altLang="ja-JP" sz="1200" b="0" i="0" kern="1200">
                <a:solidFill>
                  <a:schemeClr val="tx1"/>
                </a:solidFill>
                <a:effectLst/>
                <a:latin typeface="+mn-lt"/>
                <a:ea typeface="+mn-ea"/>
                <a:cs typeface="+mn-cs"/>
              </a:rPr>
              <a:t>YouTube</a:t>
            </a:r>
            <a:r>
              <a:rPr kumimoji="1" lang="ja-JP" altLang="en-US" sz="1200" b="0" i="0" kern="1200">
                <a:solidFill>
                  <a:schemeClr val="tx1"/>
                </a:solidFill>
                <a:effectLst/>
                <a:latin typeface="+mn-lt"/>
                <a:ea typeface="+mn-ea"/>
                <a:cs typeface="+mn-cs"/>
              </a:rPr>
              <a:t>で公開予定ですが、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映るのは講師画面だけで、参加者の音声・映像・名前は一切出ませんのでご安心ください。</a:t>
            </a:r>
          </a:p>
          <a:p>
            <a:pPr fontAlgn="t"/>
            <a:r>
              <a:rPr kumimoji="1" lang="ja-JP" altLang="en-US" sz="1200" b="0" i="0" kern="1200">
                <a:solidFill>
                  <a:schemeClr val="tx1"/>
                </a:solidFill>
                <a:effectLst/>
                <a:latin typeface="+mn-lt"/>
                <a:ea typeface="+mn-ea"/>
                <a:cs typeface="+mn-cs"/>
              </a:rPr>
              <a:t>もし</a:t>
            </a:r>
            <a:r>
              <a:rPr kumimoji="1" lang="en-US" altLang="ja-JP" sz="1200" b="0" i="0" kern="1200">
                <a:solidFill>
                  <a:schemeClr val="tx1"/>
                </a:solidFill>
                <a:effectLst/>
                <a:latin typeface="+mn-lt"/>
                <a:ea typeface="+mn-ea"/>
                <a:cs typeface="+mn-cs"/>
              </a:rPr>
              <a:t>X</a:t>
            </a: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Twitter</a:t>
            </a:r>
            <a:r>
              <a:rPr kumimoji="1" lang="ja-JP" altLang="en-US" sz="1200" b="0" i="0" kern="1200">
                <a:solidFill>
                  <a:schemeClr val="tx1"/>
                </a:solidFill>
                <a:effectLst/>
                <a:latin typeface="+mn-lt"/>
                <a:ea typeface="+mn-ea"/>
                <a:cs typeface="+mn-cs"/>
              </a:rPr>
              <a:t>）をお使いなら、</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今日の学びや気づきを </a:t>
            </a:r>
            <a:r>
              <a:rPr kumimoji="1" lang="en-US" altLang="ja-JP" sz="1200" b="1"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 で投稿していただけると、私たち運営の励みにもなります！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20:20</a:t>
            </a:r>
          </a:p>
          <a:p>
            <a:pPr fontAlgn="t"/>
            <a:endParaRPr kumimoji="1" lang="en-US" altLang="ja-JP"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改めまして、本日の講師を務めます </a:t>
            </a:r>
            <a:r>
              <a:rPr kumimoji="1" lang="en-US" altLang="ja-JP" sz="1200" b="1" i="0" kern="1200">
                <a:solidFill>
                  <a:schemeClr val="tx1"/>
                </a:solidFill>
                <a:effectLst/>
                <a:latin typeface="+mn-lt"/>
                <a:ea typeface="+mn-ea"/>
                <a:cs typeface="+mn-cs"/>
              </a:rPr>
              <a:t>Haru</a:t>
            </a:r>
            <a:r>
              <a:rPr kumimoji="1" lang="ja-JP" altLang="en-US" sz="1200" b="0" i="0" kern="1200">
                <a:solidFill>
                  <a:schemeClr val="tx1"/>
                </a:solidFill>
                <a:effectLst/>
                <a:latin typeface="+mn-lt"/>
                <a:ea typeface="+mn-ea"/>
                <a:cs typeface="+mn-cs"/>
              </a:rPr>
              <a:t> と申します。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今日は皆さんの </a:t>
            </a:r>
            <a:r>
              <a:rPr kumimoji="1" lang="en-US" altLang="ja-JP" sz="1200" b="1" i="0" kern="1200">
                <a:solidFill>
                  <a:schemeClr val="tx1"/>
                </a:solidFill>
                <a:effectLst/>
                <a:latin typeface="+mn-lt"/>
                <a:ea typeface="+mn-ea"/>
                <a:cs typeface="+mn-cs"/>
              </a:rPr>
              <a:t>Power Automate </a:t>
            </a:r>
            <a:r>
              <a:rPr kumimoji="1" lang="ja-JP" altLang="en-US" sz="1200" b="1" i="0" kern="1200">
                <a:solidFill>
                  <a:schemeClr val="tx1"/>
                </a:solidFill>
                <a:effectLst/>
                <a:latin typeface="+mn-lt"/>
                <a:ea typeface="+mn-ea"/>
                <a:cs typeface="+mn-cs"/>
              </a:rPr>
              <a:t>の “最初の一歩” を確実に前に進めるサポート役</a:t>
            </a:r>
            <a:r>
              <a:rPr kumimoji="1" lang="ja-JP" altLang="en-US" sz="1200" b="0" i="0" kern="1200">
                <a:solidFill>
                  <a:schemeClr val="tx1"/>
                </a:solidFill>
                <a:effectLst/>
                <a:latin typeface="+mn-lt"/>
                <a:ea typeface="+mn-ea"/>
                <a:cs typeface="+mn-cs"/>
              </a:rPr>
              <a:t> としてご一緒させていただきます。</a:t>
            </a:r>
          </a:p>
          <a:p>
            <a:pPr fontAlgn="t"/>
            <a:r>
              <a:rPr kumimoji="1" lang="ja-JP" altLang="en-US" sz="1200" b="0" i="0" kern="1200">
                <a:solidFill>
                  <a:schemeClr val="tx1"/>
                </a:solidFill>
                <a:effectLst/>
                <a:latin typeface="+mn-lt"/>
                <a:ea typeface="+mn-ea"/>
                <a:cs typeface="+mn-cs"/>
              </a:rPr>
              <a:t>私は普段、</a:t>
            </a:r>
            <a:r>
              <a:rPr kumimoji="1" lang="en-US" altLang="ja-JP" sz="1200" b="0" i="0" kern="1200">
                <a:solidFill>
                  <a:schemeClr val="tx1"/>
                </a:solidFill>
                <a:effectLst/>
                <a:latin typeface="+mn-lt"/>
                <a:ea typeface="+mn-ea"/>
                <a:cs typeface="+mn-cs"/>
              </a:rPr>
              <a:t>Power Platform </a:t>
            </a:r>
            <a:r>
              <a:rPr kumimoji="1" lang="ja-JP" altLang="en-US" sz="1200" b="0" i="0" kern="1200">
                <a:solidFill>
                  <a:schemeClr val="tx1"/>
                </a:solidFill>
                <a:effectLst/>
                <a:latin typeface="+mn-lt"/>
                <a:ea typeface="+mn-ea"/>
                <a:cs typeface="+mn-cs"/>
              </a:rPr>
              <a:t>を活用した </a:t>
            </a:r>
            <a:r>
              <a:rPr kumimoji="1" lang="ja-JP" altLang="en-US" sz="1200" b="1" i="0" kern="1200">
                <a:solidFill>
                  <a:schemeClr val="tx1"/>
                </a:solidFill>
                <a:effectLst/>
                <a:latin typeface="+mn-lt"/>
                <a:ea typeface="+mn-ea"/>
                <a:cs typeface="+mn-cs"/>
              </a:rPr>
              <a:t>業務改善・</a:t>
            </a:r>
            <a:r>
              <a:rPr kumimoji="1" lang="en-US" altLang="ja-JP" sz="1200" b="1" i="0" kern="1200">
                <a:solidFill>
                  <a:schemeClr val="tx1"/>
                </a:solidFill>
                <a:effectLst/>
                <a:latin typeface="+mn-lt"/>
                <a:ea typeface="+mn-ea"/>
                <a:cs typeface="+mn-cs"/>
              </a:rPr>
              <a:t>DX</a:t>
            </a:r>
            <a:r>
              <a:rPr kumimoji="1" lang="ja-JP" altLang="en-US" sz="1200" b="1" i="0" kern="1200">
                <a:solidFill>
                  <a:schemeClr val="tx1"/>
                </a:solidFill>
                <a:effectLst/>
                <a:latin typeface="+mn-lt"/>
                <a:ea typeface="+mn-ea"/>
                <a:cs typeface="+mn-cs"/>
              </a:rPr>
              <a:t>推進</a:t>
            </a:r>
            <a:r>
              <a:rPr kumimoji="1" lang="ja-JP" altLang="en-US" sz="1200" b="0" i="0" kern="1200">
                <a:solidFill>
                  <a:schemeClr val="tx1"/>
                </a:solidFill>
                <a:effectLst/>
                <a:latin typeface="+mn-lt"/>
                <a:ea typeface="+mn-ea"/>
                <a:cs typeface="+mn-cs"/>
              </a:rPr>
              <a:t> を社内外で担当しています。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特に </a:t>
            </a:r>
            <a:r>
              <a:rPr kumimoji="1" lang="ja-JP" altLang="en-US" sz="1200" b="1" i="0" kern="1200">
                <a:solidFill>
                  <a:schemeClr val="tx1"/>
                </a:solidFill>
                <a:effectLst/>
                <a:latin typeface="+mn-lt"/>
                <a:ea typeface="+mn-ea"/>
                <a:cs typeface="+mn-cs"/>
              </a:rPr>
              <a:t>初心者の方がつまずきやすいポイントをどう分かりやすく伝えるか？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という部分にこだわって講座をつくっています。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これまでの活動について</a:t>
            </a:r>
          </a:p>
          <a:p>
            <a:pPr fontAlgn="t"/>
            <a:r>
              <a:rPr kumimoji="1" lang="ja-JP" altLang="en-US" sz="1200" b="0" i="0" kern="1200">
                <a:solidFill>
                  <a:schemeClr val="tx1"/>
                </a:solidFill>
                <a:effectLst/>
                <a:latin typeface="+mn-lt"/>
                <a:ea typeface="+mn-ea"/>
                <a:cs typeface="+mn-cs"/>
              </a:rPr>
              <a:t>私はこれまでに、社内外あわせて </a:t>
            </a:r>
            <a:r>
              <a:rPr kumimoji="1" lang="ja-JP" altLang="en-US" sz="1200" b="1" i="0" kern="1200">
                <a:solidFill>
                  <a:schemeClr val="tx1"/>
                </a:solidFill>
                <a:effectLst/>
                <a:latin typeface="+mn-lt"/>
                <a:ea typeface="+mn-ea"/>
                <a:cs typeface="+mn-cs"/>
              </a:rPr>
              <a:t>数百名規模の</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講座</a:t>
            </a:r>
            <a:r>
              <a:rPr kumimoji="1" lang="ja-JP" altLang="en-US" sz="1200" b="0" i="0" kern="1200">
                <a:solidFill>
                  <a:schemeClr val="tx1"/>
                </a:solidFill>
                <a:effectLst/>
                <a:latin typeface="+mn-lt"/>
                <a:ea typeface="+mn-ea"/>
                <a:cs typeface="+mn-cs"/>
              </a:rPr>
              <a:t>を担当してきました。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中には、</a:t>
            </a:r>
          </a:p>
          <a:p>
            <a:pPr fontAlgn="t"/>
            <a:r>
              <a:rPr kumimoji="1" lang="ja-JP" altLang="en-US" sz="1200" b="0" i="0" kern="1200">
                <a:solidFill>
                  <a:schemeClr val="tx1"/>
                </a:solidFill>
                <a:effectLst/>
                <a:latin typeface="+mn-lt"/>
                <a:ea typeface="+mn-ea"/>
                <a:cs typeface="+mn-cs"/>
              </a:rPr>
              <a:t>「今日の講座が</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初めてです」という方</a:t>
            </a:r>
          </a:p>
          <a:p>
            <a:pPr fontAlgn="t"/>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しか触ったことがない」という方</a:t>
            </a:r>
          </a:p>
          <a:p>
            <a:pPr fontAlgn="t"/>
            <a:r>
              <a:rPr kumimoji="1" lang="ja-JP" altLang="en-US" sz="1200" b="0" i="0" kern="1200">
                <a:solidFill>
                  <a:schemeClr val="tx1"/>
                </a:solidFill>
                <a:effectLst/>
                <a:latin typeface="+mn-lt"/>
                <a:ea typeface="+mn-ea"/>
                <a:cs typeface="+mn-cs"/>
              </a:rPr>
              <a:t>「自動化って難しそう</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」と思っていた方</a:t>
            </a:r>
          </a:p>
          <a:p>
            <a:pPr fontAlgn="t"/>
            <a:r>
              <a:rPr kumimoji="1" lang="ja-JP" altLang="en-US" sz="1200" b="0" i="0" kern="1200">
                <a:solidFill>
                  <a:schemeClr val="tx1"/>
                </a:solidFill>
                <a:effectLst/>
                <a:latin typeface="+mn-lt"/>
                <a:ea typeface="+mn-ea"/>
                <a:cs typeface="+mn-cs"/>
              </a:rPr>
              <a:t>も多くいらっしゃいましたが、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そういった方でも </a:t>
            </a:r>
            <a:r>
              <a:rPr kumimoji="1" lang="ja-JP" altLang="en-US" sz="1200" b="1" i="0" kern="1200">
                <a:solidFill>
                  <a:schemeClr val="tx1"/>
                </a:solidFill>
                <a:effectLst/>
                <a:latin typeface="+mn-lt"/>
                <a:ea typeface="+mn-ea"/>
                <a:cs typeface="+mn-cs"/>
              </a:rPr>
              <a:t>“つまずかずに完成までたどり着ける講座”</a:t>
            </a:r>
            <a:r>
              <a:rPr kumimoji="1" lang="ja-JP" altLang="en-US" sz="1200" b="0" i="0" kern="1200">
                <a:solidFill>
                  <a:schemeClr val="tx1"/>
                </a:solidFill>
                <a:effectLst/>
                <a:latin typeface="+mn-lt"/>
                <a:ea typeface="+mn-ea"/>
                <a:cs typeface="+mn-cs"/>
              </a:rPr>
              <a:t> を目指して運営しています。</a:t>
            </a:r>
          </a:p>
          <a:p>
            <a:pPr fontAlgn="t"/>
            <a:r>
              <a:rPr kumimoji="1" lang="ja-JP" altLang="en-US" sz="1200" b="0" i="0" kern="1200">
                <a:solidFill>
                  <a:schemeClr val="tx1"/>
                </a:solidFill>
                <a:effectLst/>
                <a:latin typeface="+mn-lt"/>
                <a:ea typeface="+mn-ea"/>
                <a:cs typeface="+mn-cs"/>
              </a:rPr>
              <a:t>また、広島を中心とした地域コミュニティ運営（</a:t>
            </a:r>
            <a:r>
              <a:rPr kumimoji="1" lang="en-US" altLang="ja-JP" sz="1200" b="0" i="0" kern="1200">
                <a:solidFill>
                  <a:schemeClr val="tx1"/>
                </a:solidFill>
                <a:effectLst/>
                <a:latin typeface="+mn-lt"/>
                <a:ea typeface="+mn-ea"/>
                <a:cs typeface="+mn-cs"/>
              </a:rPr>
              <a:t>PLUG</a:t>
            </a:r>
            <a:r>
              <a:rPr kumimoji="1" lang="ja-JP" altLang="en-US" sz="1200" b="0" i="0" kern="1200">
                <a:solidFill>
                  <a:schemeClr val="tx1"/>
                </a:solidFill>
                <a:effectLst/>
                <a:latin typeface="+mn-lt"/>
                <a:ea typeface="+mn-ea"/>
                <a:cs typeface="+mn-cs"/>
              </a:rPr>
              <a:t>）にも携わり、</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Platform </a:t>
            </a:r>
            <a:r>
              <a:rPr kumimoji="1" lang="ja-JP" altLang="en-US" sz="1200" b="0" i="0" kern="1200">
                <a:solidFill>
                  <a:schemeClr val="tx1"/>
                </a:solidFill>
                <a:effectLst/>
                <a:latin typeface="+mn-lt"/>
                <a:ea typeface="+mn-ea"/>
                <a:cs typeface="+mn-cs"/>
              </a:rPr>
              <a:t>の魅力を広める活動も行っています。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どんなスタンスで講座をやっているか</a:t>
            </a:r>
          </a:p>
          <a:p>
            <a:pPr fontAlgn="t"/>
            <a:r>
              <a:rPr kumimoji="1" lang="ja-JP" altLang="en-US" sz="1200" b="0" i="0" kern="1200">
                <a:solidFill>
                  <a:schemeClr val="tx1"/>
                </a:solidFill>
                <a:effectLst/>
                <a:latin typeface="+mn-lt"/>
                <a:ea typeface="+mn-ea"/>
                <a:cs typeface="+mn-cs"/>
              </a:rPr>
              <a:t>私は講座の時、特に次の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つを大事にしています。</a:t>
            </a:r>
          </a:p>
          <a:p>
            <a:pPr fontAlgn="t"/>
            <a:r>
              <a:rPr kumimoji="1" lang="ja-JP" altLang="en-US" sz="1200" b="1" i="0" kern="1200">
                <a:solidFill>
                  <a:schemeClr val="tx1"/>
                </a:solidFill>
                <a:effectLst/>
                <a:latin typeface="+mn-lt"/>
                <a:ea typeface="+mn-ea"/>
                <a:cs typeface="+mn-cs"/>
              </a:rPr>
              <a:t>① とにかく初心者に優しく</a:t>
            </a:r>
          </a:p>
          <a:p>
            <a:pPr fontAlgn="t"/>
            <a:r>
              <a:rPr kumimoji="1" lang="ja-JP" altLang="en-US" sz="1200" b="0" i="0" kern="1200">
                <a:solidFill>
                  <a:schemeClr val="tx1"/>
                </a:solidFill>
                <a:effectLst/>
                <a:latin typeface="+mn-lt"/>
                <a:ea typeface="+mn-ea"/>
                <a:cs typeface="+mn-cs"/>
              </a:rPr>
              <a:t>「専門用語を使わない」「例え話でイメージを掴む」ことを意識しています。</a:t>
            </a:r>
          </a:p>
          <a:p>
            <a:pPr fontAlgn="t"/>
            <a:r>
              <a:rPr kumimoji="1" lang="ja-JP" altLang="en-US" sz="1200" b="1" i="0" kern="1200">
                <a:solidFill>
                  <a:schemeClr val="tx1"/>
                </a:solidFill>
                <a:effectLst/>
                <a:latin typeface="+mn-lt"/>
                <a:ea typeface="+mn-ea"/>
                <a:cs typeface="+mn-cs"/>
              </a:rPr>
              <a:t>② “できた！”を一緒に体験する</a:t>
            </a:r>
          </a:p>
          <a:p>
            <a:pPr fontAlgn="t"/>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「あ、動いた！」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という成功体験が一番の学びになると考えています。</a:t>
            </a:r>
          </a:p>
          <a:p>
            <a:pPr fontAlgn="t"/>
            <a:r>
              <a:rPr kumimoji="1" lang="ja-JP" altLang="en-US" sz="1200" b="1" i="0" kern="1200">
                <a:solidFill>
                  <a:schemeClr val="tx1"/>
                </a:solidFill>
                <a:effectLst/>
                <a:latin typeface="+mn-lt"/>
                <a:ea typeface="+mn-ea"/>
                <a:cs typeface="+mn-cs"/>
              </a:rPr>
              <a:t>③ 質問しやすい空気づくり</a:t>
            </a:r>
          </a:p>
          <a:p>
            <a:pPr fontAlgn="t"/>
            <a:r>
              <a:rPr kumimoji="1" lang="ja-JP" altLang="en-US" sz="1200" b="0" i="0" kern="1200">
                <a:solidFill>
                  <a:schemeClr val="tx1"/>
                </a:solidFill>
                <a:effectLst/>
                <a:latin typeface="+mn-lt"/>
                <a:ea typeface="+mn-ea"/>
                <a:cs typeface="+mn-cs"/>
              </a:rPr>
              <a:t>「こんなこと聞いても大丈夫かな</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そんな心配は不要です。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むしろ、初心者ほど “良い質問” をしてくれます。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情報発信も行っています</a:t>
            </a:r>
          </a:p>
          <a:p>
            <a:pPr fontAlgn="t"/>
            <a:r>
              <a:rPr kumimoji="1" lang="en-US" altLang="ja-JP" sz="1200" b="0" i="0" kern="1200">
                <a:solidFill>
                  <a:schemeClr val="tx1"/>
                </a:solidFill>
                <a:effectLst/>
                <a:latin typeface="+mn-lt"/>
                <a:ea typeface="+mn-ea"/>
                <a:cs typeface="+mn-cs"/>
              </a:rPr>
              <a:t>X</a:t>
            </a: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Twitter</a:t>
            </a:r>
            <a:r>
              <a:rPr kumimoji="1" lang="ja-JP" altLang="en-US" sz="1200" b="0" i="0" kern="1200">
                <a:solidFill>
                  <a:schemeClr val="tx1"/>
                </a:solidFill>
                <a:effectLst/>
                <a:latin typeface="+mn-lt"/>
                <a:ea typeface="+mn-ea"/>
                <a:cs typeface="+mn-cs"/>
              </a:rPr>
              <a:t>）では、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初心者向けの </a:t>
            </a:r>
            <a:r>
              <a:rPr kumimoji="1" lang="en-US" altLang="ja-JP" sz="1200" b="1" i="0" kern="1200">
                <a:solidFill>
                  <a:schemeClr val="tx1"/>
                </a:solidFill>
                <a:effectLst/>
                <a:latin typeface="+mn-lt"/>
                <a:ea typeface="+mn-ea"/>
                <a:cs typeface="+mn-cs"/>
              </a:rPr>
              <a:t>Power Automate Tips</a:t>
            </a:r>
            <a:r>
              <a:rPr kumimoji="1" lang="ja-JP" altLang="en-US" sz="1200" b="0" i="0" kern="1200">
                <a:solidFill>
                  <a:schemeClr val="tx1"/>
                </a:solidFill>
                <a:effectLst/>
                <a:latin typeface="+mn-lt"/>
                <a:ea typeface="+mn-ea"/>
                <a:cs typeface="+mn-cs"/>
              </a:rPr>
              <a:t> を定期的に投稿しています。</a:t>
            </a:r>
          </a:p>
          <a:p>
            <a:pPr fontAlgn="t"/>
            <a:r>
              <a:rPr kumimoji="1" lang="ja-JP" altLang="en-US" sz="1200" b="0" i="0" kern="1200">
                <a:solidFill>
                  <a:schemeClr val="tx1"/>
                </a:solidFill>
                <a:effectLst/>
                <a:latin typeface="+mn-lt"/>
                <a:ea typeface="+mn-ea"/>
                <a:cs typeface="+mn-cs"/>
              </a:rPr>
              <a:t>つまずきやすい箇所</a:t>
            </a:r>
          </a:p>
          <a:p>
            <a:pPr fontAlgn="t"/>
            <a:r>
              <a:rPr kumimoji="1" lang="ja-JP" altLang="en-US" sz="1200" b="0" i="0" kern="1200">
                <a:solidFill>
                  <a:schemeClr val="tx1"/>
                </a:solidFill>
                <a:effectLst/>
                <a:latin typeface="+mn-lt"/>
                <a:ea typeface="+mn-ea"/>
                <a:cs typeface="+mn-cs"/>
              </a:rPr>
              <a:t>小さな改善のコツ</a:t>
            </a:r>
          </a:p>
          <a:p>
            <a:pPr fontAlgn="t"/>
            <a:r>
              <a:rPr kumimoji="1" lang="ja-JP" altLang="en-US" sz="1200" b="0" i="0" kern="1200">
                <a:solidFill>
                  <a:schemeClr val="tx1"/>
                </a:solidFill>
                <a:effectLst/>
                <a:latin typeface="+mn-lt"/>
                <a:ea typeface="+mn-ea"/>
                <a:cs typeface="+mn-cs"/>
              </a:rPr>
              <a:t>初心者でもできるフローサンプル</a:t>
            </a:r>
          </a:p>
          <a:p>
            <a:pPr fontAlgn="t"/>
            <a:r>
              <a:rPr kumimoji="1" lang="ja-JP" altLang="en-US" sz="1200" b="0" i="0" kern="1200">
                <a:solidFill>
                  <a:schemeClr val="tx1"/>
                </a:solidFill>
                <a:effectLst/>
                <a:latin typeface="+mn-lt"/>
                <a:ea typeface="+mn-ea"/>
                <a:cs typeface="+mn-cs"/>
              </a:rPr>
              <a:t>など、今日の講座と同じように、</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「わかりやすさ」</a:t>
            </a:r>
            <a:r>
              <a:rPr kumimoji="1" lang="ja-JP" altLang="en-US" sz="1200" b="0" i="0" kern="1200">
                <a:solidFill>
                  <a:schemeClr val="tx1"/>
                </a:solidFill>
                <a:effectLst/>
                <a:latin typeface="+mn-lt"/>
                <a:ea typeface="+mn-ea"/>
                <a:cs typeface="+mn-cs"/>
              </a:rPr>
              <a:t> を軸に発信しています。</a:t>
            </a:r>
          </a:p>
          <a:p>
            <a:pPr fontAlgn="t"/>
            <a:r>
              <a:rPr kumimoji="1" lang="ja-JP" altLang="en-US" sz="1200" b="0" i="0" kern="1200">
                <a:solidFill>
                  <a:schemeClr val="tx1"/>
                </a:solidFill>
                <a:effectLst/>
                <a:latin typeface="+mn-lt"/>
                <a:ea typeface="+mn-ea"/>
                <a:cs typeface="+mn-cs"/>
              </a:rPr>
              <a:t>もしよければ、学習のヒントとしてフォローしていただけると嬉しいです。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最後にひと言</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分は </a:t>
            </a:r>
            <a:r>
              <a:rPr kumimoji="1" lang="ja-JP" altLang="en-US" sz="1200" b="1" i="0" kern="1200">
                <a:solidFill>
                  <a:schemeClr val="tx1"/>
                </a:solidFill>
                <a:effectLst/>
                <a:latin typeface="+mn-lt"/>
                <a:ea typeface="+mn-ea"/>
                <a:cs typeface="+mn-cs"/>
              </a:rPr>
              <a:t>“変数を理解する” という小さな一歩</a:t>
            </a:r>
            <a:r>
              <a:rPr kumimoji="1" lang="ja-JP" altLang="en-US" sz="1200" b="0" i="0" kern="1200">
                <a:solidFill>
                  <a:schemeClr val="tx1"/>
                </a:solidFill>
                <a:effectLst/>
                <a:latin typeface="+mn-lt"/>
                <a:ea typeface="+mn-ea"/>
                <a:cs typeface="+mn-cs"/>
              </a:rPr>
              <a:t> ですが、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ここが分かると</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の見え方がガラッと変わります。</a:t>
            </a:r>
          </a:p>
          <a:p>
            <a:pPr fontAlgn="t"/>
            <a:r>
              <a:rPr kumimoji="1" lang="ja-JP" altLang="en-US" sz="1200" b="0" i="0" kern="1200">
                <a:solidFill>
                  <a:schemeClr val="tx1"/>
                </a:solidFill>
                <a:effectLst/>
                <a:latin typeface="+mn-lt"/>
                <a:ea typeface="+mn-ea"/>
                <a:cs typeface="+mn-cs"/>
              </a:rPr>
              <a:t>一緒に楽しく進めながら、</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「できた！」を確実に積み重ねていきましょう。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20:22</a:t>
            </a: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4</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とは？（</a:t>
            </a:r>
            <a:r>
              <a:rPr kumimoji="1" lang="en-US" altLang="ja-JP" sz="1200" b="1" i="0" kern="1200">
                <a:solidFill>
                  <a:schemeClr val="tx1"/>
                </a:solidFill>
                <a:effectLst/>
                <a:latin typeface="+mn-lt"/>
                <a:ea typeface="+mn-ea"/>
                <a:cs typeface="+mn-cs"/>
              </a:rPr>
              <a:t>20:22〜 / 3</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詳細版台本</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ここからは、今日の主役である </a:t>
            </a:r>
            <a:r>
              <a:rPr kumimoji="1" lang="en-US" altLang="ja-JP" sz="1200" b="1" i="0" kern="1200">
                <a:solidFill>
                  <a:schemeClr val="tx1"/>
                </a:solidFill>
                <a:effectLst/>
                <a:latin typeface="+mn-lt"/>
                <a:ea typeface="+mn-ea"/>
                <a:cs typeface="+mn-cs"/>
              </a:rPr>
              <a:t>Power Automate </a:t>
            </a:r>
            <a:r>
              <a:rPr kumimoji="1" lang="ja-JP" altLang="en-US" sz="1200" b="1" i="0" kern="1200">
                <a:solidFill>
                  <a:schemeClr val="tx1"/>
                </a:solidFill>
                <a:effectLst/>
                <a:latin typeface="+mn-lt"/>
                <a:ea typeface="+mn-ea"/>
                <a:cs typeface="+mn-cs"/>
              </a:rPr>
              <a:t>がどんなツールなのか</a:t>
            </a:r>
            <a:r>
              <a:rPr kumimoji="1" lang="ja-JP" altLang="en-US" sz="1200" b="0" i="0" kern="1200">
                <a:solidFill>
                  <a:schemeClr val="tx1"/>
                </a:solidFill>
                <a:effectLst/>
                <a:latin typeface="+mn-lt"/>
                <a:ea typeface="+mn-ea"/>
                <a:cs typeface="+mn-cs"/>
              </a:rPr>
              <a:t> 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できるだけ “具体例ベース” でイメージしやすくお伝えします。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とは？</a:t>
            </a:r>
          </a:p>
          <a:p>
            <a:pPr fontAlgn="t"/>
            <a:r>
              <a:rPr kumimoji="1" lang="ja-JP" altLang="en-US" sz="1200" b="0" i="0" kern="1200">
                <a:solidFill>
                  <a:schemeClr val="tx1"/>
                </a:solidFill>
                <a:effectLst/>
                <a:latin typeface="+mn-lt"/>
                <a:ea typeface="+mn-ea"/>
                <a:cs typeface="+mn-cs"/>
              </a:rPr>
              <a:t>一言でいうと、</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は</a:t>
            </a:r>
          </a:p>
          <a:p>
            <a:pPr fontAlgn="t"/>
            <a:r>
              <a:rPr kumimoji="1" lang="ja-JP" altLang="en-US" sz="1200" b="1" i="0" kern="1200">
                <a:solidFill>
                  <a:schemeClr val="tx1"/>
                </a:solidFill>
                <a:effectLst/>
                <a:latin typeface="+mn-lt"/>
                <a:ea typeface="+mn-ea"/>
                <a:cs typeface="+mn-cs"/>
              </a:rPr>
              <a:t>「毎日くり返している作業を、自動でやってくれる </a:t>
            </a:r>
            <a:r>
              <a:rPr kumimoji="1" lang="en-US" altLang="ja-JP" sz="1200" b="1" i="0" kern="1200">
                <a:solidFill>
                  <a:schemeClr val="tx1"/>
                </a:solidFill>
                <a:effectLst/>
                <a:latin typeface="+mn-lt"/>
                <a:ea typeface="+mn-ea"/>
                <a:cs typeface="+mn-cs"/>
              </a:rPr>
              <a:t>Microsoft </a:t>
            </a:r>
            <a:r>
              <a:rPr kumimoji="1" lang="ja-JP" altLang="en-US" sz="1200" b="1" i="0" kern="1200">
                <a:solidFill>
                  <a:schemeClr val="tx1"/>
                </a:solidFill>
                <a:effectLst/>
                <a:latin typeface="+mn-lt"/>
                <a:ea typeface="+mn-ea"/>
                <a:cs typeface="+mn-cs"/>
              </a:rPr>
              <a:t>の自動化ツール」</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特徴はとてもシンプルで、</a:t>
            </a:r>
          </a:p>
          <a:p>
            <a:pPr fontAlgn="t"/>
            <a:r>
              <a:rPr kumimoji="1" lang="ja-JP" altLang="en-US" sz="1200" b="0" i="0" kern="1200">
                <a:solidFill>
                  <a:schemeClr val="tx1"/>
                </a:solidFill>
                <a:effectLst/>
                <a:latin typeface="+mn-lt"/>
                <a:ea typeface="+mn-ea"/>
                <a:cs typeface="+mn-cs"/>
              </a:rPr>
              <a:t>決まった “きっかけ（トリガー）” が起きたら</a:t>
            </a:r>
          </a:p>
          <a:p>
            <a:pPr fontAlgn="t"/>
            <a:r>
              <a:rPr kumimoji="1" lang="ja-JP" altLang="en-US" sz="1200" b="0" i="0" kern="1200">
                <a:solidFill>
                  <a:schemeClr val="tx1"/>
                </a:solidFill>
                <a:effectLst/>
                <a:latin typeface="+mn-lt"/>
                <a:ea typeface="+mn-ea"/>
                <a:cs typeface="+mn-cs"/>
              </a:rPr>
              <a:t>その後の “動作（アクション）” を自動で実行してくれる</a:t>
            </a:r>
          </a:p>
          <a:p>
            <a:pPr fontAlgn="t"/>
            <a:r>
              <a:rPr kumimoji="1" lang="ja-JP" altLang="en-US" sz="1200" b="0" i="0" kern="1200">
                <a:solidFill>
                  <a:schemeClr val="tx1"/>
                </a:solidFill>
                <a:effectLst/>
                <a:latin typeface="+mn-lt"/>
                <a:ea typeface="+mn-ea"/>
                <a:cs typeface="+mn-cs"/>
              </a:rPr>
              <a:t>これだけです。</a:t>
            </a:r>
          </a:p>
          <a:p>
            <a:pPr fontAlgn="t"/>
            <a:r>
              <a:rPr kumimoji="1" lang="ja-JP" altLang="en-US" sz="1200" b="0" i="0" kern="1200">
                <a:solidFill>
                  <a:schemeClr val="tx1"/>
                </a:solidFill>
                <a:effectLst/>
                <a:latin typeface="+mn-lt"/>
                <a:ea typeface="+mn-ea"/>
                <a:cs typeface="+mn-cs"/>
              </a:rPr>
              <a:t>しかも、</a:t>
            </a:r>
            <a:r>
              <a:rPr kumimoji="1" lang="ja-JP" altLang="en-US" sz="1200" b="1" i="0" kern="1200">
                <a:solidFill>
                  <a:schemeClr val="tx1"/>
                </a:solidFill>
                <a:effectLst/>
                <a:latin typeface="+mn-lt"/>
                <a:ea typeface="+mn-ea"/>
                <a:cs typeface="+mn-cs"/>
              </a:rPr>
              <a:t>プログラミング不要</a:t>
            </a:r>
            <a:r>
              <a:rPr kumimoji="1" lang="ja-JP" altLang="en-US" sz="1200" b="0" i="0" kern="1200">
                <a:solidFill>
                  <a:schemeClr val="tx1"/>
                </a:solidFill>
                <a:effectLst/>
                <a:latin typeface="+mn-lt"/>
                <a:ea typeface="+mn-ea"/>
                <a:cs typeface="+mn-cs"/>
              </a:rPr>
              <a:t>。</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ブロックを積むように組み合わせていくだけでフローが作れます。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イメージしやすい具体例（実務でよくある</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選）</a:t>
            </a:r>
          </a:p>
          <a:p>
            <a:pPr fontAlgn="t"/>
            <a:r>
              <a:rPr kumimoji="1" lang="ja-JP" altLang="en-US" sz="1200" b="1" i="0" kern="1200">
                <a:solidFill>
                  <a:schemeClr val="tx1"/>
                </a:solidFill>
                <a:effectLst/>
                <a:latin typeface="+mn-lt"/>
                <a:ea typeface="+mn-ea"/>
                <a:cs typeface="+mn-cs"/>
              </a:rPr>
              <a:t>① メール監視 → 自動通知</a:t>
            </a:r>
          </a:p>
          <a:p>
            <a:pPr fontAlgn="t"/>
            <a:r>
              <a:rPr kumimoji="1" lang="ja-JP" altLang="en-US" sz="1200" b="0" i="0" kern="1200">
                <a:solidFill>
                  <a:schemeClr val="tx1"/>
                </a:solidFill>
                <a:effectLst/>
                <a:latin typeface="+mn-lt"/>
                <a:ea typeface="+mn-ea"/>
                <a:cs typeface="+mn-cs"/>
              </a:rPr>
              <a:t>たとえば</a:t>
            </a:r>
            <a:r>
              <a:rPr kumimoji="1" lang="en-US" altLang="ja-JP"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上司から「至急」メールが届いたら </a:t>
            </a:r>
            <a:r>
              <a:rPr kumimoji="1" lang="en-US" altLang="ja-JP" sz="1200" b="0" i="0" kern="1200">
                <a:solidFill>
                  <a:schemeClr val="tx1"/>
                </a:solidFill>
                <a:effectLst/>
                <a:latin typeface="+mn-lt"/>
                <a:ea typeface="+mn-ea"/>
                <a:cs typeface="+mn-cs"/>
              </a:rPr>
              <a:t>Teams </a:t>
            </a:r>
            <a:r>
              <a:rPr kumimoji="1" lang="ja-JP" altLang="en-US" sz="1200" b="0" i="0" kern="1200">
                <a:solidFill>
                  <a:schemeClr val="tx1"/>
                </a:solidFill>
                <a:effectLst/>
                <a:latin typeface="+mn-lt"/>
                <a:ea typeface="+mn-ea"/>
                <a:cs typeface="+mn-cs"/>
              </a:rPr>
              <a:t>に通知</a:t>
            </a:r>
          </a:p>
          <a:p>
            <a:pPr fontAlgn="t"/>
            <a:r>
              <a:rPr kumimoji="1" lang="ja-JP" altLang="en-US" sz="1200" b="0" i="0" kern="1200">
                <a:solidFill>
                  <a:schemeClr val="tx1"/>
                </a:solidFill>
                <a:effectLst/>
                <a:latin typeface="+mn-lt"/>
                <a:ea typeface="+mn-ea"/>
                <a:cs typeface="+mn-cs"/>
              </a:rPr>
              <a:t>お客様からの問い合わせメールが来たら担当者に自動転送</a:t>
            </a:r>
          </a:p>
          <a:p>
            <a:pPr fontAlgn="t"/>
            <a:r>
              <a:rPr kumimoji="1" lang="ja-JP" altLang="en-US" sz="1200" b="0" i="0" kern="1200">
                <a:solidFill>
                  <a:schemeClr val="tx1"/>
                </a:solidFill>
                <a:effectLst/>
                <a:latin typeface="+mn-lt"/>
                <a:ea typeface="+mn-ea"/>
                <a:cs typeface="+mn-cs"/>
              </a:rPr>
              <a:t>特定の件名（“請求書”）のメールだけ</a:t>
            </a:r>
            <a:r>
              <a:rPr kumimoji="1" lang="en-US" altLang="ja-JP" sz="1200" b="0" i="0" kern="1200">
                <a:solidFill>
                  <a:schemeClr val="tx1"/>
                </a:solidFill>
                <a:effectLst/>
                <a:latin typeface="+mn-lt"/>
                <a:ea typeface="+mn-ea"/>
                <a:cs typeface="+mn-cs"/>
              </a:rPr>
              <a:t>OneDrive</a:t>
            </a:r>
            <a:r>
              <a:rPr kumimoji="1" lang="ja-JP" altLang="en-US" sz="1200" b="0" i="0" kern="1200">
                <a:solidFill>
                  <a:schemeClr val="tx1"/>
                </a:solidFill>
                <a:effectLst/>
                <a:latin typeface="+mn-lt"/>
                <a:ea typeface="+mn-ea"/>
                <a:cs typeface="+mn-cs"/>
              </a:rPr>
              <a:t>に自動保存</a:t>
            </a:r>
          </a:p>
          <a:p>
            <a:pPr fontAlgn="t"/>
            <a:r>
              <a:rPr kumimoji="1" lang="ja-JP" altLang="en-US" sz="1200" b="0" i="0" kern="1200">
                <a:solidFill>
                  <a:schemeClr val="tx1"/>
                </a:solidFill>
                <a:effectLst/>
                <a:latin typeface="+mn-lt"/>
                <a:ea typeface="+mn-ea"/>
                <a:cs typeface="+mn-cs"/>
              </a:rPr>
              <a:t>こういった “気づくのが遅れると困る作業” を自動化できます。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ファイルの処理 → 自動保存・自動整理</a:t>
            </a:r>
          </a:p>
          <a:p>
            <a:pPr fontAlgn="t"/>
            <a:r>
              <a:rPr kumimoji="1" lang="ja-JP" altLang="en-US" sz="1200" b="0" i="0" kern="1200">
                <a:solidFill>
                  <a:schemeClr val="tx1"/>
                </a:solidFill>
                <a:effectLst/>
                <a:latin typeface="+mn-lt"/>
                <a:ea typeface="+mn-ea"/>
                <a:cs typeface="+mn-cs"/>
              </a:rPr>
              <a:t>毎日の業務で、こんなシーンありませんか？</a:t>
            </a:r>
          </a:p>
          <a:p>
            <a:pPr fontAlgn="t"/>
            <a:r>
              <a:rPr kumimoji="1" lang="ja-JP" altLang="en-US" sz="1200" b="0" i="0" kern="1200">
                <a:solidFill>
                  <a:schemeClr val="tx1"/>
                </a:solidFill>
                <a:effectLst/>
                <a:latin typeface="+mn-lt"/>
                <a:ea typeface="+mn-ea"/>
                <a:cs typeface="+mn-cs"/>
              </a:rPr>
              <a:t>毎朝、共有フォルダに届いた</a:t>
            </a:r>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を別フォルダに移動する</a:t>
            </a:r>
          </a:p>
          <a:p>
            <a:pPr fontAlgn="t"/>
            <a:r>
              <a:rPr kumimoji="1" lang="ja-JP" altLang="en-US" sz="1200" b="0" i="0" kern="1200">
                <a:solidFill>
                  <a:schemeClr val="tx1"/>
                </a:solidFill>
                <a:effectLst/>
                <a:latin typeface="+mn-lt"/>
                <a:ea typeface="+mn-ea"/>
                <a:cs typeface="+mn-cs"/>
              </a:rPr>
              <a:t>月次レポートのファイル名に「日付」を自動で付ける</a:t>
            </a:r>
          </a:p>
          <a:p>
            <a:pPr fontAlgn="t"/>
            <a:r>
              <a:rPr kumimoji="1" lang="ja-JP" altLang="en-US" sz="1200" b="0" i="0" kern="1200">
                <a:solidFill>
                  <a:schemeClr val="tx1"/>
                </a:solidFill>
                <a:effectLst/>
                <a:latin typeface="+mn-lt"/>
                <a:ea typeface="+mn-ea"/>
                <a:cs typeface="+mn-cs"/>
              </a:rPr>
              <a:t>チームメンバーからアップロードされたファイルを自動分類</a:t>
            </a:r>
          </a:p>
          <a:p>
            <a:pPr fontAlgn="t"/>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なら、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人がやっていた「まとめて保存」「仕分け」の作業を、黙って全部やってくれます。</a:t>
            </a:r>
            <a:endParaRPr kumimoji="1" lang="ja-JP" altLang="en-US" sz="1200" b="0" i="0" kern="1200">
              <a:solidFill>
                <a:schemeClr val="tx1"/>
              </a:solidFill>
              <a:effectLst/>
              <a:latin typeface="+mn-lt"/>
              <a:ea typeface="+mn-ea"/>
              <a:cs typeface="+mn-cs"/>
            </a:endParaRP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Teams </a:t>
            </a:r>
            <a:r>
              <a:rPr kumimoji="1" lang="ja-JP" altLang="en-US" sz="1200" b="1" i="0" kern="1200">
                <a:solidFill>
                  <a:schemeClr val="tx1"/>
                </a:solidFill>
                <a:effectLst/>
                <a:latin typeface="+mn-lt"/>
                <a:ea typeface="+mn-ea"/>
                <a:cs typeface="+mn-cs"/>
              </a:rPr>
              <a:t>や </a:t>
            </a:r>
            <a:r>
              <a:rPr kumimoji="1" lang="en-US" altLang="ja-JP" sz="1200" b="1" i="0" kern="1200">
                <a:solidFill>
                  <a:schemeClr val="tx1"/>
                </a:solidFill>
                <a:effectLst/>
                <a:latin typeface="+mn-lt"/>
                <a:ea typeface="+mn-ea"/>
                <a:cs typeface="+mn-cs"/>
              </a:rPr>
              <a:t>Excel </a:t>
            </a:r>
            <a:r>
              <a:rPr kumimoji="1" lang="ja-JP" altLang="en-US" sz="1200" b="1" i="0" kern="1200">
                <a:solidFill>
                  <a:schemeClr val="tx1"/>
                </a:solidFill>
                <a:effectLst/>
                <a:latin typeface="+mn-lt"/>
                <a:ea typeface="+mn-ea"/>
                <a:cs typeface="+mn-cs"/>
              </a:rPr>
              <a:t>と連携した通知・集計</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 </a:t>
            </a:r>
            <a:r>
              <a:rPr kumimoji="1" lang="en-US" altLang="ja-JP" sz="1200" b="0" i="0" kern="1200">
                <a:solidFill>
                  <a:schemeClr val="tx1"/>
                </a:solidFill>
                <a:effectLst/>
                <a:latin typeface="+mn-lt"/>
                <a:ea typeface="+mn-ea"/>
                <a:cs typeface="+mn-cs"/>
              </a:rPr>
              <a:t>Teams / Excel / Forms / SharePoint </a:t>
            </a:r>
            <a:r>
              <a:rPr kumimoji="1" lang="ja-JP" altLang="en-US" sz="1200" b="0" i="0" kern="1200">
                <a:solidFill>
                  <a:schemeClr val="tx1"/>
                </a:solidFill>
                <a:effectLst/>
                <a:latin typeface="+mn-lt"/>
                <a:ea typeface="+mn-ea"/>
                <a:cs typeface="+mn-cs"/>
              </a:rPr>
              <a:t>など</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Microsoft 365 </a:t>
            </a:r>
            <a:r>
              <a:rPr kumimoji="1" lang="ja-JP" altLang="en-US" sz="1200" b="0" i="0" kern="1200">
                <a:solidFill>
                  <a:schemeClr val="tx1"/>
                </a:solidFill>
                <a:effectLst/>
                <a:latin typeface="+mn-lt"/>
                <a:ea typeface="+mn-ea"/>
                <a:cs typeface="+mn-cs"/>
              </a:rPr>
              <a:t>のツールと強力に連携できます。</a:t>
            </a:r>
          </a:p>
          <a:p>
            <a:pPr fontAlgn="t"/>
            <a:r>
              <a:rPr kumimoji="1" lang="ja-JP" altLang="en-US" sz="1200" b="0" i="0" kern="1200">
                <a:solidFill>
                  <a:schemeClr val="tx1"/>
                </a:solidFill>
                <a:effectLst/>
                <a:latin typeface="+mn-lt"/>
                <a:ea typeface="+mn-ea"/>
                <a:cs typeface="+mn-cs"/>
              </a:rPr>
              <a:t>例としては</a:t>
            </a:r>
            <a:r>
              <a:rPr kumimoji="1" lang="en-US" altLang="ja-JP" sz="1200" b="0" i="0" kern="1200">
                <a:solidFill>
                  <a:schemeClr val="tx1"/>
                </a:solidFill>
                <a:effectLst/>
                <a:latin typeface="+mn-lt"/>
                <a:ea typeface="+mn-ea"/>
                <a:cs typeface="+mn-cs"/>
              </a:rPr>
              <a:t>…</a:t>
            </a:r>
          </a:p>
          <a:p>
            <a:pPr fontAlgn="t"/>
            <a:r>
              <a:rPr kumimoji="1" lang="en-US" altLang="ja-JP" sz="1200" b="0" i="0" kern="1200">
                <a:solidFill>
                  <a:schemeClr val="tx1"/>
                </a:solidFill>
                <a:effectLst/>
                <a:latin typeface="+mn-lt"/>
                <a:ea typeface="+mn-ea"/>
                <a:cs typeface="+mn-cs"/>
              </a:rPr>
              <a:t>Forms</a:t>
            </a:r>
            <a:r>
              <a:rPr kumimoji="1" lang="ja-JP" altLang="en-US" sz="1200" b="0" i="0" kern="1200">
                <a:solidFill>
                  <a:schemeClr val="tx1"/>
                </a:solidFill>
                <a:effectLst/>
                <a:latin typeface="+mn-lt"/>
                <a:ea typeface="+mn-ea"/>
                <a:cs typeface="+mn-cs"/>
              </a:rPr>
              <a:t>に回答が来たら、自動で</a:t>
            </a:r>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へ書き込み</a:t>
            </a:r>
          </a:p>
          <a:p>
            <a:pPr fontAlgn="t"/>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の行数を数えて「今日の作業数」を</a:t>
            </a:r>
            <a:r>
              <a:rPr kumimoji="1" lang="en-US" altLang="ja-JP" sz="1200" b="0" i="0" kern="1200">
                <a:solidFill>
                  <a:schemeClr val="tx1"/>
                </a:solidFill>
                <a:effectLst/>
                <a:latin typeface="+mn-lt"/>
                <a:ea typeface="+mn-ea"/>
                <a:cs typeface="+mn-cs"/>
              </a:rPr>
              <a:t>Teams</a:t>
            </a:r>
            <a:r>
              <a:rPr kumimoji="1" lang="ja-JP" altLang="en-US" sz="1200" b="0" i="0" kern="1200">
                <a:solidFill>
                  <a:schemeClr val="tx1"/>
                </a:solidFill>
                <a:effectLst/>
                <a:latin typeface="+mn-lt"/>
                <a:ea typeface="+mn-ea"/>
                <a:cs typeface="+mn-cs"/>
              </a:rPr>
              <a:t>に投稿</a:t>
            </a:r>
          </a:p>
          <a:p>
            <a:pPr fontAlgn="t"/>
            <a:r>
              <a:rPr kumimoji="1" lang="ja-JP" altLang="en-US" sz="1200" b="0" i="0" kern="1200">
                <a:solidFill>
                  <a:schemeClr val="tx1"/>
                </a:solidFill>
                <a:effectLst/>
                <a:latin typeface="+mn-lt"/>
                <a:ea typeface="+mn-ea"/>
                <a:cs typeface="+mn-cs"/>
              </a:rPr>
              <a:t>承認フローで “承認” </a:t>
            </a:r>
            <a:r>
              <a:rPr kumimoji="1" lang="en-US" altLang="ja-JP" sz="1200" b="0" i="0" kern="1200">
                <a:solidFill>
                  <a:schemeClr val="tx1"/>
                </a:solidFill>
                <a:effectLst/>
                <a:latin typeface="+mn-lt"/>
                <a:ea typeface="+mn-ea"/>
                <a:cs typeface="+mn-cs"/>
              </a:rPr>
              <a:t>/ “</a:t>
            </a:r>
            <a:r>
              <a:rPr kumimoji="1" lang="ja-JP" altLang="en-US" sz="1200" b="0" i="0" kern="1200">
                <a:solidFill>
                  <a:schemeClr val="tx1"/>
                </a:solidFill>
                <a:effectLst/>
                <a:latin typeface="+mn-lt"/>
                <a:ea typeface="+mn-ea"/>
                <a:cs typeface="+mn-cs"/>
              </a:rPr>
              <a:t>差し戻し” の連絡を自動化</a:t>
            </a:r>
          </a:p>
          <a:p>
            <a:pPr fontAlgn="t"/>
            <a:r>
              <a:rPr kumimoji="1" lang="ja-JP" altLang="en-US" sz="1200" b="0" i="0" kern="1200">
                <a:solidFill>
                  <a:schemeClr val="tx1"/>
                </a:solidFill>
                <a:effectLst/>
                <a:latin typeface="+mn-lt"/>
                <a:ea typeface="+mn-ea"/>
                <a:cs typeface="+mn-cs"/>
              </a:rPr>
              <a:t>など、</a:t>
            </a:r>
            <a:r>
              <a:rPr kumimoji="1" lang="ja-JP" altLang="en-US" sz="1200" b="1" i="0" kern="1200">
                <a:solidFill>
                  <a:schemeClr val="tx1"/>
                </a:solidFill>
                <a:effectLst/>
                <a:latin typeface="+mn-lt"/>
                <a:ea typeface="+mn-ea"/>
                <a:cs typeface="+mn-cs"/>
              </a:rPr>
              <a:t>事務作業で時間を取られる部分を、自動で回してくれる</a:t>
            </a:r>
            <a:r>
              <a:rPr kumimoji="1" lang="ja-JP" altLang="en-US" sz="1200" b="0" i="0" kern="1200">
                <a:solidFill>
                  <a:schemeClr val="tx1"/>
                </a:solidFill>
                <a:effectLst/>
                <a:latin typeface="+mn-lt"/>
                <a:ea typeface="+mn-ea"/>
                <a:cs typeface="+mn-cs"/>
              </a:rPr>
              <a:t>イメージです。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が役に立つポイント</a:t>
            </a:r>
          </a:p>
          <a:p>
            <a:pPr fontAlgn="t"/>
            <a:r>
              <a:rPr kumimoji="1" lang="ja-JP" altLang="en-US" sz="1200" b="0" i="0" kern="1200">
                <a:solidFill>
                  <a:schemeClr val="tx1"/>
                </a:solidFill>
                <a:effectLst/>
                <a:latin typeface="+mn-lt"/>
                <a:ea typeface="+mn-ea"/>
                <a:cs typeface="+mn-cs"/>
              </a:rPr>
              <a:t>私が特にお伝えしたいのは、</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 </a:t>
            </a:r>
            <a:r>
              <a:rPr kumimoji="1" lang="ja-JP" altLang="en-US" sz="1200" b="1" i="0" kern="1200">
                <a:solidFill>
                  <a:schemeClr val="tx1"/>
                </a:solidFill>
                <a:effectLst/>
                <a:latin typeface="+mn-lt"/>
                <a:ea typeface="+mn-ea"/>
                <a:cs typeface="+mn-cs"/>
              </a:rPr>
              <a:t>「大掛かりな</a:t>
            </a:r>
            <a:r>
              <a:rPr kumimoji="1" lang="en-US" altLang="ja-JP" sz="1200" b="1" i="0" kern="1200">
                <a:solidFill>
                  <a:schemeClr val="tx1"/>
                </a:solidFill>
                <a:effectLst/>
                <a:latin typeface="+mn-lt"/>
                <a:ea typeface="+mn-ea"/>
                <a:cs typeface="+mn-cs"/>
              </a:rPr>
              <a:t>RPA</a:t>
            </a:r>
            <a:r>
              <a:rPr kumimoji="1" lang="ja-JP" altLang="en-US" sz="1200" b="1" i="0" kern="1200">
                <a:solidFill>
                  <a:schemeClr val="tx1"/>
                </a:solidFill>
                <a:effectLst/>
                <a:latin typeface="+mn-lt"/>
                <a:ea typeface="+mn-ea"/>
                <a:cs typeface="+mn-cs"/>
              </a:rPr>
              <a:t>を導入しなくても、日々のちょっとした作業を軽くできる」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という点です。</a:t>
            </a:r>
          </a:p>
          <a:p>
            <a:pPr fontAlgn="t"/>
            <a:r>
              <a:rPr kumimoji="1" lang="ja-JP" altLang="en-US" sz="1200" b="0" i="0" kern="1200">
                <a:solidFill>
                  <a:schemeClr val="tx1"/>
                </a:solidFill>
                <a:effectLst/>
                <a:latin typeface="+mn-lt"/>
                <a:ea typeface="+mn-ea"/>
                <a:cs typeface="+mn-cs"/>
              </a:rPr>
              <a:t>毎朝のルーティン</a:t>
            </a:r>
          </a:p>
          <a:p>
            <a:pPr fontAlgn="t"/>
            <a:r>
              <a:rPr kumimoji="1" lang="ja-JP" altLang="en-US" sz="1200" b="0" i="0" kern="1200">
                <a:solidFill>
                  <a:schemeClr val="tx1"/>
                </a:solidFill>
                <a:effectLst/>
                <a:latin typeface="+mn-lt"/>
                <a:ea typeface="+mn-ea"/>
                <a:cs typeface="+mn-cs"/>
              </a:rPr>
              <a:t>月末の集計</a:t>
            </a:r>
          </a:p>
          <a:p>
            <a:pPr fontAlgn="t"/>
            <a:r>
              <a:rPr kumimoji="1" lang="ja-JP" altLang="en-US" sz="1200" b="0" i="0" kern="1200">
                <a:solidFill>
                  <a:schemeClr val="tx1"/>
                </a:solidFill>
                <a:effectLst/>
                <a:latin typeface="+mn-lt"/>
                <a:ea typeface="+mn-ea"/>
                <a:cs typeface="+mn-cs"/>
              </a:rPr>
              <a:t>ちょっとした転記</a:t>
            </a:r>
          </a:p>
          <a:p>
            <a:pPr fontAlgn="t"/>
            <a:r>
              <a:rPr kumimoji="1" lang="ja-JP" altLang="en-US" sz="1200" b="0" i="0" kern="1200">
                <a:solidFill>
                  <a:schemeClr val="tx1"/>
                </a:solidFill>
                <a:effectLst/>
                <a:latin typeface="+mn-lt"/>
                <a:ea typeface="+mn-ea"/>
                <a:cs typeface="+mn-cs"/>
              </a:rPr>
              <a:t>ファイル整理</a:t>
            </a:r>
          </a:p>
          <a:p>
            <a:pPr fontAlgn="t"/>
            <a:r>
              <a:rPr kumimoji="1" lang="ja-JP" altLang="en-US" sz="1200" b="0" i="0" kern="1200">
                <a:solidFill>
                  <a:schemeClr val="tx1"/>
                </a:solidFill>
                <a:effectLst/>
                <a:latin typeface="+mn-lt"/>
                <a:ea typeface="+mn-ea"/>
                <a:cs typeface="+mn-cs"/>
              </a:rPr>
              <a:t>リマインド</a:t>
            </a:r>
          </a:p>
          <a:p>
            <a:pPr fontAlgn="t"/>
            <a:r>
              <a:rPr kumimoji="1" lang="ja-JP" altLang="en-US" sz="1200" b="0" i="0" kern="1200">
                <a:solidFill>
                  <a:schemeClr val="tx1"/>
                </a:solidFill>
                <a:effectLst/>
                <a:latin typeface="+mn-lt"/>
                <a:ea typeface="+mn-ea"/>
                <a:cs typeface="+mn-cs"/>
              </a:rPr>
              <a:t>これらの作業は、誰もが毎日・毎週やっている “小さな負担” の積み重ね。</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は、そこを自動化してくれるので、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小さな負担が積み上がって自分の時間を奪う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という状態を防いでくれます。</a:t>
            </a:r>
            <a:endParaRPr kumimoji="1" lang="ja-JP" altLang="en-US" sz="1200" b="0" i="0" kern="1200">
              <a:solidFill>
                <a:schemeClr val="tx1"/>
              </a:solidFill>
              <a:effectLst/>
              <a:latin typeface="+mn-lt"/>
              <a:ea typeface="+mn-ea"/>
              <a:cs typeface="+mn-cs"/>
            </a:endParaRP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今日の</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で扱う範囲</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分では、この</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の中の</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つのアクションだけ”</a:t>
            </a:r>
            <a:r>
              <a:rPr kumimoji="1" lang="ja-JP" altLang="en-US" sz="1200" b="0" i="0" kern="1200">
                <a:solidFill>
                  <a:schemeClr val="tx1"/>
                </a:solidFill>
                <a:effectLst/>
                <a:latin typeface="+mn-lt"/>
                <a:ea typeface="+mn-ea"/>
                <a:cs typeface="+mn-cs"/>
              </a:rPr>
              <a:t> を深掘りして使えるようにします。</a:t>
            </a:r>
          </a:p>
          <a:p>
            <a:pPr fontAlgn="t"/>
            <a:r>
              <a:rPr kumimoji="1" lang="ja-JP" altLang="en-US" sz="1200" b="0" i="0" kern="1200">
                <a:solidFill>
                  <a:schemeClr val="tx1"/>
                </a:solidFill>
                <a:effectLst/>
                <a:latin typeface="+mn-lt"/>
                <a:ea typeface="+mn-ea"/>
                <a:cs typeface="+mn-cs"/>
              </a:rPr>
              <a:t>扱うのは「</a:t>
            </a:r>
            <a:r>
              <a:rPr kumimoji="1" lang="en-US" altLang="ja-JP" sz="1200" b="0" i="0" kern="1200">
                <a:solidFill>
                  <a:schemeClr val="tx1"/>
                </a:solidFill>
                <a:effectLst/>
                <a:latin typeface="+mn-lt"/>
                <a:ea typeface="+mn-ea"/>
                <a:cs typeface="+mn-cs"/>
              </a:rPr>
              <a:t>Initialize variable</a:t>
            </a:r>
            <a:r>
              <a:rPr kumimoji="1" lang="ja-JP" altLang="en-US" sz="1200" b="0" i="0" kern="1200">
                <a:solidFill>
                  <a:schemeClr val="tx1"/>
                </a:solidFill>
                <a:effectLst/>
                <a:latin typeface="+mn-lt"/>
                <a:ea typeface="+mn-ea"/>
                <a:cs typeface="+mn-cs"/>
              </a:rPr>
              <a:t>」、つまり</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“自動化に必要な箱を準備する”</a:t>
            </a:r>
            <a:r>
              <a:rPr kumimoji="1" lang="ja-JP" altLang="en-US" sz="1200" b="0" i="0" kern="1200">
                <a:solidFill>
                  <a:schemeClr val="tx1"/>
                </a:solidFill>
                <a:effectLst/>
                <a:latin typeface="+mn-lt"/>
                <a:ea typeface="+mn-ea"/>
                <a:cs typeface="+mn-cs"/>
              </a:rPr>
              <a:t> アクションです。</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つが理解できると、</a:t>
            </a:r>
          </a:p>
          <a:p>
            <a:pPr fontAlgn="t"/>
            <a:r>
              <a:rPr kumimoji="1" lang="ja-JP" altLang="en-US" sz="1200" b="0" i="0" kern="1200">
                <a:solidFill>
                  <a:schemeClr val="tx1"/>
                </a:solidFill>
                <a:effectLst/>
                <a:latin typeface="+mn-lt"/>
                <a:ea typeface="+mn-ea"/>
                <a:cs typeface="+mn-cs"/>
              </a:rPr>
              <a:t>件数を数える</a:t>
            </a:r>
          </a:p>
          <a:p>
            <a:pPr fontAlgn="t"/>
            <a:r>
              <a:rPr kumimoji="1" lang="ja-JP" altLang="en-US" sz="1200" b="0" i="0" kern="1200">
                <a:solidFill>
                  <a:schemeClr val="tx1"/>
                </a:solidFill>
                <a:effectLst/>
                <a:latin typeface="+mn-lt"/>
                <a:ea typeface="+mn-ea"/>
                <a:cs typeface="+mn-cs"/>
              </a:rPr>
              <a:t>状態を保持する</a:t>
            </a:r>
          </a:p>
          <a:p>
            <a:pPr fontAlgn="t"/>
            <a:r>
              <a:rPr kumimoji="1" lang="ja-JP" altLang="en-US" sz="1200" b="0" i="0" kern="1200">
                <a:solidFill>
                  <a:schemeClr val="tx1"/>
                </a:solidFill>
                <a:effectLst/>
                <a:latin typeface="+mn-lt"/>
                <a:ea typeface="+mn-ea"/>
                <a:cs typeface="+mn-cs"/>
              </a:rPr>
              <a:t>メッセージを作る</a:t>
            </a:r>
          </a:p>
          <a:p>
            <a:pPr fontAlgn="t"/>
            <a:r>
              <a:rPr kumimoji="1" lang="ja-JP" altLang="en-US" sz="1200" b="0" i="0" kern="1200">
                <a:solidFill>
                  <a:schemeClr val="tx1"/>
                </a:solidFill>
                <a:effectLst/>
                <a:latin typeface="+mn-lt"/>
                <a:ea typeface="+mn-ea"/>
                <a:cs typeface="+mn-cs"/>
              </a:rPr>
              <a:t>分岐を作る</a:t>
            </a:r>
          </a:p>
          <a:p>
            <a:pPr fontAlgn="t"/>
            <a:r>
              <a:rPr kumimoji="1" lang="ja-JP" altLang="en-US" sz="1200" b="0" i="0" kern="1200">
                <a:solidFill>
                  <a:schemeClr val="tx1"/>
                </a:solidFill>
                <a:effectLst/>
                <a:latin typeface="+mn-lt"/>
                <a:ea typeface="+mn-ea"/>
                <a:cs typeface="+mn-cs"/>
              </a:rPr>
              <a:t>といった </a:t>
            </a:r>
            <a:r>
              <a:rPr kumimoji="1" lang="ja-JP" altLang="en-US" sz="1200" b="1" i="0" kern="1200">
                <a:solidFill>
                  <a:schemeClr val="tx1"/>
                </a:solidFill>
                <a:effectLst/>
                <a:latin typeface="+mn-lt"/>
                <a:ea typeface="+mn-ea"/>
                <a:cs typeface="+mn-cs"/>
              </a:rPr>
              <a:t>実務でよく使うフロー</a:t>
            </a:r>
            <a:r>
              <a:rPr kumimoji="1" lang="ja-JP" altLang="en-US" sz="1200" b="0" i="0" kern="1200">
                <a:solidFill>
                  <a:schemeClr val="tx1"/>
                </a:solidFill>
                <a:effectLst/>
                <a:latin typeface="+mn-lt"/>
                <a:ea typeface="+mn-ea"/>
                <a:cs typeface="+mn-cs"/>
              </a:rPr>
              <a:t> への道が一気に広がります。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最後に一言</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全体を理解しようとすると難しく感じますが、</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アクション</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つずつ理解して積み上げると確実に身につきます。</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今日の「変数の初期化」も、</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その積み木の</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ピースだと思ってリラックスして取り組んでください。</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20:25</a:t>
            </a: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なぜ変数が必要なのか？</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は、複数のデータを扱う場面が多いツールです。</a:t>
            </a:r>
          </a:p>
          <a:p>
            <a:pPr fontAlgn="t"/>
            <a:r>
              <a:rPr kumimoji="1" lang="ja-JP" altLang="en-US" sz="1200" b="0" i="0" kern="1200">
                <a:solidFill>
                  <a:schemeClr val="tx1"/>
                </a:solidFill>
                <a:effectLst/>
                <a:latin typeface="+mn-lt"/>
                <a:ea typeface="+mn-ea"/>
                <a:cs typeface="+mn-cs"/>
              </a:rPr>
              <a:t>例えば</a:t>
            </a:r>
            <a:r>
              <a:rPr kumimoji="1" lang="en-US" altLang="ja-JP"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名前を一時的に保存して、あとでメッセージに差し込みたい</a:t>
            </a:r>
          </a:p>
          <a:p>
            <a:pPr fontAlgn="t"/>
            <a:r>
              <a:rPr kumimoji="1" lang="ja-JP" altLang="en-US" sz="1200" b="0" i="0" kern="1200">
                <a:solidFill>
                  <a:schemeClr val="tx1"/>
                </a:solidFill>
                <a:effectLst/>
                <a:latin typeface="+mn-lt"/>
                <a:ea typeface="+mn-ea"/>
                <a:cs typeface="+mn-cs"/>
              </a:rPr>
              <a:t>件数を数えて、最後に「今日処理した件数：</a:t>
            </a:r>
            <a:r>
              <a:rPr kumimoji="1" lang="en-US" altLang="ja-JP" sz="1200" b="0" i="0" kern="1200">
                <a:solidFill>
                  <a:schemeClr val="tx1"/>
                </a:solidFill>
                <a:effectLst/>
                <a:latin typeface="+mn-lt"/>
                <a:ea typeface="+mn-ea"/>
                <a:cs typeface="+mn-cs"/>
              </a:rPr>
              <a:t>50</a:t>
            </a:r>
            <a:r>
              <a:rPr kumimoji="1" lang="ja-JP" altLang="en-US" sz="1200" b="0" i="0" kern="1200">
                <a:solidFill>
                  <a:schemeClr val="tx1"/>
                </a:solidFill>
                <a:effectLst/>
                <a:latin typeface="+mn-lt"/>
                <a:ea typeface="+mn-ea"/>
                <a:cs typeface="+mn-cs"/>
              </a:rPr>
              <a:t>件」と表示したい</a:t>
            </a:r>
          </a:p>
          <a:p>
            <a:pPr fontAlgn="t"/>
            <a:r>
              <a:rPr kumimoji="1" lang="ja-JP" altLang="en-US" sz="1200" b="0" i="0" kern="1200">
                <a:solidFill>
                  <a:schemeClr val="tx1"/>
                </a:solidFill>
                <a:effectLst/>
                <a:latin typeface="+mn-lt"/>
                <a:ea typeface="+mn-ea"/>
                <a:cs typeface="+mn-cs"/>
              </a:rPr>
              <a:t>承認か却下か（</a:t>
            </a:r>
            <a:r>
              <a:rPr kumimoji="1" lang="en-US" altLang="ja-JP" sz="1200" b="0" i="0" kern="1200">
                <a:solidFill>
                  <a:schemeClr val="tx1"/>
                </a:solidFill>
                <a:effectLst/>
                <a:latin typeface="+mn-lt"/>
                <a:ea typeface="+mn-ea"/>
                <a:cs typeface="+mn-cs"/>
              </a:rPr>
              <a:t>Yes / No</a:t>
            </a:r>
            <a:r>
              <a:rPr kumimoji="1" lang="ja-JP" altLang="en-US" sz="1200" b="0" i="0" kern="1200">
                <a:solidFill>
                  <a:schemeClr val="tx1"/>
                </a:solidFill>
                <a:effectLst/>
                <a:latin typeface="+mn-lt"/>
                <a:ea typeface="+mn-ea"/>
                <a:cs typeface="+mn-cs"/>
              </a:rPr>
              <a:t>）を保持して後続の処理を分岐したい</a:t>
            </a:r>
          </a:p>
          <a:p>
            <a:pPr fontAlgn="t"/>
            <a:r>
              <a:rPr kumimoji="1" lang="ja-JP" altLang="en-US" sz="1200" b="0" i="0" kern="1200">
                <a:solidFill>
                  <a:schemeClr val="tx1"/>
                </a:solidFill>
                <a:effectLst/>
                <a:latin typeface="+mn-lt"/>
                <a:ea typeface="+mn-ea"/>
                <a:cs typeface="+mn-cs"/>
              </a:rPr>
              <a:t>こういった「後で使いたい情報」を**途中でそっと置いておく“保管スペース”**が必要です。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その役割をするのが </a:t>
            </a:r>
            <a:r>
              <a:rPr kumimoji="1" lang="ja-JP" altLang="en-US" sz="1200" b="1" i="0" kern="1200">
                <a:solidFill>
                  <a:schemeClr val="tx1"/>
                </a:solidFill>
                <a:effectLst/>
                <a:latin typeface="+mn-lt"/>
                <a:ea typeface="+mn-ea"/>
                <a:cs typeface="+mn-cs"/>
              </a:rPr>
              <a:t>変数</a:t>
            </a:r>
            <a:r>
              <a:rPr kumimoji="1" lang="ja-JP" altLang="en-US" sz="1200" b="0" i="0" kern="1200">
                <a:solidFill>
                  <a:schemeClr val="tx1"/>
                </a:solidFill>
                <a:effectLst/>
                <a:latin typeface="+mn-lt"/>
                <a:ea typeface="+mn-ea"/>
                <a:cs typeface="+mn-cs"/>
              </a:rPr>
              <a:t> 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今日やるのは、その“箱づくり”だけ</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では、変数の中でも最初のステップである</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（変数を初期化する）</a:t>
            </a:r>
            <a:r>
              <a:rPr kumimoji="1" lang="ja-JP" altLang="en-US" sz="1200" b="0" i="0" kern="1200">
                <a:solidFill>
                  <a:schemeClr val="tx1"/>
                </a:solidFill>
                <a:effectLst/>
                <a:latin typeface="+mn-lt"/>
                <a:ea typeface="+mn-ea"/>
                <a:cs typeface="+mn-cs"/>
              </a:rPr>
              <a:t> を扱います。</a:t>
            </a:r>
          </a:p>
          <a:p>
            <a:pPr fontAlgn="t"/>
            <a:r>
              <a:rPr kumimoji="1" lang="ja-JP" altLang="en-US" sz="1200" b="0" i="0" kern="1200">
                <a:solidFill>
                  <a:schemeClr val="tx1"/>
                </a:solidFill>
                <a:effectLst/>
                <a:latin typeface="+mn-lt"/>
                <a:ea typeface="+mn-ea"/>
                <a:cs typeface="+mn-cs"/>
              </a:rPr>
              <a:t>やることはとてもシンプルです。</a:t>
            </a:r>
          </a:p>
          <a:p>
            <a:pPr fontAlgn="t"/>
            <a:r>
              <a:rPr kumimoji="1" lang="ja-JP" altLang="en-US" sz="1200" b="0" i="0" kern="1200">
                <a:solidFill>
                  <a:schemeClr val="tx1"/>
                </a:solidFill>
                <a:effectLst/>
                <a:latin typeface="+mn-lt"/>
                <a:ea typeface="+mn-ea"/>
                <a:cs typeface="+mn-cs"/>
              </a:rPr>
              <a:t>箱に </a:t>
            </a:r>
            <a:r>
              <a:rPr kumimoji="1" lang="ja-JP" altLang="en-US" sz="1200" b="1" i="0" kern="1200">
                <a:solidFill>
                  <a:schemeClr val="tx1"/>
                </a:solidFill>
                <a:effectLst/>
                <a:latin typeface="+mn-lt"/>
                <a:ea typeface="+mn-ea"/>
                <a:cs typeface="+mn-cs"/>
              </a:rPr>
              <a:t>名前</a:t>
            </a:r>
            <a:r>
              <a:rPr kumimoji="1" lang="ja-JP" altLang="en-US" sz="1200" b="0" i="0" kern="1200">
                <a:solidFill>
                  <a:schemeClr val="tx1"/>
                </a:solidFill>
                <a:effectLst/>
                <a:latin typeface="+mn-lt"/>
                <a:ea typeface="+mn-ea"/>
                <a:cs typeface="+mn-cs"/>
              </a:rPr>
              <a:t> をつける</a:t>
            </a:r>
          </a:p>
          <a:p>
            <a:pPr fontAlgn="t"/>
            <a:r>
              <a:rPr kumimoji="1" lang="ja-JP" altLang="en-US" sz="1200" b="0" i="0" kern="1200">
                <a:solidFill>
                  <a:schemeClr val="tx1"/>
                </a:solidFill>
                <a:effectLst/>
                <a:latin typeface="+mn-lt"/>
                <a:ea typeface="+mn-ea"/>
                <a:cs typeface="+mn-cs"/>
              </a:rPr>
              <a:t>箱の </a:t>
            </a:r>
            <a:r>
              <a:rPr kumimoji="1" lang="ja-JP" altLang="en-US" sz="1200" b="1" i="0" kern="1200">
                <a:solidFill>
                  <a:schemeClr val="tx1"/>
                </a:solidFill>
                <a:effectLst/>
                <a:latin typeface="+mn-lt"/>
                <a:ea typeface="+mn-ea"/>
                <a:cs typeface="+mn-cs"/>
              </a:rPr>
              <a:t>種類（型）</a:t>
            </a:r>
            <a:r>
              <a:rPr kumimoji="1" lang="ja-JP" altLang="en-US" sz="1200" b="0" i="0" kern="1200">
                <a:solidFill>
                  <a:schemeClr val="tx1"/>
                </a:solidFill>
                <a:effectLst/>
                <a:latin typeface="+mn-lt"/>
                <a:ea typeface="+mn-ea"/>
                <a:cs typeface="+mn-cs"/>
              </a:rPr>
              <a:t> を決める</a:t>
            </a:r>
          </a:p>
          <a:p>
            <a:pPr fontAlgn="t"/>
            <a:r>
              <a:rPr kumimoji="1" lang="ja-JP" altLang="en-US" sz="1200" b="0" i="0" kern="1200">
                <a:solidFill>
                  <a:schemeClr val="tx1"/>
                </a:solidFill>
                <a:effectLst/>
                <a:latin typeface="+mn-lt"/>
                <a:ea typeface="+mn-ea"/>
                <a:cs typeface="+mn-cs"/>
              </a:rPr>
              <a:t>箱の中に入れる </a:t>
            </a:r>
            <a:r>
              <a:rPr kumimoji="1" lang="ja-JP" altLang="en-US" sz="1200" b="1" i="0" kern="1200">
                <a:solidFill>
                  <a:schemeClr val="tx1"/>
                </a:solidFill>
                <a:effectLst/>
                <a:latin typeface="+mn-lt"/>
                <a:ea typeface="+mn-ea"/>
                <a:cs typeface="+mn-cs"/>
              </a:rPr>
              <a:t>初期値</a:t>
            </a:r>
            <a:r>
              <a:rPr kumimoji="1" lang="ja-JP" altLang="en-US" sz="1200" b="0" i="0" kern="1200">
                <a:solidFill>
                  <a:schemeClr val="tx1"/>
                </a:solidFill>
                <a:effectLst/>
                <a:latin typeface="+mn-lt"/>
                <a:ea typeface="+mn-ea"/>
                <a:cs typeface="+mn-cs"/>
              </a:rPr>
              <a:t> をセットする</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つが分かれば大丈夫です。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今日のねらい</a:t>
            </a:r>
          </a:p>
          <a:p>
            <a:pPr fontAlgn="t"/>
            <a:r>
              <a:rPr kumimoji="1" lang="ja-JP" altLang="en-US" sz="1200" b="0" i="0" kern="1200">
                <a:solidFill>
                  <a:schemeClr val="tx1"/>
                </a:solidFill>
                <a:effectLst/>
                <a:latin typeface="+mn-lt"/>
                <a:ea typeface="+mn-ea"/>
                <a:cs typeface="+mn-cs"/>
              </a:rPr>
              <a:t>変数は、今後の</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で扱う</a:t>
            </a:r>
          </a:p>
          <a:p>
            <a:pPr fontAlgn="t"/>
            <a:r>
              <a:rPr kumimoji="1" lang="en-US" altLang="ja-JP" sz="1200" b="0" i="0" kern="1200">
                <a:solidFill>
                  <a:schemeClr val="tx1"/>
                </a:solidFill>
                <a:effectLst/>
                <a:latin typeface="+mn-lt"/>
                <a:ea typeface="+mn-ea"/>
                <a:cs typeface="+mn-cs"/>
              </a:rPr>
              <a:t>Set variable</a:t>
            </a:r>
            <a:r>
              <a:rPr kumimoji="1" lang="ja-JP" altLang="en-US" sz="1200" b="0" i="0" kern="1200">
                <a:solidFill>
                  <a:schemeClr val="tx1"/>
                </a:solidFill>
                <a:effectLst/>
                <a:latin typeface="+mn-lt"/>
                <a:ea typeface="+mn-ea"/>
                <a:cs typeface="+mn-cs"/>
              </a:rPr>
              <a:t>（値の更新）</a:t>
            </a:r>
          </a:p>
          <a:p>
            <a:pPr fontAlgn="t"/>
            <a:r>
              <a:rPr kumimoji="1" lang="ja-JP" altLang="en-US" sz="1200" b="0" i="0" kern="1200">
                <a:solidFill>
                  <a:schemeClr val="tx1"/>
                </a:solidFill>
                <a:effectLst/>
                <a:latin typeface="+mn-lt"/>
                <a:ea typeface="+mn-ea"/>
                <a:cs typeface="+mn-cs"/>
              </a:rPr>
              <a:t>条件分岐</a:t>
            </a:r>
          </a:p>
          <a:p>
            <a:pPr fontAlgn="t"/>
            <a:r>
              <a:rPr kumimoji="1" lang="ja-JP" altLang="en-US" sz="1200" b="0" i="0" kern="1200">
                <a:solidFill>
                  <a:schemeClr val="tx1"/>
                </a:solidFill>
                <a:effectLst/>
                <a:latin typeface="+mn-lt"/>
                <a:ea typeface="+mn-ea"/>
                <a:cs typeface="+mn-cs"/>
              </a:rPr>
              <a:t>繰り返し処理</a:t>
            </a:r>
          </a:p>
          <a:p>
            <a:pPr fontAlgn="t"/>
            <a:r>
              <a:rPr kumimoji="1" lang="ja-JP" altLang="en-US" sz="1200" b="0" i="0" kern="1200">
                <a:solidFill>
                  <a:schemeClr val="tx1"/>
                </a:solidFill>
                <a:effectLst/>
                <a:latin typeface="+mn-lt"/>
                <a:ea typeface="+mn-ea"/>
                <a:cs typeface="+mn-cs"/>
              </a:rPr>
              <a:t>承認ワークフロー</a:t>
            </a:r>
          </a:p>
          <a:p>
            <a:pPr fontAlgn="t"/>
            <a:r>
              <a:rPr kumimoji="1" lang="ja-JP" altLang="en-US" sz="1200" b="0" i="0" kern="1200">
                <a:solidFill>
                  <a:schemeClr val="tx1"/>
                </a:solidFill>
                <a:effectLst/>
                <a:latin typeface="+mn-lt"/>
                <a:ea typeface="+mn-ea"/>
                <a:cs typeface="+mn-cs"/>
              </a:rPr>
              <a:t>などの </a:t>
            </a:r>
            <a:r>
              <a:rPr kumimoji="1" lang="ja-JP" altLang="en-US" sz="1200" b="1" i="0" kern="1200">
                <a:solidFill>
                  <a:schemeClr val="tx1"/>
                </a:solidFill>
                <a:effectLst/>
                <a:latin typeface="+mn-lt"/>
                <a:ea typeface="+mn-ea"/>
                <a:cs typeface="+mn-cs"/>
              </a:rPr>
              <a:t>土台になる必須スキル</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まずは今日、</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「変数＝箱」</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というシンプルなイメージをしっかり掴んでいきましょう。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20:27</a:t>
            </a: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① アクション解説（まずイメージをつかむ）</a:t>
            </a:r>
          </a:p>
          <a:p>
            <a:pPr fontAlgn="t"/>
            <a:r>
              <a:rPr kumimoji="1" lang="ja-JP" altLang="en-US" sz="1200" b="0" i="0" kern="1200">
                <a:solidFill>
                  <a:schemeClr val="tx1"/>
                </a:solidFill>
                <a:effectLst/>
                <a:latin typeface="+mn-lt"/>
                <a:ea typeface="+mn-ea"/>
                <a:cs typeface="+mn-cs"/>
              </a:rPr>
              <a:t>最初に、今日扱うアクションが</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「どんな役割なのか」「どこで使うのか」</a:t>
            </a:r>
            <a:r>
              <a:rPr kumimoji="1" lang="ja-JP" altLang="en-US" sz="1200" b="0" i="0" kern="1200">
                <a:solidFill>
                  <a:schemeClr val="tx1"/>
                </a:solidFill>
                <a:effectLst/>
                <a:latin typeface="+mn-lt"/>
                <a:ea typeface="+mn-ea"/>
                <a:cs typeface="+mn-cs"/>
              </a:rPr>
              <a:t> を丁寧に説明します。</a:t>
            </a:r>
          </a:p>
          <a:p>
            <a:pPr fontAlgn="t"/>
            <a:r>
              <a:rPr kumimoji="1" lang="ja-JP" altLang="en-US" sz="1200" b="0" i="0" kern="1200">
                <a:solidFill>
                  <a:schemeClr val="tx1"/>
                </a:solidFill>
                <a:effectLst/>
                <a:latin typeface="+mn-lt"/>
                <a:ea typeface="+mn-ea"/>
                <a:cs typeface="+mn-cs"/>
              </a:rPr>
              <a:t>例えば今日のテーマである「変数」なら、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“自動化の途中で情報を置いておく箱”</a:t>
            </a:r>
            <a:r>
              <a:rPr kumimoji="1" lang="ja-JP" altLang="en-US" sz="1200" b="0" i="0" kern="1200">
                <a:solidFill>
                  <a:schemeClr val="tx1"/>
                </a:solidFill>
                <a:effectLst/>
                <a:latin typeface="+mn-lt"/>
                <a:ea typeface="+mn-ea"/>
                <a:cs typeface="+mn-cs"/>
              </a:rPr>
              <a:t> といったイメージをまずここで掴んでもらいます。</a:t>
            </a:r>
          </a:p>
          <a:p>
            <a:pPr fontAlgn="t"/>
            <a:r>
              <a:rPr kumimoji="1" lang="ja-JP" altLang="en-US" sz="1200" b="0" i="0" kern="1200">
                <a:solidFill>
                  <a:schemeClr val="tx1"/>
                </a:solidFill>
                <a:effectLst/>
                <a:latin typeface="+mn-lt"/>
                <a:ea typeface="+mn-ea"/>
                <a:cs typeface="+mn-cs"/>
              </a:rPr>
              <a:t>この段階で難しい操作はしません。</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“概念の土台づくり” のフェーズです。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② ハンズオン（実際に一緒に作る）</a:t>
            </a:r>
          </a:p>
          <a:p>
            <a:pPr fontAlgn="t"/>
            <a:r>
              <a:rPr kumimoji="1" lang="ja-JP" altLang="en-US" sz="1200" b="0" i="0" kern="1200">
                <a:solidFill>
                  <a:schemeClr val="tx1"/>
                </a:solidFill>
                <a:effectLst/>
                <a:latin typeface="+mn-lt"/>
                <a:ea typeface="+mn-ea"/>
                <a:cs typeface="+mn-cs"/>
              </a:rPr>
              <a:t>次に、実際の </a:t>
            </a:r>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の画面を使って</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一緒にフローを作る時間</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「見る」だけではなく、</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自分の手でやってみると理解が一気に深まる</a:t>
            </a:r>
            <a:r>
              <a:rPr kumimoji="1" lang="ja-JP" altLang="en-US" sz="1200" b="0" i="0" kern="1200">
                <a:solidFill>
                  <a:schemeClr val="tx1"/>
                </a:solidFill>
                <a:effectLst/>
                <a:latin typeface="+mn-lt"/>
                <a:ea typeface="+mn-ea"/>
                <a:cs typeface="+mn-cs"/>
              </a:rPr>
              <a:t>ので、</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では毎回このステップを重視しています。</a:t>
            </a:r>
          </a:p>
          <a:p>
            <a:pPr fontAlgn="t"/>
            <a:r>
              <a:rPr kumimoji="1" lang="ja-JP" altLang="en-US" sz="1200" b="0" i="0" kern="1200">
                <a:solidFill>
                  <a:schemeClr val="tx1"/>
                </a:solidFill>
                <a:effectLst/>
                <a:latin typeface="+mn-lt"/>
                <a:ea typeface="+mn-ea"/>
                <a:cs typeface="+mn-cs"/>
              </a:rPr>
              <a:t>今日も、</a:t>
            </a:r>
            <a:r>
              <a:rPr kumimoji="1" lang="en-US" altLang="ja-JP" sz="1200" b="0" i="0" kern="1200">
                <a:solidFill>
                  <a:schemeClr val="tx1"/>
                </a:solidFill>
                <a:effectLst/>
                <a:latin typeface="+mn-lt"/>
                <a:ea typeface="+mn-ea"/>
                <a:cs typeface="+mn-cs"/>
              </a:rPr>
              <a:t>Initialize variable → Compose </a:t>
            </a:r>
            <a:r>
              <a:rPr kumimoji="1" lang="ja-JP" altLang="en-US" sz="1200" b="0" i="0" kern="1200">
                <a:solidFill>
                  <a:schemeClr val="tx1"/>
                </a:solidFill>
                <a:effectLst/>
                <a:latin typeface="+mn-lt"/>
                <a:ea typeface="+mn-ea"/>
                <a:cs typeface="+mn-cs"/>
              </a:rPr>
              <a:t>までの流れを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画面を切り替えながら一緒に作っていきます。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③ 活用事例（実務でどう使えるかを知る）</a:t>
            </a:r>
          </a:p>
          <a:p>
            <a:pPr fontAlgn="t"/>
            <a:r>
              <a:rPr kumimoji="1" lang="ja-JP" altLang="en-US" sz="1200" b="0" i="0" kern="1200">
                <a:solidFill>
                  <a:schemeClr val="tx1"/>
                </a:solidFill>
                <a:effectLst/>
                <a:latin typeface="+mn-lt"/>
                <a:ea typeface="+mn-ea"/>
                <a:cs typeface="+mn-cs"/>
              </a:rPr>
              <a:t>最後に、今日学んだアクションが </a:t>
            </a:r>
            <a:r>
              <a:rPr kumimoji="1" lang="ja-JP" altLang="en-US" sz="1200" b="1" i="0" kern="1200">
                <a:solidFill>
                  <a:schemeClr val="tx1"/>
                </a:solidFill>
                <a:effectLst/>
                <a:latin typeface="+mn-lt"/>
                <a:ea typeface="+mn-ea"/>
                <a:cs typeface="+mn-cs"/>
              </a:rPr>
              <a:t>実務でどう役立つのか</a:t>
            </a:r>
            <a:r>
              <a:rPr kumimoji="1" lang="ja-JP" altLang="en-US" sz="1200" b="0" i="0" kern="1200">
                <a:solidFill>
                  <a:schemeClr val="tx1"/>
                </a:solidFill>
                <a:effectLst/>
                <a:latin typeface="+mn-lt"/>
                <a:ea typeface="+mn-ea"/>
                <a:cs typeface="+mn-cs"/>
              </a:rPr>
              <a:t> を紹介します。</a:t>
            </a:r>
          </a:p>
          <a:p>
            <a:pPr fontAlgn="t"/>
            <a:r>
              <a:rPr kumimoji="1" lang="ja-JP" altLang="en-US" sz="1200" b="0" i="0" kern="1200">
                <a:solidFill>
                  <a:schemeClr val="tx1"/>
                </a:solidFill>
                <a:effectLst/>
                <a:latin typeface="+mn-lt"/>
                <a:ea typeface="+mn-ea"/>
                <a:cs typeface="+mn-cs"/>
              </a:rPr>
              <a:t>例えば、</a:t>
            </a:r>
          </a:p>
          <a:p>
            <a:pPr fontAlgn="t"/>
            <a:r>
              <a:rPr kumimoji="1" lang="ja-JP" altLang="en-US" sz="1200" b="0" i="0" kern="1200">
                <a:solidFill>
                  <a:schemeClr val="tx1"/>
                </a:solidFill>
                <a:effectLst/>
                <a:latin typeface="+mn-lt"/>
                <a:ea typeface="+mn-ea"/>
                <a:cs typeface="+mn-cs"/>
              </a:rPr>
              <a:t>件数カウント（</a:t>
            </a:r>
            <a:r>
              <a:rPr kumimoji="1" lang="en-US" altLang="ja-JP" sz="1200" b="0" i="0" kern="1200">
                <a:solidFill>
                  <a:schemeClr val="tx1"/>
                </a:solidFill>
                <a:effectLst/>
                <a:latin typeface="+mn-lt"/>
                <a:ea typeface="+mn-ea"/>
                <a:cs typeface="+mn-cs"/>
              </a:rPr>
              <a:t>Integer</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名前の差し込み（</a:t>
            </a:r>
            <a:r>
              <a:rPr kumimoji="1" lang="en-US" altLang="ja-JP" sz="1200" b="0" i="0" kern="1200">
                <a:solidFill>
                  <a:schemeClr val="tx1"/>
                </a:solidFill>
                <a:effectLst/>
                <a:latin typeface="+mn-lt"/>
                <a:ea typeface="+mn-ea"/>
                <a:cs typeface="+mn-cs"/>
              </a:rPr>
              <a:t>String</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承認フラグ（</a:t>
            </a:r>
            <a:r>
              <a:rPr kumimoji="1" lang="en-US" altLang="ja-JP" sz="1200" b="0" i="0" kern="1200">
                <a:solidFill>
                  <a:schemeClr val="tx1"/>
                </a:solidFill>
                <a:effectLst/>
                <a:latin typeface="+mn-lt"/>
                <a:ea typeface="+mn-ea"/>
                <a:cs typeface="+mn-cs"/>
              </a:rPr>
              <a:t>Boolean</a:t>
            </a:r>
            <a:r>
              <a:rPr kumimoji="1" lang="ja-JP" altLang="en-US" sz="1200" b="0" i="0" kern="1200">
                <a:solidFill>
                  <a:schemeClr val="tx1"/>
                </a:solidFill>
                <a:effectLst/>
                <a:latin typeface="+mn-lt"/>
                <a:ea typeface="+mn-ea"/>
                <a:cs typeface="+mn-cs"/>
              </a:rPr>
              <a:t>）</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など、業務でよくある具体的な活用例を取り上げます。</a:t>
            </a:r>
          </a:p>
          <a:p>
            <a:pPr fontAlgn="t"/>
            <a:r>
              <a:rPr kumimoji="1" lang="ja-JP" altLang="en-US" sz="1200" b="0" i="0" kern="1200">
                <a:solidFill>
                  <a:schemeClr val="tx1"/>
                </a:solidFill>
                <a:effectLst/>
                <a:latin typeface="+mn-lt"/>
                <a:ea typeface="+mn-ea"/>
                <a:cs typeface="+mn-cs"/>
              </a:rPr>
              <a:t>これにより、</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「今日の学びが実際の業務にどうつながるか？」</a:t>
            </a:r>
            <a:r>
              <a:rPr kumimoji="1" lang="ja-JP" altLang="en-US" sz="1200" b="0" i="0" kern="1200">
                <a:solidFill>
                  <a:schemeClr val="tx1"/>
                </a:solidFill>
                <a:effectLst/>
                <a:latin typeface="+mn-lt"/>
                <a:ea typeface="+mn-ea"/>
                <a:cs typeface="+mn-cs"/>
              </a:rPr>
              <a:t> がはっきり見えて、身につきやすくなります。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20:28</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7</a:t>
            </a:r>
            <a:r>
              <a:rPr kumimoji="1" lang="ja-JP" altLang="en-US" sz="1200" b="1" i="0" kern="1200">
                <a:solidFill>
                  <a:schemeClr val="tx1"/>
                </a:solidFill>
                <a:effectLst/>
                <a:latin typeface="+mn-lt"/>
                <a:ea typeface="+mn-ea"/>
                <a:cs typeface="+mn-cs"/>
              </a:rPr>
              <a:t>｜今日やること（</a:t>
            </a:r>
            <a:r>
              <a:rPr kumimoji="1" lang="en-US" altLang="ja-JP" sz="1200" b="1" i="0" kern="1200">
                <a:solidFill>
                  <a:schemeClr val="tx1"/>
                </a:solidFill>
                <a:effectLst/>
                <a:latin typeface="+mn-lt"/>
                <a:ea typeface="+mn-ea"/>
                <a:cs typeface="+mn-cs"/>
              </a:rPr>
              <a:t>20:28〜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今日の学びは次の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つです。</a:t>
            </a:r>
          </a:p>
          <a:p>
            <a:pPr fontAlgn="t"/>
            <a:r>
              <a:rPr kumimoji="1" lang="ja-JP" altLang="en-US" sz="1200" b="0" i="0" kern="1200">
                <a:solidFill>
                  <a:schemeClr val="tx1"/>
                </a:solidFill>
                <a:effectLst/>
                <a:latin typeface="+mn-lt"/>
                <a:ea typeface="+mn-ea"/>
                <a:cs typeface="+mn-cs"/>
              </a:rPr>
              <a:t>① </a:t>
            </a:r>
            <a:r>
              <a:rPr kumimoji="1" lang="ja-JP" altLang="en-US" sz="1200" b="1" i="0" kern="1200">
                <a:solidFill>
                  <a:schemeClr val="tx1"/>
                </a:solidFill>
                <a:effectLst/>
                <a:latin typeface="+mn-lt"/>
                <a:ea typeface="+mn-ea"/>
                <a:cs typeface="+mn-cs"/>
              </a:rPr>
              <a:t>変数とは？を具体例で理解する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→「箱」や「引き出し」のイメージで理解。</a:t>
            </a:r>
          </a:p>
          <a:p>
            <a:pPr fontAlgn="t"/>
            <a:r>
              <a:rPr kumimoji="1" lang="ja-JP" altLang="en-US" sz="1200" b="0"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Initialize variable </a:t>
            </a:r>
            <a:r>
              <a:rPr kumimoji="1" lang="ja-JP" altLang="en-US" sz="1200" b="1" i="0" kern="1200">
                <a:solidFill>
                  <a:schemeClr val="tx1"/>
                </a:solidFill>
                <a:effectLst/>
                <a:latin typeface="+mn-lt"/>
                <a:ea typeface="+mn-ea"/>
                <a:cs typeface="+mn-cs"/>
              </a:rPr>
              <a:t>で箱を作る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 名札（名前）、箱の種類（型）、箱の中身（値）を設定。</a:t>
            </a:r>
          </a:p>
          <a:p>
            <a:pPr fontAlgn="t"/>
            <a:r>
              <a:rPr kumimoji="1" lang="ja-JP" altLang="en-US" sz="1200" b="0"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で中身を確認する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 フローが正しく動いているか“窓”からチェック。</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つだけで、</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の理解が驚くほど進みます。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20:30</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8</a:t>
            </a:r>
            <a:r>
              <a:rPr kumimoji="1" lang="ja-JP" altLang="en-US" sz="1200" b="1" i="0" kern="1200">
                <a:solidFill>
                  <a:schemeClr val="tx1"/>
                </a:solidFill>
                <a:effectLst/>
                <a:latin typeface="+mn-lt"/>
                <a:ea typeface="+mn-ea"/>
                <a:cs typeface="+mn-cs"/>
              </a:rPr>
              <a:t>｜変数の考え方 </a:t>
            </a:r>
            <a:r>
              <a:rPr kumimoji="1" lang="en-US" altLang="ja-JP" sz="1200" b="1" i="0" kern="1200">
                <a:solidFill>
                  <a:schemeClr val="tx1"/>
                </a:solidFill>
                <a:effectLst/>
                <a:latin typeface="+mn-lt"/>
                <a:ea typeface="+mn-ea"/>
                <a:cs typeface="+mn-cs"/>
              </a:rPr>
              <a:t>&amp; </a:t>
            </a:r>
            <a:r>
              <a:rPr kumimoji="1" lang="ja-JP" altLang="en-US" sz="1200" b="1" i="0" kern="1200">
                <a:solidFill>
                  <a:schemeClr val="tx1"/>
                </a:solidFill>
                <a:effectLst/>
                <a:latin typeface="+mn-lt"/>
                <a:ea typeface="+mn-ea"/>
                <a:cs typeface="+mn-cs"/>
              </a:rPr>
              <a:t>よく使う型（</a:t>
            </a:r>
            <a:r>
              <a:rPr kumimoji="1" lang="en-US" altLang="ja-JP" sz="1200" b="1" i="0" kern="1200">
                <a:solidFill>
                  <a:schemeClr val="tx1"/>
                </a:solidFill>
                <a:effectLst/>
                <a:latin typeface="+mn-lt"/>
                <a:ea typeface="+mn-ea"/>
                <a:cs typeface="+mn-cs"/>
              </a:rPr>
              <a:t>20:30〜 / 4</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分かりやすい詳細版</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ここからは、今日のテーマである </a:t>
            </a:r>
            <a:r>
              <a:rPr kumimoji="1" lang="ja-JP" altLang="en-US" sz="1200" b="1" i="0" kern="1200">
                <a:solidFill>
                  <a:schemeClr val="tx1"/>
                </a:solidFill>
                <a:effectLst/>
                <a:latin typeface="+mn-lt"/>
                <a:ea typeface="+mn-ea"/>
                <a:cs typeface="+mn-cs"/>
              </a:rPr>
              <a:t>「変数（</a:t>
            </a:r>
            <a:r>
              <a:rPr kumimoji="1" lang="en-US" altLang="ja-JP" sz="1200" b="1" i="0" kern="1200">
                <a:solidFill>
                  <a:schemeClr val="tx1"/>
                </a:solidFill>
                <a:effectLst/>
                <a:latin typeface="+mn-lt"/>
                <a:ea typeface="+mn-ea"/>
                <a:cs typeface="+mn-cs"/>
              </a:rPr>
              <a:t>Variable</a:t>
            </a:r>
            <a:r>
              <a:rPr kumimoji="1" lang="ja-JP" altLang="en-US" sz="1200" b="1" i="0" kern="1200">
                <a:solidFill>
                  <a:schemeClr val="tx1"/>
                </a:solidFill>
                <a:effectLst/>
                <a:latin typeface="+mn-lt"/>
                <a:ea typeface="+mn-ea"/>
                <a:cs typeface="+mn-cs"/>
              </a:rPr>
              <a:t>）」の考え方</a:t>
            </a:r>
            <a:r>
              <a:rPr kumimoji="1" lang="ja-JP" altLang="en-US" sz="1200" b="0" i="0" kern="1200">
                <a:solidFill>
                  <a:schemeClr val="tx1"/>
                </a:solidFill>
                <a:effectLst/>
                <a:latin typeface="+mn-lt"/>
                <a:ea typeface="+mn-ea"/>
                <a:cs typeface="+mn-cs"/>
              </a:rPr>
              <a:t> 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イメージしやすいように、例え話を交えながら丁寧に説明していきます。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変数とは？</a:t>
            </a:r>
          </a:p>
          <a:p>
            <a:pPr fontAlgn="t"/>
            <a:r>
              <a:rPr kumimoji="1" lang="ja-JP" altLang="en-US" sz="1200" b="0" i="0" kern="1200">
                <a:solidFill>
                  <a:schemeClr val="tx1"/>
                </a:solidFill>
                <a:effectLst/>
                <a:latin typeface="+mn-lt"/>
                <a:ea typeface="+mn-ea"/>
                <a:cs typeface="+mn-cs"/>
              </a:rPr>
              <a:t>変数は、一言でいうと </a:t>
            </a:r>
            <a:r>
              <a:rPr kumimoji="1" lang="ja-JP" altLang="en-US" sz="1200" b="1" i="0" kern="1200">
                <a:solidFill>
                  <a:schemeClr val="tx1"/>
                </a:solidFill>
                <a:effectLst/>
                <a:latin typeface="+mn-lt"/>
                <a:ea typeface="+mn-ea"/>
                <a:cs typeface="+mn-cs"/>
              </a:rPr>
              <a:t>“値を一時的に入れておく箱”</a:t>
            </a:r>
            <a:r>
              <a:rPr kumimoji="1" lang="ja-JP" altLang="en-US" sz="1200" b="0" i="0" kern="1200">
                <a:solidFill>
                  <a:schemeClr val="tx1"/>
                </a:solidFill>
                <a:effectLst/>
                <a:latin typeface="+mn-lt"/>
                <a:ea typeface="+mn-ea"/>
                <a:cs typeface="+mn-cs"/>
              </a:rPr>
              <a:t> です。</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の中では、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フローを実行している途中で、</a:t>
            </a:r>
          </a:p>
          <a:p>
            <a:pPr fontAlgn="t"/>
            <a:r>
              <a:rPr kumimoji="1" lang="ja-JP" altLang="en-US" sz="1200" b="0" i="0" kern="1200">
                <a:solidFill>
                  <a:schemeClr val="tx1"/>
                </a:solidFill>
                <a:effectLst/>
                <a:latin typeface="+mn-lt"/>
                <a:ea typeface="+mn-ea"/>
                <a:cs typeface="+mn-cs"/>
              </a:rPr>
              <a:t>名前</a:t>
            </a:r>
          </a:p>
          <a:p>
            <a:pPr fontAlgn="t"/>
            <a:r>
              <a:rPr kumimoji="1" lang="ja-JP" altLang="en-US" sz="1200" b="0" i="0" kern="1200">
                <a:solidFill>
                  <a:schemeClr val="tx1"/>
                </a:solidFill>
                <a:effectLst/>
                <a:latin typeface="+mn-lt"/>
                <a:ea typeface="+mn-ea"/>
                <a:cs typeface="+mn-cs"/>
              </a:rPr>
              <a:t>数値</a:t>
            </a:r>
          </a:p>
          <a:p>
            <a:pPr fontAlgn="t"/>
            <a:r>
              <a:rPr kumimoji="1" lang="ja-JP" altLang="en-US" sz="1200" b="0" i="0" kern="1200">
                <a:solidFill>
                  <a:schemeClr val="tx1"/>
                </a:solidFill>
                <a:effectLst/>
                <a:latin typeface="+mn-lt"/>
                <a:ea typeface="+mn-ea"/>
                <a:cs typeface="+mn-cs"/>
              </a:rPr>
              <a:t>フラグ（</a:t>
            </a:r>
            <a:r>
              <a:rPr kumimoji="1" lang="en-US" altLang="ja-JP" sz="1200" b="0" i="0" kern="1200">
                <a:solidFill>
                  <a:schemeClr val="tx1"/>
                </a:solidFill>
                <a:effectLst/>
                <a:latin typeface="+mn-lt"/>
                <a:ea typeface="+mn-ea"/>
                <a:cs typeface="+mn-cs"/>
              </a:rPr>
              <a:t>Yes/No</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途中結果</a:t>
            </a:r>
          </a:p>
          <a:p>
            <a:pPr fontAlgn="t"/>
            <a:r>
              <a:rPr kumimoji="1" lang="ja-JP" altLang="en-US" sz="1200" b="0" i="0" kern="1200">
                <a:solidFill>
                  <a:schemeClr val="tx1"/>
                </a:solidFill>
                <a:effectLst/>
                <a:latin typeface="+mn-lt"/>
                <a:ea typeface="+mn-ea"/>
                <a:cs typeface="+mn-cs"/>
              </a:rPr>
              <a:t>カウント</a:t>
            </a:r>
          </a:p>
          <a:p>
            <a:pPr fontAlgn="t"/>
            <a:r>
              <a:rPr kumimoji="1" lang="ja-JP" altLang="en-US" sz="1200" b="0" i="0" kern="1200">
                <a:solidFill>
                  <a:schemeClr val="tx1"/>
                </a:solidFill>
                <a:effectLst/>
                <a:latin typeface="+mn-lt"/>
                <a:ea typeface="+mn-ea"/>
                <a:cs typeface="+mn-cs"/>
              </a:rPr>
              <a:t>メッセージの一部</a:t>
            </a:r>
          </a:p>
          <a:p>
            <a:pPr fontAlgn="t"/>
            <a:r>
              <a:rPr kumimoji="1" lang="ja-JP" altLang="en-US" sz="1200" b="0" i="0" kern="1200">
                <a:solidFill>
                  <a:schemeClr val="tx1"/>
                </a:solidFill>
                <a:effectLst/>
                <a:latin typeface="+mn-lt"/>
                <a:ea typeface="+mn-ea"/>
                <a:cs typeface="+mn-cs"/>
              </a:rPr>
              <a:t>などの </a:t>
            </a:r>
            <a:r>
              <a:rPr kumimoji="1" lang="ja-JP" altLang="en-US" sz="1200" b="1" i="0" kern="1200">
                <a:solidFill>
                  <a:schemeClr val="tx1"/>
                </a:solidFill>
                <a:effectLst/>
                <a:latin typeface="+mn-lt"/>
                <a:ea typeface="+mn-ea"/>
                <a:cs typeface="+mn-cs"/>
              </a:rPr>
              <a:t>「あとで使いたい情報」</a:t>
            </a:r>
            <a:r>
              <a:rPr kumimoji="1" lang="ja-JP" altLang="en-US" sz="1200" b="0" i="0" kern="1200">
                <a:solidFill>
                  <a:schemeClr val="tx1"/>
                </a:solidFill>
                <a:effectLst/>
                <a:latin typeface="+mn-lt"/>
                <a:ea typeface="+mn-ea"/>
                <a:cs typeface="+mn-cs"/>
              </a:rPr>
              <a:t> を保管しておく必要があります。</a:t>
            </a:r>
          </a:p>
          <a:p>
            <a:pPr fontAlgn="t"/>
            <a:r>
              <a:rPr kumimoji="1" lang="ja-JP" altLang="en-US" sz="1200" b="0" i="0" kern="1200">
                <a:solidFill>
                  <a:schemeClr val="tx1"/>
                </a:solidFill>
                <a:effectLst/>
                <a:latin typeface="+mn-lt"/>
                <a:ea typeface="+mn-ea"/>
                <a:cs typeface="+mn-cs"/>
              </a:rPr>
              <a:t>その置き場所になるのが </a:t>
            </a:r>
            <a:r>
              <a:rPr kumimoji="1" lang="ja-JP" altLang="en-US" sz="1200" b="1" i="0" kern="1200">
                <a:solidFill>
                  <a:schemeClr val="tx1"/>
                </a:solidFill>
                <a:effectLst/>
                <a:latin typeface="+mn-lt"/>
                <a:ea typeface="+mn-ea"/>
                <a:cs typeface="+mn-cs"/>
              </a:rPr>
              <a:t>変数（</a:t>
            </a:r>
            <a:r>
              <a:rPr kumimoji="1" lang="en-US" altLang="ja-JP" sz="1200" b="1" i="0" kern="1200">
                <a:solidFill>
                  <a:schemeClr val="tx1"/>
                </a:solidFill>
                <a:effectLst/>
                <a:latin typeface="+mn-lt"/>
                <a:ea typeface="+mn-ea"/>
                <a:cs typeface="+mn-cs"/>
              </a:rPr>
              <a:t>Variable</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例え話でイメージすると</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フローを「作業机」に例えると、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変数は </a:t>
            </a:r>
            <a:r>
              <a:rPr kumimoji="1" lang="ja-JP" altLang="en-US" sz="1200" b="1" i="0" kern="1200">
                <a:solidFill>
                  <a:schemeClr val="tx1"/>
                </a:solidFill>
                <a:effectLst/>
                <a:latin typeface="+mn-lt"/>
                <a:ea typeface="+mn-ea"/>
                <a:cs typeface="+mn-cs"/>
              </a:rPr>
              <a:t>「机の横に置いてある小さな引き出し」</a:t>
            </a:r>
            <a:r>
              <a:rPr kumimoji="1" lang="ja-JP" altLang="en-US" sz="1200" b="0" i="0" kern="1200">
                <a:solidFill>
                  <a:schemeClr val="tx1"/>
                </a:solidFill>
                <a:effectLst/>
                <a:latin typeface="+mn-lt"/>
                <a:ea typeface="+mn-ea"/>
                <a:cs typeface="+mn-cs"/>
              </a:rPr>
              <a:t> のようなものです。</a:t>
            </a:r>
          </a:p>
          <a:p>
            <a:pPr fontAlgn="t"/>
            <a:r>
              <a:rPr kumimoji="1" lang="ja-JP" altLang="en-US" sz="1200" b="0" i="0" kern="1200">
                <a:solidFill>
                  <a:schemeClr val="tx1"/>
                </a:solidFill>
                <a:effectLst/>
                <a:latin typeface="+mn-lt"/>
                <a:ea typeface="+mn-ea"/>
                <a:cs typeface="+mn-cs"/>
              </a:rPr>
              <a:t>必要な情報を一旦そこに入れておく</a:t>
            </a:r>
          </a:p>
          <a:p>
            <a:pPr fontAlgn="t"/>
            <a:r>
              <a:rPr kumimoji="1" lang="ja-JP" altLang="en-US" sz="1200" b="0" i="0" kern="1200">
                <a:solidFill>
                  <a:schemeClr val="tx1"/>
                </a:solidFill>
                <a:effectLst/>
                <a:latin typeface="+mn-lt"/>
                <a:ea typeface="+mn-ea"/>
                <a:cs typeface="+mn-cs"/>
              </a:rPr>
              <a:t>後で必要な時に引き出して使う</a:t>
            </a:r>
          </a:p>
          <a:p>
            <a:pPr fontAlgn="t"/>
            <a:r>
              <a:rPr kumimoji="1" lang="ja-JP" altLang="en-US" sz="1200" b="0" i="0" kern="1200">
                <a:solidFill>
                  <a:schemeClr val="tx1"/>
                </a:solidFill>
                <a:effectLst/>
                <a:latin typeface="+mn-lt"/>
                <a:ea typeface="+mn-ea"/>
                <a:cs typeface="+mn-cs"/>
              </a:rPr>
              <a:t>いくつも引き出しを並べて、使い分けができる</a:t>
            </a:r>
          </a:p>
          <a:p>
            <a:pPr fontAlgn="t"/>
            <a:r>
              <a:rPr kumimoji="1" lang="ja-JP" altLang="en-US" sz="1200" b="0" i="0" kern="1200">
                <a:solidFill>
                  <a:schemeClr val="tx1"/>
                </a:solidFill>
                <a:effectLst/>
                <a:latin typeface="+mn-lt"/>
                <a:ea typeface="+mn-ea"/>
                <a:cs typeface="+mn-cs"/>
              </a:rPr>
              <a:t>こんなイメージを持ってもらえると理解しやすいです。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変数には“型（</a:t>
            </a:r>
            <a:r>
              <a:rPr kumimoji="1" lang="en-US" altLang="ja-JP" sz="1200" b="1" i="0" kern="1200">
                <a:solidFill>
                  <a:schemeClr val="tx1"/>
                </a:solidFill>
                <a:effectLst/>
                <a:latin typeface="+mn-lt"/>
                <a:ea typeface="+mn-ea"/>
                <a:cs typeface="+mn-cs"/>
              </a:rPr>
              <a:t>Type</a:t>
            </a:r>
            <a:r>
              <a:rPr kumimoji="1" lang="ja-JP" altLang="en-US" sz="1200" b="1" i="0" kern="1200">
                <a:solidFill>
                  <a:schemeClr val="tx1"/>
                </a:solidFill>
                <a:effectLst/>
                <a:latin typeface="+mn-lt"/>
                <a:ea typeface="+mn-ea"/>
                <a:cs typeface="+mn-cs"/>
              </a:rPr>
              <a:t>）”を決める必要がある</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の変数には、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「何を入れる箱なのか？」（＝型）</a:t>
            </a:r>
            <a:r>
              <a:rPr kumimoji="1" lang="ja-JP" altLang="en-US" sz="1200" b="0" i="0" kern="1200">
                <a:solidFill>
                  <a:schemeClr val="tx1"/>
                </a:solidFill>
                <a:effectLst/>
                <a:latin typeface="+mn-lt"/>
                <a:ea typeface="+mn-ea"/>
                <a:cs typeface="+mn-cs"/>
              </a:rPr>
              <a:t> を最初に決める必要があります。</a:t>
            </a:r>
          </a:p>
          <a:p>
            <a:pPr fontAlgn="t"/>
            <a:r>
              <a:rPr kumimoji="1" lang="ja-JP" altLang="en-US" sz="1200" b="0" i="0" kern="1200">
                <a:solidFill>
                  <a:schemeClr val="tx1"/>
                </a:solidFill>
                <a:effectLst/>
                <a:latin typeface="+mn-lt"/>
                <a:ea typeface="+mn-ea"/>
                <a:cs typeface="+mn-cs"/>
              </a:rPr>
              <a:t>理由はシンプルで、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箱の種類が曖昧だと、後から正しく扱えないからです。</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例えば、数字を入れたいのに “文字の箱” にしてしまうと、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計算ができなかったり、エラーになったりします。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よく使う型 </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つ（＋具体例）</a:t>
            </a:r>
          </a:p>
          <a:p>
            <a:pPr fontAlgn="t"/>
            <a:r>
              <a:rPr kumimoji="1" lang="ja-JP" altLang="en-US" sz="1200" b="0" i="0" kern="1200">
                <a:solidFill>
                  <a:schemeClr val="tx1"/>
                </a:solidFill>
                <a:effectLst/>
                <a:latin typeface="+mn-lt"/>
                <a:ea typeface="+mn-ea"/>
                <a:cs typeface="+mn-cs"/>
              </a:rPr>
              <a:t>ここでは特によく出てくる</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種類を紹介します。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① </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（文字）</a:t>
            </a:r>
          </a:p>
          <a:p>
            <a:pPr fontAlgn="t"/>
            <a:r>
              <a:rPr kumimoji="1" lang="ja-JP" altLang="en-US" sz="1200" b="0" i="0" kern="1200">
                <a:solidFill>
                  <a:schemeClr val="tx1"/>
                </a:solidFill>
                <a:effectLst/>
                <a:latin typeface="+mn-lt"/>
                <a:ea typeface="+mn-ea"/>
                <a:cs typeface="+mn-cs"/>
              </a:rPr>
              <a:t>テキストを扱うための箱です。</a:t>
            </a:r>
          </a:p>
          <a:p>
            <a:pPr fontAlgn="t"/>
            <a:r>
              <a:rPr kumimoji="1" lang="ja-JP" altLang="en-US" sz="1200" b="1" i="0" kern="1200">
                <a:solidFill>
                  <a:schemeClr val="tx1"/>
                </a:solidFill>
                <a:effectLst/>
                <a:latin typeface="+mn-lt"/>
                <a:ea typeface="+mn-ea"/>
                <a:cs typeface="+mn-cs"/>
              </a:rPr>
              <a:t>例：</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名前（「山田太郎」）</a:t>
            </a:r>
          </a:p>
          <a:p>
            <a:pPr fontAlgn="t"/>
            <a:r>
              <a:rPr kumimoji="1" lang="ja-JP" altLang="en-US" sz="1200" b="0" i="0" kern="1200">
                <a:solidFill>
                  <a:schemeClr val="tx1"/>
                </a:solidFill>
                <a:effectLst/>
                <a:latin typeface="+mn-lt"/>
                <a:ea typeface="+mn-ea"/>
                <a:cs typeface="+mn-cs"/>
              </a:rPr>
              <a:t>メッセージ（「承認をお願いします」）</a:t>
            </a:r>
          </a:p>
          <a:p>
            <a:pPr fontAlgn="t"/>
            <a:r>
              <a:rPr kumimoji="1" lang="ja-JP" altLang="en-US" sz="1200" b="0" i="0" kern="1200">
                <a:solidFill>
                  <a:schemeClr val="tx1"/>
                </a:solidFill>
                <a:effectLst/>
                <a:latin typeface="+mn-lt"/>
                <a:ea typeface="+mn-ea"/>
                <a:cs typeface="+mn-cs"/>
              </a:rPr>
              <a:t>ファイル名（「</a:t>
            </a:r>
            <a:r>
              <a:rPr kumimoji="1" lang="en-US" altLang="ja-JP" sz="1200" b="0" i="0" kern="1200">
                <a:solidFill>
                  <a:schemeClr val="tx1"/>
                </a:solidFill>
                <a:effectLst/>
                <a:latin typeface="+mn-lt"/>
                <a:ea typeface="+mn-ea"/>
                <a:cs typeface="+mn-cs"/>
              </a:rPr>
              <a:t>Report_202403</a:t>
            </a:r>
            <a:r>
              <a:rPr kumimoji="1" lang="ja-JP" altLang="en-US"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実務での使い方：</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メール自動返信で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「〇〇様、メッセージありがとうございます」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の “〇〇様” を差し込みたいとき、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名前を </a:t>
            </a:r>
            <a:r>
              <a:rPr kumimoji="1" lang="en-US" altLang="ja-JP" sz="1200" b="0" i="0" kern="1200">
                <a:solidFill>
                  <a:schemeClr val="tx1"/>
                </a:solidFill>
                <a:effectLst/>
                <a:latin typeface="+mn-lt"/>
                <a:ea typeface="+mn-ea"/>
                <a:cs typeface="+mn-cs"/>
              </a:rPr>
              <a:t>String </a:t>
            </a:r>
            <a:r>
              <a:rPr kumimoji="1" lang="ja-JP" altLang="en-US" sz="1200" b="0" i="0" kern="1200">
                <a:solidFill>
                  <a:schemeClr val="tx1"/>
                </a:solidFill>
                <a:effectLst/>
                <a:latin typeface="+mn-lt"/>
                <a:ea typeface="+mn-ea"/>
                <a:cs typeface="+mn-cs"/>
              </a:rPr>
              <a:t>変数に入れておきます。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Integer</a:t>
            </a:r>
            <a:r>
              <a:rPr kumimoji="1" lang="ja-JP" altLang="en-US" sz="1200" b="1" i="0" kern="1200">
                <a:solidFill>
                  <a:schemeClr val="tx1"/>
                </a:solidFill>
                <a:effectLst/>
                <a:latin typeface="+mn-lt"/>
                <a:ea typeface="+mn-ea"/>
                <a:cs typeface="+mn-cs"/>
              </a:rPr>
              <a:t>（数値）</a:t>
            </a:r>
          </a:p>
          <a:p>
            <a:pPr fontAlgn="t"/>
            <a:r>
              <a:rPr kumimoji="1" lang="ja-JP" altLang="en-US" sz="1200" b="0" i="0" kern="1200">
                <a:solidFill>
                  <a:schemeClr val="tx1"/>
                </a:solidFill>
                <a:effectLst/>
                <a:latin typeface="+mn-lt"/>
                <a:ea typeface="+mn-ea"/>
                <a:cs typeface="+mn-cs"/>
              </a:rPr>
              <a:t>数字を扱うための箱で、計算ができます。</a:t>
            </a:r>
          </a:p>
          <a:p>
            <a:pPr fontAlgn="t"/>
            <a:r>
              <a:rPr kumimoji="1" lang="ja-JP" altLang="en-US" sz="1200" b="1" i="0" kern="1200">
                <a:solidFill>
                  <a:schemeClr val="tx1"/>
                </a:solidFill>
                <a:effectLst/>
                <a:latin typeface="+mn-lt"/>
                <a:ea typeface="+mn-ea"/>
                <a:cs typeface="+mn-cs"/>
              </a:rPr>
              <a:t>例：</a:t>
            </a:r>
            <a:endParaRPr kumimoji="1" lang="ja-JP" altLang="en-US" sz="1200" b="0" i="0" kern="1200">
              <a:solidFill>
                <a:schemeClr val="tx1"/>
              </a:solidFill>
              <a:effectLst/>
              <a:latin typeface="+mn-lt"/>
              <a:ea typeface="+mn-ea"/>
              <a:cs typeface="+mn-cs"/>
            </a:endParaRPr>
          </a:p>
          <a:p>
            <a:pPr fontAlgn="t"/>
            <a:r>
              <a:rPr kumimoji="1" lang="en-US" altLang="ja-JP" sz="1200" b="0" i="0" kern="1200">
                <a:solidFill>
                  <a:schemeClr val="tx1"/>
                </a:solidFill>
                <a:effectLst/>
                <a:latin typeface="+mn-lt"/>
                <a:ea typeface="+mn-ea"/>
                <a:cs typeface="+mn-cs"/>
              </a:rPr>
              <a:t>1</a:t>
            </a:r>
          </a:p>
          <a:p>
            <a:pPr fontAlgn="t"/>
            <a:r>
              <a:rPr kumimoji="1" lang="en-US" altLang="ja-JP" sz="1200" b="0" i="0" kern="1200">
                <a:solidFill>
                  <a:schemeClr val="tx1"/>
                </a:solidFill>
                <a:effectLst/>
                <a:latin typeface="+mn-lt"/>
                <a:ea typeface="+mn-ea"/>
                <a:cs typeface="+mn-cs"/>
              </a:rPr>
              <a:t>50</a:t>
            </a:r>
          </a:p>
          <a:p>
            <a:pPr fontAlgn="t"/>
            <a:r>
              <a:rPr kumimoji="1" lang="en-US" altLang="ja-JP" sz="1200" b="0" i="0" kern="1200">
                <a:solidFill>
                  <a:schemeClr val="tx1"/>
                </a:solidFill>
                <a:effectLst/>
                <a:latin typeface="+mn-lt"/>
                <a:ea typeface="+mn-ea"/>
                <a:cs typeface="+mn-cs"/>
              </a:rPr>
              <a:t>-3</a:t>
            </a:r>
          </a:p>
          <a:p>
            <a:pPr fontAlgn="t"/>
            <a:r>
              <a:rPr kumimoji="1" lang="ja-JP" altLang="en-US" sz="1200" b="1" i="0" kern="1200">
                <a:solidFill>
                  <a:schemeClr val="tx1"/>
                </a:solidFill>
                <a:effectLst/>
                <a:latin typeface="+mn-lt"/>
                <a:ea typeface="+mn-ea"/>
                <a:cs typeface="+mn-cs"/>
              </a:rPr>
              <a:t>実務での使い方：</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「何件処理したか」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「何回ループしたか」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などをカウントしたい時に使います。</a:t>
            </a:r>
          </a:p>
          <a:p>
            <a:pPr fontAlgn="t"/>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件ごとに </a:t>
            </a:r>
            <a:r>
              <a:rPr kumimoji="1" lang="en-US" altLang="ja-JP" sz="1200" b="1"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 していけば、</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最後に「本日は </a:t>
            </a:r>
            <a:r>
              <a:rPr kumimoji="1" lang="en-US" altLang="ja-JP" sz="1200" b="0" i="0" kern="1200">
                <a:solidFill>
                  <a:schemeClr val="tx1"/>
                </a:solidFill>
                <a:effectLst/>
                <a:latin typeface="+mn-lt"/>
                <a:ea typeface="+mn-ea"/>
                <a:cs typeface="+mn-cs"/>
              </a:rPr>
              <a:t>42 </a:t>
            </a:r>
            <a:r>
              <a:rPr kumimoji="1" lang="ja-JP" altLang="en-US" sz="1200" b="0" i="0" kern="1200">
                <a:solidFill>
                  <a:schemeClr val="tx1"/>
                </a:solidFill>
                <a:effectLst/>
                <a:latin typeface="+mn-lt"/>
                <a:ea typeface="+mn-ea"/>
                <a:cs typeface="+mn-cs"/>
              </a:rPr>
              <a:t>件処理しました」のように集計できます。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（はい／いいえ）</a:t>
            </a:r>
          </a:p>
          <a:p>
            <a:pPr fontAlgn="t"/>
            <a:r>
              <a:rPr kumimoji="1" lang="en-US" altLang="ja-JP" sz="1200" b="0" i="0" kern="1200">
                <a:solidFill>
                  <a:schemeClr val="tx1"/>
                </a:solidFill>
                <a:effectLst/>
                <a:latin typeface="+mn-lt"/>
                <a:ea typeface="+mn-ea"/>
                <a:cs typeface="+mn-cs"/>
              </a:rPr>
              <a:t>Yes/No </a:t>
            </a:r>
            <a:r>
              <a:rPr kumimoji="1" lang="ja-JP" altLang="en-US" sz="1200" b="0" i="0" kern="1200">
                <a:solidFill>
                  <a:schemeClr val="tx1"/>
                </a:solidFill>
                <a:effectLst/>
                <a:latin typeface="+mn-lt"/>
                <a:ea typeface="+mn-ea"/>
                <a:cs typeface="+mn-cs"/>
              </a:rPr>
              <a:t>の判定や “状態” を扱う箱です。</a:t>
            </a:r>
          </a:p>
          <a:p>
            <a:pPr fontAlgn="t"/>
            <a:r>
              <a:rPr kumimoji="1" lang="ja-JP" altLang="en-US" sz="1200" b="1" i="0" kern="1200">
                <a:solidFill>
                  <a:schemeClr val="tx1"/>
                </a:solidFill>
                <a:effectLst/>
                <a:latin typeface="+mn-lt"/>
                <a:ea typeface="+mn-ea"/>
                <a:cs typeface="+mn-cs"/>
              </a:rPr>
              <a:t>例：</a:t>
            </a:r>
            <a:endParaRPr kumimoji="1" lang="ja-JP" altLang="en-US" sz="1200" b="0" i="0" kern="1200">
              <a:solidFill>
                <a:schemeClr val="tx1"/>
              </a:solidFill>
              <a:effectLst/>
              <a:latin typeface="+mn-lt"/>
              <a:ea typeface="+mn-ea"/>
              <a:cs typeface="+mn-cs"/>
            </a:endParaRPr>
          </a:p>
          <a:p>
            <a:pPr fontAlgn="t"/>
            <a:r>
              <a:rPr kumimoji="1" lang="en-US" altLang="ja-JP" sz="1200" b="0" i="0" kern="1200">
                <a:solidFill>
                  <a:schemeClr val="tx1"/>
                </a:solidFill>
                <a:effectLst/>
                <a:latin typeface="+mn-lt"/>
                <a:ea typeface="+mn-ea"/>
                <a:cs typeface="+mn-cs"/>
              </a:rPr>
              <a:t>true</a:t>
            </a:r>
            <a:r>
              <a:rPr kumimoji="1" lang="ja-JP" altLang="en-US" sz="1200" b="0" i="0" kern="1200">
                <a:solidFill>
                  <a:schemeClr val="tx1"/>
                </a:solidFill>
                <a:effectLst/>
                <a:latin typeface="+mn-lt"/>
                <a:ea typeface="+mn-ea"/>
                <a:cs typeface="+mn-cs"/>
              </a:rPr>
              <a:t>（はい・</a:t>
            </a:r>
            <a:r>
              <a:rPr kumimoji="1" lang="en-US" altLang="ja-JP" sz="1200" b="0" i="0" kern="1200">
                <a:solidFill>
                  <a:schemeClr val="tx1"/>
                </a:solidFill>
                <a:effectLst/>
                <a:latin typeface="+mn-lt"/>
                <a:ea typeface="+mn-ea"/>
                <a:cs typeface="+mn-cs"/>
              </a:rPr>
              <a:t>ON</a:t>
            </a:r>
            <a:r>
              <a:rPr kumimoji="1" lang="ja-JP" altLang="en-US" sz="1200" b="0" i="0" kern="1200">
                <a:solidFill>
                  <a:schemeClr val="tx1"/>
                </a:solidFill>
                <a:effectLst/>
                <a:latin typeface="+mn-lt"/>
                <a:ea typeface="+mn-ea"/>
                <a:cs typeface="+mn-cs"/>
              </a:rPr>
              <a:t>・承認）</a:t>
            </a:r>
          </a:p>
          <a:p>
            <a:pPr fontAlgn="t"/>
            <a:r>
              <a:rPr kumimoji="1" lang="en-US" altLang="ja-JP" sz="1200" b="0" i="0" kern="1200">
                <a:solidFill>
                  <a:schemeClr val="tx1"/>
                </a:solidFill>
                <a:effectLst/>
                <a:latin typeface="+mn-lt"/>
                <a:ea typeface="+mn-ea"/>
                <a:cs typeface="+mn-cs"/>
              </a:rPr>
              <a:t>false</a:t>
            </a:r>
            <a:r>
              <a:rPr kumimoji="1" lang="ja-JP" altLang="en-US" sz="1200" b="0" i="0" kern="1200">
                <a:solidFill>
                  <a:schemeClr val="tx1"/>
                </a:solidFill>
                <a:effectLst/>
                <a:latin typeface="+mn-lt"/>
                <a:ea typeface="+mn-ea"/>
                <a:cs typeface="+mn-cs"/>
              </a:rPr>
              <a:t>（いいえ・</a:t>
            </a:r>
            <a:r>
              <a:rPr kumimoji="1" lang="en-US" altLang="ja-JP" sz="1200" b="0" i="0" kern="1200">
                <a:solidFill>
                  <a:schemeClr val="tx1"/>
                </a:solidFill>
                <a:effectLst/>
                <a:latin typeface="+mn-lt"/>
                <a:ea typeface="+mn-ea"/>
                <a:cs typeface="+mn-cs"/>
              </a:rPr>
              <a:t>OFF</a:t>
            </a:r>
            <a:r>
              <a:rPr kumimoji="1" lang="ja-JP" altLang="en-US" sz="1200" b="0" i="0" kern="1200">
                <a:solidFill>
                  <a:schemeClr val="tx1"/>
                </a:solidFill>
                <a:effectLst/>
                <a:latin typeface="+mn-lt"/>
                <a:ea typeface="+mn-ea"/>
                <a:cs typeface="+mn-cs"/>
              </a:rPr>
              <a:t>・却下）</a:t>
            </a:r>
          </a:p>
          <a:p>
            <a:pPr fontAlgn="t"/>
            <a:r>
              <a:rPr kumimoji="1" lang="ja-JP" altLang="en-US" sz="1200" b="1" i="0" kern="1200">
                <a:solidFill>
                  <a:schemeClr val="tx1"/>
                </a:solidFill>
                <a:effectLst/>
                <a:latin typeface="+mn-lt"/>
                <a:ea typeface="+mn-ea"/>
                <a:cs typeface="+mn-cs"/>
              </a:rPr>
              <a:t>実務での使い方：</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承認ワークフローで、</a:t>
            </a:r>
          </a:p>
          <a:p>
            <a:pPr fontAlgn="t"/>
            <a:r>
              <a:rPr kumimoji="1" lang="ja-JP" altLang="en-US" sz="1200" b="0" i="0" kern="1200">
                <a:solidFill>
                  <a:schemeClr val="tx1"/>
                </a:solidFill>
                <a:effectLst/>
                <a:latin typeface="+mn-lt"/>
                <a:ea typeface="+mn-ea"/>
                <a:cs typeface="+mn-cs"/>
              </a:rPr>
              <a:t>承認 → </a:t>
            </a:r>
            <a:r>
              <a:rPr kumimoji="1" lang="en-US" altLang="ja-JP" sz="1200" b="0" i="0" kern="1200">
                <a:solidFill>
                  <a:schemeClr val="tx1"/>
                </a:solidFill>
                <a:effectLst/>
                <a:latin typeface="+mn-lt"/>
                <a:ea typeface="+mn-ea"/>
                <a:cs typeface="+mn-cs"/>
              </a:rPr>
              <a:t>true</a:t>
            </a:r>
          </a:p>
          <a:p>
            <a:pPr fontAlgn="t"/>
            <a:r>
              <a:rPr kumimoji="1" lang="ja-JP" altLang="en-US" sz="1200" b="0" i="0" kern="1200">
                <a:solidFill>
                  <a:schemeClr val="tx1"/>
                </a:solidFill>
                <a:effectLst/>
                <a:latin typeface="+mn-lt"/>
                <a:ea typeface="+mn-ea"/>
                <a:cs typeface="+mn-cs"/>
              </a:rPr>
              <a:t>却下 → </a:t>
            </a:r>
            <a:r>
              <a:rPr kumimoji="1" lang="en-US" altLang="ja-JP" sz="1200" b="0" i="0" kern="1200">
                <a:solidFill>
                  <a:schemeClr val="tx1"/>
                </a:solidFill>
                <a:effectLst/>
                <a:latin typeface="+mn-lt"/>
                <a:ea typeface="+mn-ea"/>
                <a:cs typeface="+mn-cs"/>
              </a:rPr>
              <a:t>false</a:t>
            </a:r>
            <a:br>
              <a:rPr kumimoji="1" lang="en-US" altLang="ja-JP"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としておき、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後続で分岐（</a:t>
            </a:r>
            <a:r>
              <a:rPr kumimoji="1" lang="en-US" altLang="ja-JP" sz="1200" b="0" i="0" kern="1200">
                <a:solidFill>
                  <a:schemeClr val="tx1"/>
                </a:solidFill>
                <a:effectLst/>
                <a:latin typeface="+mn-lt"/>
                <a:ea typeface="+mn-ea"/>
                <a:cs typeface="+mn-cs"/>
              </a:rPr>
              <a:t>IF</a:t>
            </a:r>
            <a:r>
              <a:rPr kumimoji="1" lang="ja-JP" altLang="en-US" sz="1200" b="0" i="0" kern="1200">
                <a:solidFill>
                  <a:schemeClr val="tx1"/>
                </a:solidFill>
                <a:effectLst/>
                <a:latin typeface="+mn-lt"/>
                <a:ea typeface="+mn-ea"/>
                <a:cs typeface="+mn-cs"/>
              </a:rPr>
              <a:t>処理）をする時に使います。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型を先に決めるのは“事故防止”</a:t>
            </a:r>
          </a:p>
          <a:p>
            <a:pPr fontAlgn="t"/>
            <a:r>
              <a:rPr kumimoji="1" lang="ja-JP" altLang="en-US" sz="1200" b="0" i="0" kern="1200">
                <a:solidFill>
                  <a:schemeClr val="tx1"/>
                </a:solidFill>
                <a:effectLst/>
                <a:latin typeface="+mn-lt"/>
                <a:ea typeface="+mn-ea"/>
                <a:cs typeface="+mn-cs"/>
              </a:rPr>
              <a:t>型を先に決めておくことで、</a:t>
            </a:r>
          </a:p>
          <a:p>
            <a:pPr fontAlgn="t"/>
            <a:r>
              <a:rPr kumimoji="1" lang="ja-JP" altLang="en-US" sz="1200" b="0" i="0" kern="1200">
                <a:solidFill>
                  <a:schemeClr val="tx1"/>
                </a:solidFill>
                <a:effectLst/>
                <a:latin typeface="+mn-lt"/>
                <a:ea typeface="+mn-ea"/>
                <a:cs typeface="+mn-cs"/>
              </a:rPr>
              <a:t>文字を数値として計算してしまう</a:t>
            </a:r>
          </a:p>
          <a:p>
            <a:pPr fontAlgn="t"/>
            <a:r>
              <a:rPr kumimoji="1" lang="en-US" altLang="ja-JP" sz="1200" b="0" i="0" kern="1200">
                <a:solidFill>
                  <a:schemeClr val="tx1"/>
                </a:solidFill>
                <a:effectLst/>
                <a:latin typeface="+mn-lt"/>
                <a:ea typeface="+mn-ea"/>
                <a:cs typeface="+mn-cs"/>
              </a:rPr>
              <a:t>true/false </a:t>
            </a:r>
            <a:r>
              <a:rPr kumimoji="1" lang="ja-JP" altLang="en-US" sz="1200" b="0" i="0" kern="1200">
                <a:solidFill>
                  <a:schemeClr val="tx1"/>
                </a:solidFill>
                <a:effectLst/>
                <a:latin typeface="+mn-lt"/>
                <a:ea typeface="+mn-ea"/>
                <a:cs typeface="+mn-cs"/>
              </a:rPr>
              <a:t>のつもりが「</a:t>
            </a:r>
            <a:r>
              <a:rPr kumimoji="1" lang="en-US" altLang="ja-JP" sz="1200" b="0" i="0" kern="1200">
                <a:solidFill>
                  <a:schemeClr val="tx1"/>
                </a:solidFill>
                <a:effectLst/>
                <a:latin typeface="+mn-lt"/>
                <a:ea typeface="+mn-ea"/>
                <a:cs typeface="+mn-cs"/>
              </a:rPr>
              <a:t>true</a:t>
            </a:r>
            <a:r>
              <a:rPr kumimoji="1" lang="ja-JP" altLang="en-US" sz="1200" b="0" i="0" kern="1200">
                <a:solidFill>
                  <a:schemeClr val="tx1"/>
                </a:solidFill>
                <a:effectLst/>
                <a:latin typeface="+mn-lt"/>
                <a:ea typeface="+mn-ea"/>
                <a:cs typeface="+mn-cs"/>
              </a:rPr>
              <a:t>」という文字になってしまう</a:t>
            </a:r>
          </a:p>
          <a:p>
            <a:pPr fontAlgn="t"/>
            <a:r>
              <a:rPr kumimoji="1" lang="ja-JP" altLang="en-US" sz="1200" b="0" i="0" kern="1200">
                <a:solidFill>
                  <a:schemeClr val="tx1"/>
                </a:solidFill>
                <a:effectLst/>
                <a:latin typeface="+mn-lt"/>
                <a:ea typeface="+mn-ea"/>
                <a:cs typeface="+mn-cs"/>
              </a:rPr>
              <a:t>期待した動きをしない</a:t>
            </a:r>
          </a:p>
          <a:p>
            <a:pPr fontAlgn="t"/>
            <a:r>
              <a:rPr kumimoji="1" lang="ja-JP" altLang="en-US" sz="1200" b="0" i="0" kern="1200">
                <a:solidFill>
                  <a:schemeClr val="tx1"/>
                </a:solidFill>
                <a:effectLst/>
                <a:latin typeface="+mn-lt"/>
                <a:ea typeface="+mn-ea"/>
                <a:cs typeface="+mn-cs"/>
              </a:rPr>
              <a:t>といったミスを防ぐことができます。</a:t>
            </a:r>
          </a:p>
          <a:p>
            <a:pPr fontAlgn="t"/>
            <a:r>
              <a:rPr kumimoji="1" lang="ja-JP" altLang="en-US" sz="1200" b="0" i="0" kern="1200">
                <a:solidFill>
                  <a:schemeClr val="tx1"/>
                </a:solidFill>
                <a:effectLst/>
                <a:latin typeface="+mn-lt"/>
                <a:ea typeface="+mn-ea"/>
                <a:cs typeface="+mn-cs"/>
              </a:rPr>
              <a:t>初心者の方がつまずきやすいポイントなので、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「まずは型を決める」</a:t>
            </a:r>
            <a:r>
              <a:rPr kumimoji="1" lang="ja-JP" altLang="en-US" sz="1200" b="0" i="0" kern="1200">
                <a:solidFill>
                  <a:schemeClr val="tx1"/>
                </a:solidFill>
                <a:effectLst/>
                <a:latin typeface="+mn-lt"/>
                <a:ea typeface="+mn-ea"/>
                <a:cs typeface="+mn-cs"/>
              </a:rPr>
              <a:t> という意識がとても大切です。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まとめ（講師コメント）</a:t>
            </a:r>
          </a:p>
          <a:p>
            <a:pPr fontAlgn="t"/>
            <a:r>
              <a:rPr kumimoji="1" lang="ja-JP" altLang="en-US" sz="1200" b="0" i="0" kern="1200">
                <a:solidFill>
                  <a:schemeClr val="tx1"/>
                </a:solidFill>
                <a:effectLst/>
                <a:latin typeface="+mn-lt"/>
                <a:ea typeface="+mn-ea"/>
                <a:cs typeface="+mn-cs"/>
              </a:rPr>
              <a:t>変数は、実務フローを作る上で </a:t>
            </a:r>
            <a:r>
              <a:rPr kumimoji="1" lang="ja-JP" altLang="en-US" sz="1200" b="1" i="0" kern="1200">
                <a:solidFill>
                  <a:schemeClr val="tx1"/>
                </a:solidFill>
                <a:effectLst/>
                <a:latin typeface="+mn-lt"/>
                <a:ea typeface="+mn-ea"/>
                <a:cs typeface="+mn-cs"/>
              </a:rPr>
              <a:t>本当によく使う仕組み</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今日のハンズオンでは、</a:t>
            </a:r>
          </a:p>
          <a:p>
            <a:pPr fontAlgn="t"/>
            <a:r>
              <a:rPr kumimoji="1" lang="ja-JP" altLang="en-US" sz="1200" b="0" i="0" kern="1200">
                <a:solidFill>
                  <a:schemeClr val="tx1"/>
                </a:solidFill>
                <a:effectLst/>
                <a:latin typeface="+mn-lt"/>
                <a:ea typeface="+mn-ea"/>
                <a:cs typeface="+mn-cs"/>
              </a:rPr>
              <a:t>変数に名前をつける</a:t>
            </a:r>
          </a:p>
          <a:p>
            <a:pPr fontAlgn="t"/>
            <a:r>
              <a:rPr kumimoji="1" lang="ja-JP" altLang="en-US" sz="1200" b="0" i="0" kern="1200">
                <a:solidFill>
                  <a:schemeClr val="tx1"/>
                </a:solidFill>
                <a:effectLst/>
                <a:latin typeface="+mn-lt"/>
                <a:ea typeface="+mn-ea"/>
                <a:cs typeface="+mn-cs"/>
              </a:rPr>
              <a:t>型を決める</a:t>
            </a:r>
          </a:p>
          <a:p>
            <a:pPr fontAlgn="t"/>
            <a:r>
              <a:rPr kumimoji="1" lang="ja-JP" altLang="en-US" sz="1200" b="0" i="0" kern="1200">
                <a:solidFill>
                  <a:schemeClr val="tx1"/>
                </a:solidFill>
                <a:effectLst/>
                <a:latin typeface="+mn-lt"/>
                <a:ea typeface="+mn-ea"/>
                <a:cs typeface="+mn-cs"/>
              </a:rPr>
              <a:t>初期値を入れる</a:t>
            </a:r>
          </a:p>
          <a:p>
            <a:pPr fontAlgn="t"/>
            <a:r>
              <a:rPr kumimoji="1" lang="ja-JP" altLang="en-US" sz="1200" b="0" i="0" kern="1200">
                <a:solidFill>
                  <a:schemeClr val="tx1"/>
                </a:solidFill>
                <a:effectLst/>
                <a:latin typeface="+mn-lt"/>
                <a:ea typeface="+mn-ea"/>
                <a:cs typeface="+mn-cs"/>
              </a:rPr>
              <a:t>ここまでを一緒に体験していきますので、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まずは </a:t>
            </a:r>
            <a:r>
              <a:rPr kumimoji="1" lang="ja-JP" altLang="en-US" sz="1200" b="1" i="0" kern="1200">
                <a:solidFill>
                  <a:schemeClr val="tx1"/>
                </a:solidFill>
                <a:effectLst/>
                <a:latin typeface="+mn-lt"/>
                <a:ea typeface="+mn-ea"/>
                <a:cs typeface="+mn-cs"/>
              </a:rPr>
              <a:t>“箱を作る”</a:t>
            </a:r>
            <a:r>
              <a:rPr kumimoji="1" lang="ja-JP" altLang="en-US" sz="1200" b="0" i="0" kern="1200">
                <a:solidFill>
                  <a:schemeClr val="tx1"/>
                </a:solidFill>
                <a:effectLst/>
                <a:latin typeface="+mn-lt"/>
                <a:ea typeface="+mn-ea"/>
                <a:cs typeface="+mn-cs"/>
              </a:rPr>
              <a:t> イメージをしっかり掴んでいきましょう。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20:34</a:t>
            </a:r>
          </a:p>
          <a:p>
            <a:pPr fontAlgn="t"/>
            <a:endParaRPr kumimoji="1" lang="en-US" altLang="ja-JP"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ここでは、「今日これから作るフローの全体像」を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先にざっくりイメージとしてつかんでいただきます。</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“上から順に処理されていく”</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という非常にシンプルな構造をしています。</a:t>
            </a:r>
          </a:p>
          <a:p>
            <a:pPr fontAlgn="t"/>
            <a:r>
              <a:rPr kumimoji="1" lang="ja-JP" altLang="en-US" sz="1200" b="0" i="0" kern="1200">
                <a:solidFill>
                  <a:schemeClr val="tx1"/>
                </a:solidFill>
                <a:effectLst/>
                <a:latin typeface="+mn-lt"/>
                <a:ea typeface="+mn-ea"/>
                <a:cs typeface="+mn-cs"/>
              </a:rPr>
              <a:t>今日作るフローは３ステップだけなので、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今この段階で全体を理解しておくと、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この後のハンズオンがとてもスムーズになります。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今日作るフローの全体像（</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ステップ）</a:t>
            </a:r>
          </a:p>
          <a:p>
            <a:pPr fontAlgn="t"/>
            <a:r>
              <a:rPr kumimoji="1" lang="ja-JP" altLang="en-US" sz="1200" b="1" i="0" kern="1200">
                <a:solidFill>
                  <a:schemeClr val="tx1"/>
                </a:solidFill>
                <a:effectLst/>
                <a:latin typeface="+mn-lt"/>
                <a:ea typeface="+mn-ea"/>
                <a:cs typeface="+mn-cs"/>
              </a:rPr>
              <a:t>① トリガー：手動でフローを開始する</a:t>
            </a:r>
          </a:p>
          <a:p>
            <a:pPr fontAlgn="t"/>
            <a:r>
              <a:rPr kumimoji="1" lang="ja-JP" altLang="en-US" sz="1200" b="0" i="0" kern="1200">
                <a:solidFill>
                  <a:schemeClr val="tx1"/>
                </a:solidFill>
                <a:effectLst/>
                <a:latin typeface="+mn-lt"/>
                <a:ea typeface="+mn-ea"/>
                <a:cs typeface="+mn-cs"/>
              </a:rPr>
              <a:t>最初に、</a:t>
            </a:r>
            <a:r>
              <a:rPr kumimoji="1" lang="ja-JP" altLang="en-US" sz="1200" b="1" i="0" kern="1200">
                <a:solidFill>
                  <a:schemeClr val="tx1"/>
                </a:solidFill>
                <a:effectLst/>
                <a:latin typeface="+mn-lt"/>
                <a:ea typeface="+mn-ea"/>
                <a:cs typeface="+mn-cs"/>
              </a:rPr>
              <a:t>「手動でボタンを押したら始まる」</a:t>
            </a:r>
            <a:r>
              <a:rPr kumimoji="1" lang="ja-JP" altLang="en-US" sz="1200" b="0" i="0" kern="1200">
                <a:solidFill>
                  <a:schemeClr val="tx1"/>
                </a:solidFill>
                <a:effectLst/>
                <a:latin typeface="+mn-lt"/>
                <a:ea typeface="+mn-ea"/>
                <a:cs typeface="+mn-cs"/>
              </a:rPr>
              <a:t> フローを使います。</a:t>
            </a:r>
          </a:p>
          <a:p>
            <a:pPr fontAlgn="t"/>
            <a:r>
              <a:rPr kumimoji="1" lang="ja-JP" altLang="en-US" sz="1200" b="0" i="0" kern="1200">
                <a:solidFill>
                  <a:schemeClr val="tx1"/>
                </a:solidFill>
                <a:effectLst/>
                <a:latin typeface="+mn-lt"/>
                <a:ea typeface="+mn-ea"/>
                <a:cs typeface="+mn-cs"/>
              </a:rPr>
              <a:t>例えるなら、</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Start </a:t>
            </a:r>
            <a:r>
              <a:rPr kumimoji="1" lang="ja-JP" altLang="en-US" sz="1200" b="0" i="0" kern="1200">
                <a:solidFill>
                  <a:schemeClr val="tx1"/>
                </a:solidFill>
                <a:effectLst/>
                <a:latin typeface="+mn-lt"/>
                <a:ea typeface="+mn-ea"/>
                <a:cs typeface="+mn-cs"/>
              </a:rPr>
              <a:t>ボタンを押した瞬間に処理がスタートする」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そんなイメージです。</a:t>
            </a:r>
          </a:p>
          <a:p>
            <a:pPr fontAlgn="t"/>
            <a:r>
              <a:rPr kumimoji="1" lang="ja-JP" altLang="en-US" sz="1200" b="0" i="0" kern="1200">
                <a:solidFill>
                  <a:schemeClr val="tx1"/>
                </a:solidFill>
                <a:effectLst/>
                <a:latin typeface="+mn-lt"/>
                <a:ea typeface="+mn-ea"/>
                <a:cs typeface="+mn-cs"/>
              </a:rPr>
              <a:t>実務では、</a:t>
            </a:r>
          </a:p>
          <a:p>
            <a:pPr fontAlgn="t"/>
            <a:r>
              <a:rPr kumimoji="1" lang="ja-JP" altLang="en-US" sz="1200" b="0" i="0" kern="1200">
                <a:solidFill>
                  <a:schemeClr val="tx1"/>
                </a:solidFill>
                <a:effectLst/>
                <a:latin typeface="+mn-lt"/>
                <a:ea typeface="+mn-ea"/>
                <a:cs typeface="+mn-cs"/>
              </a:rPr>
              <a:t>デバッグするとき</a:t>
            </a:r>
          </a:p>
          <a:p>
            <a:pPr fontAlgn="t"/>
            <a:r>
              <a:rPr kumimoji="1" lang="ja-JP" altLang="en-US" sz="1200" b="0" i="0" kern="1200">
                <a:solidFill>
                  <a:schemeClr val="tx1"/>
                </a:solidFill>
                <a:effectLst/>
                <a:latin typeface="+mn-lt"/>
                <a:ea typeface="+mn-ea"/>
                <a:cs typeface="+mn-cs"/>
              </a:rPr>
              <a:t>学習用サンプルを作るとき</a:t>
            </a:r>
          </a:p>
          <a:p>
            <a:pPr fontAlgn="t"/>
            <a:r>
              <a:rPr kumimoji="1" lang="ja-JP" altLang="en-US" sz="1200" b="0" i="0" kern="1200">
                <a:solidFill>
                  <a:schemeClr val="tx1"/>
                </a:solidFill>
                <a:effectLst/>
                <a:latin typeface="+mn-lt"/>
                <a:ea typeface="+mn-ea"/>
                <a:cs typeface="+mn-cs"/>
              </a:rPr>
              <a:t>テストの動作確認をするとき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などに「手動トリガー」はとてもよく使われます。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（変数を初期化）</a:t>
            </a:r>
          </a:p>
          <a:p>
            <a:pPr fontAlgn="t"/>
            <a:r>
              <a:rPr kumimoji="1" lang="ja-JP" altLang="en-US" sz="1200" b="0" i="0" kern="1200">
                <a:solidFill>
                  <a:schemeClr val="tx1"/>
                </a:solidFill>
                <a:effectLst/>
                <a:latin typeface="+mn-lt"/>
                <a:ea typeface="+mn-ea"/>
                <a:cs typeface="+mn-cs"/>
              </a:rPr>
              <a:t>続いて、今日の本題である</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“変数（＝保管用の箱）を作る”</a:t>
            </a:r>
            <a:r>
              <a:rPr kumimoji="1" lang="ja-JP" altLang="en-US" sz="1200" b="0" i="0" kern="1200">
                <a:solidFill>
                  <a:schemeClr val="tx1"/>
                </a:solidFill>
                <a:effectLst/>
                <a:latin typeface="+mn-lt"/>
                <a:ea typeface="+mn-ea"/>
                <a:cs typeface="+mn-cs"/>
              </a:rPr>
              <a:t> ステップです。</a:t>
            </a:r>
          </a:p>
          <a:p>
            <a:pPr fontAlgn="t"/>
            <a:r>
              <a:rPr kumimoji="1" lang="ja-JP" altLang="en-US" sz="1200" b="0" i="0" kern="1200">
                <a:solidFill>
                  <a:schemeClr val="tx1"/>
                </a:solidFill>
                <a:effectLst/>
                <a:latin typeface="+mn-lt"/>
                <a:ea typeface="+mn-ea"/>
                <a:cs typeface="+mn-cs"/>
              </a:rPr>
              <a:t>ここでは、</a:t>
            </a:r>
          </a:p>
          <a:p>
            <a:pPr fontAlgn="t"/>
            <a:r>
              <a:rPr kumimoji="1" lang="ja-JP" altLang="en-US" sz="1200" b="0" i="0" kern="1200">
                <a:solidFill>
                  <a:schemeClr val="tx1"/>
                </a:solidFill>
                <a:effectLst/>
                <a:latin typeface="+mn-lt"/>
                <a:ea typeface="+mn-ea"/>
                <a:cs typeface="+mn-cs"/>
              </a:rPr>
              <a:t>変数の名前</a:t>
            </a:r>
          </a:p>
          <a:p>
            <a:pPr fontAlgn="t"/>
            <a:r>
              <a:rPr kumimoji="1" lang="ja-JP" altLang="en-US" sz="1200" b="0" i="0" kern="1200">
                <a:solidFill>
                  <a:schemeClr val="tx1"/>
                </a:solidFill>
                <a:effectLst/>
                <a:latin typeface="+mn-lt"/>
                <a:ea typeface="+mn-ea"/>
                <a:cs typeface="+mn-cs"/>
              </a:rPr>
              <a:t>変数の型（文字・数値など）</a:t>
            </a:r>
          </a:p>
          <a:p>
            <a:pPr fontAlgn="t"/>
            <a:r>
              <a:rPr kumimoji="1" lang="ja-JP" altLang="en-US" sz="1200" b="0" i="0" kern="1200">
                <a:solidFill>
                  <a:schemeClr val="tx1"/>
                </a:solidFill>
                <a:effectLst/>
                <a:latin typeface="+mn-lt"/>
                <a:ea typeface="+mn-ea"/>
                <a:cs typeface="+mn-cs"/>
              </a:rPr>
              <a:t>初期値（最初に入れておく値）</a:t>
            </a:r>
          </a:p>
          <a:p>
            <a:pPr fontAlgn="t"/>
            <a:r>
              <a:rPr kumimoji="1" lang="ja-JP" altLang="en-US" sz="1200" b="0" i="0" kern="1200">
                <a:solidFill>
                  <a:schemeClr val="tx1"/>
                </a:solidFill>
                <a:effectLst/>
                <a:latin typeface="+mn-lt"/>
                <a:ea typeface="+mn-ea"/>
                <a:cs typeface="+mn-cs"/>
              </a:rPr>
              <a:t>の３つを設定します。</a:t>
            </a:r>
          </a:p>
          <a:p>
            <a:pPr fontAlgn="t"/>
            <a:r>
              <a:rPr kumimoji="1" lang="ja-JP" altLang="en-US" sz="1200" b="0" i="0" kern="1200">
                <a:solidFill>
                  <a:schemeClr val="tx1"/>
                </a:solidFill>
                <a:effectLst/>
                <a:latin typeface="+mn-lt"/>
                <a:ea typeface="+mn-ea"/>
                <a:cs typeface="+mn-cs"/>
              </a:rPr>
              <a:t>例えると、</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「名前が書かれた小さな箱を組み立てて、最初に入れておくものも決める」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そんなイメージです。</a:t>
            </a:r>
          </a:p>
          <a:p>
            <a:pPr fontAlgn="t"/>
            <a:r>
              <a:rPr kumimoji="1" lang="ja-JP" altLang="en-US" sz="1200" b="0" i="0" kern="1200">
                <a:solidFill>
                  <a:schemeClr val="tx1"/>
                </a:solidFill>
                <a:effectLst/>
                <a:latin typeface="+mn-lt"/>
                <a:ea typeface="+mn-ea"/>
                <a:cs typeface="+mn-cs"/>
              </a:rPr>
              <a:t>今日のハンズオンでは、</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 という名前の </a:t>
            </a:r>
            <a:r>
              <a:rPr kumimoji="1" lang="ja-JP" altLang="en-US" sz="1200" b="1" i="0" kern="1200">
                <a:solidFill>
                  <a:schemeClr val="tx1"/>
                </a:solidFill>
                <a:effectLst/>
                <a:latin typeface="+mn-lt"/>
                <a:ea typeface="+mn-ea"/>
                <a:cs typeface="+mn-cs"/>
              </a:rPr>
              <a:t>文字（</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）型の箱</a:t>
            </a:r>
            <a:r>
              <a:rPr kumimoji="1" lang="ja-JP" altLang="en-US" sz="1200" b="0" i="0" kern="1200">
                <a:solidFill>
                  <a:schemeClr val="tx1"/>
                </a:solidFill>
                <a:effectLst/>
                <a:latin typeface="+mn-lt"/>
                <a:ea typeface="+mn-ea"/>
                <a:cs typeface="+mn-cs"/>
              </a:rPr>
              <a:t> を作り、</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その中に「</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、はじめまして！」のような文字を入れます。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（変数の中身を確認）</a:t>
            </a:r>
          </a:p>
          <a:p>
            <a:pPr fontAlgn="t"/>
            <a:r>
              <a:rPr kumimoji="1" lang="ja-JP" altLang="en-US" sz="1200" b="0" i="0" kern="1200">
                <a:solidFill>
                  <a:schemeClr val="tx1"/>
                </a:solidFill>
                <a:effectLst/>
                <a:latin typeface="+mn-lt"/>
                <a:ea typeface="+mn-ea"/>
                <a:cs typeface="+mn-cs"/>
              </a:rPr>
              <a:t>最後に、作った変数が正しく動いているか</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「窓」からのぞくように中身を確認するステップ</a:t>
            </a:r>
            <a:r>
              <a:rPr kumimoji="1" lang="ja-JP" altLang="en-US" sz="1200" b="0" i="0" kern="1200">
                <a:solidFill>
                  <a:schemeClr val="tx1"/>
                </a:solidFill>
                <a:effectLst/>
                <a:latin typeface="+mn-lt"/>
                <a:ea typeface="+mn-ea"/>
                <a:cs typeface="+mn-cs"/>
              </a:rPr>
              <a:t> が </a:t>
            </a:r>
            <a:r>
              <a:rPr kumimoji="1" lang="en-US" altLang="ja-JP" sz="1200" b="0" i="0" kern="1200">
                <a:solidFill>
                  <a:schemeClr val="tx1"/>
                </a:solidFill>
                <a:effectLst/>
                <a:latin typeface="+mn-lt"/>
                <a:ea typeface="+mn-ea"/>
                <a:cs typeface="+mn-cs"/>
              </a:rPr>
              <a:t>Compose </a:t>
            </a:r>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イメージとしては、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「今この箱の中に何が入っているのか？」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をそのまま画面に表示してくれる動作です。</a:t>
            </a:r>
          </a:p>
          <a:p>
            <a:pPr fontAlgn="t"/>
            <a:r>
              <a:rPr kumimoji="1" lang="ja-JP" altLang="en-US" sz="1200" b="0" i="0" kern="1200">
                <a:solidFill>
                  <a:schemeClr val="tx1"/>
                </a:solidFill>
                <a:effectLst/>
                <a:latin typeface="+mn-lt"/>
                <a:ea typeface="+mn-ea"/>
                <a:cs typeface="+mn-cs"/>
              </a:rPr>
              <a:t>今日のハンズオンでは、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動的コンテンツから </a:t>
            </a:r>
            <a:r>
              <a:rPr kumimoji="1" lang="en-US" altLang="ja-JP" sz="1200" b="0"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 を選んで表示します。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ここで意識してほしいポイント</a:t>
            </a:r>
          </a:p>
          <a:p>
            <a:pPr fontAlgn="t"/>
            <a:r>
              <a:rPr kumimoji="1" lang="ja-JP" altLang="en-US" sz="1200" b="0" i="0" kern="1200">
                <a:solidFill>
                  <a:schemeClr val="tx1"/>
                </a:solidFill>
                <a:effectLst/>
                <a:latin typeface="+mn-lt"/>
                <a:ea typeface="+mn-ea"/>
                <a:cs typeface="+mn-cs"/>
              </a:rPr>
              <a:t>この３ステップを流れで理解すると、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今日の学びが一気にスッと入ってきます。</a:t>
            </a:r>
          </a:p>
          <a:p>
            <a:pPr fontAlgn="t"/>
            <a:r>
              <a:rPr kumimoji="1" lang="ja-JP" altLang="en-US" sz="1200" b="0" i="0" kern="1200">
                <a:solidFill>
                  <a:schemeClr val="tx1"/>
                </a:solidFill>
                <a:effectLst/>
                <a:latin typeface="+mn-lt"/>
                <a:ea typeface="+mn-ea"/>
                <a:cs typeface="+mn-cs"/>
              </a:rPr>
              <a:t>フローは上から下に順番に処理される</a:t>
            </a:r>
          </a:p>
          <a:p>
            <a:pPr fontAlgn="t"/>
            <a:r>
              <a:rPr kumimoji="1" lang="ja-JP" altLang="en-US" sz="1200" b="0" i="0" kern="1200">
                <a:solidFill>
                  <a:schemeClr val="tx1"/>
                </a:solidFill>
                <a:effectLst/>
                <a:latin typeface="+mn-lt"/>
                <a:ea typeface="+mn-ea"/>
                <a:cs typeface="+mn-cs"/>
              </a:rPr>
              <a:t>“変数を作る” → “中身を見る” という順番は絶対</a:t>
            </a:r>
          </a:p>
          <a:p>
            <a:pPr fontAlgn="t"/>
            <a:r>
              <a:rPr kumimoji="1" lang="en-US" altLang="ja-JP" sz="1200" b="0" i="0" kern="1200">
                <a:solidFill>
                  <a:schemeClr val="tx1"/>
                </a:solidFill>
                <a:effectLst/>
                <a:latin typeface="+mn-lt"/>
                <a:ea typeface="+mn-ea"/>
                <a:cs typeface="+mn-cs"/>
              </a:rPr>
              <a:t>Compose </a:t>
            </a:r>
            <a:r>
              <a:rPr kumimoji="1" lang="ja-JP" altLang="en-US" sz="1200" b="0" i="0" kern="1200">
                <a:solidFill>
                  <a:schemeClr val="tx1"/>
                </a:solidFill>
                <a:effectLst/>
                <a:latin typeface="+mn-lt"/>
                <a:ea typeface="+mn-ea"/>
                <a:cs typeface="+mn-cs"/>
              </a:rPr>
              <a:t>は「デバッグ（確認）」にとても役立つ</a:t>
            </a:r>
          </a:p>
          <a:p>
            <a:pPr fontAlgn="t"/>
            <a:r>
              <a:rPr kumimoji="1" lang="ja-JP" altLang="en-US" sz="1200" b="0" i="0" kern="1200">
                <a:solidFill>
                  <a:schemeClr val="tx1"/>
                </a:solidFill>
                <a:effectLst/>
                <a:latin typeface="+mn-lt"/>
                <a:ea typeface="+mn-ea"/>
                <a:cs typeface="+mn-cs"/>
              </a:rPr>
              <a:t>実務でもこの構成は頻繁に登場する</a:t>
            </a:r>
          </a:p>
          <a:p>
            <a:pPr fontAlgn="t"/>
            <a:r>
              <a:rPr kumimoji="1" lang="ja-JP" altLang="en-US" sz="1200" b="0" i="0" kern="1200">
                <a:solidFill>
                  <a:schemeClr val="tx1"/>
                </a:solidFill>
                <a:effectLst/>
                <a:latin typeface="+mn-lt"/>
                <a:ea typeface="+mn-ea"/>
                <a:cs typeface="+mn-cs"/>
              </a:rPr>
              <a:t>特に </a:t>
            </a:r>
            <a:r>
              <a:rPr kumimoji="1" lang="en-US" altLang="ja-JP" sz="1200" b="0" i="0" kern="1200">
                <a:solidFill>
                  <a:schemeClr val="tx1"/>
                </a:solidFill>
                <a:effectLst/>
                <a:latin typeface="+mn-lt"/>
                <a:ea typeface="+mn-ea"/>
                <a:cs typeface="+mn-cs"/>
              </a:rPr>
              <a:t>Compose </a:t>
            </a:r>
            <a:r>
              <a:rPr kumimoji="1" lang="ja-JP" altLang="en-US" sz="1200" b="0" i="0" kern="1200">
                <a:solidFill>
                  <a:schemeClr val="tx1"/>
                </a:solidFill>
                <a:effectLst/>
                <a:latin typeface="+mn-lt"/>
                <a:ea typeface="+mn-ea"/>
                <a:cs typeface="+mn-cs"/>
              </a:rPr>
              <a:t>は初心者が苦手な「どこが間違っているのか？」を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視覚的に確認できるので、実務でも頻繁に使われます。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20:36</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10</a:t>
            </a:r>
            <a:r>
              <a:rPr kumimoji="1" lang="ja-JP" altLang="en-US" sz="1200" b="1" i="0" kern="1200">
                <a:solidFill>
                  <a:schemeClr val="tx1"/>
                </a:solidFill>
                <a:effectLst/>
                <a:latin typeface="+mn-lt"/>
                <a:ea typeface="+mn-ea"/>
                <a:cs typeface="+mn-cs"/>
              </a:rPr>
              <a:t>｜チェックポイント（</a:t>
            </a:r>
            <a:r>
              <a:rPr kumimoji="1" lang="en-US" altLang="ja-JP" sz="1200" b="1" i="0" kern="1200">
                <a:solidFill>
                  <a:schemeClr val="tx1"/>
                </a:solidFill>
                <a:effectLst/>
                <a:latin typeface="+mn-lt"/>
                <a:ea typeface="+mn-ea"/>
                <a:cs typeface="+mn-cs"/>
              </a:rPr>
              <a:t>20:36〜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変数操作でつまずきやすいポイントは</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つです。</a:t>
            </a:r>
          </a:p>
          <a:p>
            <a:pPr fontAlgn="t"/>
            <a:r>
              <a:rPr kumimoji="1" lang="ja-JP" altLang="en-US" sz="1200" b="0" i="0" kern="1200">
                <a:solidFill>
                  <a:schemeClr val="tx1"/>
                </a:solidFill>
                <a:effectLst/>
                <a:latin typeface="+mn-lt"/>
                <a:ea typeface="+mn-ea"/>
                <a:cs typeface="+mn-cs"/>
              </a:rPr>
              <a:t>① </a:t>
            </a:r>
            <a:r>
              <a:rPr kumimoji="1" lang="ja-JP" altLang="en-US" sz="1200" b="1" i="0" kern="1200">
                <a:solidFill>
                  <a:schemeClr val="tx1"/>
                </a:solidFill>
                <a:effectLst/>
                <a:latin typeface="+mn-lt"/>
                <a:ea typeface="+mn-ea"/>
                <a:cs typeface="+mn-cs"/>
              </a:rPr>
              <a:t>型を間違えている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（例：数値を入れたいのに</a:t>
            </a:r>
            <a:r>
              <a:rPr kumimoji="1" lang="en-US" altLang="ja-JP" sz="1200" b="0" i="0" kern="1200">
                <a:solidFill>
                  <a:schemeClr val="tx1"/>
                </a:solidFill>
                <a:effectLst/>
                <a:latin typeface="+mn-lt"/>
                <a:ea typeface="+mn-ea"/>
                <a:cs typeface="+mn-cs"/>
              </a:rPr>
              <a:t>String</a:t>
            </a:r>
            <a:r>
              <a:rPr kumimoji="1" lang="ja-JP" altLang="en-US" sz="1200" b="0" i="0" kern="1200">
                <a:solidFill>
                  <a:schemeClr val="tx1"/>
                </a:solidFill>
                <a:effectLst/>
                <a:latin typeface="+mn-lt"/>
                <a:ea typeface="+mn-ea"/>
                <a:cs typeface="+mn-cs"/>
              </a:rPr>
              <a:t>にしてしまう）</a:t>
            </a:r>
          </a:p>
          <a:p>
            <a:pPr fontAlgn="t"/>
            <a:r>
              <a:rPr kumimoji="1" lang="ja-JP" altLang="en-US" sz="1200" b="0" i="0" kern="1200">
                <a:solidFill>
                  <a:schemeClr val="tx1"/>
                </a:solidFill>
                <a:effectLst/>
                <a:latin typeface="+mn-lt"/>
                <a:ea typeface="+mn-ea"/>
                <a:cs typeface="+mn-cs"/>
              </a:rPr>
              <a:t>② </a:t>
            </a:r>
            <a:r>
              <a:rPr kumimoji="1" lang="ja-JP" altLang="en-US" sz="1200" b="1" i="0" kern="1200">
                <a:solidFill>
                  <a:schemeClr val="tx1"/>
                </a:solidFill>
                <a:effectLst/>
                <a:latin typeface="+mn-lt"/>
                <a:ea typeface="+mn-ea"/>
                <a:cs typeface="+mn-cs"/>
              </a:rPr>
              <a:t>名前にスペースが入っている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a:t>
            </a:r>
            <a:r>
              <a:rPr kumimoji="1" lang="en-US" altLang="ja-JP" sz="1200" b="0" i="0" kern="1200">
                <a:solidFill>
                  <a:schemeClr val="tx1"/>
                </a:solidFill>
                <a:effectLst/>
                <a:latin typeface="+mn-lt"/>
                <a:ea typeface="+mn-ea"/>
                <a:cs typeface="+mn-cs"/>
              </a:rPr>
              <a:t>message </a:t>
            </a:r>
            <a:r>
              <a:rPr kumimoji="1" lang="ja-JP" altLang="en-US" sz="1200" b="0" i="0" kern="1200">
                <a:solidFill>
                  <a:schemeClr val="tx1"/>
                </a:solidFill>
                <a:effectLst/>
                <a:latin typeface="+mn-lt"/>
                <a:ea typeface="+mn-ea"/>
                <a:cs typeface="+mn-cs"/>
              </a:rPr>
              <a:t>」←最後にスペースが</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エラーの原因）</a:t>
            </a:r>
          </a:p>
          <a:p>
            <a:pPr fontAlgn="t"/>
            <a:r>
              <a:rPr kumimoji="1" lang="ja-JP" altLang="en-US" sz="1200" b="0"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Compose </a:t>
            </a:r>
            <a:r>
              <a:rPr kumimoji="1" lang="ja-JP" altLang="en-US" sz="1200" b="1" i="0" kern="1200">
                <a:solidFill>
                  <a:schemeClr val="tx1"/>
                </a:solidFill>
                <a:effectLst/>
                <a:latin typeface="+mn-lt"/>
                <a:ea typeface="+mn-ea"/>
                <a:cs typeface="+mn-cs"/>
              </a:rPr>
              <a:t>に手打ちしている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（例：動的コンテンツを選ばず </a:t>
            </a:r>
            <a:r>
              <a:rPr kumimoji="1" lang="en-US" altLang="ja-JP" sz="1200" b="0" i="0" kern="1200">
                <a:solidFill>
                  <a:schemeClr val="tx1"/>
                </a:solidFill>
                <a:effectLst/>
                <a:latin typeface="+mn-lt"/>
                <a:ea typeface="+mn-ea"/>
                <a:cs typeface="+mn-cs"/>
              </a:rPr>
              <a:t>"message" </a:t>
            </a:r>
            <a:r>
              <a:rPr kumimoji="1" lang="ja-JP" altLang="en-US" sz="1200" b="0" i="0" kern="1200">
                <a:solidFill>
                  <a:schemeClr val="tx1"/>
                </a:solidFill>
                <a:effectLst/>
                <a:latin typeface="+mn-lt"/>
                <a:ea typeface="+mn-ea"/>
                <a:cs typeface="+mn-cs"/>
              </a:rPr>
              <a:t>と手入力）</a:t>
            </a:r>
          </a:p>
          <a:p>
            <a:pPr fontAlgn="t"/>
            <a:r>
              <a:rPr kumimoji="1" lang="ja-JP" altLang="en-US" sz="1200" b="0" i="0" kern="1200">
                <a:solidFill>
                  <a:schemeClr val="tx1"/>
                </a:solidFill>
                <a:effectLst/>
                <a:latin typeface="+mn-lt"/>
                <a:ea typeface="+mn-ea"/>
                <a:cs typeface="+mn-cs"/>
              </a:rPr>
              <a:t>これを避けるだけで、トラブルの</a:t>
            </a:r>
            <a:r>
              <a:rPr kumimoji="1" lang="en-US" altLang="ja-JP" sz="1200" b="0" i="0" kern="1200">
                <a:solidFill>
                  <a:schemeClr val="tx1"/>
                </a:solidFill>
                <a:effectLst/>
                <a:latin typeface="+mn-lt"/>
                <a:ea typeface="+mn-ea"/>
                <a:cs typeface="+mn-cs"/>
              </a:rPr>
              <a:t>8</a:t>
            </a:r>
            <a:r>
              <a:rPr kumimoji="1" lang="ja-JP" altLang="en-US" sz="1200" b="0" i="0" kern="1200">
                <a:solidFill>
                  <a:schemeClr val="tx1"/>
                </a:solidFill>
                <a:effectLst/>
                <a:latin typeface="+mn-lt"/>
                <a:ea typeface="+mn-ea"/>
                <a:cs typeface="+mn-cs"/>
              </a:rPr>
              <a:t>割は防げます。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20:38</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en-US" altLang="ja-JP" sz="1200" b="1" i="0" kern="1200">
                <a:solidFill>
                  <a:schemeClr val="tx1"/>
                </a:solidFill>
                <a:effectLst/>
                <a:latin typeface="+mn-lt"/>
                <a:ea typeface="+mn-ea"/>
                <a:cs typeface="+mn-cs"/>
              </a:rPr>
              <a:t>10</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詳細版｜実操作を丁寧にガイド</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ここからは、いよいよ </a:t>
            </a:r>
            <a:r>
              <a:rPr kumimoji="1" lang="en-US" altLang="ja-JP" sz="1200" b="1" i="0" kern="1200">
                <a:solidFill>
                  <a:schemeClr val="tx1"/>
                </a:solidFill>
                <a:effectLst/>
                <a:latin typeface="+mn-lt"/>
                <a:ea typeface="+mn-ea"/>
                <a:cs typeface="+mn-cs"/>
              </a:rPr>
              <a:t>Power Automate </a:t>
            </a:r>
            <a:r>
              <a:rPr kumimoji="1" lang="ja-JP" altLang="en-US" sz="1200" b="1" i="0" kern="1200">
                <a:solidFill>
                  <a:schemeClr val="tx1"/>
                </a:solidFill>
                <a:effectLst/>
                <a:latin typeface="+mn-lt"/>
                <a:ea typeface="+mn-ea"/>
                <a:cs typeface="+mn-cs"/>
              </a:rPr>
              <a:t>の実際の画面を使って、フローを一緒に作っていく時間</a:t>
            </a:r>
            <a:r>
              <a:rPr kumimoji="1" lang="ja-JP" altLang="en-US" sz="1200" b="0" i="0" kern="1200">
                <a:solidFill>
                  <a:schemeClr val="tx1"/>
                </a:solidFill>
                <a:effectLst/>
                <a:latin typeface="+mn-lt"/>
                <a:ea typeface="+mn-ea"/>
                <a:cs typeface="+mn-cs"/>
              </a:rPr>
              <a:t>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今日のゴールである </a:t>
            </a:r>
            <a:r>
              <a:rPr kumimoji="1" lang="ja-JP" altLang="en-US" sz="1200" b="1" i="0" kern="1200">
                <a:solidFill>
                  <a:schemeClr val="tx1"/>
                </a:solidFill>
                <a:effectLst/>
                <a:latin typeface="+mn-lt"/>
                <a:ea typeface="+mn-ea"/>
                <a:cs typeface="+mn-cs"/>
              </a:rPr>
              <a:t>「変数を作って、</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で中身を確認する」</a:t>
            </a:r>
            <a:r>
              <a:rPr kumimoji="1" lang="ja-JP" altLang="en-US" sz="1200" b="0" i="0" kern="1200">
                <a:solidFill>
                  <a:schemeClr val="tx1"/>
                </a:solidFill>
                <a:effectLst/>
                <a:latin typeface="+mn-lt"/>
                <a:ea typeface="+mn-ea"/>
                <a:cs typeface="+mn-cs"/>
              </a:rPr>
              <a:t> ところまで一緒に進めます。</a:t>
            </a:r>
          </a:p>
          <a:p>
            <a:pPr fontAlgn="t"/>
            <a:r>
              <a:rPr kumimoji="1" lang="ja-JP" altLang="en-US" sz="1200" b="0" i="0" kern="1200">
                <a:solidFill>
                  <a:schemeClr val="tx1"/>
                </a:solidFill>
                <a:effectLst/>
                <a:latin typeface="+mn-lt"/>
                <a:ea typeface="+mn-ea"/>
                <a:cs typeface="+mn-cs"/>
              </a:rPr>
              <a:t>初めて触る方でも絶対についてこれるように、ゆっくり丁寧に説明しますのでご安心ください。</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1</a:t>
            </a:r>
            <a:r>
              <a:rPr kumimoji="1" lang="ja-JP" altLang="en-US" sz="1200" b="1" i="0" kern="1200">
                <a:solidFill>
                  <a:schemeClr val="tx1"/>
                </a:solidFill>
                <a:effectLst/>
                <a:latin typeface="+mn-lt"/>
                <a:ea typeface="+mn-ea"/>
                <a:cs typeface="+mn-cs"/>
              </a:rPr>
              <a:t>｜新しいフローの作成（</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画面上部の </a:t>
            </a:r>
            <a:r>
              <a:rPr kumimoji="1" lang="ja-JP" altLang="en-US" sz="1200" b="1" i="0" kern="1200">
                <a:solidFill>
                  <a:schemeClr val="tx1"/>
                </a:solidFill>
                <a:effectLst/>
                <a:latin typeface="+mn-lt"/>
                <a:ea typeface="+mn-ea"/>
                <a:cs typeface="+mn-cs"/>
              </a:rPr>
              <a:t>［作成］（</a:t>
            </a:r>
            <a:r>
              <a:rPr kumimoji="1" lang="en-US" altLang="ja-JP" sz="1200" b="1" i="0" kern="1200">
                <a:solidFill>
                  <a:schemeClr val="tx1"/>
                </a:solidFill>
                <a:effectLst/>
                <a:latin typeface="+mn-lt"/>
                <a:ea typeface="+mn-ea"/>
                <a:cs typeface="+mn-cs"/>
              </a:rPr>
              <a:t>Create</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をクリックしてください。</a:t>
            </a:r>
          </a:p>
          <a:p>
            <a:pPr fontAlgn="t"/>
            <a:r>
              <a:rPr kumimoji="1" lang="ja-JP" altLang="en-US" sz="1200" b="0" i="0" kern="1200">
                <a:solidFill>
                  <a:schemeClr val="tx1"/>
                </a:solidFill>
                <a:effectLst/>
                <a:latin typeface="+mn-lt"/>
                <a:ea typeface="+mn-ea"/>
                <a:cs typeface="+mn-cs"/>
              </a:rPr>
              <a:t>表示された選択肢の中から、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「インスタント クラウド フロー（</a:t>
            </a:r>
            <a:r>
              <a:rPr kumimoji="1" lang="en-US" altLang="ja-JP" sz="1200" b="1" i="0" kern="1200">
                <a:solidFill>
                  <a:schemeClr val="tx1"/>
                </a:solidFill>
                <a:effectLst/>
                <a:latin typeface="+mn-lt"/>
                <a:ea typeface="+mn-ea"/>
                <a:cs typeface="+mn-cs"/>
              </a:rPr>
              <a:t>Instant cloud flow</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を選びます。</a:t>
            </a:r>
          </a:p>
          <a:p>
            <a:pPr fontAlgn="t"/>
            <a:r>
              <a:rPr kumimoji="1" lang="ja-JP" altLang="en-US" sz="1200" b="0" i="0" kern="1200">
                <a:solidFill>
                  <a:schemeClr val="tx1"/>
                </a:solidFill>
                <a:effectLst/>
                <a:latin typeface="+mn-lt"/>
                <a:ea typeface="+mn-ea"/>
                <a:cs typeface="+mn-cs"/>
              </a:rPr>
              <a:t>これは「ボタンを押したら動き出すタイプのフロー」で、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学習やテストで一番扱いやすいトリガーです。</a:t>
            </a:r>
          </a:p>
          <a:p>
            <a:pPr fontAlgn="t"/>
            <a:r>
              <a:rPr kumimoji="1" lang="ja-JP" altLang="en-US" sz="1200" b="0" i="0" kern="1200">
                <a:solidFill>
                  <a:schemeClr val="tx1"/>
                </a:solidFill>
                <a:effectLst/>
                <a:latin typeface="+mn-lt"/>
                <a:ea typeface="+mn-ea"/>
                <a:cs typeface="+mn-cs"/>
              </a:rPr>
              <a:t>フロー名は自由で構いませんが、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例として </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PA45_</a:t>
            </a:r>
            <a:r>
              <a:rPr kumimoji="1" lang="ja-JP" altLang="en-US" sz="1200" b="1" i="0" kern="1200">
                <a:solidFill>
                  <a:schemeClr val="tx1"/>
                </a:solidFill>
                <a:effectLst/>
                <a:latin typeface="+mn-lt"/>
                <a:ea typeface="+mn-ea"/>
                <a:cs typeface="+mn-cs"/>
              </a:rPr>
              <a:t>変数の初期化」</a:t>
            </a:r>
            <a:r>
              <a:rPr kumimoji="1" lang="ja-JP" altLang="en-US" sz="1200" b="0" i="0" kern="1200">
                <a:solidFill>
                  <a:schemeClr val="tx1"/>
                </a:solidFill>
                <a:effectLst/>
                <a:latin typeface="+mn-lt"/>
                <a:ea typeface="+mn-ea"/>
                <a:cs typeface="+mn-cs"/>
              </a:rPr>
              <a:t> と入力しておきましょう。</a:t>
            </a:r>
          </a:p>
          <a:p>
            <a:pPr fontAlgn="t"/>
            <a:r>
              <a:rPr kumimoji="1" lang="ja-JP" altLang="en-US" sz="1200" b="0" i="0" kern="1200">
                <a:solidFill>
                  <a:schemeClr val="tx1"/>
                </a:solidFill>
                <a:effectLst/>
                <a:latin typeface="+mn-lt"/>
                <a:ea typeface="+mn-ea"/>
                <a:cs typeface="+mn-cs"/>
              </a:rPr>
              <a:t>次に、トリガーとして</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「手動でフローをトリガーします」</a:t>
            </a:r>
            <a:r>
              <a:rPr kumimoji="1" lang="ja-JP" altLang="en-US" sz="1200" b="0" i="0" kern="1200">
                <a:solidFill>
                  <a:schemeClr val="tx1"/>
                </a:solidFill>
                <a:effectLst/>
                <a:latin typeface="+mn-lt"/>
                <a:ea typeface="+mn-ea"/>
                <a:cs typeface="+mn-cs"/>
              </a:rPr>
              <a:t> を選んでください。</a:t>
            </a:r>
          </a:p>
          <a:p>
            <a:pPr fontAlgn="t"/>
            <a:r>
              <a:rPr kumimoji="1" lang="ja-JP" altLang="en-US" sz="1200" b="0" i="0" kern="1200">
                <a:solidFill>
                  <a:schemeClr val="tx1"/>
                </a:solidFill>
                <a:effectLst/>
                <a:latin typeface="+mn-lt"/>
                <a:ea typeface="+mn-ea"/>
                <a:cs typeface="+mn-cs"/>
              </a:rPr>
              <a:t>これで “スタートボタン” の部分が完成です。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2</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（変数を初期化）を追加（</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次に、今日のメインとなる “箱づくり” を行います。</a:t>
            </a:r>
          </a:p>
          <a:p>
            <a:pPr fontAlgn="t"/>
            <a:r>
              <a:rPr kumimoji="1" lang="ja-JP" altLang="en-US" sz="1200" b="0" i="0" kern="1200">
                <a:solidFill>
                  <a:schemeClr val="tx1"/>
                </a:solidFill>
                <a:effectLst/>
                <a:latin typeface="+mn-lt"/>
                <a:ea typeface="+mn-ea"/>
                <a:cs typeface="+mn-cs"/>
              </a:rPr>
              <a:t>画面の </a:t>
            </a:r>
            <a:r>
              <a:rPr kumimoji="1" lang="ja-JP" altLang="en-US" sz="1200" b="1" i="0" kern="1200">
                <a:solidFill>
                  <a:schemeClr val="tx1"/>
                </a:solidFill>
                <a:effectLst/>
                <a:latin typeface="+mn-lt"/>
                <a:ea typeface="+mn-ea"/>
                <a:cs typeface="+mn-cs"/>
              </a:rPr>
              <a:t>［新しいステップ］</a:t>
            </a:r>
            <a:r>
              <a:rPr kumimoji="1" lang="ja-JP" altLang="en-US" sz="1200" b="0" i="0" kern="1200">
                <a:solidFill>
                  <a:schemeClr val="tx1"/>
                </a:solidFill>
                <a:effectLst/>
                <a:latin typeface="+mn-lt"/>
                <a:ea typeface="+mn-ea"/>
                <a:cs typeface="+mn-cs"/>
              </a:rPr>
              <a:t> をクリックし、</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検索窓に </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variable</a:t>
            </a:r>
            <a:r>
              <a:rPr kumimoji="1" lang="ja-JP" altLang="en-US" sz="1200" b="1" i="0" kern="1200">
                <a:solidFill>
                  <a:schemeClr val="tx1"/>
                </a:solidFill>
                <a:effectLst/>
                <a:latin typeface="+mn-lt"/>
                <a:ea typeface="+mn-ea"/>
                <a:cs typeface="+mn-cs"/>
              </a:rPr>
              <a:t>」または「変数」</a:t>
            </a:r>
            <a:r>
              <a:rPr kumimoji="1" lang="ja-JP" altLang="en-US" sz="1200" b="0" i="0" kern="1200">
                <a:solidFill>
                  <a:schemeClr val="tx1"/>
                </a:solidFill>
                <a:effectLst/>
                <a:latin typeface="+mn-lt"/>
                <a:ea typeface="+mn-ea"/>
                <a:cs typeface="+mn-cs"/>
              </a:rPr>
              <a:t> と入力します。</a:t>
            </a:r>
          </a:p>
          <a:p>
            <a:pPr fontAlgn="t"/>
            <a:r>
              <a:rPr kumimoji="1" lang="ja-JP" altLang="en-US" sz="1200" b="0" i="0" kern="1200">
                <a:solidFill>
                  <a:schemeClr val="tx1"/>
                </a:solidFill>
                <a:effectLst/>
                <a:latin typeface="+mn-lt"/>
                <a:ea typeface="+mn-ea"/>
                <a:cs typeface="+mn-cs"/>
              </a:rPr>
              <a:t>出てきた一覧の中から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「変数を初期化する（</a:t>
            </a: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を選びます。</a:t>
            </a:r>
          </a:p>
          <a:p>
            <a:pPr fontAlgn="t"/>
            <a:r>
              <a:rPr kumimoji="1" lang="ja-JP" altLang="en-US" sz="1200" b="0" i="0" kern="1200">
                <a:solidFill>
                  <a:schemeClr val="tx1"/>
                </a:solidFill>
                <a:effectLst/>
                <a:latin typeface="+mn-lt"/>
                <a:ea typeface="+mn-ea"/>
                <a:cs typeface="+mn-cs"/>
              </a:rPr>
              <a:t>ここで、３つの項目を設定します。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① </a:t>
            </a:r>
            <a:r>
              <a:rPr kumimoji="1" lang="en-US" altLang="ja-JP" sz="1200" b="1" i="0" kern="1200">
                <a:solidFill>
                  <a:schemeClr val="tx1"/>
                </a:solidFill>
                <a:effectLst/>
                <a:latin typeface="+mn-lt"/>
                <a:ea typeface="+mn-ea"/>
                <a:cs typeface="+mn-cs"/>
              </a:rPr>
              <a:t>Name</a:t>
            </a:r>
            <a:r>
              <a:rPr kumimoji="1" lang="ja-JP" altLang="en-US" sz="1200" b="1" i="0" kern="1200">
                <a:solidFill>
                  <a:schemeClr val="tx1"/>
                </a:solidFill>
                <a:effectLst/>
                <a:latin typeface="+mn-lt"/>
                <a:ea typeface="+mn-ea"/>
                <a:cs typeface="+mn-cs"/>
              </a:rPr>
              <a:t>（名前）</a:t>
            </a:r>
          </a:p>
          <a:p>
            <a:pPr fontAlgn="t"/>
            <a:r>
              <a:rPr kumimoji="1" lang="ja-JP" altLang="en-US" sz="1200" b="0" i="0" kern="1200">
                <a:solidFill>
                  <a:schemeClr val="tx1"/>
                </a:solidFill>
                <a:effectLst/>
                <a:latin typeface="+mn-lt"/>
                <a:ea typeface="+mn-ea"/>
                <a:cs typeface="+mn-cs"/>
              </a:rPr>
              <a:t>これは“箱につける名前”です。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後で別の場所で使うため、短く分かりやすい名前にします。</a:t>
            </a:r>
          </a:p>
          <a:p>
            <a:pPr fontAlgn="t"/>
            <a:r>
              <a:rPr kumimoji="1" lang="ja-JP" altLang="en-US" sz="1200" b="1" i="0" kern="1200">
                <a:solidFill>
                  <a:schemeClr val="tx1"/>
                </a:solidFill>
                <a:effectLst/>
                <a:latin typeface="+mn-lt"/>
                <a:ea typeface="+mn-ea"/>
                <a:cs typeface="+mn-cs"/>
              </a:rPr>
              <a:t>例：</a:t>
            </a:r>
            <a:r>
              <a:rPr kumimoji="1" lang="ja-JP" altLang="en-US" sz="1200" b="0" i="0" kern="1200">
                <a:solidFill>
                  <a:schemeClr val="tx1"/>
                </a:solidFill>
                <a:effectLst/>
                <a:latin typeface="+mn-lt"/>
                <a:ea typeface="+mn-ea"/>
                <a:cs typeface="+mn-cs"/>
              </a:rPr>
              <a:t> </a:t>
            </a:r>
            <a:r>
              <a:rPr kumimoji="1" lang="en-US" altLang="ja-JP" sz="1200" b="0" i="0" kern="1200">
                <a:solidFill>
                  <a:schemeClr val="tx1"/>
                </a:solidFill>
                <a:effectLst/>
                <a:latin typeface="+mn-lt"/>
                <a:ea typeface="+mn-ea"/>
                <a:cs typeface="+mn-cs"/>
              </a:rPr>
              <a:t>message</a:t>
            </a:r>
            <a:endParaRPr kumimoji="1" lang="ja-JP" altLang="en-US" sz="1200" b="0" i="0" kern="1200">
              <a:solidFill>
                <a:schemeClr val="tx1"/>
              </a:solidFill>
              <a:effectLst/>
              <a:latin typeface="+mn-lt"/>
              <a:ea typeface="+mn-ea"/>
              <a:cs typeface="+mn-cs"/>
            </a:endParaRPr>
          </a:p>
          <a:p>
            <a:pPr fontAlgn="t"/>
            <a:r>
              <a:rPr kumimoji="1" lang="en-US" altLang="ja-JP" sz="1200" b="0" i="0" kern="1200">
                <a:solidFill>
                  <a:schemeClr val="tx1"/>
                </a:solidFill>
                <a:effectLst/>
                <a:latin typeface="+mn-lt"/>
                <a:ea typeface="+mn-ea"/>
                <a:cs typeface="+mn-cs"/>
              </a:rPr>
              <a:t>POINT</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半角英字がおすすめ</a:t>
            </a:r>
          </a:p>
          <a:p>
            <a:pPr fontAlgn="t"/>
            <a:r>
              <a:rPr kumimoji="1" lang="ja-JP" altLang="en-US" sz="1200" b="0" i="0" kern="1200">
                <a:solidFill>
                  <a:schemeClr val="tx1"/>
                </a:solidFill>
                <a:effectLst/>
                <a:latin typeface="+mn-lt"/>
                <a:ea typeface="+mn-ea"/>
                <a:cs typeface="+mn-cs"/>
              </a:rPr>
              <a:t>スペースは</a:t>
            </a:r>
            <a:r>
              <a:rPr kumimoji="1" lang="en-US" altLang="ja-JP" sz="1200" b="0" i="0" kern="1200">
                <a:solidFill>
                  <a:schemeClr val="tx1"/>
                </a:solidFill>
                <a:effectLst/>
                <a:latin typeface="+mn-lt"/>
                <a:ea typeface="+mn-ea"/>
                <a:cs typeface="+mn-cs"/>
              </a:rPr>
              <a:t>NG</a:t>
            </a:r>
            <a:r>
              <a:rPr kumimoji="1" lang="ja-JP" altLang="en-US" sz="1200" b="0" i="0" kern="1200">
                <a:solidFill>
                  <a:schemeClr val="tx1"/>
                </a:solidFill>
                <a:effectLst/>
                <a:latin typeface="+mn-lt"/>
                <a:ea typeface="+mn-ea"/>
                <a:cs typeface="+mn-cs"/>
              </a:rPr>
              <a:t>（よくあるミス）</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Type</a:t>
            </a:r>
            <a:r>
              <a:rPr kumimoji="1" lang="ja-JP" altLang="en-US" sz="1200" b="1" i="0" kern="1200">
                <a:solidFill>
                  <a:schemeClr val="tx1"/>
                </a:solidFill>
                <a:effectLst/>
                <a:latin typeface="+mn-lt"/>
                <a:ea typeface="+mn-ea"/>
                <a:cs typeface="+mn-cs"/>
              </a:rPr>
              <a:t>（種類／型）</a:t>
            </a:r>
          </a:p>
          <a:p>
            <a:pPr fontAlgn="t"/>
            <a:r>
              <a:rPr kumimoji="1" lang="ja-JP" altLang="en-US" sz="1200" b="0" i="0" kern="1200">
                <a:solidFill>
                  <a:schemeClr val="tx1"/>
                </a:solidFill>
                <a:effectLst/>
                <a:latin typeface="+mn-lt"/>
                <a:ea typeface="+mn-ea"/>
                <a:cs typeface="+mn-cs"/>
              </a:rPr>
              <a:t>ここは今日学んだ </a:t>
            </a:r>
            <a:r>
              <a:rPr kumimoji="1" lang="en-US" altLang="ja-JP" sz="1200" b="1" i="0" kern="1200">
                <a:solidFill>
                  <a:schemeClr val="tx1"/>
                </a:solidFill>
                <a:effectLst/>
                <a:latin typeface="+mn-lt"/>
                <a:ea typeface="+mn-ea"/>
                <a:cs typeface="+mn-cs"/>
              </a:rPr>
              <a:t>String / Integer / Boolean</a:t>
            </a:r>
            <a:r>
              <a:rPr kumimoji="1" lang="ja-JP" altLang="en-US" sz="1200" b="0" i="0" kern="1200">
                <a:solidFill>
                  <a:schemeClr val="tx1"/>
                </a:solidFill>
                <a:effectLst/>
                <a:latin typeface="+mn-lt"/>
                <a:ea typeface="+mn-ea"/>
                <a:cs typeface="+mn-cs"/>
              </a:rPr>
              <a:t> の「型」を指定する場所です。</a:t>
            </a:r>
          </a:p>
          <a:p>
            <a:pPr fontAlgn="t"/>
            <a:r>
              <a:rPr kumimoji="1" lang="ja-JP" altLang="en-US" sz="1200" b="0" i="0" kern="1200">
                <a:solidFill>
                  <a:schemeClr val="tx1"/>
                </a:solidFill>
                <a:effectLst/>
                <a:latin typeface="+mn-lt"/>
                <a:ea typeface="+mn-ea"/>
                <a:cs typeface="+mn-cs"/>
              </a:rPr>
              <a:t>今回は </a:t>
            </a:r>
            <a:r>
              <a:rPr kumimoji="1" lang="ja-JP" altLang="en-US" sz="1200" b="1" i="0" kern="1200">
                <a:solidFill>
                  <a:schemeClr val="tx1"/>
                </a:solidFill>
                <a:effectLst/>
                <a:latin typeface="+mn-lt"/>
                <a:ea typeface="+mn-ea"/>
                <a:cs typeface="+mn-cs"/>
              </a:rPr>
              <a:t>文字列（</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を選びます。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理由は、テキストメッセージを保存する箱だからです。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Value</a:t>
            </a:r>
            <a:r>
              <a:rPr kumimoji="1" lang="ja-JP" altLang="en-US" sz="1200" b="1" i="0" kern="1200">
                <a:solidFill>
                  <a:schemeClr val="tx1"/>
                </a:solidFill>
                <a:effectLst/>
                <a:latin typeface="+mn-lt"/>
                <a:ea typeface="+mn-ea"/>
                <a:cs typeface="+mn-cs"/>
              </a:rPr>
              <a:t>（最初の値）</a:t>
            </a:r>
          </a:p>
          <a:p>
            <a:pPr fontAlgn="t"/>
            <a:r>
              <a:rPr kumimoji="1" lang="ja-JP" altLang="en-US" sz="1200" b="0" i="0" kern="1200">
                <a:solidFill>
                  <a:schemeClr val="tx1"/>
                </a:solidFill>
                <a:effectLst/>
                <a:latin typeface="+mn-lt"/>
                <a:ea typeface="+mn-ea"/>
                <a:cs typeface="+mn-cs"/>
              </a:rPr>
              <a:t>ここは、箱の中に “最初に入れておく内容” を決める欄です。</a:t>
            </a:r>
          </a:p>
          <a:p>
            <a:pPr fontAlgn="t"/>
            <a:r>
              <a:rPr kumimoji="1" lang="ja-JP" altLang="en-US" sz="1200" b="0" i="0" kern="1200">
                <a:solidFill>
                  <a:schemeClr val="tx1"/>
                </a:solidFill>
                <a:effectLst/>
                <a:latin typeface="+mn-lt"/>
                <a:ea typeface="+mn-ea"/>
                <a:cs typeface="+mn-cs"/>
              </a:rPr>
              <a:t>例として、</a:t>
            </a:r>
          </a:p>
          <a:p>
            <a:pPr fontAlgn="t"/>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へようこそ！」</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などの好きな文章を入力してください。</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3</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Compose </a:t>
            </a:r>
            <a:r>
              <a:rPr kumimoji="1" lang="ja-JP" altLang="en-US" sz="1200" b="1" i="0" kern="1200">
                <a:solidFill>
                  <a:schemeClr val="tx1"/>
                </a:solidFill>
                <a:effectLst/>
                <a:latin typeface="+mn-lt"/>
                <a:ea typeface="+mn-ea"/>
                <a:cs typeface="+mn-cs"/>
              </a:rPr>
              <a:t>で中身を見る（</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変数を作ったあとは、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ちゃんと値が入っているか “窓” からのぞいてみます。</a:t>
            </a:r>
          </a:p>
          <a:p>
            <a:pPr fontAlgn="t"/>
            <a:r>
              <a:rPr kumimoji="1" lang="ja-JP" altLang="en-US" sz="1200" b="1" i="0" kern="1200">
                <a:solidFill>
                  <a:schemeClr val="tx1"/>
                </a:solidFill>
                <a:effectLst/>
                <a:latin typeface="+mn-lt"/>
                <a:ea typeface="+mn-ea"/>
                <a:cs typeface="+mn-cs"/>
              </a:rPr>
              <a:t>［新しいステップ］</a:t>
            </a:r>
            <a:r>
              <a:rPr kumimoji="1" lang="ja-JP" altLang="en-US" sz="1200" b="0" i="0" kern="1200">
                <a:solidFill>
                  <a:schemeClr val="tx1"/>
                </a:solidFill>
                <a:effectLst/>
                <a:latin typeface="+mn-lt"/>
                <a:ea typeface="+mn-ea"/>
                <a:cs typeface="+mn-cs"/>
              </a:rPr>
              <a:t> をクリック</a:t>
            </a:r>
          </a:p>
          <a:p>
            <a:pPr fontAlgn="t"/>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Compose</a:t>
            </a:r>
            <a:r>
              <a:rPr kumimoji="1" lang="ja-JP" altLang="en-US" sz="1200" b="0" i="0" kern="1200">
                <a:solidFill>
                  <a:schemeClr val="tx1"/>
                </a:solidFill>
                <a:effectLst/>
                <a:latin typeface="+mn-lt"/>
                <a:ea typeface="+mn-ea"/>
                <a:cs typeface="+mn-cs"/>
              </a:rPr>
              <a:t>」または「作成」で検索</a:t>
            </a:r>
          </a:p>
          <a:p>
            <a:pPr fontAlgn="t"/>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（作成）”</a:t>
            </a:r>
            <a:r>
              <a:rPr kumimoji="1" lang="ja-JP" altLang="en-US" sz="1200" b="0" i="0" kern="1200">
                <a:solidFill>
                  <a:schemeClr val="tx1"/>
                </a:solidFill>
                <a:effectLst/>
                <a:latin typeface="+mn-lt"/>
                <a:ea typeface="+mn-ea"/>
                <a:cs typeface="+mn-cs"/>
              </a:rPr>
              <a:t> を選択</a:t>
            </a:r>
          </a:p>
          <a:p>
            <a:pPr fontAlgn="t"/>
            <a:r>
              <a:rPr kumimoji="1" lang="ja-JP" altLang="en-US" sz="1200" b="0" i="0" kern="1200">
                <a:solidFill>
                  <a:schemeClr val="tx1"/>
                </a:solidFill>
                <a:effectLst/>
                <a:latin typeface="+mn-lt"/>
                <a:ea typeface="+mn-ea"/>
                <a:cs typeface="+mn-cs"/>
              </a:rPr>
              <a:t>すると </a:t>
            </a:r>
            <a:r>
              <a:rPr kumimoji="1" lang="en-US" altLang="ja-JP" sz="1200" b="1" i="0" kern="1200">
                <a:solidFill>
                  <a:schemeClr val="tx1"/>
                </a:solidFill>
                <a:effectLst/>
                <a:latin typeface="+mn-lt"/>
                <a:ea typeface="+mn-ea"/>
                <a:cs typeface="+mn-cs"/>
              </a:rPr>
              <a:t>Inputs</a:t>
            </a:r>
            <a:r>
              <a:rPr kumimoji="1" lang="ja-JP" altLang="en-US" sz="1200" b="1" i="0" kern="1200">
                <a:solidFill>
                  <a:schemeClr val="tx1"/>
                </a:solidFill>
                <a:effectLst/>
                <a:latin typeface="+mn-lt"/>
                <a:ea typeface="+mn-ea"/>
                <a:cs typeface="+mn-cs"/>
              </a:rPr>
              <a:t>（入力）</a:t>
            </a:r>
            <a:r>
              <a:rPr kumimoji="1" lang="ja-JP" altLang="en-US" sz="1200" b="0" i="0" kern="1200">
                <a:solidFill>
                  <a:schemeClr val="tx1"/>
                </a:solidFill>
                <a:effectLst/>
                <a:latin typeface="+mn-lt"/>
                <a:ea typeface="+mn-ea"/>
                <a:cs typeface="+mn-cs"/>
              </a:rPr>
              <a:t> の枠が出てきます。</a:t>
            </a:r>
          </a:p>
          <a:p>
            <a:pPr fontAlgn="t"/>
            <a:r>
              <a:rPr kumimoji="1" lang="ja-JP" altLang="en-US" sz="1200" b="0" i="0" kern="1200">
                <a:solidFill>
                  <a:schemeClr val="tx1"/>
                </a:solidFill>
                <a:effectLst/>
                <a:latin typeface="+mn-lt"/>
                <a:ea typeface="+mn-ea"/>
                <a:cs typeface="+mn-cs"/>
              </a:rPr>
              <a:t>ここで、手入力で「</a:t>
            </a:r>
            <a:r>
              <a:rPr kumimoji="1" lang="en-US" altLang="ja-JP" sz="1200" b="0"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」と打つのではなく、</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右側に表示される </a:t>
            </a:r>
            <a:r>
              <a:rPr kumimoji="1" lang="ja-JP" altLang="en-US" sz="1200" b="1" i="0" kern="1200">
                <a:solidFill>
                  <a:schemeClr val="tx1"/>
                </a:solidFill>
                <a:effectLst/>
                <a:latin typeface="+mn-lt"/>
                <a:ea typeface="+mn-ea"/>
                <a:cs typeface="+mn-cs"/>
              </a:rPr>
              <a:t>動的コンテンツ（雷アイコン）</a:t>
            </a:r>
            <a:r>
              <a:rPr kumimoji="1" lang="ja-JP" altLang="en-US" sz="1200" b="0" i="0" kern="1200">
                <a:solidFill>
                  <a:schemeClr val="tx1"/>
                </a:solidFill>
                <a:effectLst/>
                <a:latin typeface="+mn-lt"/>
                <a:ea typeface="+mn-ea"/>
                <a:cs typeface="+mn-cs"/>
              </a:rPr>
              <a:t> から</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 を選んでください。</a:t>
            </a:r>
          </a:p>
          <a:p>
            <a:pPr fontAlgn="t"/>
            <a:r>
              <a:rPr kumimoji="1" lang="ja-JP" altLang="en-US" sz="1200" b="0" i="0" kern="1200">
                <a:solidFill>
                  <a:schemeClr val="tx1"/>
                </a:solidFill>
                <a:effectLst/>
                <a:latin typeface="+mn-lt"/>
                <a:ea typeface="+mn-ea"/>
                <a:cs typeface="+mn-cs"/>
              </a:rPr>
              <a:t>これがよくあるつまずきポイントなので、ゆっくり確認しましょう。</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4</a:t>
            </a:r>
            <a:r>
              <a:rPr kumimoji="1" lang="ja-JP" altLang="en-US" sz="1200" b="1" i="0" kern="1200">
                <a:solidFill>
                  <a:schemeClr val="tx1"/>
                </a:solidFill>
                <a:effectLst/>
                <a:latin typeface="+mn-lt"/>
                <a:ea typeface="+mn-ea"/>
                <a:cs typeface="+mn-cs"/>
              </a:rPr>
              <a:t>｜保存 → テスト実行（</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右上の </a:t>
            </a:r>
            <a:r>
              <a:rPr kumimoji="1" lang="ja-JP" altLang="en-US" sz="1200" b="1" i="0" kern="1200">
                <a:solidFill>
                  <a:schemeClr val="tx1"/>
                </a:solidFill>
                <a:effectLst/>
                <a:latin typeface="+mn-lt"/>
                <a:ea typeface="+mn-ea"/>
                <a:cs typeface="+mn-cs"/>
              </a:rPr>
              <a:t>［保存］</a:t>
            </a:r>
            <a:r>
              <a:rPr kumimoji="1" lang="ja-JP" altLang="en-US" sz="1200" b="0" i="0" kern="1200">
                <a:solidFill>
                  <a:schemeClr val="tx1"/>
                </a:solidFill>
                <a:effectLst/>
                <a:latin typeface="+mn-lt"/>
                <a:ea typeface="+mn-ea"/>
                <a:cs typeface="+mn-cs"/>
              </a:rPr>
              <a:t> をクリックし、</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続いて </a:t>
            </a:r>
            <a:r>
              <a:rPr kumimoji="1" lang="ja-JP" altLang="en-US" sz="1200" b="1" i="0" kern="1200">
                <a:solidFill>
                  <a:schemeClr val="tx1"/>
                </a:solidFill>
                <a:effectLst/>
                <a:latin typeface="+mn-lt"/>
                <a:ea typeface="+mn-ea"/>
                <a:cs typeface="+mn-cs"/>
              </a:rPr>
              <a:t>［テスト］ → ［手動］ → ［実行］</a:t>
            </a:r>
            <a:r>
              <a:rPr kumimoji="1" lang="ja-JP" altLang="en-US" sz="1200" b="0" i="0" kern="1200">
                <a:solidFill>
                  <a:schemeClr val="tx1"/>
                </a:solidFill>
                <a:effectLst/>
                <a:latin typeface="+mn-lt"/>
                <a:ea typeface="+mn-ea"/>
                <a:cs typeface="+mn-cs"/>
              </a:rPr>
              <a:t> の順で進みます。</a:t>
            </a:r>
          </a:p>
          <a:p>
            <a:pPr fontAlgn="t"/>
            <a:r>
              <a:rPr kumimoji="1" lang="ja-JP" altLang="en-US" sz="1200" b="0" i="0" kern="1200">
                <a:solidFill>
                  <a:schemeClr val="tx1"/>
                </a:solidFill>
                <a:effectLst/>
                <a:latin typeface="+mn-lt"/>
                <a:ea typeface="+mn-ea"/>
                <a:cs typeface="+mn-cs"/>
              </a:rPr>
              <a:t>フローが動くと、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“実行履歴” が表示されますので、</a:t>
            </a:r>
          </a:p>
          <a:p>
            <a:pPr fontAlgn="t"/>
            <a:r>
              <a:rPr kumimoji="1" lang="en-US" altLang="ja-JP" sz="1200" b="0" i="0" kern="1200">
                <a:solidFill>
                  <a:schemeClr val="tx1"/>
                </a:solidFill>
                <a:effectLst/>
                <a:latin typeface="+mn-lt"/>
                <a:ea typeface="+mn-ea"/>
                <a:cs typeface="+mn-cs"/>
              </a:rPr>
              <a:t>Compose</a:t>
            </a:r>
            <a:r>
              <a:rPr kumimoji="1" lang="ja-JP" altLang="en-US" sz="1200" b="0" i="0" kern="1200">
                <a:solidFill>
                  <a:schemeClr val="tx1"/>
                </a:solidFill>
                <a:effectLst/>
                <a:latin typeface="+mn-lt"/>
                <a:ea typeface="+mn-ea"/>
                <a:cs typeface="+mn-cs"/>
              </a:rPr>
              <a:t>（作成）の行を開く</a:t>
            </a:r>
          </a:p>
          <a:p>
            <a:pPr fontAlgn="t"/>
            <a:r>
              <a:rPr kumimoji="1" lang="ja-JP" altLang="en-US" sz="1200" b="0" i="0" kern="1200">
                <a:solidFill>
                  <a:schemeClr val="tx1"/>
                </a:solidFill>
                <a:effectLst/>
                <a:latin typeface="+mn-lt"/>
                <a:ea typeface="+mn-ea"/>
                <a:cs typeface="+mn-cs"/>
              </a:rPr>
              <a:t>「出力（</a:t>
            </a:r>
            <a:r>
              <a:rPr kumimoji="1" lang="en-US" altLang="ja-JP" sz="1200" b="0" i="0" kern="1200">
                <a:solidFill>
                  <a:schemeClr val="tx1"/>
                </a:solidFill>
                <a:effectLst/>
                <a:latin typeface="+mn-lt"/>
                <a:ea typeface="+mn-ea"/>
                <a:cs typeface="+mn-cs"/>
              </a:rPr>
              <a:t>Outputs</a:t>
            </a:r>
            <a:r>
              <a:rPr kumimoji="1" lang="ja-JP" altLang="en-US" sz="1200" b="0" i="0" kern="1200">
                <a:solidFill>
                  <a:schemeClr val="tx1"/>
                </a:solidFill>
                <a:effectLst/>
                <a:latin typeface="+mn-lt"/>
                <a:ea typeface="+mn-ea"/>
                <a:cs typeface="+mn-cs"/>
              </a:rPr>
              <a:t>）」を確認</a:t>
            </a:r>
          </a:p>
          <a:p>
            <a:pPr fontAlgn="t"/>
            <a:r>
              <a:rPr kumimoji="1" lang="ja-JP" altLang="en-US" sz="1200" b="0" i="0" kern="1200">
                <a:solidFill>
                  <a:schemeClr val="tx1"/>
                </a:solidFill>
                <a:effectLst/>
                <a:latin typeface="+mn-lt"/>
                <a:ea typeface="+mn-ea"/>
                <a:cs typeface="+mn-cs"/>
              </a:rPr>
              <a:t>ここに、さきほど入力した</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へようこそ！」</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がそのまま表示されていれば </a:t>
            </a:r>
            <a:r>
              <a:rPr kumimoji="1" lang="ja-JP" altLang="en-US" sz="1200" b="1" i="0" kern="1200">
                <a:solidFill>
                  <a:schemeClr val="tx1"/>
                </a:solidFill>
                <a:effectLst/>
                <a:latin typeface="+mn-lt"/>
                <a:ea typeface="+mn-ea"/>
                <a:cs typeface="+mn-cs"/>
              </a:rPr>
              <a:t>大成功</a:t>
            </a:r>
            <a:r>
              <a:rPr kumimoji="1" lang="ja-JP" altLang="en-US" sz="1200" b="0" i="0" kern="1200">
                <a:solidFill>
                  <a:schemeClr val="tx1"/>
                </a:solidFill>
                <a:effectLst/>
                <a:latin typeface="+mn-lt"/>
                <a:ea typeface="+mn-ea"/>
                <a:cs typeface="+mn-cs"/>
              </a:rPr>
              <a:t> 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成功のポイント</a:t>
            </a:r>
          </a:p>
          <a:p>
            <a:pPr fontAlgn="t"/>
            <a:r>
              <a:rPr kumimoji="1" lang="ja-JP" altLang="en-US" sz="1200" b="0" i="0" kern="1200">
                <a:solidFill>
                  <a:schemeClr val="tx1"/>
                </a:solidFill>
                <a:effectLst/>
                <a:latin typeface="+mn-lt"/>
                <a:ea typeface="+mn-ea"/>
                <a:cs typeface="+mn-cs"/>
              </a:rPr>
              <a:t>今日のハンズオンでは、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「箱を作る → 中をのぞく」</a:t>
            </a:r>
            <a:r>
              <a:rPr kumimoji="1" lang="ja-JP" altLang="en-US" sz="1200" b="0" i="0" kern="1200">
                <a:solidFill>
                  <a:schemeClr val="tx1"/>
                </a:solidFill>
                <a:effectLst/>
                <a:latin typeface="+mn-lt"/>
                <a:ea typeface="+mn-ea"/>
                <a:cs typeface="+mn-cs"/>
              </a:rPr>
              <a:t> という、</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の基本動作の流れそのものを体験しています。</a:t>
            </a:r>
          </a:p>
          <a:p>
            <a:pPr fontAlgn="t"/>
            <a:r>
              <a:rPr kumimoji="1" lang="ja-JP" altLang="en-US" sz="1200" b="0" i="0" kern="1200">
                <a:solidFill>
                  <a:schemeClr val="tx1"/>
                </a:solidFill>
                <a:effectLst/>
                <a:latin typeface="+mn-lt"/>
                <a:ea typeface="+mn-ea"/>
                <a:cs typeface="+mn-cs"/>
              </a:rPr>
              <a:t>この </a:t>
            </a:r>
            <a:r>
              <a:rPr kumimoji="1" lang="en-US" altLang="ja-JP" sz="1200" b="0" i="0" kern="1200">
                <a:solidFill>
                  <a:schemeClr val="tx1"/>
                </a:solidFill>
                <a:effectLst/>
                <a:latin typeface="+mn-lt"/>
                <a:ea typeface="+mn-ea"/>
                <a:cs typeface="+mn-cs"/>
              </a:rPr>
              <a:t>2 </a:t>
            </a:r>
            <a:r>
              <a:rPr kumimoji="1" lang="ja-JP" altLang="en-US" sz="1200" b="0" i="0" kern="1200">
                <a:solidFill>
                  <a:schemeClr val="tx1"/>
                </a:solidFill>
                <a:effectLst/>
                <a:latin typeface="+mn-lt"/>
                <a:ea typeface="+mn-ea"/>
                <a:cs typeface="+mn-cs"/>
              </a:rPr>
              <a:t>ステップが理解できると、</a:t>
            </a:r>
          </a:p>
          <a:p>
            <a:pPr fontAlgn="t"/>
            <a:r>
              <a:rPr kumimoji="1" lang="ja-JP" altLang="en-US" sz="1200" b="0" i="0" kern="1200">
                <a:solidFill>
                  <a:schemeClr val="tx1"/>
                </a:solidFill>
                <a:effectLst/>
                <a:latin typeface="+mn-lt"/>
                <a:ea typeface="+mn-ea"/>
                <a:cs typeface="+mn-cs"/>
              </a:rPr>
              <a:t>件数カウント</a:t>
            </a:r>
          </a:p>
          <a:p>
            <a:pPr fontAlgn="t"/>
            <a:r>
              <a:rPr kumimoji="1" lang="ja-JP" altLang="en-US" sz="1200" b="0" i="0" kern="1200">
                <a:solidFill>
                  <a:schemeClr val="tx1"/>
                </a:solidFill>
                <a:effectLst/>
                <a:latin typeface="+mn-lt"/>
                <a:ea typeface="+mn-ea"/>
                <a:cs typeface="+mn-cs"/>
              </a:rPr>
              <a:t>エラーログの作成</a:t>
            </a:r>
          </a:p>
          <a:p>
            <a:pPr fontAlgn="t"/>
            <a:r>
              <a:rPr kumimoji="1" lang="ja-JP" altLang="en-US" sz="1200" b="0" i="0" kern="1200">
                <a:solidFill>
                  <a:schemeClr val="tx1"/>
                </a:solidFill>
                <a:effectLst/>
                <a:latin typeface="+mn-lt"/>
                <a:ea typeface="+mn-ea"/>
                <a:cs typeface="+mn-cs"/>
              </a:rPr>
              <a:t>承認結果の保持</a:t>
            </a:r>
          </a:p>
          <a:p>
            <a:pPr fontAlgn="t"/>
            <a:r>
              <a:rPr kumimoji="1" lang="ja-JP" altLang="en-US" sz="1200" b="0" i="0" kern="1200">
                <a:solidFill>
                  <a:schemeClr val="tx1"/>
                </a:solidFill>
                <a:effectLst/>
                <a:latin typeface="+mn-lt"/>
                <a:ea typeface="+mn-ea"/>
                <a:cs typeface="+mn-cs"/>
              </a:rPr>
              <a:t>テキストの組み立て</a:t>
            </a:r>
          </a:p>
          <a:p>
            <a:pPr fontAlgn="t"/>
            <a:r>
              <a:rPr kumimoji="1" lang="ja-JP" altLang="en-US" sz="1200" b="0" i="0" kern="1200">
                <a:solidFill>
                  <a:schemeClr val="tx1"/>
                </a:solidFill>
                <a:effectLst/>
                <a:latin typeface="+mn-lt"/>
                <a:ea typeface="+mn-ea"/>
                <a:cs typeface="+mn-cs"/>
              </a:rPr>
              <a:t>など、実務的な自動化につながっていきます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20:48</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12</a:t>
            </a:r>
            <a:r>
              <a:rPr kumimoji="1" lang="ja-JP" altLang="en-US" sz="1200" b="1" i="0" kern="1200">
                <a:solidFill>
                  <a:schemeClr val="tx1"/>
                </a:solidFill>
                <a:effectLst/>
                <a:latin typeface="+mn-lt"/>
                <a:ea typeface="+mn-ea"/>
                <a:cs typeface="+mn-cs"/>
              </a:rPr>
              <a:t>｜チェックポイント再確認（</a:t>
            </a:r>
            <a:r>
              <a:rPr kumimoji="1" lang="en-US" altLang="ja-JP" sz="1200" b="1" i="0" kern="1200">
                <a:solidFill>
                  <a:schemeClr val="tx1"/>
                </a:solidFill>
                <a:effectLst/>
                <a:latin typeface="+mn-lt"/>
                <a:ea typeface="+mn-ea"/>
                <a:cs typeface="+mn-cs"/>
              </a:rPr>
              <a:t>20:48〜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ハンズオンでうまくいかない場合は</a:t>
            </a:r>
            <a:r>
              <a:rPr kumimoji="1" lang="en-US" altLang="ja-JP"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型（</a:t>
            </a:r>
            <a:r>
              <a:rPr kumimoji="1" lang="en-US" altLang="ja-JP" sz="1200" b="0" i="0" kern="1200">
                <a:solidFill>
                  <a:schemeClr val="tx1"/>
                </a:solidFill>
                <a:effectLst/>
                <a:latin typeface="+mn-lt"/>
                <a:ea typeface="+mn-ea"/>
                <a:cs typeface="+mn-cs"/>
              </a:rPr>
              <a:t>String / Integer / Boolean</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名前のスペース</a:t>
            </a:r>
          </a:p>
          <a:p>
            <a:pPr fontAlgn="t"/>
            <a:r>
              <a:rPr kumimoji="1" lang="ja-JP" altLang="en-US" sz="1200" b="0" i="0" kern="1200">
                <a:solidFill>
                  <a:schemeClr val="tx1"/>
                </a:solidFill>
                <a:effectLst/>
                <a:latin typeface="+mn-lt"/>
                <a:ea typeface="+mn-ea"/>
                <a:cs typeface="+mn-cs"/>
              </a:rPr>
              <a:t>動的コンテンツ選択</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つを見直すと、大抵解決します。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20:50</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13</a:t>
            </a:r>
            <a:r>
              <a:rPr kumimoji="1" lang="ja-JP" altLang="en-US" sz="1200" b="1" i="0" kern="1200">
                <a:solidFill>
                  <a:schemeClr val="tx1"/>
                </a:solidFill>
                <a:effectLst/>
                <a:latin typeface="+mn-lt"/>
                <a:ea typeface="+mn-ea"/>
                <a:cs typeface="+mn-cs"/>
              </a:rPr>
              <a:t>｜今日のまとめ（</a:t>
            </a:r>
            <a:r>
              <a:rPr kumimoji="1" lang="en-US" altLang="ja-JP" sz="1200" b="1" i="0" kern="1200">
                <a:solidFill>
                  <a:schemeClr val="tx1"/>
                </a:solidFill>
                <a:effectLst/>
                <a:latin typeface="+mn-lt"/>
                <a:ea typeface="+mn-ea"/>
                <a:cs typeface="+mn-cs"/>
              </a:rPr>
              <a:t>20:50〜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今日の学びは次の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つです。</a:t>
            </a:r>
          </a:p>
          <a:p>
            <a:pPr fontAlgn="t"/>
            <a:r>
              <a:rPr kumimoji="1" lang="ja-JP" altLang="en-US" sz="1200" b="1" i="0" kern="1200">
                <a:solidFill>
                  <a:schemeClr val="tx1"/>
                </a:solidFill>
                <a:effectLst/>
                <a:latin typeface="+mn-lt"/>
                <a:ea typeface="+mn-ea"/>
                <a:cs typeface="+mn-cs"/>
              </a:rPr>
              <a:t>変数 </a:t>
            </a:r>
            <a:r>
              <a:rPr kumimoji="1" lang="en-US" altLang="ja-JP" sz="1200" b="1" i="0" kern="1200">
                <a:solidFill>
                  <a:schemeClr val="tx1"/>
                </a:solidFill>
                <a:effectLst/>
                <a:latin typeface="+mn-lt"/>
                <a:ea typeface="+mn-ea"/>
                <a:cs typeface="+mn-cs"/>
              </a:rPr>
              <a:t>= </a:t>
            </a:r>
            <a:r>
              <a:rPr kumimoji="1" lang="ja-JP" altLang="en-US" sz="1200" b="1" i="0" kern="1200">
                <a:solidFill>
                  <a:schemeClr val="tx1"/>
                </a:solidFill>
                <a:effectLst/>
                <a:latin typeface="+mn-lt"/>
                <a:ea typeface="+mn-ea"/>
                <a:cs typeface="+mn-cs"/>
              </a:rPr>
              <a:t>値を保管する箱</a:t>
            </a:r>
            <a:endParaRPr kumimoji="1" lang="ja-JP" altLang="en-US" sz="1200" b="0" i="0" kern="1200">
              <a:solidFill>
                <a:schemeClr val="tx1"/>
              </a:solidFill>
              <a:effectLst/>
              <a:latin typeface="+mn-lt"/>
              <a:ea typeface="+mn-ea"/>
              <a:cs typeface="+mn-cs"/>
            </a:endParaRPr>
          </a:p>
          <a:p>
            <a:pPr fontAlgn="t"/>
            <a:r>
              <a:rPr kumimoji="1" lang="en-US" altLang="ja-JP" sz="1200" b="1" i="0" kern="1200">
                <a:solidFill>
                  <a:schemeClr val="tx1"/>
                </a:solidFill>
                <a:effectLst/>
                <a:latin typeface="+mn-lt"/>
                <a:ea typeface="+mn-ea"/>
                <a:cs typeface="+mn-cs"/>
              </a:rPr>
              <a:t>Initialize = </a:t>
            </a:r>
            <a:r>
              <a:rPr kumimoji="1" lang="ja-JP" altLang="en-US" sz="1200" b="1" i="0" kern="1200">
                <a:solidFill>
                  <a:schemeClr val="tx1"/>
                </a:solidFill>
                <a:effectLst/>
                <a:latin typeface="+mn-lt"/>
                <a:ea typeface="+mn-ea"/>
                <a:cs typeface="+mn-cs"/>
              </a:rPr>
              <a:t>箱に名前と種類をつける準備</a:t>
            </a:r>
            <a:endParaRPr kumimoji="1" lang="ja-JP" altLang="en-US" sz="1200" b="0" i="0" kern="1200">
              <a:solidFill>
                <a:schemeClr val="tx1"/>
              </a:solidFill>
              <a:effectLst/>
              <a:latin typeface="+mn-lt"/>
              <a:ea typeface="+mn-ea"/>
              <a:cs typeface="+mn-cs"/>
            </a:endParaRPr>
          </a:p>
          <a:p>
            <a:pPr fontAlgn="t"/>
            <a:r>
              <a:rPr kumimoji="1" lang="en-US" altLang="ja-JP" sz="1200" b="1" i="0" kern="1200">
                <a:solidFill>
                  <a:schemeClr val="tx1"/>
                </a:solidFill>
                <a:effectLst/>
                <a:latin typeface="+mn-lt"/>
                <a:ea typeface="+mn-ea"/>
                <a:cs typeface="+mn-cs"/>
              </a:rPr>
              <a:t>Compose = </a:t>
            </a:r>
            <a:r>
              <a:rPr kumimoji="1" lang="ja-JP" altLang="en-US" sz="1200" b="1" i="0" kern="1200">
                <a:solidFill>
                  <a:schemeClr val="tx1"/>
                </a:solidFill>
                <a:effectLst/>
                <a:latin typeface="+mn-lt"/>
                <a:ea typeface="+mn-ea"/>
                <a:cs typeface="+mn-cs"/>
              </a:rPr>
              <a:t>中身を見る窓</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つを押さえておくと、今後扱う</a:t>
            </a:r>
            <a:r>
              <a:rPr kumimoji="1" lang="en-US" altLang="ja-JP" sz="1200" b="0" i="0" kern="1200">
                <a:solidFill>
                  <a:schemeClr val="tx1"/>
                </a:solidFill>
                <a:effectLst/>
                <a:latin typeface="+mn-lt"/>
                <a:ea typeface="+mn-ea"/>
                <a:cs typeface="+mn-cs"/>
              </a:rPr>
              <a:t>Set variable </a:t>
            </a:r>
            <a:r>
              <a:rPr kumimoji="1" lang="ja-JP" altLang="en-US" sz="1200" b="0" i="0" kern="1200">
                <a:solidFill>
                  <a:schemeClr val="tx1"/>
                </a:solidFill>
                <a:effectLst/>
                <a:latin typeface="+mn-lt"/>
                <a:ea typeface="+mn-ea"/>
                <a:cs typeface="+mn-cs"/>
              </a:rPr>
              <a:t>などもスムーズに理解できます。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20:52</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14</a:t>
            </a:r>
            <a:r>
              <a:rPr kumimoji="1" lang="ja-JP" altLang="en-US" sz="1200" b="1" i="0" kern="1200">
                <a:solidFill>
                  <a:schemeClr val="tx1"/>
                </a:solidFill>
                <a:effectLst/>
                <a:latin typeface="+mn-lt"/>
                <a:ea typeface="+mn-ea"/>
                <a:cs typeface="+mn-cs"/>
              </a:rPr>
              <a:t>｜変数の活用事例（</a:t>
            </a:r>
            <a:r>
              <a:rPr kumimoji="1" lang="en-US" altLang="ja-JP" sz="1200" b="1" i="0" kern="1200">
                <a:solidFill>
                  <a:schemeClr val="tx1"/>
                </a:solidFill>
                <a:effectLst/>
                <a:latin typeface="+mn-lt"/>
                <a:ea typeface="+mn-ea"/>
                <a:cs typeface="+mn-cs"/>
              </a:rPr>
              <a:t>20:52〜 / 3</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詳細版｜業務での実例を強化</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ここからは、今日学んだ「変数」が </a:t>
            </a:r>
            <a:r>
              <a:rPr kumimoji="1" lang="ja-JP" altLang="en-US" sz="1200" b="1" i="0" kern="1200">
                <a:solidFill>
                  <a:schemeClr val="tx1"/>
                </a:solidFill>
                <a:effectLst/>
                <a:latin typeface="+mn-lt"/>
                <a:ea typeface="+mn-ea"/>
                <a:cs typeface="+mn-cs"/>
              </a:rPr>
              <a:t>実際の業務でどう活かせるのか</a:t>
            </a:r>
            <a:r>
              <a:rPr kumimoji="1" lang="ja-JP" altLang="en-US" sz="1200" b="0" i="0" kern="1200">
                <a:solidFill>
                  <a:schemeClr val="tx1"/>
                </a:solidFill>
                <a:effectLst/>
                <a:latin typeface="+mn-lt"/>
                <a:ea typeface="+mn-ea"/>
                <a:cs typeface="+mn-cs"/>
              </a:rPr>
              <a:t> 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具体的なシーンを使いながら紹介していきます。</a:t>
            </a:r>
          </a:p>
          <a:p>
            <a:pPr fontAlgn="t"/>
            <a:r>
              <a:rPr kumimoji="1" lang="ja-JP" altLang="en-US" sz="1200" b="0" i="0" kern="1200">
                <a:solidFill>
                  <a:schemeClr val="tx1"/>
                </a:solidFill>
                <a:effectLst/>
                <a:latin typeface="+mn-lt"/>
                <a:ea typeface="+mn-ea"/>
                <a:cs typeface="+mn-cs"/>
              </a:rPr>
              <a:t>変数は、</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の中で「一時的に情報を持ち運ぶ」ための仕組みです。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これを使いこなすだけで、フローの幅が一気に広がります。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① </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（文字）活用例：メールの自動返信を“個別化”する</a:t>
            </a:r>
          </a:p>
          <a:p>
            <a:pPr fontAlgn="t"/>
            <a:r>
              <a:rPr kumimoji="1" lang="ja-JP" altLang="en-US" sz="1200" b="0" i="0" kern="1200">
                <a:solidFill>
                  <a:schemeClr val="tx1"/>
                </a:solidFill>
                <a:effectLst/>
                <a:latin typeface="+mn-lt"/>
                <a:ea typeface="+mn-ea"/>
                <a:cs typeface="+mn-cs"/>
              </a:rPr>
              <a:t>まずは </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（文字）</a:t>
            </a:r>
            <a:r>
              <a:rPr kumimoji="1" lang="ja-JP" altLang="en-US" sz="1200" b="0" i="0" kern="1200">
                <a:solidFill>
                  <a:schemeClr val="tx1"/>
                </a:solidFill>
                <a:effectLst/>
                <a:latin typeface="+mn-lt"/>
                <a:ea typeface="+mn-ea"/>
                <a:cs typeface="+mn-cs"/>
              </a:rPr>
              <a:t> の活用例です。</a:t>
            </a:r>
          </a:p>
          <a:p>
            <a:pPr fontAlgn="t"/>
            <a:r>
              <a:rPr kumimoji="1" lang="ja-JP" altLang="en-US" sz="1200" b="1" i="0" kern="1200">
                <a:solidFill>
                  <a:schemeClr val="tx1"/>
                </a:solidFill>
                <a:effectLst/>
                <a:latin typeface="+mn-lt"/>
                <a:ea typeface="+mn-ea"/>
                <a:cs typeface="+mn-cs"/>
              </a:rPr>
              <a:t>● 業務シーン</a:t>
            </a:r>
          </a:p>
          <a:p>
            <a:pPr fontAlgn="t"/>
            <a:r>
              <a:rPr kumimoji="1" lang="ja-JP" altLang="en-US" sz="1200" b="0" i="0" kern="1200">
                <a:solidFill>
                  <a:schemeClr val="tx1"/>
                </a:solidFill>
                <a:effectLst/>
                <a:latin typeface="+mn-lt"/>
                <a:ea typeface="+mn-ea"/>
                <a:cs typeface="+mn-cs"/>
              </a:rPr>
              <a:t>問い合わせメールの返信を毎回「定型文＋相手の名前」で返したい。</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でも毎回手打ちは大変だし、入力ミスも起きやすい</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 変数の使い方</a:t>
            </a:r>
          </a:p>
          <a:p>
            <a:pPr fontAlgn="t"/>
            <a:r>
              <a:rPr kumimoji="1" lang="ja-JP" altLang="en-US" sz="1200" b="0" i="0" kern="1200">
                <a:solidFill>
                  <a:schemeClr val="tx1"/>
                </a:solidFill>
                <a:effectLst/>
                <a:latin typeface="+mn-lt"/>
                <a:ea typeface="+mn-ea"/>
                <a:cs typeface="+mn-cs"/>
              </a:rPr>
              <a:t>メールの差出人を取得</a:t>
            </a:r>
          </a:p>
          <a:p>
            <a:pPr fontAlgn="t"/>
            <a:r>
              <a:rPr kumimoji="1" lang="ja-JP" altLang="en-US" sz="1200" b="0" i="0" kern="1200">
                <a:solidFill>
                  <a:schemeClr val="tx1"/>
                </a:solidFill>
                <a:effectLst/>
                <a:latin typeface="+mn-lt"/>
                <a:ea typeface="+mn-ea"/>
                <a:cs typeface="+mn-cs"/>
              </a:rPr>
              <a:t>名前部分だけ抜き出し</a:t>
            </a:r>
          </a:p>
          <a:p>
            <a:pPr fontAlgn="t"/>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変数に “〇〇様” として保存</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その変数を自動返信文に差し込む</a:t>
            </a:r>
          </a:p>
          <a:p>
            <a:pPr fontAlgn="t"/>
            <a:r>
              <a:rPr kumimoji="1" lang="ja-JP" altLang="en-US" sz="1200" b="1" i="0" kern="1200">
                <a:solidFill>
                  <a:schemeClr val="tx1"/>
                </a:solidFill>
                <a:effectLst/>
                <a:latin typeface="+mn-lt"/>
                <a:ea typeface="+mn-ea"/>
                <a:cs typeface="+mn-cs"/>
              </a:rPr>
              <a:t>● 自動化するとこうなる</a:t>
            </a:r>
          </a:p>
          <a:p>
            <a:pPr fontAlgn="t"/>
            <a:r>
              <a:rPr kumimoji="1" lang="ja-JP" altLang="en-US" sz="1200" b="0" i="0" kern="1200">
                <a:solidFill>
                  <a:schemeClr val="tx1"/>
                </a:solidFill>
                <a:effectLst/>
                <a:latin typeface="+mn-lt"/>
                <a:ea typeface="+mn-ea"/>
                <a:cs typeface="+mn-cs"/>
              </a:rPr>
              <a:t>「〇〇様、お問い合わせありがとうございます。」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 </a:t>
            </a:r>
            <a:r>
              <a:rPr kumimoji="1" lang="ja-JP" altLang="en-US" sz="1200" b="1" i="0" kern="1200">
                <a:solidFill>
                  <a:schemeClr val="tx1"/>
                </a:solidFill>
                <a:effectLst/>
                <a:latin typeface="+mn-lt"/>
                <a:ea typeface="+mn-ea"/>
                <a:cs typeface="+mn-cs"/>
              </a:rPr>
              <a:t>個別化された返信文を自動で作成</a:t>
            </a:r>
            <a:r>
              <a:rPr kumimoji="1" lang="ja-JP" altLang="en-US" sz="1200" b="0" i="0" kern="1200">
                <a:solidFill>
                  <a:schemeClr val="tx1"/>
                </a:solidFill>
                <a:effectLst/>
                <a:latin typeface="+mn-lt"/>
                <a:ea typeface="+mn-ea"/>
                <a:cs typeface="+mn-cs"/>
              </a:rPr>
              <a:t>できます。</a:t>
            </a:r>
          </a:p>
          <a:p>
            <a:pPr fontAlgn="t"/>
            <a:r>
              <a:rPr kumimoji="1" lang="ja-JP" altLang="en-US" sz="1200" b="0" i="0" kern="1200">
                <a:solidFill>
                  <a:schemeClr val="tx1"/>
                </a:solidFill>
                <a:effectLst/>
                <a:latin typeface="+mn-lt"/>
                <a:ea typeface="+mn-ea"/>
                <a:cs typeface="+mn-cs"/>
              </a:rPr>
              <a:t>たった</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つ</a:t>
            </a:r>
            <a:r>
              <a:rPr kumimoji="1" lang="en-US" altLang="ja-JP" sz="1200" b="0" i="0" kern="1200">
                <a:solidFill>
                  <a:schemeClr val="tx1"/>
                </a:solidFill>
                <a:effectLst/>
                <a:latin typeface="+mn-lt"/>
                <a:ea typeface="+mn-ea"/>
                <a:cs typeface="+mn-cs"/>
              </a:rPr>
              <a:t>String</a:t>
            </a:r>
            <a:r>
              <a:rPr kumimoji="1" lang="ja-JP" altLang="en-US" sz="1200" b="0" i="0" kern="1200">
                <a:solidFill>
                  <a:schemeClr val="tx1"/>
                </a:solidFill>
                <a:effectLst/>
                <a:latin typeface="+mn-lt"/>
                <a:ea typeface="+mn-ea"/>
                <a:cs typeface="+mn-cs"/>
              </a:rPr>
              <a:t>変数を使うだけで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「相手に合わせた返信」を完全自動化</a:t>
            </a:r>
            <a:r>
              <a:rPr kumimoji="1" lang="ja-JP" altLang="en-US" sz="1200" b="0" i="0" kern="1200">
                <a:solidFill>
                  <a:schemeClr val="tx1"/>
                </a:solidFill>
                <a:effectLst/>
                <a:latin typeface="+mn-lt"/>
                <a:ea typeface="+mn-ea"/>
                <a:cs typeface="+mn-cs"/>
              </a:rPr>
              <a:t>できる好例です。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② </a:t>
            </a:r>
            <a:r>
              <a:rPr kumimoji="1" lang="en-US" altLang="ja-JP" sz="1200" b="1" i="0" kern="1200">
                <a:solidFill>
                  <a:schemeClr val="tx1"/>
                </a:solidFill>
                <a:effectLst/>
                <a:latin typeface="+mn-lt"/>
                <a:ea typeface="+mn-ea"/>
                <a:cs typeface="+mn-cs"/>
              </a:rPr>
              <a:t>Integer</a:t>
            </a:r>
            <a:r>
              <a:rPr kumimoji="1" lang="ja-JP" altLang="en-US" sz="1200" b="1" i="0" kern="1200">
                <a:solidFill>
                  <a:schemeClr val="tx1"/>
                </a:solidFill>
                <a:effectLst/>
                <a:latin typeface="+mn-lt"/>
                <a:ea typeface="+mn-ea"/>
                <a:cs typeface="+mn-cs"/>
              </a:rPr>
              <a:t>（数値）活用例：日次集計レポートの自動化</a:t>
            </a:r>
          </a:p>
          <a:p>
            <a:pPr fontAlgn="t"/>
            <a:r>
              <a:rPr kumimoji="1" lang="ja-JP" altLang="en-US" sz="1200" b="0" i="0" kern="1200">
                <a:solidFill>
                  <a:schemeClr val="tx1"/>
                </a:solidFill>
                <a:effectLst/>
                <a:latin typeface="+mn-lt"/>
                <a:ea typeface="+mn-ea"/>
                <a:cs typeface="+mn-cs"/>
              </a:rPr>
              <a:t>次は </a:t>
            </a:r>
            <a:r>
              <a:rPr kumimoji="1" lang="en-US" altLang="ja-JP" sz="1200" b="1" i="0" kern="1200">
                <a:solidFill>
                  <a:schemeClr val="tx1"/>
                </a:solidFill>
                <a:effectLst/>
                <a:latin typeface="+mn-lt"/>
                <a:ea typeface="+mn-ea"/>
                <a:cs typeface="+mn-cs"/>
              </a:rPr>
              <a:t>Integer</a:t>
            </a:r>
            <a:r>
              <a:rPr kumimoji="1" lang="ja-JP" altLang="en-US" sz="1200" b="1" i="0" kern="1200">
                <a:solidFill>
                  <a:schemeClr val="tx1"/>
                </a:solidFill>
                <a:effectLst/>
                <a:latin typeface="+mn-lt"/>
                <a:ea typeface="+mn-ea"/>
                <a:cs typeface="+mn-cs"/>
              </a:rPr>
              <a:t>（数値）の変数</a:t>
            </a:r>
            <a:r>
              <a:rPr kumimoji="1" lang="ja-JP" altLang="en-US" sz="1200" b="0" i="0" kern="1200">
                <a:solidFill>
                  <a:schemeClr val="tx1"/>
                </a:solidFill>
                <a:effectLst/>
                <a:latin typeface="+mn-lt"/>
                <a:ea typeface="+mn-ea"/>
                <a:cs typeface="+mn-cs"/>
              </a:rPr>
              <a:t>です。</a:t>
            </a:r>
          </a:p>
          <a:p>
            <a:pPr fontAlgn="t"/>
            <a:r>
              <a:rPr kumimoji="1" lang="ja-JP" altLang="en-US" sz="1200" b="1" i="0" kern="1200">
                <a:solidFill>
                  <a:schemeClr val="tx1"/>
                </a:solidFill>
                <a:effectLst/>
                <a:latin typeface="+mn-lt"/>
                <a:ea typeface="+mn-ea"/>
                <a:cs typeface="+mn-cs"/>
              </a:rPr>
              <a:t>● 業務シーン</a:t>
            </a:r>
          </a:p>
          <a:p>
            <a:pPr fontAlgn="t"/>
            <a:r>
              <a:rPr kumimoji="1" lang="en-US" altLang="ja-JP" sz="1200" b="0" i="0" kern="1200">
                <a:solidFill>
                  <a:schemeClr val="tx1"/>
                </a:solidFill>
                <a:effectLst/>
                <a:latin typeface="+mn-lt"/>
                <a:ea typeface="+mn-ea"/>
                <a:cs typeface="+mn-cs"/>
              </a:rPr>
              <a:t>SharePoint</a:t>
            </a:r>
            <a:r>
              <a:rPr kumimoji="1" lang="ja-JP" altLang="en-US" sz="1200" b="0" i="0" kern="1200">
                <a:solidFill>
                  <a:schemeClr val="tx1"/>
                </a:solidFill>
                <a:effectLst/>
                <a:latin typeface="+mn-lt"/>
                <a:ea typeface="+mn-ea"/>
                <a:cs typeface="+mn-cs"/>
              </a:rPr>
              <a:t>リストを毎日処理している</a:t>
            </a:r>
          </a:p>
          <a:p>
            <a:pPr fontAlgn="t"/>
            <a:r>
              <a:rPr kumimoji="1" lang="ja-JP" altLang="en-US" sz="1200" b="0" i="0" kern="1200">
                <a:solidFill>
                  <a:schemeClr val="tx1"/>
                </a:solidFill>
                <a:effectLst/>
                <a:latin typeface="+mn-lt"/>
                <a:ea typeface="+mn-ea"/>
                <a:cs typeface="+mn-cs"/>
              </a:rPr>
              <a:t>「今日何件処理したのか？」をまとめて報告したい</a:t>
            </a:r>
          </a:p>
          <a:p>
            <a:pPr fontAlgn="t"/>
            <a:r>
              <a:rPr kumimoji="1" lang="ja-JP" altLang="en-US" sz="1200" b="0" i="0" kern="1200">
                <a:solidFill>
                  <a:schemeClr val="tx1"/>
                </a:solidFill>
                <a:effectLst/>
                <a:latin typeface="+mn-lt"/>
                <a:ea typeface="+mn-ea"/>
                <a:cs typeface="+mn-cs"/>
              </a:rPr>
              <a:t>でも毎回数えるのが手間</a:t>
            </a:r>
            <a:r>
              <a:rPr kumimoji="1" lang="en-US" altLang="ja-JP"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 変数の使い方</a:t>
            </a:r>
          </a:p>
          <a:p>
            <a:pPr fontAlgn="t"/>
            <a:r>
              <a:rPr kumimoji="1" lang="ja-JP" altLang="en-US" sz="1200" b="0" i="0" kern="1200">
                <a:solidFill>
                  <a:schemeClr val="tx1"/>
                </a:solidFill>
                <a:effectLst/>
                <a:latin typeface="+mn-lt"/>
                <a:ea typeface="+mn-ea"/>
                <a:cs typeface="+mn-cs"/>
              </a:rPr>
              <a:t>変数 </a:t>
            </a:r>
            <a:r>
              <a:rPr kumimoji="1" lang="en-US" altLang="ja-JP" sz="1200" b="0" i="0" kern="1200">
                <a:solidFill>
                  <a:schemeClr val="tx1"/>
                </a:solidFill>
                <a:effectLst/>
                <a:latin typeface="+mn-lt"/>
                <a:ea typeface="+mn-ea"/>
                <a:cs typeface="+mn-cs"/>
              </a:rPr>
              <a:t>count = 0</a:t>
            </a:r>
            <a:r>
              <a:rPr kumimoji="1" lang="ja-JP" altLang="en-US" sz="1200" b="0" i="0" kern="1200">
                <a:solidFill>
                  <a:schemeClr val="tx1"/>
                </a:solidFill>
                <a:effectLst/>
                <a:latin typeface="+mn-lt"/>
                <a:ea typeface="+mn-ea"/>
                <a:cs typeface="+mn-cs"/>
              </a:rPr>
              <a:t> を用意</a:t>
            </a:r>
          </a:p>
          <a:p>
            <a:pPr fontAlgn="t"/>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レコード処理するごとに</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Set variable → count = count + 1</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最後に「合計〇件処理しました」を</a:t>
            </a:r>
            <a:r>
              <a:rPr kumimoji="1" lang="en-US" altLang="ja-JP" sz="1200" b="0" i="0" kern="1200">
                <a:solidFill>
                  <a:schemeClr val="tx1"/>
                </a:solidFill>
                <a:effectLst/>
                <a:latin typeface="+mn-lt"/>
                <a:ea typeface="+mn-ea"/>
                <a:cs typeface="+mn-cs"/>
              </a:rPr>
              <a:t>Teams</a:t>
            </a:r>
            <a:r>
              <a:rPr kumimoji="1" lang="ja-JP" altLang="en-US" sz="1200" b="0" i="0" kern="1200">
                <a:solidFill>
                  <a:schemeClr val="tx1"/>
                </a:solidFill>
                <a:effectLst/>
                <a:latin typeface="+mn-lt"/>
                <a:ea typeface="+mn-ea"/>
                <a:cs typeface="+mn-cs"/>
              </a:rPr>
              <a:t>に投稿</a:t>
            </a:r>
          </a:p>
          <a:p>
            <a:pPr fontAlgn="t"/>
            <a:r>
              <a:rPr kumimoji="1" lang="ja-JP" altLang="en-US" sz="1200" b="1" i="0" kern="1200">
                <a:solidFill>
                  <a:schemeClr val="tx1"/>
                </a:solidFill>
                <a:effectLst/>
                <a:latin typeface="+mn-lt"/>
                <a:ea typeface="+mn-ea"/>
                <a:cs typeface="+mn-cs"/>
              </a:rPr>
              <a:t>● 自動化するとこうなる</a:t>
            </a:r>
          </a:p>
          <a:p>
            <a:pPr fontAlgn="t"/>
            <a:r>
              <a:rPr kumimoji="1" lang="ja-JP" altLang="en-US" sz="1200" b="0" i="0" kern="1200">
                <a:solidFill>
                  <a:schemeClr val="tx1"/>
                </a:solidFill>
                <a:effectLst/>
                <a:latin typeface="+mn-lt"/>
                <a:ea typeface="+mn-ea"/>
                <a:cs typeface="+mn-cs"/>
              </a:rPr>
              <a:t>手作業で数えなくても、</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「本日は </a:t>
            </a:r>
            <a:r>
              <a:rPr kumimoji="1" lang="en-US" altLang="ja-JP" sz="1200" b="1" i="0" kern="1200">
                <a:solidFill>
                  <a:schemeClr val="tx1"/>
                </a:solidFill>
                <a:effectLst/>
                <a:latin typeface="+mn-lt"/>
                <a:ea typeface="+mn-ea"/>
                <a:cs typeface="+mn-cs"/>
              </a:rPr>
              <a:t>50 </a:t>
            </a:r>
            <a:r>
              <a:rPr kumimoji="1" lang="ja-JP" altLang="en-US" sz="1200" b="1" i="0" kern="1200">
                <a:solidFill>
                  <a:schemeClr val="tx1"/>
                </a:solidFill>
                <a:effectLst/>
                <a:latin typeface="+mn-lt"/>
                <a:ea typeface="+mn-ea"/>
                <a:cs typeface="+mn-cs"/>
              </a:rPr>
              <a:t>件処理しました」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と毎日自動でレポートされます。</a:t>
            </a:r>
          </a:p>
          <a:p>
            <a:pPr fontAlgn="t"/>
            <a:r>
              <a:rPr kumimoji="1" lang="ja-JP" altLang="en-US" sz="1200" b="0" i="0" kern="1200">
                <a:solidFill>
                  <a:schemeClr val="tx1"/>
                </a:solidFill>
                <a:effectLst/>
                <a:latin typeface="+mn-lt"/>
                <a:ea typeface="+mn-ea"/>
                <a:cs typeface="+mn-cs"/>
              </a:rPr>
              <a:t>特にバックオフィスやデータ処理業務では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このパターンが非常によく使われます。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③ </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（はい</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いいえ）活用例：承認ワークフローの分岐</a:t>
            </a:r>
          </a:p>
          <a:p>
            <a:pPr fontAlgn="t"/>
            <a:r>
              <a:rPr kumimoji="1" lang="ja-JP" altLang="en-US" sz="1200" b="0" i="0" kern="1200">
                <a:solidFill>
                  <a:schemeClr val="tx1"/>
                </a:solidFill>
                <a:effectLst/>
                <a:latin typeface="+mn-lt"/>
                <a:ea typeface="+mn-ea"/>
                <a:cs typeface="+mn-cs"/>
              </a:rPr>
              <a:t>最後は </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（真偽値）</a:t>
            </a:r>
            <a:r>
              <a:rPr kumimoji="1" lang="ja-JP" altLang="en-US"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 業務シーン</a:t>
            </a:r>
          </a:p>
          <a:p>
            <a:pPr fontAlgn="t"/>
            <a:r>
              <a:rPr kumimoji="1" lang="ja-JP" altLang="en-US" sz="1200" b="0" i="0" kern="1200">
                <a:solidFill>
                  <a:schemeClr val="tx1"/>
                </a:solidFill>
                <a:effectLst/>
                <a:latin typeface="+mn-lt"/>
                <a:ea typeface="+mn-ea"/>
                <a:cs typeface="+mn-cs"/>
              </a:rPr>
              <a:t>承認フローで</a:t>
            </a:r>
          </a:p>
          <a:p>
            <a:pPr fontAlgn="t"/>
            <a:r>
              <a:rPr kumimoji="1" lang="ja-JP" altLang="en-US" sz="1200" b="0" i="0" kern="1200">
                <a:solidFill>
                  <a:schemeClr val="tx1"/>
                </a:solidFill>
                <a:effectLst/>
                <a:latin typeface="+mn-lt"/>
                <a:ea typeface="+mn-ea"/>
                <a:cs typeface="+mn-cs"/>
              </a:rPr>
              <a:t>承認されたとき</a:t>
            </a:r>
          </a:p>
          <a:p>
            <a:pPr fontAlgn="t"/>
            <a:r>
              <a:rPr kumimoji="1" lang="ja-JP" altLang="en-US" sz="1200" b="0" i="0" kern="1200">
                <a:solidFill>
                  <a:schemeClr val="tx1"/>
                </a:solidFill>
                <a:effectLst/>
                <a:latin typeface="+mn-lt"/>
                <a:ea typeface="+mn-ea"/>
                <a:cs typeface="+mn-cs"/>
              </a:rPr>
              <a:t>却下されたとき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で後続の動作を変えたい。</a:t>
            </a:r>
          </a:p>
          <a:p>
            <a:pPr fontAlgn="t"/>
            <a:r>
              <a:rPr kumimoji="1" lang="ja-JP" altLang="en-US" sz="1200" b="1" i="0" kern="1200">
                <a:solidFill>
                  <a:schemeClr val="tx1"/>
                </a:solidFill>
                <a:effectLst/>
                <a:latin typeface="+mn-lt"/>
                <a:ea typeface="+mn-ea"/>
                <a:cs typeface="+mn-cs"/>
              </a:rPr>
              <a:t>● 変数の使い方</a:t>
            </a:r>
          </a:p>
          <a:p>
            <a:pPr fontAlgn="t"/>
            <a:r>
              <a:rPr kumimoji="1" lang="ja-JP" altLang="en-US" sz="1200" b="0" i="0" kern="1200">
                <a:solidFill>
                  <a:schemeClr val="tx1"/>
                </a:solidFill>
                <a:effectLst/>
                <a:latin typeface="+mn-lt"/>
                <a:ea typeface="+mn-ea"/>
                <a:cs typeface="+mn-cs"/>
              </a:rPr>
              <a:t>承認なら </a:t>
            </a:r>
            <a:r>
              <a:rPr kumimoji="1" lang="en-US" altLang="ja-JP" sz="1200" b="0" i="0" kern="1200">
                <a:solidFill>
                  <a:schemeClr val="tx1"/>
                </a:solidFill>
                <a:effectLst/>
                <a:latin typeface="+mn-lt"/>
                <a:ea typeface="+mn-ea"/>
                <a:cs typeface="+mn-cs"/>
              </a:rPr>
              <a:t>isApproved = true</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却下なら </a:t>
            </a:r>
            <a:r>
              <a:rPr kumimoji="1" lang="en-US" altLang="ja-JP" sz="1200" b="0" i="0" kern="1200">
                <a:solidFill>
                  <a:schemeClr val="tx1"/>
                </a:solidFill>
                <a:effectLst/>
                <a:latin typeface="+mn-lt"/>
                <a:ea typeface="+mn-ea"/>
                <a:cs typeface="+mn-cs"/>
              </a:rPr>
              <a:t>isApproved = false</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 </a:t>
            </a:r>
            <a:r>
              <a:rPr kumimoji="1" lang="ja-JP" altLang="en-US" sz="1200" b="1" i="0" kern="1200">
                <a:solidFill>
                  <a:schemeClr val="tx1"/>
                </a:solidFill>
                <a:effectLst/>
                <a:latin typeface="+mn-lt"/>
                <a:ea typeface="+mn-ea"/>
                <a:cs typeface="+mn-cs"/>
              </a:rPr>
              <a:t>変数に状態を保存</a:t>
            </a:r>
            <a:r>
              <a:rPr kumimoji="1" lang="ja-JP" altLang="en-US" sz="1200" b="0" i="0" kern="1200">
                <a:solidFill>
                  <a:schemeClr val="tx1"/>
                </a:solidFill>
                <a:effectLst/>
                <a:latin typeface="+mn-lt"/>
                <a:ea typeface="+mn-ea"/>
                <a:cs typeface="+mn-cs"/>
              </a:rPr>
              <a:t>しておく。</a:t>
            </a:r>
          </a:p>
          <a:p>
            <a:pPr fontAlgn="t"/>
            <a:r>
              <a:rPr kumimoji="1" lang="ja-JP" altLang="en-US" sz="1200" b="0" i="0" kern="1200">
                <a:solidFill>
                  <a:schemeClr val="tx1"/>
                </a:solidFill>
                <a:effectLst/>
                <a:latin typeface="+mn-lt"/>
                <a:ea typeface="+mn-ea"/>
                <a:cs typeface="+mn-cs"/>
              </a:rPr>
              <a:t>後続のアクションでは</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true </a:t>
            </a:r>
            <a:r>
              <a:rPr kumimoji="1" lang="ja-JP" altLang="en-US" sz="1200" b="1" i="0" kern="1200">
                <a:solidFill>
                  <a:schemeClr val="tx1"/>
                </a:solidFill>
                <a:effectLst/>
                <a:latin typeface="+mn-lt"/>
                <a:ea typeface="+mn-ea"/>
                <a:cs typeface="+mn-cs"/>
              </a:rPr>
              <a:t>なら次の処理へ</a:t>
            </a:r>
            <a:br>
              <a:rPr kumimoji="1" lang="ja-JP" altLang="en-US" sz="1200" b="1"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false </a:t>
            </a:r>
            <a:r>
              <a:rPr kumimoji="1" lang="ja-JP" altLang="en-US" sz="1200" b="1" i="0" kern="1200">
                <a:solidFill>
                  <a:schemeClr val="tx1"/>
                </a:solidFill>
                <a:effectLst/>
                <a:latin typeface="+mn-lt"/>
                <a:ea typeface="+mn-ea"/>
                <a:cs typeface="+mn-cs"/>
              </a:rPr>
              <a:t>なら申請者に差し戻し通知</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というような分岐が簡単に作れます。</a:t>
            </a:r>
          </a:p>
          <a:p>
            <a:pPr fontAlgn="t"/>
            <a:r>
              <a:rPr kumimoji="1" lang="ja-JP" altLang="en-US" sz="1200" b="1" i="0" kern="1200">
                <a:solidFill>
                  <a:schemeClr val="tx1"/>
                </a:solidFill>
                <a:effectLst/>
                <a:latin typeface="+mn-lt"/>
                <a:ea typeface="+mn-ea"/>
                <a:cs typeface="+mn-cs"/>
              </a:rPr>
              <a:t>● 自動化するとこうなる</a:t>
            </a:r>
          </a:p>
          <a:p>
            <a:pPr fontAlgn="t"/>
            <a:r>
              <a:rPr kumimoji="1" lang="ja-JP" altLang="en-US" sz="1200" b="0" i="0" kern="1200">
                <a:solidFill>
                  <a:schemeClr val="tx1"/>
                </a:solidFill>
                <a:effectLst/>
                <a:latin typeface="+mn-lt"/>
                <a:ea typeface="+mn-ea"/>
                <a:cs typeface="+mn-cs"/>
              </a:rPr>
              <a:t>承認者の判断に応じて、</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自動で“次の一手”を動かしてくれるワークフロー</a:t>
            </a:r>
            <a:r>
              <a:rPr kumimoji="1" lang="ja-JP" altLang="en-US" sz="1200" b="0" i="0" kern="1200">
                <a:solidFill>
                  <a:schemeClr val="tx1"/>
                </a:solidFill>
                <a:effectLst/>
                <a:latin typeface="+mn-lt"/>
                <a:ea typeface="+mn-ea"/>
                <a:cs typeface="+mn-cs"/>
              </a:rPr>
              <a:t>が完成します。</a:t>
            </a:r>
          </a:p>
          <a:p>
            <a:pPr fontAlgn="t"/>
            <a:r>
              <a:rPr kumimoji="1" lang="ja-JP" altLang="en-US" sz="1200" b="0" i="0" kern="1200">
                <a:solidFill>
                  <a:schemeClr val="tx1"/>
                </a:solidFill>
                <a:effectLst/>
                <a:latin typeface="+mn-lt"/>
                <a:ea typeface="+mn-ea"/>
                <a:cs typeface="+mn-cs"/>
              </a:rPr>
              <a:t>企業の申請系システムで最も多いパターンです。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今日の学びがつながるポイント</a:t>
            </a:r>
          </a:p>
          <a:p>
            <a:pPr fontAlgn="t"/>
            <a:r>
              <a:rPr kumimoji="1" lang="ja-JP" altLang="en-US" sz="1200" b="0" i="0" kern="1200">
                <a:solidFill>
                  <a:schemeClr val="tx1"/>
                </a:solidFill>
                <a:effectLst/>
                <a:latin typeface="+mn-lt"/>
                <a:ea typeface="+mn-ea"/>
                <a:cs typeface="+mn-cs"/>
              </a:rPr>
              <a:t>今日学んだ「変数の初期化」は、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これらの実務フローの </a:t>
            </a:r>
            <a:r>
              <a:rPr kumimoji="1" lang="ja-JP" altLang="en-US" sz="1200" b="1" i="0" kern="1200">
                <a:solidFill>
                  <a:schemeClr val="tx1"/>
                </a:solidFill>
                <a:effectLst/>
                <a:latin typeface="+mn-lt"/>
                <a:ea typeface="+mn-ea"/>
                <a:cs typeface="+mn-cs"/>
              </a:rPr>
              <a:t>“入り口となる基礎”</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名前の差し込み</a:t>
            </a:r>
          </a:p>
          <a:p>
            <a:pPr fontAlgn="t"/>
            <a:r>
              <a:rPr kumimoji="1" lang="ja-JP" altLang="en-US" sz="1200" b="0" i="0" kern="1200">
                <a:solidFill>
                  <a:schemeClr val="tx1"/>
                </a:solidFill>
                <a:effectLst/>
                <a:latin typeface="+mn-lt"/>
                <a:ea typeface="+mn-ea"/>
                <a:cs typeface="+mn-cs"/>
              </a:rPr>
              <a:t>件数の集計</a:t>
            </a:r>
          </a:p>
          <a:p>
            <a:pPr fontAlgn="t"/>
            <a:r>
              <a:rPr kumimoji="1" lang="ja-JP" altLang="en-US" sz="1200" b="0" i="0" kern="1200">
                <a:solidFill>
                  <a:schemeClr val="tx1"/>
                </a:solidFill>
                <a:effectLst/>
                <a:latin typeface="+mn-lt"/>
                <a:ea typeface="+mn-ea"/>
                <a:cs typeface="+mn-cs"/>
              </a:rPr>
              <a:t>状態管理</a:t>
            </a:r>
          </a:p>
          <a:p>
            <a:pPr fontAlgn="t"/>
            <a:r>
              <a:rPr kumimoji="1" lang="ja-JP" altLang="en-US" sz="1200" b="0" i="0" kern="1200">
                <a:solidFill>
                  <a:schemeClr val="tx1"/>
                </a:solidFill>
                <a:effectLst/>
                <a:latin typeface="+mn-lt"/>
                <a:ea typeface="+mn-ea"/>
                <a:cs typeface="+mn-cs"/>
              </a:rPr>
              <a:t>ログの作成</a:t>
            </a:r>
          </a:p>
          <a:p>
            <a:pPr fontAlgn="t"/>
            <a:r>
              <a:rPr kumimoji="1" lang="ja-JP" altLang="en-US" sz="1200" b="0" i="0" kern="1200">
                <a:solidFill>
                  <a:schemeClr val="tx1"/>
                </a:solidFill>
                <a:effectLst/>
                <a:latin typeface="+mn-lt"/>
                <a:ea typeface="+mn-ea"/>
                <a:cs typeface="+mn-cs"/>
              </a:rPr>
              <a:t>条件分岐の判断材料</a:t>
            </a:r>
          </a:p>
          <a:p>
            <a:pPr fontAlgn="t"/>
            <a:r>
              <a:rPr kumimoji="1" lang="ja-JP" altLang="en-US" sz="1200" b="0" i="0" kern="1200">
                <a:solidFill>
                  <a:schemeClr val="tx1"/>
                </a:solidFill>
                <a:effectLst/>
                <a:latin typeface="+mn-lt"/>
                <a:ea typeface="+mn-ea"/>
                <a:cs typeface="+mn-cs"/>
              </a:rPr>
              <a:t>すべて「変数」を理解していることで作れるようになります。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講師コメント</a:t>
            </a:r>
          </a:p>
          <a:p>
            <a:pPr fontAlgn="t"/>
            <a:r>
              <a:rPr kumimoji="1" lang="ja-JP" altLang="en-US" sz="1200" b="0" i="0" kern="1200">
                <a:solidFill>
                  <a:schemeClr val="tx1"/>
                </a:solidFill>
                <a:effectLst/>
                <a:latin typeface="+mn-lt"/>
                <a:ea typeface="+mn-ea"/>
                <a:cs typeface="+mn-cs"/>
              </a:rPr>
              <a:t>変数は難しそうに見えますが、</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“よく使う</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種類を自然に選べるようになること”</a:t>
            </a:r>
            <a:r>
              <a:rPr kumimoji="1" lang="ja-JP" altLang="en-US" sz="1200" b="0" i="0" kern="1200">
                <a:solidFill>
                  <a:schemeClr val="tx1"/>
                </a:solidFill>
                <a:effectLst/>
                <a:latin typeface="+mn-lt"/>
                <a:ea typeface="+mn-ea"/>
                <a:cs typeface="+mn-cs"/>
              </a:rPr>
              <a:t> が一番のポイントです。</a:t>
            </a:r>
          </a:p>
          <a:p>
            <a:pPr fontAlgn="t"/>
            <a:r>
              <a:rPr kumimoji="1" lang="ja-JP" altLang="en-US" sz="1200" b="0" i="0" kern="1200">
                <a:solidFill>
                  <a:schemeClr val="tx1"/>
                </a:solidFill>
                <a:effectLst/>
                <a:latin typeface="+mn-lt"/>
                <a:ea typeface="+mn-ea"/>
                <a:cs typeface="+mn-cs"/>
              </a:rPr>
              <a:t>今日身につけた「箱を作る」感覚は、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次回の </a:t>
            </a:r>
            <a:r>
              <a:rPr kumimoji="1" lang="en-US" altLang="ja-JP" sz="1200" b="1" i="0" kern="1200">
                <a:solidFill>
                  <a:schemeClr val="tx1"/>
                </a:solidFill>
                <a:effectLst/>
                <a:latin typeface="+mn-lt"/>
                <a:ea typeface="+mn-ea"/>
                <a:cs typeface="+mn-cs"/>
              </a:rPr>
              <a:t>Set variable</a:t>
            </a:r>
            <a:r>
              <a:rPr kumimoji="1" lang="ja-JP" altLang="en-US" sz="1200" b="1" i="0" kern="1200">
                <a:solidFill>
                  <a:schemeClr val="tx1"/>
                </a:solidFill>
                <a:effectLst/>
                <a:latin typeface="+mn-lt"/>
                <a:ea typeface="+mn-ea"/>
                <a:cs typeface="+mn-cs"/>
              </a:rPr>
              <a:t>（箱の中身を変える）</a:t>
            </a:r>
            <a:r>
              <a:rPr kumimoji="1" lang="ja-JP" altLang="en-US" sz="1200" b="0" i="0" kern="1200">
                <a:solidFill>
                  <a:schemeClr val="tx1"/>
                </a:solidFill>
                <a:effectLst/>
                <a:latin typeface="+mn-lt"/>
                <a:ea typeface="+mn-ea"/>
                <a:cs typeface="+mn-cs"/>
              </a:rPr>
              <a:t> につながる重要な基礎になります。</a:t>
            </a:r>
          </a:p>
          <a:p>
            <a:pPr fontAlgn="t"/>
            <a:r>
              <a:rPr kumimoji="1" lang="ja-JP" altLang="en-US" sz="1200" b="0" i="0" kern="1200">
                <a:solidFill>
                  <a:schemeClr val="tx1"/>
                </a:solidFill>
                <a:effectLst/>
                <a:latin typeface="+mn-lt"/>
                <a:ea typeface="+mn-ea"/>
                <a:cs typeface="+mn-cs"/>
              </a:rPr>
              <a:t>これを押さえておけば、実務の自動化が一気に進みます。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endParaRPr kumimoji="1" lang="en-US" altLang="ja-JP" sz="1200" b="1"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20:55</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① カウントアップ（</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）で件数を数える</a:t>
            </a:r>
          </a:p>
          <a:p>
            <a:pPr fontAlgn="t"/>
            <a:r>
              <a:rPr kumimoji="1" lang="ja-JP" altLang="en-US" sz="1200" b="0" i="0" kern="1200">
                <a:solidFill>
                  <a:schemeClr val="tx1"/>
                </a:solidFill>
                <a:effectLst/>
                <a:latin typeface="+mn-lt"/>
                <a:ea typeface="+mn-ea"/>
                <a:cs typeface="+mn-cs"/>
              </a:rPr>
              <a:t>例えば</a:t>
            </a:r>
            <a:r>
              <a:rPr kumimoji="1" lang="en-US" altLang="ja-JP" sz="1200" b="0" i="0" kern="1200">
                <a:solidFill>
                  <a:schemeClr val="tx1"/>
                </a:solidFill>
                <a:effectLst/>
                <a:latin typeface="+mn-lt"/>
                <a:ea typeface="+mn-ea"/>
                <a:cs typeface="+mn-cs"/>
              </a:rPr>
              <a:t>…</a:t>
            </a:r>
          </a:p>
          <a:p>
            <a:pPr fontAlgn="t"/>
            <a:r>
              <a:rPr kumimoji="1" lang="en-US" altLang="ja-JP" sz="1200" b="0" i="0" kern="1200">
                <a:solidFill>
                  <a:schemeClr val="tx1"/>
                </a:solidFill>
                <a:effectLst/>
                <a:latin typeface="+mn-lt"/>
                <a:ea typeface="+mn-ea"/>
                <a:cs typeface="+mn-cs"/>
              </a:rPr>
              <a:t>SharePoint</a:t>
            </a:r>
            <a:r>
              <a:rPr kumimoji="1" lang="ja-JP" altLang="en-US" sz="1200" b="0" i="0" kern="1200">
                <a:solidFill>
                  <a:schemeClr val="tx1"/>
                </a:solidFill>
                <a:effectLst/>
                <a:latin typeface="+mn-lt"/>
                <a:ea typeface="+mn-ea"/>
                <a:cs typeface="+mn-cs"/>
              </a:rPr>
              <a:t>リストのデータを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件ずつ処理する</a:t>
            </a:r>
          </a:p>
          <a:p>
            <a:pPr fontAlgn="t"/>
            <a:r>
              <a:rPr kumimoji="1" lang="ja-JP" altLang="en-US" sz="1200" b="0" i="0" kern="1200">
                <a:solidFill>
                  <a:schemeClr val="tx1"/>
                </a:solidFill>
                <a:effectLst/>
                <a:latin typeface="+mn-lt"/>
                <a:ea typeface="+mn-ea"/>
                <a:cs typeface="+mn-cs"/>
              </a:rPr>
              <a:t>メールを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通ずつチェックする</a:t>
            </a:r>
          </a:p>
          <a:p>
            <a:pPr fontAlgn="t"/>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の行を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行ずつ読んでいく</a:t>
            </a:r>
          </a:p>
          <a:p>
            <a:pPr fontAlgn="t"/>
            <a:r>
              <a:rPr kumimoji="1" lang="ja-JP" altLang="en-US" sz="1200" b="0" i="0" kern="1200">
                <a:solidFill>
                  <a:schemeClr val="tx1"/>
                </a:solidFill>
                <a:effectLst/>
                <a:latin typeface="+mn-lt"/>
                <a:ea typeface="+mn-ea"/>
                <a:cs typeface="+mn-cs"/>
              </a:rPr>
              <a:t>こういった </a:t>
            </a:r>
            <a:r>
              <a:rPr kumimoji="1" lang="ja-JP" altLang="en-US" sz="1200" b="1" i="0" kern="1200">
                <a:solidFill>
                  <a:schemeClr val="tx1"/>
                </a:solidFill>
                <a:effectLst/>
                <a:latin typeface="+mn-lt"/>
                <a:ea typeface="+mn-ea"/>
                <a:cs typeface="+mn-cs"/>
              </a:rPr>
              <a:t>繰り返し処理（</a:t>
            </a:r>
            <a:r>
              <a:rPr kumimoji="1" lang="en-US" altLang="ja-JP" sz="1200" b="1" i="0" kern="1200">
                <a:solidFill>
                  <a:schemeClr val="tx1"/>
                </a:solidFill>
                <a:effectLst/>
                <a:latin typeface="+mn-lt"/>
                <a:ea typeface="+mn-ea"/>
                <a:cs typeface="+mn-cs"/>
              </a:rPr>
              <a:t>Apply to each</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の中で、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「今何件処理しているか？」を把握したい場面は多いです。</a:t>
            </a:r>
          </a:p>
          <a:p>
            <a:pPr fontAlgn="t"/>
            <a:r>
              <a:rPr kumimoji="1" lang="ja-JP" altLang="en-US" sz="1200" b="0" i="0" kern="1200">
                <a:solidFill>
                  <a:schemeClr val="tx1"/>
                </a:solidFill>
                <a:effectLst/>
                <a:latin typeface="+mn-lt"/>
                <a:ea typeface="+mn-ea"/>
                <a:cs typeface="+mn-cs"/>
              </a:rPr>
              <a:t>ここで変数を使って、</a:t>
            </a:r>
          </a:p>
          <a:p>
            <a:pPr fontAlgn="t"/>
            <a:r>
              <a:rPr kumimoji="1" lang="ja-JP" altLang="en-US" sz="1200" b="0" i="0" kern="1200">
                <a:solidFill>
                  <a:schemeClr val="tx1"/>
                </a:solidFill>
                <a:effectLst/>
                <a:latin typeface="+mn-lt"/>
                <a:ea typeface="+mn-ea"/>
                <a:cs typeface="+mn-cs"/>
              </a:rPr>
              <a:t>初期値：</a:t>
            </a:r>
            <a:r>
              <a:rPr kumimoji="1" lang="en-US" altLang="ja-JP" sz="1200" b="0" i="0" kern="1200">
                <a:solidFill>
                  <a:schemeClr val="tx1"/>
                </a:solidFill>
                <a:effectLst/>
                <a:latin typeface="+mn-lt"/>
                <a:ea typeface="+mn-ea"/>
                <a:cs typeface="+mn-cs"/>
              </a:rPr>
              <a:t>0</a:t>
            </a:r>
          </a:p>
          <a:p>
            <a:pPr fontAlgn="t"/>
            <a:r>
              <a:rPr kumimoji="1" lang="ja-JP" altLang="en-US" sz="1200" b="0" i="0" kern="1200">
                <a:solidFill>
                  <a:schemeClr val="tx1"/>
                </a:solidFill>
                <a:effectLst/>
                <a:latin typeface="+mn-lt"/>
                <a:ea typeface="+mn-ea"/>
                <a:cs typeface="+mn-cs"/>
              </a:rPr>
              <a:t>処理のたびに：</a:t>
            </a:r>
            <a:r>
              <a:rPr kumimoji="1" lang="en-US" altLang="ja-JP" sz="1200" b="1" i="0" kern="1200">
                <a:solidFill>
                  <a:schemeClr val="tx1"/>
                </a:solidFill>
                <a:effectLst/>
                <a:latin typeface="+mn-lt"/>
                <a:ea typeface="+mn-ea"/>
                <a:cs typeface="+mn-cs"/>
              </a:rPr>
              <a:t>Set variable → </a:t>
            </a:r>
            <a:r>
              <a:rPr kumimoji="1" lang="ja-JP" altLang="en-US" sz="1200" b="1" i="0" kern="1200">
                <a:solidFill>
                  <a:schemeClr val="tx1"/>
                </a:solidFill>
                <a:effectLst/>
                <a:latin typeface="+mn-lt"/>
                <a:ea typeface="+mn-ea"/>
                <a:cs typeface="+mn-cs"/>
              </a:rPr>
              <a:t>変数を“＋</a:t>
            </a:r>
            <a:r>
              <a:rPr kumimoji="1" lang="en-US" altLang="ja-JP" sz="1200" b="1" i="0" kern="1200">
                <a:solidFill>
                  <a:schemeClr val="tx1"/>
                </a:solidFill>
                <a:effectLst/>
                <a:latin typeface="+mn-lt"/>
                <a:ea typeface="+mn-ea"/>
                <a:cs typeface="+mn-cs"/>
              </a:rPr>
              <a:t>1”</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と更新することで、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最後に「今日処理した件数は 〇件です」と</a:t>
            </a:r>
            <a:r>
              <a:rPr kumimoji="1" lang="en-US" altLang="ja-JP" sz="1200" b="0" i="0" kern="1200">
                <a:solidFill>
                  <a:schemeClr val="tx1"/>
                </a:solidFill>
                <a:effectLst/>
                <a:latin typeface="+mn-lt"/>
                <a:ea typeface="+mn-ea"/>
                <a:cs typeface="+mn-cs"/>
              </a:rPr>
              <a:t>Teams</a:t>
            </a:r>
            <a:r>
              <a:rPr kumimoji="1" lang="ja-JP" altLang="en-US" sz="1200" b="0" i="0" kern="1200">
                <a:solidFill>
                  <a:schemeClr val="tx1"/>
                </a:solidFill>
                <a:effectLst/>
                <a:latin typeface="+mn-lt"/>
                <a:ea typeface="+mn-ea"/>
                <a:cs typeface="+mn-cs"/>
              </a:rPr>
              <a:t>に送る</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といった “実務レポート自動化” ができるようになります。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条件に応じてフラグを変更する（</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例えば、承認フローで</a:t>
            </a:r>
          </a:p>
          <a:p>
            <a:pPr fontAlgn="t"/>
            <a:r>
              <a:rPr kumimoji="1" lang="ja-JP" altLang="en-US" sz="1200" b="0" i="0" kern="1200">
                <a:solidFill>
                  <a:schemeClr val="tx1"/>
                </a:solidFill>
                <a:effectLst/>
                <a:latin typeface="+mn-lt"/>
                <a:ea typeface="+mn-ea"/>
                <a:cs typeface="+mn-cs"/>
              </a:rPr>
              <a:t>承認 → </a:t>
            </a:r>
            <a:r>
              <a:rPr kumimoji="1" lang="en-US" altLang="ja-JP" sz="1200" b="0" i="0" kern="1200">
                <a:solidFill>
                  <a:schemeClr val="tx1"/>
                </a:solidFill>
                <a:effectLst/>
                <a:latin typeface="+mn-lt"/>
                <a:ea typeface="+mn-ea"/>
                <a:cs typeface="+mn-cs"/>
              </a:rPr>
              <a:t>true</a:t>
            </a:r>
          </a:p>
          <a:p>
            <a:pPr fontAlgn="t"/>
            <a:r>
              <a:rPr kumimoji="1" lang="ja-JP" altLang="en-US" sz="1200" b="0" i="0" kern="1200">
                <a:solidFill>
                  <a:schemeClr val="tx1"/>
                </a:solidFill>
                <a:effectLst/>
                <a:latin typeface="+mn-lt"/>
                <a:ea typeface="+mn-ea"/>
                <a:cs typeface="+mn-cs"/>
              </a:rPr>
              <a:t>却下 → </a:t>
            </a:r>
            <a:r>
              <a:rPr kumimoji="1" lang="en-US" altLang="ja-JP" sz="1200" b="0" i="0" kern="1200">
                <a:solidFill>
                  <a:schemeClr val="tx1"/>
                </a:solidFill>
                <a:effectLst/>
                <a:latin typeface="+mn-lt"/>
                <a:ea typeface="+mn-ea"/>
                <a:cs typeface="+mn-cs"/>
              </a:rPr>
              <a:t>false</a:t>
            </a:r>
          </a:p>
          <a:p>
            <a:pPr fontAlgn="t"/>
            <a:r>
              <a:rPr kumimoji="1" lang="ja-JP" altLang="en-US" sz="1200" b="0" i="0" kern="1200">
                <a:solidFill>
                  <a:schemeClr val="tx1"/>
                </a:solidFill>
                <a:effectLst/>
                <a:latin typeface="+mn-lt"/>
                <a:ea typeface="+mn-ea"/>
                <a:cs typeface="+mn-cs"/>
              </a:rPr>
              <a:t>という “フラグ” を作り、</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その後の処理を分岐させることができます。</a:t>
            </a:r>
          </a:p>
          <a:p>
            <a:pPr fontAlgn="t"/>
            <a:r>
              <a:rPr kumimoji="1" lang="ja-JP" altLang="en-US" sz="1200" b="0" i="0" kern="1200">
                <a:solidFill>
                  <a:schemeClr val="tx1"/>
                </a:solidFill>
                <a:effectLst/>
                <a:latin typeface="+mn-lt"/>
                <a:ea typeface="+mn-ea"/>
                <a:cs typeface="+mn-cs"/>
              </a:rPr>
              <a:t>次回は、この </a:t>
            </a:r>
            <a:r>
              <a:rPr kumimoji="1" lang="en-US" altLang="ja-JP" sz="1200" b="1" i="0" kern="1200">
                <a:solidFill>
                  <a:schemeClr val="tx1"/>
                </a:solidFill>
                <a:effectLst/>
                <a:latin typeface="+mn-lt"/>
                <a:ea typeface="+mn-ea"/>
                <a:cs typeface="+mn-cs"/>
              </a:rPr>
              <a:t>true/false </a:t>
            </a:r>
            <a:r>
              <a:rPr kumimoji="1" lang="ja-JP" altLang="en-US" sz="1200" b="1" i="0" kern="1200">
                <a:solidFill>
                  <a:schemeClr val="tx1"/>
                </a:solidFill>
                <a:effectLst/>
                <a:latin typeface="+mn-lt"/>
                <a:ea typeface="+mn-ea"/>
                <a:cs typeface="+mn-cs"/>
              </a:rPr>
              <a:t>を </a:t>
            </a:r>
            <a:r>
              <a:rPr kumimoji="1" lang="en-US" altLang="ja-JP" sz="1200" b="1" i="0" kern="1200">
                <a:solidFill>
                  <a:schemeClr val="tx1"/>
                </a:solidFill>
                <a:effectLst/>
                <a:latin typeface="+mn-lt"/>
                <a:ea typeface="+mn-ea"/>
                <a:cs typeface="+mn-cs"/>
              </a:rPr>
              <a:t>Set variable </a:t>
            </a:r>
            <a:r>
              <a:rPr kumimoji="1" lang="ja-JP" altLang="en-US" sz="1200" b="1" i="0" kern="1200">
                <a:solidFill>
                  <a:schemeClr val="tx1"/>
                </a:solidFill>
                <a:effectLst/>
                <a:latin typeface="+mn-lt"/>
                <a:ea typeface="+mn-ea"/>
                <a:cs typeface="+mn-cs"/>
              </a:rPr>
              <a:t>で切り替えていく方法</a:t>
            </a:r>
            <a:r>
              <a:rPr kumimoji="1" lang="ja-JP" altLang="en-US" sz="1200" b="0" i="0" kern="1200">
                <a:solidFill>
                  <a:schemeClr val="tx1"/>
                </a:solidFill>
                <a:effectLst/>
                <a:latin typeface="+mn-lt"/>
                <a:ea typeface="+mn-ea"/>
                <a:cs typeface="+mn-cs"/>
              </a:rPr>
              <a:t> を扱います。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文字列をつないでメッセージを組み立てる（</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例えばこんなケースです：</a:t>
            </a:r>
          </a:p>
          <a:p>
            <a:pPr fontAlgn="t"/>
            <a:r>
              <a:rPr kumimoji="1" lang="ja-JP" altLang="en-US" sz="1200" b="0" i="0" kern="1200">
                <a:solidFill>
                  <a:schemeClr val="tx1"/>
                </a:solidFill>
                <a:effectLst/>
                <a:latin typeface="+mn-lt"/>
                <a:ea typeface="+mn-ea"/>
                <a:cs typeface="+mn-cs"/>
              </a:rPr>
              <a:t>エラーが発生した行だけメッセージに追記していく</a:t>
            </a:r>
          </a:p>
          <a:p>
            <a:pPr fontAlgn="t"/>
            <a:r>
              <a:rPr kumimoji="1" lang="ja-JP" altLang="en-US" sz="1200" b="0" i="0" kern="1200">
                <a:solidFill>
                  <a:schemeClr val="tx1"/>
                </a:solidFill>
                <a:effectLst/>
                <a:latin typeface="+mn-lt"/>
                <a:ea typeface="+mn-ea"/>
                <a:cs typeface="+mn-cs"/>
              </a:rPr>
              <a:t>ループ内で、「〇行目：値が空です」などのログを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つの変数にまとめる</a:t>
            </a:r>
          </a:p>
          <a:p>
            <a:pPr fontAlgn="t"/>
            <a:r>
              <a:rPr kumimoji="1" lang="ja-JP" altLang="en-US" sz="1200" b="0" i="0" kern="1200">
                <a:solidFill>
                  <a:schemeClr val="tx1"/>
                </a:solidFill>
                <a:effectLst/>
                <a:latin typeface="+mn-lt"/>
                <a:ea typeface="+mn-ea"/>
                <a:cs typeface="+mn-cs"/>
              </a:rPr>
              <a:t>最後に </a:t>
            </a:r>
            <a:r>
              <a:rPr kumimoji="1" lang="en-US" altLang="ja-JP" sz="1200" b="0" i="0" kern="1200">
                <a:solidFill>
                  <a:schemeClr val="tx1"/>
                </a:solidFill>
                <a:effectLst/>
                <a:latin typeface="+mn-lt"/>
                <a:ea typeface="+mn-ea"/>
                <a:cs typeface="+mn-cs"/>
              </a:rPr>
              <a:t>Teams </a:t>
            </a:r>
            <a:r>
              <a:rPr kumimoji="1" lang="ja-JP" altLang="en-US" sz="1200" b="0" i="0" kern="1200">
                <a:solidFill>
                  <a:schemeClr val="tx1"/>
                </a:solidFill>
                <a:effectLst/>
                <a:latin typeface="+mn-lt"/>
                <a:ea typeface="+mn-ea"/>
                <a:cs typeface="+mn-cs"/>
              </a:rPr>
              <a:t>へ「処理結果まとめ」を投稿する</a:t>
            </a:r>
          </a:p>
          <a:p>
            <a:pPr fontAlgn="t"/>
            <a:r>
              <a:rPr kumimoji="1" lang="en-US" altLang="ja-JP" sz="1200" b="0" i="0" kern="1200">
                <a:solidFill>
                  <a:schemeClr val="tx1"/>
                </a:solidFill>
                <a:effectLst/>
                <a:latin typeface="+mn-lt"/>
                <a:ea typeface="+mn-ea"/>
                <a:cs typeface="+mn-cs"/>
              </a:rPr>
              <a:t>Initialize variable </a:t>
            </a:r>
            <a:r>
              <a:rPr kumimoji="1" lang="ja-JP" altLang="en-US" sz="1200" b="0" i="0" kern="1200">
                <a:solidFill>
                  <a:schemeClr val="tx1"/>
                </a:solidFill>
                <a:effectLst/>
                <a:latin typeface="+mn-lt"/>
                <a:ea typeface="+mn-ea"/>
                <a:cs typeface="+mn-cs"/>
              </a:rPr>
              <a:t>で空のテキストを用意しておき、</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Set variable </a:t>
            </a:r>
            <a:r>
              <a:rPr kumimoji="1" lang="ja-JP" altLang="en-US" sz="1200" b="0" i="0" kern="1200">
                <a:solidFill>
                  <a:schemeClr val="tx1"/>
                </a:solidFill>
                <a:effectLst/>
                <a:latin typeface="+mn-lt"/>
                <a:ea typeface="+mn-ea"/>
                <a:cs typeface="+mn-cs"/>
              </a:rPr>
              <a:t>で文字列を追加していけば、</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20:57</a:t>
            </a:r>
            <a:endParaRPr kumimoji="1" lang="ja-JP" altLang="en-US"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皆さん、本日は </a:t>
            </a:r>
            <a:r>
              <a:rPr kumimoji="1" lang="en-US" altLang="ja-JP" sz="1200" b="0" i="0" kern="1200">
                <a:solidFill>
                  <a:schemeClr val="tx1"/>
                </a:solidFill>
                <a:effectLst/>
                <a:latin typeface="+mn-lt"/>
                <a:ea typeface="+mn-ea"/>
                <a:cs typeface="+mn-cs"/>
              </a:rPr>
              <a:t>PA45 </a:t>
            </a:r>
            <a:r>
              <a:rPr kumimoji="1" lang="ja-JP" altLang="en-US" sz="1200" b="0" i="0" kern="1200">
                <a:solidFill>
                  <a:schemeClr val="tx1"/>
                </a:solidFill>
                <a:effectLst/>
                <a:latin typeface="+mn-lt"/>
                <a:ea typeface="+mn-ea"/>
                <a:cs typeface="+mn-cs"/>
              </a:rPr>
              <a:t>にご参加いただき、本当にありがとうございました。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最後に、</a:t>
            </a:r>
            <a:r>
              <a:rPr kumimoji="1" lang="ja-JP" altLang="en-US" sz="1200" b="1" i="0" kern="1200">
                <a:solidFill>
                  <a:schemeClr val="tx1"/>
                </a:solidFill>
                <a:effectLst/>
                <a:latin typeface="+mn-lt"/>
                <a:ea typeface="+mn-ea"/>
                <a:cs typeface="+mn-cs"/>
              </a:rPr>
              <a:t>アンケートへのご協力のお願い</a:t>
            </a:r>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このあと </a:t>
            </a:r>
            <a:r>
              <a:rPr kumimoji="1" lang="ja-JP" altLang="en-US" sz="1200" b="1" i="0" kern="1200">
                <a:solidFill>
                  <a:schemeClr val="tx1"/>
                </a:solidFill>
                <a:effectLst/>
                <a:latin typeface="+mn-lt"/>
                <a:ea typeface="+mn-ea"/>
                <a:cs typeface="+mn-cs"/>
              </a:rPr>
              <a:t>チャット欄にアンケート</a:t>
            </a:r>
            <a:r>
              <a:rPr kumimoji="1" lang="en-US" altLang="ja-JP" sz="1200" b="1" i="0" kern="1200">
                <a:solidFill>
                  <a:schemeClr val="tx1"/>
                </a:solidFill>
                <a:effectLst/>
                <a:latin typeface="+mn-lt"/>
                <a:ea typeface="+mn-ea"/>
                <a:cs typeface="+mn-cs"/>
              </a:rPr>
              <a:t>URL</a:t>
            </a:r>
            <a:r>
              <a:rPr kumimoji="1" lang="ja-JP" altLang="en-US" sz="1200" b="1" i="0" kern="1200">
                <a:solidFill>
                  <a:schemeClr val="tx1"/>
                </a:solidFill>
                <a:effectLst/>
                <a:latin typeface="+mn-lt"/>
                <a:ea typeface="+mn-ea"/>
                <a:cs typeface="+mn-cs"/>
              </a:rPr>
              <a:t>をお送りします。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回答は </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分ほどで終わる、とても短いフォーム</a:t>
            </a:r>
            <a:r>
              <a:rPr kumimoji="1" lang="ja-JP" altLang="en-US" sz="1200" b="0" i="0" kern="1200">
                <a:solidFill>
                  <a:schemeClr val="tx1"/>
                </a:solidFill>
                <a:effectLst/>
                <a:latin typeface="+mn-lt"/>
                <a:ea typeface="+mn-ea"/>
                <a:cs typeface="+mn-cs"/>
              </a:rPr>
              <a:t>になっています。</a:t>
            </a:r>
          </a:p>
          <a:p>
            <a:pPr fontAlgn="t"/>
            <a:r>
              <a:rPr kumimoji="1" lang="ja-JP" altLang="en-US" sz="1200" b="0" i="0" kern="1200">
                <a:solidFill>
                  <a:schemeClr val="tx1"/>
                </a:solidFill>
                <a:effectLst/>
                <a:latin typeface="+mn-lt"/>
                <a:ea typeface="+mn-ea"/>
                <a:cs typeface="+mn-cs"/>
              </a:rPr>
              <a:t>アンケートでは、</a:t>
            </a:r>
          </a:p>
          <a:p>
            <a:pPr fontAlgn="t"/>
            <a:r>
              <a:rPr kumimoji="1" lang="ja-JP" altLang="en-US" sz="1200" b="0" i="0" kern="1200">
                <a:solidFill>
                  <a:schemeClr val="tx1"/>
                </a:solidFill>
                <a:effectLst/>
                <a:latin typeface="+mn-lt"/>
                <a:ea typeface="+mn-ea"/>
                <a:cs typeface="+mn-cs"/>
              </a:rPr>
              <a:t>今日の難易度はどうだったか</a:t>
            </a:r>
          </a:p>
          <a:p>
            <a:pPr fontAlgn="t"/>
            <a:r>
              <a:rPr kumimoji="1" lang="ja-JP" altLang="en-US" sz="1200" b="0" i="0" kern="1200">
                <a:solidFill>
                  <a:schemeClr val="tx1"/>
                </a:solidFill>
                <a:effectLst/>
                <a:latin typeface="+mn-lt"/>
                <a:ea typeface="+mn-ea"/>
                <a:cs typeface="+mn-cs"/>
              </a:rPr>
              <a:t>進行のスピードは適切だったか</a:t>
            </a:r>
          </a:p>
          <a:p>
            <a:pPr fontAlgn="t"/>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で扱ってほしいテーマ</a:t>
            </a:r>
          </a:p>
          <a:p>
            <a:pPr fontAlgn="t"/>
            <a:r>
              <a:rPr kumimoji="1" lang="ja-JP" altLang="en-US" sz="1200" b="0" i="0" kern="1200">
                <a:solidFill>
                  <a:schemeClr val="tx1"/>
                </a:solidFill>
                <a:effectLst/>
                <a:latin typeface="+mn-lt"/>
                <a:ea typeface="+mn-ea"/>
                <a:cs typeface="+mn-cs"/>
              </a:rPr>
              <a:t>もっと知りたい</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の機能</a:t>
            </a:r>
          </a:p>
          <a:p>
            <a:pPr fontAlgn="t"/>
            <a:r>
              <a:rPr kumimoji="1" lang="ja-JP" altLang="en-US" sz="1200" b="0" i="0" kern="1200">
                <a:solidFill>
                  <a:schemeClr val="tx1"/>
                </a:solidFill>
                <a:effectLst/>
                <a:latin typeface="+mn-lt"/>
                <a:ea typeface="+mn-ea"/>
                <a:cs typeface="+mn-cs"/>
              </a:rPr>
              <a:t>といった、運営を改善するためのシンプルな質問だけをお聞きしています。</a:t>
            </a:r>
          </a:p>
          <a:p>
            <a:pPr fontAlgn="t"/>
            <a:r>
              <a:rPr kumimoji="1" lang="ja-JP" altLang="en-US" sz="1200" b="0" i="0" kern="1200">
                <a:solidFill>
                  <a:schemeClr val="tx1"/>
                </a:solidFill>
                <a:effectLst/>
                <a:latin typeface="+mn-lt"/>
                <a:ea typeface="+mn-ea"/>
                <a:cs typeface="+mn-cs"/>
              </a:rPr>
              <a:t>記名式ではなく、</a:t>
            </a:r>
            <a:r>
              <a:rPr kumimoji="1" lang="ja-JP" altLang="en-US" sz="1200" b="1" i="0" kern="1200">
                <a:solidFill>
                  <a:schemeClr val="tx1"/>
                </a:solidFill>
                <a:effectLst/>
                <a:latin typeface="+mn-lt"/>
                <a:ea typeface="+mn-ea"/>
                <a:cs typeface="+mn-cs"/>
              </a:rPr>
              <a:t>完全に匿名</a:t>
            </a:r>
            <a:r>
              <a:rPr kumimoji="1" lang="ja-JP" altLang="en-US" sz="1200" b="0" i="0" kern="1200">
                <a:solidFill>
                  <a:schemeClr val="tx1"/>
                </a:solidFill>
                <a:effectLst/>
                <a:latin typeface="+mn-lt"/>
                <a:ea typeface="+mn-ea"/>
                <a:cs typeface="+mn-cs"/>
              </a:rPr>
              <a:t>ですので、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率直な意見や感想を書いていただけると、とても助かります。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改善点や気づいたことなど、どんな小さな内容でも大歓迎です。</a:t>
            </a:r>
          </a:p>
          <a:p>
            <a:pPr fontAlgn="t"/>
            <a:r>
              <a:rPr kumimoji="1" lang="ja-JP" altLang="en-US" sz="1200" b="0" i="0" kern="1200">
                <a:solidFill>
                  <a:schemeClr val="tx1"/>
                </a:solidFill>
                <a:effectLst/>
                <a:latin typeface="+mn-lt"/>
                <a:ea typeface="+mn-ea"/>
                <a:cs typeface="+mn-cs"/>
              </a:rPr>
              <a:t>そして、アンケートに回答いただいた方には、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「今日扱ったアクション名＋開催日入りの</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バッジ」</a:t>
            </a:r>
            <a:r>
              <a:rPr kumimoji="1" lang="ja-JP" altLang="en-US" sz="1200" b="0" i="0" kern="1200">
                <a:solidFill>
                  <a:schemeClr val="tx1"/>
                </a:solidFill>
                <a:effectLst/>
                <a:latin typeface="+mn-lt"/>
                <a:ea typeface="+mn-ea"/>
                <a:cs typeface="+mn-cs"/>
              </a:rPr>
              <a:t> をプレゼントします。</a:t>
            </a:r>
          </a:p>
          <a:p>
            <a:pPr fontAlgn="t"/>
            <a:r>
              <a:rPr kumimoji="1" lang="ja-JP" altLang="en-US" sz="1200" b="0" i="0" kern="1200">
                <a:solidFill>
                  <a:schemeClr val="tx1"/>
                </a:solidFill>
                <a:effectLst/>
                <a:latin typeface="+mn-lt"/>
                <a:ea typeface="+mn-ea"/>
                <a:cs typeface="+mn-cs"/>
              </a:rPr>
              <a:t>バッジは、</a:t>
            </a:r>
          </a:p>
          <a:p>
            <a:pPr fontAlgn="t"/>
            <a:r>
              <a:rPr kumimoji="1" lang="en-US" altLang="ja-JP" sz="1200" b="0" i="0" kern="1200">
                <a:solidFill>
                  <a:schemeClr val="tx1"/>
                </a:solidFill>
                <a:effectLst/>
                <a:latin typeface="+mn-lt"/>
                <a:ea typeface="+mn-ea"/>
                <a:cs typeface="+mn-cs"/>
              </a:rPr>
              <a:t>X</a:t>
            </a: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Twitter</a:t>
            </a:r>
            <a:r>
              <a:rPr kumimoji="1" lang="ja-JP" altLang="en-US" sz="1200" b="0" i="0" kern="1200">
                <a:solidFill>
                  <a:schemeClr val="tx1"/>
                </a:solidFill>
                <a:effectLst/>
                <a:latin typeface="+mn-lt"/>
                <a:ea typeface="+mn-ea"/>
                <a:cs typeface="+mn-cs"/>
              </a:rPr>
              <a:t>）のプロフィール欄につけたり</a:t>
            </a:r>
          </a:p>
          <a:p>
            <a:pPr fontAlgn="t"/>
            <a:r>
              <a:rPr kumimoji="1" lang="ja-JP" altLang="en-US" sz="1200" b="0" i="0" kern="1200">
                <a:solidFill>
                  <a:schemeClr val="tx1"/>
                </a:solidFill>
                <a:effectLst/>
                <a:latin typeface="+mn-lt"/>
                <a:ea typeface="+mn-ea"/>
                <a:cs typeface="+mn-cs"/>
              </a:rPr>
              <a:t>ポートフォリオの実績項目にしたり</a:t>
            </a:r>
          </a:p>
          <a:p>
            <a:pPr fontAlgn="t"/>
            <a:r>
              <a:rPr kumimoji="1" lang="ja-JP" altLang="en-US" sz="1200" b="0" i="0" kern="1200">
                <a:solidFill>
                  <a:schemeClr val="tx1"/>
                </a:solidFill>
                <a:effectLst/>
                <a:latin typeface="+mn-lt"/>
                <a:ea typeface="+mn-ea"/>
                <a:cs typeface="+mn-cs"/>
              </a:rPr>
              <a:t>自分の学習記録として残しておく</a:t>
            </a:r>
          </a:p>
          <a:p>
            <a:pPr fontAlgn="t"/>
            <a:r>
              <a:rPr kumimoji="1" lang="ja-JP" altLang="en-US" sz="1200" b="0" i="0" kern="1200">
                <a:solidFill>
                  <a:schemeClr val="tx1"/>
                </a:solidFill>
                <a:effectLst/>
                <a:latin typeface="+mn-lt"/>
                <a:ea typeface="+mn-ea"/>
                <a:cs typeface="+mn-cs"/>
              </a:rPr>
              <a:t>など、自由に使っていただける </a:t>
            </a:r>
            <a:r>
              <a:rPr kumimoji="1" lang="ja-JP" altLang="en-US" sz="1200" b="1" i="0" kern="1200">
                <a:solidFill>
                  <a:schemeClr val="tx1"/>
                </a:solidFill>
                <a:effectLst/>
                <a:latin typeface="+mn-lt"/>
                <a:ea typeface="+mn-ea"/>
                <a:cs typeface="+mn-cs"/>
              </a:rPr>
              <a:t>デジタルバッジ</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バッジの受け取り方法ですが、</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の公式アカウントから </a:t>
            </a:r>
            <a:r>
              <a:rPr kumimoji="1" lang="en-US" altLang="ja-JP" sz="1200" b="1" i="0" kern="1200">
                <a:solidFill>
                  <a:schemeClr val="tx1"/>
                </a:solidFill>
                <a:effectLst/>
                <a:latin typeface="+mn-lt"/>
                <a:ea typeface="+mn-ea"/>
                <a:cs typeface="+mn-cs"/>
              </a:rPr>
              <a:t>X</a:t>
            </a:r>
            <a:r>
              <a:rPr kumimoji="1" lang="ja-JP" altLang="en-US" sz="1200" b="1" i="0" kern="1200">
                <a:solidFill>
                  <a:schemeClr val="tx1"/>
                </a:solidFill>
                <a:effectLst/>
                <a:latin typeface="+mn-lt"/>
                <a:ea typeface="+mn-ea"/>
                <a:cs typeface="+mn-cs"/>
              </a:rPr>
              <a:t>の</a:t>
            </a:r>
            <a:r>
              <a:rPr kumimoji="1" lang="en-US" altLang="ja-JP" sz="1200" b="1" i="0" kern="1200">
                <a:solidFill>
                  <a:schemeClr val="tx1"/>
                </a:solidFill>
                <a:effectLst/>
                <a:latin typeface="+mn-lt"/>
                <a:ea typeface="+mn-ea"/>
                <a:cs typeface="+mn-cs"/>
              </a:rPr>
              <a:t>DM</a:t>
            </a:r>
            <a:r>
              <a:rPr kumimoji="1" lang="ja-JP" altLang="en-US" sz="1200" b="1" i="0" kern="1200">
                <a:solidFill>
                  <a:schemeClr val="tx1"/>
                </a:solidFill>
                <a:effectLst/>
                <a:latin typeface="+mn-lt"/>
                <a:ea typeface="+mn-ea"/>
                <a:cs typeface="+mn-cs"/>
              </a:rPr>
              <a:t>で後日お届け</a:t>
            </a:r>
            <a:r>
              <a:rPr kumimoji="1" lang="ja-JP" altLang="en-US" sz="1200" b="0" i="0" kern="1200">
                <a:solidFill>
                  <a:schemeClr val="tx1"/>
                </a:solidFill>
                <a:effectLst/>
                <a:latin typeface="+mn-lt"/>
                <a:ea typeface="+mn-ea"/>
                <a:cs typeface="+mn-cs"/>
              </a:rPr>
              <a:t> します。</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※DM</a:t>
            </a:r>
            <a:r>
              <a:rPr kumimoji="1" lang="ja-JP" altLang="en-US" sz="1200" b="0" i="0" kern="1200">
                <a:solidFill>
                  <a:schemeClr val="tx1"/>
                </a:solidFill>
                <a:effectLst/>
                <a:latin typeface="+mn-lt"/>
                <a:ea typeface="+mn-ea"/>
                <a:cs typeface="+mn-cs"/>
              </a:rPr>
              <a:t>を受け取れる設定になっていないと届かない場合があるので、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受信設定だけご確認いただけると助かります。</a:t>
            </a:r>
          </a:p>
          <a:p>
            <a:pPr fontAlgn="t"/>
            <a:r>
              <a:rPr kumimoji="1" lang="ja-JP" altLang="en-US" sz="1200" b="0" i="0" kern="1200">
                <a:solidFill>
                  <a:schemeClr val="tx1"/>
                </a:solidFill>
                <a:effectLst/>
                <a:latin typeface="+mn-lt"/>
                <a:ea typeface="+mn-ea"/>
                <a:cs typeface="+mn-cs"/>
              </a:rPr>
              <a:t>アンケートの内容は、次回以降の講座作りにとても大きな影響を与えています。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いただいた声はすべて確認し、</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「もっとわかりやすく」「もっと実務で使える講座」に磨き上げるために活用しています。</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分が、皆さんの</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の一歩目として</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少しでも役に立っていれば嬉しいです。</a:t>
            </a:r>
          </a:p>
          <a:p>
            <a:pPr fontAlgn="t"/>
            <a:r>
              <a:rPr kumimoji="1" lang="ja-JP" altLang="en-US" sz="1200" b="0" i="0" kern="1200">
                <a:solidFill>
                  <a:schemeClr val="tx1"/>
                </a:solidFill>
                <a:effectLst/>
                <a:latin typeface="+mn-lt"/>
                <a:ea typeface="+mn-ea"/>
                <a:cs typeface="+mn-cs"/>
              </a:rPr>
              <a:t>では、チャットに</a:t>
            </a:r>
            <a:r>
              <a:rPr kumimoji="1" lang="en-US" altLang="ja-JP" sz="1200" b="0" i="0" kern="1200">
                <a:solidFill>
                  <a:schemeClr val="tx1"/>
                </a:solidFill>
                <a:effectLst/>
                <a:latin typeface="+mn-lt"/>
                <a:ea typeface="+mn-ea"/>
                <a:cs typeface="+mn-cs"/>
              </a:rPr>
              <a:t>URL</a:t>
            </a:r>
            <a:r>
              <a:rPr kumimoji="1" lang="ja-JP" altLang="en-US" sz="1200" b="0" i="0" kern="1200">
                <a:solidFill>
                  <a:schemeClr val="tx1"/>
                </a:solidFill>
                <a:effectLst/>
                <a:latin typeface="+mn-lt"/>
                <a:ea typeface="+mn-ea"/>
                <a:cs typeface="+mn-cs"/>
              </a:rPr>
              <a:t>を貼りますので、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このまま</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分だけお付き合いください。</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png"/><Relationship Id="rId22" Type="http://schemas.openxmlformats.org/officeDocument/2006/relationships/image" Target="../media/image30.png"/><Relationship Id="rId23" Type="http://schemas.openxmlformats.org/officeDocument/2006/relationships/image" Target="../media/image31.png"/><Relationship Id="rId24" Type="http://schemas.openxmlformats.org/officeDocument/2006/relationships/image" Target="../media/image32.png"/><Relationship Id="rId25" Type="http://schemas.openxmlformats.org/officeDocument/2006/relationships/image" Target="../media/image33.png"/><Relationship Id="rId26" Type="http://schemas.openxmlformats.org/officeDocument/2006/relationships/image" Target="../media/image34.png"/><Relationship Id="rId27" Type="http://schemas.openxmlformats.org/officeDocument/2006/relationships/image" Target="../media/image35.png"/><Relationship Id="rId28" Type="http://schemas.openxmlformats.org/officeDocument/2006/relationships/image" Target="../media/image36.png"/><Relationship Id="rId29" Type="http://schemas.openxmlformats.org/officeDocument/2006/relationships/image" Target="../media/image37.png"/><Relationship Id="rId30" Type="http://schemas.openxmlformats.org/officeDocument/2006/relationships/image" Target="../media/image38.png"/><Relationship Id="rId31"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 Id="rId14" Type="http://schemas.openxmlformats.org/officeDocument/2006/relationships/image" Target="../media/image50.png"/><Relationship Id="rId15" Type="http://schemas.openxmlformats.org/officeDocument/2006/relationships/image" Target="../media/image51.png"/><Relationship Id="rId16" Type="http://schemas.openxmlformats.org/officeDocument/2006/relationships/image" Target="../media/image52.png"/><Relationship Id="rId17" Type="http://schemas.openxmlformats.org/officeDocument/2006/relationships/image" Target="../media/image53.png"/><Relationship Id="rId18" Type="http://schemas.openxmlformats.org/officeDocument/2006/relationships/image" Target="../media/image54.png"/><Relationship Id="rId19" Type="http://schemas.openxmlformats.org/officeDocument/2006/relationships/image" Target="../media/image55.png"/><Relationship Id="rId20" Type="http://schemas.openxmlformats.org/officeDocument/2006/relationships/image" Target="../media/image56.png"/><Relationship Id="rId21"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7.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image" Target="../media/image74.png"/><Relationship Id="rId1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image" Target="../media/image9.png"/><Relationship Id="rId1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90.png"/><Relationship Id="rId11" Type="http://schemas.openxmlformats.org/officeDocument/2006/relationships/image" Target="../media/image91.png"/><Relationship Id="rId12" Type="http://schemas.openxmlformats.org/officeDocument/2006/relationships/image" Target="../media/image92.png"/><Relationship Id="rId1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 Id="rId14" Type="http://schemas.openxmlformats.org/officeDocument/2006/relationships/image" Target="../media/image104.png"/><Relationship Id="rId15" Type="http://schemas.openxmlformats.org/officeDocument/2006/relationships/image" Target="../media/image105.png"/><Relationship Id="rId16" Type="http://schemas.openxmlformats.org/officeDocument/2006/relationships/image" Target="../media/image106.png"/><Relationship Id="rId17" Type="http://schemas.openxmlformats.org/officeDocument/2006/relationships/image" Target="../media/image107.png"/><Relationship Id="rId18"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 Id="rId7" Type="http://schemas.openxmlformats.org/officeDocument/2006/relationships/image" Target="../media/image112.png"/><Relationship Id="rId8" Type="http://schemas.openxmlformats.org/officeDocument/2006/relationships/image" Target="../media/image113.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116.png"/><Relationship Id="rId12" Type="http://schemas.openxmlformats.org/officeDocument/2006/relationships/image" Target="../media/image117.png"/><Relationship Id="rId13" Type="http://schemas.openxmlformats.org/officeDocument/2006/relationships/image" Target="../media/image118.png"/><Relationship Id="rId14" Type="http://schemas.openxmlformats.org/officeDocument/2006/relationships/image" Target="../media/image119.png"/><Relationship Id="rId15" Type="http://schemas.openxmlformats.org/officeDocument/2006/relationships/image" Target="../media/image120.png"/><Relationship Id="rId16" Type="http://schemas.openxmlformats.org/officeDocument/2006/relationships/image" Target="../media/image121.png"/><Relationship Id="rId17" Type="http://schemas.openxmlformats.org/officeDocument/2006/relationships/image" Target="../media/image38.png"/><Relationship Id="rId18"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image" Target="../media/image127.png"/><Relationship Id="rId9" Type="http://schemas.openxmlformats.org/officeDocument/2006/relationships/image" Target="../media/image128.png"/><Relationship Id="rId10" Type="http://schemas.openxmlformats.org/officeDocument/2006/relationships/image" Target="../media/image129.png"/><Relationship Id="rId11" Type="http://schemas.openxmlformats.org/officeDocument/2006/relationships/image" Target="../media/image130.png"/><Relationship Id="rId12" Type="http://schemas.openxmlformats.org/officeDocument/2006/relationships/image" Target="../media/image131.png"/><Relationship Id="rId13" Type="http://schemas.openxmlformats.org/officeDocument/2006/relationships/image" Target="../media/image132.png"/><Relationship Id="rId14" Type="http://schemas.openxmlformats.org/officeDocument/2006/relationships/image" Target="../media/image9.png"/><Relationship Id="rId1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40.png"/><Relationship Id="rId11" Type="http://schemas.openxmlformats.org/officeDocument/2006/relationships/image" Target="../media/image141.png"/><Relationship Id="rId12" Type="http://schemas.openxmlformats.org/officeDocument/2006/relationships/image" Target="../media/image142.png"/><Relationship Id="rId13" Type="http://schemas.openxmlformats.org/officeDocument/2006/relationships/image" Target="../media/image143.png"/><Relationship Id="rId14" Type="http://schemas.openxmlformats.org/officeDocument/2006/relationships/image" Target="../media/image144.png"/><Relationship Id="rId15" Type="http://schemas.openxmlformats.org/officeDocument/2006/relationships/image" Target="../media/image145.png"/><Relationship Id="rId16"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image" Target="../media/image127.png"/><Relationship Id="rId9" Type="http://schemas.openxmlformats.org/officeDocument/2006/relationships/image" Target="../media/image128.png"/><Relationship Id="rId10" Type="http://schemas.openxmlformats.org/officeDocument/2006/relationships/image" Target="../media/image129.png"/><Relationship Id="rId11" Type="http://schemas.openxmlformats.org/officeDocument/2006/relationships/image" Target="../media/image130.png"/><Relationship Id="rId12" Type="http://schemas.openxmlformats.org/officeDocument/2006/relationships/image" Target="../media/image131.png"/><Relationship Id="rId13" Type="http://schemas.openxmlformats.org/officeDocument/2006/relationships/image" Target="../media/image132.png"/><Relationship Id="rId14" Type="http://schemas.openxmlformats.org/officeDocument/2006/relationships/image" Target="../media/image9.png"/><Relationship Id="rId1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6.pn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image" Target="../media/image149.png"/><Relationship Id="rId7" Type="http://schemas.openxmlformats.org/officeDocument/2006/relationships/image" Target="../media/image150.png"/><Relationship Id="rId8" Type="http://schemas.openxmlformats.org/officeDocument/2006/relationships/image" Target="../media/image151.png"/><Relationship Id="rId9" Type="http://schemas.openxmlformats.org/officeDocument/2006/relationships/image" Target="../media/image152.png"/><Relationship Id="rId10" Type="http://schemas.openxmlformats.org/officeDocument/2006/relationships/image" Target="../media/image38.png"/><Relationship Id="rId1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38.png"/><Relationship Id="rId10"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9.png"/><Relationship Id="rId4" Type="http://schemas.openxmlformats.org/officeDocument/2006/relationships/image" Target="../media/image160.png"/><Relationship Id="rId5" Type="http://schemas.openxmlformats.org/officeDocument/2006/relationships/image" Target="../media/image161.png"/><Relationship Id="rId6" Type="http://schemas.openxmlformats.org/officeDocument/2006/relationships/image" Target="../media/image162.png"/><Relationship Id="rId7" Type="http://schemas.openxmlformats.org/officeDocument/2006/relationships/image" Target="../media/image163.png"/><Relationship Id="rId8"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7.png"/><Relationship Id="rId4" Type="http://schemas.openxmlformats.org/officeDocument/2006/relationships/image" Target="../media/image164.png"/><Relationship Id="rId5" Type="http://schemas.openxmlformats.org/officeDocument/2006/relationships/image" Target="../media/image10.png"/><Relationship Id="rId6" Type="http://schemas.openxmlformats.org/officeDocument/2006/relationships/image" Target="../media/image165.png"/><Relationship Id="rId7" Type="http://schemas.openxmlformats.org/officeDocument/2006/relationships/image" Target="../media/image166.png"/><Relationship Id="rId8" Type="http://schemas.openxmlformats.org/officeDocument/2006/relationships/image" Target="../media/image167.png"/><Relationship Id="rId9" Type="http://schemas.openxmlformats.org/officeDocument/2006/relationships/image" Target="../media/image168.png"/><Relationship Id="rId10" Type="http://schemas.openxmlformats.org/officeDocument/2006/relationships/hyperlink" Target="https://forms.office.com/r/mVzhNWH6J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0" name="Shape 31">
            <a:extLst>
              <a:ext uri="{FF2B5EF4-FFF2-40B4-BE49-F238E27FC236}">
                <a16:creationId xmlns:a16="http://schemas.microsoft.com/office/drawing/2014/main" id="{E5E8C8BD-7816-5C3C-C635-2DE5D831334E}"/>
              </a:ext>
            </a:extLst>
          </p:cNvPr>
          <p:cNvSpPr/>
          <p:nvPr/>
        </p:nvSpPr>
        <p:spPr>
          <a:xfrm>
            <a:off x="8162239" y="923544"/>
            <a:ext cx="3648456"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33195"/>
            <a:ext cx="12191695" cy="49149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10362895" y="-495605"/>
            <a:ext cx="3657600" cy="3657600"/>
          </a:xfrm>
          <a:prstGeom prst="rect">
            <a:avLst/>
          </a:prstGeom>
        </p:spPr>
      </p:pic>
      <p:pic>
        <p:nvPicPr>
          <p:cNvPr id="6" name="Image 1" descr="preencoded.png"/>
          <p:cNvPicPr>
            <a:picLocks noChangeAspect="1"/>
          </p:cNvPicPr>
          <p:nvPr/>
        </p:nvPicPr>
        <p:blipFill>
          <a:blip r:embed="rId4">
            <a:alphaModFix amt="50000"/>
          </a:blip>
          <a:srcRect/>
          <a:stretch/>
        </p:blipFill>
        <p:spPr>
          <a:xfrm>
            <a:off x="-1828800" y="4419295"/>
            <a:ext cx="3657600" cy="3657600"/>
          </a:xfrm>
          <a:prstGeom prst="rect">
            <a:avLst/>
          </a:prstGeom>
        </p:spPr>
      </p:pic>
      <p:sp>
        <p:nvSpPr>
          <p:cNvPr id="7" name="Text 3"/>
          <p:cNvSpPr txBox="1"/>
          <p:nvPr/>
        </p:nvSpPr>
        <p:spPr>
          <a:xfrm>
            <a:off x="295351" y="1433779"/>
            <a:ext cx="11601907" cy="1143000"/>
          </a:xfrm>
          <a:prstGeom prst="rect">
            <a:avLst/>
          </a:prstGeom>
          <a:noFill/>
          <a:ln/>
        </p:spPr>
        <p:txBody>
          <a:bodyPr wrap="square" lIns="0" tIns="0" rIns="0" bIns="0" rtlCol="0" anchor="t"/>
          <a:lstStyle/>
          <a:p>
            <a:pPr marL="0" indent="0" algn="ctr">
              <a:buNone/>
            </a:pPr>
            <a:r>
              <a:rPr lang="en-US" sz="3600" b="1" dirty="0">
                <a:solidFill>
                  <a:srgbClr val="1F2937"/>
                </a:solidFill>
                <a:latin typeface="Noto Sans JP" pitchFamily="34" charset="0"/>
                <a:ea typeface="Noto Sans JP" pitchFamily="34" charset="-122"/>
                <a:cs typeface="Noto Sans JP" pitchFamily="34" charset="-120"/>
              </a:rPr>
              <a:t> 忙しい人のための</a:t>
            </a:r>
            <a:endParaRPr lang="en-US" sz="3600" dirty="0"/>
          </a:p>
          <a:p>
            <a:pPr marL="0" indent="0" algn="ctr">
              <a:buNone/>
            </a:pPr>
            <a:r>
              <a:rPr lang="en-US" sz="3600" b="1" dirty="0">
                <a:solidFill>
                  <a:srgbClr val="0078D4"/>
                </a:solidFill>
                <a:latin typeface="Noto Sans JP" pitchFamily="34" charset="0"/>
                <a:ea typeface="Noto Sans JP" pitchFamily="34" charset="-122"/>
                <a:cs typeface="Noto Sans JP" pitchFamily="34" charset="-120"/>
              </a:rPr>
              <a:t>45分ハンズオン</a:t>
            </a:r>
            <a:endParaRPr lang="en-US" sz="3600" dirty="0"/>
          </a:p>
        </p:txBody>
      </p:sp>
      <p:pic>
        <p:nvPicPr>
          <p:cNvPr id="8" name="Image 2" descr="preencoded.png"/>
          <p:cNvPicPr>
            <a:picLocks noChangeAspect="1"/>
          </p:cNvPicPr>
          <p:nvPr/>
        </p:nvPicPr>
        <p:blipFill>
          <a:blip r:embed="rId5"/>
          <a:srcRect l="-8" r="-8"/>
          <a:stretch/>
        </p:blipFill>
        <p:spPr>
          <a:xfrm>
            <a:off x="381305" y="2881274"/>
            <a:ext cx="3657600" cy="2409444"/>
          </a:xfrm>
          <a:prstGeom prst="rect">
            <a:avLst/>
          </a:prstGeom>
        </p:spPr>
      </p:pic>
      <p:sp>
        <p:nvSpPr>
          <p:cNvPr id="9" name="Shape 4"/>
          <p:cNvSpPr/>
          <p:nvPr/>
        </p:nvSpPr>
        <p:spPr>
          <a:xfrm>
            <a:off x="1904695" y="3119018"/>
            <a:ext cx="609905" cy="609905"/>
          </a:xfrm>
          <a:prstGeom prst="roundRect">
            <a:avLst>
              <a:gd name="adj" fmla="val 74962"/>
            </a:avLst>
          </a:prstGeom>
          <a:solidFill>
            <a:srgbClr val="DBEAFE"/>
          </a:solidFill>
          <a:ln w="12700">
            <a:solidFill>
              <a:srgbClr val="FFFFFF">
                <a:alpha val="0"/>
              </a:srgbClr>
            </a:solidFill>
            <a:prstDash val="solid"/>
          </a:ln>
        </p:spPr>
        <p:txBody>
          <a:bodyPr/>
          <a:lstStyle/>
          <a:p>
            <a:endParaRPr lang="ja-JP" altLang="en-US"/>
          </a:p>
        </p:txBody>
      </p:sp>
      <p:pic>
        <p:nvPicPr>
          <p:cNvPr id="10" name="Image 3" descr="preencoded.png"/>
          <p:cNvPicPr>
            <a:picLocks noChangeAspect="1"/>
          </p:cNvPicPr>
          <p:nvPr/>
        </p:nvPicPr>
        <p:blipFill>
          <a:blip r:embed="rId6"/>
          <a:srcRect l="-107" r="-107"/>
          <a:stretch/>
        </p:blipFill>
        <p:spPr>
          <a:xfrm>
            <a:off x="2076602" y="3271723"/>
            <a:ext cx="267005" cy="304495"/>
          </a:xfrm>
          <a:prstGeom prst="rect">
            <a:avLst/>
          </a:prstGeom>
        </p:spPr>
      </p:pic>
      <p:sp>
        <p:nvSpPr>
          <p:cNvPr id="11" name="Text 5"/>
          <p:cNvSpPr txBox="1"/>
          <p:nvPr/>
        </p:nvSpPr>
        <p:spPr>
          <a:xfrm>
            <a:off x="1593495" y="3897738"/>
            <a:ext cx="1210056"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45分完結</a:t>
            </a:r>
            <a:endParaRPr lang="en-US" sz="2000" dirty="0"/>
          </a:p>
        </p:txBody>
      </p:sp>
      <p:sp>
        <p:nvSpPr>
          <p:cNvPr id="12" name="Text 6"/>
          <p:cNvSpPr txBox="1"/>
          <p:nvPr/>
        </p:nvSpPr>
        <p:spPr>
          <a:xfrm>
            <a:off x="1178634" y="4348702"/>
            <a:ext cx="2062942" cy="743407"/>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長時間の研修は不要。</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要点だけを凝縮して</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最短でスキル習得。 </a:t>
            </a:r>
            <a:endParaRPr lang="en-US" sz="1400" dirty="0"/>
          </a:p>
        </p:txBody>
      </p:sp>
      <p:pic>
        <p:nvPicPr>
          <p:cNvPr id="13" name="Image 4" descr="preencoded.png"/>
          <p:cNvPicPr>
            <a:picLocks noChangeAspect="1"/>
          </p:cNvPicPr>
          <p:nvPr/>
        </p:nvPicPr>
        <p:blipFill>
          <a:blip r:embed="rId5"/>
          <a:srcRect l="-8" r="-8"/>
          <a:stretch/>
        </p:blipFill>
        <p:spPr>
          <a:xfrm>
            <a:off x="4267505" y="2881274"/>
            <a:ext cx="3657600" cy="2409444"/>
          </a:xfrm>
          <a:prstGeom prst="rect">
            <a:avLst/>
          </a:prstGeom>
        </p:spPr>
      </p:pic>
      <p:sp>
        <p:nvSpPr>
          <p:cNvPr id="14" name="Shape 7"/>
          <p:cNvSpPr/>
          <p:nvPr/>
        </p:nvSpPr>
        <p:spPr>
          <a:xfrm>
            <a:off x="5790895" y="3119018"/>
            <a:ext cx="609905" cy="609905"/>
          </a:xfrm>
          <a:prstGeom prst="roundRect">
            <a:avLst>
              <a:gd name="adj" fmla="val 74962"/>
            </a:avLst>
          </a:prstGeom>
          <a:solidFill>
            <a:srgbClr val="E0E7FF"/>
          </a:solidFill>
          <a:ln w="12700">
            <a:solidFill>
              <a:srgbClr val="FFFFFF">
                <a:alpha val="0"/>
              </a:srgbClr>
            </a:solidFill>
            <a:prstDash val="solid"/>
          </a:ln>
        </p:spPr>
        <p:txBody>
          <a:bodyPr/>
          <a:lstStyle/>
          <a:p>
            <a:endParaRPr lang="ja-JP" altLang="en-US"/>
          </a:p>
        </p:txBody>
      </p:sp>
      <p:pic>
        <p:nvPicPr>
          <p:cNvPr id="15" name="Image 5" descr="preencoded.png"/>
          <p:cNvPicPr>
            <a:picLocks noChangeAspect="1"/>
          </p:cNvPicPr>
          <p:nvPr/>
        </p:nvPicPr>
        <p:blipFill>
          <a:blip r:embed="rId7"/>
          <a:srcRect l="-90" r="-90"/>
          <a:stretch/>
        </p:blipFill>
        <p:spPr>
          <a:xfrm>
            <a:off x="5905195" y="3271723"/>
            <a:ext cx="381305" cy="304495"/>
          </a:xfrm>
          <a:prstGeom prst="rect">
            <a:avLst/>
          </a:prstGeom>
        </p:spPr>
      </p:pic>
      <p:sp>
        <p:nvSpPr>
          <p:cNvPr id="16" name="Text 8"/>
          <p:cNvSpPr txBox="1"/>
          <p:nvPr/>
        </p:nvSpPr>
        <p:spPr>
          <a:xfrm>
            <a:off x="4860431" y="3897738"/>
            <a:ext cx="2294750"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実践型ハンズオン</a:t>
            </a:r>
            <a:endParaRPr lang="en-US" sz="2000" dirty="0"/>
          </a:p>
        </p:txBody>
      </p:sp>
      <p:sp>
        <p:nvSpPr>
          <p:cNvPr id="17" name="Text 9"/>
          <p:cNvSpPr txBox="1"/>
          <p:nvPr/>
        </p:nvSpPr>
        <p:spPr>
          <a:xfrm>
            <a:off x="4838063" y="4348702"/>
            <a:ext cx="2636310" cy="743407"/>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座学だけではありません。</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その場で実際に手を動かし</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「使える」技術を学びます。 </a:t>
            </a:r>
            <a:endParaRPr lang="en-US" sz="1400" dirty="0"/>
          </a:p>
        </p:txBody>
      </p:sp>
      <p:pic>
        <p:nvPicPr>
          <p:cNvPr id="18" name="Image 6" descr="preencoded.png"/>
          <p:cNvPicPr>
            <a:picLocks noChangeAspect="1"/>
          </p:cNvPicPr>
          <p:nvPr/>
        </p:nvPicPr>
        <p:blipFill>
          <a:blip r:embed="rId5"/>
          <a:srcRect l="-8" r="-8"/>
          <a:stretch/>
        </p:blipFill>
        <p:spPr>
          <a:xfrm>
            <a:off x="8153705" y="2881274"/>
            <a:ext cx="3657600" cy="2409444"/>
          </a:xfrm>
          <a:prstGeom prst="rect">
            <a:avLst/>
          </a:prstGeom>
        </p:spPr>
      </p:pic>
      <p:sp>
        <p:nvSpPr>
          <p:cNvPr id="19" name="Shape 10"/>
          <p:cNvSpPr/>
          <p:nvPr/>
        </p:nvSpPr>
        <p:spPr>
          <a:xfrm>
            <a:off x="9677095" y="3119018"/>
            <a:ext cx="609905" cy="609905"/>
          </a:xfrm>
          <a:prstGeom prst="roundRect">
            <a:avLst>
              <a:gd name="adj" fmla="val 74962"/>
            </a:avLst>
          </a:prstGeom>
          <a:solidFill>
            <a:srgbClr val="EDE9FE"/>
          </a:solidFill>
          <a:ln w="12700">
            <a:solidFill>
              <a:srgbClr val="FFFFFF">
                <a:alpha val="0"/>
              </a:srgbClr>
            </a:solidFill>
            <a:prstDash val="solid"/>
          </a:ln>
        </p:spPr>
        <p:txBody>
          <a:bodyPr/>
          <a:lstStyle/>
          <a:p>
            <a:endParaRPr lang="ja-JP" altLang="en-US"/>
          </a:p>
        </p:txBody>
      </p:sp>
      <p:pic>
        <p:nvPicPr>
          <p:cNvPr id="20" name="Image 7" descr="preencoded.png"/>
          <p:cNvPicPr>
            <a:picLocks noChangeAspect="1"/>
          </p:cNvPicPr>
          <p:nvPr/>
        </p:nvPicPr>
        <p:blipFill>
          <a:blip r:embed="rId8"/>
          <a:srcRect l="-90" r="-90"/>
          <a:stretch/>
        </p:blipFill>
        <p:spPr>
          <a:xfrm>
            <a:off x="9791395" y="3271723"/>
            <a:ext cx="381305" cy="304495"/>
          </a:xfrm>
          <a:prstGeom prst="rect">
            <a:avLst/>
          </a:prstGeom>
        </p:spPr>
      </p:pic>
      <p:sp>
        <p:nvSpPr>
          <p:cNvPr id="21" name="Text 11"/>
          <p:cNvSpPr txBox="1"/>
          <p:nvPr/>
        </p:nvSpPr>
        <p:spPr>
          <a:xfrm>
            <a:off x="9235001" y="3897738"/>
            <a:ext cx="1434219"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一緒に作る</a:t>
            </a:r>
            <a:endParaRPr lang="en-US" sz="2000" dirty="0"/>
          </a:p>
        </p:txBody>
      </p:sp>
      <p:sp>
        <p:nvSpPr>
          <p:cNvPr id="22" name="Text 12"/>
          <p:cNvSpPr txBox="1"/>
          <p:nvPr/>
        </p:nvSpPr>
        <p:spPr>
          <a:xfrm>
            <a:off x="8794672" y="4348702"/>
            <a:ext cx="2458980" cy="743407"/>
          </a:xfrm>
          <a:prstGeom prst="rect">
            <a:avLst/>
          </a:prstGeom>
          <a:noFill/>
          <a:ln/>
        </p:spPr>
        <p:txBody>
          <a:bodyPr wrap="square" lIns="0" tIns="0" rIns="0" bIns="0" rtlCol="0" anchor="t"/>
          <a:lstStyle/>
          <a:p>
            <a:pPr marL="0" indent="0" algn="ctr">
              <a:buNone/>
            </a:pP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ゼロから一緒に作ることで</a:t>
            </a:r>
            <a:endParaRPr lang="en-US" sz="1400" dirty="0"/>
          </a:p>
          <a:p>
            <a:pPr marL="0" indent="0" algn="ctr">
              <a:buNone/>
            </a:pPr>
            <a:r>
              <a:rPr lang="en-US" sz="1400">
                <a:solidFill>
                  <a:srgbClr val="6B7280"/>
                </a:solidFill>
                <a:latin typeface="Noto Sans JP" pitchFamily="34" charset="0"/>
                <a:ea typeface="Noto Sans JP" pitchFamily="34" charset="-122"/>
                <a:cs typeface="Noto Sans JP" pitchFamily="34" charset="-120"/>
              </a:rPr>
              <a:t> 仕組みを理解します</a:t>
            </a:r>
            <a:r>
              <a:rPr lang="en-US" sz="1400" dirty="0">
                <a:solidFill>
                  <a:srgbClr val="6B7280"/>
                </a:solidFill>
                <a:latin typeface="Noto Sans JP" pitchFamily="34" charset="0"/>
                <a:ea typeface="Noto Sans JP" pitchFamily="34" charset="-122"/>
                <a:cs typeface="Noto Sans JP" pitchFamily="34" charset="-120"/>
              </a:rPr>
              <a:t>。 </a:t>
            </a:r>
            <a:endParaRPr lang="en-US" sz="1400" dirty="0"/>
          </a:p>
        </p:txBody>
      </p:sp>
      <p:pic>
        <p:nvPicPr>
          <p:cNvPr id="23" name="Image 8" descr="preencoded.png"/>
          <p:cNvPicPr>
            <a:picLocks noChangeAspect="1"/>
          </p:cNvPicPr>
          <p:nvPr/>
        </p:nvPicPr>
        <p:blipFill>
          <a:blip r:embed="rId9"/>
          <a:srcRect t="-40" b="-40"/>
          <a:stretch/>
        </p:blipFill>
        <p:spPr>
          <a:xfrm>
            <a:off x="3625596" y="5471770"/>
            <a:ext cx="4939589" cy="629107"/>
          </a:xfrm>
          <a:prstGeom prst="rect">
            <a:avLst/>
          </a:prstGeom>
        </p:spPr>
      </p:pic>
      <p:sp>
        <p:nvSpPr>
          <p:cNvPr id="24" name="Shape 13"/>
          <p:cNvSpPr/>
          <p:nvPr/>
        </p:nvSpPr>
        <p:spPr>
          <a:xfrm>
            <a:off x="3940150" y="5596128"/>
            <a:ext cx="323698" cy="381305"/>
          </a:xfrm>
          <a:prstGeom prst="roundRect">
            <a:avLst>
              <a:gd name="adj" fmla="val 282486"/>
            </a:avLst>
          </a:prstGeom>
          <a:solidFill>
            <a:srgbClr val="D1FAE5"/>
          </a:solidFill>
          <a:ln w="12700">
            <a:solidFill>
              <a:srgbClr val="FFFFFF">
                <a:alpha val="0"/>
              </a:srgbClr>
            </a:solidFill>
            <a:prstDash val="solid"/>
          </a:ln>
        </p:spPr>
        <p:txBody>
          <a:bodyPr/>
          <a:lstStyle/>
          <a:p>
            <a:endParaRPr lang="ja-JP" altLang="en-US"/>
          </a:p>
        </p:txBody>
      </p:sp>
      <p:sp>
        <p:nvSpPr>
          <p:cNvPr id="25" name="Text 14"/>
          <p:cNvSpPr txBox="1"/>
          <p:nvPr/>
        </p:nvSpPr>
        <p:spPr>
          <a:xfrm>
            <a:off x="4416552" y="5652821"/>
            <a:ext cx="4026103" cy="267005"/>
          </a:xfrm>
          <a:prstGeom prst="rect">
            <a:avLst/>
          </a:prstGeom>
          <a:noFill/>
          <a:ln/>
        </p:spPr>
        <p:txBody>
          <a:bodyPr wrap="square" lIns="0" tIns="0" rIns="0" bIns="0" rtlCol="0" anchor="ctr"/>
          <a:lstStyle/>
          <a:p>
            <a:pPr marL="0" indent="0" algn="l">
              <a:buNone/>
            </a:pPr>
            <a:r>
              <a:rPr lang="en-US" sz="1300" b="1" dirty="0">
                <a:solidFill>
                  <a:srgbClr val="374151"/>
                </a:solidFill>
                <a:latin typeface="Noto Sans JP" pitchFamily="34" charset="0"/>
                <a:ea typeface="Noto Sans JP" pitchFamily="34" charset="-122"/>
                <a:cs typeface="Noto Sans JP" pitchFamily="34" charset="-120"/>
              </a:rPr>
              <a:t>Power Automate 未経験・知識ゼロでも大丈夫！</a:t>
            </a:r>
            <a:endParaRPr lang="en-US" sz="1300" dirty="0"/>
          </a:p>
        </p:txBody>
      </p:sp>
      <p:pic>
        <p:nvPicPr>
          <p:cNvPr id="26" name="Image 9" descr="preencoded.png"/>
          <p:cNvPicPr>
            <a:picLocks noChangeAspect="1"/>
          </p:cNvPicPr>
          <p:nvPr/>
        </p:nvPicPr>
        <p:blipFill>
          <a:blip r:embed="rId10"/>
          <a:srcRect l="-1648" r="-1648"/>
          <a:stretch/>
        </p:blipFill>
        <p:spPr>
          <a:xfrm>
            <a:off x="4016959" y="5686654"/>
            <a:ext cx="171907" cy="190195"/>
          </a:xfrm>
          <a:prstGeom prst="rect">
            <a:avLst/>
          </a:prstGeom>
        </p:spPr>
      </p:pic>
      <p:sp>
        <p:nvSpPr>
          <p:cNvPr id="27" name="Shape 15"/>
          <p:cNvSpPr/>
          <p:nvPr/>
        </p:nvSpPr>
        <p:spPr>
          <a:xfrm>
            <a:off x="0" y="0"/>
            <a:ext cx="12191695" cy="1333195"/>
          </a:xfrm>
          <a:prstGeom prst="rect">
            <a:avLst/>
          </a:prstGeom>
          <a:solidFill>
            <a:srgbClr val="FFFFFF"/>
          </a:solidFill>
          <a:ln/>
        </p:spPr>
        <p:txBody>
          <a:bodyPr/>
          <a:lstStyle/>
          <a:p>
            <a:endParaRPr lang="ja-JP" altLang="en-US"/>
          </a:p>
        </p:txBody>
      </p:sp>
      <p:sp>
        <p:nvSpPr>
          <p:cNvPr id="28" name="Shape 16"/>
          <p:cNvSpPr/>
          <p:nvPr/>
        </p:nvSpPr>
        <p:spPr>
          <a:xfrm>
            <a:off x="0" y="13240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29" name="Text 17"/>
          <p:cNvSpPr txBox="1"/>
          <p:nvPr/>
        </p:nvSpPr>
        <p:spPr>
          <a:xfrm>
            <a:off x="457200" y="152705"/>
            <a:ext cx="2318004"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INTRODUCTION</a:t>
            </a:r>
            <a:endParaRPr lang="en-US" sz="1500" dirty="0"/>
          </a:p>
        </p:txBody>
      </p:sp>
      <p:sp>
        <p:nvSpPr>
          <p:cNvPr id="30" name="Text 18"/>
          <p:cNvSpPr txBox="1"/>
          <p:nvPr/>
        </p:nvSpPr>
        <p:spPr>
          <a:xfrm>
            <a:off x="457200" y="457200"/>
            <a:ext cx="34390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PA45</a:t>
            </a:r>
            <a:r>
              <a:rPr lang="en-US" sz="1800" b="1" dirty="0">
                <a:solidFill>
                  <a:srgbClr val="6B7280"/>
                </a:solidFill>
                <a:latin typeface="Noto Sans JP" pitchFamily="34" charset="0"/>
                <a:ea typeface="Noto Sans JP" pitchFamily="34" charset="-122"/>
                <a:cs typeface="Noto Sans JP" pitchFamily="34" charset="-120"/>
              </a:rPr>
              <a:t>とは？</a:t>
            </a:r>
            <a:endParaRPr lang="en-US" sz="4500" dirty="0"/>
          </a:p>
        </p:txBody>
      </p:sp>
      <p:sp>
        <p:nvSpPr>
          <p:cNvPr id="31" name="Shape 19"/>
          <p:cNvSpPr/>
          <p:nvPr/>
        </p:nvSpPr>
        <p:spPr>
          <a:xfrm>
            <a:off x="10669220" y="26670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2" name="Text 20"/>
          <p:cNvSpPr txBox="1"/>
          <p:nvPr/>
        </p:nvSpPr>
        <p:spPr>
          <a:xfrm>
            <a:off x="10935310" y="210007"/>
            <a:ext cx="8860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35" name="Shape 22"/>
          <p:cNvSpPr/>
          <p:nvPr/>
        </p:nvSpPr>
        <p:spPr>
          <a:xfrm>
            <a:off x="0" y="6248095"/>
            <a:ext cx="12191695" cy="609905"/>
          </a:xfrm>
          <a:prstGeom prst="rect">
            <a:avLst/>
          </a:prstGeom>
          <a:solidFill>
            <a:srgbClr val="FFFFFF"/>
          </a:solidFill>
          <a:ln/>
        </p:spPr>
        <p:txBody>
          <a:bodyPr/>
          <a:lstStyle/>
          <a:p>
            <a:endParaRPr lang="ja-JP" altLang="en-US"/>
          </a:p>
        </p:txBody>
      </p:sp>
      <p:sp>
        <p:nvSpPr>
          <p:cNvPr id="36" name="Shape 23"/>
          <p:cNvSpPr/>
          <p:nvPr/>
        </p:nvSpPr>
        <p:spPr>
          <a:xfrm>
            <a:off x="0" y="624809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7" name="Text 24"/>
          <p:cNvSpPr txBox="1"/>
          <p:nvPr/>
        </p:nvSpPr>
        <p:spPr>
          <a:xfrm>
            <a:off x="457200" y="6443777"/>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38" name="Text 25"/>
          <p:cNvSpPr txBox="1"/>
          <p:nvPr/>
        </p:nvSpPr>
        <p:spPr>
          <a:xfrm>
            <a:off x="10490911" y="6443777"/>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39"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48" name="グループ化 47">
            <a:extLst>
              <a:ext uri="{FF2B5EF4-FFF2-40B4-BE49-F238E27FC236}">
                <a16:creationId xmlns:a16="http://schemas.microsoft.com/office/drawing/2014/main" id="{573DEEFF-2E18-F859-557D-46C5895E5E23}"/>
              </a:ext>
            </a:extLst>
          </p:cNvPr>
          <p:cNvGrpSpPr/>
          <p:nvPr/>
        </p:nvGrpSpPr>
        <p:grpSpPr>
          <a:xfrm>
            <a:off x="4603551" y="6322778"/>
            <a:ext cx="7350682" cy="405017"/>
            <a:chOff x="5861349" y="604238"/>
            <a:chExt cx="6035909" cy="405017"/>
          </a:xfrm>
        </p:grpSpPr>
        <p:sp>
          <p:nvSpPr>
            <p:cNvPr id="49" name="Shape 31">
              <a:extLst>
                <a:ext uri="{FF2B5EF4-FFF2-40B4-BE49-F238E27FC236}">
                  <a16:creationId xmlns:a16="http://schemas.microsoft.com/office/drawing/2014/main" id="{EB34D72B-3BD9-5C6D-172D-3C12236AFA7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0" name="Text 21">
              <a:extLst>
                <a:ext uri="{FF2B5EF4-FFF2-40B4-BE49-F238E27FC236}">
                  <a16:creationId xmlns:a16="http://schemas.microsoft.com/office/drawing/2014/main" id="{60D4689B-59D1-541B-9719-C75A816A4F1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1" name="Image 2" descr="preencoded.png">
              <a:extLst>
                <a:ext uri="{FF2B5EF4-FFF2-40B4-BE49-F238E27FC236}">
                  <a16:creationId xmlns:a16="http://schemas.microsoft.com/office/drawing/2014/main" id="{91D0F47D-91FD-FF45-2771-9D7B634F6D96}"/>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067105"/>
            <a:ext cx="12191695" cy="52578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7" name="Image 2" descr="preencoded.png"/>
          <p:cNvPicPr>
            <a:picLocks noChangeAspect="1"/>
          </p:cNvPicPr>
          <p:nvPr/>
        </p:nvPicPr>
        <p:blipFill>
          <a:blip r:embed="rId3"/>
          <a:srcRect l="-1" r="-1"/>
          <a:stretch/>
        </p:blipFill>
        <p:spPr>
          <a:xfrm>
            <a:off x="381305" y="1295705"/>
            <a:ext cx="3683203" cy="2305202"/>
          </a:xfrm>
          <a:prstGeom prst="rect">
            <a:avLst/>
          </a:prstGeom>
        </p:spPr>
      </p:pic>
      <p:pic>
        <p:nvPicPr>
          <p:cNvPr id="8" name="Image 3" descr="preencoded.png"/>
          <p:cNvPicPr>
            <a:picLocks noChangeAspect="1"/>
          </p:cNvPicPr>
          <p:nvPr/>
        </p:nvPicPr>
        <p:blipFill>
          <a:blip r:embed="rId4"/>
          <a:srcRect/>
          <a:stretch/>
        </p:blipFill>
        <p:spPr>
          <a:xfrm>
            <a:off x="685800" y="1524305"/>
            <a:ext cx="533095" cy="533095"/>
          </a:xfrm>
          <a:prstGeom prst="rect">
            <a:avLst/>
          </a:prstGeom>
        </p:spPr>
      </p:pic>
      <p:pic>
        <p:nvPicPr>
          <p:cNvPr id="9" name="Image 4" descr="preencoded.png"/>
          <p:cNvPicPr>
            <a:picLocks noChangeAspect="1"/>
          </p:cNvPicPr>
          <p:nvPr/>
        </p:nvPicPr>
        <p:blipFill>
          <a:blip r:embed="rId5"/>
          <a:srcRect l="-607" r="-607"/>
          <a:stretch/>
        </p:blipFill>
        <p:spPr>
          <a:xfrm>
            <a:off x="771754" y="1647749"/>
            <a:ext cx="362102" cy="286207"/>
          </a:xfrm>
          <a:prstGeom prst="rect">
            <a:avLst/>
          </a:prstGeom>
        </p:spPr>
      </p:pic>
      <p:sp>
        <p:nvSpPr>
          <p:cNvPr id="10" name="Text 3"/>
          <p:cNvSpPr txBox="1"/>
          <p:nvPr/>
        </p:nvSpPr>
        <p:spPr>
          <a:xfrm>
            <a:off x="1371599" y="1524305"/>
            <a:ext cx="244671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みんなで気持ちよく</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学ぶために</a:t>
            </a:r>
            <a:endParaRPr lang="en-US" sz="1600" dirty="0"/>
          </a:p>
        </p:txBody>
      </p:sp>
      <p:sp>
        <p:nvSpPr>
          <p:cNvPr id="11" name="Text 4"/>
          <p:cNvSpPr txBox="1"/>
          <p:nvPr/>
        </p:nvSpPr>
        <p:spPr>
          <a:xfrm>
            <a:off x="895197" y="2546035"/>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誹謗中傷・不適切な発言は</a:t>
            </a:r>
            <a:r>
              <a:rPr lang="en-US" sz="1400" b="1" dirty="0">
                <a:solidFill>
                  <a:srgbClr val="2563EB"/>
                </a:solidFill>
                <a:latin typeface="Noto Sans JP" pitchFamily="34" charset="0"/>
                <a:ea typeface="Noto Sans JP" pitchFamily="34" charset="-122"/>
                <a:cs typeface="Noto Sans JP" pitchFamily="34" charset="-120"/>
              </a:rPr>
              <a:t>禁止</a:t>
            </a:r>
            <a:endParaRPr lang="en-US" sz="1400" dirty="0"/>
          </a:p>
        </p:txBody>
      </p:sp>
      <p:pic>
        <p:nvPicPr>
          <p:cNvPr id="12" name="Image 5" descr="preencoded.png"/>
          <p:cNvPicPr>
            <a:picLocks noChangeAspect="1"/>
          </p:cNvPicPr>
          <p:nvPr/>
        </p:nvPicPr>
        <p:blipFill>
          <a:blip r:embed="rId6"/>
          <a:srcRect/>
          <a:stretch/>
        </p:blipFill>
        <p:spPr>
          <a:xfrm>
            <a:off x="609904" y="2553004"/>
            <a:ext cx="209398" cy="209398"/>
          </a:xfrm>
          <a:prstGeom prst="rect">
            <a:avLst/>
          </a:prstGeom>
        </p:spPr>
      </p:pic>
      <p:sp>
        <p:nvSpPr>
          <p:cNvPr id="15" name="Text 6"/>
          <p:cNvSpPr txBox="1"/>
          <p:nvPr/>
        </p:nvSpPr>
        <p:spPr>
          <a:xfrm>
            <a:off x="902429" y="2999232"/>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お互いを尊重し合いましょう</a:t>
            </a:r>
            <a:endParaRPr lang="en-US" sz="1400" dirty="0"/>
          </a:p>
        </p:txBody>
      </p:sp>
      <p:pic>
        <p:nvPicPr>
          <p:cNvPr id="16" name="Image 7" descr="preencoded.png"/>
          <p:cNvPicPr>
            <a:picLocks noChangeAspect="1"/>
          </p:cNvPicPr>
          <p:nvPr/>
        </p:nvPicPr>
        <p:blipFill>
          <a:blip r:embed="rId6"/>
          <a:srcRect/>
          <a:stretch/>
        </p:blipFill>
        <p:spPr>
          <a:xfrm>
            <a:off x="617136" y="2956725"/>
            <a:ext cx="209398" cy="209398"/>
          </a:xfrm>
          <a:prstGeom prst="rect">
            <a:avLst/>
          </a:prstGeom>
        </p:spPr>
      </p:pic>
      <p:pic>
        <p:nvPicPr>
          <p:cNvPr id="17" name="Image 8" descr="preencoded.png"/>
          <p:cNvPicPr>
            <a:picLocks noChangeAspect="1"/>
          </p:cNvPicPr>
          <p:nvPr/>
        </p:nvPicPr>
        <p:blipFill>
          <a:blip r:embed="rId7"/>
          <a:srcRect t="-1" b="-1"/>
          <a:stretch/>
        </p:blipFill>
        <p:spPr>
          <a:xfrm>
            <a:off x="4254703" y="1295705"/>
            <a:ext cx="3683203" cy="2305202"/>
          </a:xfrm>
          <a:prstGeom prst="rect">
            <a:avLst/>
          </a:prstGeom>
        </p:spPr>
      </p:pic>
      <p:pic>
        <p:nvPicPr>
          <p:cNvPr id="18" name="Image 9" descr="preencoded.png"/>
          <p:cNvPicPr>
            <a:picLocks noChangeAspect="1"/>
          </p:cNvPicPr>
          <p:nvPr/>
        </p:nvPicPr>
        <p:blipFill>
          <a:blip r:embed="rId4"/>
          <a:srcRect/>
          <a:stretch/>
        </p:blipFill>
        <p:spPr>
          <a:xfrm>
            <a:off x="4559198" y="1524305"/>
            <a:ext cx="533095" cy="533095"/>
          </a:xfrm>
          <a:prstGeom prst="rect">
            <a:avLst/>
          </a:prstGeom>
        </p:spPr>
      </p:pic>
      <p:pic>
        <p:nvPicPr>
          <p:cNvPr id="19" name="Image 10" descr="preencoded.png"/>
          <p:cNvPicPr>
            <a:picLocks noChangeAspect="1"/>
          </p:cNvPicPr>
          <p:nvPr/>
        </p:nvPicPr>
        <p:blipFill>
          <a:blip r:embed="rId8"/>
          <a:srcRect l="-266" r="-266"/>
          <a:stretch/>
        </p:blipFill>
        <p:spPr>
          <a:xfrm>
            <a:off x="4664354" y="1647749"/>
            <a:ext cx="323698" cy="286207"/>
          </a:xfrm>
          <a:prstGeom prst="rect">
            <a:avLst/>
          </a:prstGeom>
        </p:spPr>
      </p:pic>
      <p:sp>
        <p:nvSpPr>
          <p:cNvPr id="20" name="Text 7"/>
          <p:cNvSpPr txBox="1"/>
          <p:nvPr/>
        </p:nvSpPr>
        <p:spPr>
          <a:xfrm>
            <a:off x="5274259" y="1673670"/>
            <a:ext cx="2540817" cy="238658"/>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講座の録画について</a:t>
            </a:r>
            <a:endParaRPr lang="en-US" sz="1600" dirty="0"/>
          </a:p>
        </p:txBody>
      </p:sp>
      <p:sp>
        <p:nvSpPr>
          <p:cNvPr id="21" name="Text 8"/>
          <p:cNvSpPr txBox="1"/>
          <p:nvPr/>
        </p:nvSpPr>
        <p:spPr>
          <a:xfrm>
            <a:off x="4800600" y="2366540"/>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後日</a:t>
            </a:r>
            <a:r>
              <a:rPr lang="en-US" sz="1400">
                <a:solidFill>
                  <a:srgbClr val="4B5563"/>
                </a:solidFill>
                <a:latin typeface="Noto Sans JP" pitchFamily="34" charset="0"/>
                <a:ea typeface="Noto Sans JP" pitchFamily="34" charset="-122"/>
                <a:cs typeface="Noto Sans JP" pitchFamily="34" charset="-120"/>
              </a:rPr>
              <a:t>YouTube公開</a:t>
            </a:r>
            <a:r>
              <a:rPr lang="ja-JP" altLang="en-US" sz="1400">
                <a:solidFill>
                  <a:srgbClr val="4B5563"/>
                </a:solidFill>
                <a:latin typeface="Noto Sans JP" pitchFamily="34" charset="0"/>
                <a:ea typeface="Noto Sans JP" pitchFamily="34" charset="-122"/>
                <a:cs typeface="Noto Sans JP" pitchFamily="34" charset="-120"/>
              </a:rPr>
              <a:t>予定</a:t>
            </a:r>
            <a:endParaRPr lang="en-US" sz="1400" dirty="0"/>
          </a:p>
        </p:txBody>
      </p:sp>
      <p:pic>
        <p:nvPicPr>
          <p:cNvPr id="22" name="Image 11" descr="preencoded.png"/>
          <p:cNvPicPr>
            <a:picLocks noChangeAspect="1"/>
          </p:cNvPicPr>
          <p:nvPr/>
        </p:nvPicPr>
        <p:blipFill>
          <a:blip r:embed="rId9"/>
          <a:srcRect/>
          <a:stretch/>
        </p:blipFill>
        <p:spPr>
          <a:xfrm>
            <a:off x="4459755" y="2316941"/>
            <a:ext cx="222199" cy="222199"/>
          </a:xfrm>
          <a:prstGeom prst="rect">
            <a:avLst/>
          </a:prstGeom>
        </p:spPr>
      </p:pic>
      <p:sp>
        <p:nvSpPr>
          <p:cNvPr id="23" name="Text 9"/>
          <p:cNvSpPr txBox="1"/>
          <p:nvPr/>
        </p:nvSpPr>
        <p:spPr>
          <a:xfrm>
            <a:off x="4799966" y="2759178"/>
            <a:ext cx="3096158" cy="267005"/>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参加者の情報は</a:t>
            </a:r>
            <a:r>
              <a:rPr lang="en-US" sz="1400" b="1" dirty="0">
                <a:solidFill>
                  <a:srgbClr val="0078D4"/>
                </a:solidFill>
                <a:latin typeface="Noto Sans JP" pitchFamily="34" charset="0"/>
                <a:ea typeface="Noto Sans JP" pitchFamily="34" charset="-122"/>
                <a:cs typeface="Noto Sans JP" pitchFamily="34" charset="-120"/>
              </a:rPr>
              <a:t>映りません</a:t>
            </a:r>
            <a:endParaRPr lang="en-US" sz="1400" dirty="0"/>
          </a:p>
        </p:txBody>
      </p:sp>
      <p:pic>
        <p:nvPicPr>
          <p:cNvPr id="24" name="Image 12" descr="preencoded.png"/>
          <p:cNvPicPr>
            <a:picLocks noChangeAspect="1"/>
          </p:cNvPicPr>
          <p:nvPr/>
        </p:nvPicPr>
        <p:blipFill>
          <a:blip r:embed="rId10"/>
          <a:srcRect l="-1507" r="-1507"/>
          <a:stretch/>
        </p:blipFill>
        <p:spPr>
          <a:xfrm>
            <a:off x="4444986" y="2768803"/>
            <a:ext cx="286120" cy="222199"/>
          </a:xfrm>
          <a:prstGeom prst="rect">
            <a:avLst/>
          </a:prstGeom>
        </p:spPr>
      </p:pic>
      <p:sp>
        <p:nvSpPr>
          <p:cNvPr id="25" name="Text 10"/>
          <p:cNvSpPr txBox="1"/>
          <p:nvPr/>
        </p:nvSpPr>
        <p:spPr>
          <a:xfrm>
            <a:off x="4794577" y="3183750"/>
            <a:ext cx="3115361"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講師画面のみ録画されます</a:t>
            </a:r>
            <a:endParaRPr lang="en-US" sz="1400" dirty="0"/>
          </a:p>
        </p:txBody>
      </p:sp>
      <p:pic>
        <p:nvPicPr>
          <p:cNvPr id="26" name="Image 13" descr="preencoded.png"/>
          <p:cNvPicPr>
            <a:picLocks noChangeAspect="1"/>
          </p:cNvPicPr>
          <p:nvPr/>
        </p:nvPicPr>
        <p:blipFill>
          <a:blip r:embed="rId11"/>
          <a:srcRect l="-837" r="-837"/>
          <a:stretch/>
        </p:blipFill>
        <p:spPr>
          <a:xfrm>
            <a:off x="4467442" y="3183750"/>
            <a:ext cx="236379" cy="206654"/>
          </a:xfrm>
          <a:prstGeom prst="rect">
            <a:avLst/>
          </a:prstGeom>
        </p:spPr>
      </p:pic>
      <p:pic>
        <p:nvPicPr>
          <p:cNvPr id="27" name="Image 14" descr="preencoded.png"/>
          <p:cNvPicPr>
            <a:picLocks noChangeAspect="1"/>
          </p:cNvPicPr>
          <p:nvPr/>
        </p:nvPicPr>
        <p:blipFill>
          <a:blip r:embed="rId12"/>
          <a:srcRect l="-1" r="-1"/>
          <a:stretch/>
        </p:blipFill>
        <p:spPr>
          <a:xfrm>
            <a:off x="8128102" y="1295705"/>
            <a:ext cx="3683203" cy="2305202"/>
          </a:xfrm>
          <a:prstGeom prst="rect">
            <a:avLst/>
          </a:prstGeom>
        </p:spPr>
      </p:pic>
      <p:pic>
        <p:nvPicPr>
          <p:cNvPr id="28" name="Image 15" descr="preencoded.png"/>
          <p:cNvPicPr>
            <a:picLocks noChangeAspect="1"/>
          </p:cNvPicPr>
          <p:nvPr/>
        </p:nvPicPr>
        <p:blipFill>
          <a:blip r:embed="rId4"/>
          <a:srcRect/>
          <a:stretch/>
        </p:blipFill>
        <p:spPr>
          <a:xfrm>
            <a:off x="8432597" y="1524305"/>
            <a:ext cx="533095" cy="533095"/>
          </a:xfrm>
          <a:prstGeom prst="rect">
            <a:avLst/>
          </a:prstGeom>
        </p:spPr>
      </p:pic>
      <p:pic>
        <p:nvPicPr>
          <p:cNvPr id="29" name="Image 16" descr="preencoded.png"/>
          <p:cNvPicPr>
            <a:picLocks noChangeAspect="1"/>
          </p:cNvPicPr>
          <p:nvPr/>
        </p:nvPicPr>
        <p:blipFill>
          <a:blip r:embed="rId13"/>
          <a:srcRect l="-607" r="-607"/>
          <a:stretch/>
        </p:blipFill>
        <p:spPr>
          <a:xfrm>
            <a:off x="8518550" y="1647749"/>
            <a:ext cx="362102" cy="286207"/>
          </a:xfrm>
          <a:prstGeom prst="rect">
            <a:avLst/>
          </a:prstGeom>
        </p:spPr>
      </p:pic>
      <p:sp>
        <p:nvSpPr>
          <p:cNvPr id="30" name="Text 11"/>
          <p:cNvSpPr txBox="1"/>
          <p:nvPr/>
        </p:nvSpPr>
        <p:spPr>
          <a:xfrm>
            <a:off x="9118396" y="1524305"/>
            <a:ext cx="217569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チャットは気軽に</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どうぞ</a:t>
            </a:r>
            <a:endParaRPr lang="en-US" sz="1600" dirty="0"/>
          </a:p>
        </p:txBody>
      </p:sp>
      <p:sp>
        <p:nvSpPr>
          <p:cNvPr id="31" name="Text 12"/>
          <p:cNvSpPr txBox="1"/>
          <p:nvPr/>
        </p:nvSpPr>
        <p:spPr>
          <a:xfrm>
            <a:off x="8638960" y="2366540"/>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「できました！」の声など大歓迎</a:t>
            </a:r>
            <a:endParaRPr lang="en-US" sz="1400" dirty="0"/>
          </a:p>
        </p:txBody>
      </p:sp>
      <p:pic>
        <p:nvPicPr>
          <p:cNvPr id="32" name="Image 17" descr="preencoded.png"/>
          <p:cNvPicPr>
            <a:picLocks noChangeAspect="1"/>
          </p:cNvPicPr>
          <p:nvPr/>
        </p:nvPicPr>
        <p:blipFill>
          <a:blip r:embed="rId14"/>
          <a:srcRect/>
          <a:stretch/>
        </p:blipFill>
        <p:spPr>
          <a:xfrm>
            <a:off x="8323811" y="2357209"/>
            <a:ext cx="242288" cy="242288"/>
          </a:xfrm>
          <a:prstGeom prst="rect">
            <a:avLst/>
          </a:prstGeom>
        </p:spPr>
      </p:pic>
      <p:sp>
        <p:nvSpPr>
          <p:cNvPr id="33" name="Text 13"/>
          <p:cNvSpPr txBox="1"/>
          <p:nvPr/>
        </p:nvSpPr>
        <p:spPr>
          <a:xfrm>
            <a:off x="8722752" y="2735885"/>
            <a:ext cx="3134563" cy="267005"/>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小さな質問でも</a:t>
            </a:r>
            <a:r>
              <a:rPr lang="en-US" sz="1400" b="1" dirty="0">
                <a:solidFill>
                  <a:srgbClr val="0078D4"/>
                </a:solidFill>
                <a:latin typeface="Noto Sans JP" pitchFamily="34" charset="0"/>
                <a:ea typeface="Noto Sans JP" pitchFamily="34" charset="-122"/>
                <a:cs typeface="Noto Sans JP" pitchFamily="34" charset="-120"/>
              </a:rPr>
              <a:t>OK</a:t>
            </a:r>
            <a:r>
              <a:rPr lang="en-US" sz="1400" dirty="0">
                <a:solidFill>
                  <a:srgbClr val="4B5563"/>
                </a:solidFill>
                <a:latin typeface="Noto Sans JP" pitchFamily="34" charset="0"/>
                <a:ea typeface="Noto Sans JP" pitchFamily="34" charset="-122"/>
                <a:cs typeface="Noto Sans JP" pitchFamily="34" charset="-120"/>
              </a:rPr>
              <a:t>です</a:t>
            </a:r>
            <a:endParaRPr lang="en-US" sz="1400" dirty="0"/>
          </a:p>
        </p:txBody>
      </p:sp>
      <p:pic>
        <p:nvPicPr>
          <p:cNvPr id="34" name="Image 18" descr="preencoded.png"/>
          <p:cNvPicPr>
            <a:picLocks noChangeAspect="1"/>
          </p:cNvPicPr>
          <p:nvPr/>
        </p:nvPicPr>
        <p:blipFill>
          <a:blip r:embed="rId15"/>
          <a:srcRect/>
          <a:stretch/>
        </p:blipFill>
        <p:spPr>
          <a:xfrm>
            <a:off x="8323811" y="2748714"/>
            <a:ext cx="242288" cy="242288"/>
          </a:xfrm>
          <a:prstGeom prst="rect">
            <a:avLst/>
          </a:prstGeom>
        </p:spPr>
      </p:pic>
      <p:sp>
        <p:nvSpPr>
          <p:cNvPr id="35" name="Text 14"/>
          <p:cNvSpPr txBox="1"/>
          <p:nvPr/>
        </p:nvSpPr>
        <p:spPr>
          <a:xfrm>
            <a:off x="8641994" y="3161995"/>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反応があると講師も嬉しいです</a:t>
            </a:r>
            <a:endParaRPr lang="en-US" sz="1400" dirty="0"/>
          </a:p>
        </p:txBody>
      </p:sp>
      <p:pic>
        <p:nvPicPr>
          <p:cNvPr id="36" name="Image 19" descr="preencoded.png"/>
          <p:cNvPicPr>
            <a:picLocks noChangeAspect="1"/>
          </p:cNvPicPr>
          <p:nvPr/>
        </p:nvPicPr>
        <p:blipFill>
          <a:blip r:embed="rId16"/>
          <a:srcRect/>
          <a:stretch/>
        </p:blipFill>
        <p:spPr>
          <a:xfrm>
            <a:off x="8343442" y="3148206"/>
            <a:ext cx="216712" cy="216712"/>
          </a:xfrm>
          <a:prstGeom prst="rect">
            <a:avLst/>
          </a:prstGeom>
        </p:spPr>
      </p:pic>
      <p:pic>
        <p:nvPicPr>
          <p:cNvPr id="37" name="Image 20" descr="preencoded.png"/>
          <p:cNvPicPr>
            <a:picLocks noChangeAspect="1"/>
          </p:cNvPicPr>
          <p:nvPr/>
        </p:nvPicPr>
        <p:blipFill>
          <a:blip r:embed="rId17"/>
          <a:srcRect t="-1" b="-1"/>
          <a:stretch/>
        </p:blipFill>
        <p:spPr>
          <a:xfrm>
            <a:off x="381305" y="3791102"/>
            <a:ext cx="5619902" cy="2305202"/>
          </a:xfrm>
          <a:prstGeom prst="rect">
            <a:avLst/>
          </a:prstGeom>
        </p:spPr>
      </p:pic>
      <p:pic>
        <p:nvPicPr>
          <p:cNvPr id="38" name="Image 21" descr="preencoded.png"/>
          <p:cNvPicPr>
            <a:picLocks noChangeAspect="1"/>
          </p:cNvPicPr>
          <p:nvPr/>
        </p:nvPicPr>
        <p:blipFill>
          <a:blip r:embed="rId18">
            <a:alphaModFix amt="10000"/>
          </a:blip>
          <a:srcRect/>
          <a:stretch/>
        </p:blipFill>
        <p:spPr>
          <a:xfrm>
            <a:off x="4914900" y="5009998"/>
            <a:ext cx="1218895" cy="1218895"/>
          </a:xfrm>
          <a:prstGeom prst="rect">
            <a:avLst/>
          </a:prstGeom>
        </p:spPr>
      </p:pic>
      <p:pic>
        <p:nvPicPr>
          <p:cNvPr id="39" name="Image 22" descr="preencoded.png"/>
          <p:cNvPicPr>
            <a:picLocks noChangeAspect="1"/>
          </p:cNvPicPr>
          <p:nvPr/>
        </p:nvPicPr>
        <p:blipFill>
          <a:blip r:embed="rId19"/>
          <a:srcRect/>
          <a:stretch/>
        </p:blipFill>
        <p:spPr>
          <a:xfrm>
            <a:off x="629107" y="4038905"/>
            <a:ext cx="609905" cy="609905"/>
          </a:xfrm>
          <a:prstGeom prst="rect">
            <a:avLst/>
          </a:prstGeom>
        </p:spPr>
      </p:pic>
      <p:pic>
        <p:nvPicPr>
          <p:cNvPr id="40" name="Image 23" descr="preencoded.png"/>
          <p:cNvPicPr>
            <a:picLocks noChangeAspect="1"/>
          </p:cNvPicPr>
          <p:nvPr/>
        </p:nvPicPr>
        <p:blipFill>
          <a:blip r:embed="rId20"/>
          <a:srcRect/>
          <a:stretch/>
        </p:blipFill>
        <p:spPr>
          <a:xfrm>
            <a:off x="790956" y="4200754"/>
            <a:ext cx="286207" cy="286207"/>
          </a:xfrm>
          <a:prstGeom prst="rect">
            <a:avLst/>
          </a:prstGeom>
        </p:spPr>
      </p:pic>
      <p:pic>
        <p:nvPicPr>
          <p:cNvPr id="41" name="Image 24" descr="preencoded.png"/>
          <p:cNvPicPr>
            <a:picLocks noChangeAspect="1"/>
          </p:cNvPicPr>
          <p:nvPr/>
        </p:nvPicPr>
        <p:blipFill>
          <a:blip r:embed="rId21"/>
          <a:srcRect t="-2" b="-2"/>
          <a:stretch/>
        </p:blipFill>
        <p:spPr>
          <a:xfrm>
            <a:off x="6191402" y="3791102"/>
            <a:ext cx="5619902" cy="2305202"/>
          </a:xfrm>
          <a:prstGeom prst="rect">
            <a:avLst/>
          </a:prstGeom>
        </p:spPr>
      </p:pic>
      <p:pic>
        <p:nvPicPr>
          <p:cNvPr id="42" name="Image 25" descr="preencoded.png"/>
          <p:cNvPicPr>
            <a:picLocks noChangeAspect="1"/>
          </p:cNvPicPr>
          <p:nvPr/>
        </p:nvPicPr>
        <p:blipFill>
          <a:blip r:embed="rId22">
            <a:alphaModFix amt="10000"/>
          </a:blip>
          <a:srcRect l="-23" r="-23"/>
          <a:stretch/>
        </p:blipFill>
        <p:spPr>
          <a:xfrm>
            <a:off x="10420502" y="5009998"/>
            <a:ext cx="1524305" cy="1218895"/>
          </a:xfrm>
          <a:prstGeom prst="rect">
            <a:avLst/>
          </a:prstGeom>
        </p:spPr>
      </p:pic>
      <p:pic>
        <p:nvPicPr>
          <p:cNvPr id="43" name="Image 26" descr="preencoded.png"/>
          <p:cNvPicPr>
            <a:picLocks noChangeAspect="1"/>
          </p:cNvPicPr>
          <p:nvPr/>
        </p:nvPicPr>
        <p:blipFill>
          <a:blip r:embed="rId19"/>
          <a:srcRect/>
          <a:stretch/>
        </p:blipFill>
        <p:spPr>
          <a:xfrm>
            <a:off x="6439205" y="4038905"/>
            <a:ext cx="609905" cy="609905"/>
          </a:xfrm>
          <a:prstGeom prst="rect">
            <a:avLst/>
          </a:prstGeom>
        </p:spPr>
      </p:pic>
      <p:pic>
        <p:nvPicPr>
          <p:cNvPr id="44" name="Image 27" descr="preencoded.png"/>
          <p:cNvPicPr>
            <a:picLocks noChangeAspect="1"/>
          </p:cNvPicPr>
          <p:nvPr/>
        </p:nvPicPr>
        <p:blipFill>
          <a:blip r:embed="rId23"/>
          <a:srcRect t="-530" b="-530"/>
          <a:stretch/>
        </p:blipFill>
        <p:spPr>
          <a:xfrm>
            <a:off x="6619342" y="4200754"/>
            <a:ext cx="247802" cy="286207"/>
          </a:xfrm>
          <a:prstGeom prst="rect">
            <a:avLst/>
          </a:prstGeom>
        </p:spPr>
      </p:pic>
      <p:sp>
        <p:nvSpPr>
          <p:cNvPr id="45" name="Shape 15"/>
          <p:cNvSpPr/>
          <p:nvPr/>
        </p:nvSpPr>
        <p:spPr>
          <a:xfrm>
            <a:off x="1429207" y="4644238"/>
            <a:ext cx="4324198" cy="19202"/>
          </a:xfrm>
          <a:prstGeom prst="rect">
            <a:avLst/>
          </a:prstGeom>
          <a:solidFill>
            <a:srgbClr val="DDD6FE"/>
          </a:solidFill>
          <a:ln w="12700">
            <a:solidFill>
              <a:srgbClr val="DDD6FE">
                <a:alpha val="0"/>
              </a:srgbClr>
            </a:solidFill>
            <a:prstDash val="solid"/>
          </a:ln>
        </p:spPr>
        <p:txBody>
          <a:bodyPr/>
          <a:lstStyle/>
          <a:p>
            <a:endParaRPr lang="ja-JP" altLang="en-US"/>
          </a:p>
        </p:txBody>
      </p:sp>
      <p:sp>
        <p:nvSpPr>
          <p:cNvPr id="46" name="Text 16"/>
          <p:cNvSpPr txBox="1"/>
          <p:nvPr/>
        </p:nvSpPr>
        <p:spPr>
          <a:xfrm>
            <a:off x="1429207"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4C1D95"/>
                </a:solidFill>
                <a:latin typeface="Noto Sans JP" pitchFamily="34" charset="0"/>
                <a:ea typeface="Noto Sans JP" pitchFamily="34" charset="-122"/>
                <a:cs typeface="Noto Sans JP" pitchFamily="34" charset="-120"/>
              </a:rPr>
              <a:t>アウトプットで学びが定着</a:t>
            </a:r>
            <a:endParaRPr lang="en-US" sz="2400" dirty="0"/>
          </a:p>
        </p:txBody>
      </p:sp>
      <p:sp>
        <p:nvSpPr>
          <p:cNvPr id="47" name="Text 17"/>
          <p:cNvSpPr txBox="1"/>
          <p:nvPr/>
        </p:nvSpPr>
        <p:spPr>
          <a:xfrm>
            <a:off x="1580997" y="4777740"/>
            <a:ext cx="4210812" cy="238658"/>
          </a:xfrm>
          <a:prstGeom prst="rect">
            <a:avLst/>
          </a:prstGeom>
          <a:noFill/>
          <a:ln/>
        </p:spPr>
        <p:txBody>
          <a:bodyPr wrap="square" lIns="0" tIns="0" rIns="0" bIns="0" rtlCol="0" anchor="ctr"/>
          <a:lstStyle/>
          <a:p>
            <a:pPr marL="0" indent="0" algn="l">
              <a:buNone/>
            </a:pPr>
            <a:r>
              <a:rPr lang="en-US" sz="1600" b="1" dirty="0">
                <a:solidFill>
                  <a:srgbClr val="4C1D95"/>
                </a:solidFill>
                <a:latin typeface="Noto Sans JP" pitchFamily="34" charset="0"/>
                <a:ea typeface="Noto Sans JP" pitchFamily="34" charset="-122"/>
                <a:cs typeface="Noto Sans JP" pitchFamily="34" charset="-120"/>
              </a:rPr>
              <a:t>#PA45</a:t>
            </a:r>
            <a:r>
              <a:rPr lang="en-US" sz="1600" dirty="0">
                <a:solidFill>
                  <a:srgbClr val="5B21B6"/>
                </a:solidFill>
                <a:latin typeface="Noto Sans JP" pitchFamily="34" charset="0"/>
                <a:ea typeface="Noto Sans JP" pitchFamily="34" charset="-122"/>
                <a:cs typeface="Noto Sans JP" pitchFamily="34" charset="-120"/>
              </a:rPr>
              <a:t> をつけて投稿しよう！</a:t>
            </a:r>
            <a:endParaRPr lang="en-US" sz="1600" dirty="0"/>
          </a:p>
        </p:txBody>
      </p:sp>
      <p:sp>
        <p:nvSpPr>
          <p:cNvPr id="48" name="Text 18"/>
          <p:cNvSpPr txBox="1"/>
          <p:nvPr/>
        </p:nvSpPr>
        <p:spPr>
          <a:xfrm>
            <a:off x="1580997" y="5183398"/>
            <a:ext cx="4325112" cy="210312"/>
          </a:xfrm>
          <a:prstGeom prst="rect">
            <a:avLst/>
          </a:prstGeom>
          <a:noFill/>
          <a:ln/>
        </p:spPr>
        <p:txBody>
          <a:bodyPr wrap="square" lIns="0" tIns="0" rIns="0" bIns="0" rtlCol="0" anchor="ctr"/>
          <a:lstStyle/>
          <a:p>
            <a:pPr marL="0" indent="0" algn="l">
              <a:buNone/>
            </a:pPr>
            <a:r>
              <a:rPr lang="en-US" sz="1600" dirty="0">
                <a:solidFill>
                  <a:srgbClr val="5B21B6"/>
                </a:solidFill>
                <a:latin typeface="Noto Sans JP" pitchFamily="34" charset="0"/>
                <a:ea typeface="Noto Sans JP" pitchFamily="34" charset="-122"/>
                <a:cs typeface="Noto Sans JP" pitchFamily="34" charset="-120"/>
              </a:rPr>
              <a:t>「作ったフロー」「気づき」など何でもOK</a:t>
            </a:r>
            <a:endParaRPr lang="en-US" sz="1600" dirty="0"/>
          </a:p>
        </p:txBody>
      </p:sp>
      <p:sp>
        <p:nvSpPr>
          <p:cNvPr id="49" name="Text 19"/>
          <p:cNvSpPr txBox="1"/>
          <p:nvPr/>
        </p:nvSpPr>
        <p:spPr>
          <a:xfrm>
            <a:off x="1580997" y="5591735"/>
            <a:ext cx="4286707" cy="210312"/>
          </a:xfrm>
          <a:prstGeom prst="rect">
            <a:avLst/>
          </a:prstGeom>
          <a:noFill/>
          <a:ln/>
        </p:spPr>
        <p:txBody>
          <a:bodyPr wrap="square" lIns="0" tIns="0" rIns="0" bIns="0" rtlCol="0" anchor="ctr"/>
          <a:lstStyle/>
          <a:p>
            <a:pPr marL="0" indent="0" algn="l">
              <a:buNone/>
            </a:pPr>
            <a:r>
              <a:rPr lang="en-US" sz="1600">
                <a:solidFill>
                  <a:srgbClr val="5B21B6"/>
                </a:solidFill>
                <a:latin typeface="Noto Sans JP" pitchFamily="34" charset="0"/>
                <a:ea typeface="Noto Sans JP" pitchFamily="34" charset="-122"/>
                <a:cs typeface="Noto Sans JP" pitchFamily="34" charset="-120"/>
              </a:rPr>
              <a:t>投稿は</a:t>
            </a:r>
            <a:r>
              <a:rPr lang="ja-JP" altLang="en-US" sz="1600">
                <a:solidFill>
                  <a:srgbClr val="5B21B6"/>
                </a:solidFill>
                <a:latin typeface="Noto Sans JP" pitchFamily="34" charset="0"/>
                <a:ea typeface="Noto Sans JP" pitchFamily="34" charset="-122"/>
                <a:cs typeface="Noto Sans JP" pitchFamily="34" charset="-120"/>
              </a:rPr>
              <a:t>運営</a:t>
            </a:r>
            <a:r>
              <a:rPr lang="en-US" sz="1600">
                <a:solidFill>
                  <a:srgbClr val="5B21B6"/>
                </a:solidFill>
                <a:latin typeface="Noto Sans JP" pitchFamily="34" charset="0"/>
                <a:ea typeface="Noto Sans JP" pitchFamily="34" charset="-122"/>
                <a:cs typeface="Noto Sans JP" pitchFamily="34" charset="-120"/>
              </a:rPr>
              <a:t>の励みになります</a:t>
            </a:r>
            <a:r>
              <a:rPr lang="en-US" sz="1600" dirty="0">
                <a:solidFill>
                  <a:srgbClr val="5B21B6"/>
                </a:solidFill>
                <a:latin typeface="Noto Sans JP" pitchFamily="34" charset="0"/>
                <a:ea typeface="Noto Sans JP" pitchFamily="34" charset="-122"/>
                <a:cs typeface="Noto Sans JP" pitchFamily="34" charset="-120"/>
              </a:rPr>
              <a:t>！</a:t>
            </a:r>
            <a:endParaRPr lang="en-US" sz="1600" dirty="0"/>
          </a:p>
        </p:txBody>
      </p:sp>
      <p:pic>
        <p:nvPicPr>
          <p:cNvPr id="50" name="Image 28" descr="preencoded.png"/>
          <p:cNvPicPr>
            <a:picLocks noChangeAspect="1"/>
          </p:cNvPicPr>
          <p:nvPr/>
        </p:nvPicPr>
        <p:blipFill>
          <a:blip r:embed="rId24"/>
          <a:srcRect l="-760" r="-760"/>
          <a:stretch/>
        </p:blipFill>
        <p:spPr>
          <a:xfrm>
            <a:off x="1179048" y="4768333"/>
            <a:ext cx="228601" cy="257347"/>
          </a:xfrm>
          <a:prstGeom prst="rect">
            <a:avLst/>
          </a:prstGeom>
        </p:spPr>
      </p:pic>
      <p:pic>
        <p:nvPicPr>
          <p:cNvPr id="51" name="Image 29" descr="preencoded.png"/>
          <p:cNvPicPr>
            <a:picLocks noChangeAspect="1"/>
          </p:cNvPicPr>
          <p:nvPr/>
        </p:nvPicPr>
        <p:blipFill>
          <a:blip r:embed="rId25"/>
          <a:srcRect t="-100" b="-100"/>
          <a:stretch/>
        </p:blipFill>
        <p:spPr>
          <a:xfrm>
            <a:off x="1179048" y="5181514"/>
            <a:ext cx="171108" cy="228601"/>
          </a:xfrm>
          <a:prstGeom prst="rect">
            <a:avLst/>
          </a:prstGeom>
        </p:spPr>
      </p:pic>
      <p:pic>
        <p:nvPicPr>
          <p:cNvPr id="52" name="Image 30" descr="preencoded.png"/>
          <p:cNvPicPr>
            <a:picLocks noChangeAspect="1"/>
          </p:cNvPicPr>
          <p:nvPr/>
        </p:nvPicPr>
        <p:blipFill>
          <a:blip r:embed="rId26"/>
          <a:srcRect/>
          <a:stretch/>
        </p:blipFill>
        <p:spPr>
          <a:xfrm>
            <a:off x="1179048" y="5589309"/>
            <a:ext cx="228601" cy="228601"/>
          </a:xfrm>
          <a:prstGeom prst="rect">
            <a:avLst/>
          </a:prstGeom>
        </p:spPr>
      </p:pic>
      <p:sp>
        <p:nvSpPr>
          <p:cNvPr id="53" name="Shape 20"/>
          <p:cNvSpPr/>
          <p:nvPr/>
        </p:nvSpPr>
        <p:spPr>
          <a:xfrm>
            <a:off x="7239305" y="4644238"/>
            <a:ext cx="4324198" cy="19202"/>
          </a:xfrm>
          <a:prstGeom prst="rect">
            <a:avLst/>
          </a:prstGeom>
          <a:solidFill>
            <a:srgbClr val="A7F3D0"/>
          </a:solidFill>
          <a:ln w="12700">
            <a:solidFill>
              <a:srgbClr val="A7F3D0">
                <a:alpha val="0"/>
              </a:srgbClr>
            </a:solidFill>
            <a:prstDash val="solid"/>
          </a:ln>
        </p:spPr>
        <p:txBody>
          <a:bodyPr/>
          <a:lstStyle/>
          <a:p>
            <a:endParaRPr lang="ja-JP" altLang="en-US"/>
          </a:p>
        </p:txBody>
      </p:sp>
      <p:sp>
        <p:nvSpPr>
          <p:cNvPr id="54" name="Text 21"/>
          <p:cNvSpPr txBox="1"/>
          <p:nvPr/>
        </p:nvSpPr>
        <p:spPr>
          <a:xfrm>
            <a:off x="7239305"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064E3B"/>
                </a:solidFill>
                <a:latin typeface="Noto Sans JP" pitchFamily="34" charset="0"/>
                <a:ea typeface="Noto Sans JP" pitchFamily="34" charset="-122"/>
                <a:cs typeface="Noto Sans JP" pitchFamily="34" charset="-120"/>
              </a:rPr>
              <a:t>初心者大歓迎の講座です</a:t>
            </a:r>
            <a:endParaRPr lang="en-US" sz="2400" dirty="0"/>
          </a:p>
        </p:txBody>
      </p:sp>
      <p:sp>
        <p:nvSpPr>
          <p:cNvPr id="55" name="Text 22"/>
          <p:cNvSpPr txBox="1"/>
          <p:nvPr/>
        </p:nvSpPr>
        <p:spPr>
          <a:xfrm>
            <a:off x="7487107" y="4777740"/>
            <a:ext cx="4267505" cy="238658"/>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難しい専門用語は使いません</a:t>
            </a:r>
            <a:endParaRPr lang="en-US" sz="1600" dirty="0"/>
          </a:p>
        </p:txBody>
      </p:sp>
      <p:sp>
        <p:nvSpPr>
          <p:cNvPr id="56" name="Text 23"/>
          <p:cNvSpPr txBox="1"/>
          <p:nvPr/>
        </p:nvSpPr>
        <p:spPr>
          <a:xfrm>
            <a:off x="7487107" y="5187602"/>
            <a:ext cx="4343400" cy="210312"/>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置いてけぼりにならないようゆっくり進行</a:t>
            </a:r>
            <a:endParaRPr lang="en-US" sz="1600" dirty="0"/>
          </a:p>
        </p:txBody>
      </p:sp>
      <p:sp>
        <p:nvSpPr>
          <p:cNvPr id="57" name="Text 24"/>
          <p:cNvSpPr txBox="1"/>
          <p:nvPr/>
        </p:nvSpPr>
        <p:spPr>
          <a:xfrm>
            <a:off x="7487107" y="5569117"/>
            <a:ext cx="4210812" cy="210312"/>
          </a:xfrm>
          <a:prstGeom prst="rect">
            <a:avLst/>
          </a:prstGeom>
          <a:noFill/>
          <a:ln/>
        </p:spPr>
        <p:txBody>
          <a:bodyPr wrap="square" lIns="0" tIns="0" rIns="0" bIns="0" rtlCol="0" anchor="ctr"/>
          <a:lstStyle/>
          <a:p>
            <a:pPr marL="0" indent="0" algn="l">
              <a:buNone/>
            </a:pPr>
            <a:r>
              <a:rPr lang="en-US" sz="1600" b="1">
                <a:solidFill>
                  <a:srgbClr val="064E3B"/>
                </a:solidFill>
                <a:latin typeface="Noto Sans JP" pitchFamily="34" charset="0"/>
                <a:ea typeface="Noto Sans JP" pitchFamily="34" charset="-122"/>
                <a:cs typeface="Noto Sans JP" pitchFamily="34" charset="-120"/>
              </a:rPr>
              <a:t>安心</a:t>
            </a:r>
            <a:r>
              <a:rPr lang="en-US" sz="1600">
                <a:solidFill>
                  <a:srgbClr val="065F46"/>
                </a:solidFill>
                <a:latin typeface="Noto Sans JP" pitchFamily="34" charset="0"/>
                <a:ea typeface="Noto Sans JP" pitchFamily="34" charset="-122"/>
                <a:cs typeface="Noto Sans JP" pitchFamily="34" charset="-120"/>
              </a:rPr>
              <a:t>してご参加ください</a:t>
            </a:r>
            <a:endParaRPr lang="en-US" sz="1600" dirty="0"/>
          </a:p>
        </p:txBody>
      </p:sp>
      <p:pic>
        <p:nvPicPr>
          <p:cNvPr id="58" name="Image 31" descr="preencoded.png"/>
          <p:cNvPicPr>
            <a:picLocks noChangeAspect="1"/>
          </p:cNvPicPr>
          <p:nvPr/>
        </p:nvPicPr>
        <p:blipFill>
          <a:blip r:embed="rId27"/>
          <a:srcRect/>
          <a:stretch/>
        </p:blipFill>
        <p:spPr>
          <a:xfrm rot="21065181">
            <a:off x="7152519" y="4767307"/>
            <a:ext cx="258514" cy="258514"/>
          </a:xfrm>
          <a:prstGeom prst="rect">
            <a:avLst/>
          </a:prstGeom>
        </p:spPr>
      </p:pic>
      <p:pic>
        <p:nvPicPr>
          <p:cNvPr id="59" name="Image 32" descr="preencoded.png"/>
          <p:cNvPicPr>
            <a:picLocks noChangeAspect="1"/>
          </p:cNvPicPr>
          <p:nvPr/>
        </p:nvPicPr>
        <p:blipFill>
          <a:blip r:embed="rId28"/>
          <a:srcRect t="-180" b="-180"/>
          <a:stretch/>
        </p:blipFill>
        <p:spPr>
          <a:xfrm rot="21065181">
            <a:off x="7150980" y="5180425"/>
            <a:ext cx="143009" cy="229638"/>
          </a:xfrm>
          <a:prstGeom prst="rect">
            <a:avLst/>
          </a:prstGeom>
        </p:spPr>
      </p:pic>
      <p:pic>
        <p:nvPicPr>
          <p:cNvPr id="60" name="Image 33" descr="preencoded.png"/>
          <p:cNvPicPr>
            <a:picLocks noChangeAspect="1"/>
          </p:cNvPicPr>
          <p:nvPr/>
        </p:nvPicPr>
        <p:blipFill>
          <a:blip r:embed="rId29"/>
          <a:srcRect/>
          <a:stretch/>
        </p:blipFill>
        <p:spPr>
          <a:xfrm rot="21065181">
            <a:off x="7150457" y="5564667"/>
            <a:ext cx="229638" cy="229638"/>
          </a:xfrm>
          <a:prstGeom prst="rect">
            <a:avLst/>
          </a:prstGeom>
        </p:spPr>
      </p:pic>
      <p:sp>
        <p:nvSpPr>
          <p:cNvPr id="61" name="Shape 25"/>
          <p:cNvSpPr/>
          <p:nvPr/>
        </p:nvSpPr>
        <p:spPr>
          <a:xfrm>
            <a:off x="0" y="0"/>
            <a:ext cx="12191695" cy="1067105"/>
          </a:xfrm>
          <a:prstGeom prst="rect">
            <a:avLst/>
          </a:prstGeom>
          <a:solidFill>
            <a:srgbClr val="FFFFFF"/>
          </a:solidFill>
          <a:ln/>
        </p:spPr>
        <p:txBody>
          <a:bodyPr/>
          <a:lstStyle/>
          <a:p>
            <a:endParaRPr lang="ja-JP" altLang="en-US"/>
          </a:p>
        </p:txBody>
      </p:sp>
      <p:sp>
        <p:nvSpPr>
          <p:cNvPr id="62" name="Shape 26"/>
          <p:cNvSpPr/>
          <p:nvPr/>
        </p:nvSpPr>
        <p:spPr>
          <a:xfrm>
            <a:off x="0" y="10579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27"/>
          <p:cNvSpPr txBox="1"/>
          <p:nvPr/>
        </p:nvSpPr>
        <p:spPr>
          <a:xfrm>
            <a:off x="381305" y="-9144"/>
            <a:ext cx="5391302" cy="267005"/>
          </a:xfrm>
          <a:prstGeom prst="rect">
            <a:avLst/>
          </a:prstGeom>
          <a:noFill/>
          <a:ln/>
        </p:spPr>
        <p:txBody>
          <a:bodyPr wrap="square" lIns="0" tIns="0" rIns="0" bIns="0" rtlCol="0" anchor="ctr"/>
          <a:lstStyle/>
          <a:p>
            <a:pPr marL="0" indent="0" algn="l">
              <a:buNone/>
            </a:pPr>
            <a:r>
              <a:rPr lang="en-US" sz="1300" b="1" kern="0" spc="135" dirty="0">
                <a:solidFill>
                  <a:srgbClr val="6B7280"/>
                </a:solidFill>
                <a:latin typeface="Noto Sans JP" pitchFamily="34" charset="0"/>
                <a:ea typeface="Noto Sans JP" pitchFamily="34" charset="-122"/>
                <a:cs typeface="Noto Sans JP" pitchFamily="34" charset="-120"/>
              </a:rPr>
              <a:t>PA45 Online Course</a:t>
            </a:r>
            <a:endParaRPr lang="en-US" sz="1300" dirty="0"/>
          </a:p>
        </p:txBody>
      </p:sp>
      <p:sp>
        <p:nvSpPr>
          <p:cNvPr id="64" name="Text 28"/>
          <p:cNvSpPr txBox="1"/>
          <p:nvPr/>
        </p:nvSpPr>
        <p:spPr>
          <a:xfrm>
            <a:off x="344647" y="385241"/>
            <a:ext cx="7565291" cy="5715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ご参加にあたっての</a:t>
            </a:r>
            <a:r>
              <a:rPr lang="en-US" sz="2700" b="1">
                <a:solidFill>
                  <a:srgbClr val="6B7280"/>
                </a:solidFill>
                <a:latin typeface="Noto Sans JP" pitchFamily="34" charset="0"/>
                <a:ea typeface="Noto Sans JP" pitchFamily="34" charset="-122"/>
                <a:cs typeface="Noto Sans JP" pitchFamily="34" charset="-120"/>
              </a:rPr>
              <a:t>お願い</a:t>
            </a:r>
            <a:r>
              <a:rPr lang="ja-JP" altLang="en-US" sz="2700" b="1">
                <a:solidFill>
                  <a:srgbClr val="6B7280"/>
                </a:solidFill>
                <a:latin typeface="Noto Sans JP" pitchFamily="34" charset="0"/>
                <a:ea typeface="Noto Sans JP" pitchFamily="34" charset="-122"/>
                <a:cs typeface="Noto Sans JP" pitchFamily="34" charset="-120"/>
              </a:rPr>
              <a:t>　（ルール）</a:t>
            </a:r>
            <a:endParaRPr lang="en-US" sz="3600" dirty="0"/>
          </a:p>
        </p:txBody>
      </p:sp>
      <p:sp>
        <p:nvSpPr>
          <p:cNvPr id="65" name="Shape 29"/>
          <p:cNvSpPr/>
          <p:nvPr/>
        </p:nvSpPr>
        <p:spPr>
          <a:xfrm>
            <a:off x="10477195" y="295351"/>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30"/>
          <p:cNvSpPr txBox="1"/>
          <p:nvPr/>
        </p:nvSpPr>
        <p:spPr>
          <a:xfrm>
            <a:off x="10667390" y="219456"/>
            <a:ext cx="12289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Guidelines</a:t>
            </a:r>
            <a:endParaRPr lang="en-US" sz="1500" dirty="0"/>
          </a:p>
        </p:txBody>
      </p:sp>
      <p:sp>
        <p:nvSpPr>
          <p:cNvPr id="70" name="Shape 33"/>
          <p:cNvSpPr/>
          <p:nvPr/>
        </p:nvSpPr>
        <p:spPr>
          <a:xfrm>
            <a:off x="0" y="6324905"/>
            <a:ext cx="12191695" cy="533095"/>
          </a:xfrm>
          <a:prstGeom prst="rect">
            <a:avLst/>
          </a:prstGeom>
          <a:solidFill>
            <a:srgbClr val="FFFFFF"/>
          </a:solidFill>
          <a:ln/>
        </p:spPr>
        <p:txBody>
          <a:bodyPr/>
          <a:lstStyle/>
          <a:p>
            <a:endParaRPr lang="ja-JP" altLang="en-US"/>
          </a:p>
        </p:txBody>
      </p:sp>
      <p:sp>
        <p:nvSpPr>
          <p:cNvPr id="71" name="Shape 34"/>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2" name="Text 35"/>
          <p:cNvSpPr txBox="1"/>
          <p:nvPr/>
        </p:nvSpPr>
        <p:spPr>
          <a:xfrm>
            <a:off x="381305" y="6500470"/>
            <a:ext cx="2301545"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3" name="Text 36"/>
          <p:cNvSpPr txBox="1"/>
          <p:nvPr/>
        </p:nvSpPr>
        <p:spPr>
          <a:xfrm>
            <a:off x="10696651" y="6500470"/>
            <a:ext cx="1324966"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4" name="Image 35" descr="preencoded.png"/>
          <p:cNvPicPr>
            <a:picLocks noChangeAspect="1"/>
          </p:cNvPicPr>
          <p:nvPr/>
        </p:nvPicPr>
        <p:blipFill>
          <a:blip r:embed="rId30"/>
          <a:srcRect l="-200" r="-200"/>
          <a:stretch/>
        </p:blipFill>
        <p:spPr>
          <a:xfrm>
            <a:off x="0" y="6782105"/>
            <a:ext cx="12191695" cy="75895"/>
          </a:xfrm>
          <a:prstGeom prst="rect">
            <a:avLst/>
          </a:prstGeom>
        </p:spPr>
      </p:pic>
      <p:grpSp>
        <p:nvGrpSpPr>
          <p:cNvPr id="81" name="グループ化 80">
            <a:extLst>
              <a:ext uri="{FF2B5EF4-FFF2-40B4-BE49-F238E27FC236}">
                <a16:creationId xmlns:a16="http://schemas.microsoft.com/office/drawing/2014/main" id="{8E4ED06A-AC89-9A5E-A038-C0DE0C4BEAAA}"/>
              </a:ext>
            </a:extLst>
          </p:cNvPr>
          <p:cNvGrpSpPr/>
          <p:nvPr/>
        </p:nvGrpSpPr>
        <p:grpSpPr>
          <a:xfrm>
            <a:off x="4603551" y="6322778"/>
            <a:ext cx="7350682" cy="405017"/>
            <a:chOff x="5861349" y="604238"/>
            <a:chExt cx="6035909" cy="405017"/>
          </a:xfrm>
        </p:grpSpPr>
        <p:sp>
          <p:nvSpPr>
            <p:cNvPr id="82" name="Shape 31">
              <a:extLst>
                <a:ext uri="{FF2B5EF4-FFF2-40B4-BE49-F238E27FC236}">
                  <a16:creationId xmlns:a16="http://schemas.microsoft.com/office/drawing/2014/main" id="{816E518C-775F-CF5E-F78F-7DC8A323C86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83" name="Text 21">
              <a:extLst>
                <a:ext uri="{FF2B5EF4-FFF2-40B4-BE49-F238E27FC236}">
                  <a16:creationId xmlns:a16="http://schemas.microsoft.com/office/drawing/2014/main" id="{C48EAE25-B3A2-44BF-FDA3-59AEEDA2C26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84" name="Image 2" descr="preencoded.png">
              <a:extLst>
                <a:ext uri="{FF2B5EF4-FFF2-40B4-BE49-F238E27FC236}">
                  <a16:creationId xmlns:a16="http://schemas.microsoft.com/office/drawing/2014/main" id="{23CC5DF4-18BE-DCF5-C8FA-FBF931AFDA4F}"/>
                </a:ext>
              </a:extLst>
            </p:cNvPr>
            <p:cNvPicPr>
              <a:picLocks noChangeAspect="1"/>
            </p:cNvPicPr>
            <p:nvPr/>
          </p:nvPicPr>
          <p:blipFill>
            <a:blip r:embed="rId31"/>
            <a:srcRect/>
            <a:stretch/>
          </p:blipFill>
          <p:spPr>
            <a:xfrm>
              <a:off x="5861349" y="619679"/>
              <a:ext cx="263236" cy="389576"/>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sp>
        <p:nvSpPr>
          <p:cNvPr id="3" name="Shape 1"/>
          <p:cNvSpPr/>
          <p:nvPr/>
        </p:nvSpPr>
        <p:spPr>
          <a:xfrm>
            <a:off x="0" y="10798"/>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191195" y="-1143000"/>
            <a:ext cx="4762195" cy="4762195"/>
          </a:xfrm>
          <a:prstGeom prst="ellipse">
            <a:avLst/>
          </a:prstGeom>
          <a:solidFill>
            <a:srgbClr val="0078D4">
              <a:alpha val="4000"/>
            </a:srgbClr>
          </a:solidFill>
          <a:ln w="12700">
            <a:solidFill>
              <a:srgbClr val="FFFFFF">
                <a:alpha val="0"/>
              </a:srgbClr>
            </a:solidFill>
            <a:prstDash val="solid"/>
          </a:ln>
        </p:spPr>
        <p:txBody>
          <a:bodyPr/>
          <a:lstStyle/>
          <a:p>
            <a:endParaRPr lang="ja-JP" altLang="en-US"/>
          </a:p>
        </p:txBody>
      </p:sp>
      <p:sp>
        <p:nvSpPr>
          <p:cNvPr id="5" name="Shape 3"/>
          <p:cNvSpPr/>
          <p:nvPr/>
        </p:nvSpPr>
        <p:spPr>
          <a:xfrm>
            <a:off x="-761695" y="2762402"/>
            <a:ext cx="3333902" cy="3333902"/>
          </a:xfrm>
          <a:prstGeom prst="ellipse">
            <a:avLst/>
          </a:prstGeom>
          <a:solidFill>
            <a:srgbClr val="0078D4">
              <a:alpha val="3000"/>
            </a:srgbClr>
          </a:solidFill>
          <a:ln w="12700">
            <a:solidFill>
              <a:srgbClr val="FFFFFF">
                <a:alpha val="0"/>
              </a:srgbClr>
            </a:solidFill>
            <a:prstDash val="solid"/>
          </a:ln>
        </p:spPr>
        <p:txBody>
          <a:bodyPr/>
          <a:lstStyle/>
          <a:p>
            <a:endParaRPr lang="ja-JP" altLang="en-US"/>
          </a:p>
        </p:txBody>
      </p:sp>
      <p:sp>
        <p:nvSpPr>
          <p:cNvPr id="6" name="Shape 4"/>
          <p:cNvSpPr/>
          <p:nvPr/>
        </p:nvSpPr>
        <p:spPr>
          <a:xfrm rot="900000">
            <a:off x="10477195" y="1904695"/>
            <a:ext cx="1143000" cy="1143000"/>
          </a:xfrm>
          <a:prstGeom prst="roundRect">
            <a:avLst>
              <a:gd name="adj" fmla="val 32000"/>
            </a:avLst>
          </a:prstGeom>
          <a:solidFill>
            <a:srgbClr val="0078D4">
              <a:alpha val="5000"/>
            </a:srgbClr>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571500" y="418795"/>
            <a:ext cx="609905" cy="609905"/>
          </a:xfrm>
          <a:prstGeom prst="rect">
            <a:avLst/>
          </a:prstGeom>
        </p:spPr>
      </p:pic>
      <p:pic>
        <p:nvPicPr>
          <p:cNvPr id="8" name="Image 1" descr="preencoded.png"/>
          <p:cNvPicPr>
            <a:picLocks noChangeAspect="1"/>
          </p:cNvPicPr>
          <p:nvPr/>
        </p:nvPicPr>
        <p:blipFill>
          <a:blip r:embed="rId4"/>
          <a:srcRect/>
          <a:stretch/>
        </p:blipFill>
        <p:spPr>
          <a:xfrm>
            <a:off x="724205" y="571500"/>
            <a:ext cx="304495" cy="304495"/>
          </a:xfrm>
          <a:prstGeom prst="rect">
            <a:avLst/>
          </a:prstGeom>
        </p:spPr>
      </p:pic>
      <p:sp>
        <p:nvSpPr>
          <p:cNvPr id="9" name="Text 5"/>
          <p:cNvSpPr txBox="1"/>
          <p:nvPr/>
        </p:nvSpPr>
        <p:spPr>
          <a:xfrm>
            <a:off x="1352398" y="381305"/>
            <a:ext cx="5095951" cy="342900"/>
          </a:xfrm>
          <a:prstGeom prst="rect">
            <a:avLst/>
          </a:prstGeom>
          <a:noFill/>
          <a:ln/>
        </p:spPr>
        <p:txBody>
          <a:bodyPr wrap="square" lIns="0" tIns="0" rIns="0" bIns="0" rtlCol="0" anchor="ctr"/>
          <a:lstStyle/>
          <a:p>
            <a:pPr marL="0" indent="0" algn="l">
              <a:buNone/>
            </a:pPr>
            <a:r>
              <a:rPr lang="en-US" sz="2700" b="1" kern="0" spc="-67" dirty="0">
                <a:solidFill>
                  <a:srgbClr val="1F2937"/>
                </a:solidFill>
                <a:latin typeface="BIZ UDGothic" pitchFamily="34" charset="0"/>
                <a:ea typeface="BIZ UDGothic" pitchFamily="34" charset="-122"/>
                <a:cs typeface="BIZ UDGothic" pitchFamily="34" charset="-120"/>
              </a:rPr>
              <a:t>Power Automate 45 </a:t>
            </a:r>
            <a:r>
              <a:rPr lang="en-US" sz="2700" b="1" kern="0" spc="-67" dirty="0">
                <a:solidFill>
                  <a:srgbClr val="2563EB"/>
                </a:solidFill>
                <a:latin typeface="BIZ UDGothic" pitchFamily="34" charset="0"/>
                <a:ea typeface="BIZ UDGothic" pitchFamily="34" charset="-122"/>
                <a:cs typeface="BIZ UDGothic" pitchFamily="34" charset="-120"/>
              </a:rPr>
              <a:t>(PA45)</a:t>
            </a:r>
            <a:endParaRPr lang="en-US" sz="2700" dirty="0"/>
          </a:p>
        </p:txBody>
      </p:sp>
      <p:sp>
        <p:nvSpPr>
          <p:cNvPr id="10" name="Text 6"/>
          <p:cNvSpPr txBox="1"/>
          <p:nvPr/>
        </p:nvSpPr>
        <p:spPr>
          <a:xfrm>
            <a:off x="1353241" y="837923"/>
            <a:ext cx="4772254" cy="305410"/>
          </a:xfrm>
          <a:prstGeom prst="rect">
            <a:avLst/>
          </a:prstGeom>
          <a:noFill/>
          <a:ln/>
        </p:spPr>
        <p:txBody>
          <a:bodyPr wrap="square" lIns="0" tIns="0" rIns="0" bIns="0" rtlCol="0" anchor="ctr"/>
          <a:lstStyle/>
          <a:p>
            <a:pPr marL="0" indent="0" algn="l">
              <a:buNone/>
            </a:pPr>
            <a:r>
              <a:rPr lang="en-US" sz="1800" b="1" kern="0" spc="45" dirty="0">
                <a:solidFill>
                  <a:srgbClr val="4B5563"/>
                </a:solidFill>
                <a:latin typeface="BIZ UDGothic" pitchFamily="34" charset="0"/>
                <a:ea typeface="BIZ UDGothic" pitchFamily="34" charset="-122"/>
                <a:cs typeface="BIZ UDGothic" pitchFamily="34" charset="-120"/>
              </a:rPr>
              <a:t>今日も一緒に “1粒だけ” 深掘りします！</a:t>
            </a:r>
            <a:endParaRPr lang="en-US" sz="1800" dirty="0"/>
          </a:p>
        </p:txBody>
      </p:sp>
      <p:pic>
        <p:nvPicPr>
          <p:cNvPr id="11" name="Image 2" descr="preencoded.png"/>
          <p:cNvPicPr>
            <a:picLocks noChangeAspect="1"/>
          </p:cNvPicPr>
          <p:nvPr/>
        </p:nvPicPr>
        <p:blipFill>
          <a:blip r:embed="rId5"/>
          <a:srcRect t="-401" b="-401"/>
          <a:stretch/>
        </p:blipFill>
        <p:spPr>
          <a:xfrm>
            <a:off x="571500" y="1295705"/>
            <a:ext cx="11048695" cy="57607"/>
          </a:xfrm>
          <a:prstGeom prst="rect">
            <a:avLst/>
          </a:prstGeom>
        </p:spPr>
      </p:pic>
      <p:pic>
        <p:nvPicPr>
          <p:cNvPr id="12" name="Image 3" descr="preencoded.png"/>
          <p:cNvPicPr>
            <a:picLocks noChangeAspect="1"/>
          </p:cNvPicPr>
          <p:nvPr/>
        </p:nvPicPr>
        <p:blipFill>
          <a:blip r:embed="rId6"/>
          <a:srcRect t="-400" b="-400"/>
          <a:stretch/>
        </p:blipFill>
        <p:spPr>
          <a:xfrm>
            <a:off x="571500" y="1295705"/>
            <a:ext cx="1828800" cy="57607"/>
          </a:xfrm>
          <a:prstGeom prst="rect">
            <a:avLst/>
          </a:prstGeom>
        </p:spPr>
      </p:pic>
      <p:pic>
        <p:nvPicPr>
          <p:cNvPr id="13" name="Image 4" descr="preencoded.png"/>
          <p:cNvPicPr>
            <a:picLocks noChangeAspect="1"/>
          </p:cNvPicPr>
          <p:nvPr/>
        </p:nvPicPr>
        <p:blipFill>
          <a:blip r:embed="rId7"/>
          <a:srcRect/>
          <a:stretch/>
        </p:blipFill>
        <p:spPr>
          <a:xfrm>
            <a:off x="1467612" y="1638605"/>
            <a:ext cx="1904695" cy="1904695"/>
          </a:xfrm>
          <a:prstGeom prst="rect">
            <a:avLst/>
          </a:prstGeom>
        </p:spPr>
      </p:pic>
      <p:pic>
        <p:nvPicPr>
          <p:cNvPr id="15" name="Image 6" descr="preencoded.png"/>
          <p:cNvPicPr>
            <a:picLocks noChangeAspect="1"/>
          </p:cNvPicPr>
          <p:nvPr/>
        </p:nvPicPr>
        <p:blipFill>
          <a:blip r:embed="rId8"/>
          <a:srcRect t="-187" b="-187"/>
          <a:stretch/>
        </p:blipFill>
        <p:spPr>
          <a:xfrm>
            <a:off x="571500" y="3737631"/>
            <a:ext cx="3705149" cy="743407"/>
          </a:xfrm>
          <a:prstGeom prst="rect">
            <a:avLst/>
          </a:prstGeom>
        </p:spPr>
      </p:pic>
      <p:sp>
        <p:nvSpPr>
          <p:cNvPr id="16" name="Text 7"/>
          <p:cNvSpPr/>
          <p:nvPr/>
        </p:nvSpPr>
        <p:spPr>
          <a:xfrm>
            <a:off x="531266" y="3733495"/>
            <a:ext cx="3785616" cy="743407"/>
          </a:xfrm>
          <a:prstGeom prst="rect">
            <a:avLst/>
          </a:prstGeom>
          <a:noFill/>
          <a:ln/>
        </p:spPr>
        <p:txBody>
          <a:bodyPr wrap="square" lIns="0" tIns="0" rIns="0" bIns="0" rtlCol="0" anchor="ctr"/>
          <a:lstStyle/>
          <a:p>
            <a:pPr marL="0" indent="0" algn="ctr">
              <a:buNone/>
            </a:pPr>
            <a:r>
              <a:rPr lang="en-US" altLang="ja-JP" sz="3600" b="1">
                <a:solidFill>
                  <a:srgbClr val="FFFFFF"/>
                </a:solidFill>
                <a:latin typeface="BIZ UDGothic" pitchFamily="34" charset="0"/>
                <a:ea typeface="BIZ UDGothic" pitchFamily="34" charset="-122"/>
                <a:cs typeface="BIZ UDGothic" pitchFamily="34" charset="-120"/>
              </a:rPr>
              <a:t>Haru</a:t>
            </a:r>
            <a:r>
              <a:rPr lang="en-US" sz="1600" b="1">
                <a:solidFill>
                  <a:srgbClr val="FFFFFF"/>
                </a:solidFill>
                <a:latin typeface="BIZ UDGothic" pitchFamily="34" charset="0"/>
                <a:ea typeface="BIZ UDGothic" pitchFamily="34" charset="-122"/>
                <a:cs typeface="BIZ UDGothic" pitchFamily="34" charset="-120"/>
              </a:rPr>
              <a:t> </a:t>
            </a:r>
            <a:endParaRPr lang="en-US" sz="1600" dirty="0"/>
          </a:p>
        </p:txBody>
      </p:sp>
      <p:sp>
        <p:nvSpPr>
          <p:cNvPr id="17" name="Text 8"/>
          <p:cNvSpPr txBox="1"/>
          <p:nvPr/>
        </p:nvSpPr>
        <p:spPr>
          <a:xfrm>
            <a:off x="914400" y="4663440"/>
            <a:ext cx="3476549" cy="247802"/>
          </a:xfrm>
          <a:prstGeom prst="rect">
            <a:avLst/>
          </a:prstGeom>
          <a:noFill/>
          <a:ln/>
        </p:spPr>
        <p:txBody>
          <a:bodyPr wrap="square" lIns="0" tIns="0" rIns="0" bIns="0" rtlCol="0" anchor="ctr"/>
          <a:lstStyle/>
          <a:p>
            <a:pPr marL="0" indent="0" algn="l">
              <a:buNone/>
            </a:pPr>
            <a:r>
              <a:rPr lang="en-US" sz="1600" b="1" dirty="0">
                <a:solidFill>
                  <a:srgbClr val="374151"/>
                </a:solidFill>
                <a:latin typeface="BIZ UDGothic" pitchFamily="34" charset="0"/>
                <a:ea typeface="BIZ UDGothic" pitchFamily="34" charset="-122"/>
                <a:cs typeface="BIZ UDGothic" pitchFamily="34" charset="-120"/>
              </a:rPr>
              <a:t>Power Platform / DX 推進</a:t>
            </a:r>
            <a:endParaRPr lang="en-US" sz="1600" dirty="0"/>
          </a:p>
        </p:txBody>
      </p:sp>
      <p:pic>
        <p:nvPicPr>
          <p:cNvPr id="18" name="Image 7" descr="preencoded.png"/>
          <p:cNvPicPr>
            <a:picLocks noChangeAspect="1"/>
          </p:cNvPicPr>
          <p:nvPr/>
        </p:nvPicPr>
        <p:blipFill>
          <a:blip r:embed="rId9"/>
          <a:srcRect l="-15989" r="-15989"/>
          <a:stretch/>
        </p:blipFill>
        <p:spPr>
          <a:xfrm>
            <a:off x="647395" y="4663440"/>
            <a:ext cx="267005" cy="161849"/>
          </a:xfrm>
          <a:prstGeom prst="rect">
            <a:avLst/>
          </a:prstGeom>
        </p:spPr>
      </p:pic>
      <p:sp>
        <p:nvSpPr>
          <p:cNvPr id="19" name="Text 9"/>
          <p:cNvSpPr txBox="1"/>
          <p:nvPr/>
        </p:nvSpPr>
        <p:spPr>
          <a:xfrm>
            <a:off x="914400" y="4999025"/>
            <a:ext cx="3476549" cy="247802"/>
          </a:xfrm>
          <a:prstGeom prst="rect">
            <a:avLst/>
          </a:prstGeom>
          <a:noFill/>
          <a:ln/>
        </p:spPr>
        <p:txBody>
          <a:bodyPr wrap="square" lIns="0" tIns="0" rIns="0" bIns="0" rtlCol="0" anchor="ctr"/>
          <a:lstStyle/>
          <a:p>
            <a:pPr marL="0" indent="0" algn="l">
              <a:buNone/>
            </a:pPr>
            <a:endParaRPr lang="en-US" sz="1200" dirty="0"/>
          </a:p>
        </p:txBody>
      </p:sp>
      <p:pic>
        <p:nvPicPr>
          <p:cNvPr id="20" name="Image 8" descr="preencoded.png"/>
          <p:cNvPicPr>
            <a:picLocks noChangeAspect="1"/>
          </p:cNvPicPr>
          <p:nvPr/>
        </p:nvPicPr>
        <p:blipFill>
          <a:blip r:embed="rId10"/>
          <a:srcRect l="-32486" r="-32486"/>
          <a:stretch/>
        </p:blipFill>
        <p:spPr>
          <a:xfrm>
            <a:off x="647395" y="4999025"/>
            <a:ext cx="267005" cy="161849"/>
          </a:xfrm>
          <a:prstGeom prst="rect">
            <a:avLst/>
          </a:prstGeom>
        </p:spPr>
      </p:pic>
      <p:sp>
        <p:nvSpPr>
          <p:cNvPr id="21" name="Text 10"/>
          <p:cNvSpPr txBox="1"/>
          <p:nvPr/>
        </p:nvSpPr>
        <p:spPr>
          <a:xfrm>
            <a:off x="914400" y="5333695"/>
            <a:ext cx="35533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社内外のコミュニティ運営</a:t>
            </a:r>
            <a:endParaRPr lang="en-US" sz="1600" dirty="0"/>
          </a:p>
        </p:txBody>
      </p:sp>
      <p:pic>
        <p:nvPicPr>
          <p:cNvPr id="22" name="Image 9" descr="preencoded.png"/>
          <p:cNvPicPr>
            <a:picLocks noChangeAspect="1"/>
          </p:cNvPicPr>
          <p:nvPr/>
        </p:nvPicPr>
        <p:blipFill>
          <a:blip r:embed="rId11"/>
          <a:srcRect l="-15989" r="-15989"/>
          <a:stretch/>
        </p:blipFill>
        <p:spPr>
          <a:xfrm>
            <a:off x="647395" y="5333695"/>
            <a:ext cx="267005" cy="161849"/>
          </a:xfrm>
          <a:prstGeom prst="rect">
            <a:avLst/>
          </a:prstGeom>
        </p:spPr>
      </p:pic>
      <p:sp>
        <p:nvSpPr>
          <p:cNvPr id="23" name="Text 11"/>
          <p:cNvSpPr txBox="1"/>
          <p:nvPr/>
        </p:nvSpPr>
        <p:spPr>
          <a:xfrm>
            <a:off x="1028700" y="5669280"/>
            <a:ext cx="3439058" cy="247802"/>
          </a:xfrm>
          <a:prstGeom prst="rect">
            <a:avLst/>
          </a:prstGeom>
          <a:noFill/>
          <a:ln/>
        </p:spPr>
        <p:txBody>
          <a:bodyPr wrap="square" lIns="0" tIns="0" rIns="0" bIns="0" rtlCol="0" anchor="ctr"/>
          <a:lstStyle/>
          <a:p>
            <a:pPr marL="0" indent="0" algn="l">
              <a:buNone/>
            </a:pPr>
            <a:r>
              <a:rPr lang="en-US" sz="1600">
                <a:solidFill>
                  <a:srgbClr val="333333"/>
                </a:solidFill>
                <a:latin typeface="BIZ UDGothic" pitchFamily="34" charset="0"/>
                <a:ea typeface="BIZ UDGothic" pitchFamily="34" charset="-122"/>
                <a:cs typeface="BIZ UDGothic" pitchFamily="34" charset="-120"/>
              </a:rPr>
              <a:t>・社内</a:t>
            </a:r>
            <a:r>
              <a:rPr lang="en-US" altLang="ja-JP" sz="1600">
                <a:solidFill>
                  <a:srgbClr val="333333"/>
                </a:solidFill>
                <a:latin typeface="BIZ UDGothic" pitchFamily="34" charset="0"/>
                <a:ea typeface="BIZ UDGothic" pitchFamily="34" charset="-122"/>
                <a:cs typeface="BIZ UDGothic" pitchFamily="34" charset="-120"/>
              </a:rPr>
              <a:t>PowerPlatform</a:t>
            </a:r>
            <a:r>
              <a:rPr lang="en-US" sz="1600">
                <a:solidFill>
                  <a:srgbClr val="333333"/>
                </a:solidFill>
                <a:latin typeface="BIZ UDGothic" pitchFamily="34" charset="0"/>
                <a:ea typeface="BIZ UDGothic" pitchFamily="34" charset="-122"/>
                <a:cs typeface="BIZ UDGothic" pitchFamily="34" charset="-120"/>
              </a:rPr>
              <a:t>コミュニティ</a:t>
            </a:r>
            <a:endParaRPr lang="en-US" sz="1600" dirty="0"/>
          </a:p>
        </p:txBody>
      </p:sp>
      <p:sp>
        <p:nvSpPr>
          <p:cNvPr id="24" name="Text 12"/>
          <p:cNvSpPr txBox="1"/>
          <p:nvPr/>
        </p:nvSpPr>
        <p:spPr>
          <a:xfrm>
            <a:off x="1028700" y="6004865"/>
            <a:ext cx="34390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・広島コミュニティ </a:t>
            </a:r>
            <a:r>
              <a:rPr lang="en-US" sz="1600">
                <a:solidFill>
                  <a:srgbClr val="333333"/>
                </a:solidFill>
                <a:latin typeface="BIZ UDGothic" pitchFamily="34" charset="0"/>
                <a:ea typeface="BIZ UDGothic" pitchFamily="34" charset="-122"/>
                <a:cs typeface="BIZ UDGothic" pitchFamily="34" charset="-120"/>
              </a:rPr>
              <a:t>PLUG </a:t>
            </a:r>
            <a:r>
              <a:rPr lang="ja-JP" altLang="en-US" sz="1600">
                <a:solidFill>
                  <a:srgbClr val="333333"/>
                </a:solidFill>
                <a:latin typeface="BIZ UDGothic" pitchFamily="34" charset="0"/>
                <a:ea typeface="BIZ UDGothic" pitchFamily="34" charset="-122"/>
                <a:cs typeface="BIZ UDGothic" pitchFamily="34" charset="-120"/>
              </a:rPr>
              <a:t>運営</a:t>
            </a:r>
            <a:endParaRPr lang="en-US" sz="1600" dirty="0"/>
          </a:p>
        </p:txBody>
      </p:sp>
      <p:sp>
        <p:nvSpPr>
          <p:cNvPr id="25" name="Shape 13"/>
          <p:cNvSpPr/>
          <p:nvPr/>
        </p:nvSpPr>
        <p:spPr>
          <a:xfrm>
            <a:off x="647395" y="6358738"/>
            <a:ext cx="3629254" cy="418795"/>
          </a:xfrm>
          <a:prstGeom prst="roundRect">
            <a:avLst>
              <a:gd name="adj" fmla="val 79397"/>
            </a:avLst>
          </a:prstGeom>
          <a:solidFill>
            <a:srgbClr val="EFF6FF"/>
          </a:solidFill>
          <a:ln w="12700">
            <a:solidFill>
              <a:srgbClr val="DBEAFE"/>
            </a:solidFill>
            <a:prstDash val="solid"/>
          </a:ln>
        </p:spPr>
        <p:txBody>
          <a:bodyPr/>
          <a:lstStyle/>
          <a:p>
            <a:endParaRPr lang="ja-JP" altLang="en-US"/>
          </a:p>
        </p:txBody>
      </p:sp>
      <p:sp>
        <p:nvSpPr>
          <p:cNvPr id="26" name="Text 14"/>
          <p:cNvSpPr txBox="1"/>
          <p:nvPr/>
        </p:nvSpPr>
        <p:spPr>
          <a:xfrm>
            <a:off x="999439" y="6358738"/>
            <a:ext cx="3354019" cy="419710"/>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初心者支援が専門</a:t>
            </a:r>
            <a:endParaRPr lang="en-US" sz="1600" dirty="0"/>
          </a:p>
        </p:txBody>
      </p:sp>
      <p:pic>
        <p:nvPicPr>
          <p:cNvPr id="27" name="Image 10" descr="preencoded.png"/>
          <p:cNvPicPr>
            <a:picLocks noChangeAspect="1"/>
          </p:cNvPicPr>
          <p:nvPr/>
        </p:nvPicPr>
        <p:blipFill>
          <a:blip r:embed="rId12"/>
          <a:srcRect l="-32486" r="-32486"/>
          <a:stretch/>
        </p:blipFill>
        <p:spPr>
          <a:xfrm>
            <a:off x="733349" y="6444691"/>
            <a:ext cx="267005" cy="161849"/>
          </a:xfrm>
          <a:prstGeom prst="rect">
            <a:avLst/>
          </a:prstGeom>
        </p:spPr>
      </p:pic>
      <p:sp>
        <p:nvSpPr>
          <p:cNvPr id="28" name="Text 15"/>
          <p:cNvSpPr txBox="1"/>
          <p:nvPr/>
        </p:nvSpPr>
        <p:spPr>
          <a:xfrm>
            <a:off x="5336438" y="1870862"/>
            <a:ext cx="6477610" cy="305410"/>
          </a:xfrm>
          <a:prstGeom prst="rect">
            <a:avLst/>
          </a:prstGeom>
          <a:noFill/>
          <a:ln/>
        </p:spPr>
        <p:txBody>
          <a:bodyPr wrap="square" lIns="0" tIns="0" rIns="0" bIns="0" rtlCol="0" anchor="ctr"/>
          <a:lstStyle/>
          <a:p>
            <a:pPr marL="0" indent="0" algn="l">
              <a:buNone/>
            </a:pPr>
            <a:r>
              <a:rPr lang="en-US" sz="1800" b="1" dirty="0">
                <a:solidFill>
                  <a:srgbClr val="1E40AF"/>
                </a:solidFill>
                <a:latin typeface="BIZ UDGothic" pitchFamily="34" charset="0"/>
                <a:ea typeface="BIZ UDGothic" pitchFamily="34" charset="-122"/>
                <a:cs typeface="BIZ UDGothic" pitchFamily="34" charset="-120"/>
              </a:rPr>
              <a:t> 主な活動・実績 </a:t>
            </a:r>
            <a:endParaRPr lang="en-US" sz="1800" dirty="0"/>
          </a:p>
        </p:txBody>
      </p:sp>
      <p:sp>
        <p:nvSpPr>
          <p:cNvPr id="29" name="Shape 16"/>
          <p:cNvSpPr/>
          <p:nvPr/>
        </p:nvSpPr>
        <p:spPr>
          <a:xfrm>
            <a:off x="4898441" y="23664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0" name="Shape 17"/>
          <p:cNvSpPr/>
          <p:nvPr/>
        </p:nvSpPr>
        <p:spPr>
          <a:xfrm>
            <a:off x="4898441" y="2366467"/>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31" name="Text 18"/>
          <p:cNvSpPr txBox="1"/>
          <p:nvPr/>
        </p:nvSpPr>
        <p:spPr>
          <a:xfrm>
            <a:off x="5450738" y="2509114"/>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社内講座の実施</a:t>
            </a:r>
            <a:endParaRPr lang="en-US" sz="1600" dirty="0"/>
          </a:p>
        </p:txBody>
      </p:sp>
      <p:pic>
        <p:nvPicPr>
          <p:cNvPr id="32" name="Image 11" descr="preencoded.png"/>
          <p:cNvPicPr>
            <a:picLocks noChangeAspect="1"/>
          </p:cNvPicPr>
          <p:nvPr/>
        </p:nvPicPr>
        <p:blipFill>
          <a:blip r:embed="rId13"/>
          <a:srcRect l="-38653" r="-38653"/>
          <a:stretch/>
        </p:blipFill>
        <p:spPr>
          <a:xfrm>
            <a:off x="4816719" y="2388501"/>
            <a:ext cx="558124" cy="419709"/>
          </a:xfrm>
          <a:prstGeom prst="rect">
            <a:avLst/>
          </a:prstGeom>
        </p:spPr>
      </p:pic>
      <p:sp>
        <p:nvSpPr>
          <p:cNvPr id="33" name="Text 19"/>
          <p:cNvSpPr txBox="1"/>
          <p:nvPr/>
        </p:nvSpPr>
        <p:spPr>
          <a:xfrm>
            <a:off x="5146243" y="2813609"/>
            <a:ext cx="6391656"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PA</a:t>
            </a:r>
            <a:r>
              <a:rPr lang="en-US" sz="1600">
                <a:solidFill>
                  <a:srgbClr val="4B5563"/>
                </a:solidFill>
                <a:latin typeface="BIZ UDGothic" pitchFamily="34" charset="0"/>
                <a:ea typeface="BIZ UDGothic" pitchFamily="34" charset="-122"/>
                <a:cs typeface="BIZ UDGothic" pitchFamily="34" charset="-120"/>
              </a:rPr>
              <a:t>／Copilot</a:t>
            </a:r>
            <a:r>
              <a:rPr lang="ja-JP" altLang="en-US" sz="1600">
                <a:solidFill>
                  <a:srgbClr val="4B5563"/>
                </a:solidFill>
                <a:latin typeface="BIZ UDGothic" pitchFamily="34" charset="0"/>
                <a:ea typeface="BIZ UDGothic" pitchFamily="34" charset="-122"/>
                <a:cs typeface="BIZ UDGothic" pitchFamily="34" charset="-120"/>
              </a:rPr>
              <a:t>　ハンズオン講座</a:t>
            </a:r>
            <a:r>
              <a:rPr lang="en-US" sz="1600">
                <a:solidFill>
                  <a:srgbClr val="4B5563"/>
                </a:solidFill>
                <a:latin typeface="BIZ UDGothic" pitchFamily="34" charset="0"/>
                <a:ea typeface="BIZ UDGothic" pitchFamily="34" charset="-122"/>
                <a:cs typeface="BIZ UDGothic" pitchFamily="34" charset="-120"/>
              </a:rPr>
              <a:t>などを開催し</a:t>
            </a:r>
            <a:r>
              <a:rPr lang="en-US" sz="1600" dirty="0">
                <a:solidFill>
                  <a:srgbClr val="4B5563"/>
                </a:solidFill>
                <a:latin typeface="BIZ UDGothic" pitchFamily="34" charset="0"/>
                <a:ea typeface="BIZ UDGothic" pitchFamily="34" charset="-122"/>
                <a:cs typeface="BIZ UDGothic" pitchFamily="34" charset="-120"/>
              </a:rPr>
              <a:t>、社内の</a:t>
            </a:r>
            <a:r>
              <a:rPr lang="en-US" sz="1600">
                <a:solidFill>
                  <a:srgbClr val="4B5563"/>
                </a:solidFill>
                <a:latin typeface="BIZ UDGothic" pitchFamily="34" charset="0"/>
                <a:ea typeface="BIZ UDGothic" pitchFamily="34" charset="-122"/>
                <a:cs typeface="BIZ UDGothic" pitchFamily="34" charset="-120"/>
              </a:rPr>
              <a:t>DXを</a:t>
            </a:r>
            <a:r>
              <a:rPr lang="ja-JP" altLang="en-US" sz="1600">
                <a:solidFill>
                  <a:srgbClr val="4B5563"/>
                </a:solidFill>
                <a:latin typeface="BIZ UDGothic" pitchFamily="34" charset="0"/>
                <a:ea typeface="BIZ UDGothic" pitchFamily="34" charset="-122"/>
                <a:cs typeface="BIZ UDGothic" pitchFamily="34" charset="-120"/>
              </a:rPr>
              <a:t>推進</a:t>
            </a:r>
            <a:endParaRPr lang="en-US" sz="1600" dirty="0"/>
          </a:p>
        </p:txBody>
      </p:sp>
      <p:sp>
        <p:nvSpPr>
          <p:cNvPr id="34" name="Shape 20"/>
          <p:cNvSpPr/>
          <p:nvPr/>
        </p:nvSpPr>
        <p:spPr>
          <a:xfrm>
            <a:off x="4898441" y="3375965"/>
            <a:ext cx="6724498" cy="819302"/>
          </a:xfrm>
          <a:prstGeom prst="roundRect">
            <a:avLst>
              <a:gd name="adj" fmla="val 31146"/>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5" name="Shape 21"/>
          <p:cNvSpPr/>
          <p:nvPr/>
        </p:nvSpPr>
        <p:spPr>
          <a:xfrm>
            <a:off x="4898441" y="3375965"/>
            <a:ext cx="57607" cy="819302"/>
          </a:xfrm>
          <a:prstGeom prst="roundRect">
            <a:avLst>
              <a:gd name="adj" fmla="val 442969"/>
            </a:avLst>
          </a:prstGeom>
          <a:solidFill>
            <a:srgbClr val="F0F4F8"/>
          </a:solidFill>
          <a:ln w="12700">
            <a:solidFill>
              <a:srgbClr val="F0F4F8">
                <a:alpha val="0"/>
              </a:srgbClr>
            </a:solidFill>
            <a:prstDash val="solid"/>
          </a:ln>
        </p:spPr>
        <p:txBody>
          <a:bodyPr/>
          <a:lstStyle/>
          <a:p>
            <a:endParaRPr lang="ja-JP" altLang="en-US"/>
          </a:p>
        </p:txBody>
      </p:sp>
      <p:sp>
        <p:nvSpPr>
          <p:cNvPr id="36" name="Text 22"/>
          <p:cNvSpPr txBox="1"/>
          <p:nvPr/>
        </p:nvSpPr>
        <p:spPr>
          <a:xfrm>
            <a:off x="5450738" y="3518611"/>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外部コミュニティ登壇</a:t>
            </a:r>
            <a:endParaRPr lang="en-US" sz="1600" dirty="0"/>
          </a:p>
        </p:txBody>
      </p:sp>
      <p:pic>
        <p:nvPicPr>
          <p:cNvPr id="37" name="Image 12" descr="preencoded.png"/>
          <p:cNvPicPr>
            <a:picLocks noChangeAspect="1"/>
          </p:cNvPicPr>
          <p:nvPr/>
        </p:nvPicPr>
        <p:blipFill>
          <a:blip r:embed="rId14"/>
          <a:srcRect l="-38653" r="-38653"/>
          <a:stretch/>
        </p:blipFill>
        <p:spPr>
          <a:xfrm>
            <a:off x="4827643" y="3423078"/>
            <a:ext cx="558124" cy="419709"/>
          </a:xfrm>
          <a:prstGeom prst="rect">
            <a:avLst/>
          </a:prstGeom>
        </p:spPr>
      </p:pic>
      <p:sp>
        <p:nvSpPr>
          <p:cNvPr id="38" name="Text 23"/>
          <p:cNvSpPr txBox="1"/>
          <p:nvPr/>
        </p:nvSpPr>
        <p:spPr>
          <a:xfrm>
            <a:off x="5152644" y="3880735"/>
            <a:ext cx="6467551" cy="228600"/>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広島コミュニティ「</a:t>
            </a:r>
            <a:r>
              <a:rPr lang="en-US" sz="1600">
                <a:solidFill>
                  <a:srgbClr val="4B5563"/>
                </a:solidFill>
                <a:latin typeface="BIZ UDGothic" pitchFamily="34" charset="0"/>
                <a:ea typeface="BIZ UDGothic" pitchFamily="34" charset="-122"/>
                <a:cs typeface="BIZ UDGothic" pitchFamily="34" charset="-120"/>
              </a:rPr>
              <a:t>PLUG」</a:t>
            </a:r>
            <a:r>
              <a:rPr lang="ja-JP" altLang="en-US" sz="1600">
                <a:solidFill>
                  <a:srgbClr val="4B5563"/>
                </a:solidFill>
                <a:latin typeface="BIZ UDGothic" pitchFamily="34" charset="0"/>
                <a:ea typeface="BIZ UDGothic" pitchFamily="34" charset="-122"/>
                <a:cs typeface="BIZ UDGothic" pitchFamily="34" charset="-120"/>
              </a:rPr>
              <a:t>運営。外部コミュニティ登壇</a:t>
            </a:r>
            <a:endParaRPr lang="en-US" sz="1600" dirty="0"/>
          </a:p>
        </p:txBody>
      </p:sp>
      <p:sp>
        <p:nvSpPr>
          <p:cNvPr id="39" name="Shape 24"/>
          <p:cNvSpPr/>
          <p:nvPr/>
        </p:nvSpPr>
        <p:spPr>
          <a:xfrm>
            <a:off x="4898441" y="4327855"/>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0" name="Shape 25"/>
          <p:cNvSpPr/>
          <p:nvPr/>
        </p:nvSpPr>
        <p:spPr>
          <a:xfrm>
            <a:off x="4898441" y="4327855"/>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41" name="Text 26"/>
          <p:cNvSpPr txBox="1"/>
          <p:nvPr/>
        </p:nvSpPr>
        <p:spPr>
          <a:xfrm>
            <a:off x="5450738" y="4471416"/>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X (Twitter) での情報発信</a:t>
            </a:r>
            <a:endParaRPr lang="en-US" sz="1600" dirty="0"/>
          </a:p>
        </p:txBody>
      </p:sp>
      <p:pic>
        <p:nvPicPr>
          <p:cNvPr id="42" name="Image 13" descr="preencoded.png"/>
          <p:cNvPicPr>
            <a:picLocks noChangeAspect="1"/>
          </p:cNvPicPr>
          <p:nvPr/>
        </p:nvPicPr>
        <p:blipFill>
          <a:blip r:embed="rId15"/>
          <a:srcRect l="-16489" r="-16489"/>
          <a:stretch/>
        </p:blipFill>
        <p:spPr>
          <a:xfrm>
            <a:off x="4848148" y="4405580"/>
            <a:ext cx="558124" cy="419709"/>
          </a:xfrm>
          <a:prstGeom prst="rect">
            <a:avLst/>
          </a:prstGeom>
        </p:spPr>
      </p:pic>
      <p:sp>
        <p:nvSpPr>
          <p:cNvPr id="43" name="Text 27"/>
          <p:cNvSpPr txBox="1"/>
          <p:nvPr/>
        </p:nvSpPr>
        <p:spPr>
          <a:xfrm>
            <a:off x="5146243" y="4775911"/>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初心者向けPAチップスを</a:t>
            </a:r>
            <a:r>
              <a:rPr lang="en-US" b="1" dirty="0">
                <a:solidFill>
                  <a:srgbClr val="0078D4"/>
                </a:solidFill>
                <a:latin typeface="BIZ UDGothic" pitchFamily="34" charset="0"/>
                <a:ea typeface="BIZ UDGothic" pitchFamily="34" charset="-122"/>
                <a:cs typeface="BIZ UDGothic" pitchFamily="34" charset="-120"/>
              </a:rPr>
              <a:t>2日に1回</a:t>
            </a:r>
            <a:r>
              <a:rPr lang="en-US" sz="1600" dirty="0">
                <a:solidFill>
                  <a:srgbClr val="4B5563"/>
                </a:solidFill>
                <a:latin typeface="BIZ UDGothic" pitchFamily="34" charset="0"/>
                <a:ea typeface="BIZ UDGothic" pitchFamily="34" charset="-122"/>
                <a:cs typeface="BIZ UDGothic" pitchFamily="34" charset="-120"/>
              </a:rPr>
              <a:t>継続発信中！</a:t>
            </a:r>
            <a:endParaRPr lang="en-US" sz="1600" dirty="0"/>
          </a:p>
        </p:txBody>
      </p:sp>
      <p:sp>
        <p:nvSpPr>
          <p:cNvPr id="44" name="Shape 28"/>
          <p:cNvSpPr/>
          <p:nvPr/>
        </p:nvSpPr>
        <p:spPr>
          <a:xfrm>
            <a:off x="4898441" y="53382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5" name="Shape 29"/>
          <p:cNvSpPr/>
          <p:nvPr/>
        </p:nvSpPr>
        <p:spPr>
          <a:xfrm>
            <a:off x="4898441" y="5338267"/>
            <a:ext cx="57607" cy="875995"/>
          </a:xfrm>
          <a:prstGeom prst="roundRect">
            <a:avLst>
              <a:gd name="adj" fmla="val 414080"/>
            </a:avLst>
          </a:prstGeom>
          <a:solidFill>
            <a:srgbClr val="FF9900"/>
          </a:solidFill>
          <a:ln w="12700">
            <a:solidFill>
              <a:srgbClr val="FF9900">
                <a:alpha val="0"/>
              </a:srgbClr>
            </a:solidFill>
            <a:prstDash val="solid"/>
          </a:ln>
        </p:spPr>
        <p:txBody>
          <a:bodyPr/>
          <a:lstStyle/>
          <a:p>
            <a:endParaRPr lang="ja-JP" altLang="en-US"/>
          </a:p>
        </p:txBody>
      </p:sp>
      <p:sp>
        <p:nvSpPr>
          <p:cNvPr id="46" name="Text 30"/>
          <p:cNvSpPr txBox="1"/>
          <p:nvPr/>
        </p:nvSpPr>
        <p:spPr>
          <a:xfrm>
            <a:off x="5450738" y="5480914"/>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45 (PA45)</a:t>
            </a:r>
            <a:endParaRPr lang="en-US" sz="1600" dirty="0"/>
          </a:p>
        </p:txBody>
      </p:sp>
      <p:pic>
        <p:nvPicPr>
          <p:cNvPr id="47" name="Image 14" descr="preencoded.png"/>
          <p:cNvPicPr>
            <a:picLocks noChangeAspect="1"/>
          </p:cNvPicPr>
          <p:nvPr/>
        </p:nvPicPr>
        <p:blipFill>
          <a:blip r:embed="rId16"/>
          <a:srcRect l="-16489" r="-16489"/>
          <a:stretch/>
        </p:blipFill>
        <p:spPr>
          <a:xfrm>
            <a:off x="5146243" y="5528462"/>
            <a:ext cx="228600" cy="171907"/>
          </a:xfrm>
          <a:prstGeom prst="rect">
            <a:avLst/>
          </a:prstGeom>
        </p:spPr>
      </p:pic>
      <p:sp>
        <p:nvSpPr>
          <p:cNvPr id="48" name="Text 31"/>
          <p:cNvSpPr txBox="1"/>
          <p:nvPr/>
        </p:nvSpPr>
        <p:spPr>
          <a:xfrm>
            <a:off x="5146243" y="5785409"/>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45分の</a:t>
            </a:r>
            <a:r>
              <a:rPr lang="en-US" b="1" dirty="0">
                <a:solidFill>
                  <a:srgbClr val="0078D4"/>
                </a:solidFill>
                <a:latin typeface="BIZ UDGothic" pitchFamily="34" charset="0"/>
                <a:ea typeface="BIZ UDGothic" pitchFamily="34" charset="-122"/>
                <a:cs typeface="BIZ UDGothic" pitchFamily="34" charset="-120"/>
              </a:rPr>
              <a:t>“1粒ハンズオン”</a:t>
            </a:r>
            <a:r>
              <a:rPr lang="en-US" sz="1600" dirty="0">
                <a:solidFill>
                  <a:srgbClr val="4B5563"/>
                </a:solidFill>
                <a:latin typeface="BIZ UDGothic" pitchFamily="34" charset="0"/>
                <a:ea typeface="BIZ UDGothic" pitchFamily="34" charset="-122"/>
                <a:cs typeface="BIZ UDGothic" pitchFamily="34" charset="-120"/>
              </a:rPr>
              <a:t>を毎週開催・運営</a:t>
            </a:r>
            <a:endParaRPr lang="en-US" sz="1600" dirty="0"/>
          </a:p>
        </p:txBody>
      </p:sp>
      <p:pic>
        <p:nvPicPr>
          <p:cNvPr id="50" name="Image 15" descr="preencoded.png"/>
          <p:cNvPicPr>
            <a:picLocks noChangeAspect="1"/>
          </p:cNvPicPr>
          <p:nvPr/>
        </p:nvPicPr>
        <p:blipFill>
          <a:blip r:embed="rId17"/>
          <a:srcRect l="-266" r="-266"/>
          <a:stretch/>
        </p:blipFill>
        <p:spPr>
          <a:xfrm>
            <a:off x="4898441" y="1880006"/>
            <a:ext cx="323698" cy="286207"/>
          </a:xfrm>
          <a:prstGeom prst="rect">
            <a:avLst/>
          </a:prstGeom>
        </p:spPr>
      </p:pic>
      <p:pic>
        <p:nvPicPr>
          <p:cNvPr id="51" name="Image 16" descr="preencoded.png"/>
          <p:cNvPicPr>
            <a:picLocks noChangeAspect="1"/>
          </p:cNvPicPr>
          <p:nvPr/>
        </p:nvPicPr>
        <p:blipFill>
          <a:blip r:embed="rId18"/>
          <a:srcRect l="-3" r="-3"/>
          <a:stretch/>
        </p:blipFill>
        <p:spPr>
          <a:xfrm>
            <a:off x="5222139" y="6318921"/>
            <a:ext cx="5617657" cy="386820"/>
          </a:xfrm>
          <a:prstGeom prst="rect">
            <a:avLst/>
          </a:prstGeom>
        </p:spPr>
      </p:pic>
      <p:sp>
        <p:nvSpPr>
          <p:cNvPr id="52" name="Text 33"/>
          <p:cNvSpPr txBox="1"/>
          <p:nvPr/>
        </p:nvSpPr>
        <p:spPr>
          <a:xfrm>
            <a:off x="5696197" y="6341920"/>
            <a:ext cx="8332013" cy="350368"/>
          </a:xfrm>
          <a:prstGeom prst="rect">
            <a:avLst/>
          </a:prstGeom>
          <a:noFill/>
          <a:ln/>
        </p:spPr>
        <p:txBody>
          <a:bodyPr wrap="square" lIns="0" tIns="0" rIns="0" bIns="0" rtlCol="0" anchor="ctr"/>
          <a:lstStyle/>
          <a:p>
            <a:pPr marL="0" indent="0" algn="l">
              <a:buNone/>
            </a:pPr>
            <a:r>
              <a:rPr lang="en-US" sz="1600" b="1" kern="0" spc="96" dirty="0">
                <a:solidFill>
                  <a:srgbClr val="FFFFFF"/>
                </a:solidFill>
                <a:latin typeface="BIZ UDGothic" pitchFamily="34" charset="0"/>
                <a:ea typeface="BIZ UDGothic" pitchFamily="34" charset="-122"/>
                <a:cs typeface="BIZ UDGothic" pitchFamily="34" charset="-120"/>
              </a:rPr>
              <a:t>今日は「できた！」を一緒に作っていきましょう😊</a:t>
            </a:r>
            <a:endParaRPr lang="en-US" sz="1600" dirty="0"/>
          </a:p>
        </p:txBody>
      </p:sp>
      <p:pic>
        <p:nvPicPr>
          <p:cNvPr id="53" name="Image 17" descr="preencoded.png"/>
          <p:cNvPicPr>
            <a:picLocks noChangeAspect="1"/>
          </p:cNvPicPr>
          <p:nvPr/>
        </p:nvPicPr>
        <p:blipFill>
          <a:blip r:embed="rId19"/>
          <a:srcRect l="-1845" r="-1845"/>
          <a:stretch/>
        </p:blipFill>
        <p:spPr>
          <a:xfrm>
            <a:off x="5260028" y="6393142"/>
            <a:ext cx="256946" cy="233291"/>
          </a:xfrm>
          <a:prstGeom prst="rect">
            <a:avLst/>
          </a:prstGeom>
        </p:spPr>
      </p:pic>
      <p:pic>
        <p:nvPicPr>
          <p:cNvPr id="55" name="図 54" descr="The image depicts a person with dark hair and glasses, sitting in front of a computer, typing on a laptop.&#10;&#10;AI 生成コンテンツは誤りを含む可能性があります。">
            <a:extLst>
              <a:ext uri="{FF2B5EF4-FFF2-40B4-BE49-F238E27FC236}">
                <a16:creationId xmlns:a16="http://schemas.microsoft.com/office/drawing/2014/main" id="{47F0CBEE-0475-F1DC-9373-7429D3A7B53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586" b="98438" l="4590" r="98438">
                        <a14:foregroundMark x1="63379" y1="18848" x2="53516" y2="16699"/>
                        <a14:foregroundMark x1="53516" y1="16699" x2="37793" y2="18262"/>
                        <a14:foregroundMark x1="37793" y1="18262" x2="29590" y2="31348"/>
                        <a14:foregroundMark x1="29590" y1="31348" x2="26563" y2="66797"/>
                        <a14:foregroundMark x1="26563" y1="66797" x2="29004" y2="75684"/>
                        <a14:foregroundMark x1="21387" y1="77246" x2="16895" y2="64160"/>
                        <a14:foregroundMark x1="16895" y1="64160" x2="19434" y2="36621"/>
                        <a14:foregroundMark x1="19434" y1="36621" x2="30957" y2="15234"/>
                        <a14:foregroundMark x1="30957" y1="15234" x2="44434" y2="6055"/>
                        <a14:foregroundMark x1="44434" y1="6055" x2="60449" y2="5566"/>
                        <a14:foregroundMark x1="60449" y1="5566" x2="67090" y2="7715"/>
                        <a14:foregroundMark x1="60547" y1="29004" x2="60547" y2="29004"/>
                        <a14:foregroundMark x1="59082" y1="29004" x2="59082" y2="29004"/>
                        <a14:foregroundMark x1="62891" y1="28320" x2="62891" y2="28320"/>
                        <a14:foregroundMark x1="62891" y1="28320" x2="58691" y2="27832"/>
                        <a14:foregroundMark x1="22754" y1="34570" x2="21094" y2="48730"/>
                        <a14:foregroundMark x1="21094" y1="48730" x2="12109" y2="65820"/>
                        <a14:foregroundMark x1="12109" y1="65820" x2="9570" y2="40527"/>
                        <a14:foregroundMark x1="9570" y1="40527" x2="26563" y2="20605"/>
                        <a14:foregroundMark x1="26563" y1="20605" x2="37793" y2="81934"/>
                        <a14:foregroundMark x1="37793" y1="81934" x2="49023" y2="91113"/>
                        <a14:foregroundMark x1="49023" y1="91113" x2="70605" y2="93750"/>
                        <a14:foregroundMark x1="70605" y1="93750" x2="84277" y2="80078"/>
                        <a14:foregroundMark x1="84277" y1="80078" x2="91211" y2="39063"/>
                        <a14:foregroundMark x1="95215" y1="39453" x2="97266" y2="48926"/>
                        <a14:foregroundMark x1="97266" y1="48926" x2="94824" y2="61914"/>
                        <a14:foregroundMark x1="94824" y1="61914" x2="89648" y2="70313"/>
                        <a14:foregroundMark x1="98535" y1="54883" x2="98535" y2="54883"/>
                        <a14:foregroundMark x1="40820" y1="5273" x2="40820" y2="5273"/>
                        <a14:foregroundMark x1="47949" y1="1660" x2="47949" y2="1660"/>
                        <a14:foregroundMark x1="19238" y1="17188" x2="13867" y2="27148"/>
                        <a14:foregroundMark x1="13867" y1="27148" x2="8984" y2="50098"/>
                        <a14:foregroundMark x1="8984" y1="50098" x2="11230" y2="66602"/>
                        <a14:foregroundMark x1="8594" y1="68164" x2="8594" y2="68164"/>
                        <a14:foregroundMark x1="8594" y1="68164" x2="8594" y2="68164"/>
                        <a14:foregroundMark x1="32520" y1="34375" x2="36914" y2="48145"/>
                        <a14:foregroundMark x1="36914" y1="48145" x2="41113" y2="54590"/>
                        <a14:foregroundMark x1="41113" y1="54590" x2="40234" y2="46973"/>
                        <a14:foregroundMark x1="40234" y1="46973" x2="44531" y2="62695"/>
                        <a14:foregroundMark x1="44531" y1="62695" x2="44531" y2="63379"/>
                        <a14:foregroundMark x1="62207" y1="26465" x2="62207" y2="26465"/>
                        <a14:foregroundMark x1="64160" y1="26270" x2="64160" y2="26270"/>
                        <a14:foregroundMark x1="62109" y1="25195" x2="62109" y2="25195"/>
                        <a14:foregroundMark x1="47656" y1="586" x2="47656" y2="586"/>
                        <a14:foregroundMark x1="14746" y1="20117" x2="3027" y2="66309"/>
                        <a14:foregroundMark x1="3027" y1="66309" x2="13770" y2="79199"/>
                        <a14:foregroundMark x1="13770" y1="79199" x2="36719" y2="98535"/>
                        <a14:foregroundMark x1="40430" y1="90820" x2="40430" y2="90820"/>
                        <a14:foregroundMark x1="4590" y1="44922" x2="4590" y2="44922"/>
                        <a14:foregroundMark x1="92480" y1="58301" x2="92480" y2="58301"/>
                        <a14:foregroundMark x1="92480" y1="58301" x2="90918" y2="63770"/>
                        <a14:foregroundMark x1="91309" y1="57129" x2="91309" y2="57129"/>
                        <a14:foregroundMark x1="94727" y1="54785" x2="93945" y2="53320"/>
                        <a14:foregroundMark x1="83203" y1="84277" x2="87012" y2="80371"/>
                        <a14:foregroundMark x1="87012" y1="82031" x2="87012" y2="82031"/>
                        <a14:foregroundMark x1="84180" y1="85156" x2="84180" y2="85156"/>
                        <a14:foregroundMark x1="85840" y1="83301" x2="85840" y2="83301"/>
                        <a14:foregroundMark x1="85254" y1="86133" x2="85254" y2="86133"/>
                        <a14:foregroundMark x1="86426" y1="84570" x2="86426" y2="84570"/>
                        <a14:foregroundMark x1="86133" y1="83789" x2="86133" y2="83789"/>
                      </a14:backgroundRemoval>
                    </a14:imgEffect>
                  </a14:imgLayer>
                </a14:imgProps>
              </a:ext>
            </a:extLst>
          </a:blip>
          <a:stretch>
            <a:fillRect/>
          </a:stretch>
        </p:blipFill>
        <p:spPr>
          <a:xfrm>
            <a:off x="1262523" y="1470548"/>
            <a:ext cx="2208540" cy="2208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1" y="47549"/>
            <a:ext cx="12191695" cy="6858000"/>
          </a:xfrm>
          <a:prstGeom prst="rect">
            <a:avLst/>
          </a:prstGeom>
        </p:spPr>
      </p:pic>
      <p:sp>
        <p:nvSpPr>
          <p:cNvPr id="4" name="Text 1"/>
          <p:cNvSpPr txBox="1"/>
          <p:nvPr/>
        </p:nvSpPr>
        <p:spPr>
          <a:xfrm>
            <a:off x="558343" y="381610"/>
            <a:ext cx="5334610" cy="228600"/>
          </a:xfrm>
          <a:prstGeom prst="rect">
            <a:avLst/>
          </a:prstGeom>
          <a:noFill/>
          <a:ln/>
        </p:spPr>
        <p:txBody>
          <a:bodyPr wrap="square" lIns="0" tIns="0" rIns="0" bIns="0" rtlCol="0" anchor="ctr"/>
          <a:lstStyle/>
          <a:p>
            <a:pPr marL="0" indent="0" algn="l">
              <a:buNone/>
            </a:pPr>
            <a:r>
              <a:rPr lang="en-US" b="1" kern="0" spc="60" dirty="0">
                <a:solidFill>
                  <a:srgbClr val="9CA3AF"/>
                </a:solidFill>
                <a:latin typeface="Noto Sans JP" pitchFamily="34" charset="0"/>
                <a:ea typeface="Noto Sans JP" pitchFamily="34" charset="-122"/>
                <a:cs typeface="Noto Sans JP" pitchFamily="34" charset="-120"/>
              </a:rPr>
              <a:t>Introduction</a:t>
            </a:r>
            <a:endParaRPr lang="en-US" dirty="0"/>
          </a:p>
        </p:txBody>
      </p:sp>
      <p:sp>
        <p:nvSpPr>
          <p:cNvPr id="5" name="Text 2"/>
          <p:cNvSpPr txBox="1"/>
          <p:nvPr/>
        </p:nvSpPr>
        <p:spPr>
          <a:xfrm>
            <a:off x="501651" y="808786"/>
            <a:ext cx="5391302" cy="11430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Power Automateって</a:t>
            </a:r>
          </a:p>
          <a:p>
            <a:pPr marL="0" indent="0" algn="l">
              <a:buNone/>
            </a:pPr>
            <a:r>
              <a:rPr lang="en-US" sz="3600" b="1">
                <a:solidFill>
                  <a:srgbClr val="1F2937"/>
                </a:solidFill>
                <a:latin typeface="Noto Sans JP" pitchFamily="34" charset="0"/>
                <a:ea typeface="Noto Sans JP" pitchFamily="34" charset="-122"/>
                <a:cs typeface="Noto Sans JP" pitchFamily="34" charset="-120"/>
              </a:rPr>
              <a:t>なに</a:t>
            </a:r>
            <a:r>
              <a:rPr lang="en-US" sz="3600" b="1" dirty="0">
                <a:solidFill>
                  <a:srgbClr val="1F2937"/>
                </a:solidFill>
                <a:latin typeface="Noto Sans JP" pitchFamily="34" charset="0"/>
                <a:ea typeface="Noto Sans JP" pitchFamily="34" charset="-122"/>
                <a:cs typeface="Noto Sans JP" pitchFamily="34" charset="-120"/>
              </a:rPr>
              <a:t>？</a:t>
            </a:r>
            <a:endParaRPr lang="en-US" sz="3600" dirty="0"/>
          </a:p>
        </p:txBody>
      </p:sp>
      <p:pic>
        <p:nvPicPr>
          <p:cNvPr id="6" name="Image 1" descr="preencoded.png"/>
          <p:cNvPicPr>
            <a:picLocks noChangeAspect="1"/>
          </p:cNvPicPr>
          <p:nvPr/>
        </p:nvPicPr>
        <p:blipFill>
          <a:blip r:embed="rId4"/>
          <a:srcRect/>
          <a:stretch/>
        </p:blipFill>
        <p:spPr>
          <a:xfrm>
            <a:off x="419710" y="2400300"/>
            <a:ext cx="380390" cy="380390"/>
          </a:xfrm>
          <a:prstGeom prst="rect">
            <a:avLst/>
          </a:prstGeom>
        </p:spPr>
      </p:pic>
      <p:sp>
        <p:nvSpPr>
          <p:cNvPr id="7" name="Text 3"/>
          <p:cNvSpPr txBox="1"/>
          <p:nvPr/>
        </p:nvSpPr>
        <p:spPr>
          <a:xfrm>
            <a:off x="952805" y="236189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業務の自動化ツール</a:t>
            </a:r>
            <a:endParaRPr lang="en-US" sz="2400" dirty="0"/>
          </a:p>
        </p:txBody>
      </p:sp>
      <p:sp>
        <p:nvSpPr>
          <p:cNvPr id="8" name="Text 4"/>
          <p:cNvSpPr txBox="1"/>
          <p:nvPr/>
        </p:nvSpPr>
        <p:spPr>
          <a:xfrm>
            <a:off x="952805" y="2761945"/>
            <a:ext cx="4914900" cy="5340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Microsoftが提供している、毎日くり返す「ちょっと面倒な作業」を自動でやってくれるツールです。</a:t>
            </a:r>
            <a:endParaRPr lang="en-US" sz="1400" dirty="0"/>
          </a:p>
        </p:txBody>
      </p:sp>
      <p:pic>
        <p:nvPicPr>
          <p:cNvPr id="9" name="Image 2" descr="preencoded.png"/>
          <p:cNvPicPr>
            <a:picLocks noChangeAspect="1"/>
          </p:cNvPicPr>
          <p:nvPr/>
        </p:nvPicPr>
        <p:blipFill>
          <a:blip r:embed="rId5"/>
          <a:srcRect/>
          <a:stretch/>
        </p:blipFill>
        <p:spPr>
          <a:xfrm>
            <a:off x="419710" y="3504895"/>
            <a:ext cx="380390" cy="380390"/>
          </a:xfrm>
          <a:prstGeom prst="rect">
            <a:avLst/>
          </a:prstGeom>
        </p:spPr>
      </p:pic>
      <p:sp>
        <p:nvSpPr>
          <p:cNvPr id="10" name="Text 5"/>
          <p:cNvSpPr txBox="1"/>
          <p:nvPr/>
        </p:nvSpPr>
        <p:spPr>
          <a:xfrm>
            <a:off x="952805" y="346740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ボタンなしで動く</a:t>
            </a:r>
            <a:endParaRPr lang="en-US" sz="2400" dirty="0"/>
          </a:p>
        </p:txBody>
      </p:sp>
      <p:sp>
        <p:nvSpPr>
          <p:cNvPr id="11" name="Text 6"/>
          <p:cNvSpPr txBox="1"/>
          <p:nvPr/>
        </p:nvSpPr>
        <p:spPr>
          <a:xfrm>
            <a:off x="926287" y="3837736"/>
            <a:ext cx="4914900" cy="5340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「メールが来たら通知」「ファイルが届いたら保存」など、きっかけに合わせて勝手に動きます。</a:t>
            </a:r>
            <a:endParaRPr lang="en-US" sz="1400" dirty="0"/>
          </a:p>
        </p:txBody>
      </p:sp>
      <p:pic>
        <p:nvPicPr>
          <p:cNvPr id="12" name="Image 3" descr="preencoded.png"/>
          <p:cNvPicPr>
            <a:picLocks noChangeAspect="1"/>
          </p:cNvPicPr>
          <p:nvPr/>
        </p:nvPicPr>
        <p:blipFill>
          <a:blip r:embed="rId6"/>
          <a:srcRect/>
          <a:stretch/>
        </p:blipFill>
        <p:spPr>
          <a:xfrm>
            <a:off x="419710" y="4610405"/>
            <a:ext cx="380390" cy="380390"/>
          </a:xfrm>
          <a:prstGeom prst="rect">
            <a:avLst/>
          </a:prstGeom>
        </p:spPr>
      </p:pic>
      <p:sp>
        <p:nvSpPr>
          <p:cNvPr id="13" name="Text 7"/>
          <p:cNvSpPr txBox="1"/>
          <p:nvPr/>
        </p:nvSpPr>
        <p:spPr>
          <a:xfrm>
            <a:off x="952805" y="4666640"/>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コードを書かない</a:t>
            </a:r>
            <a:endParaRPr lang="en-US" sz="2400" dirty="0"/>
          </a:p>
        </p:txBody>
      </p:sp>
      <p:sp>
        <p:nvSpPr>
          <p:cNvPr id="14" name="Text 8"/>
          <p:cNvSpPr txBox="1"/>
          <p:nvPr/>
        </p:nvSpPr>
        <p:spPr>
          <a:xfrm>
            <a:off x="952805" y="5022392"/>
            <a:ext cx="4914900" cy="5340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難しいプログラミングは不要。画面のブロックを組み合わせるだけで「自動処理」が作れます。</a:t>
            </a:r>
            <a:endParaRPr lang="en-US" sz="1400" dirty="0"/>
          </a:p>
        </p:txBody>
      </p:sp>
      <p:sp>
        <p:nvSpPr>
          <p:cNvPr id="15" name="Shape 9"/>
          <p:cNvSpPr/>
          <p:nvPr/>
        </p:nvSpPr>
        <p:spPr>
          <a:xfrm>
            <a:off x="571500" y="5753405"/>
            <a:ext cx="5219395" cy="800100"/>
          </a:xfrm>
          <a:prstGeom prst="roundRect">
            <a:avLst>
              <a:gd name="adj" fmla="val 21769"/>
            </a:avLst>
          </a:prstGeom>
          <a:solidFill>
            <a:srgbClr val="EFF6FF"/>
          </a:solidFill>
          <a:ln/>
        </p:spPr>
        <p:txBody>
          <a:bodyPr/>
          <a:lstStyle/>
          <a:p>
            <a:endParaRPr lang="ja-JP" altLang="en-US"/>
          </a:p>
        </p:txBody>
      </p:sp>
      <p:sp>
        <p:nvSpPr>
          <p:cNvPr id="16" name="Shape 10"/>
          <p:cNvSpPr/>
          <p:nvPr/>
        </p:nvSpPr>
        <p:spPr>
          <a:xfrm>
            <a:off x="571500" y="5753405"/>
            <a:ext cx="38405" cy="800100"/>
          </a:xfrm>
          <a:prstGeom prst="roundRect">
            <a:avLst>
              <a:gd name="adj" fmla="val 453512"/>
            </a:avLst>
          </a:prstGeom>
          <a:solidFill>
            <a:srgbClr val="2563EB"/>
          </a:solidFill>
          <a:ln w="12700">
            <a:solidFill>
              <a:srgbClr val="2563EB">
                <a:alpha val="0"/>
              </a:srgbClr>
            </a:solidFill>
            <a:prstDash val="solid"/>
          </a:ln>
        </p:spPr>
        <p:txBody>
          <a:bodyPr/>
          <a:lstStyle/>
          <a:p>
            <a:endParaRPr lang="ja-JP" altLang="en-US"/>
          </a:p>
        </p:txBody>
      </p:sp>
      <p:sp>
        <p:nvSpPr>
          <p:cNvPr id="17" name="Text 11"/>
          <p:cNvSpPr txBox="1"/>
          <p:nvPr/>
        </p:nvSpPr>
        <p:spPr>
          <a:xfrm>
            <a:off x="761696" y="5905195"/>
            <a:ext cx="4927904" cy="495605"/>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今日のPA45では、このPower </a:t>
            </a:r>
            <a:r>
              <a:rPr lang="en-US" b="1">
                <a:solidFill>
                  <a:srgbClr val="374151"/>
                </a:solidFill>
                <a:latin typeface="Noto Sans JP" pitchFamily="34" charset="0"/>
                <a:ea typeface="Noto Sans JP" pitchFamily="34" charset="-122"/>
                <a:cs typeface="Noto Sans JP" pitchFamily="34" charset="-120"/>
              </a:rPr>
              <a:t>Automateで</a:t>
            </a:r>
          </a:p>
          <a:p>
            <a:pPr marL="0" indent="0" algn="l">
              <a:buNone/>
            </a:pPr>
            <a:r>
              <a:rPr lang="en-US" sz="2000" b="1">
                <a:solidFill>
                  <a:srgbClr val="2563EB"/>
                </a:solidFill>
                <a:latin typeface="Noto Sans JP" pitchFamily="34" charset="0"/>
                <a:ea typeface="Noto Sans JP" pitchFamily="34" charset="-122"/>
                <a:cs typeface="Noto Sans JP" pitchFamily="34" charset="-120"/>
              </a:rPr>
              <a:t>"</a:t>
            </a:r>
            <a:r>
              <a:rPr lang="en-US" sz="2000" b="1" dirty="0">
                <a:solidFill>
                  <a:srgbClr val="2563EB"/>
                </a:solidFill>
                <a:latin typeface="Noto Sans JP" pitchFamily="34" charset="0"/>
                <a:ea typeface="Noto Sans JP" pitchFamily="34" charset="-122"/>
                <a:cs typeface="Noto Sans JP" pitchFamily="34" charset="-120"/>
              </a:rPr>
              <a:t>1つのアクション"</a:t>
            </a:r>
            <a:r>
              <a:rPr lang="en-US" b="1" dirty="0">
                <a:solidFill>
                  <a:srgbClr val="374151"/>
                </a:solidFill>
                <a:latin typeface="Noto Sans JP" pitchFamily="34" charset="0"/>
                <a:ea typeface="Noto Sans JP" pitchFamily="34" charset="-122"/>
                <a:cs typeface="Noto Sans JP" pitchFamily="34" charset="-120"/>
              </a:rPr>
              <a:t>を一緒に体験します。</a:t>
            </a:r>
            <a:endParaRPr lang="en-US" dirty="0"/>
          </a:p>
        </p:txBody>
      </p:sp>
      <p:sp>
        <p:nvSpPr>
          <p:cNvPr id="18" name="Text 12"/>
          <p:cNvSpPr txBox="1"/>
          <p:nvPr/>
        </p:nvSpPr>
        <p:spPr>
          <a:xfrm>
            <a:off x="7162952" y="586282"/>
            <a:ext cx="4251147" cy="242452"/>
          </a:xfrm>
          <a:prstGeom prst="rect">
            <a:avLst/>
          </a:prstGeom>
          <a:noFill/>
          <a:ln/>
        </p:spPr>
        <p:txBody>
          <a:bodyPr wrap="square" lIns="0" tIns="0" rIns="0" bIns="0" rtlCol="0" anchor="ctr"/>
          <a:lstStyle/>
          <a:p>
            <a:pPr marL="0" indent="0" algn="l">
              <a:buNone/>
            </a:pPr>
            <a:r>
              <a:rPr lang="en-US" sz="2400" b="1" kern="0" spc="60" dirty="0">
                <a:solidFill>
                  <a:srgbClr val="9CA3AF"/>
                </a:solidFill>
                <a:latin typeface="Noto Sans JP" pitchFamily="34" charset="0"/>
                <a:ea typeface="Noto Sans JP" pitchFamily="34" charset="-122"/>
                <a:cs typeface="Noto Sans JP" pitchFamily="34" charset="-120"/>
              </a:rPr>
              <a:t>Automation Flow Image</a:t>
            </a:r>
            <a:endParaRPr lang="en-US" sz="2400" dirty="0"/>
          </a:p>
        </p:txBody>
      </p:sp>
      <p:pic>
        <p:nvPicPr>
          <p:cNvPr id="19" name="Image 4" descr="preencoded.png"/>
          <p:cNvPicPr>
            <a:picLocks noChangeAspect="1"/>
          </p:cNvPicPr>
          <p:nvPr/>
        </p:nvPicPr>
        <p:blipFill>
          <a:blip r:embed="rId7"/>
          <a:srcRect t="-6" b="-6"/>
          <a:stretch/>
        </p:blipFill>
        <p:spPr>
          <a:xfrm>
            <a:off x="6400800" y="914400"/>
            <a:ext cx="5219395" cy="5639105"/>
          </a:xfrm>
          <a:prstGeom prst="rect">
            <a:avLst/>
          </a:prstGeom>
        </p:spPr>
      </p:pic>
      <p:pic>
        <p:nvPicPr>
          <p:cNvPr id="20" name="Image 5" descr="preencoded.png"/>
          <p:cNvPicPr>
            <a:picLocks noChangeAspect="1"/>
          </p:cNvPicPr>
          <p:nvPr/>
        </p:nvPicPr>
        <p:blipFill>
          <a:blip r:embed="rId8">
            <a:alphaModFix amt="5000"/>
          </a:blip>
          <a:srcRect/>
          <a:stretch/>
        </p:blipFill>
        <p:spPr>
          <a:xfrm>
            <a:off x="10382098" y="933602"/>
            <a:ext cx="1218895" cy="1218895"/>
          </a:xfrm>
          <a:prstGeom prst="rect">
            <a:avLst/>
          </a:prstGeom>
        </p:spPr>
      </p:pic>
      <p:pic>
        <p:nvPicPr>
          <p:cNvPr id="21" name="Image 6" descr="preencoded.png"/>
          <p:cNvPicPr>
            <a:picLocks noChangeAspect="1"/>
          </p:cNvPicPr>
          <p:nvPr/>
        </p:nvPicPr>
        <p:blipFill>
          <a:blip r:embed="rId9">
            <a:alphaModFix amt="5000"/>
          </a:blip>
          <a:srcRect/>
          <a:stretch/>
        </p:blipFill>
        <p:spPr>
          <a:xfrm>
            <a:off x="6420002" y="5619902"/>
            <a:ext cx="914400" cy="914400"/>
          </a:xfrm>
          <a:prstGeom prst="rect">
            <a:avLst/>
          </a:prstGeom>
        </p:spPr>
      </p:pic>
      <p:sp>
        <p:nvSpPr>
          <p:cNvPr id="22" name="Shape 13"/>
          <p:cNvSpPr/>
          <p:nvPr/>
        </p:nvSpPr>
        <p:spPr>
          <a:xfrm>
            <a:off x="6648602" y="1162202"/>
            <a:ext cx="1028700" cy="267005"/>
          </a:xfrm>
          <a:prstGeom prst="roundRect">
            <a:avLst>
              <a:gd name="adj" fmla="val 342465"/>
            </a:avLst>
          </a:prstGeom>
          <a:solidFill>
            <a:srgbClr val="F3F4F6"/>
          </a:solidFill>
          <a:ln w="12700">
            <a:solidFill>
              <a:srgbClr val="FFFFFF">
                <a:alpha val="0"/>
              </a:srgbClr>
            </a:solidFill>
            <a:prstDash val="solid"/>
          </a:ln>
        </p:spPr>
        <p:txBody>
          <a:bodyPr/>
          <a:lstStyle/>
          <a:p>
            <a:endParaRPr lang="ja-JP" altLang="en-US"/>
          </a:p>
        </p:txBody>
      </p:sp>
      <p:sp>
        <p:nvSpPr>
          <p:cNvPr id="23" name="Text 14"/>
          <p:cNvSpPr/>
          <p:nvPr/>
        </p:nvSpPr>
        <p:spPr>
          <a:xfrm>
            <a:off x="6620256" y="1162202"/>
            <a:ext cx="1615694"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6B7280"/>
                </a:solidFill>
                <a:latin typeface="Noto Sans JP" pitchFamily="34" charset="0"/>
                <a:ea typeface="Noto Sans JP" pitchFamily="34" charset="-122"/>
                <a:cs typeface="Noto Sans JP" pitchFamily="34" charset="-120"/>
              </a:rPr>
              <a:t>手作業だと...</a:t>
            </a:r>
            <a:endParaRPr lang="en-US" dirty="0"/>
          </a:p>
        </p:txBody>
      </p:sp>
      <p:sp>
        <p:nvSpPr>
          <p:cNvPr id="24" name="Shape 15"/>
          <p:cNvSpPr/>
          <p:nvPr/>
        </p:nvSpPr>
        <p:spPr>
          <a:xfrm>
            <a:off x="10211105" y="1162202"/>
            <a:ext cx="1162202"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5" name="Text 16"/>
          <p:cNvSpPr/>
          <p:nvPr/>
        </p:nvSpPr>
        <p:spPr>
          <a:xfrm>
            <a:off x="10025743" y="1162202"/>
            <a:ext cx="1970357"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2563EB"/>
                </a:solidFill>
                <a:latin typeface="Noto Sans JP" pitchFamily="34" charset="0"/>
                <a:ea typeface="Noto Sans JP" pitchFamily="34" charset="-122"/>
                <a:cs typeface="Noto Sans JP" pitchFamily="34" charset="-120"/>
              </a:rPr>
              <a:t>自動化すると！</a:t>
            </a:r>
            <a:endParaRPr lang="en-US" dirty="0"/>
          </a:p>
        </p:txBody>
      </p:sp>
      <p:sp>
        <p:nvSpPr>
          <p:cNvPr id="26" name="Shape 17"/>
          <p:cNvSpPr/>
          <p:nvPr/>
        </p:nvSpPr>
        <p:spPr>
          <a:xfrm>
            <a:off x="6801307" y="4248302"/>
            <a:ext cx="4419295" cy="1606398"/>
          </a:xfrm>
          <a:prstGeom prst="roundRect">
            <a:avLst>
              <a:gd name="adj" fmla="val 20509"/>
            </a:avLst>
          </a:prstGeom>
          <a:solidFill>
            <a:srgbClr val="F9FAFB"/>
          </a:solidFill>
          <a:ln w="12700">
            <a:solidFill>
              <a:srgbClr val="F3F4F6"/>
            </a:solidFill>
            <a:prstDash val="solid"/>
          </a:ln>
        </p:spPr>
        <p:txBody>
          <a:bodyPr/>
          <a:lstStyle/>
          <a:p>
            <a:endParaRPr lang="ja-JP" altLang="en-US"/>
          </a:p>
        </p:txBody>
      </p:sp>
      <p:sp>
        <p:nvSpPr>
          <p:cNvPr id="27" name="Text 18"/>
          <p:cNvSpPr txBox="1"/>
          <p:nvPr/>
        </p:nvSpPr>
        <p:spPr>
          <a:xfrm>
            <a:off x="6820510" y="4554676"/>
            <a:ext cx="4334256" cy="371246"/>
          </a:xfrm>
          <a:prstGeom prst="rect">
            <a:avLst/>
          </a:prstGeom>
          <a:noFill/>
          <a:ln/>
        </p:spPr>
        <p:txBody>
          <a:bodyPr wrap="square" lIns="0" tIns="0" rIns="0" bIns="0" rtlCol="0" anchor="ctr"/>
          <a:lstStyle/>
          <a:p>
            <a:pPr marL="0" indent="0" algn="ctr">
              <a:buNone/>
            </a:pPr>
            <a:r>
              <a:rPr lang="en-US" sz="2000" b="1" dirty="0">
                <a:solidFill>
                  <a:srgbClr val="4B5563"/>
                </a:solidFill>
                <a:latin typeface="Noto Sans JP" pitchFamily="34" charset="0"/>
                <a:ea typeface="Noto Sans JP" pitchFamily="34" charset="-122"/>
                <a:cs typeface="Noto Sans JP" pitchFamily="34" charset="-120"/>
              </a:rPr>
              <a:t>これらを </a:t>
            </a:r>
            <a:r>
              <a:rPr lang="en-US" sz="2000" b="1" dirty="0">
                <a:solidFill>
                  <a:srgbClr val="2563EB"/>
                </a:solidFill>
                <a:latin typeface="Noto Sans JP" pitchFamily="34" charset="0"/>
                <a:ea typeface="Noto Sans JP" pitchFamily="34" charset="-122"/>
                <a:cs typeface="Noto Sans JP" pitchFamily="34" charset="-120"/>
              </a:rPr>
              <a:t>"全自動"</a:t>
            </a:r>
            <a:r>
              <a:rPr lang="en-US" sz="2000" b="1" dirty="0">
                <a:solidFill>
                  <a:srgbClr val="4B5563"/>
                </a:solidFill>
                <a:latin typeface="Noto Sans JP" pitchFamily="34" charset="0"/>
                <a:ea typeface="Noto Sans JP" pitchFamily="34" charset="-122"/>
                <a:cs typeface="Noto Sans JP" pitchFamily="34" charset="-120"/>
              </a:rPr>
              <a:t> でやってくれます</a:t>
            </a:r>
            <a:endParaRPr lang="en-US" sz="2000" dirty="0"/>
          </a:p>
        </p:txBody>
      </p:sp>
      <p:sp>
        <p:nvSpPr>
          <p:cNvPr id="28" name="Text 19"/>
          <p:cNvSpPr txBox="1"/>
          <p:nvPr/>
        </p:nvSpPr>
        <p:spPr>
          <a:xfrm>
            <a:off x="6756400" y="5183189"/>
            <a:ext cx="4334256" cy="265721"/>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あなたが寝ている間でも、休んでいる間でも！</a:t>
            </a:r>
            <a:endParaRPr lang="en-US" sz="1600" dirty="0"/>
          </a:p>
        </p:txBody>
      </p:sp>
      <p:sp>
        <p:nvSpPr>
          <p:cNvPr id="29" name="Shape 20"/>
          <p:cNvSpPr/>
          <p:nvPr/>
        </p:nvSpPr>
        <p:spPr>
          <a:xfrm>
            <a:off x="571500" y="6705295"/>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0" name="Text 21"/>
          <p:cNvSpPr txBox="1"/>
          <p:nvPr/>
        </p:nvSpPr>
        <p:spPr>
          <a:xfrm>
            <a:off x="571500" y="6695922"/>
            <a:ext cx="886054"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PA45｜第2回</a:t>
            </a:r>
            <a:endParaRPr lang="en-US" sz="1000" dirty="0"/>
          </a:p>
        </p:txBody>
      </p:sp>
      <p:sp>
        <p:nvSpPr>
          <p:cNvPr id="31" name="Text 22"/>
          <p:cNvSpPr txBox="1"/>
          <p:nvPr/>
        </p:nvSpPr>
        <p:spPr>
          <a:xfrm>
            <a:off x="1468984" y="6948068"/>
            <a:ext cx="114300"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2" name="Text 23"/>
          <p:cNvSpPr txBox="1"/>
          <p:nvPr/>
        </p:nvSpPr>
        <p:spPr>
          <a:xfrm>
            <a:off x="1714500" y="6695922"/>
            <a:ext cx="486461" cy="200254"/>
          </a:xfrm>
          <a:prstGeom prst="rect">
            <a:avLst/>
          </a:prstGeom>
          <a:noFill/>
          <a:ln/>
        </p:spPr>
        <p:txBody>
          <a:bodyPr wrap="square" lIns="0" tIns="0" rIns="0" bIns="0" rtlCol="0" anchor="ctr"/>
          <a:lstStyle/>
          <a:p>
            <a:pPr marL="0" indent="0" algn="l">
              <a:buNone/>
            </a:pPr>
            <a:r>
              <a:rPr lang="en-US" sz="10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3" name="Text 24"/>
          <p:cNvSpPr txBox="1"/>
          <p:nvPr/>
        </p:nvSpPr>
        <p:spPr>
          <a:xfrm>
            <a:off x="5311750" y="6695922"/>
            <a:ext cx="2412187" cy="200254"/>
          </a:xfrm>
          <a:prstGeom prst="rect">
            <a:avLst/>
          </a:prstGeom>
          <a:noFill/>
          <a:ln/>
        </p:spPr>
        <p:txBody>
          <a:bodyPr wrap="square" lIns="0" tIns="0" rIns="0" bIns="0" rtlCol="0" anchor="ctr"/>
          <a:lstStyle/>
          <a:p>
            <a:pPr marL="0" indent="0" algn="l">
              <a:buNone/>
            </a:pPr>
            <a:r>
              <a:rPr lang="en-US" sz="10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4" name="Text 25"/>
          <p:cNvSpPr txBox="1"/>
          <p:nvPr/>
        </p:nvSpPr>
        <p:spPr>
          <a:xfrm>
            <a:off x="10532059" y="6695922"/>
            <a:ext cx="1303934"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5" name="Shape 26"/>
          <p:cNvSpPr/>
          <p:nvPr/>
        </p:nvSpPr>
        <p:spPr>
          <a:xfrm>
            <a:off x="7093001" y="2514600"/>
            <a:ext cx="761695" cy="7616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36" name="Image 7" descr="preencoded.png"/>
          <p:cNvPicPr>
            <a:picLocks noChangeAspect="1"/>
          </p:cNvPicPr>
          <p:nvPr/>
        </p:nvPicPr>
        <p:blipFill>
          <a:blip r:embed="rId10"/>
          <a:srcRect/>
          <a:stretch/>
        </p:blipFill>
        <p:spPr>
          <a:xfrm>
            <a:off x="7330745" y="2752344"/>
            <a:ext cx="286207" cy="286207"/>
          </a:xfrm>
          <a:prstGeom prst="rect">
            <a:avLst/>
          </a:prstGeom>
        </p:spPr>
      </p:pic>
      <p:sp>
        <p:nvSpPr>
          <p:cNvPr id="37" name="Text 27"/>
          <p:cNvSpPr txBox="1"/>
          <p:nvPr/>
        </p:nvSpPr>
        <p:spPr>
          <a:xfrm>
            <a:off x="6756400" y="3372306"/>
            <a:ext cx="1222655"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メールが届く</a:t>
            </a:r>
            <a:endParaRPr lang="en-US" sz="1600" dirty="0"/>
          </a:p>
        </p:txBody>
      </p:sp>
      <p:sp>
        <p:nvSpPr>
          <p:cNvPr id="38" name="Text 28"/>
          <p:cNvSpPr txBox="1"/>
          <p:nvPr/>
        </p:nvSpPr>
        <p:spPr>
          <a:xfrm>
            <a:off x="6999732" y="3816807"/>
            <a:ext cx="922630"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きっかけ</a:t>
            </a:r>
            <a:endParaRPr lang="en-US" sz="1600" dirty="0"/>
          </a:p>
        </p:txBody>
      </p:sp>
      <p:sp>
        <p:nvSpPr>
          <p:cNvPr id="39" name="Shape 29"/>
          <p:cNvSpPr/>
          <p:nvPr/>
        </p:nvSpPr>
        <p:spPr>
          <a:xfrm>
            <a:off x="8630107" y="2514600"/>
            <a:ext cx="761695" cy="7616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40" name="Image 8" descr="preencoded.png"/>
          <p:cNvPicPr>
            <a:picLocks noChangeAspect="1"/>
          </p:cNvPicPr>
          <p:nvPr/>
        </p:nvPicPr>
        <p:blipFill>
          <a:blip r:embed="rId11"/>
          <a:srcRect l="-266" r="-266"/>
          <a:stretch/>
        </p:blipFill>
        <p:spPr>
          <a:xfrm>
            <a:off x="8848649" y="2752344"/>
            <a:ext cx="323698" cy="286207"/>
          </a:xfrm>
          <a:prstGeom prst="rect">
            <a:avLst/>
          </a:prstGeom>
        </p:spPr>
      </p:pic>
      <p:sp>
        <p:nvSpPr>
          <p:cNvPr id="41" name="Text 30"/>
          <p:cNvSpPr txBox="1"/>
          <p:nvPr/>
        </p:nvSpPr>
        <p:spPr>
          <a:xfrm>
            <a:off x="8175956" y="3372306"/>
            <a:ext cx="150779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ファイルを保存</a:t>
            </a:r>
            <a:endParaRPr lang="en-US" sz="1600" dirty="0"/>
          </a:p>
        </p:txBody>
      </p:sp>
      <p:sp>
        <p:nvSpPr>
          <p:cNvPr id="42" name="Text 31"/>
          <p:cNvSpPr txBox="1"/>
          <p:nvPr/>
        </p:nvSpPr>
        <p:spPr>
          <a:xfrm>
            <a:off x="8387567"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自動処理①</a:t>
            </a:r>
            <a:endParaRPr lang="en-US" sz="1600" dirty="0"/>
          </a:p>
        </p:txBody>
      </p:sp>
      <p:sp>
        <p:nvSpPr>
          <p:cNvPr id="43" name="Shape 32"/>
          <p:cNvSpPr/>
          <p:nvPr/>
        </p:nvSpPr>
        <p:spPr>
          <a:xfrm>
            <a:off x="10166299" y="2514600"/>
            <a:ext cx="761695" cy="761695"/>
          </a:xfrm>
          <a:prstGeom prst="ellipse">
            <a:avLst/>
          </a:prstGeom>
          <a:solidFill>
            <a:srgbClr val="E0E7FF"/>
          </a:solidFill>
          <a:ln w="12700">
            <a:solidFill>
              <a:srgbClr val="FFFFFF">
                <a:alpha val="0"/>
              </a:srgbClr>
            </a:solidFill>
            <a:prstDash val="solid"/>
          </a:ln>
        </p:spPr>
        <p:txBody>
          <a:bodyPr/>
          <a:lstStyle/>
          <a:p>
            <a:endParaRPr lang="ja-JP" altLang="en-US"/>
          </a:p>
        </p:txBody>
      </p:sp>
      <p:pic>
        <p:nvPicPr>
          <p:cNvPr id="44" name="Image 9" descr="preencoded.png"/>
          <p:cNvPicPr>
            <a:picLocks noChangeAspect="1"/>
          </p:cNvPicPr>
          <p:nvPr/>
        </p:nvPicPr>
        <p:blipFill>
          <a:blip r:embed="rId12"/>
          <a:srcRect t="-530" b="-530"/>
          <a:stretch/>
        </p:blipFill>
        <p:spPr>
          <a:xfrm>
            <a:off x="10423246" y="2752344"/>
            <a:ext cx="247802" cy="286207"/>
          </a:xfrm>
          <a:prstGeom prst="rect">
            <a:avLst/>
          </a:prstGeom>
        </p:spPr>
      </p:pic>
      <p:sp>
        <p:nvSpPr>
          <p:cNvPr id="45" name="Text 33"/>
          <p:cNvSpPr txBox="1"/>
          <p:nvPr/>
        </p:nvSpPr>
        <p:spPr>
          <a:xfrm>
            <a:off x="9814458" y="3372306"/>
            <a:ext cx="140614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Teamsに通知</a:t>
            </a:r>
            <a:endParaRPr lang="en-US" sz="1600" dirty="0"/>
          </a:p>
        </p:txBody>
      </p:sp>
      <p:sp>
        <p:nvSpPr>
          <p:cNvPr id="46" name="Text 34"/>
          <p:cNvSpPr txBox="1"/>
          <p:nvPr/>
        </p:nvSpPr>
        <p:spPr>
          <a:xfrm>
            <a:off x="9924673"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自動処理②</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ja-JP" altLang="en-US"/>
          </a:p>
        </p:txBody>
      </p:sp>
      <p:sp>
        <p:nvSpPr>
          <p:cNvPr id="5" name="Shape 2"/>
          <p:cNvSpPr/>
          <p:nvPr/>
        </p:nvSpPr>
        <p:spPr>
          <a:xfrm>
            <a:off x="6858000" y="0"/>
            <a:ext cx="6096305" cy="6858000"/>
          </a:xfrm>
          <a:prstGeom prst="rect">
            <a:avLst/>
          </a:prstGeom>
          <a:solidFill>
            <a:srgbClr val="EFF6FF">
              <a:alpha val="40000"/>
            </a:srgbClr>
          </a:solidFill>
          <a:ln w="12700">
            <a:solidFill>
              <a:srgbClr val="FFFFFF">
                <a:alpha val="0"/>
              </a:srgbClr>
            </a:solidFill>
            <a:prstDash val="solid"/>
          </a:ln>
        </p:spPr>
        <p:txBody>
          <a:bodyPr/>
          <a:lstStyle/>
          <a:p>
            <a:endParaRPr lang="ja-JP" altLang="en-US"/>
          </a:p>
        </p:txBody>
      </p:sp>
      <p:pic>
        <p:nvPicPr>
          <p:cNvPr id="6" name="Image 1" descr="preencoded.png"/>
          <p:cNvPicPr>
            <a:picLocks noChangeAspect="1"/>
          </p:cNvPicPr>
          <p:nvPr/>
        </p:nvPicPr>
        <p:blipFill>
          <a:blip r:embed="rId4">
            <a:alphaModFix amt="50000"/>
          </a:blip>
          <a:srcRect/>
          <a:stretch/>
        </p:blipFill>
        <p:spPr>
          <a:xfrm>
            <a:off x="9753905" y="0"/>
            <a:ext cx="2438705" cy="2438705"/>
          </a:xfrm>
          <a:prstGeom prst="rect">
            <a:avLst/>
          </a:prstGeom>
        </p:spPr>
      </p:pic>
      <p:sp>
        <p:nvSpPr>
          <p:cNvPr id="7" name="Shape 3"/>
          <p:cNvSpPr/>
          <p:nvPr/>
        </p:nvSpPr>
        <p:spPr>
          <a:xfrm>
            <a:off x="0" y="6705295"/>
            <a:ext cx="12191695" cy="152705"/>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8" name="Shape 4"/>
          <p:cNvSpPr/>
          <p:nvPr/>
        </p:nvSpPr>
        <p:spPr>
          <a:xfrm>
            <a:off x="609905" y="1100023"/>
            <a:ext cx="3886656" cy="381305"/>
          </a:xfrm>
          <a:prstGeom prst="roundRect">
            <a:avLst>
              <a:gd name="adj" fmla="val 239808"/>
            </a:avLst>
          </a:prstGeom>
          <a:solidFill>
            <a:srgbClr val="DBEAFE"/>
          </a:solidFill>
          <a:ln w="12700">
            <a:solidFill>
              <a:srgbClr val="FFFFFF">
                <a:alpha val="0"/>
              </a:srgbClr>
            </a:solidFill>
            <a:prstDash val="solid"/>
          </a:ln>
        </p:spPr>
        <p:txBody>
          <a:bodyPr/>
          <a:lstStyle/>
          <a:p>
            <a:endParaRPr lang="ja-JP" altLang="en-US"/>
          </a:p>
        </p:txBody>
      </p:sp>
      <p:sp>
        <p:nvSpPr>
          <p:cNvPr id="9" name="Text 5"/>
          <p:cNvSpPr/>
          <p:nvPr/>
        </p:nvSpPr>
        <p:spPr>
          <a:xfrm>
            <a:off x="422908" y="1107338"/>
            <a:ext cx="4032051"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000" b="1" kern="0" spc="30" dirty="0">
                <a:solidFill>
                  <a:srgbClr val="1E40AF"/>
                </a:solidFill>
                <a:latin typeface="Noto Sans JP" pitchFamily="34" charset="0"/>
                <a:ea typeface="Noto Sans JP" pitchFamily="34" charset="-122"/>
                <a:cs typeface="Noto Sans JP" pitchFamily="34" charset="-120"/>
              </a:rPr>
              <a:t>Power Automate 入門講座</a:t>
            </a:r>
            <a:endParaRPr lang="en-US" sz="2000" dirty="0"/>
          </a:p>
        </p:txBody>
      </p:sp>
      <p:sp>
        <p:nvSpPr>
          <p:cNvPr id="10" name="Shape 6"/>
          <p:cNvSpPr/>
          <p:nvPr/>
        </p:nvSpPr>
        <p:spPr>
          <a:xfrm>
            <a:off x="4877865" y="1106321"/>
            <a:ext cx="1353985" cy="381305"/>
          </a:xfrm>
          <a:prstGeom prst="roundRect">
            <a:avLst>
              <a:gd name="adj" fmla="val 239808"/>
            </a:avLst>
          </a:prstGeom>
          <a:solidFill>
            <a:schemeClr val="bg1">
              <a:lumMod val="85000"/>
            </a:schemeClr>
          </a:solidFill>
          <a:ln w="12700">
            <a:solidFill>
              <a:srgbClr val="FFFFFF">
                <a:alpha val="0"/>
              </a:srgbClr>
            </a:solidFill>
            <a:prstDash val="solid"/>
          </a:ln>
        </p:spPr>
        <p:txBody>
          <a:bodyPr/>
          <a:lstStyle/>
          <a:p>
            <a:endParaRPr lang="ja-JP" altLang="en-US"/>
          </a:p>
        </p:txBody>
      </p:sp>
      <p:sp>
        <p:nvSpPr>
          <p:cNvPr id="11" name="Text 7"/>
          <p:cNvSpPr/>
          <p:nvPr/>
        </p:nvSpPr>
        <p:spPr>
          <a:xfrm>
            <a:off x="4799373" y="1121762"/>
            <a:ext cx="1510967"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400" b="1" kern="0" spc="30" dirty="0">
                <a:solidFill>
                  <a:srgbClr val="4B5563"/>
                </a:solidFill>
                <a:latin typeface="Noto Sans JP" pitchFamily="34" charset="0"/>
                <a:ea typeface="Noto Sans JP" pitchFamily="34" charset="-122"/>
                <a:cs typeface="Noto Sans JP" pitchFamily="34" charset="-120"/>
              </a:rPr>
              <a:t>Vol.2</a:t>
            </a:r>
            <a:endParaRPr lang="en-US" sz="2400" dirty="0"/>
          </a:p>
        </p:txBody>
      </p:sp>
      <p:sp>
        <p:nvSpPr>
          <p:cNvPr id="12" name="Text 8"/>
          <p:cNvSpPr txBox="1"/>
          <p:nvPr/>
        </p:nvSpPr>
        <p:spPr>
          <a:xfrm>
            <a:off x="571957" y="1781708"/>
            <a:ext cx="2133143" cy="715061"/>
          </a:xfrm>
          <a:prstGeom prst="rect">
            <a:avLst/>
          </a:prstGeom>
          <a:noFill/>
          <a:ln/>
        </p:spPr>
        <p:txBody>
          <a:bodyPr wrap="square" lIns="0" tIns="0" rIns="0" bIns="0" rtlCol="0" anchor="ctr"/>
          <a:lstStyle/>
          <a:p>
            <a:pPr marL="0" indent="0" algn="l">
              <a:buNone/>
            </a:pPr>
            <a:r>
              <a:rPr lang="en-US" sz="4500" b="1" kern="0" spc="-112" dirty="0">
                <a:solidFill>
                  <a:srgbClr val="0078D4"/>
                </a:solidFill>
                <a:latin typeface="Noto Sans JP" pitchFamily="34" charset="0"/>
                <a:ea typeface="Noto Sans JP" pitchFamily="34" charset="-122"/>
                <a:cs typeface="Noto Sans JP" pitchFamily="34" charset="-120"/>
              </a:rPr>
              <a:t>PA45</a:t>
            </a:r>
            <a:endParaRPr lang="en-US" sz="4500" dirty="0"/>
          </a:p>
        </p:txBody>
      </p:sp>
      <p:sp>
        <p:nvSpPr>
          <p:cNvPr id="13" name="Text 9"/>
          <p:cNvSpPr txBox="1"/>
          <p:nvPr/>
        </p:nvSpPr>
        <p:spPr>
          <a:xfrm>
            <a:off x="609905" y="2576779"/>
            <a:ext cx="7220102"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第2回：変数を操作しよう</a:t>
            </a:r>
            <a:endParaRPr lang="en-US" sz="4500" dirty="0"/>
          </a:p>
        </p:txBody>
      </p:sp>
      <p:sp>
        <p:nvSpPr>
          <p:cNvPr id="14" name="Text 10"/>
          <p:cNvSpPr txBox="1"/>
          <p:nvPr/>
        </p:nvSpPr>
        <p:spPr>
          <a:xfrm>
            <a:off x="609905" y="3519526"/>
            <a:ext cx="7029907" cy="488906"/>
          </a:xfrm>
          <a:prstGeom prst="rect">
            <a:avLst/>
          </a:prstGeom>
          <a:noFill/>
          <a:ln/>
        </p:spPr>
        <p:txBody>
          <a:bodyPr wrap="square" lIns="0" tIns="0" rIns="0" bIns="0" rtlCol="0" anchor="ctr"/>
          <a:lstStyle/>
          <a:p>
            <a:pPr marL="0" indent="0" algn="l">
              <a:buNone/>
            </a:pPr>
            <a:r>
              <a:rPr lang="en-US" sz="3200" dirty="0">
                <a:solidFill>
                  <a:srgbClr val="6B7280"/>
                </a:solidFill>
                <a:latin typeface="Noto Sans JP" pitchFamily="34" charset="0"/>
                <a:ea typeface="Noto Sans JP" pitchFamily="34" charset="-122"/>
                <a:cs typeface="Noto Sans JP" pitchFamily="34" charset="-120"/>
              </a:rPr>
              <a:t>Set variable (変数を操作しよう)</a:t>
            </a:r>
            <a:endParaRPr lang="en-US" sz="3200" dirty="0"/>
          </a:p>
        </p:txBody>
      </p:sp>
      <p:sp>
        <p:nvSpPr>
          <p:cNvPr id="15" name="Shape 11"/>
          <p:cNvSpPr/>
          <p:nvPr/>
        </p:nvSpPr>
        <p:spPr>
          <a:xfrm>
            <a:off x="609905" y="4291279"/>
            <a:ext cx="75895" cy="1466698"/>
          </a:xfrm>
          <a:prstGeom prst="rect">
            <a:avLst/>
          </a:prstGeom>
          <a:solidFill>
            <a:srgbClr val="2563EB"/>
          </a:solidFill>
          <a:ln w="12700">
            <a:solidFill>
              <a:srgbClr val="2563EB">
                <a:alpha val="0"/>
              </a:srgbClr>
            </a:solidFill>
            <a:prstDash val="solid"/>
          </a:ln>
        </p:spPr>
        <p:txBody>
          <a:bodyPr/>
          <a:lstStyle/>
          <a:p>
            <a:endParaRPr lang="ja-JP" altLang="en-US"/>
          </a:p>
        </p:txBody>
      </p:sp>
      <p:sp>
        <p:nvSpPr>
          <p:cNvPr id="16" name="Text 12"/>
          <p:cNvSpPr txBox="1"/>
          <p:nvPr/>
        </p:nvSpPr>
        <p:spPr>
          <a:xfrm>
            <a:off x="1067105" y="4443070"/>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Theme</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変数の初期化と </a:t>
            </a:r>
            <a:r>
              <a:rPr lang="en-US" dirty="0">
                <a:solidFill>
                  <a:srgbClr val="374151"/>
                </a:solidFill>
                <a:latin typeface="Noto Sans JP" pitchFamily="34" charset="0"/>
                <a:ea typeface="Noto Sans JP" pitchFamily="34" charset="-122"/>
                <a:cs typeface="Noto Sans JP" pitchFamily="34" charset="-120"/>
              </a:rPr>
              <a:t>Compose で確認</a:t>
            </a:r>
            <a:endParaRPr lang="en-US" dirty="0"/>
          </a:p>
        </p:txBody>
      </p:sp>
      <p:sp>
        <p:nvSpPr>
          <p:cNvPr id="17" name="Text 13"/>
          <p:cNvSpPr txBox="1"/>
          <p:nvPr/>
        </p:nvSpPr>
        <p:spPr>
          <a:xfrm>
            <a:off x="1067105" y="4881982"/>
            <a:ext cx="6648602"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Target</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はじめての方</a:t>
            </a:r>
            <a:r>
              <a:rPr lang="en-US" dirty="0">
                <a:solidFill>
                  <a:srgbClr val="374151"/>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4"/>
          <p:cNvSpPr txBox="1"/>
          <p:nvPr/>
        </p:nvSpPr>
        <p:spPr>
          <a:xfrm>
            <a:off x="1067105" y="5319979"/>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Time</a:t>
            </a:r>
            <a:r>
              <a:rPr lang="en-US">
                <a:solidFill>
                  <a:srgbClr val="374151"/>
                </a:solidFill>
                <a:latin typeface="Noto Sans JP" pitchFamily="34" charset="0"/>
                <a:ea typeface="Noto Sans JP" pitchFamily="34" charset="-122"/>
                <a:cs typeface="Noto Sans JP" pitchFamily="34" charset="-120"/>
              </a:rPr>
              <a:t> </a:t>
            </a:r>
            <a:r>
              <a:rPr lang="ja-JP" altLang="en-US">
                <a:solidFill>
                  <a:srgbClr val="374151"/>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約</a:t>
            </a:r>
            <a:r>
              <a:rPr lang="en-US" dirty="0">
                <a:solidFill>
                  <a:srgbClr val="374151"/>
                </a:solidFill>
                <a:latin typeface="Noto Sans JP" pitchFamily="34" charset="0"/>
                <a:ea typeface="Noto Sans JP" pitchFamily="34" charset="-122"/>
                <a:cs typeface="Noto Sans JP" pitchFamily="34" charset="-120"/>
              </a:rPr>
              <a:t>10分ハンズオン </a:t>
            </a:r>
            <a:endParaRPr lang="en-US" dirty="0"/>
          </a:p>
        </p:txBody>
      </p:sp>
      <p:pic>
        <p:nvPicPr>
          <p:cNvPr id="20" name="Image 3" descr="preencoded.png"/>
          <p:cNvPicPr>
            <a:picLocks noChangeAspect="1"/>
          </p:cNvPicPr>
          <p:nvPr/>
        </p:nvPicPr>
        <p:blipFill>
          <a:blip r:embed="rId5"/>
          <a:srcRect t="-14" b="-14"/>
          <a:stretch/>
        </p:blipFill>
        <p:spPr>
          <a:xfrm>
            <a:off x="9719158" y="2819095"/>
            <a:ext cx="2320747" cy="476402"/>
          </a:xfrm>
          <a:prstGeom prst="rect">
            <a:avLst/>
          </a:prstGeom>
        </p:spPr>
      </p:pic>
      <p:sp>
        <p:nvSpPr>
          <p:cNvPr id="21" name="Text 15"/>
          <p:cNvSpPr txBox="1"/>
          <p:nvPr/>
        </p:nvSpPr>
        <p:spPr>
          <a:xfrm>
            <a:off x="9918497" y="2943454"/>
            <a:ext cx="2001622" cy="228600"/>
          </a:xfrm>
          <a:prstGeom prst="rect">
            <a:avLst/>
          </a:prstGeom>
          <a:noFill/>
          <a:ln/>
        </p:spPr>
        <p:txBody>
          <a:bodyPr wrap="square" lIns="0" tIns="0" rIns="0" bIns="0" rtlCol="0" anchor="ctr"/>
          <a:lstStyle/>
          <a:p>
            <a:pPr marL="0" indent="0" algn="l">
              <a:buNone/>
            </a:pPr>
            <a:r>
              <a:rPr lang="en-US" sz="1200" dirty="0">
                <a:solidFill>
                  <a:srgbClr val="6B7280"/>
                </a:solidFill>
                <a:latin typeface="ui-monospace" pitchFamily="34" charset="0"/>
                <a:ea typeface="ui-monospace" pitchFamily="34" charset="-122"/>
                <a:cs typeface="ui-monospace" pitchFamily="34" charset="-120"/>
              </a:rPr>
              <a:t>var message = "Hello"</a:t>
            </a:r>
            <a:endParaRPr lang="en-US" sz="1200" dirty="0"/>
          </a:p>
        </p:txBody>
      </p:sp>
      <p:pic>
        <p:nvPicPr>
          <p:cNvPr id="22" name="Image 4" descr="preencoded.png"/>
          <p:cNvPicPr>
            <a:picLocks noChangeAspect="1"/>
          </p:cNvPicPr>
          <p:nvPr/>
        </p:nvPicPr>
        <p:blipFill>
          <a:blip r:embed="rId6"/>
          <a:srcRect l="-4" r="-4"/>
          <a:stretch/>
        </p:blipFill>
        <p:spPr>
          <a:xfrm>
            <a:off x="8128102" y="1600200"/>
            <a:ext cx="3454603" cy="3657600"/>
          </a:xfrm>
          <a:prstGeom prst="rect">
            <a:avLst/>
          </a:prstGeom>
        </p:spPr>
      </p:pic>
      <p:sp>
        <p:nvSpPr>
          <p:cNvPr id="23" name="Text 16"/>
          <p:cNvSpPr txBox="1"/>
          <p:nvPr/>
        </p:nvSpPr>
        <p:spPr>
          <a:xfrm>
            <a:off x="9245498" y="3847795"/>
            <a:ext cx="1219810" cy="305410"/>
          </a:xfrm>
          <a:prstGeom prst="rect">
            <a:avLst/>
          </a:prstGeom>
          <a:noFill/>
          <a:ln/>
        </p:spPr>
        <p:txBody>
          <a:bodyPr wrap="square" lIns="0" tIns="0" rIns="0" bIns="0" rtlCol="0" anchor="ctr"/>
          <a:lstStyle/>
          <a:p>
            <a:pPr marL="0" indent="0" algn="ctr">
              <a:buNone/>
            </a:pPr>
            <a:r>
              <a:rPr lang="en-US" sz="1800" b="1" dirty="0">
                <a:solidFill>
                  <a:srgbClr val="4B5563"/>
                </a:solidFill>
                <a:latin typeface="Noto Sans JP" pitchFamily="34" charset="0"/>
                <a:ea typeface="Noto Sans JP" pitchFamily="34" charset="-122"/>
                <a:cs typeface="Noto Sans JP" pitchFamily="34" charset="-120"/>
              </a:rPr>
              <a:t>Variable</a:t>
            </a:r>
            <a:endParaRPr lang="en-US" sz="1800" dirty="0"/>
          </a:p>
        </p:txBody>
      </p:sp>
      <p:pic>
        <p:nvPicPr>
          <p:cNvPr id="24" name="Image 5" descr="preencoded.png"/>
          <p:cNvPicPr>
            <a:picLocks noChangeAspect="1"/>
          </p:cNvPicPr>
          <p:nvPr/>
        </p:nvPicPr>
        <p:blipFill>
          <a:blip r:embed="rId7"/>
          <a:srcRect/>
          <a:stretch/>
        </p:blipFill>
        <p:spPr>
          <a:xfrm>
            <a:off x="9283903" y="2704795"/>
            <a:ext cx="1143000" cy="914400"/>
          </a:xfrm>
          <a:prstGeom prst="rect">
            <a:avLst/>
          </a:prstGeom>
        </p:spPr>
      </p:pic>
      <p:pic>
        <p:nvPicPr>
          <p:cNvPr id="25" name="Image 6" descr="preencoded.png"/>
          <p:cNvPicPr>
            <a:picLocks noChangeAspect="1"/>
          </p:cNvPicPr>
          <p:nvPr/>
        </p:nvPicPr>
        <p:blipFill>
          <a:blip r:embed="rId8"/>
          <a:srcRect t="-56" b="-56"/>
          <a:stretch/>
        </p:blipFill>
        <p:spPr>
          <a:xfrm>
            <a:off x="11162995" y="1371600"/>
            <a:ext cx="647395" cy="652882"/>
          </a:xfrm>
          <a:prstGeom prst="rect">
            <a:avLst/>
          </a:prstGeom>
        </p:spPr>
      </p:pic>
      <p:pic>
        <p:nvPicPr>
          <p:cNvPr id="26" name="Image 7" descr="preencoded.png"/>
          <p:cNvPicPr>
            <a:picLocks noChangeAspect="1"/>
          </p:cNvPicPr>
          <p:nvPr/>
        </p:nvPicPr>
        <p:blipFill>
          <a:blip r:embed="rId9"/>
          <a:srcRect/>
          <a:stretch/>
        </p:blipFill>
        <p:spPr>
          <a:xfrm>
            <a:off x="11315700" y="1524305"/>
            <a:ext cx="342900" cy="342900"/>
          </a:xfrm>
          <a:prstGeom prst="rect">
            <a:avLst/>
          </a:prstGeom>
        </p:spPr>
      </p:pic>
      <p:pic>
        <p:nvPicPr>
          <p:cNvPr id="27" name="Image 8" descr="preencoded.png"/>
          <p:cNvPicPr>
            <a:picLocks noChangeAspect="1"/>
          </p:cNvPicPr>
          <p:nvPr/>
        </p:nvPicPr>
        <p:blipFill>
          <a:blip r:embed="rId10"/>
          <a:srcRect t="-7" b="-7"/>
          <a:stretch/>
        </p:blipFill>
        <p:spPr>
          <a:xfrm>
            <a:off x="7899502" y="4453128"/>
            <a:ext cx="609905" cy="652882"/>
          </a:xfrm>
          <a:prstGeom prst="rect">
            <a:avLst/>
          </a:prstGeom>
        </p:spPr>
      </p:pic>
      <p:pic>
        <p:nvPicPr>
          <p:cNvPr id="28" name="Image 9" descr="preencoded.png"/>
          <p:cNvPicPr>
            <a:picLocks noChangeAspect="1"/>
          </p:cNvPicPr>
          <p:nvPr/>
        </p:nvPicPr>
        <p:blipFill>
          <a:blip r:embed="rId11"/>
          <a:srcRect l="-743" r="-743"/>
          <a:stretch/>
        </p:blipFill>
        <p:spPr>
          <a:xfrm>
            <a:off x="8052206" y="4604918"/>
            <a:ext cx="304495" cy="342900"/>
          </a:xfrm>
          <a:prstGeom prst="rect">
            <a:avLst/>
          </a:prstGeom>
        </p:spPr>
      </p:pic>
      <p:grpSp>
        <p:nvGrpSpPr>
          <p:cNvPr id="40" name="グループ化 39">
            <a:extLst>
              <a:ext uri="{FF2B5EF4-FFF2-40B4-BE49-F238E27FC236}">
                <a16:creationId xmlns:a16="http://schemas.microsoft.com/office/drawing/2014/main" id="{F62F2BB1-FC9A-9BF5-5863-AC5C7020B0F7}"/>
              </a:ext>
            </a:extLst>
          </p:cNvPr>
          <p:cNvGrpSpPr/>
          <p:nvPr/>
        </p:nvGrpSpPr>
        <p:grpSpPr>
          <a:xfrm>
            <a:off x="4603551" y="6322778"/>
            <a:ext cx="7350682" cy="405017"/>
            <a:chOff x="5861349" y="604238"/>
            <a:chExt cx="6035909" cy="405017"/>
          </a:xfrm>
        </p:grpSpPr>
        <p:sp>
          <p:nvSpPr>
            <p:cNvPr id="41" name="Shape 31">
              <a:extLst>
                <a:ext uri="{FF2B5EF4-FFF2-40B4-BE49-F238E27FC236}">
                  <a16:creationId xmlns:a16="http://schemas.microsoft.com/office/drawing/2014/main" id="{E330C5C1-44AB-B83C-FC54-E15E76393B08}"/>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2" name="Text 21">
              <a:extLst>
                <a:ext uri="{FF2B5EF4-FFF2-40B4-BE49-F238E27FC236}">
                  <a16:creationId xmlns:a16="http://schemas.microsoft.com/office/drawing/2014/main" id="{53E96C5C-B4CA-6382-053D-33B08C4E962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3" name="Image 2" descr="preencoded.png">
              <a:extLst>
                <a:ext uri="{FF2B5EF4-FFF2-40B4-BE49-F238E27FC236}">
                  <a16:creationId xmlns:a16="http://schemas.microsoft.com/office/drawing/2014/main" id="{08EBD2AE-13BF-C3DE-E2D6-955D3ED4FB0B}"/>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067605"/>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381305" y="1723644"/>
            <a:ext cx="2438705" cy="2438705"/>
          </a:xfrm>
          <a:prstGeom prst="rect">
            <a:avLst/>
          </a:prstGeom>
        </p:spPr>
      </p:pic>
      <p:pic>
        <p:nvPicPr>
          <p:cNvPr id="6" name="Image 1" descr="preencoded.png"/>
          <p:cNvPicPr>
            <a:picLocks noChangeAspect="1"/>
          </p:cNvPicPr>
          <p:nvPr/>
        </p:nvPicPr>
        <p:blipFill>
          <a:blip r:embed="rId4">
            <a:alphaModFix amt="50000"/>
          </a:blip>
          <a:srcRect/>
          <a:stretch/>
        </p:blipFill>
        <p:spPr>
          <a:xfrm>
            <a:off x="8762695" y="2980944"/>
            <a:ext cx="3047695" cy="3047695"/>
          </a:xfrm>
          <a:prstGeom prst="rect">
            <a:avLst/>
          </a:prstGeom>
        </p:spPr>
      </p:pic>
      <p:sp>
        <p:nvSpPr>
          <p:cNvPr id="7" name="Text 3"/>
          <p:cNvSpPr txBox="1"/>
          <p:nvPr/>
        </p:nvSpPr>
        <p:spPr>
          <a:xfrm>
            <a:off x="286207" y="1723644"/>
            <a:ext cx="11621110" cy="342900"/>
          </a:xfrm>
          <a:prstGeom prst="rect">
            <a:avLst/>
          </a:prstGeom>
          <a:noFill/>
          <a:ln/>
        </p:spPr>
        <p:txBody>
          <a:bodyPr wrap="square" lIns="0" tIns="0" rIns="0" bIns="0" rtlCol="0" anchor="ctr"/>
          <a:lstStyle/>
          <a:p>
            <a:pPr marL="0" indent="0" algn="ctr">
              <a:buNone/>
            </a:pPr>
            <a:r>
              <a:rPr lang="en-US" sz="2200" b="1" dirty="0">
                <a:solidFill>
                  <a:srgbClr val="4B5563"/>
                </a:solidFill>
                <a:latin typeface="Noto Sans JP" pitchFamily="34" charset="0"/>
                <a:ea typeface="Noto Sans JP" pitchFamily="34" charset="-122"/>
                <a:cs typeface="Noto Sans JP" pitchFamily="34" charset="-120"/>
              </a:rPr>
              <a:t>PA45の学習フロー（3ステップ）</a:t>
            </a:r>
            <a:endParaRPr lang="en-US" sz="2200" dirty="0"/>
          </a:p>
        </p:txBody>
      </p:sp>
      <p:pic>
        <p:nvPicPr>
          <p:cNvPr id="8" name="Image 2" descr="preencoded.png"/>
          <p:cNvPicPr>
            <a:picLocks noChangeAspect="1"/>
          </p:cNvPicPr>
          <p:nvPr/>
        </p:nvPicPr>
        <p:blipFill>
          <a:blip r:embed="rId5"/>
          <a:srcRect t="-4" b="-4"/>
          <a:stretch/>
        </p:blipFill>
        <p:spPr>
          <a:xfrm>
            <a:off x="381305" y="2371954"/>
            <a:ext cx="3606394" cy="3657600"/>
          </a:xfrm>
          <a:prstGeom prst="rect">
            <a:avLst/>
          </a:prstGeom>
        </p:spPr>
      </p:pic>
      <p:sp>
        <p:nvSpPr>
          <p:cNvPr id="9" name="Shape 4"/>
          <p:cNvSpPr/>
          <p:nvPr/>
        </p:nvSpPr>
        <p:spPr>
          <a:xfrm>
            <a:off x="3321101"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0" name="Text 5"/>
          <p:cNvSpPr/>
          <p:nvPr/>
        </p:nvSpPr>
        <p:spPr>
          <a:xfrm>
            <a:off x="3282696"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1</a:t>
            </a:r>
            <a:endParaRPr lang="en-US" sz="3000" dirty="0"/>
          </a:p>
        </p:txBody>
      </p:sp>
      <p:pic>
        <p:nvPicPr>
          <p:cNvPr id="11" name="Image 3" descr="preencoded.png"/>
          <p:cNvPicPr>
            <a:picLocks noChangeAspect="1"/>
          </p:cNvPicPr>
          <p:nvPr/>
        </p:nvPicPr>
        <p:blipFill>
          <a:blip r:embed="rId6"/>
          <a:srcRect t="-6" b="-6"/>
          <a:stretch/>
        </p:blipFill>
        <p:spPr>
          <a:xfrm>
            <a:off x="4292194" y="2371954"/>
            <a:ext cx="3606394" cy="3657600"/>
          </a:xfrm>
          <a:prstGeom prst="rect">
            <a:avLst/>
          </a:prstGeom>
        </p:spPr>
      </p:pic>
      <p:sp>
        <p:nvSpPr>
          <p:cNvPr id="12" name="Shape 6"/>
          <p:cNvSpPr/>
          <p:nvPr/>
        </p:nvSpPr>
        <p:spPr>
          <a:xfrm>
            <a:off x="7232904"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3" name="Text 7"/>
          <p:cNvSpPr/>
          <p:nvPr/>
        </p:nvSpPr>
        <p:spPr>
          <a:xfrm>
            <a:off x="7194499"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2</a:t>
            </a:r>
            <a:endParaRPr lang="en-US" sz="3000" dirty="0"/>
          </a:p>
        </p:txBody>
      </p:sp>
      <p:pic>
        <p:nvPicPr>
          <p:cNvPr id="14" name="Image 4" descr="preencoded.png"/>
          <p:cNvPicPr>
            <a:picLocks noChangeAspect="1"/>
          </p:cNvPicPr>
          <p:nvPr/>
        </p:nvPicPr>
        <p:blipFill>
          <a:blip r:embed="rId5"/>
          <a:srcRect t="-4" b="-4"/>
          <a:stretch/>
        </p:blipFill>
        <p:spPr>
          <a:xfrm>
            <a:off x="8203997" y="2371954"/>
            <a:ext cx="3606394" cy="3657600"/>
          </a:xfrm>
          <a:prstGeom prst="rect">
            <a:avLst/>
          </a:prstGeom>
        </p:spPr>
      </p:pic>
      <p:sp>
        <p:nvSpPr>
          <p:cNvPr id="15" name="Shape 8"/>
          <p:cNvSpPr/>
          <p:nvPr/>
        </p:nvSpPr>
        <p:spPr>
          <a:xfrm>
            <a:off x="11143793"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6" name="Text 9"/>
          <p:cNvSpPr/>
          <p:nvPr/>
        </p:nvSpPr>
        <p:spPr>
          <a:xfrm>
            <a:off x="11106302"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3</a:t>
            </a:r>
            <a:endParaRPr lang="en-US" sz="3000" dirty="0"/>
          </a:p>
        </p:txBody>
      </p:sp>
      <p:sp>
        <p:nvSpPr>
          <p:cNvPr id="17" name="Shape 10"/>
          <p:cNvSpPr/>
          <p:nvPr/>
        </p:nvSpPr>
        <p:spPr>
          <a:xfrm>
            <a:off x="1841602" y="2676449"/>
            <a:ext cx="761695" cy="761695"/>
          </a:xfrm>
          <a:prstGeom prst="roundRect">
            <a:avLst>
              <a:gd name="adj" fmla="val 48019"/>
            </a:avLst>
          </a:prstGeom>
          <a:solidFill>
            <a:srgbClr val="DBEAFE"/>
          </a:solidFill>
          <a:ln w="12700">
            <a:solidFill>
              <a:srgbClr val="FFFFFF">
                <a:alpha val="0"/>
              </a:srgbClr>
            </a:solidFill>
            <a:prstDash val="solid"/>
          </a:ln>
        </p:spPr>
        <p:txBody>
          <a:bodyPr/>
          <a:lstStyle/>
          <a:p>
            <a:endParaRPr lang="ja-JP" altLang="en-US"/>
          </a:p>
        </p:txBody>
      </p:sp>
      <p:pic>
        <p:nvPicPr>
          <p:cNvPr id="18" name="Image 5" descr="preencoded.png"/>
          <p:cNvPicPr>
            <a:picLocks noChangeAspect="1"/>
          </p:cNvPicPr>
          <p:nvPr/>
        </p:nvPicPr>
        <p:blipFill>
          <a:blip r:embed="rId7"/>
          <a:srcRect l="-607" r="-607"/>
          <a:stretch/>
        </p:blipFill>
        <p:spPr>
          <a:xfrm>
            <a:off x="2027225" y="2885846"/>
            <a:ext cx="390449" cy="342900"/>
          </a:xfrm>
          <a:prstGeom prst="rect">
            <a:avLst/>
          </a:prstGeom>
        </p:spPr>
      </p:pic>
      <p:sp>
        <p:nvSpPr>
          <p:cNvPr id="19" name="Text 11"/>
          <p:cNvSpPr txBox="1"/>
          <p:nvPr/>
        </p:nvSpPr>
        <p:spPr>
          <a:xfrm>
            <a:off x="1149401" y="3666744"/>
            <a:ext cx="2150669"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アクション解説</a:t>
            </a:r>
            <a:endParaRPr lang="en-US" sz="2200" dirty="0"/>
          </a:p>
        </p:txBody>
      </p:sp>
      <p:sp>
        <p:nvSpPr>
          <p:cNvPr id="20" name="Text 12"/>
          <p:cNvSpPr txBox="1"/>
          <p:nvPr/>
        </p:nvSpPr>
        <p:spPr>
          <a:xfrm>
            <a:off x="984406" y="4174599"/>
            <a:ext cx="2378355"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毎回Power Automateの</a:t>
            </a:r>
            <a:endParaRPr lang="en-US" sz="1600" dirty="0"/>
          </a:p>
          <a:p>
            <a:pPr marL="0" indent="0" algn="ctr">
              <a:buNone/>
            </a:pPr>
            <a:r>
              <a:rPr lang="en-US" sz="1600" b="1" dirty="0">
                <a:solidFill>
                  <a:srgbClr val="1D4ED8"/>
                </a:solidFill>
                <a:latin typeface="Noto Sans JP" pitchFamily="34" charset="0"/>
                <a:ea typeface="Noto Sans JP" pitchFamily="34" charset="-122"/>
                <a:cs typeface="Noto Sans JP" pitchFamily="34" charset="-120"/>
              </a:rPr>
              <a:t>ひとつのアクション</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絞って解説します。</a:t>
            </a:r>
            <a:endParaRPr lang="en-US" sz="1600" dirty="0"/>
          </a:p>
        </p:txBody>
      </p:sp>
      <p:sp>
        <p:nvSpPr>
          <p:cNvPr id="21" name="Text 13"/>
          <p:cNvSpPr txBox="1"/>
          <p:nvPr/>
        </p:nvSpPr>
        <p:spPr>
          <a:xfrm>
            <a:off x="1266444" y="5209337"/>
            <a:ext cx="1912010" cy="602952"/>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その役割と使い方を</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しっかり理解します。</a:t>
            </a:r>
            <a:endParaRPr lang="en-US" sz="1400" dirty="0"/>
          </a:p>
        </p:txBody>
      </p:sp>
      <p:pic>
        <p:nvPicPr>
          <p:cNvPr id="22" name="Image 6" descr="preencoded.png"/>
          <p:cNvPicPr>
            <a:picLocks noChangeAspect="1"/>
          </p:cNvPicPr>
          <p:nvPr/>
        </p:nvPicPr>
        <p:blipFill>
          <a:blip r:embed="rId8"/>
          <a:srcRect t="-30" b="-30"/>
          <a:stretch/>
        </p:blipFill>
        <p:spPr>
          <a:xfrm>
            <a:off x="4026103" y="4067251"/>
            <a:ext cx="190195" cy="304495"/>
          </a:xfrm>
          <a:prstGeom prst="rect">
            <a:avLst/>
          </a:prstGeom>
        </p:spPr>
      </p:pic>
      <p:sp>
        <p:nvSpPr>
          <p:cNvPr id="23" name="Shape 14"/>
          <p:cNvSpPr/>
          <p:nvPr/>
        </p:nvSpPr>
        <p:spPr>
          <a:xfrm>
            <a:off x="5753405" y="2676449"/>
            <a:ext cx="761695" cy="761695"/>
          </a:xfrm>
          <a:prstGeom prst="roundRect">
            <a:avLst>
              <a:gd name="adj" fmla="val 48019"/>
            </a:avLst>
          </a:prstGeom>
          <a:solidFill>
            <a:srgbClr val="E0E7FF"/>
          </a:solidFill>
          <a:ln w="12700">
            <a:solidFill>
              <a:srgbClr val="FFFFFF">
                <a:alpha val="0"/>
              </a:srgbClr>
            </a:solidFill>
            <a:prstDash val="solid"/>
          </a:ln>
        </p:spPr>
        <p:txBody>
          <a:bodyPr/>
          <a:lstStyle/>
          <a:p>
            <a:endParaRPr lang="ja-JP" altLang="en-US"/>
          </a:p>
        </p:txBody>
      </p:sp>
      <p:pic>
        <p:nvPicPr>
          <p:cNvPr id="24" name="Image 7" descr="preencoded.png"/>
          <p:cNvPicPr>
            <a:picLocks noChangeAspect="1"/>
          </p:cNvPicPr>
          <p:nvPr/>
        </p:nvPicPr>
        <p:blipFill>
          <a:blip r:embed="rId9"/>
          <a:srcRect l="-27" r="-27"/>
          <a:stretch/>
        </p:blipFill>
        <p:spPr>
          <a:xfrm>
            <a:off x="5919826" y="2885846"/>
            <a:ext cx="428854" cy="342900"/>
          </a:xfrm>
          <a:prstGeom prst="rect">
            <a:avLst/>
          </a:prstGeom>
        </p:spPr>
      </p:pic>
      <p:sp>
        <p:nvSpPr>
          <p:cNvPr id="25" name="Text 15"/>
          <p:cNvSpPr txBox="1"/>
          <p:nvPr/>
        </p:nvSpPr>
        <p:spPr>
          <a:xfrm>
            <a:off x="5365699" y="3666744"/>
            <a:ext cx="154350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ハンズオン</a:t>
            </a:r>
            <a:endParaRPr lang="en-US" sz="2200" dirty="0"/>
          </a:p>
        </p:txBody>
      </p:sp>
      <p:sp>
        <p:nvSpPr>
          <p:cNvPr id="26" name="Text 16"/>
          <p:cNvSpPr txBox="1"/>
          <p:nvPr/>
        </p:nvSpPr>
        <p:spPr>
          <a:xfrm>
            <a:off x="4879751" y="4174599"/>
            <a:ext cx="2428402"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そのアクションを使って</a:t>
            </a:r>
            <a:endParaRPr lang="en-US" sz="1600" dirty="0"/>
          </a:p>
          <a:p>
            <a:pPr marL="0" indent="0" algn="ctr">
              <a:buNone/>
            </a:pPr>
            <a:r>
              <a:rPr lang="en-US" sz="1600" b="1" dirty="0">
                <a:solidFill>
                  <a:srgbClr val="4338CA"/>
                </a:solidFill>
                <a:latin typeface="Noto Sans JP" pitchFamily="34" charset="0"/>
                <a:ea typeface="Noto Sans JP" pitchFamily="34" charset="-122"/>
                <a:cs typeface="Noto Sans JP" pitchFamily="34" charset="-120"/>
              </a:rPr>
              <a:t>サンプルフロー</a:t>
            </a:r>
            <a:r>
              <a:rPr lang="en-US" sz="1600" dirty="0">
                <a:solidFill>
                  <a:srgbClr val="4B5563"/>
                </a:solidFill>
                <a:latin typeface="Noto Sans JP" pitchFamily="34" charset="0"/>
                <a:ea typeface="Noto Sans JP" pitchFamily="34" charset="-122"/>
                <a:cs typeface="Noto Sans JP" pitchFamily="34" charset="-120"/>
              </a:rPr>
              <a:t>を</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一緒に作成します。</a:t>
            </a:r>
            <a:endParaRPr lang="en-US" sz="1600" dirty="0"/>
          </a:p>
        </p:txBody>
      </p:sp>
      <p:sp>
        <p:nvSpPr>
          <p:cNvPr id="27" name="Text 17"/>
          <p:cNvSpPr txBox="1"/>
          <p:nvPr/>
        </p:nvSpPr>
        <p:spPr>
          <a:xfrm>
            <a:off x="5161788" y="5209337"/>
            <a:ext cx="1952244" cy="602952"/>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実際に手を動かして</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体験しながら学びます。</a:t>
            </a:r>
            <a:endParaRPr lang="en-US" sz="1400" dirty="0"/>
          </a:p>
        </p:txBody>
      </p:sp>
      <p:pic>
        <p:nvPicPr>
          <p:cNvPr id="28" name="Image 8" descr="preencoded.png"/>
          <p:cNvPicPr>
            <a:picLocks noChangeAspect="1"/>
          </p:cNvPicPr>
          <p:nvPr/>
        </p:nvPicPr>
        <p:blipFill>
          <a:blip r:embed="rId8"/>
          <a:srcRect t="-30" b="-30"/>
          <a:stretch/>
        </p:blipFill>
        <p:spPr>
          <a:xfrm>
            <a:off x="7937906" y="4067251"/>
            <a:ext cx="190195" cy="304495"/>
          </a:xfrm>
          <a:prstGeom prst="rect">
            <a:avLst/>
          </a:prstGeom>
        </p:spPr>
      </p:pic>
      <p:sp>
        <p:nvSpPr>
          <p:cNvPr id="29" name="Shape 18"/>
          <p:cNvSpPr/>
          <p:nvPr/>
        </p:nvSpPr>
        <p:spPr>
          <a:xfrm>
            <a:off x="9664294" y="2676449"/>
            <a:ext cx="761695" cy="761695"/>
          </a:xfrm>
          <a:prstGeom prst="roundRect">
            <a:avLst>
              <a:gd name="adj" fmla="val 48019"/>
            </a:avLst>
          </a:prstGeom>
          <a:solidFill>
            <a:srgbClr val="EDE9FE"/>
          </a:solidFill>
          <a:ln w="12700">
            <a:solidFill>
              <a:srgbClr val="FFFFFF">
                <a:alpha val="0"/>
              </a:srgbClr>
            </a:solidFill>
            <a:prstDash val="solid"/>
          </a:ln>
        </p:spPr>
        <p:txBody>
          <a:bodyPr/>
          <a:lstStyle/>
          <a:p>
            <a:endParaRPr lang="ja-JP" altLang="en-US"/>
          </a:p>
        </p:txBody>
      </p:sp>
      <p:pic>
        <p:nvPicPr>
          <p:cNvPr id="30" name="Image 9" descr="preencoded.png"/>
          <p:cNvPicPr>
            <a:picLocks noChangeAspect="1"/>
          </p:cNvPicPr>
          <p:nvPr/>
        </p:nvPicPr>
        <p:blipFill>
          <a:blip r:embed="rId10"/>
          <a:srcRect t="-45" b="-45"/>
          <a:stretch/>
        </p:blipFill>
        <p:spPr>
          <a:xfrm>
            <a:off x="9916668" y="2885846"/>
            <a:ext cx="256946" cy="342900"/>
          </a:xfrm>
          <a:prstGeom prst="rect">
            <a:avLst/>
          </a:prstGeom>
        </p:spPr>
      </p:pic>
      <p:sp>
        <p:nvSpPr>
          <p:cNvPr id="31" name="Text 19"/>
          <p:cNvSpPr txBox="1"/>
          <p:nvPr/>
        </p:nvSpPr>
        <p:spPr>
          <a:xfrm>
            <a:off x="8965692" y="3666744"/>
            <a:ext cx="216072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活用事例の紹介</a:t>
            </a:r>
            <a:endParaRPr lang="en-US" sz="2200" dirty="0"/>
          </a:p>
        </p:txBody>
      </p:sp>
      <p:sp>
        <p:nvSpPr>
          <p:cNvPr id="32" name="Text 20"/>
          <p:cNvSpPr txBox="1"/>
          <p:nvPr/>
        </p:nvSpPr>
        <p:spPr>
          <a:xfrm>
            <a:off x="8611417" y="4314502"/>
            <a:ext cx="2867448" cy="562356"/>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他にどんな</a:t>
            </a:r>
            <a:r>
              <a:rPr lang="en-US" sz="1600" b="1" dirty="0">
                <a:solidFill>
                  <a:srgbClr val="6D28D9"/>
                </a:solidFill>
                <a:latin typeface="Noto Sans JP" pitchFamily="34" charset="0"/>
                <a:ea typeface="Noto Sans JP" pitchFamily="34" charset="-122"/>
                <a:cs typeface="Noto Sans JP" pitchFamily="34" charset="-120"/>
              </a:rPr>
              <a:t>業務効率化事例</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使えるかを紹介します。</a:t>
            </a:r>
            <a:endParaRPr lang="en-US" sz="1600" dirty="0"/>
          </a:p>
        </p:txBody>
      </p:sp>
      <p:sp>
        <p:nvSpPr>
          <p:cNvPr id="33" name="Text 21"/>
          <p:cNvSpPr txBox="1"/>
          <p:nvPr/>
        </p:nvSpPr>
        <p:spPr>
          <a:xfrm>
            <a:off x="8893454" y="5069434"/>
            <a:ext cx="2305202" cy="602952"/>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実務での応用イメージを</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具体的に掴みます。</a:t>
            </a:r>
            <a:endParaRPr lang="en-US" sz="1400" dirty="0"/>
          </a:p>
        </p:txBody>
      </p:sp>
      <p:sp>
        <p:nvSpPr>
          <p:cNvPr id="34" name="Shape 22"/>
          <p:cNvSpPr/>
          <p:nvPr/>
        </p:nvSpPr>
        <p:spPr>
          <a:xfrm>
            <a:off x="0" y="0"/>
            <a:ext cx="12191695" cy="1343254"/>
          </a:xfrm>
          <a:prstGeom prst="rect">
            <a:avLst/>
          </a:prstGeom>
          <a:solidFill>
            <a:srgbClr val="FFFFFF"/>
          </a:solidFill>
          <a:ln/>
        </p:spPr>
        <p:txBody>
          <a:bodyPr/>
          <a:lstStyle/>
          <a:p>
            <a:endParaRPr lang="ja-JP" altLang="en-US"/>
          </a:p>
        </p:txBody>
      </p:sp>
      <p:sp>
        <p:nvSpPr>
          <p:cNvPr id="35" name="Shape 2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6" name="Text 24"/>
          <p:cNvSpPr txBox="1"/>
          <p:nvPr/>
        </p:nvSpPr>
        <p:spPr>
          <a:xfrm>
            <a:off x="457200" y="228600"/>
            <a:ext cx="3620110"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PA45｜Learning Process</a:t>
            </a:r>
            <a:endParaRPr lang="en-US" sz="1500" dirty="0"/>
          </a:p>
        </p:txBody>
      </p:sp>
      <p:sp>
        <p:nvSpPr>
          <p:cNvPr id="37" name="Text 25"/>
          <p:cNvSpPr txBox="1"/>
          <p:nvPr/>
        </p:nvSpPr>
        <p:spPr>
          <a:xfrm>
            <a:off x="457200" y="533095"/>
            <a:ext cx="4699102" cy="571500"/>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講座の</a:t>
            </a:r>
            <a:r>
              <a:rPr lang="en-US" sz="4500" b="1" dirty="0">
                <a:solidFill>
                  <a:srgbClr val="6B7280"/>
                </a:solidFill>
                <a:latin typeface="Noto Sans JP" pitchFamily="34" charset="0"/>
                <a:ea typeface="Noto Sans JP" pitchFamily="34" charset="-122"/>
                <a:cs typeface="Noto Sans JP" pitchFamily="34" charset="-120"/>
              </a:rPr>
              <a:t>進め方</a:t>
            </a:r>
            <a:endParaRPr lang="en-US" sz="4500" dirty="0"/>
          </a:p>
        </p:txBody>
      </p:sp>
      <p:sp>
        <p:nvSpPr>
          <p:cNvPr id="38" name="Shape 26"/>
          <p:cNvSpPr/>
          <p:nvPr/>
        </p:nvSpPr>
        <p:spPr>
          <a:xfrm>
            <a:off x="9722815" y="647395"/>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9" name="Text 27"/>
          <p:cNvSpPr txBox="1"/>
          <p:nvPr/>
        </p:nvSpPr>
        <p:spPr>
          <a:xfrm>
            <a:off x="9951415" y="571500"/>
            <a:ext cx="186720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Learning Flow</a:t>
            </a:r>
            <a:endParaRPr lang="en-US" sz="1800" dirty="0"/>
          </a:p>
        </p:txBody>
      </p:sp>
      <p:sp>
        <p:nvSpPr>
          <p:cNvPr id="42" name="Shape 29"/>
          <p:cNvSpPr/>
          <p:nvPr/>
        </p:nvSpPr>
        <p:spPr>
          <a:xfrm>
            <a:off x="0" y="6409944"/>
            <a:ext cx="12191695" cy="448056"/>
          </a:xfrm>
          <a:prstGeom prst="rect">
            <a:avLst/>
          </a:prstGeom>
          <a:solidFill>
            <a:srgbClr val="FFFFFF"/>
          </a:solidFill>
          <a:ln/>
        </p:spPr>
        <p:txBody>
          <a:bodyPr/>
          <a:lstStyle/>
          <a:p>
            <a:endParaRPr lang="ja-JP" altLang="en-US"/>
          </a:p>
        </p:txBody>
      </p:sp>
      <p:sp>
        <p:nvSpPr>
          <p:cNvPr id="43" name="Shape 30"/>
          <p:cNvSpPr/>
          <p:nvPr/>
        </p:nvSpPr>
        <p:spPr>
          <a:xfrm>
            <a:off x="0" y="6409944"/>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4" name="Text 31"/>
          <p:cNvSpPr txBox="1"/>
          <p:nvPr/>
        </p:nvSpPr>
        <p:spPr>
          <a:xfrm>
            <a:off x="457200" y="6505956"/>
            <a:ext cx="2890418"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45" name="Text 32"/>
          <p:cNvSpPr txBox="1"/>
          <p:nvPr/>
        </p:nvSpPr>
        <p:spPr>
          <a:xfrm>
            <a:off x="10335463" y="6505956"/>
            <a:ext cx="1666951"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46"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51" name="グループ化 50">
            <a:extLst>
              <a:ext uri="{FF2B5EF4-FFF2-40B4-BE49-F238E27FC236}">
                <a16:creationId xmlns:a16="http://schemas.microsoft.com/office/drawing/2014/main" id="{1289EF84-186B-78A4-E754-112CAFD6F2CD}"/>
              </a:ext>
            </a:extLst>
          </p:cNvPr>
          <p:cNvGrpSpPr/>
          <p:nvPr/>
        </p:nvGrpSpPr>
        <p:grpSpPr>
          <a:xfrm>
            <a:off x="4603551" y="6322778"/>
            <a:ext cx="7350682" cy="405017"/>
            <a:chOff x="5861349" y="604238"/>
            <a:chExt cx="6035909" cy="405017"/>
          </a:xfrm>
        </p:grpSpPr>
        <p:sp>
          <p:nvSpPr>
            <p:cNvPr id="52" name="Shape 31">
              <a:extLst>
                <a:ext uri="{FF2B5EF4-FFF2-40B4-BE49-F238E27FC236}">
                  <a16:creationId xmlns:a16="http://schemas.microsoft.com/office/drawing/2014/main" id="{9919C701-2962-6506-AEA7-80A12BA9D889}"/>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3" name="Text 21">
              <a:extLst>
                <a:ext uri="{FF2B5EF4-FFF2-40B4-BE49-F238E27FC236}">
                  <a16:creationId xmlns:a16="http://schemas.microsoft.com/office/drawing/2014/main" id="{13832EC7-F002-1E56-C170-2AE9EB81AE4C}"/>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4" name="Image 2" descr="preencoded.png">
              <a:extLst>
                <a:ext uri="{FF2B5EF4-FFF2-40B4-BE49-F238E27FC236}">
                  <a16:creationId xmlns:a16="http://schemas.microsoft.com/office/drawing/2014/main" id="{B64FCD08-0B20-DE12-0FFC-E4024A978779}"/>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0"/>
            <a:ext cx="12191695" cy="1485900"/>
          </a:xfrm>
          <a:prstGeom prst="rect">
            <a:avLst/>
          </a:prstGeom>
          <a:solidFill>
            <a:srgbClr val="FFFFFF"/>
          </a:solidFill>
          <a:ln/>
        </p:spPr>
        <p:txBody>
          <a:bodyPr/>
          <a:lstStyle/>
          <a:p>
            <a:endParaRPr lang="ja-JP" altLang="en-US"/>
          </a:p>
        </p:txBody>
      </p:sp>
      <p:sp>
        <p:nvSpPr>
          <p:cNvPr id="5" name="Shape 3"/>
          <p:cNvSpPr/>
          <p:nvPr/>
        </p:nvSpPr>
        <p:spPr>
          <a:xfrm>
            <a:off x="0" y="14767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 name="Text 4"/>
          <p:cNvSpPr txBox="1"/>
          <p:nvPr/>
        </p:nvSpPr>
        <p:spPr>
          <a:xfrm>
            <a:off x="457200" y="228600"/>
            <a:ext cx="5600700"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PA45｜第2回</a:t>
            </a:r>
            <a:endParaRPr lang="en-US" sz="1500" dirty="0"/>
          </a:p>
        </p:txBody>
      </p:sp>
      <p:sp>
        <p:nvSpPr>
          <p:cNvPr id="7" name="Text 5"/>
          <p:cNvSpPr txBox="1"/>
          <p:nvPr/>
        </p:nvSpPr>
        <p:spPr>
          <a:xfrm>
            <a:off x="457200" y="533095"/>
            <a:ext cx="7781544"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今日やること</a:t>
            </a:r>
            <a:r>
              <a:rPr lang="en-US" sz="2700" b="1" dirty="0">
                <a:solidFill>
                  <a:srgbClr val="6B7280"/>
                </a:solidFill>
                <a:latin typeface="Noto Sans JP" pitchFamily="34" charset="0"/>
                <a:ea typeface="Noto Sans JP" pitchFamily="34" charset="-122"/>
                <a:cs typeface="Noto Sans JP" pitchFamily="34" charset="-120"/>
              </a:rPr>
              <a:t>（3つだけ）</a:t>
            </a:r>
            <a:endParaRPr lang="en-US" sz="4500" dirty="0"/>
          </a:p>
        </p:txBody>
      </p:sp>
      <p:sp>
        <p:nvSpPr>
          <p:cNvPr id="8" name="Shape 6"/>
          <p:cNvSpPr/>
          <p:nvPr/>
        </p:nvSpPr>
        <p:spPr>
          <a:xfrm>
            <a:off x="10858500" y="8284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9" name="Text 7"/>
          <p:cNvSpPr txBox="1"/>
          <p:nvPr/>
        </p:nvSpPr>
        <p:spPr>
          <a:xfrm>
            <a:off x="11048695" y="752551"/>
            <a:ext cx="7717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Agenda</a:t>
            </a:r>
            <a:endParaRPr lang="en-US" sz="1500" dirty="0"/>
          </a:p>
        </p:txBody>
      </p:sp>
      <p:sp>
        <p:nvSpPr>
          <p:cNvPr id="13" name="Shape 9"/>
          <p:cNvSpPr/>
          <p:nvPr/>
        </p:nvSpPr>
        <p:spPr>
          <a:xfrm>
            <a:off x="0" y="1485900"/>
            <a:ext cx="12191695" cy="4914900"/>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14" name="Image 2" descr="preencoded.png"/>
          <p:cNvPicPr>
            <a:picLocks noChangeAspect="1"/>
          </p:cNvPicPr>
          <p:nvPr/>
        </p:nvPicPr>
        <p:blipFill>
          <a:blip r:embed="rId3"/>
          <a:srcRect t="-1" b="-1"/>
          <a:stretch/>
        </p:blipFill>
        <p:spPr>
          <a:xfrm>
            <a:off x="457200" y="2093976"/>
            <a:ext cx="3606394" cy="3697834"/>
          </a:xfrm>
          <a:prstGeom prst="rect">
            <a:avLst/>
          </a:prstGeom>
        </p:spPr>
      </p:pic>
      <p:sp>
        <p:nvSpPr>
          <p:cNvPr id="15" name="Shape 10"/>
          <p:cNvSpPr/>
          <p:nvPr/>
        </p:nvSpPr>
        <p:spPr>
          <a:xfrm>
            <a:off x="2835554"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6" name="Image 3" descr="preencoded.png"/>
          <p:cNvPicPr>
            <a:picLocks noChangeAspect="1"/>
          </p:cNvPicPr>
          <p:nvPr/>
        </p:nvPicPr>
        <p:blipFill>
          <a:blip r:embed="rId4">
            <a:alphaModFix amt="20000"/>
          </a:blip>
          <a:srcRect l="-9464" r="-9464"/>
          <a:stretch/>
        </p:blipFill>
        <p:spPr>
          <a:xfrm>
            <a:off x="2618842" y="2199132"/>
            <a:ext cx="1419149" cy="1591056"/>
          </a:xfrm>
          <a:prstGeom prst="rect">
            <a:avLst/>
          </a:prstGeom>
        </p:spPr>
      </p:pic>
      <p:pic>
        <p:nvPicPr>
          <p:cNvPr id="17" name="Image 4" descr="preencoded.png"/>
          <p:cNvPicPr>
            <a:picLocks noChangeAspect="1"/>
          </p:cNvPicPr>
          <p:nvPr/>
        </p:nvPicPr>
        <p:blipFill>
          <a:blip r:embed="rId5"/>
          <a:srcRect t="-3" b="-3"/>
          <a:stretch/>
        </p:blipFill>
        <p:spPr>
          <a:xfrm>
            <a:off x="4292194" y="2093976"/>
            <a:ext cx="3606394" cy="3697834"/>
          </a:xfrm>
          <a:prstGeom prst="rect">
            <a:avLst/>
          </a:prstGeom>
        </p:spPr>
      </p:pic>
      <p:sp>
        <p:nvSpPr>
          <p:cNvPr id="18" name="Shape 11"/>
          <p:cNvSpPr/>
          <p:nvPr/>
        </p:nvSpPr>
        <p:spPr>
          <a:xfrm>
            <a:off x="6670548"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9" name="Image 5" descr="preencoded.png"/>
          <p:cNvPicPr>
            <a:picLocks noChangeAspect="1"/>
          </p:cNvPicPr>
          <p:nvPr/>
        </p:nvPicPr>
        <p:blipFill>
          <a:blip r:embed="rId6">
            <a:alphaModFix amt="20000"/>
          </a:blip>
          <a:srcRect t="-3661" b="-3661"/>
          <a:stretch/>
        </p:blipFill>
        <p:spPr>
          <a:xfrm>
            <a:off x="6010351" y="2154326"/>
            <a:ext cx="1867205" cy="1781251"/>
          </a:xfrm>
          <a:prstGeom prst="rect">
            <a:avLst/>
          </a:prstGeom>
        </p:spPr>
      </p:pic>
      <p:pic>
        <p:nvPicPr>
          <p:cNvPr id="20" name="Image 6" descr="preencoded.png"/>
          <p:cNvPicPr>
            <a:picLocks noChangeAspect="1"/>
          </p:cNvPicPr>
          <p:nvPr/>
        </p:nvPicPr>
        <p:blipFill>
          <a:blip r:embed="rId3"/>
          <a:srcRect t="-1" b="-1"/>
          <a:stretch/>
        </p:blipFill>
        <p:spPr>
          <a:xfrm>
            <a:off x="8128102" y="2093976"/>
            <a:ext cx="3606394" cy="3697834"/>
          </a:xfrm>
          <a:prstGeom prst="rect">
            <a:avLst/>
          </a:prstGeom>
        </p:spPr>
      </p:pic>
      <p:sp>
        <p:nvSpPr>
          <p:cNvPr id="21" name="Shape 12"/>
          <p:cNvSpPr/>
          <p:nvPr/>
        </p:nvSpPr>
        <p:spPr>
          <a:xfrm>
            <a:off x="10505542"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22" name="Image 7" descr="preencoded.png"/>
          <p:cNvPicPr>
            <a:picLocks noChangeAspect="1"/>
          </p:cNvPicPr>
          <p:nvPr/>
        </p:nvPicPr>
        <p:blipFill>
          <a:blip r:embed="rId7">
            <a:alphaModFix amt="20000"/>
          </a:blip>
          <a:srcRect/>
          <a:stretch/>
        </p:blipFill>
        <p:spPr>
          <a:xfrm>
            <a:off x="10163556" y="2237537"/>
            <a:ext cx="1476756" cy="1476756"/>
          </a:xfrm>
          <a:prstGeom prst="rect">
            <a:avLst/>
          </a:prstGeom>
        </p:spPr>
      </p:pic>
      <p:pic>
        <p:nvPicPr>
          <p:cNvPr id="23" name="Image 8" descr="preencoded.png"/>
          <p:cNvPicPr>
            <a:picLocks noChangeAspect="1"/>
          </p:cNvPicPr>
          <p:nvPr/>
        </p:nvPicPr>
        <p:blipFill>
          <a:blip r:embed="rId8"/>
          <a:srcRect t="-401" b="-401"/>
          <a:stretch/>
        </p:blipFill>
        <p:spPr>
          <a:xfrm>
            <a:off x="0" y="6801307"/>
            <a:ext cx="12191695" cy="57607"/>
          </a:xfrm>
          <a:prstGeom prst="rect">
            <a:avLst/>
          </a:prstGeom>
        </p:spPr>
      </p:pic>
      <p:pic>
        <p:nvPicPr>
          <p:cNvPr id="24" name="Image 9" descr="preencoded.png"/>
          <p:cNvPicPr>
            <a:picLocks noChangeAspect="1"/>
          </p:cNvPicPr>
          <p:nvPr/>
        </p:nvPicPr>
        <p:blipFill>
          <a:blip r:embed="rId9"/>
          <a:srcRect/>
          <a:stretch/>
        </p:blipFill>
        <p:spPr>
          <a:xfrm>
            <a:off x="1955902" y="2380183"/>
            <a:ext cx="609905" cy="609905"/>
          </a:xfrm>
          <a:prstGeom prst="rect">
            <a:avLst/>
          </a:prstGeom>
        </p:spPr>
      </p:pic>
      <p:sp>
        <p:nvSpPr>
          <p:cNvPr id="25" name="Text 13"/>
          <p:cNvSpPr/>
          <p:nvPr/>
        </p:nvSpPr>
        <p:spPr>
          <a:xfrm>
            <a:off x="1927555"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1</a:t>
            </a:r>
            <a:endParaRPr lang="en-US" sz="2200" dirty="0"/>
          </a:p>
        </p:txBody>
      </p:sp>
      <p:sp>
        <p:nvSpPr>
          <p:cNvPr id="26" name="Text 14"/>
          <p:cNvSpPr txBox="1"/>
          <p:nvPr/>
        </p:nvSpPr>
        <p:spPr>
          <a:xfrm>
            <a:off x="1428293" y="3937406"/>
            <a:ext cx="1664208"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変数とは何かを</a:t>
            </a:r>
            <a:endParaRPr lang="en-US" sz="1800" dirty="0"/>
          </a:p>
          <a:p>
            <a:pPr marL="0" indent="0" algn="ctr">
              <a:buNone/>
            </a:pPr>
            <a:r>
              <a:rPr lang="en-US" sz="1800" b="1" dirty="0">
                <a:solidFill>
                  <a:srgbClr val="1F2937"/>
                </a:solidFill>
                <a:latin typeface="Noto Sans JP" pitchFamily="34" charset="0"/>
                <a:ea typeface="Noto Sans JP" pitchFamily="34" charset="-122"/>
                <a:cs typeface="Noto Sans JP" pitchFamily="34" charset="-120"/>
              </a:rPr>
              <a:t>理解する</a:t>
            </a:r>
            <a:endParaRPr lang="en-US" sz="1800" dirty="0"/>
          </a:p>
        </p:txBody>
      </p:sp>
      <p:sp>
        <p:nvSpPr>
          <p:cNvPr id="27" name="Text 15"/>
          <p:cNvSpPr txBox="1"/>
          <p:nvPr/>
        </p:nvSpPr>
        <p:spPr>
          <a:xfrm>
            <a:off x="834034" y="4718304"/>
            <a:ext cx="2665375" cy="838505"/>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プログラミングの基礎となる</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「値を一時的に保存する箱」の</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概念をイメージで掴みます。 </a:t>
            </a:r>
            <a:endParaRPr lang="en-US" sz="1400" dirty="0"/>
          </a:p>
        </p:txBody>
      </p:sp>
      <p:pic>
        <p:nvPicPr>
          <p:cNvPr id="28" name="Image 10" descr="preencoded.png"/>
          <p:cNvPicPr>
            <a:picLocks noChangeAspect="1"/>
          </p:cNvPicPr>
          <p:nvPr/>
        </p:nvPicPr>
        <p:blipFill>
          <a:blip r:embed="rId10"/>
          <a:srcRect/>
          <a:stretch/>
        </p:blipFill>
        <p:spPr>
          <a:xfrm>
            <a:off x="1975104" y="3213202"/>
            <a:ext cx="571500" cy="571500"/>
          </a:xfrm>
          <a:prstGeom prst="rect">
            <a:avLst/>
          </a:prstGeom>
        </p:spPr>
      </p:pic>
      <p:pic>
        <p:nvPicPr>
          <p:cNvPr id="29" name="Image 11" descr="preencoded.png"/>
          <p:cNvPicPr>
            <a:picLocks noChangeAspect="1"/>
          </p:cNvPicPr>
          <p:nvPr/>
        </p:nvPicPr>
        <p:blipFill>
          <a:blip r:embed="rId9"/>
          <a:srcRect/>
          <a:stretch/>
        </p:blipFill>
        <p:spPr>
          <a:xfrm>
            <a:off x="5790895" y="2380183"/>
            <a:ext cx="609905" cy="609905"/>
          </a:xfrm>
          <a:prstGeom prst="rect">
            <a:avLst/>
          </a:prstGeom>
        </p:spPr>
      </p:pic>
      <p:sp>
        <p:nvSpPr>
          <p:cNvPr id="30" name="Text 16"/>
          <p:cNvSpPr/>
          <p:nvPr/>
        </p:nvSpPr>
        <p:spPr>
          <a:xfrm>
            <a:off x="5762549"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2</a:t>
            </a:r>
            <a:endParaRPr lang="en-US" sz="2200" dirty="0"/>
          </a:p>
        </p:txBody>
      </p:sp>
      <p:sp>
        <p:nvSpPr>
          <p:cNvPr id="31" name="Text 17"/>
          <p:cNvSpPr txBox="1"/>
          <p:nvPr/>
        </p:nvSpPr>
        <p:spPr>
          <a:xfrm>
            <a:off x="4964278" y="3937406"/>
            <a:ext cx="2267712"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Initialize variableで</a:t>
            </a:r>
            <a:endParaRPr lang="en-US" sz="1800" dirty="0"/>
          </a:p>
          <a:p>
            <a:pPr marL="0" indent="0" algn="ctr">
              <a:buNone/>
            </a:pPr>
            <a:r>
              <a:rPr lang="en-US" sz="1800" b="1" dirty="0">
                <a:solidFill>
                  <a:srgbClr val="1F2937"/>
                </a:solidFill>
                <a:latin typeface="Noto Sans JP" pitchFamily="34" charset="0"/>
                <a:ea typeface="Noto Sans JP" pitchFamily="34" charset="-122"/>
                <a:cs typeface="Noto Sans JP" pitchFamily="34" charset="-120"/>
              </a:rPr>
              <a:t>値を作る</a:t>
            </a:r>
            <a:endParaRPr lang="en-US" sz="1800" dirty="0"/>
          </a:p>
        </p:txBody>
      </p:sp>
      <p:sp>
        <p:nvSpPr>
          <p:cNvPr id="32" name="Text 18"/>
          <p:cNvSpPr txBox="1"/>
          <p:nvPr/>
        </p:nvSpPr>
        <p:spPr>
          <a:xfrm>
            <a:off x="4673600" y="4718304"/>
            <a:ext cx="2665375" cy="838505"/>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Power Automateのアクション</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「変数を初期化する」を使って</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実際に箱を作ってみます。 </a:t>
            </a:r>
            <a:endParaRPr lang="en-US" sz="1400" dirty="0"/>
          </a:p>
        </p:txBody>
      </p:sp>
      <p:pic>
        <p:nvPicPr>
          <p:cNvPr id="33" name="Image 12" descr="preencoded.png"/>
          <p:cNvPicPr>
            <a:picLocks noChangeAspect="1"/>
          </p:cNvPicPr>
          <p:nvPr/>
        </p:nvPicPr>
        <p:blipFill>
          <a:blip r:embed="rId11"/>
          <a:srcRect/>
          <a:stretch/>
        </p:blipFill>
        <p:spPr>
          <a:xfrm>
            <a:off x="5810098" y="3213202"/>
            <a:ext cx="571500" cy="571500"/>
          </a:xfrm>
          <a:prstGeom prst="rect">
            <a:avLst/>
          </a:prstGeom>
        </p:spPr>
      </p:pic>
      <p:pic>
        <p:nvPicPr>
          <p:cNvPr id="34" name="Image 13" descr="preencoded.png"/>
          <p:cNvPicPr>
            <a:picLocks noChangeAspect="1"/>
          </p:cNvPicPr>
          <p:nvPr/>
        </p:nvPicPr>
        <p:blipFill>
          <a:blip r:embed="rId9"/>
          <a:srcRect/>
          <a:stretch/>
        </p:blipFill>
        <p:spPr>
          <a:xfrm>
            <a:off x="9626803" y="2380183"/>
            <a:ext cx="609905" cy="609905"/>
          </a:xfrm>
          <a:prstGeom prst="rect">
            <a:avLst/>
          </a:prstGeom>
        </p:spPr>
      </p:pic>
      <p:sp>
        <p:nvSpPr>
          <p:cNvPr id="35" name="Text 19"/>
          <p:cNvSpPr/>
          <p:nvPr/>
        </p:nvSpPr>
        <p:spPr>
          <a:xfrm>
            <a:off x="9597542"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3</a:t>
            </a:r>
            <a:endParaRPr lang="en-US" sz="2200" dirty="0"/>
          </a:p>
        </p:txBody>
      </p:sp>
      <p:sp>
        <p:nvSpPr>
          <p:cNvPr id="36" name="Text 20"/>
          <p:cNvSpPr txBox="1"/>
          <p:nvPr/>
        </p:nvSpPr>
        <p:spPr>
          <a:xfrm>
            <a:off x="9099194" y="3937406"/>
            <a:ext cx="1664208"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Composeで</a:t>
            </a:r>
            <a:endParaRPr lang="en-US" sz="1800" dirty="0"/>
          </a:p>
          <a:p>
            <a:pPr marL="0" indent="0" algn="ctr">
              <a:buNone/>
            </a:pPr>
            <a:r>
              <a:rPr lang="en-US" sz="1800" b="1" dirty="0">
                <a:solidFill>
                  <a:srgbClr val="1F2937"/>
                </a:solidFill>
                <a:latin typeface="Noto Sans JP" pitchFamily="34" charset="0"/>
                <a:ea typeface="Noto Sans JP" pitchFamily="34" charset="-122"/>
                <a:cs typeface="Noto Sans JP" pitchFamily="34" charset="-120"/>
              </a:rPr>
              <a:t>値の中身を見る</a:t>
            </a:r>
            <a:endParaRPr lang="en-US" sz="1800" dirty="0"/>
          </a:p>
        </p:txBody>
      </p:sp>
      <p:sp>
        <p:nvSpPr>
          <p:cNvPr id="37" name="Text 21"/>
          <p:cNvSpPr txBox="1"/>
          <p:nvPr/>
        </p:nvSpPr>
        <p:spPr>
          <a:xfrm>
            <a:off x="8212590" y="4718304"/>
            <a:ext cx="3218324" cy="838505"/>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作成した変数が正しく動いているか、</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Compose（作成）アクションで</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確認するデバッグ体験をします。 </a:t>
            </a:r>
            <a:endParaRPr lang="en-US" sz="1400" dirty="0"/>
          </a:p>
        </p:txBody>
      </p:sp>
      <p:pic>
        <p:nvPicPr>
          <p:cNvPr id="38" name="Image 14" descr="preencoded.png"/>
          <p:cNvPicPr>
            <a:picLocks noChangeAspect="1"/>
          </p:cNvPicPr>
          <p:nvPr/>
        </p:nvPicPr>
        <p:blipFill>
          <a:blip r:embed="rId12"/>
          <a:srcRect/>
          <a:stretch/>
        </p:blipFill>
        <p:spPr>
          <a:xfrm>
            <a:off x="9645091" y="3213202"/>
            <a:ext cx="571500" cy="571500"/>
          </a:xfrm>
          <a:prstGeom prst="rect">
            <a:avLst/>
          </a:prstGeom>
        </p:spPr>
      </p:pic>
      <p:sp>
        <p:nvSpPr>
          <p:cNvPr id="39" name="Shape 22"/>
          <p:cNvSpPr/>
          <p:nvPr/>
        </p:nvSpPr>
        <p:spPr>
          <a:xfrm>
            <a:off x="0" y="6400800"/>
            <a:ext cx="12191695" cy="457200"/>
          </a:xfrm>
          <a:prstGeom prst="rect">
            <a:avLst/>
          </a:prstGeom>
          <a:solidFill>
            <a:srgbClr val="FFFFFF"/>
          </a:solidFill>
          <a:ln/>
        </p:spPr>
        <p:txBody>
          <a:bodyPr/>
          <a:lstStyle/>
          <a:p>
            <a:endParaRPr lang="ja-JP" altLang="en-US"/>
          </a:p>
        </p:txBody>
      </p:sp>
      <p:sp>
        <p:nvSpPr>
          <p:cNvPr id="40" name="Shape 23"/>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1" name="Text 24"/>
          <p:cNvSpPr txBox="1"/>
          <p:nvPr/>
        </p:nvSpPr>
        <p:spPr>
          <a:xfrm>
            <a:off x="457200" y="6519672"/>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42" name="Text 25"/>
          <p:cNvSpPr txBox="1"/>
          <p:nvPr/>
        </p:nvSpPr>
        <p:spPr>
          <a:xfrm>
            <a:off x="10490911" y="6519672"/>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grpSp>
        <p:nvGrpSpPr>
          <p:cNvPr id="47" name="グループ化 46">
            <a:extLst>
              <a:ext uri="{FF2B5EF4-FFF2-40B4-BE49-F238E27FC236}">
                <a16:creationId xmlns:a16="http://schemas.microsoft.com/office/drawing/2014/main" id="{722FBEAE-8CB7-7493-F595-CD1F2E21BD05}"/>
              </a:ext>
            </a:extLst>
          </p:cNvPr>
          <p:cNvGrpSpPr/>
          <p:nvPr/>
        </p:nvGrpSpPr>
        <p:grpSpPr>
          <a:xfrm>
            <a:off x="4603551" y="6322778"/>
            <a:ext cx="7350682" cy="405017"/>
            <a:chOff x="5861349" y="604238"/>
            <a:chExt cx="6035909" cy="405017"/>
          </a:xfrm>
        </p:grpSpPr>
        <p:sp>
          <p:nvSpPr>
            <p:cNvPr id="48" name="Shape 31">
              <a:extLst>
                <a:ext uri="{FF2B5EF4-FFF2-40B4-BE49-F238E27FC236}">
                  <a16:creationId xmlns:a16="http://schemas.microsoft.com/office/drawing/2014/main" id="{DD44BB3C-F859-7A5E-7E34-CC1C35ECEA4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9" name="Text 21">
              <a:extLst>
                <a:ext uri="{FF2B5EF4-FFF2-40B4-BE49-F238E27FC236}">
                  <a16:creationId xmlns:a16="http://schemas.microsoft.com/office/drawing/2014/main" id="{A7F44BB1-1667-BB85-557B-D7C1AAD8A0FA}"/>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0" name="Image 2" descr="preencoded.png">
              <a:extLst>
                <a:ext uri="{FF2B5EF4-FFF2-40B4-BE49-F238E27FC236}">
                  <a16:creationId xmlns:a16="http://schemas.microsoft.com/office/drawing/2014/main" id="{003A3C3D-15E3-1F1A-D918-AB2472E8059D}"/>
                </a:ext>
              </a:extLst>
            </p:cNvPr>
            <p:cNvPicPr>
              <a:picLocks noChangeAspect="1"/>
            </p:cNvPicPr>
            <p:nvPr/>
          </p:nvPicPr>
          <p:blipFill>
            <a:blip r:embed="rId13"/>
            <a:srcRect/>
            <a:stretch/>
          </p:blipFill>
          <p:spPr>
            <a:xfrm>
              <a:off x="5861349" y="619679"/>
              <a:ext cx="263236" cy="389576"/>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21606"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6" name="Shape 4"/>
          <p:cNvSpPr/>
          <p:nvPr/>
        </p:nvSpPr>
        <p:spPr>
          <a:xfrm>
            <a:off x="8151875" y="987146"/>
            <a:ext cx="4067251" cy="5829300"/>
          </a:xfrm>
          <a:prstGeom prst="rect">
            <a:avLst/>
          </a:prstGeom>
          <a:solidFill>
            <a:srgbClr val="EFF6FF">
              <a:alpha val="30000"/>
            </a:srgbClr>
          </a:solidFill>
          <a:ln w="12700">
            <a:solidFill>
              <a:srgbClr val="FFFFFF">
                <a:alpha val="0"/>
              </a:srgbClr>
            </a:solidFill>
            <a:prstDash val="solid"/>
          </a:ln>
        </p:spPr>
        <p:txBody>
          <a:bodyPr/>
          <a:lstStyle/>
          <a:p>
            <a:endParaRPr lang="ja-JP" altLang="en-US"/>
          </a:p>
        </p:txBody>
      </p:sp>
      <p:sp>
        <p:nvSpPr>
          <p:cNvPr id="8" name="Shape 6"/>
          <p:cNvSpPr/>
          <p:nvPr/>
        </p:nvSpPr>
        <p:spPr>
          <a:xfrm>
            <a:off x="7519904" y="1012241"/>
            <a:ext cx="9144" cy="5829300"/>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9" name="Text 7"/>
          <p:cNvSpPr txBox="1"/>
          <p:nvPr/>
        </p:nvSpPr>
        <p:spPr>
          <a:xfrm>
            <a:off x="793242" y="1196847"/>
            <a:ext cx="3705149" cy="3813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 変数の考え方 </a:t>
            </a:r>
            <a:endParaRPr lang="en-US" sz="2400" dirty="0"/>
          </a:p>
        </p:txBody>
      </p:sp>
      <p:pic>
        <p:nvPicPr>
          <p:cNvPr id="10" name="Image 0" descr="preencoded.png"/>
          <p:cNvPicPr>
            <a:picLocks noChangeAspect="1"/>
          </p:cNvPicPr>
          <p:nvPr/>
        </p:nvPicPr>
        <p:blipFill>
          <a:blip r:embed="rId3"/>
          <a:srcRect/>
          <a:stretch/>
        </p:blipFill>
        <p:spPr>
          <a:xfrm>
            <a:off x="327045" y="1121429"/>
            <a:ext cx="340157" cy="453543"/>
          </a:xfrm>
          <a:prstGeom prst="rect">
            <a:avLst/>
          </a:prstGeom>
        </p:spPr>
      </p:pic>
      <p:sp>
        <p:nvSpPr>
          <p:cNvPr id="22" name="Shape 19"/>
          <p:cNvSpPr/>
          <p:nvPr/>
        </p:nvSpPr>
        <p:spPr>
          <a:xfrm>
            <a:off x="7539562" y="972312"/>
            <a:ext cx="4476902" cy="5829300"/>
          </a:xfrm>
          <a:prstGeom prst="rect">
            <a:avLst/>
          </a:prstGeom>
          <a:solidFill>
            <a:srgbClr val="EFF6FF">
              <a:alpha val="30000"/>
            </a:srgbClr>
          </a:solidFill>
          <a:ln w="12700">
            <a:solidFill>
              <a:srgbClr val="FFFFFF">
                <a:alpha val="0"/>
              </a:srgbClr>
            </a:solidFill>
            <a:prstDash val="solid"/>
          </a:ln>
        </p:spPr>
        <p:txBody>
          <a:bodyPr/>
          <a:lstStyle/>
          <a:p>
            <a:endParaRPr lang="ja-JP" altLang="en-US"/>
          </a:p>
        </p:txBody>
      </p:sp>
      <p:sp>
        <p:nvSpPr>
          <p:cNvPr id="23" name="Text 20"/>
          <p:cNvSpPr txBox="1"/>
          <p:nvPr/>
        </p:nvSpPr>
        <p:spPr>
          <a:xfrm>
            <a:off x="8395104" y="1314654"/>
            <a:ext cx="3715207" cy="483716"/>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 よく使う型（3選） </a:t>
            </a:r>
            <a:endParaRPr lang="en-US" sz="3200" dirty="0"/>
          </a:p>
        </p:txBody>
      </p:sp>
      <p:pic>
        <p:nvPicPr>
          <p:cNvPr id="24" name="Image 1" descr="preencoded.png"/>
          <p:cNvPicPr>
            <a:picLocks noChangeAspect="1"/>
          </p:cNvPicPr>
          <p:nvPr/>
        </p:nvPicPr>
        <p:blipFill>
          <a:blip r:embed="rId4"/>
          <a:srcRect/>
          <a:stretch/>
        </p:blipFill>
        <p:spPr>
          <a:xfrm>
            <a:off x="7812175" y="1373277"/>
            <a:ext cx="389534" cy="389534"/>
          </a:xfrm>
          <a:prstGeom prst="rect">
            <a:avLst/>
          </a:prstGeom>
        </p:spPr>
      </p:pic>
      <p:pic>
        <p:nvPicPr>
          <p:cNvPr id="25" name="Image 2" descr="preencoded.png"/>
          <p:cNvPicPr>
            <a:picLocks noChangeAspect="1"/>
          </p:cNvPicPr>
          <p:nvPr/>
        </p:nvPicPr>
        <p:blipFill>
          <a:blip r:embed="rId5"/>
          <a:srcRect l="-15" r="-15"/>
          <a:stretch/>
        </p:blipFill>
        <p:spPr>
          <a:xfrm>
            <a:off x="7706104" y="2604059"/>
            <a:ext cx="4012387" cy="1128370"/>
          </a:xfrm>
          <a:prstGeom prst="rect">
            <a:avLst/>
          </a:prstGeom>
        </p:spPr>
      </p:pic>
      <p:sp>
        <p:nvSpPr>
          <p:cNvPr id="26" name="Shape 21"/>
          <p:cNvSpPr/>
          <p:nvPr/>
        </p:nvSpPr>
        <p:spPr>
          <a:xfrm>
            <a:off x="7867953" y="2939644"/>
            <a:ext cx="457200" cy="457200"/>
          </a:xfrm>
          <a:prstGeom prst="ellipse">
            <a:avLst/>
          </a:prstGeom>
          <a:solidFill>
            <a:srgbClr val="DBEAFE"/>
          </a:solidFill>
          <a:ln w="12700">
            <a:solidFill>
              <a:srgbClr val="FFFFFF">
                <a:alpha val="0"/>
              </a:srgbClr>
            </a:solidFill>
            <a:prstDash val="solid"/>
          </a:ln>
        </p:spPr>
        <p:txBody>
          <a:bodyPr/>
          <a:lstStyle/>
          <a:p>
            <a:endParaRPr lang="ja-JP" altLang="en-US" sz="3200"/>
          </a:p>
        </p:txBody>
      </p:sp>
      <p:pic>
        <p:nvPicPr>
          <p:cNvPr id="27" name="Image 3" descr="preencoded.png"/>
          <p:cNvPicPr>
            <a:picLocks noChangeAspect="1"/>
          </p:cNvPicPr>
          <p:nvPr/>
        </p:nvPicPr>
        <p:blipFill>
          <a:blip r:embed="rId6"/>
          <a:srcRect l="-57" r="-57"/>
          <a:stretch/>
        </p:blipFill>
        <p:spPr>
          <a:xfrm>
            <a:off x="7996883" y="3053944"/>
            <a:ext cx="200254" cy="228600"/>
          </a:xfrm>
          <a:prstGeom prst="rect">
            <a:avLst/>
          </a:prstGeom>
        </p:spPr>
      </p:pic>
      <p:sp>
        <p:nvSpPr>
          <p:cNvPr id="28" name="Text 22"/>
          <p:cNvSpPr txBox="1"/>
          <p:nvPr/>
        </p:nvSpPr>
        <p:spPr>
          <a:xfrm>
            <a:off x="8439453" y="2765908"/>
            <a:ext cx="1636138" cy="193655"/>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String</a:t>
            </a:r>
            <a:endParaRPr lang="en-US" sz="2000" dirty="0"/>
          </a:p>
        </p:txBody>
      </p:sp>
      <p:sp>
        <p:nvSpPr>
          <p:cNvPr id="29" name="Shape 23"/>
          <p:cNvSpPr/>
          <p:nvPr/>
        </p:nvSpPr>
        <p:spPr>
          <a:xfrm>
            <a:off x="11047322" y="2769565"/>
            <a:ext cx="514807" cy="228600"/>
          </a:xfrm>
          <a:prstGeom prst="roundRect">
            <a:avLst>
              <a:gd name="adj" fmla="val 400000"/>
            </a:avLst>
          </a:prstGeom>
          <a:solidFill>
            <a:srgbClr val="DBEAFE"/>
          </a:solidFill>
          <a:ln w="12700">
            <a:solidFill>
              <a:srgbClr val="FFFFFF">
                <a:alpha val="0"/>
              </a:srgbClr>
            </a:solidFill>
            <a:prstDash val="solid"/>
          </a:ln>
        </p:spPr>
        <p:txBody>
          <a:bodyPr/>
          <a:lstStyle/>
          <a:p>
            <a:endParaRPr lang="ja-JP" altLang="en-US" sz="3200"/>
          </a:p>
        </p:txBody>
      </p:sp>
      <p:sp>
        <p:nvSpPr>
          <p:cNvPr id="30" name="Text 24"/>
          <p:cNvSpPr/>
          <p:nvPr/>
        </p:nvSpPr>
        <p:spPr>
          <a:xfrm>
            <a:off x="11018975" y="2769565"/>
            <a:ext cx="571500" cy="22860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400" b="1" kern="0" spc="52" dirty="0">
                <a:solidFill>
                  <a:srgbClr val="1D4ED8"/>
                </a:solidFill>
                <a:latin typeface="Noto Sans JP" pitchFamily="34" charset="0"/>
                <a:ea typeface="Noto Sans JP" pitchFamily="34" charset="-122"/>
                <a:cs typeface="Noto Sans JP" pitchFamily="34" charset="-120"/>
              </a:rPr>
              <a:t>文字</a:t>
            </a:r>
            <a:endParaRPr lang="en-US" sz="1400" dirty="0"/>
          </a:p>
        </p:txBody>
      </p:sp>
      <p:sp>
        <p:nvSpPr>
          <p:cNvPr id="31" name="Text 25"/>
          <p:cNvSpPr txBox="1"/>
          <p:nvPr/>
        </p:nvSpPr>
        <p:spPr>
          <a:xfrm>
            <a:off x="8439453" y="3021025"/>
            <a:ext cx="3314700" cy="219456"/>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名前、メッセージ、IDなど</a:t>
            </a:r>
            <a:endParaRPr lang="en-US" sz="1400" dirty="0"/>
          </a:p>
        </p:txBody>
      </p:sp>
      <p:pic>
        <p:nvPicPr>
          <p:cNvPr id="32" name="Image 4" descr="preencoded.png"/>
          <p:cNvPicPr>
            <a:picLocks noChangeAspect="1"/>
          </p:cNvPicPr>
          <p:nvPr/>
        </p:nvPicPr>
        <p:blipFill>
          <a:blip r:embed="rId5"/>
          <a:srcRect l="-15" r="-15"/>
          <a:stretch/>
        </p:blipFill>
        <p:spPr>
          <a:xfrm>
            <a:off x="7706104" y="3827526"/>
            <a:ext cx="4012387" cy="1128370"/>
          </a:xfrm>
          <a:prstGeom prst="rect">
            <a:avLst/>
          </a:prstGeom>
        </p:spPr>
      </p:pic>
      <p:sp>
        <p:nvSpPr>
          <p:cNvPr id="33" name="Shape 26"/>
          <p:cNvSpPr/>
          <p:nvPr/>
        </p:nvSpPr>
        <p:spPr>
          <a:xfrm>
            <a:off x="7867953" y="4164025"/>
            <a:ext cx="457200" cy="457200"/>
          </a:xfrm>
          <a:prstGeom prst="ellipse">
            <a:avLst/>
          </a:prstGeom>
          <a:solidFill>
            <a:srgbClr val="D1FAE5"/>
          </a:solidFill>
          <a:ln w="12700">
            <a:solidFill>
              <a:srgbClr val="FFFFFF">
                <a:alpha val="0"/>
              </a:srgbClr>
            </a:solidFill>
            <a:prstDash val="solid"/>
          </a:ln>
        </p:spPr>
        <p:txBody>
          <a:bodyPr/>
          <a:lstStyle/>
          <a:p>
            <a:endParaRPr lang="ja-JP" altLang="en-US" sz="3200"/>
          </a:p>
        </p:txBody>
      </p:sp>
      <p:pic>
        <p:nvPicPr>
          <p:cNvPr id="34" name="Image 5" descr="preencoded.png"/>
          <p:cNvPicPr>
            <a:picLocks noChangeAspect="1"/>
          </p:cNvPicPr>
          <p:nvPr/>
        </p:nvPicPr>
        <p:blipFill>
          <a:blip r:embed="rId7"/>
          <a:srcRect l="-57" r="-57"/>
          <a:stretch/>
        </p:blipFill>
        <p:spPr>
          <a:xfrm>
            <a:off x="7996883" y="4278325"/>
            <a:ext cx="200254" cy="228600"/>
          </a:xfrm>
          <a:prstGeom prst="rect">
            <a:avLst/>
          </a:prstGeom>
        </p:spPr>
      </p:pic>
      <p:sp>
        <p:nvSpPr>
          <p:cNvPr id="35" name="Text 27"/>
          <p:cNvSpPr txBox="1"/>
          <p:nvPr/>
        </p:nvSpPr>
        <p:spPr>
          <a:xfrm>
            <a:off x="8454371" y="3938418"/>
            <a:ext cx="1783417" cy="295350"/>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Integer</a:t>
            </a:r>
            <a:endParaRPr lang="en-US" sz="2000" dirty="0"/>
          </a:p>
        </p:txBody>
      </p:sp>
      <p:sp>
        <p:nvSpPr>
          <p:cNvPr id="36" name="Shape 28"/>
          <p:cNvSpPr/>
          <p:nvPr/>
        </p:nvSpPr>
        <p:spPr>
          <a:xfrm>
            <a:off x="11047322" y="3993032"/>
            <a:ext cx="514807" cy="228600"/>
          </a:xfrm>
          <a:prstGeom prst="roundRect">
            <a:avLst>
              <a:gd name="adj" fmla="val 400000"/>
            </a:avLst>
          </a:prstGeom>
          <a:solidFill>
            <a:srgbClr val="D1FAE5"/>
          </a:solidFill>
          <a:ln w="12700">
            <a:solidFill>
              <a:srgbClr val="FFFFFF">
                <a:alpha val="0"/>
              </a:srgbClr>
            </a:solidFill>
            <a:prstDash val="solid"/>
          </a:ln>
        </p:spPr>
        <p:txBody>
          <a:bodyPr/>
          <a:lstStyle/>
          <a:p>
            <a:endParaRPr lang="ja-JP" altLang="en-US" sz="3200"/>
          </a:p>
        </p:txBody>
      </p:sp>
      <p:sp>
        <p:nvSpPr>
          <p:cNvPr id="37" name="Text 29"/>
          <p:cNvSpPr/>
          <p:nvPr/>
        </p:nvSpPr>
        <p:spPr>
          <a:xfrm>
            <a:off x="10744200" y="3993032"/>
            <a:ext cx="846275" cy="19507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400" b="1" kern="0" spc="52" dirty="0">
                <a:solidFill>
                  <a:srgbClr val="047857"/>
                </a:solidFill>
                <a:latin typeface="Noto Sans JP" pitchFamily="34" charset="0"/>
                <a:ea typeface="Noto Sans JP" pitchFamily="34" charset="-122"/>
                <a:cs typeface="Noto Sans JP" pitchFamily="34" charset="-120"/>
              </a:rPr>
              <a:t>数値</a:t>
            </a:r>
            <a:endParaRPr lang="en-US" sz="1400" dirty="0"/>
          </a:p>
        </p:txBody>
      </p:sp>
      <p:sp>
        <p:nvSpPr>
          <p:cNvPr id="38" name="Text 30"/>
          <p:cNvSpPr txBox="1"/>
          <p:nvPr/>
        </p:nvSpPr>
        <p:spPr>
          <a:xfrm>
            <a:off x="8439453" y="4244492"/>
            <a:ext cx="3314700" cy="219456"/>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個数、回数、金額など（計算できる）</a:t>
            </a:r>
            <a:endParaRPr lang="en-US" sz="1400" dirty="0"/>
          </a:p>
        </p:txBody>
      </p:sp>
      <p:pic>
        <p:nvPicPr>
          <p:cNvPr id="39" name="Image 6" descr="preencoded.png"/>
          <p:cNvPicPr>
            <a:picLocks noChangeAspect="1"/>
          </p:cNvPicPr>
          <p:nvPr/>
        </p:nvPicPr>
        <p:blipFill>
          <a:blip r:embed="rId5"/>
          <a:srcRect l="-15" r="-15"/>
          <a:stretch/>
        </p:blipFill>
        <p:spPr>
          <a:xfrm>
            <a:off x="7706104" y="5051908"/>
            <a:ext cx="4012387" cy="1128370"/>
          </a:xfrm>
          <a:prstGeom prst="rect">
            <a:avLst/>
          </a:prstGeom>
        </p:spPr>
      </p:pic>
      <p:sp>
        <p:nvSpPr>
          <p:cNvPr id="40" name="Shape 31"/>
          <p:cNvSpPr/>
          <p:nvPr/>
        </p:nvSpPr>
        <p:spPr>
          <a:xfrm>
            <a:off x="7867953" y="5387492"/>
            <a:ext cx="457200" cy="457200"/>
          </a:xfrm>
          <a:prstGeom prst="ellipse">
            <a:avLst/>
          </a:prstGeom>
          <a:solidFill>
            <a:srgbClr val="EDE9FE"/>
          </a:solidFill>
          <a:ln w="12700">
            <a:solidFill>
              <a:srgbClr val="FFFFFF">
                <a:alpha val="0"/>
              </a:srgbClr>
            </a:solidFill>
            <a:prstDash val="solid"/>
          </a:ln>
        </p:spPr>
        <p:txBody>
          <a:bodyPr/>
          <a:lstStyle/>
          <a:p>
            <a:endParaRPr lang="ja-JP" altLang="en-US" sz="3200"/>
          </a:p>
        </p:txBody>
      </p:sp>
      <p:pic>
        <p:nvPicPr>
          <p:cNvPr id="41" name="Image 7" descr="preencoded.png"/>
          <p:cNvPicPr>
            <a:picLocks noChangeAspect="1"/>
          </p:cNvPicPr>
          <p:nvPr/>
        </p:nvPicPr>
        <p:blipFill>
          <a:blip r:embed="rId8"/>
          <a:srcRect t="-45" b="-45"/>
          <a:stretch/>
        </p:blipFill>
        <p:spPr>
          <a:xfrm>
            <a:off x="7967623" y="5501792"/>
            <a:ext cx="256946" cy="228600"/>
          </a:xfrm>
          <a:prstGeom prst="rect">
            <a:avLst/>
          </a:prstGeom>
        </p:spPr>
      </p:pic>
      <p:sp>
        <p:nvSpPr>
          <p:cNvPr id="42" name="Text 32"/>
          <p:cNvSpPr txBox="1"/>
          <p:nvPr/>
        </p:nvSpPr>
        <p:spPr>
          <a:xfrm>
            <a:off x="8439453" y="5213756"/>
            <a:ext cx="1636138" cy="159106"/>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Boolean</a:t>
            </a:r>
            <a:endParaRPr lang="en-US" sz="2000" dirty="0"/>
          </a:p>
        </p:txBody>
      </p:sp>
      <p:sp>
        <p:nvSpPr>
          <p:cNvPr id="43" name="Shape 33"/>
          <p:cNvSpPr/>
          <p:nvPr/>
        </p:nvSpPr>
        <p:spPr>
          <a:xfrm>
            <a:off x="10569091" y="5217414"/>
            <a:ext cx="990295" cy="228600"/>
          </a:xfrm>
          <a:prstGeom prst="roundRect">
            <a:avLst>
              <a:gd name="adj" fmla="val 400000"/>
            </a:avLst>
          </a:prstGeom>
          <a:solidFill>
            <a:srgbClr val="EDE9FE"/>
          </a:solidFill>
          <a:ln w="12700">
            <a:solidFill>
              <a:srgbClr val="FFFFFF">
                <a:alpha val="0"/>
              </a:srgbClr>
            </a:solidFill>
            <a:prstDash val="solid"/>
          </a:ln>
        </p:spPr>
        <p:txBody>
          <a:bodyPr/>
          <a:lstStyle/>
          <a:p>
            <a:endParaRPr lang="ja-JP" altLang="en-US" sz="3200"/>
          </a:p>
        </p:txBody>
      </p:sp>
      <p:sp>
        <p:nvSpPr>
          <p:cNvPr id="44" name="Text 34"/>
          <p:cNvSpPr/>
          <p:nvPr/>
        </p:nvSpPr>
        <p:spPr>
          <a:xfrm>
            <a:off x="10237788" y="5217414"/>
            <a:ext cx="1350858" cy="19507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400" b="1" kern="0" spc="52" dirty="0">
                <a:solidFill>
                  <a:srgbClr val="6D28D9"/>
                </a:solidFill>
                <a:latin typeface="Noto Sans JP" pitchFamily="34" charset="0"/>
                <a:ea typeface="Noto Sans JP" pitchFamily="34" charset="-122"/>
                <a:cs typeface="Noto Sans JP" pitchFamily="34" charset="-120"/>
              </a:rPr>
              <a:t>はい/いいえ</a:t>
            </a:r>
            <a:endParaRPr lang="en-US" sz="1400" dirty="0"/>
          </a:p>
        </p:txBody>
      </p:sp>
      <p:sp>
        <p:nvSpPr>
          <p:cNvPr id="45" name="Text 35"/>
          <p:cNvSpPr txBox="1"/>
          <p:nvPr/>
        </p:nvSpPr>
        <p:spPr>
          <a:xfrm>
            <a:off x="8439453" y="5468874"/>
            <a:ext cx="3314700" cy="219456"/>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真偽値、スイッチの状態など</a:t>
            </a:r>
            <a:endParaRPr lang="en-US" sz="1400" dirty="0"/>
          </a:p>
        </p:txBody>
      </p:sp>
      <p:sp>
        <p:nvSpPr>
          <p:cNvPr id="11" name="Shape 8"/>
          <p:cNvSpPr/>
          <p:nvPr/>
        </p:nvSpPr>
        <p:spPr>
          <a:xfrm>
            <a:off x="331596" y="4079488"/>
            <a:ext cx="4009644" cy="780898"/>
          </a:xfrm>
          <a:prstGeom prst="roundRect">
            <a:avLst>
              <a:gd name="adj" fmla="val 34272"/>
            </a:avLst>
          </a:prstGeom>
          <a:solidFill>
            <a:srgbClr val="EFF6FF"/>
          </a:solidFill>
          <a:ln/>
        </p:spPr>
        <p:txBody>
          <a:bodyPr/>
          <a:lstStyle/>
          <a:p>
            <a:endParaRPr lang="ja-JP" altLang="en-US" sz="2400"/>
          </a:p>
        </p:txBody>
      </p:sp>
      <p:sp>
        <p:nvSpPr>
          <p:cNvPr id="12" name="Shape 9"/>
          <p:cNvSpPr/>
          <p:nvPr/>
        </p:nvSpPr>
        <p:spPr>
          <a:xfrm>
            <a:off x="331596" y="4079488"/>
            <a:ext cx="38405" cy="780898"/>
          </a:xfrm>
          <a:prstGeom prst="roundRect">
            <a:avLst>
              <a:gd name="adj" fmla="val 696860"/>
            </a:avLst>
          </a:prstGeom>
          <a:solidFill>
            <a:srgbClr val="3B82F6"/>
          </a:solidFill>
          <a:ln w="12700">
            <a:solidFill>
              <a:srgbClr val="3B82F6">
                <a:alpha val="0"/>
              </a:srgbClr>
            </a:solidFill>
            <a:prstDash val="solid"/>
          </a:ln>
        </p:spPr>
        <p:txBody>
          <a:bodyPr/>
          <a:lstStyle/>
          <a:p>
            <a:endParaRPr lang="ja-JP" altLang="en-US" sz="2400"/>
          </a:p>
        </p:txBody>
      </p:sp>
      <p:sp>
        <p:nvSpPr>
          <p:cNvPr id="13" name="Text 10"/>
          <p:cNvSpPr txBox="1"/>
          <p:nvPr/>
        </p:nvSpPr>
        <p:spPr>
          <a:xfrm>
            <a:off x="855547" y="4232193"/>
            <a:ext cx="2848356"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値を一時的に置いておく箱</a:t>
            </a:r>
            <a:endParaRPr lang="en-US" dirty="0"/>
          </a:p>
        </p:txBody>
      </p:sp>
      <p:sp>
        <p:nvSpPr>
          <p:cNvPr id="14" name="Text 11"/>
          <p:cNvSpPr txBox="1"/>
          <p:nvPr/>
        </p:nvSpPr>
        <p:spPr>
          <a:xfrm>
            <a:off x="864691" y="4561979"/>
            <a:ext cx="2848356" cy="219456"/>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計算結果やデータを一時保管する場所です。</a:t>
            </a:r>
            <a:endParaRPr lang="en-US" sz="1100" dirty="0"/>
          </a:p>
        </p:txBody>
      </p:sp>
      <p:sp>
        <p:nvSpPr>
          <p:cNvPr id="15" name="Shape 12"/>
          <p:cNvSpPr/>
          <p:nvPr/>
        </p:nvSpPr>
        <p:spPr>
          <a:xfrm>
            <a:off x="331596" y="4951825"/>
            <a:ext cx="4009644" cy="780898"/>
          </a:xfrm>
          <a:prstGeom prst="roundRect">
            <a:avLst>
              <a:gd name="adj" fmla="val 34272"/>
            </a:avLst>
          </a:prstGeom>
          <a:solidFill>
            <a:srgbClr val="ECFDF5"/>
          </a:solidFill>
          <a:ln/>
        </p:spPr>
        <p:txBody>
          <a:bodyPr/>
          <a:lstStyle/>
          <a:p>
            <a:endParaRPr lang="ja-JP" altLang="en-US" sz="2400"/>
          </a:p>
        </p:txBody>
      </p:sp>
      <p:sp>
        <p:nvSpPr>
          <p:cNvPr id="16" name="Shape 13"/>
          <p:cNvSpPr/>
          <p:nvPr/>
        </p:nvSpPr>
        <p:spPr>
          <a:xfrm>
            <a:off x="331596" y="4951825"/>
            <a:ext cx="38405" cy="780898"/>
          </a:xfrm>
          <a:prstGeom prst="roundRect">
            <a:avLst>
              <a:gd name="adj" fmla="val 696860"/>
            </a:avLst>
          </a:prstGeom>
          <a:solidFill>
            <a:srgbClr val="10B981"/>
          </a:solidFill>
          <a:ln w="12700">
            <a:solidFill>
              <a:srgbClr val="10B981">
                <a:alpha val="0"/>
              </a:srgbClr>
            </a:solidFill>
            <a:prstDash val="solid"/>
          </a:ln>
        </p:spPr>
        <p:txBody>
          <a:bodyPr/>
          <a:lstStyle/>
          <a:p>
            <a:endParaRPr lang="ja-JP" altLang="en-US" sz="2400"/>
          </a:p>
        </p:txBody>
      </p:sp>
      <p:sp>
        <p:nvSpPr>
          <p:cNvPr id="17" name="Text 14"/>
          <p:cNvSpPr txBox="1"/>
          <p:nvPr/>
        </p:nvSpPr>
        <p:spPr>
          <a:xfrm>
            <a:off x="855547" y="5103616"/>
            <a:ext cx="3380664"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5"/>
          <p:cNvSpPr txBox="1"/>
          <p:nvPr/>
        </p:nvSpPr>
        <p:spPr>
          <a:xfrm>
            <a:off x="864691" y="5434590"/>
            <a:ext cx="2991002" cy="219456"/>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難しいコードは不要。箱に名前をつけるだけ！</a:t>
            </a:r>
            <a:endParaRPr lang="en-US" sz="1100" dirty="0"/>
          </a:p>
        </p:txBody>
      </p:sp>
      <p:sp>
        <p:nvSpPr>
          <p:cNvPr id="19" name="Shape 16"/>
          <p:cNvSpPr/>
          <p:nvPr/>
        </p:nvSpPr>
        <p:spPr>
          <a:xfrm>
            <a:off x="331596" y="5823249"/>
            <a:ext cx="38405" cy="780898"/>
          </a:xfrm>
          <a:prstGeom prst="roundRect">
            <a:avLst>
              <a:gd name="adj" fmla="val 696860"/>
            </a:avLst>
          </a:prstGeom>
          <a:solidFill>
            <a:srgbClr val="E5E7EB"/>
          </a:solidFill>
          <a:ln w="12700">
            <a:solidFill>
              <a:srgbClr val="E5E7EB">
                <a:alpha val="0"/>
              </a:srgbClr>
            </a:solidFill>
            <a:prstDash val="solid"/>
          </a:ln>
        </p:spPr>
        <p:txBody>
          <a:bodyPr/>
          <a:lstStyle/>
          <a:p>
            <a:endParaRPr lang="ja-JP" altLang="en-US" sz="2400"/>
          </a:p>
        </p:txBody>
      </p:sp>
      <p:pic>
        <p:nvPicPr>
          <p:cNvPr id="46" name="Image 8" descr="preencoded.png"/>
          <p:cNvPicPr>
            <a:picLocks noChangeAspect="1"/>
          </p:cNvPicPr>
          <p:nvPr/>
        </p:nvPicPr>
        <p:blipFill>
          <a:blip r:embed="rId9"/>
          <a:srcRect l="-1064" r="-1064"/>
          <a:stretch/>
        </p:blipFill>
        <p:spPr>
          <a:xfrm>
            <a:off x="521791" y="4282485"/>
            <a:ext cx="219456" cy="171907"/>
          </a:xfrm>
          <a:prstGeom prst="rect">
            <a:avLst/>
          </a:prstGeom>
        </p:spPr>
      </p:pic>
      <p:pic>
        <p:nvPicPr>
          <p:cNvPr id="47" name="Image 9" descr="preencoded.png"/>
          <p:cNvPicPr>
            <a:picLocks noChangeAspect="1"/>
          </p:cNvPicPr>
          <p:nvPr/>
        </p:nvPicPr>
        <p:blipFill>
          <a:blip r:embed="rId10"/>
          <a:srcRect l="-1064" r="-1064"/>
          <a:stretch/>
        </p:blipFill>
        <p:spPr>
          <a:xfrm>
            <a:off x="521791" y="5153908"/>
            <a:ext cx="219456" cy="171907"/>
          </a:xfrm>
          <a:prstGeom prst="rect">
            <a:avLst/>
          </a:prstGeom>
        </p:spPr>
      </p:pic>
      <p:pic>
        <p:nvPicPr>
          <p:cNvPr id="48" name="Image 10" descr="preencoded.png"/>
          <p:cNvPicPr>
            <a:picLocks noChangeAspect="1"/>
          </p:cNvPicPr>
          <p:nvPr/>
        </p:nvPicPr>
        <p:blipFill>
          <a:blip r:embed="rId11"/>
          <a:srcRect/>
          <a:stretch/>
        </p:blipFill>
        <p:spPr>
          <a:xfrm>
            <a:off x="521791" y="6025331"/>
            <a:ext cx="171907" cy="171907"/>
          </a:xfrm>
          <a:prstGeom prst="rect">
            <a:avLst/>
          </a:prstGeom>
        </p:spPr>
      </p:pic>
      <p:sp>
        <p:nvSpPr>
          <p:cNvPr id="49" name="Shape 36"/>
          <p:cNvSpPr/>
          <p:nvPr/>
        </p:nvSpPr>
        <p:spPr>
          <a:xfrm>
            <a:off x="8439453" y="3275228"/>
            <a:ext cx="1742846" cy="295351"/>
          </a:xfrm>
          <a:prstGeom prst="roundRect">
            <a:avLst>
              <a:gd name="adj" fmla="val 79896"/>
            </a:avLst>
          </a:prstGeom>
          <a:solidFill>
            <a:srgbClr val="F9FAFB"/>
          </a:solidFill>
          <a:ln w="12700">
            <a:solidFill>
              <a:srgbClr val="E5E7EB"/>
            </a:solidFill>
            <a:prstDash val="solid"/>
          </a:ln>
        </p:spPr>
        <p:txBody>
          <a:bodyPr/>
          <a:lstStyle/>
          <a:p>
            <a:endParaRPr lang="ja-JP" altLang="en-US" sz="3200"/>
          </a:p>
        </p:txBody>
      </p:sp>
      <p:sp>
        <p:nvSpPr>
          <p:cNvPr id="50" name="Text 37"/>
          <p:cNvSpPr txBox="1"/>
          <p:nvPr/>
        </p:nvSpPr>
        <p:spPr>
          <a:xfrm>
            <a:off x="8439453" y="3275229"/>
            <a:ext cx="2494942" cy="286162"/>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1400" dirty="0">
                <a:solidFill>
                  <a:srgbClr val="4B5563"/>
                </a:solidFill>
                <a:latin typeface="ui-monospace" pitchFamily="34" charset="0"/>
                <a:ea typeface="ui-monospace" pitchFamily="34" charset="-122"/>
                <a:cs typeface="ui-monospace" pitchFamily="34" charset="-120"/>
              </a:rPr>
              <a:t>"PA45、はじめまして！"</a:t>
            </a:r>
            <a:endParaRPr lang="en-US" sz="1400" dirty="0"/>
          </a:p>
        </p:txBody>
      </p:sp>
      <p:sp>
        <p:nvSpPr>
          <p:cNvPr id="51" name="Shape 38"/>
          <p:cNvSpPr/>
          <p:nvPr/>
        </p:nvSpPr>
        <p:spPr>
          <a:xfrm>
            <a:off x="8439453" y="4499610"/>
            <a:ext cx="1057046" cy="295351"/>
          </a:xfrm>
          <a:prstGeom prst="roundRect">
            <a:avLst>
              <a:gd name="adj" fmla="val 79896"/>
            </a:avLst>
          </a:prstGeom>
          <a:solidFill>
            <a:srgbClr val="F9FAFB"/>
          </a:solidFill>
          <a:ln w="12700">
            <a:solidFill>
              <a:srgbClr val="E5E7EB"/>
            </a:solidFill>
            <a:prstDash val="solid"/>
          </a:ln>
        </p:spPr>
        <p:txBody>
          <a:bodyPr/>
          <a:lstStyle/>
          <a:p>
            <a:endParaRPr lang="ja-JP" altLang="en-US" sz="3200"/>
          </a:p>
        </p:txBody>
      </p:sp>
      <p:sp>
        <p:nvSpPr>
          <p:cNvPr id="52" name="Text 39"/>
          <p:cNvSpPr txBox="1"/>
          <p:nvPr/>
        </p:nvSpPr>
        <p:spPr>
          <a:xfrm>
            <a:off x="8439453" y="4499610"/>
            <a:ext cx="1114654"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1400" dirty="0">
                <a:solidFill>
                  <a:srgbClr val="4B5563"/>
                </a:solidFill>
                <a:latin typeface="ui-monospace" pitchFamily="34" charset="0"/>
                <a:ea typeface="ui-monospace" pitchFamily="34" charset="-122"/>
                <a:cs typeface="ui-monospace" pitchFamily="34" charset="-120"/>
              </a:rPr>
              <a:t>10, 500, -1</a:t>
            </a:r>
            <a:endParaRPr lang="en-US" sz="1400" dirty="0"/>
          </a:p>
        </p:txBody>
      </p:sp>
      <p:sp>
        <p:nvSpPr>
          <p:cNvPr id="53" name="Shape 40"/>
          <p:cNvSpPr/>
          <p:nvPr/>
        </p:nvSpPr>
        <p:spPr>
          <a:xfrm>
            <a:off x="8439453" y="5723077"/>
            <a:ext cx="1133856" cy="295351"/>
          </a:xfrm>
          <a:prstGeom prst="roundRect">
            <a:avLst>
              <a:gd name="adj" fmla="val 79896"/>
            </a:avLst>
          </a:prstGeom>
          <a:solidFill>
            <a:srgbClr val="F9FAFB"/>
          </a:solidFill>
          <a:ln w="12700">
            <a:solidFill>
              <a:srgbClr val="E5E7EB"/>
            </a:solidFill>
            <a:prstDash val="solid"/>
          </a:ln>
        </p:spPr>
        <p:txBody>
          <a:bodyPr/>
          <a:lstStyle/>
          <a:p>
            <a:endParaRPr lang="ja-JP" altLang="en-US" sz="3200"/>
          </a:p>
        </p:txBody>
      </p:sp>
      <p:sp>
        <p:nvSpPr>
          <p:cNvPr id="54" name="Text 41"/>
          <p:cNvSpPr txBox="1"/>
          <p:nvPr/>
        </p:nvSpPr>
        <p:spPr>
          <a:xfrm>
            <a:off x="8439453" y="5723077"/>
            <a:ext cx="1191463"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1400" dirty="0">
                <a:solidFill>
                  <a:srgbClr val="4B5563"/>
                </a:solidFill>
                <a:latin typeface="ui-monospace" pitchFamily="34" charset="0"/>
                <a:ea typeface="ui-monospace" pitchFamily="34" charset="-122"/>
                <a:cs typeface="ui-monospace" pitchFamily="34" charset="-120"/>
              </a:rPr>
              <a:t>true / false</a:t>
            </a:r>
            <a:endParaRPr lang="en-US" sz="1400" dirty="0"/>
          </a:p>
        </p:txBody>
      </p:sp>
      <p:pic>
        <p:nvPicPr>
          <p:cNvPr id="55" name="Image 11" descr="preencoded.png"/>
          <p:cNvPicPr>
            <a:picLocks noChangeAspect="1"/>
          </p:cNvPicPr>
          <p:nvPr/>
        </p:nvPicPr>
        <p:blipFill>
          <a:blip r:embed="rId12"/>
          <a:srcRect l="-6" r="-6"/>
          <a:stretch/>
        </p:blipFill>
        <p:spPr>
          <a:xfrm>
            <a:off x="437847" y="2131466"/>
            <a:ext cx="4060543" cy="1693628"/>
          </a:xfrm>
          <a:prstGeom prst="rect">
            <a:avLst/>
          </a:prstGeom>
        </p:spPr>
      </p:pic>
      <p:sp>
        <p:nvSpPr>
          <p:cNvPr id="56" name="Shape 42"/>
          <p:cNvSpPr/>
          <p:nvPr/>
        </p:nvSpPr>
        <p:spPr>
          <a:xfrm>
            <a:off x="2413889" y="1901786"/>
            <a:ext cx="1417320" cy="114300"/>
          </a:xfrm>
          <a:prstGeom prst="roundRect">
            <a:avLst>
              <a:gd name="adj" fmla="val 533333"/>
            </a:avLst>
          </a:prstGeom>
          <a:solidFill>
            <a:srgbClr val="005A9E"/>
          </a:solidFill>
          <a:ln w="12700">
            <a:solidFill>
              <a:srgbClr val="FFFFFF">
                <a:alpha val="0"/>
              </a:srgbClr>
            </a:solidFill>
            <a:prstDash val="solid"/>
          </a:ln>
        </p:spPr>
        <p:txBody>
          <a:bodyPr/>
          <a:lstStyle/>
          <a:p>
            <a:endParaRPr lang="ja-JP" altLang="en-US"/>
          </a:p>
        </p:txBody>
      </p:sp>
      <p:pic>
        <p:nvPicPr>
          <p:cNvPr id="57" name="Image 12" descr="preencoded.png"/>
          <p:cNvPicPr>
            <a:picLocks noChangeAspect="1"/>
          </p:cNvPicPr>
          <p:nvPr/>
        </p:nvPicPr>
        <p:blipFill>
          <a:blip r:embed="rId13"/>
          <a:srcRect l="-272" r="-272"/>
          <a:stretch/>
        </p:blipFill>
        <p:spPr>
          <a:xfrm>
            <a:off x="341811" y="1694612"/>
            <a:ext cx="2102939" cy="495775"/>
          </a:xfrm>
          <a:prstGeom prst="rect">
            <a:avLst/>
          </a:prstGeom>
        </p:spPr>
      </p:pic>
      <p:sp>
        <p:nvSpPr>
          <p:cNvPr id="58" name="Text 43"/>
          <p:cNvSpPr txBox="1"/>
          <p:nvPr/>
        </p:nvSpPr>
        <p:spPr>
          <a:xfrm>
            <a:off x="457200" y="1815084"/>
            <a:ext cx="2685593" cy="323850"/>
          </a:xfrm>
          <a:prstGeom prst="rect">
            <a:avLst/>
          </a:prstGeom>
          <a:noFill/>
          <a:ln/>
        </p:spPr>
        <p:txBody>
          <a:bodyPr wrap="square" lIns="0" tIns="0" rIns="0" bIns="0" rtlCol="0" anchor="t"/>
          <a:lstStyle/>
          <a:p>
            <a:pPr marL="0" indent="0" algn="l">
              <a:buNone/>
            </a:pPr>
            <a:r>
              <a:rPr lang="en-US" sz="2000" b="1" dirty="0">
                <a:solidFill>
                  <a:srgbClr val="FFFFFF"/>
                </a:solidFill>
                <a:latin typeface="Noto Sans JP" pitchFamily="34" charset="0"/>
                <a:ea typeface="Noto Sans JP" pitchFamily="34" charset="-122"/>
                <a:cs typeface="Noto Sans JP" pitchFamily="34" charset="-120"/>
              </a:rPr>
              <a:t>変数 (Variable)</a:t>
            </a:r>
            <a:endParaRPr lang="en-US" sz="2000" dirty="0"/>
          </a:p>
        </p:txBody>
      </p:sp>
      <p:sp>
        <p:nvSpPr>
          <p:cNvPr id="59" name="Text 44"/>
          <p:cNvSpPr txBox="1"/>
          <p:nvPr/>
        </p:nvSpPr>
        <p:spPr>
          <a:xfrm>
            <a:off x="1078078" y="2312518"/>
            <a:ext cx="2304288" cy="152705"/>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値の保管場所</a:t>
            </a:r>
            <a:endParaRPr lang="en-US" sz="2400" dirty="0"/>
          </a:p>
        </p:txBody>
      </p:sp>
      <p:grpSp>
        <p:nvGrpSpPr>
          <p:cNvPr id="95" name="グループ化 94">
            <a:extLst>
              <a:ext uri="{FF2B5EF4-FFF2-40B4-BE49-F238E27FC236}">
                <a16:creationId xmlns:a16="http://schemas.microsoft.com/office/drawing/2014/main" id="{AC9D6A09-CDC7-7A9A-2157-83B23DB879BC}"/>
              </a:ext>
            </a:extLst>
          </p:cNvPr>
          <p:cNvGrpSpPr/>
          <p:nvPr/>
        </p:nvGrpSpPr>
        <p:grpSpPr>
          <a:xfrm>
            <a:off x="688973" y="2593140"/>
            <a:ext cx="3237966" cy="1000353"/>
            <a:chOff x="1152505" y="2502713"/>
            <a:chExt cx="2143907" cy="819302"/>
          </a:xfrm>
        </p:grpSpPr>
        <p:pic>
          <p:nvPicPr>
            <p:cNvPr id="60" name="Image 13" descr="preencoded.png"/>
            <p:cNvPicPr>
              <a:picLocks noChangeAspect="1"/>
            </p:cNvPicPr>
            <p:nvPr/>
          </p:nvPicPr>
          <p:blipFill>
            <a:blip r:embed="rId14"/>
            <a:srcRect t="-38" b="-38"/>
            <a:stretch/>
          </p:blipFill>
          <p:spPr>
            <a:xfrm>
              <a:off x="1163117" y="2502713"/>
              <a:ext cx="2133295" cy="247802"/>
            </a:xfrm>
            <a:prstGeom prst="rect">
              <a:avLst/>
            </a:prstGeom>
          </p:spPr>
        </p:pic>
        <p:sp>
          <p:nvSpPr>
            <p:cNvPr id="61" name="Text 45"/>
            <p:cNvSpPr txBox="1"/>
            <p:nvPr/>
          </p:nvSpPr>
          <p:spPr>
            <a:xfrm>
              <a:off x="1210666" y="2550262"/>
              <a:ext cx="1116628" cy="152705"/>
            </a:xfrm>
            <a:prstGeom prst="rect">
              <a:avLst/>
            </a:prstGeom>
            <a:noFill/>
            <a:ln/>
          </p:spPr>
          <p:txBody>
            <a:bodyPr wrap="square" lIns="0" tIns="0" rIns="0" bIns="0" rtlCol="0" anchor="ctr"/>
            <a:lstStyle/>
            <a:p>
              <a:pPr marL="0" indent="0" algn="ctr">
                <a:buNone/>
              </a:pPr>
              <a:r>
                <a:rPr lang="en-US" sz="2000" dirty="0">
                  <a:solidFill>
                    <a:srgbClr val="1E40AF"/>
                  </a:solidFill>
                  <a:latin typeface="ui-monospace" pitchFamily="34" charset="0"/>
                  <a:ea typeface="ui-monospace" pitchFamily="34" charset="-122"/>
                  <a:cs typeface="ui-monospace" pitchFamily="34" charset="-120"/>
                </a:rPr>
                <a:t>message</a:t>
              </a:r>
              <a:endParaRPr lang="en-US" sz="2000" dirty="0"/>
            </a:p>
          </p:txBody>
        </p:sp>
        <p:sp>
          <p:nvSpPr>
            <p:cNvPr id="62" name="Text 46"/>
            <p:cNvSpPr txBox="1"/>
            <p:nvPr/>
          </p:nvSpPr>
          <p:spPr>
            <a:xfrm>
              <a:off x="2327294" y="2577898"/>
              <a:ext cx="929799" cy="125068"/>
            </a:xfrm>
            <a:prstGeom prst="rect">
              <a:avLst/>
            </a:prstGeom>
            <a:noFill/>
            <a:ln/>
          </p:spPr>
          <p:txBody>
            <a:bodyPr wrap="square" lIns="0" tIns="0" rIns="0" bIns="0" rtlCol="0" anchor="ctr"/>
            <a:lstStyle/>
            <a:p>
              <a:pPr marL="0" indent="0" algn="ctr">
                <a:buNone/>
              </a:pPr>
              <a:r>
                <a:rPr lang="en-US" sz="2000" b="1" dirty="0">
                  <a:solidFill>
                    <a:srgbClr val="1E40AF"/>
                  </a:solidFill>
                  <a:latin typeface="ui-monospace" pitchFamily="34" charset="0"/>
                  <a:ea typeface="ui-monospace" pitchFamily="34" charset="-122"/>
                  <a:cs typeface="ui-monospace" pitchFamily="34" charset="-120"/>
                </a:rPr>
                <a:t>"PA45"</a:t>
              </a:r>
              <a:endParaRPr lang="en-US" sz="2000" dirty="0"/>
            </a:p>
          </p:txBody>
        </p:sp>
        <p:pic>
          <p:nvPicPr>
            <p:cNvPr id="63" name="Image 14" descr="preencoded.png"/>
            <p:cNvPicPr>
              <a:picLocks noChangeAspect="1"/>
            </p:cNvPicPr>
            <p:nvPr/>
          </p:nvPicPr>
          <p:blipFill>
            <a:blip r:embed="rId15"/>
            <a:srcRect t="-38" b="-38"/>
            <a:stretch/>
          </p:blipFill>
          <p:spPr>
            <a:xfrm>
              <a:off x="1163117" y="2788006"/>
              <a:ext cx="2133295" cy="247802"/>
            </a:xfrm>
            <a:prstGeom prst="rect">
              <a:avLst/>
            </a:prstGeom>
          </p:spPr>
        </p:pic>
        <p:sp>
          <p:nvSpPr>
            <p:cNvPr id="64" name="Text 47"/>
            <p:cNvSpPr txBox="1"/>
            <p:nvPr/>
          </p:nvSpPr>
          <p:spPr>
            <a:xfrm>
              <a:off x="1210666" y="2836469"/>
              <a:ext cx="1074167" cy="181618"/>
            </a:xfrm>
            <a:prstGeom prst="rect">
              <a:avLst/>
            </a:prstGeom>
            <a:noFill/>
            <a:ln/>
          </p:spPr>
          <p:txBody>
            <a:bodyPr wrap="square" lIns="0" tIns="0" rIns="0" bIns="0" rtlCol="0" anchor="ctr"/>
            <a:lstStyle/>
            <a:p>
              <a:pPr marL="0" indent="0" algn="ctr">
                <a:buNone/>
              </a:pPr>
              <a:r>
                <a:rPr lang="en-US" sz="2000" dirty="0">
                  <a:solidFill>
                    <a:srgbClr val="065F46"/>
                  </a:solidFill>
                  <a:latin typeface="ui-monospace" pitchFamily="34" charset="0"/>
                  <a:ea typeface="ui-monospace" pitchFamily="34" charset="-122"/>
                  <a:cs typeface="ui-monospace" pitchFamily="34" charset="-120"/>
                </a:rPr>
                <a:t>count</a:t>
              </a:r>
              <a:endParaRPr lang="en-US" sz="2000" dirty="0"/>
            </a:p>
          </p:txBody>
        </p:sp>
        <p:sp>
          <p:nvSpPr>
            <p:cNvPr id="65" name="Text 48"/>
            <p:cNvSpPr txBox="1"/>
            <p:nvPr/>
          </p:nvSpPr>
          <p:spPr>
            <a:xfrm>
              <a:off x="2726147" y="2839926"/>
              <a:ext cx="152705" cy="152705"/>
            </a:xfrm>
            <a:prstGeom prst="rect">
              <a:avLst/>
            </a:prstGeom>
            <a:noFill/>
            <a:ln/>
          </p:spPr>
          <p:txBody>
            <a:bodyPr wrap="square" lIns="0" tIns="0" rIns="0" bIns="0" rtlCol="0" anchor="ctr"/>
            <a:lstStyle/>
            <a:p>
              <a:pPr marL="0" indent="0" algn="ctr">
                <a:buNone/>
              </a:pPr>
              <a:r>
                <a:rPr lang="en-US" sz="2000" b="1" dirty="0">
                  <a:solidFill>
                    <a:srgbClr val="065F46"/>
                  </a:solidFill>
                  <a:latin typeface="ui-monospace" pitchFamily="34" charset="0"/>
                  <a:ea typeface="ui-monospace" pitchFamily="34" charset="-122"/>
                  <a:cs typeface="ui-monospace" pitchFamily="34" charset="-120"/>
                </a:rPr>
                <a:t>1</a:t>
              </a:r>
              <a:endParaRPr lang="en-US" sz="2000" dirty="0"/>
            </a:p>
          </p:txBody>
        </p:sp>
        <p:pic>
          <p:nvPicPr>
            <p:cNvPr id="66" name="Image 15" descr="preencoded.png"/>
            <p:cNvPicPr>
              <a:picLocks noChangeAspect="1"/>
            </p:cNvPicPr>
            <p:nvPr/>
          </p:nvPicPr>
          <p:blipFill>
            <a:blip r:embed="rId16"/>
            <a:srcRect t="-38" b="-38"/>
            <a:stretch/>
          </p:blipFill>
          <p:spPr>
            <a:xfrm>
              <a:off x="1163117" y="3074213"/>
              <a:ext cx="2133295" cy="247802"/>
            </a:xfrm>
            <a:prstGeom prst="rect">
              <a:avLst/>
            </a:prstGeom>
          </p:spPr>
        </p:pic>
        <p:sp>
          <p:nvSpPr>
            <p:cNvPr id="67" name="Text 49"/>
            <p:cNvSpPr txBox="1"/>
            <p:nvPr/>
          </p:nvSpPr>
          <p:spPr>
            <a:xfrm>
              <a:off x="1152505" y="3080961"/>
              <a:ext cx="1307254" cy="223470"/>
            </a:xfrm>
            <a:prstGeom prst="rect">
              <a:avLst/>
            </a:prstGeom>
            <a:noFill/>
            <a:ln/>
          </p:spPr>
          <p:txBody>
            <a:bodyPr wrap="square" lIns="0" tIns="0" rIns="0" bIns="0" rtlCol="0" anchor="ctr"/>
            <a:lstStyle/>
            <a:p>
              <a:pPr marL="0" indent="0" algn="ctr">
                <a:buNone/>
              </a:pPr>
              <a:r>
                <a:rPr lang="en-US" sz="2000" dirty="0">
                  <a:solidFill>
                    <a:srgbClr val="5B21B6"/>
                  </a:solidFill>
                  <a:latin typeface="ui-monospace" pitchFamily="34" charset="0"/>
                  <a:ea typeface="ui-monospace" pitchFamily="34" charset="-122"/>
                  <a:cs typeface="ui-monospace" pitchFamily="34" charset="-120"/>
                </a:rPr>
                <a:t>isActive</a:t>
              </a:r>
              <a:endParaRPr lang="en-US" sz="2000" dirty="0"/>
            </a:p>
          </p:txBody>
        </p:sp>
        <p:sp>
          <p:nvSpPr>
            <p:cNvPr id="68" name="Text 50"/>
            <p:cNvSpPr txBox="1"/>
            <p:nvPr/>
          </p:nvSpPr>
          <p:spPr>
            <a:xfrm>
              <a:off x="2536083" y="3116068"/>
              <a:ext cx="715523" cy="158399"/>
            </a:xfrm>
            <a:prstGeom prst="rect">
              <a:avLst/>
            </a:prstGeom>
            <a:noFill/>
            <a:ln/>
          </p:spPr>
          <p:txBody>
            <a:bodyPr wrap="square" lIns="0" tIns="0" rIns="0" bIns="0" rtlCol="0" anchor="ctr"/>
            <a:lstStyle/>
            <a:p>
              <a:pPr marL="0" indent="0" algn="ctr">
                <a:buNone/>
              </a:pPr>
              <a:r>
                <a:rPr lang="en-US" sz="2000" b="1" dirty="0">
                  <a:solidFill>
                    <a:srgbClr val="5B21B6"/>
                  </a:solidFill>
                  <a:latin typeface="ui-monospace" pitchFamily="34" charset="0"/>
                  <a:ea typeface="ui-monospace" pitchFamily="34" charset="-122"/>
                  <a:cs typeface="ui-monospace" pitchFamily="34" charset="-120"/>
                </a:rPr>
                <a:t>true</a:t>
              </a:r>
              <a:endParaRPr lang="en-US" sz="2000" dirty="0"/>
            </a:p>
          </p:txBody>
        </p:sp>
      </p:grpSp>
      <p:pic>
        <p:nvPicPr>
          <p:cNvPr id="69" name="Image 16" descr="preencoded.png"/>
          <p:cNvPicPr>
            <a:picLocks noChangeAspect="1"/>
          </p:cNvPicPr>
          <p:nvPr/>
        </p:nvPicPr>
        <p:blipFill>
          <a:blip r:embed="rId17"/>
          <a:srcRect t="-530" b="-530"/>
          <a:stretch/>
        </p:blipFill>
        <p:spPr>
          <a:xfrm>
            <a:off x="4687523" y="2639460"/>
            <a:ext cx="247802" cy="286207"/>
          </a:xfrm>
          <a:prstGeom prst="rect">
            <a:avLst/>
          </a:prstGeom>
        </p:spPr>
      </p:pic>
      <p:sp>
        <p:nvSpPr>
          <p:cNvPr id="70" name="Shape 51"/>
          <p:cNvSpPr/>
          <p:nvPr/>
        </p:nvSpPr>
        <p:spPr>
          <a:xfrm>
            <a:off x="391607" y="5809158"/>
            <a:ext cx="4716733" cy="834012"/>
          </a:xfrm>
          <a:prstGeom prst="roundRect">
            <a:avLst>
              <a:gd name="adj" fmla="val 19731"/>
            </a:avLst>
          </a:prstGeom>
          <a:solidFill>
            <a:srgbClr val="F3F4F6"/>
          </a:solidFill>
          <a:ln w="12700">
            <a:solidFill>
              <a:srgbClr val="E5E7EB"/>
            </a:solidFill>
            <a:prstDash val="solid"/>
          </a:ln>
        </p:spPr>
        <p:txBody>
          <a:bodyPr/>
          <a:lstStyle/>
          <a:p>
            <a:endParaRPr lang="ja-JP" altLang="en-US"/>
          </a:p>
        </p:txBody>
      </p:sp>
      <p:sp>
        <p:nvSpPr>
          <p:cNvPr id="73" name="Shape 54"/>
          <p:cNvSpPr/>
          <p:nvPr/>
        </p:nvSpPr>
        <p:spPr>
          <a:xfrm>
            <a:off x="0" y="0"/>
            <a:ext cx="12191695" cy="1028700"/>
          </a:xfrm>
          <a:prstGeom prst="rect">
            <a:avLst/>
          </a:prstGeom>
          <a:solidFill>
            <a:srgbClr val="FFFFFF"/>
          </a:solidFill>
          <a:ln/>
        </p:spPr>
        <p:txBody>
          <a:bodyPr/>
          <a:lstStyle/>
          <a:p>
            <a:endParaRPr lang="ja-JP" altLang="en-US"/>
          </a:p>
        </p:txBody>
      </p:sp>
      <p:sp>
        <p:nvSpPr>
          <p:cNvPr id="74" name="Shape 55"/>
          <p:cNvSpPr/>
          <p:nvPr/>
        </p:nvSpPr>
        <p:spPr>
          <a:xfrm>
            <a:off x="0" y="10195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75" name="Text 56"/>
          <p:cNvSpPr txBox="1"/>
          <p:nvPr/>
        </p:nvSpPr>
        <p:spPr>
          <a:xfrm>
            <a:off x="457200" y="105156"/>
            <a:ext cx="4849063" cy="191110"/>
          </a:xfrm>
          <a:prstGeom prst="rect">
            <a:avLst/>
          </a:prstGeom>
          <a:noFill/>
          <a:ln/>
        </p:spPr>
        <p:txBody>
          <a:bodyPr wrap="square" lIns="0" tIns="0" rIns="0" bIns="0" rtlCol="0" anchor="ctr"/>
          <a:lstStyle/>
          <a:p>
            <a:pPr marL="0" indent="0" algn="l">
              <a:buNone/>
            </a:pPr>
            <a:r>
              <a:rPr lang="en-US" sz="1000" b="1" kern="0" spc="105" dirty="0">
                <a:solidFill>
                  <a:srgbClr val="6B7280"/>
                </a:solidFill>
                <a:latin typeface="Noto Sans JP" pitchFamily="34" charset="0"/>
                <a:ea typeface="Noto Sans JP" pitchFamily="34" charset="-122"/>
                <a:cs typeface="Noto Sans JP" pitchFamily="34" charset="-120"/>
              </a:rPr>
              <a:t>PA45｜第2回</a:t>
            </a:r>
            <a:endParaRPr lang="en-US" sz="1000" dirty="0"/>
          </a:p>
        </p:txBody>
      </p:sp>
      <p:sp>
        <p:nvSpPr>
          <p:cNvPr id="76" name="Text 57"/>
          <p:cNvSpPr txBox="1"/>
          <p:nvPr/>
        </p:nvSpPr>
        <p:spPr>
          <a:xfrm>
            <a:off x="457200" y="333756"/>
            <a:ext cx="7335317" cy="571500"/>
          </a:xfrm>
          <a:prstGeom prst="rect">
            <a:avLst/>
          </a:prstGeom>
          <a:noFill/>
          <a:ln/>
        </p:spPr>
        <p:txBody>
          <a:bodyPr wrap="square" lIns="0" tIns="0" rIns="0" bIns="0" rtlCol="0" anchor="ctr"/>
          <a:lstStyle/>
          <a:p>
            <a:pPr marL="0" indent="0" algn="l">
              <a:buNone/>
            </a:pPr>
            <a:r>
              <a:rPr lang="en-US" sz="4400" b="1">
                <a:solidFill>
                  <a:srgbClr val="1F2937"/>
                </a:solidFill>
                <a:latin typeface="Noto Sans JP" pitchFamily="34" charset="0"/>
                <a:ea typeface="Noto Sans JP" pitchFamily="34" charset="-122"/>
                <a:cs typeface="Noto Sans JP" pitchFamily="34" charset="-120"/>
              </a:rPr>
              <a:t>変数とは？  </a:t>
            </a:r>
            <a:r>
              <a:rPr lang="en-US" sz="2800" b="1">
                <a:solidFill>
                  <a:srgbClr val="6B7280"/>
                </a:solidFill>
                <a:latin typeface="Noto Sans JP" pitchFamily="34" charset="0"/>
                <a:ea typeface="Noto Sans JP" pitchFamily="34" charset="-122"/>
                <a:cs typeface="Noto Sans JP" pitchFamily="34" charset="-120"/>
              </a:rPr>
              <a:t>概念とよく使う型</a:t>
            </a:r>
            <a:endParaRPr lang="en-US" sz="4400" dirty="0"/>
          </a:p>
        </p:txBody>
      </p:sp>
      <p:sp>
        <p:nvSpPr>
          <p:cNvPr id="77" name="Shape 58"/>
          <p:cNvSpPr/>
          <p:nvPr/>
        </p:nvSpPr>
        <p:spPr>
          <a:xfrm>
            <a:off x="10744200" y="4855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78" name="Text 59"/>
          <p:cNvSpPr txBox="1"/>
          <p:nvPr/>
        </p:nvSpPr>
        <p:spPr>
          <a:xfrm>
            <a:off x="10934395" y="409651"/>
            <a:ext cx="8860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82" name="Shape 62"/>
          <p:cNvSpPr/>
          <p:nvPr/>
        </p:nvSpPr>
        <p:spPr>
          <a:xfrm>
            <a:off x="8939174" y="1028700"/>
            <a:ext cx="3258007" cy="9144"/>
          </a:xfrm>
          <a:prstGeom prst="rect">
            <a:avLst/>
          </a:prstGeom>
          <a:solidFill>
            <a:srgbClr val="E5E7EB"/>
          </a:solidFill>
          <a:ln w="12700">
            <a:solidFill>
              <a:srgbClr val="E5E7EB">
                <a:alpha val="0"/>
              </a:srgbClr>
            </a:solidFill>
            <a:prstDash val="solid"/>
          </a:ln>
        </p:spPr>
        <p:txBody>
          <a:bodyPr/>
          <a:lstStyle/>
          <a:p>
            <a:endParaRPr lang="ja-JP" altLang="en-US"/>
          </a:p>
        </p:txBody>
      </p:sp>
      <p:pic>
        <p:nvPicPr>
          <p:cNvPr id="85" name="Image 18" descr="preencoded.png"/>
          <p:cNvPicPr>
            <a:picLocks noChangeAspect="1"/>
          </p:cNvPicPr>
          <p:nvPr/>
        </p:nvPicPr>
        <p:blipFill>
          <a:blip r:embed="rId18"/>
          <a:srcRect l="-200" r="-200"/>
          <a:stretch/>
        </p:blipFill>
        <p:spPr>
          <a:xfrm>
            <a:off x="0" y="6782105"/>
            <a:ext cx="12191695" cy="75895"/>
          </a:xfrm>
          <a:prstGeom prst="rect">
            <a:avLst/>
          </a:prstGeom>
        </p:spPr>
      </p:pic>
      <p:sp>
        <p:nvSpPr>
          <p:cNvPr id="20" name="Text 17"/>
          <p:cNvSpPr txBox="1"/>
          <p:nvPr/>
        </p:nvSpPr>
        <p:spPr>
          <a:xfrm>
            <a:off x="807998" y="5975039"/>
            <a:ext cx="3067812"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種類の決定が必須</a:t>
            </a:r>
            <a:endParaRPr lang="en-US" dirty="0"/>
          </a:p>
        </p:txBody>
      </p:sp>
      <p:sp>
        <p:nvSpPr>
          <p:cNvPr id="21" name="Text 18"/>
          <p:cNvSpPr txBox="1"/>
          <p:nvPr/>
        </p:nvSpPr>
        <p:spPr>
          <a:xfrm>
            <a:off x="807998" y="6261736"/>
            <a:ext cx="4608552" cy="262508"/>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何でも入る箱ではなく</a:t>
            </a:r>
            <a:r>
              <a:rPr lang="en-US" sz="1600" b="1" dirty="0">
                <a:solidFill>
                  <a:srgbClr val="4B5563"/>
                </a:solidFill>
                <a:latin typeface="Noto Sans JP" pitchFamily="34" charset="0"/>
                <a:ea typeface="Noto Sans JP" pitchFamily="34" charset="-122"/>
                <a:cs typeface="Noto Sans JP" pitchFamily="34" charset="-120"/>
              </a:rPr>
              <a:t>「型」を先に決めます</a:t>
            </a:r>
            <a:r>
              <a:rPr lang="en-US" sz="1600" dirty="0">
                <a:solidFill>
                  <a:srgbClr val="4B5563"/>
                </a:solidFill>
                <a:latin typeface="Noto Sans JP" pitchFamily="34" charset="0"/>
                <a:ea typeface="Noto Sans JP" pitchFamily="34" charset="-122"/>
                <a:cs typeface="Noto Sans JP" pitchFamily="34" charset="-120"/>
              </a:rPr>
              <a:t>。</a:t>
            </a:r>
            <a:endParaRPr lang="en-US" sz="1600" dirty="0"/>
          </a:p>
        </p:txBody>
      </p:sp>
      <p:sp>
        <p:nvSpPr>
          <p:cNvPr id="97" name="Shape 51">
            <a:extLst>
              <a:ext uri="{FF2B5EF4-FFF2-40B4-BE49-F238E27FC236}">
                <a16:creationId xmlns:a16="http://schemas.microsoft.com/office/drawing/2014/main" id="{108AA644-6CFF-C00A-847F-C38BBC6EEE54}"/>
              </a:ext>
            </a:extLst>
          </p:cNvPr>
          <p:cNvSpPr/>
          <p:nvPr/>
        </p:nvSpPr>
        <p:spPr>
          <a:xfrm>
            <a:off x="5128355" y="2190387"/>
            <a:ext cx="2080136" cy="1496001"/>
          </a:xfrm>
          <a:prstGeom prst="roundRect">
            <a:avLst>
              <a:gd name="adj" fmla="val 19731"/>
            </a:avLst>
          </a:prstGeom>
          <a:solidFill>
            <a:srgbClr val="F3F4F6"/>
          </a:solidFill>
          <a:ln w="12700">
            <a:solidFill>
              <a:srgbClr val="E5E7EB"/>
            </a:solidFill>
            <a:prstDash val="solid"/>
          </a:ln>
        </p:spPr>
        <p:txBody>
          <a:bodyPr/>
          <a:lstStyle/>
          <a:p>
            <a:endParaRPr lang="ja-JP" altLang="en-US"/>
          </a:p>
        </p:txBody>
      </p:sp>
      <p:sp>
        <p:nvSpPr>
          <p:cNvPr id="72" name="Text 53"/>
          <p:cNvSpPr txBox="1"/>
          <p:nvPr/>
        </p:nvSpPr>
        <p:spPr>
          <a:xfrm>
            <a:off x="5283399" y="2895702"/>
            <a:ext cx="1713130" cy="548639"/>
          </a:xfrm>
          <a:prstGeom prst="rect">
            <a:avLst/>
          </a:prstGeom>
          <a:noFill/>
          <a:ln/>
        </p:spPr>
        <p:txBody>
          <a:bodyPr wrap="square" lIns="0" tIns="0" rIns="0" bIns="0" rtlCol="0" anchor="t"/>
          <a:lstStyle/>
          <a:p>
            <a:pPr marL="0" indent="0" algn="ctr">
              <a:buNone/>
            </a:pPr>
            <a:r>
              <a:rPr lang="en-US" sz="2800" dirty="0">
                <a:solidFill>
                  <a:srgbClr val="9CA3AF"/>
                </a:solidFill>
                <a:latin typeface="Noto Sans JP" pitchFamily="34" charset="0"/>
                <a:ea typeface="Noto Sans JP" pitchFamily="34" charset="-122"/>
                <a:cs typeface="Noto Sans JP" pitchFamily="34" charset="-120"/>
              </a:rPr>
              <a:t>取り出し</a:t>
            </a:r>
            <a:endParaRPr lang="en-US" sz="2800" dirty="0"/>
          </a:p>
        </p:txBody>
      </p:sp>
      <p:sp>
        <p:nvSpPr>
          <p:cNvPr id="71" name="Text 52"/>
          <p:cNvSpPr txBox="1"/>
          <p:nvPr/>
        </p:nvSpPr>
        <p:spPr>
          <a:xfrm>
            <a:off x="5246738" y="2484935"/>
            <a:ext cx="1774731" cy="183246"/>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使用時</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6" name="Shape 4"/>
          <p:cNvSpPr/>
          <p:nvPr/>
        </p:nvSpPr>
        <p:spPr>
          <a:xfrm>
            <a:off x="10972800" y="418795"/>
            <a:ext cx="2438705" cy="2438705"/>
          </a:xfrm>
          <a:prstGeom prst="ellipse">
            <a:avLst/>
          </a:prstGeom>
          <a:solidFill>
            <a:srgbClr val="EFF6FF">
              <a:alpha val="60000"/>
            </a:srgbClr>
          </a:solidFill>
          <a:ln w="12700">
            <a:solidFill>
              <a:srgbClr val="FFFFFF">
                <a:alpha val="0"/>
              </a:srgbClr>
            </a:solidFill>
            <a:prstDash val="solid"/>
          </a:ln>
        </p:spPr>
        <p:txBody>
          <a:bodyPr/>
          <a:lstStyle/>
          <a:p>
            <a:endParaRPr lang="ja-JP" altLang="en-US"/>
          </a:p>
        </p:txBody>
      </p:sp>
      <p:sp>
        <p:nvSpPr>
          <p:cNvPr id="7" name="Shape 5"/>
          <p:cNvSpPr/>
          <p:nvPr/>
        </p:nvSpPr>
        <p:spPr>
          <a:xfrm>
            <a:off x="-1238707" y="3926434"/>
            <a:ext cx="3657600" cy="3657600"/>
          </a:xfrm>
          <a:prstGeom prst="ellipse">
            <a:avLst/>
          </a:prstGeom>
          <a:solidFill>
            <a:srgbClr val="F5F3FF">
              <a:alpha val="60000"/>
            </a:srgbClr>
          </a:solidFill>
          <a:ln w="12700">
            <a:solidFill>
              <a:srgbClr val="FFFFFF">
                <a:alpha val="0"/>
              </a:srgbClr>
            </a:solidFill>
            <a:prstDash val="solid"/>
          </a:ln>
        </p:spPr>
        <p:txBody>
          <a:bodyPr/>
          <a:lstStyle/>
          <a:p>
            <a:endParaRPr lang="ja-JP" altLang="en-US"/>
          </a:p>
        </p:txBody>
      </p:sp>
      <p:sp>
        <p:nvSpPr>
          <p:cNvPr id="8" name="Shape 6"/>
          <p:cNvSpPr/>
          <p:nvPr/>
        </p:nvSpPr>
        <p:spPr>
          <a:xfrm>
            <a:off x="1621231" y="2253082"/>
            <a:ext cx="914400" cy="304495"/>
          </a:xfrm>
          <a:prstGeom prst="roundRect">
            <a:avLst>
              <a:gd name="adj" fmla="val 300300"/>
            </a:avLst>
          </a:prstGeom>
          <a:solidFill>
            <a:srgbClr val="E5E7EB"/>
          </a:solidFill>
          <a:ln w="12700">
            <a:solidFill>
              <a:srgbClr val="FFFFFF">
                <a:alpha val="0"/>
              </a:srgbClr>
            </a:solidFill>
            <a:prstDash val="solid"/>
          </a:ln>
        </p:spPr>
        <p:txBody>
          <a:bodyPr/>
          <a:lstStyle/>
          <a:p>
            <a:endParaRPr lang="ja-JP" altLang="en-US"/>
          </a:p>
        </p:txBody>
      </p:sp>
      <p:sp>
        <p:nvSpPr>
          <p:cNvPr id="9" name="Text 7"/>
          <p:cNvSpPr/>
          <p:nvPr/>
        </p:nvSpPr>
        <p:spPr>
          <a:xfrm>
            <a:off x="374651" y="2253082"/>
            <a:ext cx="2190242"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4B5563"/>
                </a:solidFill>
                <a:latin typeface="Noto Sans JP" pitchFamily="34" charset="0"/>
                <a:ea typeface="Noto Sans JP" pitchFamily="34" charset="-122"/>
                <a:cs typeface="Noto Sans JP" pitchFamily="34" charset="-120"/>
              </a:rPr>
              <a:t>Trigger</a:t>
            </a:r>
            <a:endParaRPr lang="en-US" sz="3600" dirty="0"/>
          </a:p>
        </p:txBody>
      </p:sp>
      <p:sp>
        <p:nvSpPr>
          <p:cNvPr id="10" name="Shape 8"/>
          <p:cNvSpPr/>
          <p:nvPr/>
        </p:nvSpPr>
        <p:spPr>
          <a:xfrm>
            <a:off x="5599786" y="1609344"/>
            <a:ext cx="1000354" cy="304495"/>
          </a:xfrm>
          <a:prstGeom prst="roundRect">
            <a:avLst>
              <a:gd name="adj" fmla="val 300300"/>
            </a:avLst>
          </a:prstGeom>
          <a:solidFill>
            <a:srgbClr val="DBEAFE"/>
          </a:solidFill>
          <a:ln w="12700">
            <a:solidFill>
              <a:srgbClr val="FFFFFF">
                <a:alpha val="0"/>
              </a:srgbClr>
            </a:solidFill>
            <a:prstDash val="solid"/>
          </a:ln>
        </p:spPr>
        <p:txBody>
          <a:bodyPr/>
          <a:lstStyle/>
          <a:p>
            <a:endParaRPr lang="ja-JP" altLang="en-US"/>
          </a:p>
        </p:txBody>
      </p:sp>
      <p:sp>
        <p:nvSpPr>
          <p:cNvPr id="11" name="Text 9"/>
          <p:cNvSpPr/>
          <p:nvPr/>
        </p:nvSpPr>
        <p:spPr>
          <a:xfrm>
            <a:off x="4009613" y="1605231"/>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2563EB"/>
                </a:solidFill>
                <a:latin typeface="Noto Sans JP" pitchFamily="34" charset="0"/>
                <a:ea typeface="Noto Sans JP" pitchFamily="34" charset="-122"/>
                <a:cs typeface="Noto Sans JP" pitchFamily="34" charset="-120"/>
              </a:rPr>
              <a:t>Action ①</a:t>
            </a:r>
            <a:endParaRPr lang="en-US" sz="3600" dirty="0"/>
          </a:p>
        </p:txBody>
      </p:sp>
      <p:sp>
        <p:nvSpPr>
          <p:cNvPr id="12" name="Shape 10"/>
          <p:cNvSpPr/>
          <p:nvPr/>
        </p:nvSpPr>
        <p:spPr>
          <a:xfrm>
            <a:off x="9619488" y="2111350"/>
            <a:ext cx="1000354" cy="304495"/>
          </a:xfrm>
          <a:prstGeom prst="roundRect">
            <a:avLst>
              <a:gd name="adj" fmla="val 300300"/>
            </a:avLst>
          </a:prstGeom>
          <a:solidFill>
            <a:srgbClr val="FCE7F3"/>
          </a:solidFill>
          <a:ln w="12700">
            <a:solidFill>
              <a:srgbClr val="FFFFFF">
                <a:alpha val="0"/>
              </a:srgbClr>
            </a:solidFill>
            <a:prstDash val="solid"/>
          </a:ln>
        </p:spPr>
        <p:txBody>
          <a:bodyPr/>
          <a:lstStyle/>
          <a:p>
            <a:endParaRPr lang="ja-JP" altLang="en-US"/>
          </a:p>
        </p:txBody>
      </p:sp>
      <p:sp>
        <p:nvSpPr>
          <p:cNvPr id="13" name="Text 11"/>
          <p:cNvSpPr/>
          <p:nvPr/>
        </p:nvSpPr>
        <p:spPr>
          <a:xfrm>
            <a:off x="8264265" y="2111350"/>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DB2777"/>
                </a:solidFill>
                <a:latin typeface="Noto Sans JP" pitchFamily="34" charset="0"/>
                <a:ea typeface="Noto Sans JP" pitchFamily="34" charset="-122"/>
                <a:cs typeface="Noto Sans JP" pitchFamily="34" charset="-120"/>
              </a:rPr>
              <a:t>Action ②</a:t>
            </a:r>
            <a:endParaRPr lang="en-US" sz="3600" dirty="0"/>
          </a:p>
        </p:txBody>
      </p:sp>
      <p:pic>
        <p:nvPicPr>
          <p:cNvPr id="14" name="Image 0" descr="preencoded.png"/>
          <p:cNvPicPr>
            <a:picLocks noChangeAspect="1"/>
          </p:cNvPicPr>
          <p:nvPr/>
        </p:nvPicPr>
        <p:blipFill>
          <a:blip r:embed="rId3"/>
          <a:srcRect l="-6" r="-6"/>
          <a:stretch/>
        </p:blipFill>
        <p:spPr>
          <a:xfrm>
            <a:off x="457200" y="2700223"/>
            <a:ext cx="3238805" cy="1966874"/>
          </a:xfrm>
          <a:prstGeom prst="rect">
            <a:avLst/>
          </a:prstGeom>
        </p:spPr>
      </p:pic>
      <p:pic>
        <p:nvPicPr>
          <p:cNvPr id="15" name="Image 1" descr="preencoded.png"/>
          <p:cNvPicPr>
            <a:picLocks noChangeAspect="1"/>
          </p:cNvPicPr>
          <p:nvPr/>
        </p:nvPicPr>
        <p:blipFill>
          <a:blip r:embed="rId4"/>
          <a:srcRect t="-34" b="-34"/>
          <a:stretch/>
        </p:blipFill>
        <p:spPr>
          <a:xfrm>
            <a:off x="466344" y="2710282"/>
            <a:ext cx="3219602" cy="629107"/>
          </a:xfrm>
          <a:prstGeom prst="rect">
            <a:avLst/>
          </a:prstGeom>
        </p:spPr>
      </p:pic>
      <p:pic>
        <p:nvPicPr>
          <p:cNvPr id="16" name="Image 2" descr="preencoded.png"/>
          <p:cNvPicPr>
            <a:picLocks noChangeAspect="1"/>
          </p:cNvPicPr>
          <p:nvPr/>
        </p:nvPicPr>
        <p:blipFill>
          <a:blip r:embed="rId5"/>
          <a:srcRect l="-1648" r="-1648"/>
          <a:stretch/>
        </p:blipFill>
        <p:spPr>
          <a:xfrm>
            <a:off x="657454" y="2952598"/>
            <a:ext cx="171907" cy="190195"/>
          </a:xfrm>
          <a:prstGeom prst="rect">
            <a:avLst/>
          </a:prstGeom>
        </p:spPr>
      </p:pic>
      <p:sp>
        <p:nvSpPr>
          <p:cNvPr id="17" name="Text 12"/>
          <p:cNvSpPr txBox="1"/>
          <p:nvPr/>
        </p:nvSpPr>
        <p:spPr>
          <a:xfrm>
            <a:off x="942746" y="2710282"/>
            <a:ext cx="2600554" cy="629107"/>
          </a:xfrm>
          <a:prstGeom prst="rect">
            <a:avLst/>
          </a:prstGeom>
          <a:noFill/>
          <a:ln/>
        </p:spPr>
        <p:txBody>
          <a:bodyPr wrap="square" lIns="0" tIns="0" rIns="0" bIns="0" rtlCol="0" anchor="ctr"/>
          <a:lstStyle/>
          <a:p>
            <a:pPr marL="0" indent="0" algn="l">
              <a:buNone/>
            </a:pPr>
            <a:r>
              <a:rPr lang="en-US" sz="1800" b="1" dirty="0">
                <a:solidFill>
                  <a:srgbClr val="0369A1"/>
                </a:solidFill>
                <a:latin typeface="Noto Sans JP" pitchFamily="34" charset="0"/>
                <a:ea typeface="Noto Sans JP" pitchFamily="34" charset="-122"/>
                <a:cs typeface="Noto Sans JP" pitchFamily="34" charset="-120"/>
              </a:rPr>
              <a:t>手動でフローをトリガー</a:t>
            </a:r>
            <a:endParaRPr lang="en-US" sz="1800" dirty="0"/>
          </a:p>
        </p:txBody>
      </p:sp>
      <p:sp>
        <p:nvSpPr>
          <p:cNvPr id="18" name="Text 13"/>
          <p:cNvSpPr txBox="1"/>
          <p:nvPr/>
        </p:nvSpPr>
        <p:spPr>
          <a:xfrm>
            <a:off x="657454" y="3528670"/>
            <a:ext cx="2915107" cy="562356"/>
          </a:xfrm>
          <a:prstGeom prst="rect">
            <a:avLst/>
          </a:prstGeom>
          <a:noFill/>
          <a:ln/>
        </p:spPr>
        <p:txBody>
          <a:bodyPr wrap="square" lIns="0" tIns="0" rIns="0" bIns="0" rtlCol="0" anchor="t"/>
          <a:lstStyle/>
          <a:p>
            <a:pPr marL="0" indent="0" algn="l">
              <a:buNone/>
            </a:pPr>
            <a:r>
              <a:rPr lang="en-US" dirty="0">
                <a:solidFill>
                  <a:srgbClr val="6B7280"/>
                </a:solidFill>
                <a:latin typeface="Noto Sans JP" pitchFamily="34" charset="0"/>
                <a:ea typeface="Noto Sans JP" pitchFamily="34" charset="-122"/>
                <a:cs typeface="Noto Sans JP" pitchFamily="34" charset="-120"/>
              </a:rPr>
              <a:t> ボタンを押して</a:t>
            </a:r>
            <a:endParaRPr lang="en-US" dirty="0"/>
          </a:p>
          <a:p>
            <a:pPr marL="0" indent="0" algn="l">
              <a:buNone/>
            </a:pPr>
            <a:r>
              <a:rPr lang="en-US" dirty="0">
                <a:solidFill>
                  <a:srgbClr val="6B7280"/>
                </a:solidFill>
                <a:latin typeface="Noto Sans JP" pitchFamily="34" charset="0"/>
                <a:ea typeface="Noto Sans JP" pitchFamily="34" charset="-122"/>
                <a:cs typeface="Noto Sans JP" pitchFamily="34" charset="-120"/>
              </a:rPr>
              <a:t>フローを開始します </a:t>
            </a:r>
            <a:endParaRPr lang="en-US" dirty="0"/>
          </a:p>
        </p:txBody>
      </p:sp>
      <p:pic>
        <p:nvPicPr>
          <p:cNvPr id="19" name="Image 3" descr="preencoded.png"/>
          <p:cNvPicPr>
            <a:picLocks noChangeAspect="1"/>
          </p:cNvPicPr>
          <p:nvPr/>
        </p:nvPicPr>
        <p:blipFill>
          <a:blip r:embed="rId6"/>
          <a:srcRect/>
          <a:stretch/>
        </p:blipFill>
        <p:spPr>
          <a:xfrm>
            <a:off x="657454" y="4304995"/>
            <a:ext cx="133502" cy="133502"/>
          </a:xfrm>
          <a:prstGeom prst="rect">
            <a:avLst/>
          </a:prstGeom>
        </p:spPr>
      </p:pic>
      <p:sp>
        <p:nvSpPr>
          <p:cNvPr id="20" name="Text 14"/>
          <p:cNvSpPr txBox="1"/>
          <p:nvPr/>
        </p:nvSpPr>
        <p:spPr>
          <a:xfrm>
            <a:off x="990295" y="4250588"/>
            <a:ext cx="1383487" cy="19111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Instant Cloud Flow</a:t>
            </a:r>
            <a:endParaRPr lang="en-US" sz="1200" dirty="0"/>
          </a:p>
        </p:txBody>
      </p:sp>
      <p:pic>
        <p:nvPicPr>
          <p:cNvPr id="21" name="Image 4" descr="preencoded.png"/>
          <p:cNvPicPr>
            <a:picLocks noChangeAspect="1"/>
          </p:cNvPicPr>
          <p:nvPr/>
        </p:nvPicPr>
        <p:blipFill>
          <a:blip r:embed="rId7"/>
          <a:srcRect l="-416" r="-416"/>
          <a:stretch/>
        </p:blipFill>
        <p:spPr>
          <a:xfrm>
            <a:off x="3791102" y="3460090"/>
            <a:ext cx="590702" cy="28346"/>
          </a:xfrm>
          <a:prstGeom prst="rect">
            <a:avLst/>
          </a:prstGeom>
        </p:spPr>
      </p:pic>
      <p:pic>
        <p:nvPicPr>
          <p:cNvPr id="22" name="Image 5" descr="preencoded.png"/>
          <p:cNvPicPr>
            <a:picLocks noChangeAspect="1"/>
          </p:cNvPicPr>
          <p:nvPr/>
        </p:nvPicPr>
        <p:blipFill>
          <a:blip r:embed="rId8"/>
          <a:srcRect l="-9" r="-9"/>
          <a:stretch/>
        </p:blipFill>
        <p:spPr>
          <a:xfrm>
            <a:off x="4476902" y="2057400"/>
            <a:ext cx="3238805" cy="3252521"/>
          </a:xfrm>
          <a:prstGeom prst="rect">
            <a:avLst/>
          </a:prstGeom>
        </p:spPr>
      </p:pic>
      <p:pic>
        <p:nvPicPr>
          <p:cNvPr id="23" name="Image 6" descr="preencoded.png"/>
          <p:cNvPicPr>
            <a:picLocks noChangeAspect="1"/>
          </p:cNvPicPr>
          <p:nvPr/>
        </p:nvPicPr>
        <p:blipFill>
          <a:blip r:embed="rId9"/>
          <a:srcRect t="-34" b="-34"/>
          <a:stretch/>
        </p:blipFill>
        <p:spPr>
          <a:xfrm>
            <a:off x="4486046" y="2066544"/>
            <a:ext cx="3219602" cy="629107"/>
          </a:xfrm>
          <a:prstGeom prst="rect">
            <a:avLst/>
          </a:prstGeom>
        </p:spPr>
      </p:pic>
      <p:pic>
        <p:nvPicPr>
          <p:cNvPr id="24" name="Image 7" descr="preencoded.png"/>
          <p:cNvPicPr>
            <a:picLocks noChangeAspect="1"/>
          </p:cNvPicPr>
          <p:nvPr/>
        </p:nvPicPr>
        <p:blipFill>
          <a:blip r:embed="rId10"/>
          <a:srcRect l="-1648" r="-1648"/>
          <a:stretch/>
        </p:blipFill>
        <p:spPr>
          <a:xfrm>
            <a:off x="4677156" y="2309774"/>
            <a:ext cx="171907" cy="190195"/>
          </a:xfrm>
          <a:prstGeom prst="rect">
            <a:avLst/>
          </a:prstGeom>
        </p:spPr>
      </p:pic>
      <p:sp>
        <p:nvSpPr>
          <p:cNvPr id="25" name="Text 15"/>
          <p:cNvSpPr txBox="1"/>
          <p:nvPr/>
        </p:nvSpPr>
        <p:spPr>
          <a:xfrm>
            <a:off x="4962449" y="2066544"/>
            <a:ext cx="2030882" cy="629107"/>
          </a:xfrm>
          <a:prstGeom prst="rect">
            <a:avLst/>
          </a:prstGeom>
          <a:noFill/>
          <a:ln/>
        </p:spPr>
        <p:txBody>
          <a:bodyPr wrap="square" lIns="0" tIns="0" rIns="0" bIns="0" rtlCol="0" anchor="ctr"/>
          <a:lstStyle/>
          <a:p>
            <a:pPr marL="0" indent="0" algn="l">
              <a:buNone/>
            </a:pPr>
            <a:r>
              <a:rPr lang="en-US" sz="1800" b="1">
                <a:solidFill>
                  <a:srgbClr val="6D28D9"/>
                </a:solidFill>
                <a:latin typeface="Noto Sans JP" pitchFamily="34" charset="0"/>
                <a:ea typeface="Noto Sans JP" pitchFamily="34" charset="-122"/>
                <a:cs typeface="Noto Sans JP" pitchFamily="34" charset="-120"/>
              </a:rPr>
              <a:t>Initialize variable</a:t>
            </a:r>
            <a:r>
              <a:rPr lang="ja-JP" altLang="en-US" b="1">
                <a:solidFill>
                  <a:srgbClr val="6D28D9"/>
                </a:solidFill>
                <a:latin typeface="Noto Sans JP" pitchFamily="34" charset="0"/>
                <a:ea typeface="Noto Sans JP" pitchFamily="34" charset="-122"/>
                <a:cs typeface="Noto Sans JP" pitchFamily="34" charset="-120"/>
              </a:rPr>
              <a:t>（変数の初期化）</a:t>
            </a:r>
            <a:endParaRPr lang="en-US" sz="1800" b="1">
              <a:solidFill>
                <a:srgbClr val="6D28D9"/>
              </a:solidFill>
              <a:latin typeface="Noto Sans JP" pitchFamily="34" charset="0"/>
              <a:ea typeface="Noto Sans JP" pitchFamily="34" charset="-122"/>
              <a:cs typeface="Noto Sans JP" pitchFamily="34" charset="-120"/>
            </a:endParaRPr>
          </a:p>
        </p:txBody>
      </p:sp>
      <p:sp>
        <p:nvSpPr>
          <p:cNvPr id="26" name="Text 16"/>
          <p:cNvSpPr txBox="1"/>
          <p:nvPr/>
        </p:nvSpPr>
        <p:spPr>
          <a:xfrm>
            <a:off x="4649419" y="2838754"/>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名前 (Name)</a:t>
            </a:r>
            <a:endParaRPr lang="en-US" dirty="0"/>
          </a:p>
        </p:txBody>
      </p:sp>
      <p:sp>
        <p:nvSpPr>
          <p:cNvPr id="27" name="Shape 17"/>
          <p:cNvSpPr/>
          <p:nvPr/>
        </p:nvSpPr>
        <p:spPr>
          <a:xfrm>
            <a:off x="4677156" y="3124505"/>
            <a:ext cx="2838298" cy="418795"/>
          </a:xfrm>
          <a:prstGeom prst="roundRect">
            <a:avLst>
              <a:gd name="adj" fmla="val 39698"/>
            </a:avLst>
          </a:prstGeom>
          <a:solidFill>
            <a:srgbClr val="F9FAFB"/>
          </a:solidFill>
          <a:ln w="12700">
            <a:solidFill>
              <a:srgbClr val="E5E7EB"/>
            </a:solidFill>
            <a:prstDash val="solid"/>
          </a:ln>
        </p:spPr>
        <p:txBody>
          <a:bodyPr/>
          <a:lstStyle/>
          <a:p>
            <a:endParaRPr lang="ja-JP" altLang="en-US"/>
          </a:p>
        </p:txBody>
      </p:sp>
      <p:sp>
        <p:nvSpPr>
          <p:cNvPr id="28" name="Text 18"/>
          <p:cNvSpPr txBox="1"/>
          <p:nvPr/>
        </p:nvSpPr>
        <p:spPr>
          <a:xfrm>
            <a:off x="4677156" y="3124505"/>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message</a:t>
            </a:r>
            <a:endParaRPr lang="en-US" sz="1600" dirty="0"/>
          </a:p>
        </p:txBody>
      </p:sp>
      <p:sp>
        <p:nvSpPr>
          <p:cNvPr id="29" name="Text 19"/>
          <p:cNvSpPr txBox="1"/>
          <p:nvPr/>
        </p:nvSpPr>
        <p:spPr>
          <a:xfrm>
            <a:off x="4677156" y="3669945"/>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種類 (Type)</a:t>
            </a:r>
            <a:endParaRPr lang="en-US" dirty="0"/>
          </a:p>
        </p:txBody>
      </p:sp>
      <p:sp>
        <p:nvSpPr>
          <p:cNvPr id="30" name="Shape 20"/>
          <p:cNvSpPr/>
          <p:nvPr/>
        </p:nvSpPr>
        <p:spPr>
          <a:xfrm>
            <a:off x="4677156" y="3926434"/>
            <a:ext cx="629107" cy="267005"/>
          </a:xfrm>
          <a:prstGeom prst="roundRect">
            <a:avLst>
              <a:gd name="adj" fmla="val 97847"/>
            </a:avLst>
          </a:prstGeom>
          <a:solidFill>
            <a:srgbClr val="EDE9FE"/>
          </a:solidFill>
          <a:ln w="12700">
            <a:solidFill>
              <a:srgbClr val="FFFFFF">
                <a:alpha val="0"/>
              </a:srgbClr>
            </a:solidFill>
            <a:prstDash val="solid"/>
          </a:ln>
        </p:spPr>
        <p:txBody>
          <a:bodyPr/>
          <a:lstStyle/>
          <a:p>
            <a:endParaRPr lang="ja-JP" altLang="en-US"/>
          </a:p>
        </p:txBody>
      </p:sp>
      <p:sp>
        <p:nvSpPr>
          <p:cNvPr id="31" name="Text 21"/>
          <p:cNvSpPr txBox="1"/>
          <p:nvPr/>
        </p:nvSpPr>
        <p:spPr>
          <a:xfrm>
            <a:off x="4677155" y="3926434"/>
            <a:ext cx="876909" cy="247803"/>
          </a:xfrm>
          <a:prstGeom prst="rect">
            <a:avLst/>
          </a:prstGeom>
          <a:solidFill>
            <a:srgbClr val="FFFFFF">
              <a:alpha val="0"/>
            </a:srgbClr>
          </a:solidFill>
          <a:ln>
            <a:solidFill>
              <a:srgbClr val="FFFFFF">
                <a:alpha val="0"/>
              </a:srgbClr>
            </a:solidFill>
          </a:ln>
        </p:spPr>
        <p:txBody>
          <a:bodyPr wrap="square" lIns="114300" tIns="38100" rIns="114300" bIns="38100" rtlCol="0" anchor="t"/>
          <a:lstStyle/>
          <a:p>
            <a:pPr marL="0" indent="0" algn="l">
              <a:buNone/>
            </a:pPr>
            <a:r>
              <a:rPr lang="en-US" sz="1100" b="1" dirty="0">
                <a:solidFill>
                  <a:srgbClr val="6D28D9"/>
                </a:solidFill>
                <a:latin typeface="Noto Sans JP" pitchFamily="34" charset="0"/>
                <a:ea typeface="Noto Sans JP" pitchFamily="34" charset="-122"/>
                <a:cs typeface="Noto Sans JP" pitchFamily="34" charset="-120"/>
              </a:rPr>
              <a:t>String</a:t>
            </a:r>
            <a:endParaRPr lang="en-US" sz="1100" dirty="0"/>
          </a:p>
        </p:txBody>
      </p:sp>
      <p:sp>
        <p:nvSpPr>
          <p:cNvPr id="32" name="Text 22"/>
          <p:cNvSpPr txBox="1"/>
          <p:nvPr/>
        </p:nvSpPr>
        <p:spPr>
          <a:xfrm>
            <a:off x="4677156" y="4346143"/>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値 (Value)</a:t>
            </a:r>
            <a:endParaRPr lang="en-US" dirty="0"/>
          </a:p>
        </p:txBody>
      </p:sp>
      <p:sp>
        <p:nvSpPr>
          <p:cNvPr id="33" name="Shape 23"/>
          <p:cNvSpPr/>
          <p:nvPr/>
        </p:nvSpPr>
        <p:spPr>
          <a:xfrm>
            <a:off x="4677156" y="4583887"/>
            <a:ext cx="2838298" cy="418795"/>
          </a:xfrm>
          <a:prstGeom prst="roundRect">
            <a:avLst>
              <a:gd name="adj" fmla="val 39698"/>
            </a:avLst>
          </a:prstGeom>
          <a:solidFill>
            <a:srgbClr val="F9FAFB"/>
          </a:solidFill>
          <a:ln w="12700">
            <a:solidFill>
              <a:srgbClr val="E5E7EB"/>
            </a:solidFill>
            <a:prstDash val="solid"/>
          </a:ln>
        </p:spPr>
        <p:txBody>
          <a:bodyPr/>
          <a:lstStyle/>
          <a:p>
            <a:endParaRPr lang="ja-JP" altLang="en-US"/>
          </a:p>
        </p:txBody>
      </p:sp>
      <p:sp>
        <p:nvSpPr>
          <p:cNvPr id="34" name="Text 24"/>
          <p:cNvSpPr txBox="1"/>
          <p:nvPr/>
        </p:nvSpPr>
        <p:spPr>
          <a:xfrm>
            <a:off x="4714647" y="4607206"/>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"PA45、はじめまして！"</a:t>
            </a:r>
            <a:endParaRPr lang="en-US" sz="1600" dirty="0"/>
          </a:p>
        </p:txBody>
      </p:sp>
      <p:pic>
        <p:nvPicPr>
          <p:cNvPr id="35" name="Image 8" descr="preencoded.png"/>
          <p:cNvPicPr>
            <a:picLocks noChangeAspect="1"/>
          </p:cNvPicPr>
          <p:nvPr/>
        </p:nvPicPr>
        <p:blipFill>
          <a:blip r:embed="rId7"/>
          <a:srcRect l="-416" r="-416"/>
          <a:stretch/>
        </p:blipFill>
        <p:spPr>
          <a:xfrm>
            <a:off x="7810805" y="3460090"/>
            <a:ext cx="590702" cy="28346"/>
          </a:xfrm>
          <a:prstGeom prst="rect">
            <a:avLst/>
          </a:prstGeom>
        </p:spPr>
      </p:pic>
      <p:pic>
        <p:nvPicPr>
          <p:cNvPr id="36" name="Image 9" descr="preencoded.png"/>
          <p:cNvPicPr>
            <a:picLocks noChangeAspect="1"/>
          </p:cNvPicPr>
          <p:nvPr/>
        </p:nvPicPr>
        <p:blipFill>
          <a:blip r:embed="rId11"/>
          <a:srcRect l="-3" r="-3"/>
          <a:stretch/>
        </p:blipFill>
        <p:spPr>
          <a:xfrm>
            <a:off x="8496605" y="2558491"/>
            <a:ext cx="3238805" cy="2250338"/>
          </a:xfrm>
          <a:prstGeom prst="rect">
            <a:avLst/>
          </a:prstGeom>
        </p:spPr>
      </p:pic>
      <p:pic>
        <p:nvPicPr>
          <p:cNvPr id="37" name="Image 10" descr="preencoded.png"/>
          <p:cNvPicPr>
            <a:picLocks noChangeAspect="1"/>
          </p:cNvPicPr>
          <p:nvPr/>
        </p:nvPicPr>
        <p:blipFill>
          <a:blip r:embed="rId12"/>
          <a:srcRect t="-34" b="-34"/>
          <a:stretch/>
        </p:blipFill>
        <p:spPr>
          <a:xfrm>
            <a:off x="8505749" y="2568550"/>
            <a:ext cx="3219602" cy="629107"/>
          </a:xfrm>
          <a:prstGeom prst="rect">
            <a:avLst/>
          </a:prstGeom>
        </p:spPr>
      </p:pic>
      <p:pic>
        <p:nvPicPr>
          <p:cNvPr id="38" name="Image 11" descr="preencoded.png"/>
          <p:cNvPicPr>
            <a:picLocks noChangeAspect="1"/>
          </p:cNvPicPr>
          <p:nvPr/>
        </p:nvPicPr>
        <p:blipFill>
          <a:blip r:embed="rId13"/>
          <a:srcRect/>
          <a:stretch/>
        </p:blipFill>
        <p:spPr>
          <a:xfrm>
            <a:off x="8695944" y="2810866"/>
            <a:ext cx="190195" cy="190195"/>
          </a:xfrm>
          <a:prstGeom prst="rect">
            <a:avLst/>
          </a:prstGeom>
        </p:spPr>
      </p:pic>
      <p:sp>
        <p:nvSpPr>
          <p:cNvPr id="39" name="Text 25"/>
          <p:cNvSpPr txBox="1"/>
          <p:nvPr/>
        </p:nvSpPr>
        <p:spPr>
          <a:xfrm>
            <a:off x="9001354" y="2568550"/>
            <a:ext cx="1803197" cy="629107"/>
          </a:xfrm>
          <a:prstGeom prst="rect">
            <a:avLst/>
          </a:prstGeom>
          <a:noFill/>
          <a:ln/>
        </p:spPr>
        <p:txBody>
          <a:bodyPr wrap="square" lIns="0" tIns="0" rIns="0" bIns="0" rtlCol="0" anchor="ctr"/>
          <a:lstStyle/>
          <a:p>
            <a:pPr marL="0" indent="0" algn="l">
              <a:buNone/>
            </a:pPr>
            <a:r>
              <a:rPr lang="en-US" sz="1800" b="1" dirty="0">
                <a:solidFill>
                  <a:srgbClr val="A21CAF"/>
                </a:solidFill>
                <a:latin typeface="Noto Sans JP" pitchFamily="34" charset="0"/>
                <a:ea typeface="Noto Sans JP" pitchFamily="34" charset="-122"/>
                <a:cs typeface="Noto Sans JP" pitchFamily="34" charset="-120"/>
              </a:rPr>
              <a:t>Compose (作成)</a:t>
            </a:r>
            <a:endParaRPr lang="en-US" sz="1800" dirty="0"/>
          </a:p>
        </p:txBody>
      </p:sp>
      <p:sp>
        <p:nvSpPr>
          <p:cNvPr id="40" name="Text 26"/>
          <p:cNvSpPr txBox="1"/>
          <p:nvPr/>
        </p:nvSpPr>
        <p:spPr>
          <a:xfrm>
            <a:off x="8695944" y="3386938"/>
            <a:ext cx="3029407" cy="286207"/>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変数の内容を確認します</a:t>
            </a:r>
            <a:endParaRPr lang="en-US" dirty="0"/>
          </a:p>
        </p:txBody>
      </p:sp>
      <p:sp>
        <p:nvSpPr>
          <p:cNvPr id="41" name="Text 27"/>
          <p:cNvSpPr txBox="1"/>
          <p:nvPr/>
        </p:nvSpPr>
        <p:spPr>
          <a:xfrm>
            <a:off x="8695944" y="3818534"/>
            <a:ext cx="2952598" cy="200254"/>
          </a:xfrm>
          <a:prstGeom prst="rect">
            <a:avLst/>
          </a:prstGeom>
          <a:noFill/>
          <a:ln/>
        </p:spPr>
        <p:txBody>
          <a:bodyPr wrap="square" lIns="0" tIns="0" rIns="0" bIns="0" rtlCol="0" anchor="ct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入力 (Inputs)</a:t>
            </a:r>
            <a:endParaRPr lang="en-US" sz="1600" dirty="0"/>
          </a:p>
        </p:txBody>
      </p:sp>
      <p:sp>
        <p:nvSpPr>
          <p:cNvPr id="42" name="Shape 28"/>
          <p:cNvSpPr/>
          <p:nvPr/>
        </p:nvSpPr>
        <p:spPr>
          <a:xfrm>
            <a:off x="8695944" y="4056278"/>
            <a:ext cx="2838298" cy="437998"/>
          </a:xfrm>
          <a:prstGeom prst="roundRect">
            <a:avLst>
              <a:gd name="adj" fmla="val 36307"/>
            </a:avLst>
          </a:prstGeom>
          <a:solidFill>
            <a:srgbClr val="F9FAFB"/>
          </a:solidFill>
          <a:ln w="12700">
            <a:solidFill>
              <a:srgbClr val="E5E7EB"/>
            </a:solidFill>
            <a:prstDash val="solid"/>
          </a:ln>
        </p:spPr>
        <p:txBody>
          <a:bodyPr/>
          <a:lstStyle/>
          <a:p>
            <a:endParaRPr lang="ja-JP" altLang="en-US"/>
          </a:p>
        </p:txBody>
      </p:sp>
      <p:sp>
        <p:nvSpPr>
          <p:cNvPr id="43" name="Shape 29"/>
          <p:cNvSpPr/>
          <p:nvPr/>
        </p:nvSpPr>
        <p:spPr>
          <a:xfrm>
            <a:off x="8801100" y="4123030"/>
            <a:ext cx="1847088" cy="343814"/>
          </a:xfrm>
          <a:prstGeom prst="roundRect">
            <a:avLst>
              <a:gd name="adj" fmla="val 75075"/>
            </a:avLst>
          </a:prstGeom>
          <a:solidFill>
            <a:srgbClr val="DBEAFE"/>
          </a:solidFill>
          <a:ln w="12700">
            <a:solidFill>
              <a:srgbClr val="FFFFFF">
                <a:alpha val="0"/>
              </a:srgbClr>
            </a:solidFill>
            <a:prstDash val="solid"/>
          </a:ln>
        </p:spPr>
        <p:txBody>
          <a:bodyPr/>
          <a:lstStyle/>
          <a:p>
            <a:endParaRPr lang="ja-JP" altLang="en-US"/>
          </a:p>
        </p:txBody>
      </p:sp>
      <p:sp>
        <p:nvSpPr>
          <p:cNvPr id="44" name="Text 30"/>
          <p:cNvSpPr txBox="1"/>
          <p:nvPr/>
        </p:nvSpPr>
        <p:spPr>
          <a:xfrm>
            <a:off x="9048902" y="4123030"/>
            <a:ext cx="1599286" cy="30541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2000" b="1" dirty="0">
                <a:solidFill>
                  <a:srgbClr val="1E40AF"/>
                </a:solidFill>
                <a:latin typeface="Courier New" pitchFamily="34" charset="0"/>
                <a:ea typeface="Courier New" pitchFamily="34" charset="-122"/>
                <a:cs typeface="Courier New" pitchFamily="34" charset="-120"/>
              </a:rPr>
              <a:t> message </a:t>
            </a:r>
            <a:endParaRPr lang="en-US" sz="2000" dirty="0"/>
          </a:p>
        </p:txBody>
      </p:sp>
      <p:pic>
        <p:nvPicPr>
          <p:cNvPr id="45" name="Image 12" descr="preencoded.png"/>
          <p:cNvPicPr>
            <a:picLocks noChangeAspect="1"/>
          </p:cNvPicPr>
          <p:nvPr/>
        </p:nvPicPr>
        <p:blipFill>
          <a:blip r:embed="rId14"/>
          <a:srcRect t="-1100" b="-1100"/>
          <a:stretch/>
        </p:blipFill>
        <p:spPr>
          <a:xfrm>
            <a:off x="8876995" y="4208983"/>
            <a:ext cx="114300" cy="133502"/>
          </a:xfrm>
          <a:prstGeom prst="rect">
            <a:avLst/>
          </a:prstGeom>
        </p:spPr>
      </p:pic>
      <p:pic>
        <p:nvPicPr>
          <p:cNvPr id="46" name="Image 13" descr="preencoded.png"/>
          <p:cNvPicPr>
            <a:picLocks noChangeAspect="1"/>
          </p:cNvPicPr>
          <p:nvPr/>
        </p:nvPicPr>
        <p:blipFill>
          <a:blip r:embed="rId15"/>
          <a:srcRect t="-24" b="-24"/>
          <a:stretch/>
        </p:blipFill>
        <p:spPr>
          <a:xfrm>
            <a:off x="1828800" y="5309921"/>
            <a:ext cx="9819742" cy="983894"/>
          </a:xfrm>
          <a:prstGeom prst="rect">
            <a:avLst/>
          </a:prstGeom>
        </p:spPr>
      </p:pic>
      <p:sp>
        <p:nvSpPr>
          <p:cNvPr id="47" name="Shape 31"/>
          <p:cNvSpPr/>
          <p:nvPr/>
        </p:nvSpPr>
        <p:spPr>
          <a:xfrm>
            <a:off x="2029054" y="5564124"/>
            <a:ext cx="457200" cy="476402"/>
          </a:xfrm>
          <a:prstGeom prst="roundRect">
            <a:avLst>
              <a:gd name="adj" fmla="val 200000"/>
            </a:avLst>
          </a:prstGeom>
          <a:solidFill>
            <a:srgbClr val="DBEAFE"/>
          </a:solidFill>
          <a:ln w="12700">
            <a:solidFill>
              <a:srgbClr val="FFFFFF">
                <a:alpha val="0"/>
              </a:srgbClr>
            </a:solidFill>
            <a:prstDash val="solid"/>
          </a:ln>
        </p:spPr>
        <p:txBody>
          <a:bodyPr/>
          <a:lstStyle/>
          <a:p>
            <a:endParaRPr lang="ja-JP" altLang="en-US"/>
          </a:p>
        </p:txBody>
      </p:sp>
      <p:sp>
        <p:nvSpPr>
          <p:cNvPr id="48" name="Text 32"/>
          <p:cNvSpPr txBox="1"/>
          <p:nvPr/>
        </p:nvSpPr>
        <p:spPr>
          <a:xfrm>
            <a:off x="2676449" y="5510174"/>
            <a:ext cx="6658661" cy="238658"/>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Point</a:t>
            </a:r>
            <a:endParaRPr lang="en-US" sz="2400" dirty="0"/>
          </a:p>
        </p:txBody>
      </p:sp>
      <p:sp>
        <p:nvSpPr>
          <p:cNvPr id="49" name="Text 33"/>
          <p:cNvSpPr txBox="1"/>
          <p:nvPr/>
        </p:nvSpPr>
        <p:spPr>
          <a:xfrm>
            <a:off x="2676449" y="5849416"/>
            <a:ext cx="9048902" cy="314554"/>
          </a:xfrm>
          <a:prstGeom prst="rect">
            <a:avLst/>
          </a:prstGeom>
          <a:noFill/>
          <a:ln/>
        </p:spPr>
        <p:txBody>
          <a:bodyPr wrap="square" lIns="0" tIns="0" rIns="0" bIns="0" rtlCol="0" anchor="ctr"/>
          <a:lstStyle/>
          <a:p>
            <a:pPr marL="0" indent="0" algn="l">
              <a:buNone/>
            </a:pPr>
            <a:r>
              <a:rPr lang="en-US" sz="2000" dirty="0">
                <a:solidFill>
                  <a:srgbClr val="6B7280"/>
                </a:solidFill>
                <a:latin typeface="Noto Sans JP" pitchFamily="34" charset="0"/>
                <a:ea typeface="Noto Sans JP" pitchFamily="34" charset="-122"/>
                <a:cs typeface="Noto Sans JP" pitchFamily="34" charset="-120"/>
              </a:rPr>
              <a:t> 変数を</a:t>
            </a:r>
            <a:r>
              <a:rPr lang="en-US" sz="2000" b="1" dirty="0">
                <a:solidFill>
                  <a:srgbClr val="7C3AED"/>
                </a:solidFill>
                <a:latin typeface="Noto Sans JP" pitchFamily="34" charset="0"/>
                <a:ea typeface="Noto Sans JP" pitchFamily="34" charset="-122"/>
                <a:cs typeface="Noto Sans JP" pitchFamily="34" charset="-120"/>
              </a:rPr>
              <a:t>「作って」</a:t>
            </a:r>
            <a:r>
              <a:rPr lang="en-US" sz="2000" dirty="0">
                <a:solidFill>
                  <a:srgbClr val="6B7280"/>
                </a:solidFill>
                <a:latin typeface="Noto Sans JP" pitchFamily="34" charset="0"/>
                <a:ea typeface="Noto Sans JP" pitchFamily="34" charset="-122"/>
                <a:cs typeface="Noto Sans JP" pitchFamily="34" charset="-120"/>
              </a:rPr>
              <a:t>から、その中身を</a:t>
            </a:r>
            <a:r>
              <a:rPr lang="en-US" sz="2000" b="1" dirty="0">
                <a:solidFill>
                  <a:srgbClr val="DB2777"/>
                </a:solidFill>
                <a:latin typeface="Noto Sans JP" pitchFamily="34" charset="0"/>
                <a:ea typeface="Noto Sans JP" pitchFamily="34" charset="-122"/>
                <a:cs typeface="Noto Sans JP" pitchFamily="34" charset="-120"/>
              </a:rPr>
              <a:t>「使う（見る）」</a:t>
            </a:r>
            <a:r>
              <a:rPr lang="en-US" sz="2000" dirty="0">
                <a:solidFill>
                  <a:srgbClr val="6B7280"/>
                </a:solidFill>
                <a:latin typeface="Noto Sans JP" pitchFamily="34" charset="0"/>
                <a:ea typeface="Noto Sans JP" pitchFamily="34" charset="-122"/>
                <a:cs typeface="Noto Sans JP" pitchFamily="34" charset="-120"/>
              </a:rPr>
              <a:t>という流れを作ります。 </a:t>
            </a:r>
            <a:endParaRPr lang="en-US" sz="2000" dirty="0"/>
          </a:p>
        </p:txBody>
      </p:sp>
      <p:pic>
        <p:nvPicPr>
          <p:cNvPr id="50" name="Image 14" descr="preencoded.png"/>
          <p:cNvPicPr>
            <a:picLocks noChangeAspect="1"/>
          </p:cNvPicPr>
          <p:nvPr/>
        </p:nvPicPr>
        <p:blipFill>
          <a:blip r:embed="rId16"/>
          <a:srcRect/>
          <a:stretch/>
        </p:blipFill>
        <p:spPr>
          <a:xfrm>
            <a:off x="2143354" y="5678424"/>
            <a:ext cx="228600" cy="228600"/>
          </a:xfrm>
          <a:prstGeom prst="rect">
            <a:avLst/>
          </a:prstGeom>
        </p:spPr>
      </p:pic>
      <p:sp>
        <p:nvSpPr>
          <p:cNvPr id="51" name="Shape 34"/>
          <p:cNvSpPr/>
          <p:nvPr/>
        </p:nvSpPr>
        <p:spPr>
          <a:xfrm>
            <a:off x="0" y="1"/>
            <a:ext cx="12191695" cy="1456640"/>
          </a:xfrm>
          <a:prstGeom prst="rect">
            <a:avLst/>
          </a:prstGeom>
          <a:solidFill>
            <a:srgbClr val="FFFFFF"/>
          </a:solidFill>
          <a:ln/>
        </p:spPr>
        <p:txBody>
          <a:bodyPr/>
          <a:lstStyle/>
          <a:p>
            <a:endParaRPr lang="ja-JP" altLang="en-US"/>
          </a:p>
        </p:txBody>
      </p:sp>
      <p:sp>
        <p:nvSpPr>
          <p:cNvPr id="53" name="Text 36"/>
          <p:cNvSpPr txBox="1"/>
          <p:nvPr/>
        </p:nvSpPr>
        <p:spPr>
          <a:xfrm>
            <a:off x="457200" y="304495"/>
            <a:ext cx="5162702" cy="267005"/>
          </a:xfrm>
          <a:prstGeom prst="rect">
            <a:avLst/>
          </a:prstGeom>
          <a:noFill/>
          <a:ln/>
        </p:spPr>
        <p:txBody>
          <a:bodyPr wrap="square" lIns="0" tIns="0" rIns="0" bIns="0" rtlCol="0" anchor="ctr"/>
          <a:lstStyle/>
          <a:p>
            <a:pPr marL="0" indent="0" algn="l">
              <a:buNone/>
            </a:pPr>
            <a:r>
              <a:rPr lang="en-US" sz="1300" b="1" kern="0" spc="135" dirty="0">
                <a:solidFill>
                  <a:srgbClr val="6B7280"/>
                </a:solidFill>
                <a:latin typeface="Noto Sans JP" pitchFamily="34" charset="0"/>
                <a:ea typeface="Noto Sans JP" pitchFamily="34" charset="-122"/>
                <a:cs typeface="Noto Sans JP" pitchFamily="34" charset="-120"/>
              </a:rPr>
              <a:t>PA45｜第2回</a:t>
            </a:r>
            <a:endParaRPr lang="en-US" sz="1300" dirty="0"/>
          </a:p>
        </p:txBody>
      </p:sp>
      <p:sp>
        <p:nvSpPr>
          <p:cNvPr id="54" name="Text 37"/>
          <p:cNvSpPr txBox="1"/>
          <p:nvPr/>
        </p:nvSpPr>
        <p:spPr>
          <a:xfrm>
            <a:off x="457200" y="609905"/>
            <a:ext cx="8065008"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今日の完成図    </a:t>
            </a:r>
            <a:r>
              <a:rPr lang="en-US" sz="2200" b="1">
                <a:solidFill>
                  <a:srgbClr val="6B7280"/>
                </a:solidFill>
                <a:latin typeface="Noto Sans JP" pitchFamily="34" charset="0"/>
                <a:ea typeface="Noto Sans JP" pitchFamily="34" charset="-122"/>
                <a:cs typeface="Noto Sans JP" pitchFamily="34" charset="-120"/>
              </a:rPr>
              <a:t>フロー構成</a:t>
            </a:r>
            <a:endParaRPr lang="en-US" sz="4500" dirty="0"/>
          </a:p>
        </p:txBody>
      </p:sp>
      <p:sp>
        <p:nvSpPr>
          <p:cNvPr id="55" name="Shape 38"/>
          <p:cNvSpPr/>
          <p:nvPr/>
        </p:nvSpPr>
        <p:spPr>
          <a:xfrm>
            <a:off x="10374782"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56" name="Text 39"/>
          <p:cNvSpPr txBox="1"/>
          <p:nvPr/>
        </p:nvSpPr>
        <p:spPr>
          <a:xfrm>
            <a:off x="10603382" y="828446"/>
            <a:ext cx="1209751" cy="267005"/>
          </a:xfrm>
          <a:prstGeom prst="rect">
            <a:avLst/>
          </a:prstGeom>
          <a:noFill/>
          <a:ln/>
        </p:spPr>
        <p:txBody>
          <a:bodyPr wrap="square" lIns="0" tIns="0" rIns="0" bIns="0" rtlCol="0" anchor="ctr"/>
          <a:lstStyle/>
          <a:p>
            <a:pPr marL="0" indent="0" algn="l">
              <a:buNone/>
            </a:pPr>
            <a:r>
              <a:rPr lang="en-US" sz="1300" dirty="0">
                <a:solidFill>
                  <a:srgbClr val="9CA3AF"/>
                </a:solidFill>
                <a:latin typeface="ui-monospace" pitchFamily="34" charset="0"/>
                <a:ea typeface="ui-monospace" pitchFamily="34" charset="-122"/>
                <a:cs typeface="ui-monospace" pitchFamily="34" charset="-120"/>
              </a:rPr>
              <a:t>Flow Design</a:t>
            </a:r>
            <a:endParaRPr lang="en-US" sz="1300" dirty="0"/>
          </a:p>
        </p:txBody>
      </p:sp>
      <p:sp>
        <p:nvSpPr>
          <p:cNvPr id="59" name="Shape 41"/>
          <p:cNvSpPr/>
          <p:nvPr/>
        </p:nvSpPr>
        <p:spPr>
          <a:xfrm>
            <a:off x="0" y="6324905"/>
            <a:ext cx="12191695" cy="533095"/>
          </a:xfrm>
          <a:prstGeom prst="rect">
            <a:avLst/>
          </a:prstGeom>
          <a:solidFill>
            <a:srgbClr val="FFFFFF"/>
          </a:solidFill>
          <a:ln/>
        </p:spPr>
        <p:txBody>
          <a:bodyPr/>
          <a:lstStyle/>
          <a:p>
            <a:endParaRPr lang="ja-JP" altLang="en-US"/>
          </a:p>
        </p:txBody>
      </p:sp>
      <p:sp>
        <p:nvSpPr>
          <p:cNvPr id="60" name="Shape 42"/>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61" name="Text 43"/>
          <p:cNvSpPr txBox="1"/>
          <p:nvPr/>
        </p:nvSpPr>
        <p:spPr>
          <a:xfrm>
            <a:off x="457200" y="6482182"/>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62" name="Text 44"/>
          <p:cNvSpPr txBox="1"/>
          <p:nvPr/>
        </p:nvSpPr>
        <p:spPr>
          <a:xfrm>
            <a:off x="10490911" y="6482182"/>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3" name="Image 16" descr="preencoded.png"/>
          <p:cNvPicPr>
            <a:picLocks noChangeAspect="1"/>
          </p:cNvPicPr>
          <p:nvPr/>
        </p:nvPicPr>
        <p:blipFill>
          <a:blip r:embed="rId17"/>
          <a:srcRect l="-200" r="-200"/>
          <a:stretch/>
        </p:blipFill>
        <p:spPr>
          <a:xfrm>
            <a:off x="0" y="6782105"/>
            <a:ext cx="12191695" cy="75895"/>
          </a:xfrm>
          <a:prstGeom prst="rect">
            <a:avLst/>
          </a:prstGeom>
        </p:spPr>
      </p:pic>
      <p:grpSp>
        <p:nvGrpSpPr>
          <p:cNvPr id="68" name="グループ化 67">
            <a:extLst>
              <a:ext uri="{FF2B5EF4-FFF2-40B4-BE49-F238E27FC236}">
                <a16:creationId xmlns:a16="http://schemas.microsoft.com/office/drawing/2014/main" id="{636F9A9D-3EA0-9907-8459-4708BE2935C5}"/>
              </a:ext>
            </a:extLst>
          </p:cNvPr>
          <p:cNvGrpSpPr/>
          <p:nvPr/>
        </p:nvGrpSpPr>
        <p:grpSpPr>
          <a:xfrm>
            <a:off x="4603551" y="6322778"/>
            <a:ext cx="7350682" cy="405017"/>
            <a:chOff x="5861349" y="604238"/>
            <a:chExt cx="6035909" cy="405017"/>
          </a:xfrm>
        </p:grpSpPr>
        <p:sp>
          <p:nvSpPr>
            <p:cNvPr id="69" name="Shape 31">
              <a:extLst>
                <a:ext uri="{FF2B5EF4-FFF2-40B4-BE49-F238E27FC236}">
                  <a16:creationId xmlns:a16="http://schemas.microsoft.com/office/drawing/2014/main" id="{1C8BAAB0-19A5-05E7-A807-D837FA30D93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70" name="Text 21">
              <a:extLst>
                <a:ext uri="{FF2B5EF4-FFF2-40B4-BE49-F238E27FC236}">
                  <a16:creationId xmlns:a16="http://schemas.microsoft.com/office/drawing/2014/main" id="{B0B8E256-F6A2-5F30-1DB4-72D985AE0A77}"/>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71" name="Image 2" descr="preencoded.png">
              <a:extLst>
                <a:ext uri="{FF2B5EF4-FFF2-40B4-BE49-F238E27FC236}">
                  <a16:creationId xmlns:a16="http://schemas.microsoft.com/office/drawing/2014/main" id="{1FFD51C7-6222-7F68-256E-B31D360EA64A}"/>
                </a:ext>
              </a:extLst>
            </p:cNvPr>
            <p:cNvPicPr>
              <a:picLocks noChangeAspect="1"/>
            </p:cNvPicPr>
            <p:nvPr/>
          </p:nvPicPr>
          <p:blipFill>
            <a:blip r:embed="rId18"/>
            <a:srcRect/>
            <a:stretch/>
          </p:blipFill>
          <p:spPr>
            <a:xfrm>
              <a:off x="5861349" y="619679"/>
              <a:ext cx="263236" cy="38957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171846"/>
          </a:xfrm>
          <a:prstGeom prst="rect">
            <a:avLst/>
          </a:prstGeom>
          <a:solidFill>
            <a:srgbClr val="F9FAFB"/>
          </a:solidFill>
          <a:ln w="12700">
            <a:solidFill>
              <a:srgbClr val="FFFFFF">
                <a:alpha val="0"/>
              </a:srgbClr>
            </a:solidFill>
            <a:prstDash val="solid"/>
          </a:ln>
        </p:spPr>
        <p:txBody>
          <a:bodyPr/>
          <a:lstStyle/>
          <a:p>
            <a:endParaRPr lang="ja-JP" altLang="en-US"/>
          </a:p>
        </p:txBody>
      </p:sp>
      <p:sp>
        <p:nvSpPr>
          <p:cNvPr id="5" name="Shape 3"/>
          <p:cNvSpPr/>
          <p:nvPr/>
        </p:nvSpPr>
        <p:spPr>
          <a:xfrm>
            <a:off x="0" y="1343254"/>
            <a:ext cx="12191695" cy="5171846"/>
          </a:xfrm>
          <a:prstGeom prst="rect">
            <a:avLst/>
          </a:prstGeom>
          <a:solidFill>
            <a:srgbClr val="DBEAFE">
              <a:alpha val="5000"/>
            </a:srgbClr>
          </a:solidFill>
          <a:ln w="12700">
            <a:solidFill>
              <a:srgbClr val="FFFFFF">
                <a:alpha val="0"/>
              </a:srgbClr>
            </a:solidFill>
            <a:prstDash val="solid"/>
          </a:ln>
        </p:spPr>
        <p:txBody>
          <a:bodyPr/>
          <a:lstStyle/>
          <a:p>
            <a:endParaRPr lang="ja-JP" altLang="en-US"/>
          </a:p>
        </p:txBody>
      </p:sp>
      <p:pic>
        <p:nvPicPr>
          <p:cNvPr id="6" name="Image 0" descr="preencoded.png"/>
          <p:cNvPicPr>
            <a:picLocks noChangeAspect="1"/>
          </p:cNvPicPr>
          <p:nvPr/>
        </p:nvPicPr>
        <p:blipFill>
          <a:blip r:embed="rId3"/>
          <a:srcRect l="-1" r="-1"/>
          <a:stretch/>
        </p:blipFill>
        <p:spPr>
          <a:xfrm>
            <a:off x="381305" y="1723644"/>
            <a:ext cx="3657600" cy="4401922"/>
          </a:xfrm>
          <a:prstGeom prst="rect">
            <a:avLst/>
          </a:prstGeom>
        </p:spPr>
      </p:pic>
      <p:sp>
        <p:nvSpPr>
          <p:cNvPr id="7" name="Shape 4"/>
          <p:cNvSpPr/>
          <p:nvPr/>
        </p:nvSpPr>
        <p:spPr>
          <a:xfrm>
            <a:off x="3276295" y="1609344"/>
            <a:ext cx="952805" cy="952805"/>
          </a:xfrm>
          <a:prstGeom prst="ellipse">
            <a:avLst/>
          </a:prstGeom>
          <a:solidFill>
            <a:srgbClr val="8B5CF6">
              <a:alpha val="10000"/>
            </a:srgbClr>
          </a:solidFill>
          <a:ln w="12700">
            <a:solidFill>
              <a:srgbClr val="FFFFFF">
                <a:alpha val="0"/>
              </a:srgbClr>
            </a:solidFill>
            <a:prstDash val="solid"/>
          </a:ln>
        </p:spPr>
        <p:txBody>
          <a:bodyPr/>
          <a:lstStyle/>
          <a:p>
            <a:endParaRPr lang="ja-JP" altLang="en-US"/>
          </a:p>
        </p:txBody>
      </p:sp>
      <p:pic>
        <p:nvPicPr>
          <p:cNvPr id="8" name="Image 1" descr="preencoded.png"/>
          <p:cNvPicPr>
            <a:picLocks noChangeAspect="1"/>
          </p:cNvPicPr>
          <p:nvPr/>
        </p:nvPicPr>
        <p:blipFill>
          <a:blip r:embed="rId4"/>
          <a:srcRect/>
          <a:stretch/>
        </p:blipFill>
        <p:spPr>
          <a:xfrm>
            <a:off x="609905" y="2029054"/>
            <a:ext cx="609905" cy="609905"/>
          </a:xfrm>
          <a:prstGeom prst="rect">
            <a:avLst/>
          </a:prstGeom>
        </p:spPr>
      </p:pic>
      <p:pic>
        <p:nvPicPr>
          <p:cNvPr id="9" name="Image 2" descr="preencoded.png"/>
          <p:cNvPicPr>
            <a:picLocks noChangeAspect="1"/>
          </p:cNvPicPr>
          <p:nvPr/>
        </p:nvPicPr>
        <p:blipFill>
          <a:blip r:embed="rId5"/>
          <a:srcRect/>
          <a:stretch/>
        </p:blipFill>
        <p:spPr>
          <a:xfrm>
            <a:off x="743407" y="2162556"/>
            <a:ext cx="342900" cy="342900"/>
          </a:xfrm>
          <a:prstGeom prst="rect">
            <a:avLst/>
          </a:prstGeom>
        </p:spPr>
      </p:pic>
      <p:sp>
        <p:nvSpPr>
          <p:cNvPr id="10" name="Text 5"/>
          <p:cNvSpPr txBox="1"/>
          <p:nvPr/>
        </p:nvSpPr>
        <p:spPr>
          <a:xfrm>
            <a:off x="609905" y="2753150"/>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型を間違えていないか？</a:t>
            </a:r>
            <a:endParaRPr lang="en-US" sz="2000" dirty="0"/>
          </a:p>
        </p:txBody>
      </p:sp>
      <p:sp>
        <p:nvSpPr>
          <p:cNvPr id="11" name="Text 6"/>
          <p:cNvSpPr txBox="1"/>
          <p:nvPr/>
        </p:nvSpPr>
        <p:spPr>
          <a:xfrm>
            <a:off x="514045" y="3286811"/>
            <a:ext cx="350642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箱の種類（型）と、中に入れる値が一致していないとエラーになります。</a:t>
            </a:r>
            <a:endParaRPr lang="en-US" sz="1600" dirty="0"/>
          </a:p>
        </p:txBody>
      </p:sp>
      <p:grpSp>
        <p:nvGrpSpPr>
          <p:cNvPr id="70" name="グループ化 69">
            <a:extLst>
              <a:ext uri="{FF2B5EF4-FFF2-40B4-BE49-F238E27FC236}">
                <a16:creationId xmlns:a16="http://schemas.microsoft.com/office/drawing/2014/main" id="{A04D80BE-C24B-A4E6-D57F-76B6FE9C7CB2}"/>
              </a:ext>
            </a:extLst>
          </p:cNvPr>
          <p:cNvGrpSpPr/>
          <p:nvPr/>
        </p:nvGrpSpPr>
        <p:grpSpPr>
          <a:xfrm>
            <a:off x="552297" y="4243404"/>
            <a:ext cx="3334818" cy="1385642"/>
            <a:chOff x="609905" y="4658868"/>
            <a:chExt cx="3200400" cy="1238098"/>
          </a:xfrm>
        </p:grpSpPr>
        <p:sp>
          <p:nvSpPr>
            <p:cNvPr id="12" name="Shape 7"/>
            <p:cNvSpPr/>
            <p:nvPr/>
          </p:nvSpPr>
          <p:spPr>
            <a:xfrm>
              <a:off x="609905" y="4658868"/>
              <a:ext cx="3200400" cy="1238098"/>
            </a:xfrm>
            <a:prstGeom prst="roundRect">
              <a:avLst>
                <a:gd name="adj" fmla="val 9090"/>
              </a:avLst>
            </a:prstGeom>
            <a:solidFill>
              <a:srgbClr val="F5F3FF"/>
            </a:solidFill>
            <a:ln w="12700">
              <a:solidFill>
                <a:srgbClr val="EDE9FE"/>
              </a:solidFill>
              <a:prstDash val="solid"/>
            </a:ln>
          </p:spPr>
          <p:txBody>
            <a:bodyPr/>
            <a:lstStyle/>
            <a:p>
              <a:endParaRPr lang="ja-JP" altLang="en-US"/>
            </a:p>
          </p:txBody>
        </p:sp>
        <p:sp>
          <p:nvSpPr>
            <p:cNvPr id="13" name="Text 8"/>
            <p:cNvSpPr txBox="1"/>
            <p:nvPr/>
          </p:nvSpPr>
          <p:spPr>
            <a:xfrm>
              <a:off x="746217" y="4751485"/>
              <a:ext cx="2991002" cy="191110"/>
            </a:xfrm>
            <a:prstGeom prst="rect">
              <a:avLst/>
            </a:prstGeom>
            <a:noFill/>
            <a:ln/>
          </p:spPr>
          <p:txBody>
            <a:bodyPr wrap="square" lIns="0" tIns="0" rIns="0" bIns="0" rtlCol="0" anchor="ctr"/>
            <a:lstStyle/>
            <a:p>
              <a:pPr marL="0" indent="0" algn="l">
                <a:buNone/>
              </a:pPr>
              <a:r>
                <a:rPr lang="en-US" sz="1400" b="1" dirty="0">
                  <a:solidFill>
                    <a:srgbClr val="A78BFA"/>
                  </a:solidFill>
                  <a:latin typeface="Noto Sans JP" pitchFamily="34" charset="0"/>
                  <a:ea typeface="Noto Sans JP" pitchFamily="34" charset="-122"/>
                  <a:cs typeface="Noto Sans JP" pitchFamily="34" charset="-120"/>
                </a:rPr>
                <a:t>Check</a:t>
              </a:r>
              <a:endParaRPr lang="en-US" sz="1400" dirty="0"/>
            </a:p>
          </p:txBody>
        </p:sp>
        <p:sp>
          <p:nvSpPr>
            <p:cNvPr id="14" name="Text 9"/>
            <p:cNvSpPr txBox="1"/>
            <p:nvPr/>
          </p:nvSpPr>
          <p:spPr>
            <a:xfrm>
              <a:off x="1047903" y="5064891"/>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文字なら </a:t>
              </a:r>
              <a:r>
                <a:rPr lang="en-US" sz="2000" b="1" dirty="0">
                  <a:solidFill>
                    <a:srgbClr val="374151"/>
                  </a:solidFill>
                  <a:latin typeface="Noto Sans JP" pitchFamily="34" charset="0"/>
                  <a:ea typeface="Noto Sans JP" pitchFamily="34" charset="-122"/>
                  <a:cs typeface="Noto Sans JP" pitchFamily="34" charset="-120"/>
                </a:rPr>
                <a:t>String</a:t>
              </a:r>
              <a:endParaRPr lang="en-US" sz="2000" dirty="0"/>
            </a:p>
          </p:txBody>
        </p:sp>
        <p:pic>
          <p:nvPicPr>
            <p:cNvPr id="15" name="Image 3" descr="preencoded.png"/>
            <p:cNvPicPr>
              <a:picLocks noChangeAspect="1"/>
            </p:cNvPicPr>
            <p:nvPr/>
          </p:nvPicPr>
          <p:blipFill>
            <a:blip r:embed="rId6"/>
            <a:srcRect l="-760" r="-760"/>
            <a:stretch/>
          </p:blipFill>
          <p:spPr>
            <a:xfrm>
              <a:off x="771754" y="5106924"/>
              <a:ext cx="181051" cy="203816"/>
            </a:xfrm>
            <a:prstGeom prst="rect">
              <a:avLst/>
            </a:prstGeom>
          </p:spPr>
        </p:pic>
        <p:sp>
          <p:nvSpPr>
            <p:cNvPr id="16" name="Text 10"/>
            <p:cNvSpPr txBox="1"/>
            <p:nvPr/>
          </p:nvSpPr>
          <p:spPr>
            <a:xfrm>
              <a:off x="1047903" y="5477828"/>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数値なら </a:t>
              </a:r>
              <a:r>
                <a:rPr lang="en-US" sz="2000" b="1" dirty="0">
                  <a:solidFill>
                    <a:srgbClr val="374151"/>
                  </a:solidFill>
                  <a:latin typeface="Noto Sans JP" pitchFamily="34" charset="0"/>
                  <a:ea typeface="Noto Sans JP" pitchFamily="34" charset="-122"/>
                  <a:cs typeface="Noto Sans JP" pitchFamily="34" charset="-120"/>
                </a:rPr>
                <a:t>Integer</a:t>
              </a:r>
              <a:endParaRPr lang="en-US" sz="2000" dirty="0"/>
            </a:p>
          </p:txBody>
        </p:sp>
        <p:pic>
          <p:nvPicPr>
            <p:cNvPr id="17" name="Image 4" descr="preencoded.png"/>
            <p:cNvPicPr>
              <a:picLocks noChangeAspect="1"/>
            </p:cNvPicPr>
            <p:nvPr/>
          </p:nvPicPr>
          <p:blipFill>
            <a:blip r:embed="rId6"/>
            <a:srcRect l="-760" r="-760"/>
            <a:stretch/>
          </p:blipFill>
          <p:spPr>
            <a:xfrm>
              <a:off x="771754" y="5506517"/>
              <a:ext cx="182087" cy="204983"/>
            </a:xfrm>
            <a:prstGeom prst="rect">
              <a:avLst/>
            </a:prstGeom>
          </p:spPr>
        </p:pic>
      </p:grpSp>
      <p:pic>
        <p:nvPicPr>
          <p:cNvPr id="18" name="Image 5" descr="preencoded.png"/>
          <p:cNvPicPr>
            <a:picLocks noChangeAspect="1"/>
          </p:cNvPicPr>
          <p:nvPr/>
        </p:nvPicPr>
        <p:blipFill>
          <a:blip r:embed="rId3"/>
          <a:srcRect l="-1" r="-1"/>
          <a:stretch/>
        </p:blipFill>
        <p:spPr>
          <a:xfrm>
            <a:off x="4267505" y="1723644"/>
            <a:ext cx="3657600" cy="4401922"/>
          </a:xfrm>
          <a:prstGeom prst="rect">
            <a:avLst/>
          </a:prstGeom>
        </p:spPr>
      </p:pic>
      <p:pic>
        <p:nvPicPr>
          <p:cNvPr id="19" name="Image 6" descr="preencoded.png"/>
          <p:cNvPicPr>
            <a:picLocks noChangeAspect="1"/>
          </p:cNvPicPr>
          <p:nvPr/>
        </p:nvPicPr>
        <p:blipFill>
          <a:blip r:embed="rId7"/>
          <a:srcRect l="-27" r="-27"/>
          <a:stretch/>
        </p:blipFill>
        <p:spPr>
          <a:xfrm>
            <a:off x="4586630" y="2162556"/>
            <a:ext cx="428854" cy="342900"/>
          </a:xfrm>
          <a:prstGeom prst="rect">
            <a:avLst/>
          </a:prstGeom>
        </p:spPr>
      </p:pic>
      <p:sp>
        <p:nvSpPr>
          <p:cNvPr id="20" name="Text 11"/>
          <p:cNvSpPr txBox="1"/>
          <p:nvPr/>
        </p:nvSpPr>
        <p:spPr>
          <a:xfrm>
            <a:off x="4496105" y="2728569"/>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名前が壊れていないか？</a:t>
            </a:r>
            <a:endParaRPr lang="en-US" sz="2000" dirty="0"/>
          </a:p>
        </p:txBody>
      </p:sp>
      <p:sp>
        <p:nvSpPr>
          <p:cNvPr id="21" name="Text 12"/>
          <p:cNvSpPr txBox="1"/>
          <p:nvPr/>
        </p:nvSpPr>
        <p:spPr>
          <a:xfrm>
            <a:off x="4496105" y="3142793"/>
            <a:ext cx="3277210" cy="767182"/>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変数の名前に余計なスペースや、</a:t>
            </a:r>
          </a:p>
          <a:p>
            <a:pPr marL="0" indent="0" algn="l">
              <a:buNone/>
            </a:pPr>
            <a:r>
              <a:rPr lang="en-US" sz="1600">
                <a:solidFill>
                  <a:srgbClr val="4B5563"/>
                </a:solidFill>
                <a:latin typeface="Noto Sans JP" pitchFamily="34" charset="0"/>
                <a:ea typeface="Noto Sans JP" pitchFamily="34" charset="-122"/>
                <a:cs typeface="Noto Sans JP" pitchFamily="34" charset="-120"/>
              </a:rPr>
              <a:t>全角文字が混ざっていないか確認しましょう</a:t>
            </a:r>
            <a:r>
              <a:rPr lang="en-US" sz="1600" dirty="0">
                <a:solidFill>
                  <a:srgbClr val="4B5563"/>
                </a:solidFill>
                <a:latin typeface="Noto Sans JP" pitchFamily="34" charset="0"/>
                <a:ea typeface="Noto Sans JP" pitchFamily="34" charset="-122"/>
                <a:cs typeface="Noto Sans JP" pitchFamily="34" charset="-120"/>
              </a:rPr>
              <a:t>。</a:t>
            </a:r>
            <a:endParaRPr lang="en-US" sz="1600" dirty="0"/>
          </a:p>
        </p:txBody>
      </p:sp>
      <p:grpSp>
        <p:nvGrpSpPr>
          <p:cNvPr id="71" name="グループ化 70">
            <a:extLst>
              <a:ext uri="{FF2B5EF4-FFF2-40B4-BE49-F238E27FC236}">
                <a16:creationId xmlns:a16="http://schemas.microsoft.com/office/drawing/2014/main" id="{6353B440-1F85-167D-521F-EBD101E19D6E}"/>
              </a:ext>
            </a:extLst>
          </p:cNvPr>
          <p:cNvGrpSpPr/>
          <p:nvPr/>
        </p:nvGrpSpPr>
        <p:grpSpPr>
          <a:xfrm>
            <a:off x="4466844" y="3955694"/>
            <a:ext cx="3229661" cy="1943100"/>
            <a:chOff x="4466844" y="3955694"/>
            <a:chExt cx="3229661" cy="1943100"/>
          </a:xfrm>
        </p:grpSpPr>
        <p:sp>
          <p:nvSpPr>
            <p:cNvPr id="22" name="Shape 13"/>
            <p:cNvSpPr/>
            <p:nvPr/>
          </p:nvSpPr>
          <p:spPr>
            <a:xfrm>
              <a:off x="4496105" y="3955694"/>
              <a:ext cx="3200400" cy="1943100"/>
            </a:xfrm>
            <a:prstGeom prst="roundRect">
              <a:avLst>
                <a:gd name="adj" fmla="val 3691"/>
              </a:avLst>
            </a:prstGeom>
            <a:noFill/>
            <a:ln w="12700">
              <a:solidFill>
                <a:srgbClr val="E5E7EB"/>
              </a:solidFill>
              <a:prstDash val="solid"/>
            </a:ln>
          </p:spPr>
          <p:txBody>
            <a:bodyPr/>
            <a:lstStyle/>
            <a:p>
              <a:endParaRPr lang="ja-JP" altLang="en-US" sz="2800"/>
            </a:p>
          </p:txBody>
        </p:sp>
        <p:sp>
          <p:nvSpPr>
            <p:cNvPr id="23" name="Shape 14"/>
            <p:cNvSpPr/>
            <p:nvPr/>
          </p:nvSpPr>
          <p:spPr>
            <a:xfrm>
              <a:off x="4657954" y="5004511"/>
              <a:ext cx="2876702" cy="9144"/>
            </a:xfrm>
            <a:prstGeom prst="rect">
              <a:avLst/>
            </a:prstGeom>
            <a:solidFill>
              <a:srgbClr val="E5E7EB"/>
            </a:solidFill>
            <a:ln w="12700">
              <a:solidFill>
                <a:srgbClr val="E5E7EB">
                  <a:alpha val="0"/>
                </a:srgbClr>
              </a:solidFill>
              <a:prstDash val="solid"/>
            </a:ln>
          </p:spPr>
          <p:txBody>
            <a:bodyPr/>
            <a:lstStyle/>
            <a:p>
              <a:endParaRPr lang="ja-JP" altLang="en-US" sz="2800"/>
            </a:p>
          </p:txBody>
        </p:sp>
        <p:sp>
          <p:nvSpPr>
            <p:cNvPr id="24" name="Text 15"/>
            <p:cNvSpPr txBox="1"/>
            <p:nvPr/>
          </p:nvSpPr>
          <p:spPr>
            <a:xfrm>
              <a:off x="4657954" y="407410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Example</a:t>
              </a:r>
              <a:endParaRPr lang="en-US" sz="1600" dirty="0"/>
            </a:p>
          </p:txBody>
        </p:sp>
        <p:sp>
          <p:nvSpPr>
            <p:cNvPr id="25" name="Shape 16"/>
            <p:cNvSpPr/>
            <p:nvPr/>
          </p:nvSpPr>
          <p:spPr>
            <a:xfrm>
              <a:off x="4657954" y="434705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26" name="Text 17"/>
            <p:cNvSpPr txBox="1"/>
            <p:nvPr/>
          </p:nvSpPr>
          <p:spPr>
            <a:xfrm>
              <a:off x="4905756" y="4347058"/>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 </a:t>
              </a:r>
              <a:endParaRPr lang="en-US" dirty="0"/>
            </a:p>
          </p:txBody>
        </p:sp>
        <p:pic>
          <p:nvPicPr>
            <p:cNvPr id="27" name="Image 7" descr="preencoded.png"/>
            <p:cNvPicPr>
              <a:picLocks noChangeAspect="1"/>
            </p:cNvPicPr>
            <p:nvPr/>
          </p:nvPicPr>
          <p:blipFill>
            <a:blip r:embed="rId8"/>
            <a:srcRect t="-2222" b="-2222"/>
            <a:stretch/>
          </p:blipFill>
          <p:spPr>
            <a:xfrm>
              <a:off x="4743907" y="4414723"/>
              <a:ext cx="123444" cy="171907"/>
            </a:xfrm>
            <a:prstGeom prst="rect">
              <a:avLst/>
            </a:prstGeom>
          </p:spPr>
        </p:pic>
        <p:sp>
          <p:nvSpPr>
            <p:cNvPr id="28" name="Text 18"/>
            <p:cNvSpPr txBox="1"/>
            <p:nvPr/>
          </p:nvSpPr>
          <p:spPr>
            <a:xfrm>
              <a:off x="4466844" y="4731106"/>
              <a:ext cx="3067812" cy="191110"/>
            </a:xfrm>
            <a:prstGeom prst="rect">
              <a:avLst/>
            </a:prstGeom>
            <a:noFill/>
            <a:ln/>
          </p:spPr>
          <p:txBody>
            <a:bodyPr wrap="square" lIns="0" tIns="0" rIns="0" bIns="0" rtlCol="0" anchor="ctr"/>
            <a:lstStyle/>
            <a:p>
              <a:pPr marL="0" indent="0" algn="r">
                <a:buNone/>
              </a:pPr>
              <a:r>
                <a:rPr lang="en-US" sz="1200" dirty="0">
                  <a:solidFill>
                    <a:srgbClr val="F87171"/>
                  </a:solidFill>
                  <a:latin typeface="Noto Sans JP" pitchFamily="34" charset="0"/>
                  <a:ea typeface="Noto Sans JP" pitchFamily="34" charset="-122"/>
                  <a:cs typeface="Noto Sans JP" pitchFamily="34" charset="-120"/>
                </a:rPr>
                <a:t>全角スペースに注意！</a:t>
              </a:r>
              <a:endParaRPr lang="en-US" sz="1200" dirty="0"/>
            </a:p>
          </p:txBody>
        </p:sp>
        <p:sp>
          <p:nvSpPr>
            <p:cNvPr id="29" name="Text 19"/>
            <p:cNvSpPr txBox="1"/>
            <p:nvPr/>
          </p:nvSpPr>
          <p:spPr>
            <a:xfrm>
              <a:off x="4657954" y="5115610"/>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Example</a:t>
              </a:r>
              <a:endParaRPr lang="en-US" sz="1600" dirty="0"/>
            </a:p>
          </p:txBody>
        </p:sp>
        <p:sp>
          <p:nvSpPr>
            <p:cNvPr id="30" name="Shape 20"/>
            <p:cNvSpPr/>
            <p:nvPr/>
          </p:nvSpPr>
          <p:spPr>
            <a:xfrm>
              <a:off x="4657954" y="5388559"/>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31" name="Text 21"/>
            <p:cNvSpPr txBox="1"/>
            <p:nvPr/>
          </p:nvSpPr>
          <p:spPr>
            <a:xfrm>
              <a:off x="4924958" y="5388559"/>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b="1" dirty="0">
                  <a:solidFill>
                    <a:srgbClr val="475569"/>
                  </a:solidFill>
                  <a:latin typeface="Consolas" pitchFamily="34" charset="0"/>
                  <a:ea typeface="Consolas" pitchFamily="34" charset="-122"/>
                  <a:cs typeface="Consolas" pitchFamily="34" charset="-120"/>
                </a:rPr>
                <a:t> "message" </a:t>
              </a:r>
              <a:endParaRPr lang="en-US" dirty="0"/>
            </a:p>
          </p:txBody>
        </p:sp>
        <p:pic>
          <p:nvPicPr>
            <p:cNvPr id="32" name="Image 8" descr="preencoded.png"/>
            <p:cNvPicPr>
              <a:picLocks noChangeAspect="1"/>
            </p:cNvPicPr>
            <p:nvPr/>
          </p:nvPicPr>
          <p:blipFill>
            <a:blip r:embed="rId9"/>
            <a:srcRect t="-2725" b="-2725"/>
            <a:stretch/>
          </p:blipFill>
          <p:spPr>
            <a:xfrm>
              <a:off x="4743907" y="5457139"/>
              <a:ext cx="142646" cy="171907"/>
            </a:xfrm>
            <a:prstGeom prst="rect">
              <a:avLst/>
            </a:prstGeom>
          </p:spPr>
        </p:pic>
      </p:grpSp>
      <p:pic>
        <p:nvPicPr>
          <p:cNvPr id="33" name="Image 9" descr="preencoded.png"/>
          <p:cNvPicPr>
            <a:picLocks noChangeAspect="1"/>
          </p:cNvPicPr>
          <p:nvPr/>
        </p:nvPicPr>
        <p:blipFill>
          <a:blip r:embed="rId3"/>
          <a:srcRect l="-1" r="-1"/>
          <a:stretch/>
        </p:blipFill>
        <p:spPr>
          <a:xfrm>
            <a:off x="8153705" y="1723644"/>
            <a:ext cx="3657600" cy="4401922"/>
          </a:xfrm>
          <a:prstGeom prst="rect">
            <a:avLst/>
          </a:prstGeom>
        </p:spPr>
      </p:pic>
      <p:sp>
        <p:nvSpPr>
          <p:cNvPr id="34" name="Shape 22"/>
          <p:cNvSpPr/>
          <p:nvPr/>
        </p:nvSpPr>
        <p:spPr>
          <a:xfrm>
            <a:off x="11048695" y="1609344"/>
            <a:ext cx="952805" cy="952805"/>
          </a:xfrm>
          <a:prstGeom prst="ellipse">
            <a:avLst/>
          </a:prstGeom>
          <a:solidFill>
            <a:srgbClr val="3B82F6">
              <a:alpha val="10000"/>
            </a:srgbClr>
          </a:solidFill>
          <a:ln w="12700">
            <a:solidFill>
              <a:srgbClr val="FFFFFF">
                <a:alpha val="0"/>
              </a:srgbClr>
            </a:solidFill>
            <a:prstDash val="solid"/>
          </a:ln>
        </p:spPr>
        <p:txBody>
          <a:bodyPr/>
          <a:lstStyle/>
          <a:p>
            <a:endParaRPr lang="ja-JP" altLang="en-US"/>
          </a:p>
        </p:txBody>
      </p:sp>
      <p:pic>
        <p:nvPicPr>
          <p:cNvPr id="35" name="Image 10" descr="preencoded.png"/>
          <p:cNvPicPr>
            <a:picLocks noChangeAspect="1"/>
          </p:cNvPicPr>
          <p:nvPr/>
        </p:nvPicPr>
        <p:blipFill>
          <a:blip r:embed="rId10"/>
          <a:srcRect/>
          <a:stretch/>
        </p:blipFill>
        <p:spPr>
          <a:xfrm>
            <a:off x="8382305" y="2029054"/>
            <a:ext cx="609905" cy="609905"/>
          </a:xfrm>
          <a:prstGeom prst="rect">
            <a:avLst/>
          </a:prstGeom>
        </p:spPr>
      </p:pic>
      <p:pic>
        <p:nvPicPr>
          <p:cNvPr id="36" name="Image 11" descr="preencoded.png"/>
          <p:cNvPicPr>
            <a:picLocks noChangeAspect="1"/>
          </p:cNvPicPr>
          <p:nvPr/>
        </p:nvPicPr>
        <p:blipFill>
          <a:blip r:embed="rId11"/>
          <a:srcRect l="-743" r="-743"/>
          <a:stretch/>
        </p:blipFill>
        <p:spPr>
          <a:xfrm>
            <a:off x="8534095" y="2162556"/>
            <a:ext cx="304495" cy="342900"/>
          </a:xfrm>
          <a:prstGeom prst="rect">
            <a:avLst/>
          </a:prstGeom>
        </p:spPr>
      </p:pic>
      <p:sp>
        <p:nvSpPr>
          <p:cNvPr id="37" name="Text 23"/>
          <p:cNvSpPr txBox="1"/>
          <p:nvPr/>
        </p:nvSpPr>
        <p:spPr>
          <a:xfrm>
            <a:off x="8382305" y="2790749"/>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動的コンテンツか？</a:t>
            </a:r>
            <a:endParaRPr lang="en-US" sz="2000" dirty="0"/>
          </a:p>
        </p:txBody>
      </p:sp>
      <p:sp>
        <p:nvSpPr>
          <p:cNvPr id="38" name="Text 24"/>
          <p:cNvSpPr txBox="1"/>
          <p:nvPr/>
        </p:nvSpPr>
        <p:spPr>
          <a:xfrm>
            <a:off x="8382305" y="3181198"/>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Composeの入力欄に、手入力の文字ではなく、イナズママークの動的な値を選んでいますか？</a:t>
            </a:r>
            <a:endParaRPr lang="en-US" sz="1600" dirty="0"/>
          </a:p>
        </p:txBody>
      </p:sp>
      <p:sp>
        <p:nvSpPr>
          <p:cNvPr id="49" name="Shape 32"/>
          <p:cNvSpPr/>
          <p:nvPr/>
        </p:nvSpPr>
        <p:spPr>
          <a:xfrm>
            <a:off x="0" y="0"/>
            <a:ext cx="12191695" cy="1343254"/>
          </a:xfrm>
          <a:prstGeom prst="rect">
            <a:avLst/>
          </a:prstGeom>
          <a:solidFill>
            <a:srgbClr val="FFFFFF"/>
          </a:solidFill>
          <a:ln/>
        </p:spPr>
        <p:txBody>
          <a:bodyPr/>
          <a:lstStyle/>
          <a:p>
            <a:endParaRPr lang="ja-JP" altLang="en-US"/>
          </a:p>
        </p:txBody>
      </p:sp>
      <p:sp>
        <p:nvSpPr>
          <p:cNvPr id="50" name="Shape 3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51" name="Text 34"/>
          <p:cNvSpPr txBox="1"/>
          <p:nvPr/>
        </p:nvSpPr>
        <p:spPr>
          <a:xfrm>
            <a:off x="457200" y="228600"/>
            <a:ext cx="7896758"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PA45｜第2回</a:t>
            </a:r>
            <a:endParaRPr lang="en-US" sz="1500" dirty="0"/>
          </a:p>
        </p:txBody>
      </p:sp>
      <p:sp>
        <p:nvSpPr>
          <p:cNvPr id="52" name="Text 35"/>
          <p:cNvSpPr txBox="1"/>
          <p:nvPr/>
        </p:nvSpPr>
        <p:spPr>
          <a:xfrm>
            <a:off x="457200" y="533095"/>
            <a:ext cx="9461297" cy="571500"/>
          </a:xfrm>
          <a:prstGeom prst="rect">
            <a:avLst/>
          </a:prstGeom>
          <a:noFill/>
          <a:ln/>
        </p:spPr>
        <p:txBody>
          <a:bodyPr wrap="square" lIns="0" tIns="0" rIns="0" bIns="0" rtlCol="0" anchor="ctr"/>
          <a:lstStyle/>
          <a:p>
            <a:pPr marL="0" indent="0" algn="l">
              <a:buNone/>
            </a:pPr>
            <a:r>
              <a:rPr lang="en-US" sz="3600" b="1" dirty="0">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3600" dirty="0"/>
          </a:p>
        </p:txBody>
      </p:sp>
      <p:sp>
        <p:nvSpPr>
          <p:cNvPr id="53" name="Shape 36"/>
          <p:cNvSpPr/>
          <p:nvPr/>
        </p:nvSpPr>
        <p:spPr>
          <a:xfrm>
            <a:off x="10117379" y="18091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54" name="Text 37"/>
          <p:cNvSpPr txBox="1"/>
          <p:nvPr/>
        </p:nvSpPr>
        <p:spPr>
          <a:xfrm>
            <a:off x="10345979" y="105015"/>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7" name="Shape 39"/>
          <p:cNvSpPr/>
          <p:nvPr/>
        </p:nvSpPr>
        <p:spPr>
          <a:xfrm>
            <a:off x="0" y="6506870"/>
            <a:ext cx="12191695" cy="352044"/>
          </a:xfrm>
          <a:prstGeom prst="rect">
            <a:avLst/>
          </a:prstGeom>
          <a:solidFill>
            <a:srgbClr val="FFFFFF"/>
          </a:solidFill>
          <a:ln/>
        </p:spPr>
        <p:txBody>
          <a:bodyPr/>
          <a:lstStyle/>
          <a:p>
            <a:endParaRPr lang="ja-JP" altLang="en-US"/>
          </a:p>
        </p:txBody>
      </p:sp>
      <p:sp>
        <p:nvSpPr>
          <p:cNvPr id="58" name="Shape 40"/>
          <p:cNvSpPr/>
          <p:nvPr/>
        </p:nvSpPr>
        <p:spPr>
          <a:xfrm>
            <a:off x="0" y="650687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59" name="Text 41"/>
          <p:cNvSpPr txBox="1"/>
          <p:nvPr/>
        </p:nvSpPr>
        <p:spPr>
          <a:xfrm>
            <a:off x="457200" y="6572707"/>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grpSp>
        <p:nvGrpSpPr>
          <p:cNvPr id="72" name="グループ化 71">
            <a:extLst>
              <a:ext uri="{FF2B5EF4-FFF2-40B4-BE49-F238E27FC236}">
                <a16:creationId xmlns:a16="http://schemas.microsoft.com/office/drawing/2014/main" id="{43C25382-5D96-9D36-299B-9553EB821759}"/>
              </a:ext>
            </a:extLst>
          </p:cNvPr>
          <p:cNvGrpSpPr/>
          <p:nvPr/>
        </p:nvGrpSpPr>
        <p:grpSpPr>
          <a:xfrm>
            <a:off x="8382305" y="4169664"/>
            <a:ext cx="3593592" cy="2631643"/>
            <a:chOff x="8382305" y="4169664"/>
            <a:chExt cx="3593592" cy="2631643"/>
          </a:xfrm>
        </p:grpSpPr>
        <p:sp>
          <p:nvSpPr>
            <p:cNvPr id="39" name="Shape 25"/>
            <p:cNvSpPr/>
            <p:nvPr/>
          </p:nvSpPr>
          <p:spPr>
            <a:xfrm>
              <a:off x="8382305" y="4169664"/>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sz="3600"/>
            </a:p>
          </p:txBody>
        </p:sp>
        <p:sp>
          <p:nvSpPr>
            <p:cNvPr id="40" name="Shape 26"/>
            <p:cNvSpPr/>
            <p:nvPr/>
          </p:nvSpPr>
          <p:spPr>
            <a:xfrm>
              <a:off x="8544154" y="4988966"/>
              <a:ext cx="2876702" cy="9144"/>
            </a:xfrm>
            <a:prstGeom prst="rect">
              <a:avLst/>
            </a:prstGeom>
            <a:solidFill>
              <a:srgbClr val="BFDBFE"/>
            </a:solidFill>
            <a:ln w="12700">
              <a:solidFill>
                <a:srgbClr val="BFDBFE">
                  <a:alpha val="0"/>
                </a:srgbClr>
              </a:solidFill>
              <a:prstDash val="solid"/>
            </a:ln>
          </p:spPr>
          <p:txBody>
            <a:bodyPr/>
            <a:lstStyle/>
            <a:p>
              <a:endParaRPr lang="ja-JP" altLang="en-US" sz="3600"/>
            </a:p>
          </p:txBody>
        </p:sp>
        <p:sp>
          <p:nvSpPr>
            <p:cNvPr id="41" name="Text 27"/>
            <p:cNvSpPr txBox="1"/>
            <p:nvPr/>
          </p:nvSpPr>
          <p:spPr>
            <a:xfrm>
              <a:off x="8525409" y="4261257"/>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(ただの文字)</a:t>
              </a:r>
              <a:endParaRPr lang="en-US" sz="1600" dirty="0"/>
            </a:p>
          </p:txBody>
        </p:sp>
        <p:sp>
          <p:nvSpPr>
            <p:cNvPr id="42" name="Shape 28"/>
            <p:cNvSpPr/>
            <p:nvPr/>
          </p:nvSpPr>
          <p:spPr>
            <a:xfrm>
              <a:off x="8544154" y="4560113"/>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3600"/>
            </a:p>
          </p:txBody>
        </p:sp>
        <p:sp>
          <p:nvSpPr>
            <p:cNvPr id="43" name="Text 29"/>
            <p:cNvSpPr txBox="1"/>
            <p:nvPr/>
          </p:nvSpPr>
          <p:spPr>
            <a:xfrm>
              <a:off x="8791956" y="4560113"/>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400" dirty="0">
                  <a:solidFill>
                    <a:srgbClr val="475569"/>
                  </a:solidFill>
                  <a:latin typeface="Consolas" pitchFamily="34" charset="0"/>
                  <a:ea typeface="Consolas" pitchFamily="34" charset="-122"/>
                  <a:cs typeface="Consolas" pitchFamily="34" charset="-120"/>
                </a:rPr>
                <a:t> message </a:t>
              </a:r>
              <a:endParaRPr lang="en-US" sz="2400" dirty="0"/>
            </a:p>
          </p:txBody>
        </p:sp>
        <p:pic>
          <p:nvPicPr>
            <p:cNvPr id="44" name="Image 12" descr="preencoded.png"/>
            <p:cNvPicPr>
              <a:picLocks noChangeAspect="1"/>
            </p:cNvPicPr>
            <p:nvPr/>
          </p:nvPicPr>
          <p:blipFill>
            <a:blip r:embed="rId8"/>
            <a:srcRect t="-2222" b="-2222"/>
            <a:stretch/>
          </p:blipFill>
          <p:spPr>
            <a:xfrm>
              <a:off x="8630107" y="4628693"/>
              <a:ext cx="123444" cy="171907"/>
            </a:xfrm>
            <a:prstGeom prst="rect">
              <a:avLst/>
            </a:prstGeom>
          </p:spPr>
        </p:pic>
        <p:sp>
          <p:nvSpPr>
            <p:cNvPr id="45" name="Text 30"/>
            <p:cNvSpPr txBox="1"/>
            <p:nvPr/>
          </p:nvSpPr>
          <p:spPr>
            <a:xfrm>
              <a:off x="8544154" y="514532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(動的コンテンツ)</a:t>
              </a:r>
              <a:endParaRPr lang="en-US" sz="1600" dirty="0"/>
            </a:p>
          </p:txBody>
        </p:sp>
        <p:pic>
          <p:nvPicPr>
            <p:cNvPr id="46" name="Image 13" descr="preencoded.png"/>
            <p:cNvPicPr>
              <a:picLocks noChangeAspect="1"/>
            </p:cNvPicPr>
            <p:nvPr/>
          </p:nvPicPr>
          <p:blipFill>
            <a:blip r:embed="rId12"/>
            <a:srcRect t="-3" b="-3"/>
            <a:stretch/>
          </p:blipFill>
          <p:spPr>
            <a:xfrm>
              <a:off x="8544154" y="5373929"/>
              <a:ext cx="1725930" cy="362102"/>
            </a:xfrm>
            <a:prstGeom prst="rect">
              <a:avLst/>
            </a:prstGeom>
          </p:spPr>
        </p:pic>
        <p:pic>
          <p:nvPicPr>
            <p:cNvPr id="47" name="Image 14" descr="preencoded.png"/>
            <p:cNvPicPr>
              <a:picLocks noChangeAspect="1"/>
            </p:cNvPicPr>
            <p:nvPr/>
          </p:nvPicPr>
          <p:blipFill>
            <a:blip r:embed="rId13"/>
            <a:srcRect t="-1100" b="-1100"/>
            <a:stretch/>
          </p:blipFill>
          <p:spPr>
            <a:xfrm>
              <a:off x="8630107" y="5494630"/>
              <a:ext cx="114300" cy="133502"/>
            </a:xfrm>
            <a:prstGeom prst="rect">
              <a:avLst/>
            </a:prstGeom>
          </p:spPr>
        </p:pic>
        <p:sp>
          <p:nvSpPr>
            <p:cNvPr id="48" name="Text 31"/>
            <p:cNvSpPr txBox="1"/>
            <p:nvPr/>
          </p:nvSpPr>
          <p:spPr>
            <a:xfrm>
              <a:off x="8781898" y="5421478"/>
              <a:ext cx="1879752" cy="267005"/>
            </a:xfrm>
            <a:prstGeom prst="rect">
              <a:avLst/>
            </a:prstGeom>
            <a:noFill/>
            <a:ln/>
          </p:spPr>
          <p:txBody>
            <a:bodyPr wrap="square" lIns="0" tIns="0" rIns="0" bIns="0" rtlCol="0" anchor="ctr"/>
            <a:lstStyle/>
            <a:p>
              <a:pPr marL="0" indent="0" algn="l">
                <a:buNone/>
              </a:pPr>
              <a:r>
                <a:rPr lang="en-US" sz="2400" b="1" dirty="0">
                  <a:solidFill>
                    <a:srgbClr val="1E40AF"/>
                  </a:solidFill>
                  <a:latin typeface="Noto Sans JP" pitchFamily="34" charset="0"/>
                  <a:ea typeface="Noto Sans JP" pitchFamily="34" charset="-122"/>
                  <a:cs typeface="Noto Sans JP" pitchFamily="34" charset="-120"/>
                </a:rPr>
                <a:t>message</a:t>
              </a:r>
              <a:endParaRPr lang="en-US" sz="2400" dirty="0"/>
            </a:p>
          </p:txBody>
        </p:sp>
        <p:sp>
          <p:nvSpPr>
            <p:cNvPr id="60" name="Text 42"/>
            <p:cNvSpPr txBox="1"/>
            <p:nvPr/>
          </p:nvSpPr>
          <p:spPr>
            <a:xfrm>
              <a:off x="10490911" y="6572707"/>
              <a:ext cx="1484986" cy="228600"/>
            </a:xfrm>
            <a:prstGeom prst="rect">
              <a:avLst/>
            </a:prstGeom>
            <a:noFill/>
            <a:ln/>
          </p:spPr>
          <p:txBody>
            <a:bodyPr wrap="square" lIns="0" tIns="0" rIns="0" bIns="0" rtlCol="0" anchor="ctr"/>
            <a:lstStyle/>
            <a:p>
              <a:pPr marL="0" indent="0" algn="l">
                <a:buNone/>
              </a:pPr>
              <a:r>
                <a:rPr lang="en-US" sz="2400" dirty="0">
                  <a:solidFill>
                    <a:srgbClr val="9CA3AF"/>
                  </a:solidFill>
                  <a:latin typeface="Noto Sans JP" pitchFamily="34" charset="0"/>
                  <a:ea typeface="Noto Sans JP" pitchFamily="34" charset="-122"/>
                  <a:cs typeface="Noto Sans JP" pitchFamily="34" charset="-120"/>
                </a:rPr>
                <a:t>Copyright © PA45</a:t>
              </a:r>
              <a:endParaRPr lang="en-US" sz="2400" dirty="0"/>
            </a:p>
          </p:txBody>
        </p:sp>
      </p:gr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1CAEF9F2-F9B9-7E6B-49ED-4D66B8A09743}"/>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E151CA08-4A47-A292-DA7E-217E3585137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F30EABB4-40F9-6618-359B-4B410EFC2F0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F1870D8A-8532-148E-21DC-7C9580956160}"/>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972007"/>
            <a:ext cx="12191695" cy="5429707"/>
          </a:xfrm>
          <a:prstGeom prst="rect">
            <a:avLst/>
          </a:prstGeom>
          <a:solidFill>
            <a:srgbClr val="F9FAFB"/>
          </a:solidFill>
          <a:ln w="12700">
            <a:solidFill>
              <a:srgbClr val="FFFFFF">
                <a:alpha val="0"/>
              </a:srgbClr>
            </a:solidFill>
            <a:prstDash val="solid"/>
          </a:ln>
        </p:spPr>
        <p:txBody>
          <a:bodyPr/>
          <a:lstStyle/>
          <a:p>
            <a:endParaRPr lang="ja-JP" altLang="en-US"/>
          </a:p>
        </p:txBody>
      </p:sp>
      <p:sp>
        <p:nvSpPr>
          <p:cNvPr id="5" name="Shape 3"/>
          <p:cNvSpPr/>
          <p:nvPr/>
        </p:nvSpPr>
        <p:spPr>
          <a:xfrm>
            <a:off x="190195" y="1209751"/>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6" name="Image 0" descr="preencoded.png"/>
          <p:cNvPicPr>
            <a:picLocks noChangeAspect="1"/>
          </p:cNvPicPr>
          <p:nvPr/>
        </p:nvPicPr>
        <p:blipFill>
          <a:blip r:embed="rId3">
            <a:alphaModFix amt="5000"/>
          </a:blip>
          <a:srcRect l="-2886" r="-2886"/>
          <a:stretch/>
        </p:blipFill>
        <p:spPr>
          <a:xfrm>
            <a:off x="5514746" y="1123798"/>
            <a:ext cx="590702" cy="638251"/>
          </a:xfrm>
          <a:prstGeom prst="rect">
            <a:avLst/>
          </a:prstGeom>
        </p:spPr>
      </p:pic>
      <p:sp>
        <p:nvSpPr>
          <p:cNvPr id="7" name="Shape 4"/>
          <p:cNvSpPr/>
          <p:nvPr/>
        </p:nvSpPr>
        <p:spPr>
          <a:xfrm>
            <a:off x="6172200" y="1209751"/>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8" name="Image 1" descr="preencoded.png"/>
          <p:cNvPicPr>
            <a:picLocks noChangeAspect="1"/>
          </p:cNvPicPr>
          <p:nvPr/>
        </p:nvPicPr>
        <p:blipFill>
          <a:blip r:embed="rId4">
            <a:alphaModFix amt="5000"/>
          </a:blip>
          <a:srcRect l="-2886" r="-2886"/>
          <a:stretch/>
        </p:blipFill>
        <p:spPr>
          <a:xfrm>
            <a:off x="11496751" y="1123798"/>
            <a:ext cx="590702" cy="638251"/>
          </a:xfrm>
          <a:prstGeom prst="rect">
            <a:avLst/>
          </a:prstGeom>
        </p:spPr>
      </p:pic>
      <p:sp>
        <p:nvSpPr>
          <p:cNvPr id="9" name="Shape 5"/>
          <p:cNvSpPr/>
          <p:nvPr/>
        </p:nvSpPr>
        <p:spPr>
          <a:xfrm>
            <a:off x="190195" y="3762756"/>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10" name="Image 2" descr="preencoded.png"/>
          <p:cNvPicPr>
            <a:picLocks noChangeAspect="1"/>
          </p:cNvPicPr>
          <p:nvPr/>
        </p:nvPicPr>
        <p:blipFill>
          <a:blip r:embed="rId5">
            <a:alphaModFix amt="5000"/>
          </a:blip>
          <a:srcRect/>
          <a:stretch/>
        </p:blipFill>
        <p:spPr>
          <a:xfrm>
            <a:off x="5447995" y="3676802"/>
            <a:ext cx="657454" cy="657454"/>
          </a:xfrm>
          <a:prstGeom prst="rect">
            <a:avLst/>
          </a:prstGeom>
        </p:spPr>
      </p:pic>
      <p:sp>
        <p:nvSpPr>
          <p:cNvPr id="11" name="Shape 6"/>
          <p:cNvSpPr/>
          <p:nvPr/>
        </p:nvSpPr>
        <p:spPr>
          <a:xfrm>
            <a:off x="6172200" y="3762756"/>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12" name="Image 3" descr="preencoded.png"/>
          <p:cNvPicPr>
            <a:picLocks noChangeAspect="1"/>
          </p:cNvPicPr>
          <p:nvPr/>
        </p:nvPicPr>
        <p:blipFill>
          <a:blip r:embed="rId6">
            <a:alphaModFix amt="5000"/>
          </a:blip>
          <a:srcRect l="-6425" r="-6425"/>
          <a:stretch/>
        </p:blipFill>
        <p:spPr>
          <a:xfrm>
            <a:off x="11563502" y="3676802"/>
            <a:ext cx="523951" cy="619049"/>
          </a:xfrm>
          <a:prstGeom prst="rect">
            <a:avLst/>
          </a:prstGeom>
        </p:spPr>
      </p:pic>
      <p:sp>
        <p:nvSpPr>
          <p:cNvPr id="13" name="Shape 7"/>
          <p:cNvSpPr/>
          <p:nvPr/>
        </p:nvSpPr>
        <p:spPr>
          <a:xfrm>
            <a:off x="352044" y="1371600"/>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14" name="Text 8"/>
          <p:cNvSpPr/>
          <p:nvPr/>
        </p:nvSpPr>
        <p:spPr>
          <a:xfrm>
            <a:off x="323698"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1</a:t>
            </a:r>
            <a:endParaRPr lang="en-US" sz="1500" dirty="0"/>
          </a:p>
        </p:txBody>
      </p:sp>
      <p:sp>
        <p:nvSpPr>
          <p:cNvPr id="15" name="Text 9"/>
          <p:cNvSpPr txBox="1"/>
          <p:nvPr/>
        </p:nvSpPr>
        <p:spPr>
          <a:xfrm>
            <a:off x="886054" y="1371600"/>
            <a:ext cx="3248863"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新しいフローを作成</a:t>
            </a:r>
            <a:endParaRPr lang="en-US" sz="2800" dirty="0"/>
          </a:p>
        </p:txBody>
      </p:sp>
      <p:sp>
        <p:nvSpPr>
          <p:cNvPr id="16" name="Text 10"/>
          <p:cNvSpPr txBox="1"/>
          <p:nvPr/>
        </p:nvSpPr>
        <p:spPr>
          <a:xfrm>
            <a:off x="886054" y="1626718"/>
            <a:ext cx="3248863" cy="822046"/>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まずはフローの起点となるトリガーを設定します。</a:t>
            </a:r>
            <a:endParaRPr lang="en-US" dirty="0"/>
          </a:p>
        </p:txBody>
      </p:sp>
      <p:sp>
        <p:nvSpPr>
          <p:cNvPr id="17" name="Text 11"/>
          <p:cNvSpPr txBox="1"/>
          <p:nvPr/>
        </p:nvSpPr>
        <p:spPr>
          <a:xfrm>
            <a:off x="1047902" y="2884018"/>
            <a:ext cx="5000854" cy="191110"/>
          </a:xfrm>
          <a:prstGeom prst="rect">
            <a:avLst/>
          </a:prstGeom>
          <a:noFill/>
          <a:ln/>
        </p:spPr>
        <p:txBody>
          <a:bodyPr wrap="square" lIns="0" tIns="0" rIns="0" bIns="0" rtlCol="0" anchor="ctr"/>
          <a:lstStyle/>
          <a:p>
            <a:pPr marL="0" indent="0" algn="l">
              <a:buNone/>
            </a:pPr>
            <a:r>
              <a:rPr lang="en-US" sz="1000" b="1" dirty="0">
                <a:solidFill>
                  <a:srgbClr val="2563EB"/>
                </a:solidFill>
                <a:latin typeface="Noto Sans JP" pitchFamily="34" charset="0"/>
                <a:ea typeface="Noto Sans JP" pitchFamily="34" charset="-122"/>
                <a:cs typeface="Noto Sans JP" pitchFamily="34" charset="-120"/>
              </a:rPr>
              <a:t> 「インスタント クラウド フロー」を選択 </a:t>
            </a:r>
            <a:endParaRPr lang="en-US" sz="1000" dirty="0"/>
          </a:p>
        </p:txBody>
      </p:sp>
      <p:pic>
        <p:nvPicPr>
          <p:cNvPr id="18" name="Image 4" descr="preencoded.png"/>
          <p:cNvPicPr>
            <a:picLocks noChangeAspect="1"/>
          </p:cNvPicPr>
          <p:nvPr/>
        </p:nvPicPr>
        <p:blipFill>
          <a:blip r:embed="rId7"/>
          <a:srcRect l="-1507" r="-1507"/>
          <a:stretch/>
        </p:blipFill>
        <p:spPr>
          <a:xfrm>
            <a:off x="886054" y="2908706"/>
            <a:ext cx="85954" cy="133502"/>
          </a:xfrm>
          <a:prstGeom prst="rect">
            <a:avLst/>
          </a:prstGeom>
        </p:spPr>
      </p:pic>
      <p:pic>
        <p:nvPicPr>
          <p:cNvPr id="19" name="Image 5" descr="preencoded.png"/>
          <p:cNvPicPr>
            <a:picLocks noChangeAspect="1"/>
          </p:cNvPicPr>
          <p:nvPr/>
        </p:nvPicPr>
        <p:blipFill>
          <a:blip r:embed="rId8"/>
          <a:srcRect l="-28" r="-28"/>
          <a:stretch/>
        </p:blipFill>
        <p:spPr>
          <a:xfrm>
            <a:off x="886054" y="3124505"/>
            <a:ext cx="4972507" cy="323698"/>
          </a:xfrm>
          <a:prstGeom prst="rect">
            <a:avLst/>
          </a:prstGeom>
        </p:spPr>
      </p:pic>
      <p:pic>
        <p:nvPicPr>
          <p:cNvPr id="20" name="Image 6" descr="preencoded.png"/>
          <p:cNvPicPr>
            <a:picLocks noChangeAspect="1"/>
          </p:cNvPicPr>
          <p:nvPr/>
        </p:nvPicPr>
        <p:blipFill>
          <a:blip r:embed="rId9"/>
          <a:srcRect t="-43" b="-43"/>
          <a:stretch/>
        </p:blipFill>
        <p:spPr>
          <a:xfrm>
            <a:off x="952805" y="3209544"/>
            <a:ext cx="133502" cy="152705"/>
          </a:xfrm>
          <a:prstGeom prst="rect">
            <a:avLst/>
          </a:prstGeom>
        </p:spPr>
      </p:pic>
      <p:sp>
        <p:nvSpPr>
          <p:cNvPr id="21" name="Text 12"/>
          <p:cNvSpPr txBox="1"/>
          <p:nvPr/>
        </p:nvSpPr>
        <p:spPr>
          <a:xfrm>
            <a:off x="1162202" y="3124505"/>
            <a:ext cx="1942186" cy="324612"/>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手動でフローをトリガーします</a:t>
            </a:r>
            <a:endParaRPr lang="en-US" sz="1000" dirty="0"/>
          </a:p>
        </p:txBody>
      </p:sp>
      <p:sp>
        <p:nvSpPr>
          <p:cNvPr id="22" name="Shape 13"/>
          <p:cNvSpPr/>
          <p:nvPr/>
        </p:nvSpPr>
        <p:spPr>
          <a:xfrm>
            <a:off x="6334049" y="1371600"/>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23" name="Text 14"/>
          <p:cNvSpPr/>
          <p:nvPr/>
        </p:nvSpPr>
        <p:spPr>
          <a:xfrm>
            <a:off x="6305702"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2</a:t>
            </a:r>
            <a:endParaRPr lang="en-US" sz="1500" dirty="0"/>
          </a:p>
        </p:txBody>
      </p:sp>
      <p:sp>
        <p:nvSpPr>
          <p:cNvPr id="24" name="Text 15"/>
          <p:cNvSpPr txBox="1"/>
          <p:nvPr/>
        </p:nvSpPr>
        <p:spPr>
          <a:xfrm>
            <a:off x="6867144" y="1371600"/>
            <a:ext cx="2284171"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変数を初期化</a:t>
            </a:r>
            <a:endParaRPr lang="en-US" sz="2800" dirty="0"/>
          </a:p>
        </p:txBody>
      </p:sp>
      <p:sp>
        <p:nvSpPr>
          <p:cNvPr id="25" name="Text 16"/>
          <p:cNvSpPr txBox="1"/>
          <p:nvPr/>
        </p:nvSpPr>
        <p:spPr>
          <a:xfrm>
            <a:off x="6887615" y="1664666"/>
            <a:ext cx="4945989" cy="278892"/>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箱を用意して、中に値を入れます。</a:t>
            </a:r>
            <a:endParaRPr lang="en-US" dirty="0"/>
          </a:p>
        </p:txBody>
      </p:sp>
      <p:sp>
        <p:nvSpPr>
          <p:cNvPr id="26" name="Text 17"/>
          <p:cNvSpPr txBox="1"/>
          <p:nvPr/>
        </p:nvSpPr>
        <p:spPr>
          <a:xfrm>
            <a:off x="7076542" y="1950415"/>
            <a:ext cx="4877410" cy="371892"/>
          </a:xfrm>
          <a:prstGeom prst="rect">
            <a:avLst/>
          </a:prstGeom>
          <a:noFill/>
          <a:ln/>
        </p:spPr>
        <p:txBody>
          <a:bodyPr wrap="square" lIns="0" tIns="0" rIns="0" bIns="0" rtlCol="0" anchor="ctr"/>
          <a:lstStyle/>
          <a:p>
            <a:pPr marL="0" indent="0" algn="l">
              <a:buNone/>
            </a:pPr>
            <a:r>
              <a:rPr lang="en-US" b="1" dirty="0">
                <a:solidFill>
                  <a:srgbClr val="7C3AED"/>
                </a:solidFill>
                <a:latin typeface="Noto Sans JP" pitchFamily="34" charset="0"/>
                <a:ea typeface="Noto Sans JP" pitchFamily="34" charset="-122"/>
                <a:cs typeface="Noto Sans JP" pitchFamily="34" charset="-120"/>
              </a:rPr>
              <a:t> アクション検索：「変数」→「Initialize」 </a:t>
            </a:r>
            <a:endParaRPr lang="en-US" dirty="0"/>
          </a:p>
        </p:txBody>
      </p:sp>
      <p:pic>
        <p:nvPicPr>
          <p:cNvPr id="27" name="Image 7" descr="preencoded.png"/>
          <p:cNvPicPr>
            <a:picLocks noChangeAspect="1"/>
          </p:cNvPicPr>
          <p:nvPr/>
        </p:nvPicPr>
        <p:blipFill>
          <a:blip r:embed="rId10"/>
          <a:srcRect/>
          <a:stretch/>
        </p:blipFill>
        <p:spPr>
          <a:xfrm>
            <a:off x="6752844" y="1975104"/>
            <a:ext cx="247802" cy="247802"/>
          </a:xfrm>
          <a:prstGeom prst="rect">
            <a:avLst/>
          </a:prstGeom>
        </p:spPr>
      </p:pic>
      <p:sp>
        <p:nvSpPr>
          <p:cNvPr id="28" name="Shape 18"/>
          <p:cNvSpPr/>
          <p:nvPr/>
        </p:nvSpPr>
        <p:spPr>
          <a:xfrm>
            <a:off x="6867144" y="2268328"/>
            <a:ext cx="4972507" cy="1179874"/>
          </a:xfrm>
          <a:prstGeom prst="roundRect">
            <a:avLst>
              <a:gd name="adj" fmla="val 4408"/>
            </a:avLst>
          </a:prstGeom>
          <a:solidFill>
            <a:srgbClr val="F9FAFB"/>
          </a:solidFill>
          <a:ln w="12700">
            <a:solidFill>
              <a:srgbClr val="E5E7EB"/>
            </a:solidFill>
            <a:prstDash val="solid"/>
          </a:ln>
        </p:spPr>
        <p:txBody>
          <a:bodyPr/>
          <a:lstStyle/>
          <a:p>
            <a:endParaRPr lang="ja-JP" altLang="en-US"/>
          </a:p>
        </p:txBody>
      </p:sp>
      <p:sp>
        <p:nvSpPr>
          <p:cNvPr id="29" name="Text 19"/>
          <p:cNvSpPr txBox="1"/>
          <p:nvPr/>
        </p:nvSpPr>
        <p:spPr>
          <a:xfrm>
            <a:off x="6933895" y="2257654"/>
            <a:ext cx="4953305" cy="152705"/>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Name</a:t>
            </a:r>
            <a:endParaRPr lang="en-US" sz="900" dirty="0"/>
          </a:p>
        </p:txBody>
      </p:sp>
      <p:sp>
        <p:nvSpPr>
          <p:cNvPr id="30" name="Text 20"/>
          <p:cNvSpPr txBox="1"/>
          <p:nvPr/>
        </p:nvSpPr>
        <p:spPr>
          <a:xfrm>
            <a:off x="6933895" y="2638044"/>
            <a:ext cx="4953305" cy="152705"/>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Type</a:t>
            </a:r>
            <a:endParaRPr lang="en-US" sz="900" dirty="0"/>
          </a:p>
        </p:txBody>
      </p:sp>
      <p:sp>
        <p:nvSpPr>
          <p:cNvPr id="31" name="Text 21"/>
          <p:cNvSpPr txBox="1"/>
          <p:nvPr/>
        </p:nvSpPr>
        <p:spPr>
          <a:xfrm>
            <a:off x="6933895" y="2980944"/>
            <a:ext cx="4953305" cy="152705"/>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Value</a:t>
            </a:r>
            <a:endParaRPr lang="en-US" sz="900" dirty="0"/>
          </a:p>
        </p:txBody>
      </p:sp>
      <p:sp>
        <p:nvSpPr>
          <p:cNvPr id="32" name="Shape 22"/>
          <p:cNvSpPr/>
          <p:nvPr/>
        </p:nvSpPr>
        <p:spPr>
          <a:xfrm>
            <a:off x="6933895" y="3133649"/>
            <a:ext cx="4839005" cy="247802"/>
          </a:xfrm>
          <a:prstGeom prst="roundRect">
            <a:avLst>
              <a:gd name="adj" fmla="val 113540"/>
            </a:avLst>
          </a:prstGeom>
          <a:solidFill>
            <a:srgbClr val="FFFFFF"/>
          </a:solidFill>
          <a:ln w="12700">
            <a:solidFill>
              <a:srgbClr val="D1D5DB"/>
            </a:solidFill>
            <a:prstDash val="solid"/>
          </a:ln>
        </p:spPr>
        <p:txBody>
          <a:bodyPr/>
          <a:lstStyle/>
          <a:p>
            <a:endParaRPr lang="ja-JP" altLang="en-US"/>
          </a:p>
        </p:txBody>
      </p:sp>
      <p:sp>
        <p:nvSpPr>
          <p:cNvPr id="33" name="Text 23"/>
          <p:cNvSpPr txBox="1"/>
          <p:nvPr/>
        </p:nvSpPr>
        <p:spPr>
          <a:xfrm>
            <a:off x="6933895" y="3133649"/>
            <a:ext cx="4953305" cy="247802"/>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l">
              <a:buNone/>
            </a:pPr>
            <a:r>
              <a:rPr lang="en-US" sz="1000" dirty="0">
                <a:solidFill>
                  <a:srgbClr val="1F2937"/>
                </a:solidFill>
                <a:latin typeface="Noto Sans JP" pitchFamily="34" charset="0"/>
                <a:ea typeface="Noto Sans JP" pitchFamily="34" charset="-122"/>
                <a:cs typeface="Noto Sans JP" pitchFamily="34" charset="-120"/>
              </a:rPr>
              <a:t>PA45へようこそ！</a:t>
            </a:r>
            <a:endParaRPr lang="en-US" sz="1000" dirty="0"/>
          </a:p>
        </p:txBody>
      </p:sp>
      <p:sp>
        <p:nvSpPr>
          <p:cNvPr id="34" name="Text 24"/>
          <p:cNvSpPr txBox="1"/>
          <p:nvPr/>
        </p:nvSpPr>
        <p:spPr>
          <a:xfrm>
            <a:off x="6933895" y="2428646"/>
            <a:ext cx="638251" cy="152705"/>
          </a:xfrm>
          <a:prstGeom prst="rect">
            <a:avLst/>
          </a:prstGeom>
          <a:noFill/>
          <a:ln/>
        </p:spPr>
        <p:txBody>
          <a:bodyPr wrap="square" lIns="0" tIns="0" rIns="0" bIns="0" rtlCol="0" anchor="ctr"/>
          <a:lstStyle/>
          <a:p>
            <a:pPr marL="0" indent="0" algn="l">
              <a:buNone/>
            </a:pPr>
            <a:r>
              <a:rPr lang="en-US" sz="1000" dirty="0">
                <a:solidFill>
                  <a:srgbClr val="1F2937"/>
                </a:solidFill>
                <a:latin typeface="ui-monospace" pitchFamily="34" charset="0"/>
                <a:ea typeface="ui-monospace" pitchFamily="34" charset="-122"/>
                <a:cs typeface="ui-monospace" pitchFamily="34" charset="-120"/>
              </a:rPr>
              <a:t>message</a:t>
            </a:r>
            <a:endParaRPr lang="en-US" sz="1000" dirty="0"/>
          </a:p>
        </p:txBody>
      </p:sp>
      <p:sp>
        <p:nvSpPr>
          <p:cNvPr id="35" name="Shape 25"/>
          <p:cNvSpPr/>
          <p:nvPr/>
        </p:nvSpPr>
        <p:spPr>
          <a:xfrm>
            <a:off x="6933895" y="2781605"/>
            <a:ext cx="457200" cy="161849"/>
          </a:xfrm>
          <a:prstGeom prst="roundRect">
            <a:avLst>
              <a:gd name="adj" fmla="val 265869"/>
            </a:avLst>
          </a:prstGeom>
          <a:solidFill>
            <a:srgbClr val="EDE9FE"/>
          </a:solidFill>
          <a:ln w="12700">
            <a:solidFill>
              <a:srgbClr val="FFFFFF">
                <a:alpha val="0"/>
              </a:srgbClr>
            </a:solidFill>
            <a:prstDash val="solid"/>
          </a:ln>
        </p:spPr>
        <p:txBody>
          <a:bodyPr/>
          <a:lstStyle/>
          <a:p>
            <a:endParaRPr lang="ja-JP" altLang="en-US"/>
          </a:p>
        </p:txBody>
      </p:sp>
      <p:sp>
        <p:nvSpPr>
          <p:cNvPr id="36" name="Text 26"/>
          <p:cNvSpPr txBox="1"/>
          <p:nvPr/>
        </p:nvSpPr>
        <p:spPr>
          <a:xfrm>
            <a:off x="6933895" y="2781605"/>
            <a:ext cx="534010" cy="162763"/>
          </a:xfrm>
          <a:prstGeom prst="rect">
            <a:avLst/>
          </a:prstGeom>
          <a:solidFill>
            <a:srgbClr val="FFFFFF">
              <a:alpha val="0"/>
            </a:srgbClr>
          </a:solidFill>
          <a:ln>
            <a:solidFill>
              <a:srgbClr val="FFFFFF">
                <a:alpha val="0"/>
              </a:srgbClr>
            </a:solidFill>
          </a:ln>
        </p:spPr>
        <p:txBody>
          <a:bodyPr wrap="square" lIns="63500" tIns="0" rIns="63500" bIns="0" rtlCol="0" anchor="ctr"/>
          <a:lstStyle/>
          <a:p>
            <a:pPr marL="0" indent="0" algn="l">
              <a:buNone/>
            </a:pPr>
            <a:r>
              <a:rPr lang="en-US" sz="900" b="1" dirty="0">
                <a:solidFill>
                  <a:srgbClr val="6D28D9"/>
                </a:solidFill>
                <a:latin typeface="Noto Sans JP" pitchFamily="34" charset="0"/>
                <a:ea typeface="Noto Sans JP" pitchFamily="34" charset="-122"/>
                <a:cs typeface="Noto Sans JP" pitchFamily="34" charset="-120"/>
              </a:rPr>
              <a:t>String</a:t>
            </a:r>
            <a:endParaRPr lang="en-US" sz="900" dirty="0"/>
          </a:p>
        </p:txBody>
      </p:sp>
      <p:sp>
        <p:nvSpPr>
          <p:cNvPr id="37" name="Shape 27"/>
          <p:cNvSpPr/>
          <p:nvPr/>
        </p:nvSpPr>
        <p:spPr>
          <a:xfrm>
            <a:off x="352044" y="3924605"/>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38" name="Text 28"/>
          <p:cNvSpPr/>
          <p:nvPr/>
        </p:nvSpPr>
        <p:spPr>
          <a:xfrm>
            <a:off x="323698"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3</a:t>
            </a:r>
            <a:endParaRPr lang="en-US" sz="1500" dirty="0"/>
          </a:p>
        </p:txBody>
      </p:sp>
      <p:sp>
        <p:nvSpPr>
          <p:cNvPr id="39" name="Text 29"/>
          <p:cNvSpPr txBox="1"/>
          <p:nvPr/>
        </p:nvSpPr>
        <p:spPr>
          <a:xfrm>
            <a:off x="886054" y="3924605"/>
            <a:ext cx="3429000"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Composeで確認</a:t>
            </a:r>
            <a:endParaRPr lang="en-US" sz="2800" dirty="0"/>
          </a:p>
        </p:txBody>
      </p:sp>
      <p:sp>
        <p:nvSpPr>
          <p:cNvPr id="40" name="Text 30"/>
          <p:cNvSpPr txBox="1"/>
          <p:nvPr/>
        </p:nvSpPr>
        <p:spPr>
          <a:xfrm>
            <a:off x="905363" y="4223096"/>
            <a:ext cx="3505810" cy="794613"/>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変数の中身を表示するためのアクションを追加します。</a:t>
            </a:r>
            <a:endParaRPr lang="en-US" dirty="0"/>
          </a:p>
        </p:txBody>
      </p:sp>
      <p:sp>
        <p:nvSpPr>
          <p:cNvPr id="41" name="Text 31"/>
          <p:cNvSpPr txBox="1"/>
          <p:nvPr/>
        </p:nvSpPr>
        <p:spPr>
          <a:xfrm>
            <a:off x="1095451" y="5055718"/>
            <a:ext cx="4877410" cy="191110"/>
          </a:xfrm>
          <a:prstGeom prst="rect">
            <a:avLst/>
          </a:prstGeom>
          <a:noFill/>
          <a:ln/>
        </p:spPr>
        <p:txBody>
          <a:bodyPr wrap="square" lIns="0" tIns="0" rIns="0" bIns="0" rtlCol="0" anchor="ctr"/>
          <a:lstStyle/>
          <a:p>
            <a:pPr marL="0" indent="0" algn="l">
              <a:buNone/>
            </a:pPr>
            <a:r>
              <a:rPr lang="en-US" sz="1600" b="1" dirty="0">
                <a:solidFill>
                  <a:srgbClr val="DB2777"/>
                </a:solidFill>
                <a:latin typeface="Noto Sans JP" pitchFamily="34" charset="0"/>
                <a:ea typeface="Noto Sans JP" pitchFamily="34" charset="-122"/>
                <a:cs typeface="Noto Sans JP" pitchFamily="34" charset="-120"/>
              </a:rPr>
              <a:t> アクション追加：「Compose（作成）」 </a:t>
            </a:r>
            <a:endParaRPr lang="en-US" sz="1600" dirty="0"/>
          </a:p>
        </p:txBody>
      </p:sp>
      <p:pic>
        <p:nvPicPr>
          <p:cNvPr id="42" name="Image 8" descr="preencoded.png"/>
          <p:cNvPicPr>
            <a:picLocks noChangeAspect="1"/>
          </p:cNvPicPr>
          <p:nvPr/>
        </p:nvPicPr>
        <p:blipFill>
          <a:blip r:embed="rId11"/>
          <a:srcRect/>
          <a:stretch/>
        </p:blipFill>
        <p:spPr>
          <a:xfrm>
            <a:off x="800100" y="4994452"/>
            <a:ext cx="219456" cy="219456"/>
          </a:xfrm>
          <a:prstGeom prst="rect">
            <a:avLst/>
          </a:prstGeom>
        </p:spPr>
      </p:pic>
      <p:sp>
        <p:nvSpPr>
          <p:cNvPr id="43" name="Shape 32"/>
          <p:cNvSpPr/>
          <p:nvPr/>
        </p:nvSpPr>
        <p:spPr>
          <a:xfrm>
            <a:off x="886054" y="5296205"/>
            <a:ext cx="4972507" cy="705002"/>
          </a:xfrm>
          <a:prstGeom prst="roundRect">
            <a:avLst>
              <a:gd name="adj" fmla="val 14022"/>
            </a:avLst>
          </a:prstGeom>
          <a:solidFill>
            <a:srgbClr val="F9FAFB"/>
          </a:solidFill>
          <a:ln w="12700">
            <a:solidFill>
              <a:srgbClr val="E5E7EB"/>
            </a:solidFill>
            <a:prstDash val="solid"/>
          </a:ln>
        </p:spPr>
        <p:txBody>
          <a:bodyPr/>
          <a:lstStyle/>
          <a:p>
            <a:endParaRPr lang="ja-JP" altLang="en-US"/>
          </a:p>
        </p:txBody>
      </p:sp>
      <p:sp>
        <p:nvSpPr>
          <p:cNvPr id="44" name="Text 33"/>
          <p:cNvSpPr txBox="1"/>
          <p:nvPr/>
        </p:nvSpPr>
        <p:spPr>
          <a:xfrm>
            <a:off x="952805" y="5362956"/>
            <a:ext cx="4953305" cy="228600"/>
          </a:xfrm>
          <a:prstGeom prst="rect">
            <a:avLst/>
          </a:prstGeom>
          <a:noFill/>
          <a:ln/>
        </p:spPr>
        <p:txBody>
          <a:bodyPr wrap="square" lIns="0" tIns="0" rIns="0" bIns="0" rtlCol="0" anchor="ctr"/>
          <a:lstStyle/>
          <a:p>
            <a:pPr marL="0" indent="0" algn="l">
              <a:buNone/>
            </a:pPr>
            <a:r>
              <a:rPr lang="en-US" sz="1200" b="1" dirty="0">
                <a:solidFill>
                  <a:srgbClr val="6B7280"/>
                </a:solidFill>
                <a:latin typeface="Noto Sans JP" pitchFamily="34" charset="0"/>
                <a:ea typeface="Noto Sans JP" pitchFamily="34" charset="-122"/>
                <a:cs typeface="Noto Sans JP" pitchFamily="34" charset="-120"/>
              </a:rPr>
              <a:t>Inputs</a:t>
            </a:r>
            <a:endParaRPr lang="en-US" sz="1200" dirty="0"/>
          </a:p>
        </p:txBody>
      </p:sp>
      <p:sp>
        <p:nvSpPr>
          <p:cNvPr id="45" name="Shape 34"/>
          <p:cNvSpPr/>
          <p:nvPr/>
        </p:nvSpPr>
        <p:spPr>
          <a:xfrm>
            <a:off x="952805" y="5609844"/>
            <a:ext cx="4839005" cy="323698"/>
          </a:xfrm>
          <a:prstGeom prst="roundRect">
            <a:avLst>
              <a:gd name="adj" fmla="val 66467"/>
            </a:avLst>
          </a:prstGeom>
          <a:solidFill>
            <a:srgbClr val="FFFFFF"/>
          </a:solidFill>
          <a:ln w="12700">
            <a:solidFill>
              <a:srgbClr val="D1D5DB"/>
            </a:solidFill>
            <a:prstDash val="solid"/>
          </a:ln>
        </p:spPr>
        <p:txBody>
          <a:bodyPr/>
          <a:lstStyle/>
          <a:p>
            <a:endParaRPr lang="ja-JP" altLang="en-US"/>
          </a:p>
        </p:txBody>
      </p:sp>
      <p:sp>
        <p:nvSpPr>
          <p:cNvPr id="46" name="Shape 35"/>
          <p:cNvSpPr/>
          <p:nvPr/>
        </p:nvSpPr>
        <p:spPr>
          <a:xfrm>
            <a:off x="1037844" y="5686654"/>
            <a:ext cx="780898" cy="171907"/>
          </a:xfrm>
          <a:prstGeom prst="roundRect">
            <a:avLst>
              <a:gd name="adj" fmla="val 236407"/>
            </a:avLst>
          </a:prstGeom>
          <a:solidFill>
            <a:srgbClr val="DBEAFE"/>
          </a:solidFill>
          <a:ln w="12700">
            <a:solidFill>
              <a:srgbClr val="FFFFFF">
                <a:alpha val="0"/>
              </a:srgbClr>
            </a:solidFill>
            <a:prstDash val="solid"/>
          </a:ln>
        </p:spPr>
        <p:txBody>
          <a:bodyPr/>
          <a:lstStyle/>
          <a:p>
            <a:endParaRPr lang="ja-JP" altLang="en-US"/>
          </a:p>
        </p:txBody>
      </p:sp>
      <p:sp>
        <p:nvSpPr>
          <p:cNvPr id="47" name="Text 36"/>
          <p:cNvSpPr txBox="1"/>
          <p:nvPr/>
        </p:nvSpPr>
        <p:spPr>
          <a:xfrm>
            <a:off x="1238098" y="5686654"/>
            <a:ext cx="657454" cy="171907"/>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message</a:t>
            </a:r>
            <a:endParaRPr lang="en-US" sz="900" dirty="0"/>
          </a:p>
        </p:txBody>
      </p:sp>
      <p:pic>
        <p:nvPicPr>
          <p:cNvPr id="48" name="Image 9" descr="preencoded.png"/>
          <p:cNvPicPr>
            <a:picLocks noChangeAspect="1"/>
          </p:cNvPicPr>
          <p:nvPr/>
        </p:nvPicPr>
        <p:blipFill>
          <a:blip r:embed="rId12"/>
          <a:srcRect t="-1359" b="-1359"/>
          <a:stretch/>
        </p:blipFill>
        <p:spPr>
          <a:xfrm>
            <a:off x="1095451" y="5710428"/>
            <a:ext cx="105156" cy="123444"/>
          </a:xfrm>
          <a:prstGeom prst="rect">
            <a:avLst/>
          </a:prstGeom>
        </p:spPr>
      </p:pic>
      <p:sp>
        <p:nvSpPr>
          <p:cNvPr id="49" name="Text 37"/>
          <p:cNvSpPr txBox="1"/>
          <p:nvPr/>
        </p:nvSpPr>
        <p:spPr>
          <a:xfrm>
            <a:off x="4638751" y="5658307"/>
            <a:ext cx="1163117"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動的コンテンツ</a:t>
            </a:r>
            <a:endParaRPr lang="en-US" sz="1200" dirty="0"/>
          </a:p>
        </p:txBody>
      </p:sp>
      <p:sp>
        <p:nvSpPr>
          <p:cNvPr id="50" name="Shape 38"/>
          <p:cNvSpPr/>
          <p:nvPr/>
        </p:nvSpPr>
        <p:spPr>
          <a:xfrm>
            <a:off x="6334049" y="3924605"/>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51" name="Text 39"/>
          <p:cNvSpPr/>
          <p:nvPr/>
        </p:nvSpPr>
        <p:spPr>
          <a:xfrm>
            <a:off x="6305702"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4</a:t>
            </a:r>
            <a:endParaRPr lang="en-US" sz="1500" dirty="0"/>
          </a:p>
        </p:txBody>
      </p:sp>
      <p:sp>
        <p:nvSpPr>
          <p:cNvPr id="52" name="Text 40"/>
          <p:cNvSpPr txBox="1"/>
          <p:nvPr/>
        </p:nvSpPr>
        <p:spPr>
          <a:xfrm>
            <a:off x="6867144" y="3924605"/>
            <a:ext cx="2839212"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実行してみよう</a:t>
            </a:r>
            <a:endParaRPr lang="en-US" sz="2800" dirty="0"/>
          </a:p>
        </p:txBody>
      </p:sp>
      <p:sp>
        <p:nvSpPr>
          <p:cNvPr id="53" name="Text 41"/>
          <p:cNvSpPr txBox="1"/>
          <p:nvPr/>
        </p:nvSpPr>
        <p:spPr>
          <a:xfrm>
            <a:off x="6865773" y="4222582"/>
            <a:ext cx="4664353" cy="640080"/>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フローを保存して、実際に動かしてみます。</a:t>
            </a:r>
            <a:endParaRPr lang="en-US" dirty="0"/>
          </a:p>
        </p:txBody>
      </p:sp>
      <p:sp>
        <p:nvSpPr>
          <p:cNvPr id="54" name="Text 42"/>
          <p:cNvSpPr txBox="1"/>
          <p:nvPr/>
        </p:nvSpPr>
        <p:spPr>
          <a:xfrm>
            <a:off x="7140336" y="4929926"/>
            <a:ext cx="4934102" cy="191110"/>
          </a:xfrm>
          <a:prstGeom prst="rect">
            <a:avLst/>
          </a:prstGeom>
          <a:noFill/>
          <a:ln/>
        </p:spPr>
        <p:txBody>
          <a:bodyPr wrap="square" lIns="0" tIns="0" rIns="0" bIns="0" rtlCol="0" anchor="ct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右上の「保存」をクリック </a:t>
            </a:r>
            <a:endParaRPr lang="en-US" sz="1600" dirty="0"/>
          </a:p>
        </p:txBody>
      </p:sp>
      <p:pic>
        <p:nvPicPr>
          <p:cNvPr id="55" name="Image 10" descr="preencoded.png"/>
          <p:cNvPicPr>
            <a:picLocks noChangeAspect="1"/>
          </p:cNvPicPr>
          <p:nvPr/>
        </p:nvPicPr>
        <p:blipFill>
          <a:blip r:embed="rId13"/>
          <a:srcRect l="-15362" r="-15362"/>
          <a:stretch/>
        </p:blipFill>
        <p:spPr>
          <a:xfrm>
            <a:off x="6635587" y="4881156"/>
            <a:ext cx="352818" cy="308450"/>
          </a:xfrm>
          <a:prstGeom prst="rect">
            <a:avLst/>
          </a:prstGeom>
        </p:spPr>
      </p:pic>
      <p:sp>
        <p:nvSpPr>
          <p:cNvPr id="56" name="Text 43"/>
          <p:cNvSpPr txBox="1"/>
          <p:nvPr/>
        </p:nvSpPr>
        <p:spPr>
          <a:xfrm>
            <a:off x="7028993" y="5303252"/>
            <a:ext cx="4858207" cy="191110"/>
          </a:xfrm>
          <a:prstGeom prst="rect">
            <a:avLst/>
          </a:prstGeom>
          <a:noFill/>
          <a:ln/>
        </p:spPr>
        <p:txBody>
          <a:bodyPr wrap="square" lIns="0" tIns="0" rIns="0" bIns="0" rtlCol="0" anchor="ct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「テスト」→「手動」→「実行」 </a:t>
            </a:r>
            <a:endParaRPr lang="en-US" sz="1600" dirty="0"/>
          </a:p>
        </p:txBody>
      </p:sp>
      <p:pic>
        <p:nvPicPr>
          <p:cNvPr id="57" name="Image 11" descr="preencoded.png"/>
          <p:cNvPicPr>
            <a:picLocks noChangeAspect="1"/>
          </p:cNvPicPr>
          <p:nvPr/>
        </p:nvPicPr>
        <p:blipFill>
          <a:blip r:embed="rId14"/>
          <a:srcRect l="-26256" r="-26256"/>
          <a:stretch/>
        </p:blipFill>
        <p:spPr>
          <a:xfrm>
            <a:off x="6609882" y="5267293"/>
            <a:ext cx="352818" cy="308450"/>
          </a:xfrm>
          <a:prstGeom prst="rect">
            <a:avLst/>
          </a:prstGeom>
        </p:spPr>
      </p:pic>
      <p:sp>
        <p:nvSpPr>
          <p:cNvPr id="58" name="Shape 44"/>
          <p:cNvSpPr/>
          <p:nvPr/>
        </p:nvSpPr>
        <p:spPr>
          <a:xfrm>
            <a:off x="6192146" y="5600701"/>
            <a:ext cx="5842730" cy="763111"/>
          </a:xfrm>
          <a:prstGeom prst="roundRect">
            <a:avLst>
              <a:gd name="adj" fmla="val 85197"/>
            </a:avLst>
          </a:prstGeom>
          <a:solidFill>
            <a:srgbClr val="ECFDF5"/>
          </a:solidFill>
          <a:ln w="12700">
            <a:solidFill>
              <a:srgbClr val="A7F3D0"/>
            </a:solidFill>
            <a:prstDash val="solid"/>
          </a:ln>
        </p:spPr>
        <p:txBody>
          <a:bodyPr/>
          <a:lstStyle/>
          <a:p>
            <a:endParaRPr lang="ja-JP" altLang="en-US" sz="4000"/>
          </a:p>
        </p:txBody>
      </p:sp>
      <p:pic>
        <p:nvPicPr>
          <p:cNvPr id="59" name="Image 12" descr="preencoded.png"/>
          <p:cNvPicPr>
            <a:picLocks noChangeAspect="1"/>
          </p:cNvPicPr>
          <p:nvPr/>
        </p:nvPicPr>
        <p:blipFill>
          <a:blip r:embed="rId15"/>
          <a:srcRect/>
          <a:stretch/>
        </p:blipFill>
        <p:spPr>
          <a:xfrm>
            <a:off x="6480124" y="5651906"/>
            <a:ext cx="399594" cy="399594"/>
          </a:xfrm>
          <a:prstGeom prst="rect">
            <a:avLst/>
          </a:prstGeom>
        </p:spPr>
      </p:pic>
      <p:sp>
        <p:nvSpPr>
          <p:cNvPr id="60" name="Text 45"/>
          <p:cNvSpPr txBox="1"/>
          <p:nvPr/>
        </p:nvSpPr>
        <p:spPr>
          <a:xfrm>
            <a:off x="7181545" y="5695485"/>
            <a:ext cx="6639458" cy="694387"/>
          </a:xfrm>
          <a:prstGeom prst="rect">
            <a:avLst/>
          </a:prstGeom>
          <a:noFill/>
          <a:ln/>
        </p:spPr>
        <p:txBody>
          <a:bodyPr wrap="square" lIns="0" tIns="0" rIns="0" bIns="0" rtlCol="0" anchor="ctr"/>
          <a:lstStyle/>
          <a:p>
            <a:pPr marL="0" indent="0" algn="l">
              <a:buNone/>
            </a:pPr>
            <a:r>
              <a:rPr lang="en-US" sz="2000" b="1" dirty="0">
                <a:solidFill>
                  <a:srgbClr val="065F46"/>
                </a:solidFill>
                <a:latin typeface="Noto Sans JP" pitchFamily="34" charset="0"/>
                <a:ea typeface="Noto Sans JP" pitchFamily="34" charset="-122"/>
                <a:cs typeface="Noto Sans JP" pitchFamily="34" charset="-120"/>
              </a:rPr>
              <a:t>実行履歴で</a:t>
            </a:r>
            <a:r>
              <a:rPr lang="en-US" sz="2000" b="1">
                <a:solidFill>
                  <a:srgbClr val="065F46"/>
                </a:solidFill>
                <a:latin typeface="Noto Sans JP" pitchFamily="34" charset="0"/>
                <a:ea typeface="Noto Sans JP" pitchFamily="34" charset="-122"/>
                <a:cs typeface="Noto Sans JP" pitchFamily="34" charset="-120"/>
              </a:rPr>
              <a:t>Composeの出力が</a:t>
            </a:r>
          </a:p>
          <a:p>
            <a:pPr marL="0" indent="0" algn="l">
              <a:buNone/>
            </a:pPr>
            <a:r>
              <a:rPr lang="en-US" sz="2000" b="1">
                <a:solidFill>
                  <a:srgbClr val="065F46"/>
                </a:solidFill>
                <a:latin typeface="Noto Sans JP" pitchFamily="34" charset="0"/>
                <a:ea typeface="Noto Sans JP" pitchFamily="34" charset="-122"/>
                <a:cs typeface="Noto Sans JP" pitchFamily="34" charset="-120"/>
              </a:rPr>
              <a:t>「</a:t>
            </a:r>
            <a:r>
              <a:rPr lang="en-US" sz="2000" b="1" dirty="0">
                <a:solidFill>
                  <a:srgbClr val="065F46"/>
                </a:solidFill>
                <a:latin typeface="Noto Sans JP" pitchFamily="34" charset="0"/>
                <a:ea typeface="Noto Sans JP" pitchFamily="34" charset="-122"/>
                <a:cs typeface="Noto Sans JP" pitchFamily="34" charset="-120"/>
              </a:rPr>
              <a:t>PA45へようこそ！」になれば成功！</a:t>
            </a:r>
            <a:endParaRPr lang="en-US" sz="2000" dirty="0"/>
          </a:p>
        </p:txBody>
      </p:sp>
      <p:sp>
        <p:nvSpPr>
          <p:cNvPr id="61" name="Shape 46"/>
          <p:cNvSpPr/>
          <p:nvPr/>
        </p:nvSpPr>
        <p:spPr>
          <a:xfrm>
            <a:off x="0" y="0"/>
            <a:ext cx="12191695" cy="972007"/>
          </a:xfrm>
          <a:prstGeom prst="rect">
            <a:avLst/>
          </a:prstGeom>
          <a:solidFill>
            <a:srgbClr val="FFFFFF"/>
          </a:solidFill>
          <a:ln/>
        </p:spPr>
        <p:txBody>
          <a:bodyPr/>
          <a:lstStyle/>
          <a:p>
            <a:endParaRPr lang="ja-JP" altLang="en-US"/>
          </a:p>
        </p:txBody>
      </p:sp>
      <p:sp>
        <p:nvSpPr>
          <p:cNvPr id="62" name="Shape 47"/>
          <p:cNvSpPr/>
          <p:nvPr/>
        </p:nvSpPr>
        <p:spPr>
          <a:xfrm>
            <a:off x="0" y="962863"/>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48"/>
          <p:cNvSpPr txBox="1"/>
          <p:nvPr/>
        </p:nvSpPr>
        <p:spPr>
          <a:xfrm>
            <a:off x="457200" y="152705"/>
            <a:ext cx="3972154" cy="191110"/>
          </a:xfrm>
          <a:prstGeom prst="rect">
            <a:avLst/>
          </a:prstGeom>
          <a:noFill/>
          <a:ln/>
        </p:spPr>
        <p:txBody>
          <a:bodyPr wrap="square" lIns="0" tIns="0" rIns="0" bIns="0" rtlCol="0" anchor="ctr"/>
          <a:lstStyle/>
          <a:p>
            <a:pPr marL="0" indent="0" algn="l">
              <a:buNone/>
            </a:pPr>
            <a:r>
              <a:rPr lang="en-US" sz="1000" b="1" kern="0" spc="105" dirty="0">
                <a:solidFill>
                  <a:srgbClr val="6B7280"/>
                </a:solidFill>
                <a:latin typeface="Noto Sans JP" pitchFamily="34" charset="0"/>
                <a:ea typeface="Noto Sans JP" pitchFamily="34" charset="-122"/>
                <a:cs typeface="Noto Sans JP" pitchFamily="34" charset="-120"/>
              </a:rPr>
              <a:t>PA45｜第2回</a:t>
            </a:r>
            <a:endParaRPr lang="en-US" sz="1000" dirty="0"/>
          </a:p>
        </p:txBody>
      </p:sp>
      <p:sp>
        <p:nvSpPr>
          <p:cNvPr id="64" name="Text 49"/>
          <p:cNvSpPr txBox="1"/>
          <p:nvPr/>
        </p:nvSpPr>
        <p:spPr>
          <a:xfrm>
            <a:off x="457200" y="381305"/>
            <a:ext cx="6003036" cy="428854"/>
          </a:xfrm>
          <a:prstGeom prst="rect">
            <a:avLst/>
          </a:prstGeom>
          <a:noFill/>
          <a:ln/>
        </p:spPr>
        <p:txBody>
          <a:bodyPr wrap="square" lIns="0" tIns="0" rIns="0" bIns="0" rtlCol="0" anchor="ctr"/>
          <a:lstStyle/>
          <a:p>
            <a:pPr marL="0" indent="0" algn="l">
              <a:buNone/>
            </a:pPr>
            <a:r>
              <a:rPr lang="en-US" sz="2700" b="1" dirty="0">
                <a:solidFill>
                  <a:srgbClr val="1F2937"/>
                </a:solidFill>
                <a:latin typeface="Noto Sans JP" pitchFamily="34" charset="0"/>
                <a:ea typeface="Noto Sans JP" pitchFamily="34" charset="-122"/>
                <a:cs typeface="Noto Sans JP" pitchFamily="34" charset="-120"/>
              </a:rPr>
              <a:t>10分ハンズオン</a:t>
            </a:r>
            <a:r>
              <a:rPr lang="en-US" sz="1500" b="1" dirty="0">
                <a:solidFill>
                  <a:srgbClr val="6B7280"/>
                </a:solidFill>
                <a:latin typeface="Noto Sans JP" pitchFamily="34" charset="0"/>
                <a:ea typeface="Noto Sans JP" pitchFamily="34" charset="-122"/>
                <a:cs typeface="Noto Sans JP" pitchFamily="34" charset="-120"/>
              </a:rPr>
              <a:t>4つのステップ</a:t>
            </a:r>
            <a:endParaRPr lang="en-US" sz="2700" dirty="0"/>
          </a:p>
        </p:txBody>
      </p:sp>
      <p:sp>
        <p:nvSpPr>
          <p:cNvPr id="65" name="Shape 50"/>
          <p:cNvSpPr/>
          <p:nvPr/>
        </p:nvSpPr>
        <p:spPr>
          <a:xfrm>
            <a:off x="10812780" y="4480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51"/>
          <p:cNvSpPr txBox="1"/>
          <p:nvPr/>
        </p:nvSpPr>
        <p:spPr>
          <a:xfrm>
            <a:off x="11002975" y="390449"/>
            <a:ext cx="810158" cy="228600"/>
          </a:xfrm>
          <a:prstGeom prst="rect">
            <a:avLst/>
          </a:prstGeom>
          <a:noFill/>
          <a:ln/>
        </p:spPr>
        <p:txBody>
          <a:bodyPr wrap="square" lIns="0" tIns="0" rIns="0" bIns="0" rtlCol="0" anchor="ctr"/>
          <a:lstStyle/>
          <a:p>
            <a:pPr marL="0" indent="0" algn="l">
              <a:buNone/>
            </a:pPr>
            <a:r>
              <a:rPr lang="en-US" sz="1200" dirty="0">
                <a:solidFill>
                  <a:srgbClr val="9CA3AF"/>
                </a:solidFill>
                <a:latin typeface="ui-monospace" pitchFamily="34" charset="0"/>
                <a:ea typeface="ui-monospace" pitchFamily="34" charset="-122"/>
                <a:cs typeface="ui-monospace" pitchFamily="34" charset="-120"/>
              </a:rPr>
              <a:t>Hands-on</a:t>
            </a:r>
            <a:endParaRPr lang="en-US" sz="1200" dirty="0"/>
          </a:p>
        </p:txBody>
      </p:sp>
      <p:sp>
        <p:nvSpPr>
          <p:cNvPr id="69" name="Shape 53"/>
          <p:cNvSpPr/>
          <p:nvPr/>
        </p:nvSpPr>
        <p:spPr>
          <a:xfrm>
            <a:off x="0" y="6400800"/>
            <a:ext cx="12191695" cy="457200"/>
          </a:xfrm>
          <a:prstGeom prst="rect">
            <a:avLst/>
          </a:prstGeom>
          <a:solidFill>
            <a:srgbClr val="FFFFFF"/>
          </a:solidFill>
          <a:ln/>
        </p:spPr>
        <p:txBody>
          <a:bodyPr/>
          <a:lstStyle/>
          <a:p>
            <a:endParaRPr lang="ja-JP" altLang="en-US"/>
          </a:p>
        </p:txBody>
      </p:sp>
      <p:sp>
        <p:nvSpPr>
          <p:cNvPr id="70" name="Shape 54"/>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1" name="Text 55"/>
          <p:cNvSpPr txBox="1"/>
          <p:nvPr/>
        </p:nvSpPr>
        <p:spPr>
          <a:xfrm>
            <a:off x="457200" y="6538874"/>
            <a:ext cx="2244852"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2" name="Text 56"/>
          <p:cNvSpPr txBox="1"/>
          <p:nvPr/>
        </p:nvSpPr>
        <p:spPr>
          <a:xfrm>
            <a:off x="10646359" y="6538874"/>
            <a:ext cx="1303934"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3" name="Image 14" descr="preencoded.png"/>
          <p:cNvPicPr>
            <a:picLocks noChangeAspect="1"/>
          </p:cNvPicPr>
          <p:nvPr/>
        </p:nvPicPr>
        <p:blipFill>
          <a:blip r:embed="rId16"/>
          <a:srcRect l="-200" r="-200"/>
          <a:stretch/>
        </p:blipFill>
        <p:spPr>
          <a:xfrm>
            <a:off x="0" y="6782105"/>
            <a:ext cx="12191695" cy="758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1559052"/>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pic>
        <p:nvPicPr>
          <p:cNvPr id="6" name="Image 0" descr="preencoded.png"/>
          <p:cNvPicPr>
            <a:picLocks noChangeAspect="1"/>
          </p:cNvPicPr>
          <p:nvPr/>
        </p:nvPicPr>
        <p:blipFill>
          <a:blip r:embed="rId3"/>
          <a:srcRect l="-1" r="-1"/>
          <a:stretch/>
        </p:blipFill>
        <p:spPr>
          <a:xfrm>
            <a:off x="353873" y="1998965"/>
            <a:ext cx="3657600" cy="4401922"/>
          </a:xfrm>
          <a:prstGeom prst="rect">
            <a:avLst/>
          </a:prstGeom>
        </p:spPr>
      </p:pic>
      <p:sp>
        <p:nvSpPr>
          <p:cNvPr id="7" name="Shape 4"/>
          <p:cNvSpPr/>
          <p:nvPr/>
        </p:nvSpPr>
        <p:spPr>
          <a:xfrm>
            <a:off x="3248863" y="1884665"/>
            <a:ext cx="952805" cy="952805"/>
          </a:xfrm>
          <a:prstGeom prst="ellipse">
            <a:avLst/>
          </a:prstGeom>
          <a:solidFill>
            <a:srgbClr val="8B5CF6">
              <a:alpha val="10000"/>
            </a:srgbClr>
          </a:solidFill>
          <a:ln w="12700">
            <a:solidFill>
              <a:srgbClr val="FFFFFF">
                <a:alpha val="0"/>
              </a:srgbClr>
            </a:solidFill>
            <a:prstDash val="solid"/>
          </a:ln>
        </p:spPr>
        <p:txBody>
          <a:bodyPr/>
          <a:lstStyle/>
          <a:p>
            <a:endParaRPr lang="ja-JP" altLang="en-US"/>
          </a:p>
        </p:txBody>
      </p:sp>
      <p:pic>
        <p:nvPicPr>
          <p:cNvPr id="8" name="Image 1" descr="preencoded.png"/>
          <p:cNvPicPr>
            <a:picLocks noChangeAspect="1"/>
          </p:cNvPicPr>
          <p:nvPr/>
        </p:nvPicPr>
        <p:blipFill>
          <a:blip r:embed="rId4"/>
          <a:srcRect/>
          <a:stretch/>
        </p:blipFill>
        <p:spPr>
          <a:xfrm>
            <a:off x="582473" y="2303460"/>
            <a:ext cx="609905" cy="609905"/>
          </a:xfrm>
          <a:prstGeom prst="rect">
            <a:avLst/>
          </a:prstGeom>
        </p:spPr>
      </p:pic>
      <p:pic>
        <p:nvPicPr>
          <p:cNvPr id="9" name="Image 2" descr="preencoded.png"/>
          <p:cNvPicPr>
            <a:picLocks noChangeAspect="1"/>
          </p:cNvPicPr>
          <p:nvPr/>
        </p:nvPicPr>
        <p:blipFill>
          <a:blip r:embed="rId5"/>
          <a:srcRect/>
          <a:stretch/>
        </p:blipFill>
        <p:spPr>
          <a:xfrm>
            <a:off x="715975" y="2436963"/>
            <a:ext cx="342900" cy="342900"/>
          </a:xfrm>
          <a:prstGeom prst="rect">
            <a:avLst/>
          </a:prstGeom>
        </p:spPr>
      </p:pic>
      <p:sp>
        <p:nvSpPr>
          <p:cNvPr id="10" name="Text 5"/>
          <p:cNvSpPr txBox="1"/>
          <p:nvPr/>
        </p:nvSpPr>
        <p:spPr>
          <a:xfrm>
            <a:off x="491948" y="3141965"/>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型を間違えていないか？</a:t>
            </a:r>
            <a:endParaRPr lang="en-US" sz="2400" dirty="0"/>
          </a:p>
        </p:txBody>
      </p:sp>
      <p:sp>
        <p:nvSpPr>
          <p:cNvPr id="11" name="Text 6"/>
          <p:cNvSpPr txBox="1"/>
          <p:nvPr/>
        </p:nvSpPr>
        <p:spPr>
          <a:xfrm>
            <a:off x="582473" y="3648543"/>
            <a:ext cx="3277210" cy="562356"/>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箱の種類（型）と、中に入れる値が一致していないとエラーになります。</a:t>
            </a:r>
            <a:endParaRPr lang="en-US" sz="1600" dirty="0"/>
          </a:p>
        </p:txBody>
      </p:sp>
      <p:sp>
        <p:nvSpPr>
          <p:cNvPr id="12" name="Shape 7"/>
          <p:cNvSpPr/>
          <p:nvPr/>
        </p:nvSpPr>
        <p:spPr>
          <a:xfrm>
            <a:off x="582473" y="4717477"/>
            <a:ext cx="3200400" cy="1454810"/>
          </a:xfrm>
          <a:prstGeom prst="roundRect">
            <a:avLst>
              <a:gd name="adj" fmla="val 9090"/>
            </a:avLst>
          </a:prstGeom>
          <a:solidFill>
            <a:srgbClr val="F5F3FF"/>
          </a:solidFill>
          <a:ln w="12700">
            <a:solidFill>
              <a:srgbClr val="EDE9FE"/>
            </a:solidFill>
            <a:prstDash val="solid"/>
          </a:ln>
        </p:spPr>
        <p:txBody>
          <a:bodyPr/>
          <a:lstStyle/>
          <a:p>
            <a:endParaRPr lang="ja-JP" altLang="en-US" sz="3600"/>
          </a:p>
        </p:txBody>
      </p:sp>
      <p:sp>
        <p:nvSpPr>
          <p:cNvPr id="13" name="Text 8"/>
          <p:cNvSpPr txBox="1"/>
          <p:nvPr/>
        </p:nvSpPr>
        <p:spPr>
          <a:xfrm>
            <a:off x="687172" y="4846233"/>
            <a:ext cx="2991002" cy="191110"/>
          </a:xfrm>
          <a:prstGeom prst="rect">
            <a:avLst/>
          </a:prstGeom>
          <a:noFill/>
          <a:ln/>
        </p:spPr>
        <p:txBody>
          <a:bodyPr wrap="square" lIns="0" tIns="0" rIns="0" bIns="0" rtlCol="0" anchor="ctr"/>
          <a:lstStyle/>
          <a:p>
            <a:pPr marL="0" indent="0" algn="l">
              <a:buNone/>
            </a:pPr>
            <a:r>
              <a:rPr lang="en-US" sz="2800" b="1" dirty="0">
                <a:solidFill>
                  <a:srgbClr val="A78BFA"/>
                </a:solidFill>
                <a:latin typeface="Noto Sans JP" pitchFamily="34" charset="0"/>
                <a:ea typeface="Noto Sans JP" pitchFamily="34" charset="-122"/>
                <a:cs typeface="Noto Sans JP" pitchFamily="34" charset="-120"/>
              </a:rPr>
              <a:t>Check</a:t>
            </a:r>
            <a:endParaRPr lang="en-US" sz="2800" dirty="0"/>
          </a:p>
        </p:txBody>
      </p:sp>
      <p:sp>
        <p:nvSpPr>
          <p:cNvPr id="14" name="Text 9"/>
          <p:cNvSpPr txBox="1"/>
          <p:nvPr/>
        </p:nvSpPr>
        <p:spPr>
          <a:xfrm>
            <a:off x="1020471" y="5318607"/>
            <a:ext cx="2762402" cy="286207"/>
          </a:xfrm>
          <a:prstGeom prst="rect">
            <a:avLst/>
          </a:prstGeom>
          <a:noFill/>
          <a:ln/>
        </p:spPr>
        <p:txBody>
          <a:bodyPr wrap="square" lIns="0" tIns="0" rIns="0" bIns="0" rtlCol="0" anchor="ctr"/>
          <a:lstStyle/>
          <a:p>
            <a:pPr marL="0" indent="0" algn="l">
              <a:buNone/>
            </a:pPr>
            <a:r>
              <a:rPr lang="en-US" sz="2400" dirty="0">
                <a:solidFill>
                  <a:srgbClr val="374151"/>
                </a:solidFill>
                <a:latin typeface="Noto Sans JP" pitchFamily="34" charset="0"/>
                <a:ea typeface="Noto Sans JP" pitchFamily="34" charset="-122"/>
                <a:cs typeface="Noto Sans JP" pitchFamily="34" charset="-120"/>
              </a:rPr>
              <a:t> 文字なら </a:t>
            </a:r>
            <a:r>
              <a:rPr lang="en-US" sz="2400" b="1" dirty="0">
                <a:solidFill>
                  <a:srgbClr val="374151"/>
                </a:solidFill>
                <a:latin typeface="Noto Sans JP" pitchFamily="34" charset="0"/>
                <a:ea typeface="Noto Sans JP" pitchFamily="34" charset="-122"/>
                <a:cs typeface="Noto Sans JP" pitchFamily="34" charset="-120"/>
              </a:rPr>
              <a:t>String</a:t>
            </a:r>
            <a:endParaRPr lang="en-US" sz="2400" dirty="0"/>
          </a:p>
        </p:txBody>
      </p:sp>
      <p:pic>
        <p:nvPicPr>
          <p:cNvPr id="15" name="Image 3" descr="preencoded.png"/>
          <p:cNvPicPr>
            <a:picLocks noChangeAspect="1"/>
          </p:cNvPicPr>
          <p:nvPr/>
        </p:nvPicPr>
        <p:blipFill>
          <a:blip r:embed="rId6"/>
          <a:srcRect l="-760" r="-760"/>
          <a:stretch/>
        </p:blipFill>
        <p:spPr>
          <a:xfrm>
            <a:off x="697992" y="5293371"/>
            <a:ext cx="228600" cy="257345"/>
          </a:xfrm>
          <a:prstGeom prst="rect">
            <a:avLst/>
          </a:prstGeom>
        </p:spPr>
      </p:pic>
      <p:sp>
        <p:nvSpPr>
          <p:cNvPr id="16" name="Text 10"/>
          <p:cNvSpPr txBox="1"/>
          <p:nvPr/>
        </p:nvSpPr>
        <p:spPr>
          <a:xfrm>
            <a:off x="1020471" y="5724231"/>
            <a:ext cx="2762402" cy="286207"/>
          </a:xfrm>
          <a:prstGeom prst="rect">
            <a:avLst/>
          </a:prstGeom>
          <a:noFill/>
          <a:ln/>
        </p:spPr>
        <p:txBody>
          <a:bodyPr wrap="square" lIns="0" tIns="0" rIns="0" bIns="0" rtlCol="0" anchor="ctr"/>
          <a:lstStyle/>
          <a:p>
            <a:pPr marL="0" indent="0" algn="l">
              <a:buNone/>
            </a:pPr>
            <a:r>
              <a:rPr lang="en-US" sz="2400" dirty="0">
                <a:solidFill>
                  <a:srgbClr val="374151"/>
                </a:solidFill>
                <a:latin typeface="Noto Sans JP" pitchFamily="34" charset="0"/>
                <a:ea typeface="Noto Sans JP" pitchFamily="34" charset="-122"/>
                <a:cs typeface="Noto Sans JP" pitchFamily="34" charset="-120"/>
              </a:rPr>
              <a:t> 数値なら </a:t>
            </a:r>
            <a:r>
              <a:rPr lang="en-US" sz="2400" b="1" dirty="0">
                <a:solidFill>
                  <a:srgbClr val="374151"/>
                </a:solidFill>
                <a:latin typeface="Noto Sans JP" pitchFamily="34" charset="0"/>
                <a:ea typeface="Noto Sans JP" pitchFamily="34" charset="-122"/>
                <a:cs typeface="Noto Sans JP" pitchFamily="34" charset="-120"/>
              </a:rPr>
              <a:t>Integer</a:t>
            </a:r>
            <a:endParaRPr lang="en-US" sz="2400" dirty="0"/>
          </a:p>
        </p:txBody>
      </p:sp>
      <p:pic>
        <p:nvPicPr>
          <p:cNvPr id="17" name="Image 4" descr="preencoded.png"/>
          <p:cNvPicPr>
            <a:picLocks noChangeAspect="1"/>
          </p:cNvPicPr>
          <p:nvPr/>
        </p:nvPicPr>
        <p:blipFill>
          <a:blip r:embed="rId6"/>
          <a:srcRect l="-760" r="-760"/>
          <a:stretch/>
        </p:blipFill>
        <p:spPr>
          <a:xfrm>
            <a:off x="696773" y="5707852"/>
            <a:ext cx="228600" cy="257345"/>
          </a:xfrm>
          <a:prstGeom prst="rect">
            <a:avLst/>
          </a:prstGeom>
        </p:spPr>
      </p:pic>
      <p:pic>
        <p:nvPicPr>
          <p:cNvPr id="18" name="Image 5" descr="preencoded.png"/>
          <p:cNvPicPr>
            <a:picLocks noChangeAspect="1"/>
          </p:cNvPicPr>
          <p:nvPr/>
        </p:nvPicPr>
        <p:blipFill>
          <a:blip r:embed="rId3"/>
          <a:srcRect l="-1" r="-1"/>
          <a:stretch/>
        </p:blipFill>
        <p:spPr>
          <a:xfrm>
            <a:off x="4332734" y="2001273"/>
            <a:ext cx="3657600" cy="4401922"/>
          </a:xfrm>
          <a:prstGeom prst="rect">
            <a:avLst/>
          </a:prstGeom>
        </p:spPr>
      </p:pic>
      <p:pic>
        <p:nvPicPr>
          <p:cNvPr id="19" name="Image 6" descr="preencoded.png"/>
          <p:cNvPicPr>
            <a:picLocks noChangeAspect="1"/>
          </p:cNvPicPr>
          <p:nvPr/>
        </p:nvPicPr>
        <p:blipFill>
          <a:blip r:embed="rId7"/>
          <a:srcRect l="-27" r="-27"/>
          <a:stretch/>
        </p:blipFill>
        <p:spPr>
          <a:xfrm>
            <a:off x="4651859" y="2439271"/>
            <a:ext cx="428854" cy="342900"/>
          </a:xfrm>
          <a:prstGeom prst="rect">
            <a:avLst/>
          </a:prstGeom>
        </p:spPr>
      </p:pic>
      <p:sp>
        <p:nvSpPr>
          <p:cNvPr id="20" name="Text 11"/>
          <p:cNvSpPr txBox="1"/>
          <p:nvPr/>
        </p:nvSpPr>
        <p:spPr>
          <a:xfrm>
            <a:off x="4561334" y="3068378"/>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名前が壊れていないか？</a:t>
            </a:r>
            <a:endParaRPr lang="en-US" sz="2400" dirty="0"/>
          </a:p>
        </p:txBody>
      </p:sp>
      <p:sp>
        <p:nvSpPr>
          <p:cNvPr id="21" name="Text 12"/>
          <p:cNvSpPr txBox="1"/>
          <p:nvPr/>
        </p:nvSpPr>
        <p:spPr>
          <a:xfrm>
            <a:off x="4603551" y="3461113"/>
            <a:ext cx="3277210" cy="562356"/>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変数の名前に余計なスペースや、</a:t>
            </a:r>
          </a:p>
          <a:p>
            <a:pPr marL="0" indent="0" algn="l">
              <a:buNone/>
            </a:pPr>
            <a:r>
              <a:rPr lang="en-US" sz="1600">
                <a:solidFill>
                  <a:srgbClr val="4B5563"/>
                </a:solidFill>
                <a:latin typeface="Noto Sans JP" pitchFamily="34" charset="0"/>
                <a:ea typeface="Noto Sans JP" pitchFamily="34" charset="-122"/>
                <a:cs typeface="Noto Sans JP" pitchFamily="34" charset="-120"/>
              </a:rPr>
              <a:t>全角文字がいないか確認しましょう</a:t>
            </a:r>
            <a:r>
              <a:rPr lang="en-US" sz="1600" dirty="0">
                <a:solidFill>
                  <a:srgbClr val="4B5563"/>
                </a:solidFill>
                <a:latin typeface="Noto Sans JP" pitchFamily="34" charset="0"/>
                <a:ea typeface="Noto Sans JP" pitchFamily="34" charset="-122"/>
                <a:cs typeface="Noto Sans JP" pitchFamily="34" charset="-120"/>
              </a:rPr>
              <a:t>。</a:t>
            </a:r>
            <a:endParaRPr lang="en-US" sz="1600" dirty="0"/>
          </a:p>
        </p:txBody>
      </p:sp>
      <p:sp>
        <p:nvSpPr>
          <p:cNvPr id="22" name="Shape 13"/>
          <p:cNvSpPr/>
          <p:nvPr/>
        </p:nvSpPr>
        <p:spPr>
          <a:xfrm>
            <a:off x="4561334" y="4233324"/>
            <a:ext cx="3200400" cy="1943100"/>
          </a:xfrm>
          <a:prstGeom prst="roundRect">
            <a:avLst>
              <a:gd name="adj" fmla="val 3691"/>
            </a:avLst>
          </a:prstGeom>
          <a:noFill/>
          <a:ln w="12700">
            <a:solidFill>
              <a:srgbClr val="E5E7EB"/>
            </a:solidFill>
            <a:prstDash val="solid"/>
          </a:ln>
        </p:spPr>
        <p:txBody>
          <a:bodyPr/>
          <a:lstStyle/>
          <a:p>
            <a:endParaRPr lang="ja-JP" altLang="en-US"/>
          </a:p>
        </p:txBody>
      </p:sp>
      <p:sp>
        <p:nvSpPr>
          <p:cNvPr id="23" name="Shape 14"/>
          <p:cNvSpPr/>
          <p:nvPr/>
        </p:nvSpPr>
        <p:spPr>
          <a:xfrm>
            <a:off x="4723183" y="5281226"/>
            <a:ext cx="2876702"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4" name="Text 15"/>
          <p:cNvSpPr txBox="1"/>
          <p:nvPr/>
        </p:nvSpPr>
        <p:spPr>
          <a:xfrm>
            <a:off x="4723183" y="4395172"/>
            <a:ext cx="2991002" cy="1911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Bad Example</a:t>
            </a:r>
            <a:endParaRPr lang="en-US" sz="1400" dirty="0"/>
          </a:p>
        </p:txBody>
      </p:sp>
      <p:sp>
        <p:nvSpPr>
          <p:cNvPr id="25" name="Shape 16"/>
          <p:cNvSpPr/>
          <p:nvPr/>
        </p:nvSpPr>
        <p:spPr>
          <a:xfrm>
            <a:off x="4723183" y="4623772"/>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a:p>
        </p:txBody>
      </p:sp>
      <p:sp>
        <p:nvSpPr>
          <p:cNvPr id="26" name="Text 17"/>
          <p:cNvSpPr txBox="1"/>
          <p:nvPr/>
        </p:nvSpPr>
        <p:spPr>
          <a:xfrm>
            <a:off x="4970985" y="4623772"/>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dirty="0">
                <a:solidFill>
                  <a:srgbClr val="475569"/>
                </a:solidFill>
                <a:latin typeface="Consolas" pitchFamily="34" charset="0"/>
                <a:ea typeface="Consolas" pitchFamily="34" charset="-122"/>
                <a:cs typeface="Consolas" pitchFamily="34" charset="-120"/>
              </a:rPr>
              <a:t> "message " </a:t>
            </a:r>
            <a:endParaRPr lang="en-US" sz="2000" dirty="0"/>
          </a:p>
        </p:txBody>
      </p:sp>
      <p:pic>
        <p:nvPicPr>
          <p:cNvPr id="27" name="Image 7" descr="preencoded.png"/>
          <p:cNvPicPr>
            <a:picLocks noChangeAspect="1"/>
          </p:cNvPicPr>
          <p:nvPr/>
        </p:nvPicPr>
        <p:blipFill>
          <a:blip r:embed="rId8"/>
          <a:srcRect t="-2222" b="-2222"/>
          <a:stretch/>
        </p:blipFill>
        <p:spPr>
          <a:xfrm>
            <a:off x="4809136" y="4692352"/>
            <a:ext cx="123444" cy="171907"/>
          </a:xfrm>
          <a:prstGeom prst="rect">
            <a:avLst/>
          </a:prstGeom>
        </p:spPr>
      </p:pic>
      <p:sp>
        <p:nvSpPr>
          <p:cNvPr id="28" name="Text 18"/>
          <p:cNvSpPr txBox="1"/>
          <p:nvPr/>
        </p:nvSpPr>
        <p:spPr>
          <a:xfrm>
            <a:off x="4532073" y="5008735"/>
            <a:ext cx="3067812" cy="191110"/>
          </a:xfrm>
          <a:prstGeom prst="rect">
            <a:avLst/>
          </a:prstGeom>
          <a:noFill/>
          <a:ln/>
        </p:spPr>
        <p:txBody>
          <a:bodyPr wrap="square" lIns="0" tIns="0" rIns="0" bIns="0" rtlCol="0" anchor="ctr"/>
          <a:lstStyle/>
          <a:p>
            <a:pPr marL="0" indent="0" algn="r">
              <a:buNone/>
            </a:pPr>
            <a:r>
              <a:rPr lang="en-US" sz="1400" dirty="0">
                <a:solidFill>
                  <a:srgbClr val="F87171"/>
                </a:solidFill>
                <a:latin typeface="Noto Sans JP" pitchFamily="34" charset="0"/>
                <a:ea typeface="Noto Sans JP" pitchFamily="34" charset="-122"/>
                <a:cs typeface="Noto Sans JP" pitchFamily="34" charset="-120"/>
              </a:rPr>
              <a:t>全角スペースに注意！</a:t>
            </a:r>
            <a:endParaRPr lang="en-US" sz="1400" dirty="0"/>
          </a:p>
        </p:txBody>
      </p:sp>
      <p:sp>
        <p:nvSpPr>
          <p:cNvPr id="29" name="Text 19"/>
          <p:cNvSpPr txBox="1"/>
          <p:nvPr/>
        </p:nvSpPr>
        <p:spPr>
          <a:xfrm>
            <a:off x="4723183" y="5437588"/>
            <a:ext cx="2991002" cy="1911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Good Example</a:t>
            </a:r>
            <a:endParaRPr lang="en-US" sz="1400" dirty="0"/>
          </a:p>
        </p:txBody>
      </p:sp>
      <p:sp>
        <p:nvSpPr>
          <p:cNvPr id="30" name="Shape 20"/>
          <p:cNvSpPr/>
          <p:nvPr/>
        </p:nvSpPr>
        <p:spPr>
          <a:xfrm>
            <a:off x="4723183" y="566618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a:p>
        </p:txBody>
      </p:sp>
      <p:sp>
        <p:nvSpPr>
          <p:cNvPr id="31" name="Text 21"/>
          <p:cNvSpPr txBox="1"/>
          <p:nvPr/>
        </p:nvSpPr>
        <p:spPr>
          <a:xfrm>
            <a:off x="4990187" y="5666188"/>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b="1" dirty="0">
                <a:solidFill>
                  <a:srgbClr val="475569"/>
                </a:solidFill>
                <a:latin typeface="Consolas" pitchFamily="34" charset="0"/>
                <a:ea typeface="Consolas" pitchFamily="34" charset="-122"/>
                <a:cs typeface="Consolas" pitchFamily="34" charset="-120"/>
              </a:rPr>
              <a:t> "message" </a:t>
            </a:r>
            <a:endParaRPr lang="en-US" sz="2000" dirty="0"/>
          </a:p>
        </p:txBody>
      </p:sp>
      <p:pic>
        <p:nvPicPr>
          <p:cNvPr id="32" name="Image 8" descr="preencoded.png"/>
          <p:cNvPicPr>
            <a:picLocks noChangeAspect="1"/>
          </p:cNvPicPr>
          <p:nvPr/>
        </p:nvPicPr>
        <p:blipFill>
          <a:blip r:embed="rId9"/>
          <a:srcRect t="-2725" b="-2725"/>
          <a:stretch/>
        </p:blipFill>
        <p:spPr>
          <a:xfrm>
            <a:off x="4809136" y="5734768"/>
            <a:ext cx="142646" cy="171907"/>
          </a:xfrm>
          <a:prstGeom prst="rect">
            <a:avLst/>
          </a:prstGeom>
        </p:spPr>
      </p:pic>
      <p:pic>
        <p:nvPicPr>
          <p:cNvPr id="33" name="Image 9" descr="preencoded.png"/>
          <p:cNvPicPr>
            <a:picLocks noChangeAspect="1"/>
          </p:cNvPicPr>
          <p:nvPr/>
        </p:nvPicPr>
        <p:blipFill>
          <a:blip r:embed="rId3"/>
          <a:srcRect l="-1" r="-1"/>
          <a:stretch/>
        </p:blipFill>
        <p:spPr>
          <a:xfrm>
            <a:off x="8238136" y="1978207"/>
            <a:ext cx="3657600" cy="4401922"/>
          </a:xfrm>
          <a:prstGeom prst="rect">
            <a:avLst/>
          </a:prstGeom>
        </p:spPr>
      </p:pic>
      <p:sp>
        <p:nvSpPr>
          <p:cNvPr id="34" name="Shape 22"/>
          <p:cNvSpPr/>
          <p:nvPr/>
        </p:nvSpPr>
        <p:spPr>
          <a:xfrm>
            <a:off x="11113924" y="1886973"/>
            <a:ext cx="952805" cy="952805"/>
          </a:xfrm>
          <a:prstGeom prst="ellipse">
            <a:avLst/>
          </a:prstGeom>
          <a:solidFill>
            <a:srgbClr val="3B82F6">
              <a:alpha val="10000"/>
            </a:srgbClr>
          </a:solidFill>
          <a:ln w="12700">
            <a:solidFill>
              <a:srgbClr val="FFFFFF">
                <a:alpha val="0"/>
              </a:srgbClr>
            </a:solidFill>
            <a:prstDash val="solid"/>
          </a:ln>
        </p:spPr>
        <p:txBody>
          <a:bodyPr/>
          <a:lstStyle/>
          <a:p>
            <a:endParaRPr lang="ja-JP" altLang="en-US"/>
          </a:p>
        </p:txBody>
      </p:sp>
      <p:pic>
        <p:nvPicPr>
          <p:cNvPr id="35" name="Image 10" descr="preencoded.png"/>
          <p:cNvPicPr>
            <a:picLocks noChangeAspect="1"/>
          </p:cNvPicPr>
          <p:nvPr/>
        </p:nvPicPr>
        <p:blipFill>
          <a:blip r:embed="rId10"/>
          <a:srcRect/>
          <a:stretch/>
        </p:blipFill>
        <p:spPr>
          <a:xfrm>
            <a:off x="8468872" y="2299476"/>
            <a:ext cx="657345" cy="657345"/>
          </a:xfrm>
          <a:prstGeom prst="rect">
            <a:avLst/>
          </a:prstGeom>
        </p:spPr>
      </p:pic>
      <p:pic>
        <p:nvPicPr>
          <p:cNvPr id="36" name="Image 11" descr="preencoded.png"/>
          <p:cNvPicPr>
            <a:picLocks noChangeAspect="1"/>
          </p:cNvPicPr>
          <p:nvPr/>
        </p:nvPicPr>
        <p:blipFill>
          <a:blip r:embed="rId11"/>
          <a:srcRect l="-743" r="-743"/>
          <a:stretch/>
        </p:blipFill>
        <p:spPr>
          <a:xfrm>
            <a:off x="8645296" y="2468154"/>
            <a:ext cx="304495" cy="342900"/>
          </a:xfrm>
          <a:prstGeom prst="rect">
            <a:avLst/>
          </a:prstGeom>
        </p:spPr>
      </p:pic>
      <p:sp>
        <p:nvSpPr>
          <p:cNvPr id="37" name="Text 23"/>
          <p:cNvSpPr txBox="1"/>
          <p:nvPr/>
        </p:nvSpPr>
        <p:spPr>
          <a:xfrm>
            <a:off x="8447534" y="3068378"/>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動的コンテンツか？</a:t>
            </a:r>
            <a:endParaRPr lang="en-US" sz="2400" dirty="0"/>
          </a:p>
        </p:txBody>
      </p:sp>
      <p:sp>
        <p:nvSpPr>
          <p:cNvPr id="38" name="Text 24"/>
          <p:cNvSpPr txBox="1"/>
          <p:nvPr/>
        </p:nvSpPr>
        <p:spPr>
          <a:xfrm>
            <a:off x="8428179" y="3547066"/>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Composeの入力欄に、手入力の文字ではなく、イナズママークの動的な値を選んでいますか？</a:t>
            </a:r>
            <a:endParaRPr lang="en-US" sz="1600" dirty="0"/>
          </a:p>
        </p:txBody>
      </p:sp>
      <p:sp>
        <p:nvSpPr>
          <p:cNvPr id="39" name="Shape 25"/>
          <p:cNvSpPr/>
          <p:nvPr/>
        </p:nvSpPr>
        <p:spPr>
          <a:xfrm>
            <a:off x="8447534" y="4446379"/>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a:p>
        </p:txBody>
      </p:sp>
      <p:sp>
        <p:nvSpPr>
          <p:cNvPr id="40" name="Shape 26"/>
          <p:cNvSpPr/>
          <p:nvPr/>
        </p:nvSpPr>
        <p:spPr>
          <a:xfrm>
            <a:off x="8609383" y="5265681"/>
            <a:ext cx="2876702" cy="9144"/>
          </a:xfrm>
          <a:prstGeom prst="rect">
            <a:avLst/>
          </a:prstGeom>
          <a:solidFill>
            <a:srgbClr val="BFDBFE"/>
          </a:solidFill>
          <a:ln w="12700">
            <a:solidFill>
              <a:srgbClr val="BFDBFE">
                <a:alpha val="0"/>
              </a:srgbClr>
            </a:solidFill>
            <a:prstDash val="solid"/>
          </a:ln>
        </p:spPr>
        <p:txBody>
          <a:bodyPr/>
          <a:lstStyle/>
          <a:p>
            <a:endParaRPr lang="ja-JP" altLang="en-US"/>
          </a:p>
        </p:txBody>
      </p:sp>
      <p:sp>
        <p:nvSpPr>
          <p:cNvPr id="41" name="Text 27"/>
          <p:cNvSpPr txBox="1"/>
          <p:nvPr/>
        </p:nvSpPr>
        <p:spPr>
          <a:xfrm>
            <a:off x="8630720" y="4601936"/>
            <a:ext cx="4027869" cy="229724"/>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Bad (ただの文字)</a:t>
            </a:r>
            <a:endParaRPr lang="en-US" sz="1200" dirty="0"/>
          </a:p>
        </p:txBody>
      </p:sp>
      <p:sp>
        <p:nvSpPr>
          <p:cNvPr id="42" name="Shape 28"/>
          <p:cNvSpPr/>
          <p:nvPr/>
        </p:nvSpPr>
        <p:spPr>
          <a:xfrm>
            <a:off x="8609383" y="483682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a:p>
        </p:txBody>
      </p:sp>
      <p:sp>
        <p:nvSpPr>
          <p:cNvPr id="43" name="Text 29"/>
          <p:cNvSpPr txBox="1"/>
          <p:nvPr/>
        </p:nvSpPr>
        <p:spPr>
          <a:xfrm>
            <a:off x="8878522" y="4830536"/>
            <a:ext cx="3643677" cy="424274"/>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a:t>
            </a:r>
            <a:endParaRPr lang="en-US" dirty="0"/>
          </a:p>
        </p:txBody>
      </p:sp>
      <p:pic>
        <p:nvPicPr>
          <p:cNvPr id="44" name="Image 12" descr="preencoded.png"/>
          <p:cNvPicPr>
            <a:picLocks noChangeAspect="1"/>
          </p:cNvPicPr>
          <p:nvPr/>
        </p:nvPicPr>
        <p:blipFill>
          <a:blip r:embed="rId8"/>
          <a:srcRect t="-2222" b="-2222"/>
          <a:stretch/>
        </p:blipFill>
        <p:spPr>
          <a:xfrm>
            <a:off x="8695336" y="4905408"/>
            <a:ext cx="123444" cy="171907"/>
          </a:xfrm>
          <a:prstGeom prst="rect">
            <a:avLst/>
          </a:prstGeom>
        </p:spPr>
      </p:pic>
      <p:sp>
        <p:nvSpPr>
          <p:cNvPr id="45" name="Text 30"/>
          <p:cNvSpPr txBox="1"/>
          <p:nvPr/>
        </p:nvSpPr>
        <p:spPr>
          <a:xfrm>
            <a:off x="8630720" y="5415752"/>
            <a:ext cx="4027869" cy="229724"/>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Good (動的コンテンツ)</a:t>
            </a:r>
            <a:endParaRPr lang="en-US" sz="1200" dirty="0"/>
          </a:p>
        </p:txBody>
      </p:sp>
      <p:pic>
        <p:nvPicPr>
          <p:cNvPr id="46" name="Image 13" descr="preencoded.png"/>
          <p:cNvPicPr>
            <a:picLocks noChangeAspect="1"/>
          </p:cNvPicPr>
          <p:nvPr/>
        </p:nvPicPr>
        <p:blipFill>
          <a:blip r:embed="rId12"/>
          <a:srcRect t="-3" b="-3"/>
          <a:stretch/>
        </p:blipFill>
        <p:spPr>
          <a:xfrm>
            <a:off x="8609383" y="5650644"/>
            <a:ext cx="1057961" cy="362102"/>
          </a:xfrm>
          <a:prstGeom prst="rect">
            <a:avLst/>
          </a:prstGeom>
        </p:spPr>
      </p:pic>
      <p:pic>
        <p:nvPicPr>
          <p:cNvPr id="47" name="Image 14" descr="preencoded.png"/>
          <p:cNvPicPr>
            <a:picLocks noChangeAspect="1"/>
          </p:cNvPicPr>
          <p:nvPr/>
        </p:nvPicPr>
        <p:blipFill>
          <a:blip r:embed="rId13"/>
          <a:srcRect t="-1100" b="-1100"/>
          <a:stretch/>
        </p:blipFill>
        <p:spPr>
          <a:xfrm>
            <a:off x="8695336" y="5772259"/>
            <a:ext cx="114300" cy="133502"/>
          </a:xfrm>
          <a:prstGeom prst="rect">
            <a:avLst/>
          </a:prstGeom>
        </p:spPr>
      </p:pic>
      <p:sp>
        <p:nvSpPr>
          <p:cNvPr id="48" name="Text 31"/>
          <p:cNvSpPr txBox="1"/>
          <p:nvPr/>
        </p:nvSpPr>
        <p:spPr>
          <a:xfrm>
            <a:off x="8868464" y="5691900"/>
            <a:ext cx="1103323" cy="320954"/>
          </a:xfrm>
          <a:prstGeom prst="rect">
            <a:avLst/>
          </a:prstGeom>
          <a:noFill/>
          <a:ln/>
        </p:spPr>
        <p:txBody>
          <a:bodyPr wrap="square" lIns="0" tIns="0" rIns="0" bIns="0" rtlCol="0" anchor="ctr"/>
          <a:lstStyle/>
          <a:p>
            <a:pPr marL="0" indent="0" algn="l">
              <a:buNone/>
            </a:pPr>
            <a:r>
              <a:rPr lang="en-US" b="1" dirty="0">
                <a:solidFill>
                  <a:srgbClr val="1E40AF"/>
                </a:solidFill>
                <a:latin typeface="Noto Sans JP" pitchFamily="34" charset="0"/>
                <a:ea typeface="Noto Sans JP" pitchFamily="34" charset="-122"/>
                <a:cs typeface="Noto Sans JP" pitchFamily="34" charset="-120"/>
              </a:rPr>
              <a:t>message</a:t>
            </a:r>
            <a:endParaRPr lang="en-US" dirty="0"/>
          </a:p>
        </p:txBody>
      </p:sp>
      <p:sp>
        <p:nvSpPr>
          <p:cNvPr id="49" name="Shape 32"/>
          <p:cNvSpPr/>
          <p:nvPr/>
        </p:nvSpPr>
        <p:spPr>
          <a:xfrm>
            <a:off x="0" y="0"/>
            <a:ext cx="12191695" cy="1687068"/>
          </a:xfrm>
          <a:prstGeom prst="rect">
            <a:avLst/>
          </a:prstGeom>
          <a:solidFill>
            <a:srgbClr val="FFFFFF"/>
          </a:solidFill>
          <a:ln/>
        </p:spPr>
        <p:txBody>
          <a:bodyPr/>
          <a:lstStyle/>
          <a:p>
            <a:endParaRPr lang="ja-JP" altLang="en-US"/>
          </a:p>
        </p:txBody>
      </p:sp>
      <p:sp>
        <p:nvSpPr>
          <p:cNvPr id="51" name="Text 34"/>
          <p:cNvSpPr txBox="1"/>
          <p:nvPr/>
        </p:nvSpPr>
        <p:spPr>
          <a:xfrm>
            <a:off x="457200" y="228600"/>
            <a:ext cx="8039405"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PA45｜第2回</a:t>
            </a:r>
            <a:endParaRPr lang="en-US" sz="1500" dirty="0"/>
          </a:p>
        </p:txBody>
      </p:sp>
      <p:sp>
        <p:nvSpPr>
          <p:cNvPr id="52" name="Text 35"/>
          <p:cNvSpPr txBox="1"/>
          <p:nvPr/>
        </p:nvSpPr>
        <p:spPr>
          <a:xfrm>
            <a:off x="457199" y="533095"/>
            <a:ext cx="9210145" cy="1429207"/>
          </a:xfrm>
          <a:prstGeom prst="rect">
            <a:avLst/>
          </a:prstGeom>
          <a:noFill/>
          <a:ln/>
        </p:spPr>
        <p:txBody>
          <a:bodyPr wrap="square" lIns="0" tIns="0" rIns="0" bIns="0" rtlCol="0" anchor="t"/>
          <a:lstStyle/>
          <a:p>
            <a:pPr marL="0" indent="0" algn="l">
              <a:buNone/>
            </a:pPr>
            <a:r>
              <a:rPr lang="en-US" sz="4500" b="1">
                <a:solidFill>
                  <a:srgbClr val="1F2937"/>
                </a:solidFill>
                <a:latin typeface="Noto Sans JP" pitchFamily="34" charset="0"/>
                <a:ea typeface="Noto Sans JP" pitchFamily="34" charset="-122"/>
                <a:cs typeface="Noto Sans JP" pitchFamily="34" charset="-120"/>
              </a:rPr>
              <a:t>うまくいかない時の  </a:t>
            </a:r>
            <a:r>
              <a:rPr lang="en-US" sz="2700" b="1">
                <a:solidFill>
                  <a:srgbClr val="6B7280"/>
                </a:solidFill>
                <a:latin typeface="Noto Sans JP" pitchFamily="34" charset="0"/>
                <a:ea typeface="Noto Sans JP" pitchFamily="34" charset="-122"/>
                <a:cs typeface="Noto Sans JP" pitchFamily="34" charset="-120"/>
              </a:rPr>
              <a:t>チェックポイント</a:t>
            </a:r>
            <a:endParaRPr lang="en-US" sz="4500" dirty="0"/>
          </a:p>
        </p:txBody>
      </p:sp>
      <p:sp>
        <p:nvSpPr>
          <p:cNvPr id="53" name="Shape 36"/>
          <p:cNvSpPr/>
          <p:nvPr/>
        </p:nvSpPr>
        <p:spPr>
          <a:xfrm>
            <a:off x="9448495" y="1314907"/>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54" name="Text 37"/>
          <p:cNvSpPr txBox="1"/>
          <p:nvPr/>
        </p:nvSpPr>
        <p:spPr>
          <a:xfrm>
            <a:off x="9677095" y="1238098"/>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8" name="Shape 40"/>
          <p:cNvSpPr/>
          <p:nvPr/>
        </p:nvSpPr>
        <p:spPr>
          <a:xfrm>
            <a:off x="0" y="7364578"/>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59" name="Text 41"/>
          <p:cNvSpPr txBox="1"/>
          <p:nvPr/>
        </p:nvSpPr>
        <p:spPr>
          <a:xfrm>
            <a:off x="175768" y="6457993"/>
            <a:ext cx="2573122" cy="228600"/>
          </a:xfrm>
          <a:prstGeom prst="rect">
            <a:avLst/>
          </a:prstGeom>
          <a:noFill/>
          <a:ln/>
        </p:spPr>
        <p:txBody>
          <a:bodyPr wrap="square" lIns="0" tIns="0" rIns="0" bIns="0" rtlCol="0" anchor="ctr"/>
          <a:lstStyle/>
          <a:p>
            <a:pPr marL="0" indent="0" algn="l">
              <a:buNone/>
            </a:pPr>
            <a:r>
              <a:rPr lang="en-US" sz="1400" dirty="0">
                <a:solidFill>
                  <a:srgbClr val="9CA3AF"/>
                </a:solidFill>
                <a:latin typeface="Noto Sans JP" pitchFamily="34" charset="0"/>
                <a:ea typeface="Noto Sans JP" pitchFamily="34" charset="-122"/>
                <a:cs typeface="Noto Sans JP" pitchFamily="34" charset="-120"/>
              </a:rPr>
              <a:t>Power Automate for Beginners</a:t>
            </a:r>
            <a:endParaRPr lang="en-US" sz="1400" dirty="0"/>
          </a:p>
        </p:txBody>
      </p:sp>
      <p:sp>
        <p:nvSpPr>
          <p:cNvPr id="60" name="Text 42"/>
          <p:cNvSpPr txBox="1"/>
          <p:nvPr/>
        </p:nvSpPr>
        <p:spPr>
          <a:xfrm>
            <a:off x="10490911" y="7373722"/>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019CD6F6-C7FC-1FC5-74A1-4F715480E079}"/>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21C13B43-672D-3D4B-F748-54DA2BC19D6E}"/>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B6E4E3AA-5512-D18B-25D1-32CC0CF3B8E4}"/>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1BD9B44A-FC7B-9543-EDA3-844E363DAB57}"/>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238098"/>
            <a:ext cx="12191695" cy="5609844"/>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30000"/>
          </a:blip>
          <a:srcRect/>
          <a:stretch/>
        </p:blipFill>
        <p:spPr>
          <a:xfrm>
            <a:off x="305" y="1369578"/>
            <a:ext cx="12191695" cy="5605272"/>
          </a:xfrm>
          <a:prstGeom prst="rect">
            <a:avLst/>
          </a:prstGeom>
        </p:spPr>
      </p:pic>
      <p:sp>
        <p:nvSpPr>
          <p:cNvPr id="6" name="Shape 3"/>
          <p:cNvSpPr/>
          <p:nvPr/>
        </p:nvSpPr>
        <p:spPr>
          <a:xfrm>
            <a:off x="609905"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7" name="Shape 4"/>
          <p:cNvSpPr/>
          <p:nvPr/>
        </p:nvSpPr>
        <p:spPr>
          <a:xfrm>
            <a:off x="3038551" y="2003450"/>
            <a:ext cx="533095" cy="5330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8" name="Image 1" descr="preencoded.png"/>
          <p:cNvPicPr>
            <a:picLocks noChangeAspect="1"/>
          </p:cNvPicPr>
          <p:nvPr/>
        </p:nvPicPr>
        <p:blipFill>
          <a:blip r:embed="rId4"/>
          <a:srcRect l="-80" r="-80"/>
          <a:stretch/>
        </p:blipFill>
        <p:spPr>
          <a:xfrm>
            <a:off x="3161995" y="2156155"/>
            <a:ext cx="286207" cy="228600"/>
          </a:xfrm>
          <a:prstGeom prst="rect">
            <a:avLst/>
          </a:prstGeom>
        </p:spPr>
      </p:pic>
      <p:sp>
        <p:nvSpPr>
          <p:cNvPr id="9" name="Text 5"/>
          <p:cNvSpPr txBox="1"/>
          <p:nvPr/>
        </p:nvSpPr>
        <p:spPr>
          <a:xfrm>
            <a:off x="2180840" y="2658191"/>
            <a:ext cx="2248516"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変数は「箱」</a:t>
            </a:r>
            <a:endParaRPr lang="en-US" sz="2400" dirty="0"/>
          </a:p>
        </p:txBody>
      </p:sp>
      <p:sp>
        <p:nvSpPr>
          <p:cNvPr id="10" name="Text 6"/>
          <p:cNvSpPr txBox="1"/>
          <p:nvPr/>
        </p:nvSpPr>
        <p:spPr>
          <a:xfrm>
            <a:off x="1214322" y="3046843"/>
            <a:ext cx="4303827" cy="67848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値を一時的に入れておくための</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名前付きの入れ物です。 </a:t>
            </a:r>
            <a:endParaRPr lang="en-US" sz="2000" dirty="0"/>
          </a:p>
        </p:txBody>
      </p:sp>
      <p:sp>
        <p:nvSpPr>
          <p:cNvPr id="11" name="Shape 7"/>
          <p:cNvSpPr/>
          <p:nvPr/>
        </p:nvSpPr>
        <p:spPr>
          <a:xfrm>
            <a:off x="6191402"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12" name="Shape 8"/>
          <p:cNvSpPr/>
          <p:nvPr/>
        </p:nvSpPr>
        <p:spPr>
          <a:xfrm>
            <a:off x="8620049" y="2003450"/>
            <a:ext cx="533095" cy="5330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13" name="Image 2" descr="preencoded.png"/>
          <p:cNvPicPr>
            <a:picLocks noChangeAspect="1"/>
          </p:cNvPicPr>
          <p:nvPr/>
        </p:nvPicPr>
        <p:blipFill>
          <a:blip r:embed="rId5"/>
          <a:srcRect t="-45" b="-45"/>
          <a:stretch/>
        </p:blipFill>
        <p:spPr>
          <a:xfrm>
            <a:off x="8758123" y="2156155"/>
            <a:ext cx="256946" cy="228600"/>
          </a:xfrm>
          <a:prstGeom prst="rect">
            <a:avLst/>
          </a:prstGeom>
        </p:spPr>
      </p:pic>
      <p:sp>
        <p:nvSpPr>
          <p:cNvPr id="14" name="Text 9"/>
          <p:cNvSpPr txBox="1"/>
          <p:nvPr/>
        </p:nvSpPr>
        <p:spPr>
          <a:xfrm>
            <a:off x="6945782" y="2651760"/>
            <a:ext cx="3744195" cy="267005"/>
          </a:xfrm>
          <a:prstGeom prst="rect">
            <a:avLst/>
          </a:prstGeom>
          <a:noFill/>
          <a:ln/>
        </p:spPr>
        <p:txBody>
          <a:bodyPr wrap="square" lIns="0" tIns="0" rIns="0" bIns="0" rtlCol="0" anchor="ctr"/>
          <a:lstStyle/>
          <a:p>
            <a:pPr marL="0" indent="0" algn="ctr">
              <a:buNone/>
            </a:pPr>
            <a:r>
              <a:rPr lang="en-US" sz="2400" b="1">
                <a:solidFill>
                  <a:srgbClr val="1F2937"/>
                </a:solidFill>
                <a:latin typeface="Noto Sans JP" pitchFamily="34" charset="0"/>
                <a:ea typeface="Noto Sans JP" pitchFamily="34" charset="-122"/>
                <a:cs typeface="Noto Sans JP" pitchFamily="34" charset="-120"/>
              </a:rPr>
              <a:t>Initialize</a:t>
            </a:r>
            <a:r>
              <a:rPr lang="ja-JP" altLang="en-US" sz="2400" b="1">
                <a:solidFill>
                  <a:srgbClr val="1F2937"/>
                </a:solidFill>
                <a:latin typeface="Noto Sans JP" pitchFamily="34" charset="0"/>
                <a:ea typeface="Noto Sans JP" pitchFamily="34" charset="-122"/>
                <a:cs typeface="Noto Sans JP" pitchFamily="34" charset="-120"/>
              </a:rPr>
              <a:t>初期化</a:t>
            </a:r>
            <a:r>
              <a:rPr lang="en-US" sz="2400" b="1">
                <a:solidFill>
                  <a:srgbClr val="1F2937"/>
                </a:solidFill>
                <a:latin typeface="Noto Sans JP" pitchFamily="34" charset="0"/>
                <a:ea typeface="Noto Sans JP" pitchFamily="34" charset="-122"/>
                <a:cs typeface="Noto Sans JP" pitchFamily="34" charset="-120"/>
              </a:rPr>
              <a:t>は</a:t>
            </a:r>
            <a:r>
              <a:rPr lang="en-US" sz="2400" b="1" dirty="0">
                <a:solidFill>
                  <a:srgbClr val="1F2937"/>
                </a:solidFill>
                <a:latin typeface="Noto Sans JP" pitchFamily="34" charset="0"/>
                <a:ea typeface="Noto Sans JP" pitchFamily="34" charset="-122"/>
                <a:cs typeface="Noto Sans JP" pitchFamily="34" charset="-120"/>
              </a:rPr>
              <a:t>「準備」</a:t>
            </a:r>
            <a:endParaRPr lang="en-US" sz="2400" dirty="0"/>
          </a:p>
        </p:txBody>
      </p:sp>
      <p:sp>
        <p:nvSpPr>
          <p:cNvPr id="15" name="Text 10"/>
          <p:cNvSpPr txBox="1"/>
          <p:nvPr/>
        </p:nvSpPr>
        <p:spPr>
          <a:xfrm>
            <a:off x="6171292" y="3116803"/>
            <a:ext cx="5293173" cy="704280"/>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最初に「箱の名前」と「種類（型）」を</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決めて宣言することです。 </a:t>
            </a:r>
            <a:endParaRPr lang="en-US" sz="2000" dirty="0"/>
          </a:p>
        </p:txBody>
      </p:sp>
      <p:sp>
        <p:nvSpPr>
          <p:cNvPr id="16" name="Shape 11"/>
          <p:cNvSpPr/>
          <p:nvPr/>
        </p:nvSpPr>
        <p:spPr>
          <a:xfrm>
            <a:off x="609905"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17" name="Shape 12"/>
          <p:cNvSpPr/>
          <p:nvPr/>
        </p:nvSpPr>
        <p:spPr>
          <a:xfrm>
            <a:off x="3038551" y="4596689"/>
            <a:ext cx="533095" cy="533095"/>
          </a:xfrm>
          <a:prstGeom prst="ellipse">
            <a:avLst/>
          </a:prstGeom>
          <a:solidFill>
            <a:srgbClr val="FCE7F3"/>
          </a:solidFill>
          <a:ln w="12700">
            <a:solidFill>
              <a:srgbClr val="FFFFFF">
                <a:alpha val="0"/>
              </a:srgbClr>
            </a:solidFill>
            <a:prstDash val="solid"/>
          </a:ln>
        </p:spPr>
        <p:txBody>
          <a:bodyPr/>
          <a:lstStyle/>
          <a:p>
            <a:endParaRPr lang="ja-JP" altLang="en-US"/>
          </a:p>
        </p:txBody>
      </p:sp>
      <p:pic>
        <p:nvPicPr>
          <p:cNvPr id="18" name="Image 3" descr="preencoded.png"/>
          <p:cNvPicPr>
            <a:picLocks noChangeAspect="1"/>
          </p:cNvPicPr>
          <p:nvPr/>
        </p:nvPicPr>
        <p:blipFill>
          <a:blip r:embed="rId6"/>
          <a:srcRect/>
          <a:stretch/>
        </p:blipFill>
        <p:spPr>
          <a:xfrm>
            <a:off x="3191256" y="4749394"/>
            <a:ext cx="228600" cy="228600"/>
          </a:xfrm>
          <a:prstGeom prst="rect">
            <a:avLst/>
          </a:prstGeom>
        </p:spPr>
      </p:pic>
      <p:sp>
        <p:nvSpPr>
          <p:cNvPr id="19" name="Text 13"/>
          <p:cNvSpPr txBox="1"/>
          <p:nvPr/>
        </p:nvSpPr>
        <p:spPr>
          <a:xfrm>
            <a:off x="1535277" y="5244998"/>
            <a:ext cx="3122939"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Composeは「窓」</a:t>
            </a:r>
            <a:endParaRPr lang="en-US" sz="2400" dirty="0"/>
          </a:p>
        </p:txBody>
      </p:sp>
      <p:sp>
        <p:nvSpPr>
          <p:cNvPr id="20" name="Text 14"/>
          <p:cNvSpPr txBox="1"/>
          <p:nvPr/>
        </p:nvSpPr>
        <p:spPr>
          <a:xfrm>
            <a:off x="464555" y="5771498"/>
            <a:ext cx="5934416"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箱の中身が正しく入っているか</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確認するためのデバッグ用アクションです。 </a:t>
            </a:r>
            <a:endParaRPr lang="en-US" sz="2000" dirty="0"/>
          </a:p>
        </p:txBody>
      </p:sp>
      <p:sp>
        <p:nvSpPr>
          <p:cNvPr id="21" name="Shape 15"/>
          <p:cNvSpPr/>
          <p:nvPr/>
        </p:nvSpPr>
        <p:spPr>
          <a:xfrm>
            <a:off x="6191402"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pic>
        <p:nvPicPr>
          <p:cNvPr id="22" name="Image 4" descr="preencoded.png"/>
          <p:cNvPicPr>
            <a:picLocks noChangeAspect="1"/>
          </p:cNvPicPr>
          <p:nvPr/>
        </p:nvPicPr>
        <p:blipFill>
          <a:blip r:embed="rId7"/>
          <a:srcRect/>
          <a:stretch/>
        </p:blipFill>
        <p:spPr>
          <a:xfrm>
            <a:off x="8620049" y="4336085"/>
            <a:ext cx="533095" cy="533095"/>
          </a:xfrm>
          <a:prstGeom prst="rect">
            <a:avLst/>
          </a:prstGeom>
        </p:spPr>
      </p:pic>
      <p:pic>
        <p:nvPicPr>
          <p:cNvPr id="23" name="Image 5" descr="preencoded.png"/>
          <p:cNvPicPr>
            <a:picLocks noChangeAspect="1"/>
          </p:cNvPicPr>
          <p:nvPr/>
        </p:nvPicPr>
        <p:blipFill>
          <a:blip r:embed="rId8"/>
          <a:srcRect l="-80" r="-80"/>
          <a:stretch/>
        </p:blipFill>
        <p:spPr>
          <a:xfrm>
            <a:off x="8744407" y="4488790"/>
            <a:ext cx="286207" cy="228600"/>
          </a:xfrm>
          <a:prstGeom prst="rect">
            <a:avLst/>
          </a:prstGeom>
        </p:spPr>
      </p:pic>
      <p:sp>
        <p:nvSpPr>
          <p:cNvPr id="24" name="Text 16"/>
          <p:cNvSpPr txBox="1"/>
          <p:nvPr/>
        </p:nvSpPr>
        <p:spPr>
          <a:xfrm>
            <a:off x="7105802" y="4984394"/>
            <a:ext cx="3167910"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PA45のコンセプト</a:t>
            </a:r>
            <a:endParaRPr lang="en-US" sz="2400" dirty="0"/>
          </a:p>
        </p:txBody>
      </p:sp>
      <p:pic>
        <p:nvPicPr>
          <p:cNvPr id="25" name="Image 6" descr="preencoded.png"/>
          <p:cNvPicPr>
            <a:picLocks noChangeAspect="1"/>
          </p:cNvPicPr>
          <p:nvPr/>
        </p:nvPicPr>
        <p:blipFill>
          <a:blip r:embed="rId9"/>
          <a:srcRect l="-39" r="-39"/>
          <a:stretch/>
        </p:blipFill>
        <p:spPr>
          <a:xfrm>
            <a:off x="6752844" y="5360213"/>
            <a:ext cx="4267505" cy="406908"/>
          </a:xfrm>
          <a:prstGeom prst="rect">
            <a:avLst/>
          </a:prstGeom>
        </p:spPr>
      </p:pic>
      <p:sp>
        <p:nvSpPr>
          <p:cNvPr id="26" name="Text 17"/>
          <p:cNvSpPr txBox="1"/>
          <p:nvPr/>
        </p:nvSpPr>
        <p:spPr>
          <a:xfrm>
            <a:off x="6610807" y="5446165"/>
            <a:ext cx="4404055" cy="265897"/>
          </a:xfrm>
          <a:prstGeom prst="rect">
            <a:avLst/>
          </a:prstGeom>
          <a:noFill/>
          <a:ln/>
        </p:spPr>
        <p:txBody>
          <a:bodyPr wrap="square" lIns="0" tIns="0" rIns="0" bIns="0" rtlCol="0" anchor="ctr"/>
          <a:lstStyle/>
          <a:p>
            <a:pPr marL="0" indent="0" algn="ctr">
              <a:buNone/>
            </a:pPr>
            <a:r>
              <a:rPr lang="en-US" sz="2000" b="1" dirty="0">
                <a:solidFill>
                  <a:srgbClr val="1E40AF"/>
                </a:solidFill>
                <a:latin typeface="Noto Sans JP" pitchFamily="34" charset="0"/>
                <a:ea typeface="Noto Sans JP" pitchFamily="34" charset="-122"/>
                <a:cs typeface="Noto Sans JP" pitchFamily="34" charset="-120"/>
              </a:rPr>
              <a:t>“忙しい人のための45分講座”</a:t>
            </a:r>
            <a:endParaRPr lang="en-US" sz="2000" dirty="0"/>
          </a:p>
        </p:txBody>
      </p:sp>
      <p:sp>
        <p:nvSpPr>
          <p:cNvPr id="27" name="Text 18"/>
          <p:cNvSpPr txBox="1"/>
          <p:nvPr/>
        </p:nvSpPr>
        <p:spPr>
          <a:xfrm>
            <a:off x="6494068" y="5843930"/>
            <a:ext cx="5396439"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手軽に学べるハンズオン形式で、</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短時間で実践的なスキルを習得します。 </a:t>
            </a:r>
            <a:endParaRPr lang="en-US" sz="2000" dirty="0"/>
          </a:p>
        </p:txBody>
      </p:sp>
      <p:sp>
        <p:nvSpPr>
          <p:cNvPr id="28" name="Shape 19"/>
          <p:cNvSpPr/>
          <p:nvPr/>
        </p:nvSpPr>
        <p:spPr>
          <a:xfrm>
            <a:off x="0" y="0"/>
            <a:ext cx="12191695" cy="1238098"/>
          </a:xfrm>
          <a:prstGeom prst="rect">
            <a:avLst/>
          </a:prstGeom>
          <a:solidFill>
            <a:srgbClr val="FFFFFF"/>
          </a:solidFill>
          <a:ln/>
        </p:spPr>
        <p:txBody>
          <a:bodyPr/>
          <a:lstStyle/>
          <a:p>
            <a:endParaRPr lang="ja-JP" altLang="en-US"/>
          </a:p>
        </p:txBody>
      </p:sp>
      <p:sp>
        <p:nvSpPr>
          <p:cNvPr id="29" name="Shape 20"/>
          <p:cNvSpPr/>
          <p:nvPr/>
        </p:nvSpPr>
        <p:spPr>
          <a:xfrm>
            <a:off x="0" y="1228954"/>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0" name="Text 21"/>
          <p:cNvSpPr txBox="1"/>
          <p:nvPr/>
        </p:nvSpPr>
        <p:spPr>
          <a:xfrm>
            <a:off x="457200" y="73678"/>
            <a:ext cx="4553712" cy="228600"/>
          </a:xfrm>
          <a:prstGeom prst="rect">
            <a:avLst/>
          </a:prstGeom>
          <a:noFill/>
          <a:ln/>
        </p:spPr>
        <p:txBody>
          <a:bodyPr wrap="square" lIns="0" tIns="0" rIns="0" bIns="0" rtlCol="0" anchor="ctr"/>
          <a:lstStyle/>
          <a:p>
            <a:pPr marL="0" indent="0" algn="l">
              <a:buNone/>
            </a:pPr>
            <a:r>
              <a:rPr lang="en-US" sz="1200" b="1" kern="0" spc="120" dirty="0">
                <a:solidFill>
                  <a:srgbClr val="6B7280"/>
                </a:solidFill>
                <a:latin typeface="Noto Sans JP" pitchFamily="34" charset="0"/>
                <a:ea typeface="Noto Sans JP" pitchFamily="34" charset="-122"/>
                <a:cs typeface="Noto Sans JP" pitchFamily="34" charset="-120"/>
              </a:rPr>
              <a:t>PA45｜第2回</a:t>
            </a:r>
            <a:endParaRPr lang="en-US" sz="1200" dirty="0"/>
          </a:p>
        </p:txBody>
      </p:sp>
      <p:sp>
        <p:nvSpPr>
          <p:cNvPr id="31" name="Text 22"/>
          <p:cNvSpPr txBox="1"/>
          <p:nvPr/>
        </p:nvSpPr>
        <p:spPr>
          <a:xfrm>
            <a:off x="457200" y="399179"/>
            <a:ext cx="67537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今日の学び</a:t>
            </a:r>
            <a:r>
              <a:rPr lang="en-US" sz="2200" b="1" dirty="0">
                <a:solidFill>
                  <a:srgbClr val="6B7280"/>
                </a:solidFill>
                <a:latin typeface="Noto Sans JP" pitchFamily="34" charset="0"/>
                <a:ea typeface="Noto Sans JP" pitchFamily="34" charset="-122"/>
                <a:cs typeface="Noto Sans JP" pitchFamily="34" charset="-120"/>
              </a:rPr>
              <a:t>（まとめ）</a:t>
            </a:r>
            <a:endParaRPr lang="en-US" sz="4500" dirty="0"/>
          </a:p>
        </p:txBody>
      </p:sp>
      <p:sp>
        <p:nvSpPr>
          <p:cNvPr id="32" name="Shape 23"/>
          <p:cNvSpPr/>
          <p:nvPr/>
        </p:nvSpPr>
        <p:spPr>
          <a:xfrm>
            <a:off x="10786262" y="504749"/>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3" name="Text 24"/>
          <p:cNvSpPr txBox="1"/>
          <p:nvPr/>
        </p:nvSpPr>
        <p:spPr>
          <a:xfrm>
            <a:off x="11014862" y="428854"/>
            <a:ext cx="800100" cy="267005"/>
          </a:xfrm>
          <a:prstGeom prst="rect">
            <a:avLst/>
          </a:prstGeom>
          <a:noFill/>
          <a:ln/>
        </p:spPr>
        <p:txBody>
          <a:bodyPr wrap="square" lIns="0" tIns="0" rIns="0" bIns="0" rtlCol="0" anchor="ctr"/>
          <a:lstStyle/>
          <a:p>
            <a:pPr marL="0" indent="0" algn="l">
              <a:buNone/>
            </a:pPr>
            <a:r>
              <a:rPr lang="en-US" sz="1300" dirty="0">
                <a:solidFill>
                  <a:srgbClr val="9CA3AF"/>
                </a:solidFill>
                <a:latin typeface="ui-monospace" pitchFamily="34" charset="0"/>
                <a:ea typeface="ui-monospace" pitchFamily="34" charset="-122"/>
                <a:cs typeface="ui-monospace" pitchFamily="34" charset="-120"/>
              </a:rPr>
              <a:t>Summary</a:t>
            </a:r>
            <a:endParaRPr lang="en-US" sz="1300" dirty="0"/>
          </a:p>
        </p:txBody>
      </p:sp>
      <p:sp>
        <p:nvSpPr>
          <p:cNvPr id="36" name="Shape 26"/>
          <p:cNvSpPr/>
          <p:nvPr/>
        </p:nvSpPr>
        <p:spPr>
          <a:xfrm>
            <a:off x="0" y="6843370"/>
            <a:ext cx="12191695" cy="200254"/>
          </a:xfrm>
          <a:prstGeom prst="rect">
            <a:avLst/>
          </a:prstGeom>
          <a:solidFill>
            <a:srgbClr val="FFFFFF"/>
          </a:solidFill>
          <a:ln/>
        </p:spPr>
        <p:txBody>
          <a:bodyPr/>
          <a:lstStyle/>
          <a:p>
            <a:endParaRPr lang="ja-JP" altLang="en-US"/>
          </a:p>
        </p:txBody>
      </p:sp>
      <p:sp>
        <p:nvSpPr>
          <p:cNvPr id="37" name="Shape 27"/>
          <p:cNvSpPr/>
          <p:nvPr/>
        </p:nvSpPr>
        <p:spPr>
          <a:xfrm>
            <a:off x="0" y="684337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8" name="Text 28"/>
          <p:cNvSpPr txBox="1"/>
          <p:nvPr/>
        </p:nvSpPr>
        <p:spPr>
          <a:xfrm>
            <a:off x="457200" y="6853428"/>
            <a:ext cx="2244852"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39" name="Text 29"/>
          <p:cNvSpPr txBox="1"/>
          <p:nvPr/>
        </p:nvSpPr>
        <p:spPr>
          <a:xfrm>
            <a:off x="10646359" y="6853428"/>
            <a:ext cx="1303934"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40" name="Image 8" descr="preencoded.png"/>
          <p:cNvPicPr>
            <a:picLocks noChangeAspect="1"/>
          </p:cNvPicPr>
          <p:nvPr/>
        </p:nvPicPr>
        <p:blipFill>
          <a:blip r:embed="rId10"/>
          <a:srcRect l="-200" r="-200"/>
          <a:stretch/>
        </p:blipFill>
        <p:spPr>
          <a:xfrm>
            <a:off x="0" y="6782105"/>
            <a:ext cx="12191695" cy="75895"/>
          </a:xfrm>
          <a:prstGeom prst="rect">
            <a:avLst/>
          </a:prstGeom>
        </p:spPr>
      </p:pic>
      <p:grpSp>
        <p:nvGrpSpPr>
          <p:cNvPr id="45" name="グループ化 44">
            <a:extLst>
              <a:ext uri="{FF2B5EF4-FFF2-40B4-BE49-F238E27FC236}">
                <a16:creationId xmlns:a16="http://schemas.microsoft.com/office/drawing/2014/main" id="{0301A8C0-E628-F296-BE59-4D594080C5B6}"/>
              </a:ext>
            </a:extLst>
          </p:cNvPr>
          <p:cNvGrpSpPr/>
          <p:nvPr/>
        </p:nvGrpSpPr>
        <p:grpSpPr>
          <a:xfrm>
            <a:off x="4809394" y="6534365"/>
            <a:ext cx="7350682" cy="405017"/>
            <a:chOff x="5861349" y="604238"/>
            <a:chExt cx="6035909" cy="405017"/>
          </a:xfrm>
        </p:grpSpPr>
        <p:sp>
          <p:nvSpPr>
            <p:cNvPr id="46" name="Shape 31">
              <a:extLst>
                <a:ext uri="{FF2B5EF4-FFF2-40B4-BE49-F238E27FC236}">
                  <a16:creationId xmlns:a16="http://schemas.microsoft.com/office/drawing/2014/main" id="{952D8B5B-FD75-9DCB-C2FA-E0C1FAA1DAA0}"/>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7" name="Text 21">
              <a:extLst>
                <a:ext uri="{FF2B5EF4-FFF2-40B4-BE49-F238E27FC236}">
                  <a16:creationId xmlns:a16="http://schemas.microsoft.com/office/drawing/2014/main" id="{21CE0F7C-AB2D-9212-A373-316109BFCD3D}"/>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8" name="Image 2" descr="preencoded.png">
              <a:extLst>
                <a:ext uri="{FF2B5EF4-FFF2-40B4-BE49-F238E27FC236}">
                  <a16:creationId xmlns:a16="http://schemas.microsoft.com/office/drawing/2014/main" id="{79E423FA-FEC5-2162-1F22-52288019F2C0}"/>
                </a:ext>
              </a:extLst>
            </p:cNvPr>
            <p:cNvPicPr>
              <a:picLocks noChangeAspect="1"/>
            </p:cNvPicPr>
            <p:nvPr/>
          </p:nvPicPr>
          <p:blipFill>
            <a:blip r:embed="rId11"/>
            <a:srcRect/>
            <a:stretch/>
          </p:blipFill>
          <p:spPr>
            <a:xfrm>
              <a:off x="5861349" y="619679"/>
              <a:ext cx="263236" cy="38957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447495"/>
            <a:ext cx="12191695" cy="5266944"/>
          </a:xfrm>
          <a:prstGeom prst="rect">
            <a:avLst/>
          </a:prstGeom>
          <a:solidFill>
            <a:srgbClr val="F9FAFB"/>
          </a:solidFill>
          <a:ln w="12700">
            <a:solidFill>
              <a:srgbClr val="FFFFFF">
                <a:alpha val="0"/>
              </a:srgbClr>
            </a:solidFill>
            <a:prstDash val="solid"/>
          </a:ln>
        </p:spPr>
        <p:txBody>
          <a:bodyPr/>
          <a:lstStyle/>
          <a:p>
            <a:endParaRPr lang="ja-JP" altLang="en-US"/>
          </a:p>
        </p:txBody>
      </p:sp>
      <p:sp>
        <p:nvSpPr>
          <p:cNvPr id="5" name="Shape 3"/>
          <p:cNvSpPr/>
          <p:nvPr/>
        </p:nvSpPr>
        <p:spPr>
          <a:xfrm>
            <a:off x="304495"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6" name="Shape 4"/>
          <p:cNvSpPr/>
          <p:nvPr/>
        </p:nvSpPr>
        <p:spPr>
          <a:xfrm>
            <a:off x="619049" y="2066544"/>
            <a:ext cx="685800" cy="685800"/>
          </a:xfrm>
          <a:prstGeom prst="roundRect">
            <a:avLst>
              <a:gd name="adj" fmla="val 59259"/>
            </a:avLst>
          </a:prstGeom>
          <a:solidFill>
            <a:srgbClr val="EDE9FE"/>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809244" y="2257654"/>
            <a:ext cx="304495" cy="304495"/>
          </a:xfrm>
          <a:prstGeom prst="rect">
            <a:avLst/>
          </a:prstGeom>
        </p:spPr>
      </p:pic>
      <p:sp>
        <p:nvSpPr>
          <p:cNvPr id="8" name="Shape 5"/>
          <p:cNvSpPr/>
          <p:nvPr/>
        </p:nvSpPr>
        <p:spPr>
          <a:xfrm>
            <a:off x="2107734" y="2066544"/>
            <a:ext cx="1592843" cy="495605"/>
          </a:xfrm>
          <a:prstGeom prst="roundRect">
            <a:avLst>
              <a:gd name="adj" fmla="val 112613"/>
            </a:avLst>
          </a:prstGeom>
          <a:solidFill>
            <a:srgbClr val="EDE9FE"/>
          </a:solidFill>
          <a:ln w="12700">
            <a:solidFill>
              <a:srgbClr val="FFFFFF">
                <a:alpha val="0"/>
              </a:srgbClr>
            </a:solidFill>
            <a:prstDash val="solid"/>
          </a:ln>
        </p:spPr>
        <p:txBody>
          <a:bodyPr/>
          <a:lstStyle/>
          <a:p>
            <a:endParaRPr lang="ja-JP" altLang="en-US"/>
          </a:p>
        </p:txBody>
      </p:sp>
      <p:sp>
        <p:nvSpPr>
          <p:cNvPr id="9" name="Text 6"/>
          <p:cNvSpPr txBox="1"/>
          <p:nvPr/>
        </p:nvSpPr>
        <p:spPr>
          <a:xfrm>
            <a:off x="2222501" y="2132075"/>
            <a:ext cx="1431442"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2800" b="1" dirty="0">
                <a:solidFill>
                  <a:srgbClr val="6D28D9"/>
                </a:solidFill>
                <a:latin typeface="Noto Sans JP" pitchFamily="34" charset="0"/>
                <a:ea typeface="Noto Sans JP" pitchFamily="34" charset="-122"/>
                <a:cs typeface="Noto Sans JP" pitchFamily="34" charset="-120"/>
              </a:rPr>
              <a:t>String</a:t>
            </a:r>
            <a:endParaRPr lang="en-US" sz="2800" dirty="0"/>
          </a:p>
        </p:txBody>
      </p:sp>
      <p:sp>
        <p:nvSpPr>
          <p:cNvPr id="10" name="Text 7"/>
          <p:cNvSpPr txBox="1"/>
          <p:nvPr/>
        </p:nvSpPr>
        <p:spPr>
          <a:xfrm>
            <a:off x="619049" y="2980944"/>
            <a:ext cx="3277210" cy="314554"/>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メール自動返信</a:t>
            </a:r>
            <a:endParaRPr lang="en-US" sz="2800" dirty="0"/>
          </a:p>
        </p:txBody>
      </p:sp>
      <p:sp>
        <p:nvSpPr>
          <p:cNvPr id="11" name="Text 8"/>
          <p:cNvSpPr txBox="1"/>
          <p:nvPr/>
        </p:nvSpPr>
        <p:spPr>
          <a:xfrm>
            <a:off x="374650"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 受信したメールから「差出人名」を取得して変数に保存。 </a:t>
            </a:r>
            <a:endParaRPr lang="en-US" sz="1600" dirty="0"/>
          </a:p>
          <a:p>
            <a:pPr marL="0" indent="0" algn="l">
              <a:buNone/>
            </a:pPr>
            <a:endParaRPr lang="en-US" sz="1600" dirty="0"/>
          </a:p>
          <a:p>
            <a:pPr marL="0" indent="0" algn="l">
              <a:buNone/>
            </a:pPr>
            <a:r>
              <a:rPr lang="en-US" sz="1600" dirty="0">
                <a:solidFill>
                  <a:srgbClr val="4B5563"/>
                </a:solidFill>
                <a:latin typeface="Noto Sans JP" pitchFamily="34" charset="0"/>
                <a:ea typeface="Noto Sans JP" pitchFamily="34" charset="-122"/>
                <a:cs typeface="Noto Sans JP" pitchFamily="34" charset="-120"/>
              </a:rPr>
              <a:t> 「</a:t>
            </a:r>
            <a:r>
              <a:rPr lang="en-US" sz="1600" b="1" dirty="0">
                <a:solidFill>
                  <a:srgbClr val="7C3AED"/>
                </a:solidFill>
                <a:latin typeface="Noto Sans JP" pitchFamily="34" charset="0"/>
                <a:ea typeface="Noto Sans JP" pitchFamily="34" charset="-122"/>
                <a:cs typeface="Noto Sans JP" pitchFamily="34" charset="-120"/>
              </a:rPr>
              <a:t>〇〇様</a:t>
            </a:r>
            <a:r>
              <a:rPr lang="en-US" sz="1600" dirty="0">
                <a:solidFill>
                  <a:srgbClr val="4B5563"/>
                </a:solidFill>
                <a:latin typeface="Noto Sans JP" pitchFamily="34" charset="0"/>
                <a:ea typeface="Noto Sans JP" pitchFamily="34" charset="-122"/>
                <a:cs typeface="Noto Sans JP" pitchFamily="34" charset="-120"/>
              </a:rPr>
              <a:t>、お問い合わせありがとうございます」のように、個別の名前を入れた返信文を自動作成します。 </a:t>
            </a:r>
            <a:endParaRPr lang="en-US" sz="1600" dirty="0"/>
          </a:p>
        </p:txBody>
      </p:sp>
      <p:sp>
        <p:nvSpPr>
          <p:cNvPr id="12" name="Shape 9"/>
          <p:cNvSpPr/>
          <p:nvPr/>
        </p:nvSpPr>
        <p:spPr>
          <a:xfrm>
            <a:off x="304494" y="5309921"/>
            <a:ext cx="3622853" cy="1052474"/>
          </a:xfrm>
          <a:prstGeom prst="roundRect">
            <a:avLst>
              <a:gd name="adj" fmla="val 22848"/>
            </a:avLst>
          </a:prstGeom>
          <a:solidFill>
            <a:srgbClr val="F5F3FF"/>
          </a:solidFill>
          <a:ln w="12700">
            <a:solidFill>
              <a:srgbClr val="EDE9FE"/>
            </a:solidFill>
            <a:prstDash val="solid"/>
          </a:ln>
        </p:spPr>
        <p:txBody>
          <a:bodyPr/>
          <a:lstStyle/>
          <a:p>
            <a:endParaRPr lang="ja-JP" altLang="en-US" sz="3200"/>
          </a:p>
        </p:txBody>
      </p:sp>
      <p:sp>
        <p:nvSpPr>
          <p:cNvPr id="13" name="Text 10"/>
          <p:cNvSpPr txBox="1"/>
          <p:nvPr/>
        </p:nvSpPr>
        <p:spPr>
          <a:xfrm>
            <a:off x="551383" y="5426075"/>
            <a:ext cx="2873045" cy="191110"/>
          </a:xfrm>
          <a:prstGeom prst="rect">
            <a:avLst/>
          </a:prstGeom>
          <a:noFill/>
          <a:ln/>
        </p:spPr>
        <p:txBody>
          <a:bodyPr wrap="square" lIns="0" tIns="0" rIns="0" bIns="0" rtlCol="0" anchor="ctr"/>
          <a:lstStyle/>
          <a:p>
            <a:pPr marL="0" indent="0" algn="l">
              <a:buNone/>
            </a:pPr>
            <a:r>
              <a:rPr lang="en-US" sz="2000" b="1" dirty="0">
                <a:solidFill>
                  <a:srgbClr val="A78BFA"/>
                </a:solidFill>
                <a:latin typeface="Noto Sans JP" pitchFamily="34" charset="0"/>
                <a:ea typeface="Noto Sans JP" pitchFamily="34" charset="-122"/>
                <a:cs typeface="Noto Sans JP" pitchFamily="34" charset="-120"/>
              </a:rPr>
              <a:t>Flow Image</a:t>
            </a:r>
            <a:endParaRPr lang="en-US" sz="2000" dirty="0"/>
          </a:p>
        </p:txBody>
      </p:sp>
      <p:pic>
        <p:nvPicPr>
          <p:cNvPr id="14" name="Image 1" descr="preencoded.png"/>
          <p:cNvPicPr>
            <a:picLocks noChangeAspect="1"/>
          </p:cNvPicPr>
          <p:nvPr/>
        </p:nvPicPr>
        <p:blipFill>
          <a:blip r:embed="rId4"/>
          <a:srcRect t="-43" b="-43"/>
          <a:stretch/>
        </p:blipFill>
        <p:spPr>
          <a:xfrm>
            <a:off x="780898" y="5738774"/>
            <a:ext cx="133502" cy="152705"/>
          </a:xfrm>
          <a:prstGeom prst="rect">
            <a:avLst/>
          </a:prstGeom>
        </p:spPr>
      </p:pic>
      <p:sp>
        <p:nvSpPr>
          <p:cNvPr id="15" name="Text 11"/>
          <p:cNvSpPr txBox="1"/>
          <p:nvPr/>
        </p:nvSpPr>
        <p:spPr>
          <a:xfrm>
            <a:off x="406095" y="5782920"/>
            <a:ext cx="3627357"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受信 → 変数(名前) → 返信作成</a:t>
            </a:r>
            <a:endParaRPr lang="en-US" sz="2000" dirty="0"/>
          </a:p>
        </p:txBody>
      </p:sp>
      <p:sp>
        <p:nvSpPr>
          <p:cNvPr id="16" name="Shape 12"/>
          <p:cNvSpPr/>
          <p:nvPr/>
        </p:nvSpPr>
        <p:spPr>
          <a:xfrm>
            <a:off x="4267505" y="1754533"/>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17" name="Shape 13"/>
          <p:cNvSpPr/>
          <p:nvPr/>
        </p:nvSpPr>
        <p:spPr>
          <a:xfrm>
            <a:off x="4556455" y="2066544"/>
            <a:ext cx="685800" cy="685800"/>
          </a:xfrm>
          <a:prstGeom prst="roundRect">
            <a:avLst>
              <a:gd name="adj" fmla="val 59259"/>
            </a:avLst>
          </a:prstGeom>
          <a:solidFill>
            <a:srgbClr val="D1FAE5"/>
          </a:solidFill>
          <a:ln w="12700">
            <a:solidFill>
              <a:srgbClr val="FFFFFF">
                <a:alpha val="0"/>
              </a:srgbClr>
            </a:solidFill>
            <a:prstDash val="solid"/>
          </a:ln>
        </p:spPr>
        <p:txBody>
          <a:bodyPr/>
          <a:lstStyle/>
          <a:p>
            <a:endParaRPr lang="ja-JP" altLang="en-US"/>
          </a:p>
        </p:txBody>
      </p:sp>
      <p:pic>
        <p:nvPicPr>
          <p:cNvPr id="18" name="Image 2" descr="preencoded.png"/>
          <p:cNvPicPr>
            <a:picLocks noChangeAspect="1"/>
          </p:cNvPicPr>
          <p:nvPr/>
        </p:nvPicPr>
        <p:blipFill>
          <a:blip r:embed="rId5"/>
          <a:srcRect/>
          <a:stretch/>
        </p:blipFill>
        <p:spPr>
          <a:xfrm>
            <a:off x="4746650" y="2257654"/>
            <a:ext cx="304495" cy="304495"/>
          </a:xfrm>
          <a:prstGeom prst="rect">
            <a:avLst/>
          </a:prstGeom>
        </p:spPr>
      </p:pic>
      <p:sp>
        <p:nvSpPr>
          <p:cNvPr id="19" name="Shape 14"/>
          <p:cNvSpPr/>
          <p:nvPr/>
        </p:nvSpPr>
        <p:spPr>
          <a:xfrm>
            <a:off x="5850076" y="2066544"/>
            <a:ext cx="1792480" cy="495605"/>
          </a:xfrm>
          <a:prstGeom prst="roundRect">
            <a:avLst>
              <a:gd name="adj" fmla="val 112613"/>
            </a:avLst>
          </a:prstGeom>
          <a:solidFill>
            <a:srgbClr val="D1FAE5"/>
          </a:solidFill>
          <a:ln w="12700">
            <a:solidFill>
              <a:srgbClr val="FFFFFF">
                <a:alpha val="0"/>
              </a:srgbClr>
            </a:solidFill>
            <a:prstDash val="solid"/>
          </a:ln>
        </p:spPr>
        <p:txBody>
          <a:bodyPr/>
          <a:lstStyle/>
          <a:p>
            <a:endParaRPr lang="ja-JP" altLang="en-US"/>
          </a:p>
        </p:txBody>
      </p:sp>
      <p:sp>
        <p:nvSpPr>
          <p:cNvPr id="20" name="Text 15"/>
          <p:cNvSpPr txBox="1"/>
          <p:nvPr/>
        </p:nvSpPr>
        <p:spPr>
          <a:xfrm>
            <a:off x="5998571" y="2132075"/>
            <a:ext cx="1592778"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2800" b="1" dirty="0">
                <a:solidFill>
                  <a:srgbClr val="047857"/>
                </a:solidFill>
                <a:latin typeface="Noto Sans JP" pitchFamily="34" charset="0"/>
                <a:ea typeface="Noto Sans JP" pitchFamily="34" charset="-122"/>
                <a:cs typeface="Noto Sans JP" pitchFamily="34" charset="-120"/>
              </a:rPr>
              <a:t>Integer</a:t>
            </a:r>
            <a:endParaRPr lang="en-US" sz="2800" dirty="0"/>
          </a:p>
        </p:txBody>
      </p:sp>
      <p:sp>
        <p:nvSpPr>
          <p:cNvPr id="21" name="Text 16"/>
          <p:cNvSpPr txBox="1"/>
          <p:nvPr/>
        </p:nvSpPr>
        <p:spPr>
          <a:xfrm>
            <a:off x="4556455" y="2980944"/>
            <a:ext cx="3277210" cy="314554"/>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日次レポート作成</a:t>
            </a:r>
            <a:endParaRPr lang="en-US" sz="2800" dirty="0"/>
          </a:p>
        </p:txBody>
      </p:sp>
      <p:sp>
        <p:nvSpPr>
          <p:cNvPr id="22" name="Text 17"/>
          <p:cNvSpPr txBox="1"/>
          <p:nvPr/>
        </p:nvSpPr>
        <p:spPr>
          <a:xfrm>
            <a:off x="4312056"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 処理したデータの件数をカウントするために変数を使用。 </a:t>
            </a:r>
            <a:endParaRPr lang="en-US" sz="1600" dirty="0"/>
          </a:p>
          <a:p>
            <a:pPr marL="0" indent="0" algn="l">
              <a:buNone/>
            </a:pPr>
            <a:endParaRPr lang="en-US" sz="1600" dirty="0"/>
          </a:p>
          <a:p>
            <a:pPr marL="0" indent="0" algn="l">
              <a:buNone/>
            </a:pPr>
            <a:r>
              <a:rPr lang="en-US" sz="1600" dirty="0">
                <a:solidFill>
                  <a:srgbClr val="4B5563"/>
                </a:solidFill>
                <a:latin typeface="Noto Sans JP" pitchFamily="34" charset="0"/>
                <a:ea typeface="Noto Sans JP" pitchFamily="34" charset="-122"/>
                <a:cs typeface="Noto Sans JP" pitchFamily="34" charset="-120"/>
              </a:rPr>
              <a:t> 処理が完了するたびに「</a:t>
            </a:r>
            <a:r>
              <a:rPr lang="en-US" sz="1600" b="1" dirty="0">
                <a:solidFill>
                  <a:srgbClr val="059669"/>
                </a:solidFill>
                <a:latin typeface="Noto Sans JP" pitchFamily="34" charset="0"/>
                <a:ea typeface="Noto Sans JP" pitchFamily="34" charset="-122"/>
                <a:cs typeface="Noto Sans JP" pitchFamily="34" charset="-120"/>
              </a:rPr>
              <a:t>+1</a:t>
            </a:r>
            <a:r>
              <a:rPr lang="en-US" sz="1600" dirty="0">
                <a:solidFill>
                  <a:srgbClr val="4B5563"/>
                </a:solidFill>
                <a:latin typeface="Noto Sans JP" pitchFamily="34" charset="0"/>
                <a:ea typeface="Noto Sans JP" pitchFamily="34" charset="-122"/>
                <a:cs typeface="Noto Sans JP" pitchFamily="34" charset="-120"/>
              </a:rPr>
              <a:t>」し、最終的に「本日は</a:t>
            </a:r>
            <a:r>
              <a:rPr lang="en-US" sz="1600" b="1" dirty="0">
                <a:solidFill>
                  <a:srgbClr val="059669"/>
                </a:solidFill>
                <a:latin typeface="Noto Sans JP" pitchFamily="34" charset="0"/>
                <a:ea typeface="Noto Sans JP" pitchFamily="34" charset="-122"/>
                <a:cs typeface="Noto Sans JP" pitchFamily="34" charset="-120"/>
              </a:rPr>
              <a:t>50件</a:t>
            </a:r>
            <a:r>
              <a:rPr lang="en-US" sz="1600" dirty="0">
                <a:solidFill>
                  <a:srgbClr val="4B5563"/>
                </a:solidFill>
                <a:latin typeface="Noto Sans JP" pitchFamily="34" charset="0"/>
                <a:ea typeface="Noto Sans JP" pitchFamily="34" charset="-122"/>
                <a:cs typeface="Noto Sans JP" pitchFamily="34" charset="-120"/>
              </a:rPr>
              <a:t>処理しました」という集計レポートを</a:t>
            </a:r>
            <a:r>
              <a:rPr lang="en-US" sz="1600">
                <a:solidFill>
                  <a:srgbClr val="4B5563"/>
                </a:solidFill>
                <a:latin typeface="Noto Sans JP" pitchFamily="34" charset="0"/>
                <a:ea typeface="Noto Sans JP" pitchFamily="34" charset="-122"/>
                <a:cs typeface="Noto Sans JP" pitchFamily="34" charset="-120"/>
              </a:rPr>
              <a:t>Teamsに通知します</a:t>
            </a:r>
            <a:endParaRPr lang="en-US" sz="1600" dirty="0"/>
          </a:p>
        </p:txBody>
      </p:sp>
      <p:sp>
        <p:nvSpPr>
          <p:cNvPr id="23" name="Shape 18"/>
          <p:cNvSpPr/>
          <p:nvPr/>
        </p:nvSpPr>
        <p:spPr>
          <a:xfrm>
            <a:off x="4402836" y="5309921"/>
            <a:ext cx="3477463" cy="1052474"/>
          </a:xfrm>
          <a:prstGeom prst="roundRect">
            <a:avLst>
              <a:gd name="adj" fmla="val 22848"/>
            </a:avLst>
          </a:prstGeom>
          <a:solidFill>
            <a:srgbClr val="ECFDF5"/>
          </a:solidFill>
          <a:ln w="12700">
            <a:solidFill>
              <a:srgbClr val="D1FAE5"/>
            </a:solidFill>
            <a:prstDash val="solid"/>
          </a:ln>
        </p:spPr>
        <p:txBody>
          <a:bodyPr/>
          <a:lstStyle/>
          <a:p>
            <a:endParaRPr lang="ja-JP" altLang="en-US" sz="3200"/>
          </a:p>
        </p:txBody>
      </p:sp>
      <p:sp>
        <p:nvSpPr>
          <p:cNvPr id="24" name="Text 19"/>
          <p:cNvSpPr txBox="1"/>
          <p:nvPr/>
        </p:nvSpPr>
        <p:spPr>
          <a:xfrm>
            <a:off x="4488789" y="5426075"/>
            <a:ext cx="2873045" cy="191110"/>
          </a:xfrm>
          <a:prstGeom prst="rect">
            <a:avLst/>
          </a:prstGeom>
          <a:noFill/>
          <a:ln/>
        </p:spPr>
        <p:txBody>
          <a:bodyPr wrap="square" lIns="0" tIns="0" rIns="0" bIns="0" rtlCol="0" anchor="ctr"/>
          <a:lstStyle/>
          <a:p>
            <a:pPr marL="0" indent="0" algn="l">
              <a:buNone/>
            </a:pPr>
            <a:r>
              <a:rPr lang="en-US" sz="2000" b="1" dirty="0">
                <a:solidFill>
                  <a:srgbClr val="34D399"/>
                </a:solidFill>
                <a:latin typeface="Noto Sans JP" pitchFamily="34" charset="0"/>
                <a:ea typeface="Noto Sans JP" pitchFamily="34" charset="-122"/>
                <a:cs typeface="Noto Sans JP" pitchFamily="34" charset="-120"/>
              </a:rPr>
              <a:t>Flow Image</a:t>
            </a:r>
            <a:endParaRPr lang="en-US" sz="2000" dirty="0"/>
          </a:p>
        </p:txBody>
      </p:sp>
      <p:pic>
        <p:nvPicPr>
          <p:cNvPr id="25" name="Image 3" descr="preencoded.png"/>
          <p:cNvPicPr>
            <a:picLocks noChangeAspect="1"/>
          </p:cNvPicPr>
          <p:nvPr/>
        </p:nvPicPr>
        <p:blipFill>
          <a:blip r:embed="rId6"/>
          <a:srcRect t="-43" b="-43"/>
          <a:stretch/>
        </p:blipFill>
        <p:spPr>
          <a:xfrm>
            <a:off x="4718304" y="5738774"/>
            <a:ext cx="133502" cy="152705"/>
          </a:xfrm>
          <a:prstGeom prst="rect">
            <a:avLst/>
          </a:prstGeom>
        </p:spPr>
      </p:pic>
      <p:sp>
        <p:nvSpPr>
          <p:cNvPr id="26" name="Text 20"/>
          <p:cNvSpPr txBox="1"/>
          <p:nvPr/>
        </p:nvSpPr>
        <p:spPr>
          <a:xfrm>
            <a:off x="4678582" y="5795790"/>
            <a:ext cx="285468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処理 → 変数(+1) → 通知</a:t>
            </a:r>
            <a:endParaRPr lang="en-US" sz="2000" dirty="0"/>
          </a:p>
        </p:txBody>
      </p:sp>
      <p:sp>
        <p:nvSpPr>
          <p:cNvPr id="27" name="Shape 21"/>
          <p:cNvSpPr/>
          <p:nvPr/>
        </p:nvSpPr>
        <p:spPr>
          <a:xfrm>
            <a:off x="8178394"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28" name="Shape 22"/>
          <p:cNvSpPr/>
          <p:nvPr/>
        </p:nvSpPr>
        <p:spPr>
          <a:xfrm>
            <a:off x="8492947" y="2066544"/>
            <a:ext cx="685800" cy="685800"/>
          </a:xfrm>
          <a:prstGeom prst="roundRect">
            <a:avLst>
              <a:gd name="adj" fmla="val 59259"/>
            </a:avLst>
          </a:prstGeom>
          <a:solidFill>
            <a:srgbClr val="DBEAFE"/>
          </a:solidFill>
          <a:ln w="12700">
            <a:solidFill>
              <a:srgbClr val="FFFFFF">
                <a:alpha val="0"/>
              </a:srgbClr>
            </a:solidFill>
            <a:prstDash val="solid"/>
          </a:ln>
        </p:spPr>
        <p:txBody>
          <a:bodyPr/>
          <a:lstStyle/>
          <a:p>
            <a:endParaRPr lang="ja-JP" altLang="en-US"/>
          </a:p>
        </p:txBody>
      </p:sp>
      <p:pic>
        <p:nvPicPr>
          <p:cNvPr id="29" name="Image 4" descr="preencoded.png"/>
          <p:cNvPicPr>
            <a:picLocks noChangeAspect="1"/>
          </p:cNvPicPr>
          <p:nvPr/>
        </p:nvPicPr>
        <p:blipFill>
          <a:blip r:embed="rId7"/>
          <a:srcRect l="-90" r="-90"/>
          <a:stretch/>
        </p:blipFill>
        <p:spPr>
          <a:xfrm>
            <a:off x="8645652" y="2257654"/>
            <a:ext cx="381305" cy="304495"/>
          </a:xfrm>
          <a:prstGeom prst="rect">
            <a:avLst/>
          </a:prstGeom>
        </p:spPr>
      </p:pic>
      <p:sp>
        <p:nvSpPr>
          <p:cNvPr id="30" name="Shape 23"/>
          <p:cNvSpPr/>
          <p:nvPr/>
        </p:nvSpPr>
        <p:spPr>
          <a:xfrm>
            <a:off x="9607551" y="2066544"/>
            <a:ext cx="1968754" cy="495605"/>
          </a:xfrm>
          <a:prstGeom prst="roundRect">
            <a:avLst>
              <a:gd name="adj" fmla="val 112613"/>
            </a:avLst>
          </a:prstGeom>
          <a:solidFill>
            <a:srgbClr val="DBEAFE"/>
          </a:solidFill>
          <a:ln w="12700">
            <a:solidFill>
              <a:srgbClr val="FFFFFF">
                <a:alpha val="0"/>
              </a:srgbClr>
            </a:solidFill>
            <a:prstDash val="solid"/>
          </a:ln>
        </p:spPr>
        <p:txBody>
          <a:bodyPr/>
          <a:lstStyle/>
          <a:p>
            <a:endParaRPr lang="ja-JP" altLang="en-US"/>
          </a:p>
        </p:txBody>
      </p:sp>
      <p:sp>
        <p:nvSpPr>
          <p:cNvPr id="31" name="Text 24"/>
          <p:cNvSpPr txBox="1"/>
          <p:nvPr/>
        </p:nvSpPr>
        <p:spPr>
          <a:xfrm>
            <a:off x="9758921" y="2151583"/>
            <a:ext cx="1735235"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2800" b="1" dirty="0">
                <a:solidFill>
                  <a:srgbClr val="1D4ED8"/>
                </a:solidFill>
                <a:latin typeface="Noto Sans JP" pitchFamily="34" charset="0"/>
                <a:ea typeface="Noto Sans JP" pitchFamily="34" charset="-122"/>
                <a:cs typeface="Noto Sans JP" pitchFamily="34" charset="-120"/>
              </a:rPr>
              <a:t>Boolean</a:t>
            </a:r>
            <a:endParaRPr lang="en-US" sz="2800" dirty="0"/>
          </a:p>
        </p:txBody>
      </p:sp>
      <p:sp>
        <p:nvSpPr>
          <p:cNvPr id="32" name="Text 25"/>
          <p:cNvSpPr txBox="1"/>
          <p:nvPr/>
        </p:nvSpPr>
        <p:spPr>
          <a:xfrm>
            <a:off x="8492947" y="2989682"/>
            <a:ext cx="3294686" cy="314554"/>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承認ワークフロー</a:t>
            </a:r>
            <a:endParaRPr lang="en-US" sz="2800" dirty="0"/>
          </a:p>
        </p:txBody>
      </p:sp>
      <p:sp>
        <p:nvSpPr>
          <p:cNvPr id="33" name="Text 26"/>
          <p:cNvSpPr txBox="1"/>
          <p:nvPr/>
        </p:nvSpPr>
        <p:spPr>
          <a:xfrm>
            <a:off x="8248549" y="3574898"/>
            <a:ext cx="3467202"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 承認されたかどうか（Yes/No）の状態を変数で管理。 </a:t>
            </a:r>
            <a:endParaRPr lang="en-US" sz="1600" dirty="0"/>
          </a:p>
          <a:p>
            <a:pPr marL="0" indent="0" algn="l">
              <a:buNone/>
            </a:pPr>
            <a:endParaRPr lang="en-US" sz="1600" dirty="0"/>
          </a:p>
          <a:p>
            <a:pPr marL="0" indent="0" algn="l">
              <a:buNone/>
            </a:pPr>
            <a:r>
              <a:rPr lang="en-US" sz="1600" dirty="0">
                <a:solidFill>
                  <a:srgbClr val="4B5563"/>
                </a:solidFill>
                <a:latin typeface="Noto Sans JP" pitchFamily="34" charset="0"/>
                <a:ea typeface="Noto Sans JP" pitchFamily="34" charset="-122"/>
                <a:cs typeface="Noto Sans JP" pitchFamily="34" charset="-120"/>
              </a:rPr>
              <a:t> 「</a:t>
            </a:r>
            <a:r>
              <a:rPr lang="en-US" sz="1600" b="1" dirty="0">
                <a:solidFill>
                  <a:srgbClr val="2563EB"/>
                </a:solidFill>
                <a:latin typeface="Noto Sans JP" pitchFamily="34" charset="0"/>
                <a:ea typeface="Noto Sans JP" pitchFamily="34" charset="-122"/>
                <a:cs typeface="Noto Sans JP" pitchFamily="34" charset="-120"/>
              </a:rPr>
              <a:t>true（承認）</a:t>
            </a:r>
            <a:r>
              <a:rPr lang="en-US" sz="1600" dirty="0">
                <a:solidFill>
                  <a:srgbClr val="4B5563"/>
                </a:solidFill>
                <a:latin typeface="Noto Sans JP" pitchFamily="34" charset="0"/>
                <a:ea typeface="Noto Sans JP" pitchFamily="34" charset="-122"/>
                <a:cs typeface="Noto Sans JP" pitchFamily="34" charset="-120"/>
              </a:rPr>
              <a:t>」なら次の処理へ、「</a:t>
            </a:r>
            <a:r>
              <a:rPr lang="en-US" sz="1600" b="1" dirty="0">
                <a:solidFill>
                  <a:srgbClr val="EF4444"/>
                </a:solidFill>
                <a:latin typeface="Noto Sans JP" pitchFamily="34" charset="0"/>
                <a:ea typeface="Noto Sans JP" pitchFamily="34" charset="-122"/>
                <a:cs typeface="Noto Sans JP" pitchFamily="34" charset="-120"/>
              </a:rPr>
              <a:t>false（却下）</a:t>
            </a:r>
            <a:r>
              <a:rPr lang="en-US" sz="1600" dirty="0">
                <a:solidFill>
                  <a:srgbClr val="4B5563"/>
                </a:solidFill>
                <a:latin typeface="Noto Sans JP" pitchFamily="34" charset="0"/>
                <a:ea typeface="Noto Sans JP" pitchFamily="34" charset="-122"/>
                <a:cs typeface="Noto Sans JP" pitchFamily="34" charset="-120"/>
              </a:rPr>
              <a:t>」なら申請者に差し戻し通知を送るなど、処理を分岐させます。 </a:t>
            </a:r>
            <a:endParaRPr lang="en-US" sz="1600" dirty="0"/>
          </a:p>
        </p:txBody>
      </p:sp>
      <p:sp>
        <p:nvSpPr>
          <p:cNvPr id="34" name="Shape 27"/>
          <p:cNvSpPr/>
          <p:nvPr/>
        </p:nvSpPr>
        <p:spPr>
          <a:xfrm>
            <a:off x="8230515" y="5304486"/>
            <a:ext cx="3546720" cy="1052474"/>
          </a:xfrm>
          <a:prstGeom prst="roundRect">
            <a:avLst>
              <a:gd name="adj" fmla="val 22848"/>
            </a:avLst>
          </a:prstGeom>
          <a:solidFill>
            <a:srgbClr val="EFF6FF"/>
          </a:solidFill>
          <a:ln w="12700">
            <a:solidFill>
              <a:srgbClr val="DBEAFE"/>
            </a:solidFill>
            <a:prstDash val="solid"/>
          </a:ln>
        </p:spPr>
        <p:txBody>
          <a:bodyPr/>
          <a:lstStyle/>
          <a:p>
            <a:endParaRPr lang="ja-JP" altLang="en-US" sz="3200"/>
          </a:p>
        </p:txBody>
      </p:sp>
      <p:sp>
        <p:nvSpPr>
          <p:cNvPr id="35" name="Text 28"/>
          <p:cNvSpPr txBox="1"/>
          <p:nvPr/>
        </p:nvSpPr>
        <p:spPr>
          <a:xfrm>
            <a:off x="8425281" y="5426075"/>
            <a:ext cx="2873045" cy="191110"/>
          </a:xfrm>
          <a:prstGeom prst="rect">
            <a:avLst/>
          </a:prstGeom>
          <a:noFill/>
          <a:ln/>
        </p:spPr>
        <p:txBody>
          <a:bodyPr wrap="square" lIns="0" tIns="0" rIns="0" bIns="0" rtlCol="0" anchor="ctr"/>
          <a:lstStyle/>
          <a:p>
            <a:pPr marL="0" indent="0" algn="l">
              <a:buNone/>
            </a:pPr>
            <a:r>
              <a:rPr lang="en-US" sz="2000" b="1" dirty="0">
                <a:solidFill>
                  <a:srgbClr val="60A5FA"/>
                </a:solidFill>
                <a:latin typeface="Noto Sans JP" pitchFamily="34" charset="0"/>
                <a:ea typeface="Noto Sans JP" pitchFamily="34" charset="-122"/>
                <a:cs typeface="Noto Sans JP" pitchFamily="34" charset="-120"/>
              </a:rPr>
              <a:t>Flow Image</a:t>
            </a:r>
            <a:endParaRPr lang="en-US" sz="2000" dirty="0"/>
          </a:p>
        </p:txBody>
      </p:sp>
      <p:pic>
        <p:nvPicPr>
          <p:cNvPr id="36" name="Image 5" descr="preencoded.png"/>
          <p:cNvPicPr>
            <a:picLocks noChangeAspect="1"/>
          </p:cNvPicPr>
          <p:nvPr/>
        </p:nvPicPr>
        <p:blipFill>
          <a:blip r:embed="rId8"/>
          <a:srcRect t="-43" b="-43"/>
          <a:stretch/>
        </p:blipFill>
        <p:spPr>
          <a:xfrm>
            <a:off x="8654796" y="5738774"/>
            <a:ext cx="133502" cy="152705"/>
          </a:xfrm>
          <a:prstGeom prst="rect">
            <a:avLst/>
          </a:prstGeom>
        </p:spPr>
      </p:pic>
      <p:sp>
        <p:nvSpPr>
          <p:cNvPr id="37" name="Text 29"/>
          <p:cNvSpPr txBox="1"/>
          <p:nvPr/>
        </p:nvSpPr>
        <p:spPr>
          <a:xfrm>
            <a:off x="8279994" y="5782920"/>
            <a:ext cx="346720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承認 → 変数(T/F) → 分岐処理</a:t>
            </a:r>
            <a:endParaRPr lang="en-US" sz="2000" dirty="0"/>
          </a:p>
        </p:txBody>
      </p:sp>
      <p:sp>
        <p:nvSpPr>
          <p:cNvPr id="38" name="Shape 30"/>
          <p:cNvSpPr/>
          <p:nvPr/>
        </p:nvSpPr>
        <p:spPr>
          <a:xfrm>
            <a:off x="0" y="28803"/>
            <a:ext cx="12191695" cy="1447495"/>
          </a:xfrm>
          <a:prstGeom prst="rect">
            <a:avLst/>
          </a:prstGeom>
          <a:solidFill>
            <a:srgbClr val="FFFFFF"/>
          </a:solidFill>
          <a:ln/>
        </p:spPr>
        <p:txBody>
          <a:bodyPr/>
          <a:lstStyle/>
          <a:p>
            <a:endParaRPr lang="ja-JP" altLang="en-US"/>
          </a:p>
        </p:txBody>
      </p:sp>
      <p:sp>
        <p:nvSpPr>
          <p:cNvPr id="39" name="Shape 31"/>
          <p:cNvSpPr/>
          <p:nvPr/>
        </p:nvSpPr>
        <p:spPr>
          <a:xfrm>
            <a:off x="0" y="14383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40" name="Text 32"/>
          <p:cNvSpPr txBox="1"/>
          <p:nvPr/>
        </p:nvSpPr>
        <p:spPr>
          <a:xfrm>
            <a:off x="457200" y="228600"/>
            <a:ext cx="6839712" cy="228600"/>
          </a:xfrm>
          <a:prstGeom prst="rect">
            <a:avLst/>
          </a:prstGeom>
          <a:noFill/>
          <a:ln/>
        </p:spPr>
        <p:txBody>
          <a:bodyPr wrap="square" lIns="0" tIns="0" rIns="0" bIns="0" rtlCol="0" anchor="ctr"/>
          <a:lstStyle/>
          <a:p>
            <a:pPr marL="0" indent="0" algn="l">
              <a:buNone/>
            </a:pPr>
            <a:r>
              <a:rPr lang="en-US" sz="1200" b="1" kern="0" spc="120" dirty="0">
                <a:solidFill>
                  <a:srgbClr val="6B7280"/>
                </a:solidFill>
                <a:latin typeface="Noto Sans JP" pitchFamily="34" charset="0"/>
                <a:ea typeface="Noto Sans JP" pitchFamily="34" charset="-122"/>
                <a:cs typeface="Noto Sans JP" pitchFamily="34" charset="-120"/>
              </a:rPr>
              <a:t>PA45｜第2回</a:t>
            </a:r>
            <a:endParaRPr lang="en-US" sz="1200" dirty="0"/>
          </a:p>
        </p:txBody>
      </p:sp>
      <p:sp>
        <p:nvSpPr>
          <p:cNvPr id="41" name="Text 33"/>
          <p:cNvSpPr txBox="1"/>
          <p:nvPr/>
        </p:nvSpPr>
        <p:spPr>
          <a:xfrm>
            <a:off x="457200" y="495605"/>
            <a:ext cx="11030407"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変数の活用事例</a:t>
            </a:r>
            <a:r>
              <a:rPr lang="ja-JP" altLang="en-US" sz="4500" b="1">
                <a:solidFill>
                  <a:srgbClr val="1F2937"/>
                </a:solidFill>
                <a:latin typeface="Noto Sans JP" pitchFamily="34" charset="0"/>
                <a:ea typeface="Noto Sans JP" pitchFamily="34" charset="-122"/>
                <a:cs typeface="Noto Sans JP" pitchFamily="34" charset="-120"/>
              </a:rPr>
              <a:t>　</a:t>
            </a:r>
            <a:r>
              <a:rPr lang="en-US" sz="2200" b="1">
                <a:solidFill>
                  <a:srgbClr val="6B7280"/>
                </a:solidFill>
                <a:latin typeface="Noto Sans JP" pitchFamily="34" charset="0"/>
                <a:ea typeface="Noto Sans JP" pitchFamily="34" charset="-122"/>
                <a:cs typeface="Noto Sans JP" pitchFamily="34" charset="-120"/>
              </a:rPr>
              <a:t>実務で使える自動化</a:t>
            </a:r>
            <a:endParaRPr lang="en-US" sz="4500" dirty="0"/>
          </a:p>
        </p:txBody>
      </p:sp>
      <p:sp>
        <p:nvSpPr>
          <p:cNvPr id="42" name="Shape 34"/>
          <p:cNvSpPr/>
          <p:nvPr/>
        </p:nvSpPr>
        <p:spPr>
          <a:xfrm>
            <a:off x="10721340" y="809244"/>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43" name="Text 35"/>
          <p:cNvSpPr txBox="1"/>
          <p:nvPr/>
        </p:nvSpPr>
        <p:spPr>
          <a:xfrm>
            <a:off x="10911535" y="752551"/>
            <a:ext cx="905256" cy="228600"/>
          </a:xfrm>
          <a:prstGeom prst="rect">
            <a:avLst/>
          </a:prstGeom>
          <a:noFill/>
          <a:ln/>
        </p:spPr>
        <p:txBody>
          <a:bodyPr wrap="square" lIns="0" tIns="0" rIns="0" bIns="0" rtlCol="0" anchor="ctr"/>
          <a:lstStyle/>
          <a:p>
            <a:pPr marL="0" indent="0" algn="l">
              <a:buNone/>
            </a:pPr>
            <a:r>
              <a:rPr lang="en-US" sz="1200" dirty="0">
                <a:solidFill>
                  <a:srgbClr val="9CA3AF"/>
                </a:solidFill>
                <a:latin typeface="ui-monospace" pitchFamily="34" charset="0"/>
                <a:ea typeface="ui-monospace" pitchFamily="34" charset="-122"/>
                <a:cs typeface="ui-monospace" pitchFamily="34" charset="-120"/>
              </a:rPr>
              <a:t>Use Cases</a:t>
            </a:r>
            <a:endParaRPr lang="en-US" sz="1200" dirty="0"/>
          </a:p>
        </p:txBody>
      </p:sp>
      <p:sp>
        <p:nvSpPr>
          <p:cNvPr id="46" name="Shape 37"/>
          <p:cNvSpPr/>
          <p:nvPr/>
        </p:nvSpPr>
        <p:spPr>
          <a:xfrm>
            <a:off x="0" y="6710782"/>
            <a:ext cx="12191695" cy="200254"/>
          </a:xfrm>
          <a:prstGeom prst="rect">
            <a:avLst/>
          </a:prstGeom>
          <a:solidFill>
            <a:srgbClr val="FFFFFF"/>
          </a:solidFill>
          <a:ln/>
        </p:spPr>
        <p:txBody>
          <a:bodyPr/>
          <a:lstStyle/>
          <a:p>
            <a:endParaRPr lang="ja-JP" altLang="en-US"/>
          </a:p>
        </p:txBody>
      </p:sp>
      <p:sp>
        <p:nvSpPr>
          <p:cNvPr id="47" name="Shape 38"/>
          <p:cNvSpPr/>
          <p:nvPr/>
        </p:nvSpPr>
        <p:spPr>
          <a:xfrm>
            <a:off x="0" y="6710782"/>
            <a:ext cx="12191695" cy="9144"/>
          </a:xfrm>
          <a:prstGeom prst="rect">
            <a:avLst/>
          </a:prstGeom>
          <a:solidFill>
            <a:srgbClr val="E5E7EB"/>
          </a:solidFill>
          <a:ln w="12700">
            <a:solidFill>
              <a:srgbClr val="E5E7EB">
                <a:alpha val="0"/>
              </a:srgbClr>
            </a:solidFill>
            <a:prstDash val="solid"/>
          </a:ln>
        </p:spPr>
        <p:txBody>
          <a:bodyPr/>
          <a:lstStyle/>
          <a:p>
            <a:endParaRPr lang="ja-JP" altLang="en-US" sz="3200"/>
          </a:p>
        </p:txBody>
      </p:sp>
      <p:sp>
        <p:nvSpPr>
          <p:cNvPr id="48" name="Text 39"/>
          <p:cNvSpPr txBox="1"/>
          <p:nvPr/>
        </p:nvSpPr>
        <p:spPr>
          <a:xfrm>
            <a:off x="457200" y="6719926"/>
            <a:ext cx="2244852"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49" name="Text 40"/>
          <p:cNvSpPr txBox="1"/>
          <p:nvPr/>
        </p:nvSpPr>
        <p:spPr>
          <a:xfrm>
            <a:off x="10646359" y="6719926"/>
            <a:ext cx="1303934"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50" name="Image 7" descr="preencoded.png"/>
          <p:cNvPicPr>
            <a:picLocks noChangeAspect="1"/>
          </p:cNvPicPr>
          <p:nvPr/>
        </p:nvPicPr>
        <p:blipFill>
          <a:blip r:embed="rId9"/>
          <a:srcRect l="-200" r="-200"/>
          <a:stretch/>
        </p:blipFill>
        <p:spPr>
          <a:xfrm>
            <a:off x="0" y="6782105"/>
            <a:ext cx="12191695" cy="75895"/>
          </a:xfrm>
          <a:prstGeom prst="rect">
            <a:avLst/>
          </a:prstGeom>
        </p:spPr>
      </p:pic>
      <p:grpSp>
        <p:nvGrpSpPr>
          <p:cNvPr id="55" name="グループ化 54">
            <a:extLst>
              <a:ext uri="{FF2B5EF4-FFF2-40B4-BE49-F238E27FC236}">
                <a16:creationId xmlns:a16="http://schemas.microsoft.com/office/drawing/2014/main" id="{F7690295-1154-A342-6B81-03B3E5B49ED6}"/>
              </a:ext>
            </a:extLst>
          </p:cNvPr>
          <p:cNvGrpSpPr/>
          <p:nvPr/>
        </p:nvGrpSpPr>
        <p:grpSpPr>
          <a:xfrm>
            <a:off x="4773516" y="6453440"/>
            <a:ext cx="7350682" cy="405017"/>
            <a:chOff x="5861349" y="604238"/>
            <a:chExt cx="6035909" cy="405017"/>
          </a:xfrm>
        </p:grpSpPr>
        <p:sp>
          <p:nvSpPr>
            <p:cNvPr id="56" name="Shape 31">
              <a:extLst>
                <a:ext uri="{FF2B5EF4-FFF2-40B4-BE49-F238E27FC236}">
                  <a16:creationId xmlns:a16="http://schemas.microsoft.com/office/drawing/2014/main" id="{A6315A21-492C-5343-0D62-6269B78C81F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7" name="Text 21">
              <a:extLst>
                <a:ext uri="{FF2B5EF4-FFF2-40B4-BE49-F238E27FC236}">
                  <a16:creationId xmlns:a16="http://schemas.microsoft.com/office/drawing/2014/main" id="{CC8E7B5D-12F5-D155-68AA-50C8A94C417F}"/>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8" name="Image 2" descr="preencoded.png">
              <a:extLst>
                <a:ext uri="{FF2B5EF4-FFF2-40B4-BE49-F238E27FC236}">
                  <a16:creationId xmlns:a16="http://schemas.microsoft.com/office/drawing/2014/main" id="{7DCBFAF5-3DBE-80E1-29A0-F367DA25DC0A}"/>
                </a:ext>
              </a:extLst>
            </p:cNvPr>
            <p:cNvPicPr>
              <a:picLocks noChangeAspect="1"/>
            </p:cNvPicPr>
            <p:nvPr/>
          </p:nvPicPr>
          <p:blipFill>
            <a:blip r:embed="rId10"/>
            <a:srcRect/>
            <a:stretch/>
          </p:blipFill>
          <p:spPr>
            <a:xfrm>
              <a:off x="5861349" y="619679"/>
              <a:ext cx="263236" cy="389576"/>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638605"/>
            <a:ext cx="12191695" cy="5352898"/>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20000"/>
          </a:blip>
          <a:srcRect/>
          <a:stretch/>
        </p:blipFill>
        <p:spPr>
          <a:xfrm>
            <a:off x="559613" y="2198218"/>
            <a:ext cx="2581351" cy="2581351"/>
          </a:xfrm>
          <a:prstGeom prst="rect">
            <a:avLst/>
          </a:prstGeom>
        </p:spPr>
      </p:pic>
      <p:pic>
        <p:nvPicPr>
          <p:cNvPr id="6" name="Image 1" descr="preencoded.png"/>
          <p:cNvPicPr>
            <a:picLocks noChangeAspect="1"/>
          </p:cNvPicPr>
          <p:nvPr/>
        </p:nvPicPr>
        <p:blipFill>
          <a:blip r:embed="rId4">
            <a:alphaModFix amt="40000"/>
          </a:blip>
          <a:srcRect/>
          <a:stretch/>
        </p:blipFill>
        <p:spPr>
          <a:xfrm>
            <a:off x="9056218" y="3853282"/>
            <a:ext cx="2581351" cy="2581351"/>
          </a:xfrm>
          <a:prstGeom prst="rect">
            <a:avLst/>
          </a:prstGeom>
        </p:spPr>
      </p:pic>
      <p:pic>
        <p:nvPicPr>
          <p:cNvPr id="7" name="Image 2" descr="preencoded.png"/>
          <p:cNvPicPr>
            <a:picLocks noChangeAspect="1"/>
          </p:cNvPicPr>
          <p:nvPr/>
        </p:nvPicPr>
        <p:blipFill>
          <a:blip r:embed="rId5"/>
          <a:srcRect l="-2" r="-2"/>
          <a:stretch/>
        </p:blipFill>
        <p:spPr>
          <a:xfrm>
            <a:off x="952805" y="2018995"/>
            <a:ext cx="10287000" cy="4588459"/>
          </a:xfrm>
          <a:prstGeom prst="rect">
            <a:avLst/>
          </a:prstGeom>
        </p:spPr>
      </p:pic>
      <p:sp>
        <p:nvSpPr>
          <p:cNvPr id="8" name="Shape 3"/>
          <p:cNvSpPr/>
          <p:nvPr/>
        </p:nvSpPr>
        <p:spPr>
          <a:xfrm>
            <a:off x="952805" y="2018995"/>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pic>
        <p:nvPicPr>
          <p:cNvPr id="9" name="Image 3" descr="preencoded.png"/>
          <p:cNvPicPr>
            <a:picLocks noChangeAspect="1"/>
          </p:cNvPicPr>
          <p:nvPr/>
        </p:nvPicPr>
        <p:blipFill>
          <a:blip r:embed="rId6"/>
          <a:srcRect/>
          <a:stretch/>
        </p:blipFill>
        <p:spPr>
          <a:xfrm>
            <a:off x="1533449" y="3456432"/>
            <a:ext cx="1714500" cy="1714500"/>
          </a:xfrm>
          <a:prstGeom prst="rect">
            <a:avLst/>
          </a:prstGeom>
        </p:spPr>
      </p:pic>
      <p:pic>
        <p:nvPicPr>
          <p:cNvPr id="10" name="Image 4" descr="preencoded.png"/>
          <p:cNvPicPr>
            <a:picLocks noChangeAspect="1"/>
          </p:cNvPicPr>
          <p:nvPr/>
        </p:nvPicPr>
        <p:blipFill>
          <a:blip r:embed="rId7"/>
          <a:srcRect/>
          <a:stretch/>
        </p:blipFill>
        <p:spPr>
          <a:xfrm>
            <a:off x="1933956" y="3856025"/>
            <a:ext cx="914400" cy="914400"/>
          </a:xfrm>
          <a:prstGeom prst="rect">
            <a:avLst/>
          </a:prstGeom>
        </p:spPr>
      </p:pic>
      <p:sp>
        <p:nvSpPr>
          <p:cNvPr id="11" name="Text 4"/>
          <p:cNvSpPr txBox="1"/>
          <p:nvPr/>
        </p:nvSpPr>
        <p:spPr>
          <a:xfrm>
            <a:off x="3819449" y="3562502"/>
            <a:ext cx="6946697" cy="715061"/>
          </a:xfrm>
          <a:prstGeom prst="rect">
            <a:avLst/>
          </a:prstGeom>
          <a:noFill/>
          <a:ln/>
        </p:spPr>
        <p:txBody>
          <a:bodyPr wrap="square" lIns="0" tIns="0" rIns="0" bIns="0" rtlCol="0" anchor="t"/>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条件分岐を使おう（Condition）</a:t>
            </a:r>
            <a:endParaRPr lang="en-US" sz="3200" dirty="0"/>
          </a:p>
          <a:p>
            <a:pPr marL="0" indent="0" algn="l">
              <a:buNone/>
            </a:pPr>
            <a:r>
              <a:rPr lang="en-US" sz="3200" b="1" dirty="0">
                <a:solidFill>
                  <a:srgbClr val="0078D4"/>
                </a:solidFill>
                <a:latin typeface="Noto Sans JP" pitchFamily="34" charset="0"/>
                <a:ea typeface="Noto Sans JP" pitchFamily="34" charset="-122"/>
                <a:cs typeface="Noto Sans JP" pitchFamily="34" charset="-120"/>
              </a:rPr>
              <a:t/>
            </a:r>
            <a:endParaRPr lang="en-US" sz="3200" dirty="0"/>
          </a:p>
        </p:txBody>
      </p:sp>
      <p:sp>
        <p:nvSpPr>
          <p:cNvPr id="12" name="Text 5"/>
          <p:cNvSpPr txBox="1"/>
          <p:nvPr/>
        </p:nvSpPr>
        <p:spPr>
          <a:xfrm>
            <a:off x="3908146" y="4936845"/>
            <a:ext cx="6915607" cy="838505"/>
          </a:xfrm>
          <a:prstGeom prst="rect">
            <a:avLst/>
          </a:prstGeom>
          <a:noFill/>
          <a:ln/>
        </p:spPr>
        <p:txBody>
          <a:bodyPr wrap="square" lIns="0" tIns="0" rIns="0" bIns="0" rtlCol="0" anchor="t"/>
          <a:lstStyle/>
          <a:p>
            <a:pPr marL="0" indent="0" algn="l">
              <a:buNone/>
            </a:pPr>
            <a:r>
              <a:rPr lang="en-US" dirty="0">
                <a:solidFill>
                  <a:srgbClr val="4B5563"/>
                </a:solidFill>
                <a:latin typeface="Noto Sans JP" pitchFamily="34" charset="0"/>
                <a:ea typeface="Noto Sans JP" pitchFamily="34" charset="-122"/>
                <a:cs typeface="Noto Sans JP" pitchFamily="34" charset="-120"/>
              </a:rPr>
              <a:t>フローに「もし〜なら」の分岐を追加して、状況に応じた自動化を実現します。</a:t>
            </a:r>
            <a:endParaRPr lang="en-US" dirty="0"/>
          </a:p>
          <a:p>
            <a:pPr marL="0" indent="0" algn="l">
              <a:buNone/>
            </a:pPr>
            <a:r>
              <a:rPr lang="en-US" b="1" dirty="0">
                <a:solidFill>
                  <a:srgbClr val="4B5563"/>
                </a:solidFill>
                <a:latin typeface="Noto Sans JP" pitchFamily="34" charset="0"/>
                <a:ea typeface="Noto Sans JP" pitchFamily="34" charset="-122"/>
                <a:cs typeface="Noto Sans JP" pitchFamily="34" charset="-120"/>
              </a:rPr>
              <a:t/>
            </a:r>
            <a:r>
              <a:rPr lang="en-US" dirty="0">
                <a:solidFill>
                  <a:srgbClr val="4B5563"/>
                </a:solidFill>
                <a:latin typeface="Noto Sans JP" pitchFamily="34" charset="0"/>
                <a:ea typeface="Noto Sans JP" pitchFamily="34" charset="-122"/>
                <a:cs typeface="Noto Sans JP" pitchFamily="34" charset="-120"/>
              </a:rPr>
              <a:t/>
            </a:r>
            <a:endParaRPr lang="en-US" dirty="0"/>
          </a:p>
          <a:p>
            <a:pPr marL="0" indent="0" algn="l">
              <a:buNone/>
            </a:pPr>
            <a:r>
              <a:rPr lang="en-US" dirty="0">
                <a:solidFill>
                  <a:srgbClr val="4B5563"/>
                </a:solidFill>
                <a:latin typeface="Noto Sans JP" pitchFamily="34" charset="0"/>
                <a:ea typeface="Noto Sans JP" pitchFamily="34" charset="-122"/>
                <a:cs typeface="Noto Sans JP" pitchFamily="34" charset="-120"/>
              </a:rPr>
              <a:t/>
            </a:r>
            <a:endParaRPr lang="en-US" dirty="0"/>
          </a:p>
        </p:txBody>
      </p:sp>
      <p:sp>
        <p:nvSpPr>
          <p:cNvPr id="15" name="Shape 7"/>
          <p:cNvSpPr/>
          <p:nvPr/>
        </p:nvSpPr>
        <p:spPr>
          <a:xfrm>
            <a:off x="3819449" y="2600554"/>
            <a:ext cx="1228954" cy="580644"/>
          </a:xfrm>
          <a:prstGeom prst="roundRect">
            <a:avLst>
              <a:gd name="adj" fmla="val 157480"/>
            </a:avLst>
          </a:prstGeom>
          <a:solidFill>
            <a:srgbClr val="0078D4"/>
          </a:solidFill>
          <a:ln w="12700">
            <a:solidFill>
              <a:srgbClr val="FFFFFF">
                <a:alpha val="0"/>
              </a:srgbClr>
            </a:solidFill>
            <a:prstDash val="solid"/>
          </a:ln>
        </p:spPr>
        <p:txBody>
          <a:bodyPr/>
          <a:lstStyle/>
          <a:p>
            <a:endParaRPr lang="ja-JP" altLang="en-US"/>
          </a:p>
        </p:txBody>
      </p:sp>
      <p:sp>
        <p:nvSpPr>
          <p:cNvPr id="16" name="Text 8"/>
          <p:cNvSpPr/>
          <p:nvPr/>
        </p:nvSpPr>
        <p:spPr>
          <a:xfrm>
            <a:off x="3791102" y="2600554"/>
            <a:ext cx="1286561" cy="581558"/>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2200" b="1" kern="0" spc="113" dirty="0">
                <a:solidFill>
                  <a:srgbClr val="FFFFFF"/>
                </a:solidFill>
                <a:latin typeface="Noto Sans JP" pitchFamily="34" charset="0"/>
                <a:ea typeface="Noto Sans JP" pitchFamily="34" charset="-122"/>
                <a:cs typeface="Noto Sans JP" pitchFamily="34" charset="-120"/>
              </a:rPr>
              <a:t>Vol.3</a:t>
            </a:r>
            <a:endParaRPr lang="en-US" sz="2200" dirty="0"/>
          </a:p>
        </p:txBody>
      </p:sp>
      <p:sp>
        <p:nvSpPr>
          <p:cNvPr id="17" name="Shape 9"/>
          <p:cNvSpPr/>
          <p:nvPr/>
        </p:nvSpPr>
        <p:spPr>
          <a:xfrm>
            <a:off x="0" y="0"/>
            <a:ext cx="12191695" cy="1638605"/>
          </a:xfrm>
          <a:prstGeom prst="rect">
            <a:avLst/>
          </a:prstGeom>
          <a:solidFill>
            <a:srgbClr val="FFFFFF"/>
          </a:solidFill>
          <a:ln/>
        </p:spPr>
        <p:txBody>
          <a:bodyPr/>
          <a:lstStyle/>
          <a:p>
            <a:endParaRPr lang="ja-JP" altLang="en-US"/>
          </a:p>
        </p:txBody>
      </p:sp>
      <p:sp>
        <p:nvSpPr>
          <p:cNvPr id="18" name="Shape 10"/>
          <p:cNvSpPr/>
          <p:nvPr/>
        </p:nvSpPr>
        <p:spPr>
          <a:xfrm>
            <a:off x="0" y="16294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19" name="Text 11"/>
          <p:cNvSpPr txBox="1"/>
          <p:nvPr/>
        </p:nvSpPr>
        <p:spPr>
          <a:xfrm>
            <a:off x="457200" y="304495"/>
            <a:ext cx="5401361"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PA45｜次回予告</a:t>
            </a:r>
            <a:endParaRPr lang="en-US" sz="1500" dirty="0"/>
          </a:p>
        </p:txBody>
      </p:sp>
      <p:sp>
        <p:nvSpPr>
          <p:cNvPr id="20" name="Text 12"/>
          <p:cNvSpPr txBox="1"/>
          <p:nvPr/>
        </p:nvSpPr>
        <p:spPr>
          <a:xfrm>
            <a:off x="457200" y="609905"/>
            <a:ext cx="6994246"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Next Session（第3回）</a:t>
            </a:r>
            <a:r>
              <a:rPr lang="en-US" sz="2700" b="1" dirty="0">
                <a:solidFill>
                  <a:srgbClr val="6B7280"/>
                </a:solidFill>
                <a:latin typeface="Noto Sans JP" pitchFamily="34" charset="0"/>
                <a:ea typeface="Noto Sans JP" pitchFamily="34" charset="-122"/>
                <a:cs typeface="Noto Sans JP" pitchFamily="34" charset="-120"/>
              </a:rPr>
              <a:t/>
            </a:r>
            <a:endParaRPr lang="en-US" sz="4500" dirty="0"/>
          </a:p>
        </p:txBody>
      </p:sp>
      <p:sp>
        <p:nvSpPr>
          <p:cNvPr id="21" name="Shape 13"/>
          <p:cNvSpPr/>
          <p:nvPr/>
        </p:nvSpPr>
        <p:spPr>
          <a:xfrm>
            <a:off x="10823753"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22" name="Text 14"/>
          <p:cNvSpPr txBox="1"/>
          <p:nvPr/>
        </p:nvSpPr>
        <p:spPr>
          <a:xfrm>
            <a:off x="11014862" y="828446"/>
            <a:ext cx="800100" cy="267005"/>
          </a:xfrm>
          <a:prstGeom prst="rect">
            <a:avLst/>
          </a:prstGeom>
          <a:noFill/>
          <a:ln/>
        </p:spPr>
        <p:txBody>
          <a:bodyPr wrap="square" lIns="0" tIns="0" rIns="0" bIns="0" rtlCol="0" anchor="ctr"/>
          <a:lstStyle/>
          <a:p>
            <a:pPr marL="0" indent="0" algn="l">
              <a:buNone/>
            </a:pPr>
            <a:r>
              <a:rPr lang="en-US" sz="1300" dirty="0">
                <a:solidFill>
                  <a:srgbClr val="9CA3AF"/>
                </a:solidFill>
                <a:latin typeface="ui-monospace" pitchFamily="34" charset="0"/>
                <a:ea typeface="ui-monospace" pitchFamily="34" charset="-122"/>
                <a:cs typeface="ui-monospace" pitchFamily="34" charset="-120"/>
              </a:rPr>
              <a:t>Preview</a:t>
            </a:r>
            <a:endParaRPr lang="en-US" sz="1300" dirty="0"/>
          </a:p>
        </p:txBody>
      </p:sp>
      <p:sp>
        <p:nvSpPr>
          <p:cNvPr id="25" name="Shape 16"/>
          <p:cNvSpPr/>
          <p:nvPr/>
        </p:nvSpPr>
        <p:spPr>
          <a:xfrm>
            <a:off x="0" y="6988759"/>
            <a:ext cx="12191695" cy="276149"/>
          </a:xfrm>
          <a:prstGeom prst="rect">
            <a:avLst/>
          </a:prstGeom>
          <a:solidFill>
            <a:srgbClr val="FFFFFF"/>
          </a:solidFill>
          <a:ln/>
        </p:spPr>
        <p:txBody>
          <a:bodyPr/>
          <a:lstStyle/>
          <a:p>
            <a:endParaRPr lang="ja-JP" altLang="en-US"/>
          </a:p>
        </p:txBody>
      </p:sp>
      <p:sp>
        <p:nvSpPr>
          <p:cNvPr id="26" name="Shape 17"/>
          <p:cNvSpPr/>
          <p:nvPr/>
        </p:nvSpPr>
        <p:spPr>
          <a:xfrm>
            <a:off x="0" y="6988759"/>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7" name="Text 18"/>
          <p:cNvSpPr txBox="1"/>
          <p:nvPr/>
        </p:nvSpPr>
        <p:spPr>
          <a:xfrm>
            <a:off x="457200" y="6998818"/>
            <a:ext cx="2890418"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28" name="Text 19"/>
          <p:cNvSpPr txBox="1"/>
          <p:nvPr/>
        </p:nvSpPr>
        <p:spPr>
          <a:xfrm>
            <a:off x="10335463" y="6998818"/>
            <a:ext cx="1666951"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29" name="Image 7" descr="preencoded.png"/>
          <p:cNvPicPr>
            <a:picLocks noChangeAspect="1"/>
          </p:cNvPicPr>
          <p:nvPr/>
        </p:nvPicPr>
        <p:blipFill>
          <a:blip r:embed="rId8"/>
          <a:srcRect l="-200" r="-200"/>
          <a:stretch/>
        </p:blipFill>
        <p:spPr>
          <a:xfrm>
            <a:off x="0" y="6782105"/>
            <a:ext cx="12191695" cy="75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305" y="10059"/>
            <a:ext cx="12191695" cy="6858000"/>
          </a:xfrm>
          <a:prstGeom prst="rect">
            <a:avLst/>
          </a:prstGeom>
        </p:spPr>
      </p:pic>
      <p:sp>
        <p:nvSpPr>
          <p:cNvPr id="4" name="Text 1"/>
          <p:cNvSpPr txBox="1"/>
          <p:nvPr/>
        </p:nvSpPr>
        <p:spPr>
          <a:xfrm>
            <a:off x="489102" y="674610"/>
            <a:ext cx="5410505" cy="228600"/>
          </a:xfrm>
          <a:prstGeom prst="rect">
            <a:avLst/>
          </a:prstGeom>
          <a:noFill/>
          <a:ln/>
        </p:spPr>
        <p:txBody>
          <a:bodyPr wrap="square" lIns="0" tIns="0" rIns="0" bIns="0" rtlCol="0" anchor="ctr"/>
          <a:lstStyle/>
          <a:p>
            <a:pPr marL="0" indent="0" algn="l">
              <a:buNone/>
            </a:pPr>
            <a:r>
              <a:rPr lang="en-US" sz="6600" kern="0" spc="60" dirty="0">
                <a:solidFill>
                  <a:srgbClr val="9CA3AF"/>
                </a:solidFill>
                <a:latin typeface="Noto Sans JP" pitchFamily="34" charset="0"/>
                <a:ea typeface="Noto Sans JP" pitchFamily="34" charset="-122"/>
                <a:cs typeface="Noto Sans JP" pitchFamily="34" charset="-120"/>
              </a:rPr>
              <a:t>Next Action</a:t>
            </a:r>
            <a:endParaRPr lang="en-US" sz="6600" dirty="0"/>
          </a:p>
        </p:txBody>
      </p:sp>
      <p:sp>
        <p:nvSpPr>
          <p:cNvPr id="5" name="Text 2"/>
          <p:cNvSpPr txBox="1"/>
          <p:nvPr/>
        </p:nvSpPr>
        <p:spPr>
          <a:xfrm>
            <a:off x="571500" y="1581825"/>
            <a:ext cx="5600700" cy="466431"/>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アンケートのお願い</a:t>
            </a:r>
            <a:endParaRPr lang="en-US" sz="3200" dirty="0"/>
          </a:p>
        </p:txBody>
      </p:sp>
      <p:sp>
        <p:nvSpPr>
          <p:cNvPr id="6" name="Text 3"/>
          <p:cNvSpPr txBox="1"/>
          <p:nvPr/>
        </p:nvSpPr>
        <p:spPr>
          <a:xfrm>
            <a:off x="571500" y="2124151"/>
            <a:ext cx="5486400" cy="267005"/>
          </a:xfrm>
          <a:prstGeom prst="rect">
            <a:avLst/>
          </a:prstGeom>
          <a:noFill/>
          <a:ln/>
        </p:spPr>
        <p:txBody>
          <a:bodyPr wrap="square" lIns="0" tIns="0" rIns="0" bIns="0" rtlCol="0" anchor="ctr"/>
          <a:lstStyle/>
          <a:p>
            <a:pPr marL="0" indent="0" algn="l">
              <a:buNone/>
            </a:pPr>
            <a:r>
              <a:rPr lang="en-US" sz="1500" dirty="0">
                <a:solidFill>
                  <a:srgbClr val="6B7280"/>
                </a:solidFill>
                <a:latin typeface="Noto Sans JP" pitchFamily="34" charset="0"/>
                <a:ea typeface="Noto Sans JP" pitchFamily="34" charset="-122"/>
                <a:cs typeface="Noto Sans JP" pitchFamily="34" charset="-120"/>
              </a:rPr>
              <a:t>所要時間：約1分</a:t>
            </a:r>
            <a:endParaRPr lang="en-US" sz="1500" dirty="0"/>
          </a:p>
        </p:txBody>
      </p:sp>
      <p:pic>
        <p:nvPicPr>
          <p:cNvPr id="7" name="Image 1" descr="preencoded.png"/>
          <p:cNvPicPr>
            <a:picLocks noChangeAspect="1"/>
          </p:cNvPicPr>
          <p:nvPr/>
        </p:nvPicPr>
        <p:blipFill>
          <a:blip r:embed="rId4"/>
          <a:srcRect t="-15" b="-15"/>
          <a:stretch/>
        </p:blipFill>
        <p:spPr>
          <a:xfrm>
            <a:off x="571500" y="2695651"/>
            <a:ext cx="5296205" cy="838505"/>
          </a:xfrm>
          <a:prstGeom prst="rect">
            <a:avLst/>
          </a:prstGeom>
        </p:spPr>
      </p:pic>
      <p:pic>
        <p:nvPicPr>
          <p:cNvPr id="8" name="Image 2" descr="preencoded.png"/>
          <p:cNvPicPr>
            <a:picLocks noChangeAspect="1"/>
          </p:cNvPicPr>
          <p:nvPr/>
        </p:nvPicPr>
        <p:blipFill>
          <a:blip r:embed="rId5"/>
          <a:srcRect/>
          <a:stretch/>
        </p:blipFill>
        <p:spPr>
          <a:xfrm>
            <a:off x="658326" y="2763275"/>
            <a:ext cx="389576" cy="389576"/>
          </a:xfrm>
          <a:prstGeom prst="rect">
            <a:avLst/>
          </a:prstGeom>
        </p:spPr>
      </p:pic>
      <p:sp>
        <p:nvSpPr>
          <p:cNvPr id="9" name="Text 4"/>
          <p:cNvSpPr txBox="1"/>
          <p:nvPr/>
        </p:nvSpPr>
        <p:spPr>
          <a:xfrm>
            <a:off x="1200607" y="2828588"/>
            <a:ext cx="3657600"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チャットをご確認ください</a:t>
            </a:r>
            <a:endParaRPr lang="en-US" sz="2400" dirty="0"/>
          </a:p>
        </p:txBody>
      </p:sp>
      <p:sp>
        <p:nvSpPr>
          <p:cNvPr id="10" name="Text 5"/>
          <p:cNvSpPr txBox="1"/>
          <p:nvPr/>
        </p:nvSpPr>
        <p:spPr>
          <a:xfrm>
            <a:off x="1248157" y="3210459"/>
            <a:ext cx="3657600"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このあとチャット欄にアンケートURLを貼ります。</a:t>
            </a:r>
            <a:endParaRPr lang="en-US" sz="1200" dirty="0"/>
          </a:p>
        </p:txBody>
      </p:sp>
      <p:pic>
        <p:nvPicPr>
          <p:cNvPr id="11" name="Image 3" descr="preencoded.png"/>
          <p:cNvPicPr>
            <a:picLocks noChangeAspect="1"/>
          </p:cNvPicPr>
          <p:nvPr/>
        </p:nvPicPr>
        <p:blipFill>
          <a:blip r:embed="rId6"/>
          <a:srcRect t="-15" b="-15"/>
          <a:stretch/>
        </p:blipFill>
        <p:spPr>
          <a:xfrm>
            <a:off x="571500" y="3762756"/>
            <a:ext cx="5296205" cy="838505"/>
          </a:xfrm>
          <a:prstGeom prst="rect">
            <a:avLst/>
          </a:prstGeom>
        </p:spPr>
      </p:pic>
      <p:pic>
        <p:nvPicPr>
          <p:cNvPr id="12" name="Image 4" descr="preencoded.png"/>
          <p:cNvPicPr>
            <a:picLocks noChangeAspect="1"/>
          </p:cNvPicPr>
          <p:nvPr/>
        </p:nvPicPr>
        <p:blipFill>
          <a:blip r:embed="rId7"/>
          <a:srcRect/>
          <a:stretch/>
        </p:blipFill>
        <p:spPr>
          <a:xfrm>
            <a:off x="719176" y="3865735"/>
            <a:ext cx="365759" cy="365759"/>
          </a:xfrm>
          <a:prstGeom prst="rect">
            <a:avLst/>
          </a:prstGeom>
        </p:spPr>
      </p:pic>
      <p:sp>
        <p:nvSpPr>
          <p:cNvPr id="13" name="Text 6"/>
          <p:cNvSpPr txBox="1"/>
          <p:nvPr/>
        </p:nvSpPr>
        <p:spPr>
          <a:xfrm>
            <a:off x="1104595" y="3914546"/>
            <a:ext cx="4134002"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安心の匿名フォーム</a:t>
            </a:r>
            <a:endParaRPr lang="en-US" sz="2400" dirty="0"/>
          </a:p>
        </p:txBody>
      </p:sp>
      <p:sp>
        <p:nvSpPr>
          <p:cNvPr id="14" name="Text 7"/>
          <p:cNvSpPr txBox="1"/>
          <p:nvPr/>
        </p:nvSpPr>
        <p:spPr>
          <a:xfrm>
            <a:off x="1104595" y="4279523"/>
            <a:ext cx="4134002"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個人情報は取得しません。率直なご意見をお願いします。</a:t>
            </a:r>
            <a:endParaRPr lang="en-US" sz="1200" dirty="0"/>
          </a:p>
        </p:txBody>
      </p:sp>
      <p:sp>
        <p:nvSpPr>
          <p:cNvPr id="17" name="Text 9"/>
          <p:cNvSpPr txBox="1"/>
          <p:nvPr/>
        </p:nvSpPr>
        <p:spPr>
          <a:xfrm>
            <a:off x="6172200" y="351214"/>
            <a:ext cx="5410505" cy="466344"/>
          </a:xfrm>
          <a:prstGeom prst="rect">
            <a:avLst/>
          </a:prstGeom>
          <a:noFill/>
          <a:ln/>
        </p:spPr>
        <p:txBody>
          <a:bodyPr wrap="square" lIns="0" tIns="0" rIns="0" bIns="0" rtlCol="0" anchor="ctr"/>
          <a:lstStyle/>
          <a:p>
            <a:pPr marL="0" indent="0" algn="ctr">
              <a:buNone/>
            </a:pPr>
            <a:r>
              <a:rPr lang="ja-JP" altLang="en-US" sz="2400" kern="0" spc="60">
                <a:solidFill>
                  <a:srgbClr val="9CA3AF"/>
                </a:solidFill>
                <a:latin typeface="Noto Sans JP" pitchFamily="34" charset="0"/>
                <a:ea typeface="Noto Sans JP" pitchFamily="34" charset="-122"/>
                <a:cs typeface="Noto Sans JP" pitchFamily="34" charset="-120"/>
              </a:rPr>
              <a:t>🎁 </a:t>
            </a:r>
            <a:r>
              <a:rPr lang="en-US" sz="2400" kern="0" spc="60">
                <a:solidFill>
                  <a:srgbClr val="9CA3AF"/>
                </a:solidFill>
                <a:latin typeface="Noto Sans JP" pitchFamily="34" charset="0"/>
                <a:ea typeface="Noto Sans JP" pitchFamily="34" charset="-122"/>
                <a:cs typeface="Noto Sans JP" pitchFamily="34" charset="-120"/>
              </a:rPr>
              <a:t>Special </a:t>
            </a:r>
            <a:r>
              <a:rPr lang="en-US" sz="2400" kern="0" spc="60" dirty="0">
                <a:solidFill>
                  <a:srgbClr val="9CA3AF"/>
                </a:solidFill>
                <a:latin typeface="Noto Sans JP" pitchFamily="34" charset="0"/>
                <a:ea typeface="Noto Sans JP" pitchFamily="34" charset="-122"/>
                <a:cs typeface="Noto Sans JP" pitchFamily="34" charset="-120"/>
              </a:rPr>
              <a:t>Gift</a:t>
            </a:r>
            <a:endParaRPr lang="en-US" sz="2400" dirty="0"/>
          </a:p>
        </p:txBody>
      </p:sp>
      <p:sp>
        <p:nvSpPr>
          <p:cNvPr id="18" name="Shape 10"/>
          <p:cNvSpPr/>
          <p:nvPr/>
        </p:nvSpPr>
        <p:spPr>
          <a:xfrm>
            <a:off x="6324905" y="943661"/>
            <a:ext cx="5296205" cy="4819802"/>
          </a:xfrm>
          <a:prstGeom prst="roundRect">
            <a:avLst>
              <a:gd name="adj" fmla="val 900"/>
            </a:avLst>
          </a:prstGeom>
          <a:solidFill>
            <a:srgbClr val="F9FAFB"/>
          </a:solidFill>
          <a:ln w="12700">
            <a:solidFill>
              <a:srgbClr val="E5E7EB"/>
            </a:solidFill>
            <a:prstDash val="solid"/>
          </a:ln>
        </p:spPr>
        <p:txBody>
          <a:bodyPr/>
          <a:lstStyle/>
          <a:p>
            <a:endParaRPr lang="ja-JP" altLang="en-US"/>
          </a:p>
        </p:txBody>
      </p:sp>
      <p:sp>
        <p:nvSpPr>
          <p:cNvPr id="21" name="Text 13"/>
          <p:cNvSpPr txBox="1"/>
          <p:nvPr/>
        </p:nvSpPr>
        <p:spPr>
          <a:xfrm>
            <a:off x="7308298" y="1501051"/>
            <a:ext cx="3328503" cy="305410"/>
          </a:xfrm>
          <a:prstGeom prst="rect">
            <a:avLst/>
          </a:prstGeom>
          <a:noFill/>
          <a:ln/>
        </p:spPr>
        <p:txBody>
          <a:bodyPr wrap="square" lIns="0" tIns="0" rIns="0" bIns="0" rtlCol="0" anchor="ctr"/>
          <a:lstStyle/>
          <a:p>
            <a:pPr marL="0" indent="0" algn="ctr">
              <a:buNone/>
            </a:pPr>
            <a:r>
              <a:rPr lang="en-US" sz="3200" b="1">
                <a:solidFill>
                  <a:srgbClr val="374151"/>
                </a:solidFill>
                <a:latin typeface="Noto Sans JP" pitchFamily="34" charset="0"/>
                <a:ea typeface="Noto Sans JP" pitchFamily="34" charset="-122"/>
                <a:cs typeface="Noto Sans JP" pitchFamily="34" charset="-120"/>
              </a:rPr>
              <a:t>PA45 バッジ</a:t>
            </a:r>
            <a:endParaRPr lang="en-US" sz="3200" dirty="0"/>
          </a:p>
        </p:txBody>
      </p:sp>
      <p:sp>
        <p:nvSpPr>
          <p:cNvPr id="22" name="Text 14"/>
          <p:cNvSpPr txBox="1"/>
          <p:nvPr/>
        </p:nvSpPr>
        <p:spPr>
          <a:xfrm>
            <a:off x="7149084" y="2023610"/>
            <a:ext cx="3646932" cy="457199"/>
          </a:xfrm>
          <a:prstGeom prst="rect">
            <a:avLst/>
          </a:prstGeom>
          <a:noFill/>
          <a:ln/>
        </p:spPr>
        <p:txBody>
          <a:bodyPr wrap="square" lIns="0" tIns="0" rIns="0" bIns="0" rtlCol="0" anchor="ctr"/>
          <a:lstStyle/>
          <a:p>
            <a:pPr marL="0" indent="0" algn="ctr">
              <a:buNone/>
            </a:pPr>
            <a:r>
              <a:rPr lang="en-US" dirty="0">
                <a:solidFill>
                  <a:srgbClr val="6B7280"/>
                </a:solidFill>
                <a:latin typeface="Noto Sans JP" pitchFamily="34" charset="0"/>
                <a:ea typeface="Noto Sans JP" pitchFamily="34" charset="-122"/>
                <a:cs typeface="Noto Sans JP" pitchFamily="34" charset="-120"/>
              </a:rPr>
              <a:t>今日のアクション名 ＋ 開催日入り</a:t>
            </a:r>
            <a:endParaRPr lang="en-US" dirty="0"/>
          </a:p>
        </p:txBody>
      </p:sp>
      <p:pic>
        <p:nvPicPr>
          <p:cNvPr id="23" name="Image 6" descr="preencoded.png"/>
          <p:cNvPicPr>
            <a:picLocks noChangeAspect="1"/>
          </p:cNvPicPr>
          <p:nvPr/>
        </p:nvPicPr>
        <p:blipFill>
          <a:blip r:embed="rId8"/>
          <a:srcRect/>
          <a:stretch/>
        </p:blipFill>
        <p:spPr>
          <a:xfrm>
            <a:off x="8058607" y="2553005"/>
            <a:ext cx="1828800" cy="1828800"/>
          </a:xfrm>
          <a:prstGeom prst="rect">
            <a:avLst/>
          </a:prstGeom>
        </p:spPr>
      </p:pic>
      <p:sp>
        <p:nvSpPr>
          <p:cNvPr id="25" name="Shape 15"/>
          <p:cNvSpPr/>
          <p:nvPr/>
        </p:nvSpPr>
        <p:spPr>
          <a:xfrm>
            <a:off x="9581998" y="2400300"/>
            <a:ext cx="457200" cy="457200"/>
          </a:xfrm>
          <a:prstGeom prst="ellipse">
            <a:avLst/>
          </a:prstGeom>
          <a:solidFill>
            <a:srgbClr val="FBBF24">
              <a:alpha val="20000"/>
            </a:srgbClr>
          </a:solidFill>
          <a:ln w="12700">
            <a:solidFill>
              <a:srgbClr val="FFFFFF">
                <a:alpha val="0"/>
              </a:srgbClr>
            </a:solidFill>
            <a:prstDash val="solid"/>
          </a:ln>
        </p:spPr>
        <p:txBody>
          <a:bodyPr/>
          <a:lstStyle/>
          <a:p>
            <a:endParaRPr lang="ja-JP" altLang="en-US"/>
          </a:p>
        </p:txBody>
      </p:sp>
      <p:sp>
        <p:nvSpPr>
          <p:cNvPr id="26" name="Shape 16"/>
          <p:cNvSpPr/>
          <p:nvPr/>
        </p:nvSpPr>
        <p:spPr>
          <a:xfrm>
            <a:off x="7981798" y="4153205"/>
            <a:ext cx="304495" cy="304495"/>
          </a:xfrm>
          <a:prstGeom prst="ellipse">
            <a:avLst/>
          </a:prstGeom>
          <a:solidFill>
            <a:srgbClr val="2563EB">
              <a:alpha val="20000"/>
            </a:srgbClr>
          </a:solidFill>
          <a:ln w="12700">
            <a:solidFill>
              <a:srgbClr val="FFFFFF">
                <a:alpha val="0"/>
              </a:srgbClr>
            </a:solidFill>
            <a:prstDash val="solid"/>
          </a:ln>
        </p:spPr>
        <p:txBody>
          <a:bodyPr/>
          <a:lstStyle/>
          <a:p>
            <a:endParaRPr lang="ja-JP" altLang="en-US"/>
          </a:p>
        </p:txBody>
      </p:sp>
      <p:pic>
        <p:nvPicPr>
          <p:cNvPr id="27" name="Image 8" descr="preencoded.png"/>
          <p:cNvPicPr>
            <a:picLocks noChangeAspect="1"/>
          </p:cNvPicPr>
          <p:nvPr/>
        </p:nvPicPr>
        <p:blipFill>
          <a:blip r:embed="rId9"/>
          <a:srcRect t="-27" b="-27"/>
          <a:stretch/>
        </p:blipFill>
        <p:spPr>
          <a:xfrm>
            <a:off x="6964029" y="4572915"/>
            <a:ext cx="3887691" cy="608989"/>
          </a:xfrm>
          <a:prstGeom prst="rect">
            <a:avLst/>
          </a:prstGeom>
        </p:spPr>
      </p:pic>
      <p:sp>
        <p:nvSpPr>
          <p:cNvPr id="29" name="Text 17"/>
          <p:cNvSpPr txBox="1"/>
          <p:nvPr/>
        </p:nvSpPr>
        <p:spPr>
          <a:xfrm>
            <a:off x="7610856" y="4703859"/>
            <a:ext cx="3185160" cy="362102"/>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後日、XのDMでお届けします</a:t>
            </a:r>
            <a:endParaRPr lang="en-US" dirty="0"/>
          </a:p>
        </p:txBody>
      </p:sp>
      <p:sp>
        <p:nvSpPr>
          <p:cNvPr id="30" name="Shape 18"/>
          <p:cNvSpPr/>
          <p:nvPr/>
        </p:nvSpPr>
        <p:spPr>
          <a:xfrm>
            <a:off x="571500" y="6059946"/>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1" name="Text 19"/>
          <p:cNvSpPr txBox="1"/>
          <p:nvPr/>
        </p:nvSpPr>
        <p:spPr>
          <a:xfrm>
            <a:off x="571500" y="6277356"/>
            <a:ext cx="886054"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PA45｜第X回</a:t>
            </a:r>
            <a:endParaRPr lang="en-US" sz="1000" dirty="0"/>
          </a:p>
        </p:txBody>
      </p:sp>
      <p:sp>
        <p:nvSpPr>
          <p:cNvPr id="32" name="Text 20"/>
          <p:cNvSpPr txBox="1"/>
          <p:nvPr/>
        </p:nvSpPr>
        <p:spPr>
          <a:xfrm>
            <a:off x="1530706" y="6277356"/>
            <a:ext cx="114300"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3" name="Text 21"/>
          <p:cNvSpPr txBox="1"/>
          <p:nvPr/>
        </p:nvSpPr>
        <p:spPr>
          <a:xfrm>
            <a:off x="1719986" y="6277356"/>
            <a:ext cx="486461" cy="200254"/>
          </a:xfrm>
          <a:prstGeom prst="rect">
            <a:avLst/>
          </a:prstGeom>
          <a:noFill/>
          <a:ln/>
        </p:spPr>
        <p:txBody>
          <a:bodyPr wrap="square" lIns="0" tIns="0" rIns="0" bIns="0" rtlCol="0" anchor="ctr"/>
          <a:lstStyle/>
          <a:p>
            <a:pPr marL="0" indent="0" algn="l">
              <a:buNone/>
            </a:pPr>
            <a:r>
              <a:rPr lang="en-US" sz="10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4" name="Text 22"/>
          <p:cNvSpPr txBox="1"/>
          <p:nvPr/>
        </p:nvSpPr>
        <p:spPr>
          <a:xfrm>
            <a:off x="5314493" y="6277356"/>
            <a:ext cx="2412187" cy="200254"/>
          </a:xfrm>
          <a:prstGeom prst="rect">
            <a:avLst/>
          </a:prstGeom>
          <a:noFill/>
          <a:ln/>
        </p:spPr>
        <p:txBody>
          <a:bodyPr wrap="square" lIns="0" tIns="0" rIns="0" bIns="0" rtlCol="0" anchor="ctr"/>
          <a:lstStyle/>
          <a:p>
            <a:pPr marL="0" indent="0" algn="l">
              <a:buNone/>
            </a:pPr>
            <a:r>
              <a:rPr lang="en-US" sz="10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5" name="Text 23"/>
          <p:cNvSpPr txBox="1"/>
          <p:nvPr/>
        </p:nvSpPr>
        <p:spPr>
          <a:xfrm>
            <a:off x="10532059" y="6277356"/>
            <a:ext cx="1303934"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6" name="Shape 3">
            <a:extLst>
              <a:ext uri="{FF2B5EF4-FFF2-40B4-BE49-F238E27FC236}">
                <a16:creationId xmlns:a16="http://schemas.microsoft.com/office/drawing/2014/main" id="{B861E8B3-E3DD-C84F-65D8-8D354C918F83}"/>
              </a:ext>
            </a:extLst>
          </p:cNvPr>
          <p:cNvSpPr/>
          <p:nvPr/>
        </p:nvSpPr>
        <p:spPr>
          <a:xfrm>
            <a:off x="147676" y="1572681"/>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37" name="Text 9">
            <a:extLst>
              <a:ext uri="{FF2B5EF4-FFF2-40B4-BE49-F238E27FC236}">
                <a16:creationId xmlns:a16="http://schemas.microsoft.com/office/drawing/2014/main" id="{9AE478BF-D1A4-1FF1-7F4F-D75181898C42}"/>
              </a:ext>
            </a:extLst>
          </p:cNvPr>
          <p:cNvSpPr txBox="1"/>
          <p:nvPr/>
        </p:nvSpPr>
        <p:spPr>
          <a:xfrm>
            <a:off x="8511823" y="3258573"/>
            <a:ext cx="967653" cy="466344"/>
          </a:xfrm>
          <a:prstGeom prst="rect">
            <a:avLst/>
          </a:prstGeom>
          <a:noFill/>
          <a:ln/>
        </p:spPr>
        <p:txBody>
          <a:bodyPr wrap="square" lIns="0" tIns="0" rIns="0" bIns="0" rtlCol="0" anchor="ctr"/>
          <a:lstStyle/>
          <a:p>
            <a:pPr marL="0" indent="0" algn="ctr">
              <a:buNone/>
            </a:pPr>
            <a:r>
              <a:rPr lang="ja-JP" altLang="en-US" sz="4400" kern="0" spc="60">
                <a:solidFill>
                  <a:schemeClr val="bg1"/>
                </a:solidFill>
                <a:latin typeface="Noto Sans JP" pitchFamily="34" charset="0"/>
                <a:ea typeface="Noto Sans JP" pitchFamily="34" charset="-122"/>
                <a:cs typeface="Noto Sans JP" pitchFamily="34" charset="-120"/>
              </a:rPr>
              <a:t>？</a:t>
            </a:r>
            <a:endParaRPr lang="en-US" sz="4400" dirty="0">
              <a:solidFill>
                <a:schemeClr val="bg1"/>
              </a:solidFill>
            </a:endParaRPr>
          </a:p>
        </p:txBody>
      </p:sp>
      <p:grpSp>
        <p:nvGrpSpPr>
          <p:cNvPr id="38" name="グループ化 37">
            <a:extLst>
              <a:ext uri="{FF2B5EF4-FFF2-40B4-BE49-F238E27FC236}">
                <a16:creationId xmlns:a16="http://schemas.microsoft.com/office/drawing/2014/main" id="{18F671B6-865B-825E-58B6-45733630EC64}"/>
              </a:ext>
            </a:extLst>
          </p:cNvPr>
          <p:cNvGrpSpPr/>
          <p:nvPr/>
        </p:nvGrpSpPr>
        <p:grpSpPr>
          <a:xfrm>
            <a:off x="4603551" y="6322778"/>
            <a:ext cx="7350682" cy="405017"/>
            <a:chOff x="5861349" y="604238"/>
            <a:chExt cx="6035909" cy="405017"/>
          </a:xfrm>
        </p:grpSpPr>
        <p:sp>
          <p:nvSpPr>
            <p:cNvPr id="39" name="Shape 31">
              <a:extLst>
                <a:ext uri="{FF2B5EF4-FFF2-40B4-BE49-F238E27FC236}">
                  <a16:creationId xmlns:a16="http://schemas.microsoft.com/office/drawing/2014/main" id="{09F6BD02-AAED-4AE4-1723-76C382164EFB}"/>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0" name="Text 21">
              <a:extLst>
                <a:ext uri="{FF2B5EF4-FFF2-40B4-BE49-F238E27FC236}">
                  <a16:creationId xmlns:a16="http://schemas.microsoft.com/office/drawing/2014/main" id="{3D079374-4B86-0A08-8A21-A5F6A82AFA61}"/>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1" name="Image 2" descr="preencoded.png">
              <a:extLst>
                <a:ext uri="{FF2B5EF4-FFF2-40B4-BE49-F238E27FC236}">
                  <a16:creationId xmlns:a16="http://schemas.microsoft.com/office/drawing/2014/main" id="{C6953FA1-8653-2010-F17C-64622806C29A}"/>
                </a:ext>
              </a:extLst>
            </p:cNvPr>
            <p:cNvPicPr>
              <a:picLocks noChangeAspect="1"/>
            </p:cNvPicPr>
            <p:nvPr/>
          </p:nvPicPr>
          <p:blipFill>
            <a:blip r:embed="rId5"/>
            <a:srcRect/>
            <a:stretch/>
          </p:blipFill>
          <p:spPr>
            <a:xfrm>
              <a:off x="5861349" y="619679"/>
              <a:ext cx="263236" cy="389576"/>
            </a:xfrm>
            <a:prstGeom prst="rect">
              <a:avLst/>
            </a:prstGeom>
          </p:spPr>
        </p:pic>
      </p:grpSp>
      <p:sp>
        <p:nvSpPr>
          <p:cNvPr id="42" name="Rectangle 1">
            <a:extLst>
              <a:ext uri="{FF2B5EF4-FFF2-40B4-BE49-F238E27FC236}">
                <a16:creationId xmlns:a16="http://schemas.microsoft.com/office/drawing/2014/main" id="{08A5CB27-2617-8461-9B86-91936A00E426}"/>
              </a:ext>
            </a:extLst>
          </p:cNvPr>
          <p:cNvSpPr>
            <a:spLocks noChangeArrowheads="1"/>
          </p:cNvSpPr>
          <p:nvPr/>
        </p:nvSpPr>
        <p:spPr bwMode="auto">
          <a:xfrm>
            <a:off x="400355" y="5492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chemeClr val="tx1"/>
                </a:solidFill>
                <a:effectLst/>
                <a:latin typeface="Arial" panose="020B0604020202020204" pitchFamily="34" charset="0"/>
                <a:hlinkClick r:id="rId10"/>
              </a:rPr>
              <a:t>PowerAutoamte45 アンケート – フォーム​に記入する</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5" name="Text 2">
            <a:extLst>
              <a:ext uri="{FF2B5EF4-FFF2-40B4-BE49-F238E27FC236}">
                <a16:creationId xmlns:a16="http://schemas.microsoft.com/office/drawing/2014/main" id="{59D5E270-E6AD-E457-0DD1-D6D69BCDC2F3}"/>
              </a:ext>
            </a:extLst>
          </p:cNvPr>
          <p:cNvSpPr txBox="1"/>
          <p:nvPr/>
        </p:nvSpPr>
        <p:spPr>
          <a:xfrm>
            <a:off x="489102" y="4817454"/>
            <a:ext cx="4028469" cy="466431"/>
          </a:xfrm>
          <a:prstGeom prst="rect">
            <a:avLst/>
          </a:prstGeom>
          <a:noFill/>
          <a:ln/>
        </p:spPr>
        <p:txBody>
          <a:bodyPr wrap="square" lIns="0" tIns="0" rIns="0" bIns="0" rtlCol="0" anchor="ctr"/>
          <a:lstStyle/>
          <a:p>
            <a:pPr marL="0" indent="0" algn="l">
              <a:buNone/>
            </a:pPr>
            <a:r>
              <a:rPr lang="ja-JP" altLang="en-US"/>
              <a:t>チャット欄に</a:t>
            </a:r>
            <a:r>
              <a:rPr lang="en-US" altLang="ja-JP"/>
              <a:t>URL</a:t>
            </a:r>
            <a:r>
              <a:rPr lang="ja-JP" altLang="en-US"/>
              <a:t>を貼り付けます</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1643</TotalTime>
  <Words>6669</Words>
  <Application>Microsoft Office PowerPoint</Application>
  <PresentationFormat>ワイド画面</PresentationFormat>
  <Paragraphs>863</Paragraphs>
  <Slides>16</Slides>
  <Notes>16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BIZ UDGothic</vt:lpstr>
      <vt:lpstr>Noto Sans JP</vt:lpstr>
      <vt:lpstr>ui-monospace</vt:lpstr>
      <vt:lpstr>Arial</vt:lpstr>
      <vt:lpstr>Consolas</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Isamu</cp:lastModifiedBy>
  <cp:revision>14</cp:revision>
  <dcterms:created xsi:type="dcterms:W3CDTF">2026-03-02T01:22:39Z</dcterms:created>
  <dcterms:modified xsi:type="dcterms:W3CDTF">2026-03-05T07:11:52Z</dcterms:modified>
</cp:coreProperties>
</file>