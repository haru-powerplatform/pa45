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5358B6EA-4D05-4311-F26A-CEE3574C99CE}"/>
              </a:ext>
            </a:extLst>
          </p:cNvPr>
          <p:cNvSpPr/>
          <p:nvPr/>
        </p:nvSpPr>
        <p:spPr>
          <a:xfrm>
            <a:off x="6458994" y="2602014"/>
            <a:ext cx="5054622" cy="724485"/>
          </a:xfrm>
          <a:prstGeom prst="round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4D7348E-2AC9-BDBE-58DD-CC40ED6BCFA7}"/>
              </a:ext>
            </a:extLst>
          </p:cNvPr>
          <p:cNvCxnSpPr>
            <a:cxnSpLocks/>
          </p:cNvCxnSpPr>
          <p:nvPr/>
        </p:nvCxnSpPr>
        <p:spPr>
          <a:xfrm flipH="1">
            <a:off x="5991383" y="1514739"/>
            <a:ext cx="16258" cy="341177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8D6378-6AE0-3DED-D321-FB1EAF625695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３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en-US" altLang="ja-JP" sz="3600" b="1" u="sng" err="1">
                <a:solidFill>
                  <a:schemeClr val="tx1">
                    <a:lumMod val="65000"/>
                    <a:lumOff val="35000"/>
                  </a:schemeClr>
                </a:solidFill>
              </a:rPr>
              <a:t>PowerAutomate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変数の命名は</a:t>
            </a:r>
            <a:r>
              <a:rPr lang="ja-JP" altLang="en-US" sz="3600" b="1" u="sng">
                <a:solidFill>
                  <a:srgbClr val="C00000"/>
                </a:solidFill>
              </a:rPr>
              <a:t>３つ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決める 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2CB535B-1314-4F3B-883A-731F355D62C3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43970A6A-DFB0-4DBE-913A-F060FF470ADD}"/>
              </a:ext>
            </a:extLst>
          </p:cNvPr>
          <p:cNvSpPr/>
          <p:nvPr/>
        </p:nvSpPr>
        <p:spPr>
          <a:xfrm>
            <a:off x="5043405" y="939289"/>
            <a:ext cx="1316030" cy="569041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1BB039D4-DD09-8445-AECB-3B5A010244DA}"/>
              </a:ext>
            </a:extLst>
          </p:cNvPr>
          <p:cNvSpPr/>
          <p:nvPr/>
        </p:nvSpPr>
        <p:spPr>
          <a:xfrm rot="16200000">
            <a:off x="6881324" y="2459616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64AD11E2-8ECC-6871-BE9A-A8052C508FA4}"/>
              </a:ext>
            </a:extLst>
          </p:cNvPr>
          <p:cNvSpPr txBox="1"/>
          <p:nvPr/>
        </p:nvSpPr>
        <p:spPr>
          <a:xfrm>
            <a:off x="175599" y="887146"/>
            <a:ext cx="3227855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命名ルール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404BDF-F7AF-C3D8-CB0B-CE25124943F6}"/>
              </a:ext>
            </a:extLst>
          </p:cNvPr>
          <p:cNvSpPr txBox="1"/>
          <p:nvPr/>
        </p:nvSpPr>
        <p:spPr>
          <a:xfrm>
            <a:off x="175599" y="1713806"/>
            <a:ext cx="5788649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bg1"/>
                </a:solidFill>
                <a:effectLst>
                  <a:glow rad="165100">
                    <a:schemeClr val="tx1">
                      <a:lumMod val="95000"/>
                      <a:lumOff val="5000"/>
                      <a:alpha val="84000"/>
                    </a:schemeClr>
                  </a:glow>
                </a:effectLst>
              </a:rPr>
              <a:t>命名＝①役割＋②型＋③中身</a:t>
            </a:r>
            <a:endParaRPr lang="en-US" altLang="ja-JP" sz="3200" b="1">
              <a:solidFill>
                <a:schemeClr val="bg1"/>
              </a:solidFill>
              <a:effectLst>
                <a:glow rad="165100">
                  <a:schemeClr val="tx1">
                    <a:lumMod val="95000"/>
                    <a:lumOff val="5000"/>
                    <a:alpha val="84000"/>
                  </a:schemeClr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8CA03B-5493-F0D1-529A-08AFC38E1B2D}"/>
              </a:ext>
            </a:extLst>
          </p:cNvPr>
          <p:cNvSpPr txBox="1"/>
          <p:nvPr/>
        </p:nvSpPr>
        <p:spPr>
          <a:xfrm>
            <a:off x="6458994" y="3310512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Count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：数えるための変数！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CF6A64-3504-D371-0E3B-C0190A1EB6C5}"/>
              </a:ext>
            </a:extLst>
          </p:cNvPr>
          <p:cNvSpPr txBox="1"/>
          <p:nvPr/>
        </p:nvSpPr>
        <p:spPr>
          <a:xfrm>
            <a:off x="329064" y="3452855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②型：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Int/Bool/Text/Array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33F7C5-3BA8-4218-CCC1-F9137056CDF9}"/>
              </a:ext>
            </a:extLst>
          </p:cNvPr>
          <p:cNvSpPr txBox="1"/>
          <p:nvPr/>
        </p:nvSpPr>
        <p:spPr>
          <a:xfrm>
            <a:off x="351556" y="4169207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③中身：何のデータ？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86ECC01-6FB6-A800-9F16-FD1120B34634}"/>
              </a:ext>
            </a:extLst>
          </p:cNvPr>
          <p:cNvCxnSpPr>
            <a:cxnSpLocks/>
          </p:cNvCxnSpPr>
          <p:nvPr/>
        </p:nvCxnSpPr>
        <p:spPr>
          <a:xfrm flipH="1">
            <a:off x="414879" y="5116809"/>
            <a:ext cx="11098737" cy="0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FCF4686-88ED-97A5-C0B6-DD6A30F681EC}"/>
              </a:ext>
            </a:extLst>
          </p:cNvPr>
          <p:cNvSpPr txBox="1"/>
          <p:nvPr/>
        </p:nvSpPr>
        <p:spPr>
          <a:xfrm>
            <a:off x="6359435" y="1699933"/>
            <a:ext cx="6313313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bg1"/>
                </a:solidFill>
                <a:effectLst>
                  <a:glow rad="127000">
                    <a:schemeClr val="tx1">
                      <a:lumMod val="95000"/>
                      <a:lumOff val="5000"/>
                    </a:schemeClr>
                  </a:glow>
                </a:effectLst>
              </a:rPr>
              <a:t>Count_Int_TotalMembers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8F23E8-9522-885C-5AD1-830B8784ED4A}"/>
              </a:ext>
            </a:extLst>
          </p:cNvPr>
          <p:cNvSpPr txBox="1"/>
          <p:nvPr/>
        </p:nvSpPr>
        <p:spPr>
          <a:xfrm>
            <a:off x="6478588" y="2853966"/>
            <a:ext cx="132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①役割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1EC0651-BC17-E3CE-E6EC-8C7718074B82}"/>
              </a:ext>
            </a:extLst>
          </p:cNvPr>
          <p:cNvSpPr txBox="1"/>
          <p:nvPr/>
        </p:nvSpPr>
        <p:spPr>
          <a:xfrm>
            <a:off x="7703533" y="2853966"/>
            <a:ext cx="838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②型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374D94E5-85D7-C0FA-C18F-2166DBC5399E}"/>
              </a:ext>
            </a:extLst>
          </p:cNvPr>
          <p:cNvSpPr/>
          <p:nvPr/>
        </p:nvSpPr>
        <p:spPr>
          <a:xfrm rot="16200000">
            <a:off x="7902135" y="2445595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21A2EEB4-A70E-F751-1F69-C040C4845F8D}"/>
              </a:ext>
            </a:extLst>
          </p:cNvPr>
          <p:cNvSpPr/>
          <p:nvPr/>
        </p:nvSpPr>
        <p:spPr>
          <a:xfrm rot="16200000">
            <a:off x="9806594" y="2437908"/>
            <a:ext cx="347823" cy="284797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0000CC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BDF2770-CE72-F083-72DB-019F24EE644F}"/>
              </a:ext>
            </a:extLst>
          </p:cNvPr>
          <p:cNvSpPr txBox="1"/>
          <p:nvPr/>
        </p:nvSpPr>
        <p:spPr>
          <a:xfrm>
            <a:off x="9580629" y="2853966"/>
            <a:ext cx="1483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③中身</a:t>
            </a:r>
            <a:endParaRPr lang="en-US" altLang="ja-JP" sz="24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72948E0-5758-0D65-57A5-01ECE9272F75}"/>
              </a:ext>
            </a:extLst>
          </p:cNvPr>
          <p:cNvSpPr txBox="1"/>
          <p:nvPr/>
        </p:nvSpPr>
        <p:spPr>
          <a:xfrm>
            <a:off x="6598887" y="899830"/>
            <a:ext cx="983710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CC34612-0A4C-9E52-145A-37A59B7FEB06}"/>
              </a:ext>
            </a:extLst>
          </p:cNvPr>
          <p:cNvSpPr txBox="1"/>
          <p:nvPr/>
        </p:nvSpPr>
        <p:spPr>
          <a:xfrm>
            <a:off x="329065" y="2762989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①型：この変数は何をする？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E66F5AD-3501-E331-6708-590F9CAEA33B}"/>
              </a:ext>
            </a:extLst>
          </p:cNvPr>
          <p:cNvSpPr txBox="1"/>
          <p:nvPr/>
        </p:nvSpPr>
        <p:spPr>
          <a:xfrm>
            <a:off x="6458994" y="3875107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：整数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(Int)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型を示す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FD2495-4B60-F772-FFD0-26761C73406F}"/>
              </a:ext>
            </a:extLst>
          </p:cNvPr>
          <p:cNvSpPr txBox="1"/>
          <p:nvPr/>
        </p:nvSpPr>
        <p:spPr>
          <a:xfrm>
            <a:off x="6458994" y="4439701"/>
            <a:ext cx="540394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Total~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：メンバーの合計人数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713B063-43C2-CB82-E1EA-D9727529F7EE}"/>
              </a:ext>
            </a:extLst>
          </p:cNvPr>
          <p:cNvSpPr txBox="1"/>
          <p:nvPr/>
        </p:nvSpPr>
        <p:spPr>
          <a:xfrm>
            <a:off x="1118322" y="5910268"/>
            <a:ext cx="11450327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rgbClr val="C00000"/>
                </a:solidFill>
              </a:rPr>
              <a:t>メンバー数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altLang="ja-JP" sz="24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TotalMembers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</a:t>
            </a:r>
            <a:r>
              <a:rPr lang="ja-JP" altLang="en-US" sz="3200" b="1">
                <a:solidFill>
                  <a:srgbClr val="C00000"/>
                </a:solidFill>
              </a:rPr>
              <a:t>数える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(count)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ための</a:t>
            </a:r>
            <a:r>
              <a:rPr lang="ja-JP" altLang="en-US" sz="3200" b="1">
                <a:solidFill>
                  <a:srgbClr val="C00000"/>
                </a:solidFill>
              </a:rPr>
              <a:t>整数型</a:t>
            </a:r>
            <a:r>
              <a:rPr lang="en-US" altLang="ja-JP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(Int)</a:t>
            </a: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の変数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B97C8F1-687E-8163-BE8D-00A3129282AB}"/>
              </a:ext>
            </a:extLst>
          </p:cNvPr>
          <p:cNvSpPr txBox="1"/>
          <p:nvPr/>
        </p:nvSpPr>
        <p:spPr>
          <a:xfrm>
            <a:off x="1065349" y="5332967"/>
            <a:ext cx="10335622" cy="630942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この</a:t>
            </a:r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例</a:t>
            </a:r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の変数を読み上げると</a:t>
            </a:r>
            <a:endParaRPr lang="en-US" altLang="ja-JP" sz="28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0" name="図 49" descr="おもちゃ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06693C9-EB87-D09B-C56E-0E2805A11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91193"/>
            <a:ext cx="1128276" cy="1401585"/>
          </a:xfrm>
          <a:prstGeom prst="rect">
            <a:avLst/>
          </a:prstGeom>
        </p:spPr>
      </p:pic>
      <p:pic>
        <p:nvPicPr>
          <p:cNvPr id="52" name="図 51" descr="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FEE098-B131-4364-7599-8953508B5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69" y="572898"/>
            <a:ext cx="1533111" cy="1395131"/>
          </a:xfrm>
          <a:prstGeom prst="rect">
            <a:avLst/>
          </a:prstGeom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F52E278-D250-BA96-60E1-9C6B4947FF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464" y="-70203"/>
            <a:ext cx="1096107" cy="1096107"/>
          </a:xfrm>
          <a:prstGeom prst="rect">
            <a:avLst/>
          </a:prstGeom>
        </p:spPr>
      </p:pic>
      <p:pic>
        <p:nvPicPr>
          <p:cNvPr id="55" name="図 54" descr="文字が書かれた看板&#10;&#10;AI 生成コンテンツは誤りを含む可能性があります。">
            <a:extLst>
              <a:ext uri="{FF2B5EF4-FFF2-40B4-BE49-F238E27FC236}">
                <a16:creationId xmlns:a16="http://schemas.microsoft.com/office/drawing/2014/main" id="{C0664F80-3AE1-F2D0-094A-857B64623E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509" y="657652"/>
            <a:ext cx="1101841" cy="1241511"/>
          </a:xfrm>
          <a:prstGeom prst="rect">
            <a:avLst/>
          </a:prstGeom>
        </p:spPr>
      </p:pic>
      <p:sp>
        <p:nvSpPr>
          <p:cNvPr id="56" name="矢印: 右 55">
            <a:extLst>
              <a:ext uri="{FF2B5EF4-FFF2-40B4-BE49-F238E27FC236}">
                <a16:creationId xmlns:a16="http://schemas.microsoft.com/office/drawing/2014/main" id="{0C90503D-E614-E13F-74D1-BBAD9013A30B}"/>
              </a:ext>
            </a:extLst>
          </p:cNvPr>
          <p:cNvSpPr/>
          <p:nvPr/>
        </p:nvSpPr>
        <p:spPr>
          <a:xfrm rot="7723050">
            <a:off x="8954790" y="5146696"/>
            <a:ext cx="787522" cy="46482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