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Shape 1">
            <a:extLst>
              <a:ext uri="{FF2B5EF4-FFF2-40B4-BE49-F238E27FC236}">
                <a16:creationId xmlns:a16="http://schemas.microsoft.com/office/drawing/2014/main" id="{F749C517-8FA8-2A2C-F093-2ED5B2B4208A}"/>
              </a:ext>
            </a:extLst>
          </p:cNvPr>
          <p:cNvSpPr/>
          <p:nvPr/>
        </p:nvSpPr>
        <p:spPr>
          <a:xfrm>
            <a:off x="-47718" y="-21511"/>
            <a:ext cx="12239718" cy="684092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1"/>
          <p:cNvSpPr/>
          <p:nvPr/>
        </p:nvSpPr>
        <p:spPr>
          <a:xfrm>
            <a:off x="304495" y="304495"/>
            <a:ext cx="504749" cy="228600"/>
          </a:xfrm>
          <a:prstGeom prst="roundRect">
            <a:avLst>
              <a:gd name="adj" fmla="val 133333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 txBox="1"/>
          <p:nvPr/>
        </p:nvSpPr>
        <p:spPr>
          <a:xfrm>
            <a:off x="1786535" y="212876"/>
            <a:ext cx="9945659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3200" b="1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PowerAutomate</a:t>
            </a:r>
            <a:r>
              <a:rPr lang="ja-JP" altLang="en-US" sz="3200" b="1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</a:t>
            </a:r>
            <a:r>
              <a:rPr lang="en-US" sz="3200" b="1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今月の最終営業日を出す</a:t>
            </a:r>
            <a:r>
              <a:rPr lang="ja-JP" altLang="en-US" sz="3200" b="1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方法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720028" y="767585"/>
            <a:ext cx="10806430" cy="31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“最終営業日を先に決める”のではなく、“月末 → 曜日で調整”が最も安定 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4495" y="993038"/>
            <a:ext cx="171907" cy="17190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23697" y="1206042"/>
            <a:ext cx="3200401" cy="1623112"/>
          </a:xfrm>
          <a:prstGeom prst="roundRect">
            <a:avLst>
              <a:gd name="adj" fmla="val 4741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ja-JP" altLang="en-US" sz="3600"/>
          </a:p>
        </p:txBody>
      </p:sp>
      <p:sp>
        <p:nvSpPr>
          <p:cNvPr id="12" name="Shape 8"/>
          <p:cNvSpPr/>
          <p:nvPr/>
        </p:nvSpPr>
        <p:spPr>
          <a:xfrm>
            <a:off x="304495" y="1218895"/>
            <a:ext cx="38405" cy="1714500"/>
          </a:xfrm>
          <a:prstGeom prst="roundRect">
            <a:avLst>
              <a:gd name="adj" fmla="val 211639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3600"/>
          </a:p>
        </p:txBody>
      </p:sp>
      <p:sp>
        <p:nvSpPr>
          <p:cNvPr id="13" name="Text 9"/>
          <p:cNvSpPr txBox="1"/>
          <p:nvPr/>
        </p:nvSpPr>
        <p:spPr>
          <a:xfrm>
            <a:off x="718583" y="1295705"/>
            <a:ext cx="249539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よくある誤解 </a:t>
            </a:r>
            <a:endParaRPr lang="en-US" sz="24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2633" y="1293453"/>
            <a:ext cx="282042" cy="2820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11505" y="1795389"/>
            <a:ext cx="28959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8717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</a:t>
            </a:r>
            <a:r>
              <a:rPr lang="en-US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毎月の月末(30/31/28)が違うから式が作れない </a:t>
            </a:r>
            <a:endParaRPr lang="en-US" b="1" dirty="0"/>
          </a:p>
        </p:txBody>
      </p:sp>
      <p:sp>
        <p:nvSpPr>
          <p:cNvPr id="17" name="Text 12"/>
          <p:cNvSpPr txBox="1"/>
          <p:nvPr/>
        </p:nvSpPr>
        <p:spPr>
          <a:xfrm>
            <a:off x="247802" y="2539581"/>
            <a:ext cx="3111073" cy="19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毎月ズレる不安定ロジック</a:t>
            </a:r>
            <a:endParaRPr lang="en-US" dirty="0"/>
          </a:p>
        </p:txBody>
      </p:sp>
      <p:sp>
        <p:nvSpPr>
          <p:cNvPr id="18" name="Shape 13"/>
          <p:cNvSpPr/>
          <p:nvPr/>
        </p:nvSpPr>
        <p:spPr>
          <a:xfrm>
            <a:off x="296943" y="2958606"/>
            <a:ext cx="3349878" cy="2099536"/>
          </a:xfrm>
          <a:prstGeom prst="roundRect">
            <a:avLst>
              <a:gd name="adj" fmla="val 3418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 sz="3600"/>
          </a:p>
        </p:txBody>
      </p:sp>
      <p:sp>
        <p:nvSpPr>
          <p:cNvPr id="20" name="Text 15"/>
          <p:cNvSpPr txBox="1"/>
          <p:nvPr/>
        </p:nvSpPr>
        <p:spPr>
          <a:xfrm>
            <a:off x="655176" y="3085706"/>
            <a:ext cx="25338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4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おススメ</a:t>
            </a:r>
            <a:r>
              <a:rPr lang="en-US" sz="24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発想 </a:t>
            </a:r>
            <a:endParaRPr lang="en-US" sz="24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rcRect l="-1773" r="-1773"/>
          <a:stretch/>
        </p:blipFill>
        <p:spPr>
          <a:xfrm>
            <a:off x="372511" y="3056904"/>
            <a:ext cx="192678" cy="30495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05427" y="3493021"/>
            <a:ext cx="26554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1</a:t>
            </a:r>
            <a:endParaRPr lang="en-US" dirty="0"/>
          </a:p>
        </p:txBody>
      </p:sp>
      <p:sp>
        <p:nvSpPr>
          <p:cNvPr id="23" name="Text 17"/>
          <p:cNvSpPr txBox="1"/>
          <p:nvPr/>
        </p:nvSpPr>
        <p:spPr>
          <a:xfrm>
            <a:off x="1287933" y="3473818"/>
            <a:ext cx="27432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まず“今月末”を出す</a:t>
            </a:r>
            <a:endParaRPr lang="en-US" sz="2000" dirty="0"/>
          </a:p>
        </p:txBody>
      </p:sp>
      <p:sp>
        <p:nvSpPr>
          <p:cNvPr id="24" name="Text 18"/>
          <p:cNvSpPr txBox="1"/>
          <p:nvPr/>
        </p:nvSpPr>
        <p:spPr>
          <a:xfrm>
            <a:off x="382896" y="3878974"/>
            <a:ext cx="26554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2</a:t>
            </a:r>
            <a:endParaRPr lang="en-US" dirty="0"/>
          </a:p>
        </p:txBody>
      </p:sp>
      <p:sp>
        <p:nvSpPr>
          <p:cNvPr id="25" name="Text 19"/>
          <p:cNvSpPr txBox="1"/>
          <p:nvPr/>
        </p:nvSpPr>
        <p:spPr>
          <a:xfrm>
            <a:off x="1315262" y="3855797"/>
            <a:ext cx="27432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曜日を見て調整</a:t>
            </a:r>
            <a:endParaRPr lang="en-US" sz="2000" dirty="0"/>
          </a:p>
        </p:txBody>
      </p:sp>
      <p:grpSp>
        <p:nvGrpSpPr>
          <p:cNvPr id="110" name="グループ化 109">
            <a:extLst>
              <a:ext uri="{FF2B5EF4-FFF2-40B4-BE49-F238E27FC236}">
                <a16:creationId xmlns:a16="http://schemas.microsoft.com/office/drawing/2014/main" id="{AE077684-9A8A-C823-8F77-6245CA66614B}"/>
              </a:ext>
            </a:extLst>
          </p:cNvPr>
          <p:cNvGrpSpPr/>
          <p:nvPr/>
        </p:nvGrpSpPr>
        <p:grpSpPr>
          <a:xfrm>
            <a:off x="359627" y="4245725"/>
            <a:ext cx="2665103" cy="763664"/>
            <a:chOff x="405427" y="4489310"/>
            <a:chExt cx="2665103" cy="763664"/>
          </a:xfrm>
        </p:grpSpPr>
        <p:sp>
          <p:nvSpPr>
            <p:cNvPr id="26" name="Shape 20"/>
            <p:cNvSpPr/>
            <p:nvPr/>
          </p:nvSpPr>
          <p:spPr>
            <a:xfrm flipH="1">
              <a:off x="405427" y="4489310"/>
              <a:ext cx="82626" cy="609905"/>
            </a:xfrm>
            <a:prstGeom prst="rect">
              <a:avLst/>
            </a:prstGeom>
            <a:solidFill>
              <a:srgbClr val="BFDBFE"/>
            </a:solidFill>
            <a:ln w="12700">
              <a:solidFill>
                <a:srgbClr val="BFDBF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 sz="4400"/>
            </a:p>
          </p:txBody>
        </p:sp>
        <p:sp>
          <p:nvSpPr>
            <p:cNvPr id="27" name="Text 21"/>
            <p:cNvSpPr txBox="1"/>
            <p:nvPr/>
          </p:nvSpPr>
          <p:spPr>
            <a:xfrm>
              <a:off x="637629" y="4508361"/>
              <a:ext cx="1057047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土曜</a:t>
              </a:r>
              <a:endParaRPr lang="en-US" b="1" dirty="0"/>
            </a:p>
          </p:txBody>
        </p:sp>
        <p:sp>
          <p:nvSpPr>
            <p:cNvPr id="28" name="Text 22"/>
            <p:cNvSpPr txBox="1"/>
            <p:nvPr/>
          </p:nvSpPr>
          <p:spPr>
            <a:xfrm>
              <a:off x="1933464" y="4489312"/>
              <a:ext cx="814731" cy="941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-1日</a:t>
              </a:r>
              <a:endParaRPr lang="en-US" dirty="0"/>
            </a:p>
          </p:txBody>
        </p:sp>
        <p:sp>
          <p:nvSpPr>
            <p:cNvPr id="29" name="Text 23"/>
            <p:cNvSpPr txBox="1"/>
            <p:nvPr/>
          </p:nvSpPr>
          <p:spPr>
            <a:xfrm>
              <a:off x="621555" y="4739806"/>
              <a:ext cx="1562709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日曜</a:t>
              </a:r>
              <a:endParaRPr lang="en-US" b="1" dirty="0"/>
            </a:p>
          </p:txBody>
        </p:sp>
        <p:sp>
          <p:nvSpPr>
            <p:cNvPr id="30" name="Text 24"/>
            <p:cNvSpPr txBox="1"/>
            <p:nvPr/>
          </p:nvSpPr>
          <p:spPr>
            <a:xfrm>
              <a:off x="1937030" y="5061864"/>
              <a:ext cx="113350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-2日</a:t>
              </a:r>
              <a:endParaRPr lang="en-US" dirty="0"/>
            </a:p>
          </p:txBody>
        </p:sp>
        <p:sp>
          <p:nvSpPr>
            <p:cNvPr id="31" name="Text 25"/>
            <p:cNvSpPr txBox="1"/>
            <p:nvPr/>
          </p:nvSpPr>
          <p:spPr>
            <a:xfrm>
              <a:off x="605299" y="5035462"/>
              <a:ext cx="1195833" cy="1152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平日</a:t>
              </a:r>
              <a:endParaRPr lang="en-US" b="1" dirty="0"/>
            </a:p>
          </p:txBody>
        </p:sp>
        <p:sp>
          <p:nvSpPr>
            <p:cNvPr id="32" name="Text 26"/>
            <p:cNvSpPr txBox="1"/>
            <p:nvPr/>
          </p:nvSpPr>
          <p:spPr>
            <a:xfrm>
              <a:off x="1696661" y="4748532"/>
              <a:ext cx="949858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そのまま</a:t>
              </a:r>
              <a:endParaRPr lang="en-US" dirty="0"/>
            </a:p>
          </p:txBody>
        </p:sp>
      </p:grpSp>
      <p:sp>
        <p:nvSpPr>
          <p:cNvPr id="53" name="Shape 37"/>
          <p:cNvSpPr/>
          <p:nvPr/>
        </p:nvSpPr>
        <p:spPr>
          <a:xfrm>
            <a:off x="8483803" y="1218895"/>
            <a:ext cx="3460395" cy="1457554"/>
          </a:xfrm>
          <a:prstGeom prst="roundRect">
            <a:avLst>
              <a:gd name="adj" fmla="val 6561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3600"/>
          </a:p>
        </p:txBody>
      </p:sp>
      <p:sp>
        <p:nvSpPr>
          <p:cNvPr id="54" name="Shape 38"/>
          <p:cNvSpPr/>
          <p:nvPr/>
        </p:nvSpPr>
        <p:spPr>
          <a:xfrm>
            <a:off x="8635594" y="1677010"/>
            <a:ext cx="25904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3600"/>
          </a:p>
        </p:txBody>
      </p:sp>
      <p:sp>
        <p:nvSpPr>
          <p:cNvPr id="55" name="Text 39"/>
          <p:cNvSpPr txBox="1"/>
          <p:nvPr/>
        </p:nvSpPr>
        <p:spPr>
          <a:xfrm>
            <a:off x="8864194" y="1352295"/>
            <a:ext cx="2438705" cy="2295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使えるシーン </a:t>
            </a:r>
            <a:endParaRPr lang="en-US" sz="2400" dirty="0"/>
          </a:p>
        </p:txBody>
      </p:sp>
      <p:pic>
        <p:nvPicPr>
          <p:cNvPr id="56" name="Image 1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553754" y="1328165"/>
            <a:ext cx="234545" cy="234545"/>
          </a:xfrm>
          <a:prstGeom prst="rect">
            <a:avLst/>
          </a:prstGeom>
        </p:spPr>
      </p:pic>
      <p:sp>
        <p:nvSpPr>
          <p:cNvPr id="57" name="Text 40"/>
          <p:cNvSpPr txBox="1"/>
          <p:nvPr/>
        </p:nvSpPr>
        <p:spPr>
          <a:xfrm>
            <a:off x="8825788" y="1717786"/>
            <a:ext cx="30540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請求書の最終営業日送信</a:t>
            </a:r>
            <a:endParaRPr lang="en-US" b="1" dirty="0"/>
          </a:p>
        </p:txBody>
      </p:sp>
      <p:pic>
        <p:nvPicPr>
          <p:cNvPr id="58" name="Image 15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8583903" y="1746996"/>
            <a:ext cx="155398" cy="206645"/>
          </a:xfrm>
          <a:prstGeom prst="rect">
            <a:avLst/>
          </a:prstGeom>
        </p:spPr>
      </p:pic>
      <p:sp>
        <p:nvSpPr>
          <p:cNvPr id="59" name="Text 41"/>
          <p:cNvSpPr txBox="1"/>
          <p:nvPr/>
        </p:nvSpPr>
        <p:spPr>
          <a:xfrm>
            <a:off x="8869708" y="2094551"/>
            <a:ext cx="26005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月末締めレポート通知</a:t>
            </a:r>
            <a:endParaRPr lang="en-US" b="1" dirty="0"/>
          </a:p>
        </p:txBody>
      </p:sp>
      <p:pic>
        <p:nvPicPr>
          <p:cNvPr id="60" name="Image 16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8553755" y="2071981"/>
            <a:ext cx="202084" cy="219657"/>
          </a:xfrm>
          <a:prstGeom prst="rect">
            <a:avLst/>
          </a:prstGeom>
        </p:spPr>
      </p:pic>
      <p:sp>
        <p:nvSpPr>
          <p:cNvPr id="61" name="Text 42"/>
          <p:cNvSpPr txBox="1"/>
          <p:nvPr/>
        </p:nvSpPr>
        <p:spPr>
          <a:xfrm>
            <a:off x="8825788" y="2333548"/>
            <a:ext cx="3118409" cy="379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SPO「締め日」列の自動入力</a:t>
            </a:r>
            <a:endParaRPr lang="en-US" b="1" dirty="0"/>
          </a:p>
        </p:txBody>
      </p:sp>
      <p:pic>
        <p:nvPicPr>
          <p:cNvPr id="62" name="Image 1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553754" y="2371954"/>
            <a:ext cx="196140" cy="196140"/>
          </a:xfrm>
          <a:prstGeom prst="rect">
            <a:avLst/>
          </a:prstGeom>
        </p:spPr>
      </p:pic>
      <p:sp>
        <p:nvSpPr>
          <p:cNvPr id="63" name="Shape 43"/>
          <p:cNvSpPr/>
          <p:nvPr/>
        </p:nvSpPr>
        <p:spPr>
          <a:xfrm>
            <a:off x="8430254" y="2873565"/>
            <a:ext cx="3609346" cy="2010817"/>
          </a:xfrm>
          <a:prstGeom prst="roundRect">
            <a:avLst>
              <a:gd name="adj" fmla="val 2031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3600"/>
          </a:p>
        </p:txBody>
      </p:sp>
      <p:sp>
        <p:nvSpPr>
          <p:cNvPr id="64" name="Shape 44"/>
          <p:cNvSpPr/>
          <p:nvPr/>
        </p:nvSpPr>
        <p:spPr>
          <a:xfrm>
            <a:off x="8635594" y="3286354"/>
            <a:ext cx="2590495" cy="9144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3600"/>
          </a:p>
        </p:txBody>
      </p:sp>
      <p:sp>
        <p:nvSpPr>
          <p:cNvPr id="65" name="Text 45"/>
          <p:cNvSpPr txBox="1"/>
          <p:nvPr/>
        </p:nvSpPr>
        <p:spPr>
          <a:xfrm>
            <a:off x="8864194" y="2980944"/>
            <a:ext cx="2438705" cy="2295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6A3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メリット </a:t>
            </a:r>
            <a:endParaRPr lang="en-US" sz="2400" dirty="0"/>
          </a:p>
        </p:txBody>
      </p:sp>
      <p:pic>
        <p:nvPicPr>
          <p:cNvPr id="66" name="Image 1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566150" y="3019349"/>
            <a:ext cx="222149" cy="222149"/>
          </a:xfrm>
          <a:prstGeom prst="rect">
            <a:avLst/>
          </a:prstGeom>
        </p:spPr>
      </p:pic>
      <p:sp>
        <p:nvSpPr>
          <p:cNvPr id="67" name="Text 46"/>
          <p:cNvSpPr txBox="1"/>
          <p:nvPr/>
        </p:nvSpPr>
        <p:spPr>
          <a:xfrm>
            <a:off x="8743872" y="3396562"/>
            <a:ext cx="3433226" cy="2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月末の日数(28-31)に依存しない </a:t>
            </a:r>
            <a:endParaRPr lang="en-US" b="1" dirty="0"/>
          </a:p>
        </p:txBody>
      </p:sp>
      <p:sp>
        <p:nvSpPr>
          <p:cNvPr id="69" name="Text 47"/>
          <p:cNvSpPr txBox="1"/>
          <p:nvPr/>
        </p:nvSpPr>
        <p:spPr>
          <a:xfrm>
            <a:off x="8846729" y="3890900"/>
            <a:ext cx="25914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土日補正が自動で効く </a:t>
            </a:r>
            <a:endParaRPr lang="en-US" b="1" dirty="0"/>
          </a:p>
        </p:txBody>
      </p:sp>
      <p:sp>
        <p:nvSpPr>
          <p:cNvPr id="71" name="Text 48"/>
          <p:cNvSpPr txBox="1"/>
          <p:nvPr/>
        </p:nvSpPr>
        <p:spPr>
          <a:xfrm>
            <a:off x="8834772" y="4352451"/>
            <a:ext cx="3045113" cy="217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業務カレンダーのズレ防止 </a:t>
            </a:r>
            <a:endParaRPr lang="en-US" b="1" dirty="0"/>
          </a:p>
        </p:txBody>
      </p:sp>
      <p:pic>
        <p:nvPicPr>
          <p:cNvPr id="72" name="Image 21" descr="preencoded.png"/>
          <p:cNvPicPr>
            <a:picLocks noChangeAspect="1"/>
          </p:cNvPicPr>
          <p:nvPr/>
        </p:nvPicPr>
        <p:blipFill>
          <a:blip r:embed="rId11"/>
          <a:srcRect t="-1100" b="-1100"/>
          <a:stretch/>
        </p:blipFill>
        <p:spPr>
          <a:xfrm>
            <a:off x="8538903" y="3387282"/>
            <a:ext cx="249396" cy="291294"/>
          </a:xfrm>
          <a:prstGeom prst="rect">
            <a:avLst/>
          </a:prstGeom>
        </p:spPr>
      </p:pic>
      <p:sp>
        <p:nvSpPr>
          <p:cNvPr id="73" name="Shape 49"/>
          <p:cNvSpPr/>
          <p:nvPr/>
        </p:nvSpPr>
        <p:spPr>
          <a:xfrm>
            <a:off x="285445" y="5160356"/>
            <a:ext cx="11582705" cy="1782028"/>
          </a:xfrm>
          <a:prstGeom prst="roundRect">
            <a:avLst>
              <a:gd name="adj" fmla="val 7407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3600"/>
          </a:p>
        </p:txBody>
      </p:sp>
      <p:sp>
        <p:nvSpPr>
          <p:cNvPr id="74" name="Shape 50"/>
          <p:cNvSpPr/>
          <p:nvPr/>
        </p:nvSpPr>
        <p:spPr>
          <a:xfrm>
            <a:off x="5664671" y="5727081"/>
            <a:ext cx="9144" cy="106710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3600"/>
          </a:p>
        </p:txBody>
      </p:sp>
      <p:sp>
        <p:nvSpPr>
          <p:cNvPr id="76" name="Shape 52"/>
          <p:cNvSpPr/>
          <p:nvPr/>
        </p:nvSpPr>
        <p:spPr>
          <a:xfrm>
            <a:off x="372511" y="5262611"/>
            <a:ext cx="2671407" cy="268479"/>
          </a:xfrm>
          <a:prstGeom prst="roundRect">
            <a:avLst>
              <a:gd name="adj" fmla="val 265869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3600"/>
          </a:p>
        </p:txBody>
      </p:sp>
      <p:grpSp>
        <p:nvGrpSpPr>
          <p:cNvPr id="106" name="グループ化 105">
            <a:extLst>
              <a:ext uri="{FF2B5EF4-FFF2-40B4-BE49-F238E27FC236}">
                <a16:creationId xmlns:a16="http://schemas.microsoft.com/office/drawing/2014/main" id="{DC72184B-123C-5DB0-B84C-D2765A68AF0B}"/>
              </a:ext>
            </a:extLst>
          </p:cNvPr>
          <p:cNvGrpSpPr/>
          <p:nvPr/>
        </p:nvGrpSpPr>
        <p:grpSpPr>
          <a:xfrm>
            <a:off x="476402" y="5622707"/>
            <a:ext cx="5410505" cy="1029641"/>
            <a:chOff x="457200" y="5982005"/>
            <a:chExt cx="5410505" cy="869594"/>
          </a:xfrm>
        </p:grpSpPr>
        <p:sp>
          <p:nvSpPr>
            <p:cNvPr id="78" name="Text 54"/>
            <p:cNvSpPr txBox="1"/>
            <p:nvPr/>
          </p:nvSpPr>
          <p:spPr>
            <a:xfrm>
              <a:off x="457200" y="5982005"/>
              <a:ext cx="5410505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BFDBF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addDays(</a:t>
              </a:r>
              <a:endParaRPr lang="en-US" sz="1600" dirty="0"/>
            </a:p>
          </p:txBody>
        </p:sp>
        <p:sp>
          <p:nvSpPr>
            <p:cNvPr id="79" name="Text 55"/>
            <p:cNvSpPr txBox="1"/>
            <p:nvPr/>
          </p:nvSpPr>
          <p:spPr>
            <a:xfrm>
              <a:off x="457200" y="6198718"/>
              <a:ext cx="5410505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BFDBF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startOfMonth( </a:t>
              </a:r>
              <a:r>
                <a:rPr lang="en-US" sz="1600" dirty="0">
                  <a:solidFill>
                    <a:srgbClr val="FCD34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addMonths(utcNow(), 1)</a:t>
              </a:r>
              <a:r>
                <a:rPr lang="en-US" sz="1600" dirty="0">
                  <a:solidFill>
                    <a:srgbClr val="BFDBF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),</a:t>
              </a:r>
              <a:endParaRPr lang="en-US" sz="1600" dirty="0"/>
            </a:p>
          </p:txBody>
        </p:sp>
        <p:sp>
          <p:nvSpPr>
            <p:cNvPr id="80" name="Text 56"/>
            <p:cNvSpPr txBox="1"/>
            <p:nvPr/>
          </p:nvSpPr>
          <p:spPr>
            <a:xfrm>
              <a:off x="457200" y="6415430"/>
              <a:ext cx="5410505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F9A8D4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-1</a:t>
              </a:r>
              <a:endParaRPr lang="en-US" sz="1600" dirty="0"/>
            </a:p>
          </p:txBody>
        </p:sp>
        <p:sp>
          <p:nvSpPr>
            <p:cNvPr id="81" name="Text 57"/>
            <p:cNvSpPr txBox="1"/>
            <p:nvPr/>
          </p:nvSpPr>
          <p:spPr>
            <a:xfrm>
              <a:off x="457200" y="6632143"/>
              <a:ext cx="5410505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BFDBF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</a:t>
              </a:r>
              <a:endParaRPr lang="en-US" sz="1600" dirty="0"/>
            </a:p>
          </p:txBody>
        </p:sp>
      </p:grpSp>
      <p:grpSp>
        <p:nvGrpSpPr>
          <p:cNvPr id="107" name="グループ化 106">
            <a:extLst>
              <a:ext uri="{FF2B5EF4-FFF2-40B4-BE49-F238E27FC236}">
                <a16:creationId xmlns:a16="http://schemas.microsoft.com/office/drawing/2014/main" id="{0F34B236-D7E8-3C7D-9BD5-6469260169E1}"/>
              </a:ext>
            </a:extLst>
          </p:cNvPr>
          <p:cNvGrpSpPr/>
          <p:nvPr/>
        </p:nvGrpSpPr>
        <p:grpSpPr>
          <a:xfrm>
            <a:off x="6306972" y="5591040"/>
            <a:ext cx="5563210" cy="1344499"/>
            <a:chOff x="6288329" y="5959948"/>
            <a:chExt cx="5563210" cy="933615"/>
          </a:xfrm>
        </p:grpSpPr>
        <p:sp>
          <p:nvSpPr>
            <p:cNvPr id="85" name="Text 61"/>
            <p:cNvSpPr txBox="1"/>
            <p:nvPr/>
          </p:nvSpPr>
          <p:spPr>
            <a:xfrm>
              <a:off x="6288329" y="5959948"/>
              <a:ext cx="556321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C4B5F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if</a:t>
              </a:r>
              <a:r>
                <a:rPr lang="en-US" dirty="0">
                  <a:solidFill>
                    <a:srgbClr val="D1D5D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(weekday == </a:t>
              </a:r>
              <a:r>
                <a:rPr lang="en-US" dirty="0">
                  <a:solidFill>
                    <a:srgbClr val="6EE7B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6</a:t>
              </a:r>
              <a:r>
                <a:rPr lang="en-US" dirty="0">
                  <a:solidFill>
                    <a:srgbClr val="D1D5D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 </a:t>
              </a:r>
              <a:r>
                <a:rPr lang="en-US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// 土曜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86" name="Text 62"/>
            <p:cNvSpPr txBox="1"/>
            <p:nvPr/>
          </p:nvSpPr>
          <p:spPr>
            <a:xfrm>
              <a:off x="6288329" y="6145571"/>
              <a:ext cx="556321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D1D5D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→ addDays(今月末, </a:t>
              </a:r>
              <a:r>
                <a:rPr lang="en-US" dirty="0">
                  <a:solidFill>
                    <a:srgbClr val="F9A8D4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-1</a:t>
              </a:r>
              <a:r>
                <a:rPr lang="en-US" dirty="0">
                  <a:solidFill>
                    <a:srgbClr val="D1D5D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</a:t>
              </a:r>
              <a:endParaRPr lang="en-US" dirty="0"/>
            </a:p>
          </p:txBody>
        </p:sp>
        <p:sp>
          <p:nvSpPr>
            <p:cNvPr id="87" name="Text 63"/>
            <p:cNvSpPr txBox="1"/>
            <p:nvPr/>
          </p:nvSpPr>
          <p:spPr>
            <a:xfrm>
              <a:off x="6288329" y="6331195"/>
              <a:ext cx="556321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C4B5F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else if</a:t>
              </a:r>
              <a:r>
                <a:rPr lang="en-US" dirty="0">
                  <a:solidFill>
                    <a:srgbClr val="D1D5D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(weekday == </a:t>
              </a:r>
              <a:r>
                <a:rPr lang="en-US" dirty="0">
                  <a:solidFill>
                    <a:srgbClr val="6EE7B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</a:t>
              </a:r>
              <a:r>
                <a:rPr lang="en-US" dirty="0">
                  <a:solidFill>
                    <a:srgbClr val="D1D5D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 </a:t>
              </a:r>
              <a:r>
                <a:rPr lang="en-US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// 日曜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88" name="Text 64"/>
            <p:cNvSpPr txBox="1"/>
            <p:nvPr/>
          </p:nvSpPr>
          <p:spPr>
            <a:xfrm>
              <a:off x="6288329" y="6516828"/>
              <a:ext cx="556321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D1D5D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→ addDays(今月末, </a:t>
              </a:r>
              <a:r>
                <a:rPr lang="en-US" dirty="0">
                  <a:solidFill>
                    <a:srgbClr val="F9A8D4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-2</a:t>
              </a:r>
              <a:r>
                <a:rPr lang="en-US" dirty="0">
                  <a:solidFill>
                    <a:srgbClr val="D1D5D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</a:t>
              </a:r>
              <a:endParaRPr lang="en-US" dirty="0"/>
            </a:p>
          </p:txBody>
        </p:sp>
        <p:sp>
          <p:nvSpPr>
            <p:cNvPr id="89" name="Text 65"/>
            <p:cNvSpPr txBox="1"/>
            <p:nvPr/>
          </p:nvSpPr>
          <p:spPr>
            <a:xfrm>
              <a:off x="6288329" y="6702453"/>
              <a:ext cx="556321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C4B5F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else</a:t>
              </a:r>
              <a:r>
                <a:rPr lang="en-US" dirty="0">
                  <a:solidFill>
                    <a:srgbClr val="D1D5D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→ 今月末</a:t>
              </a:r>
              <a:endParaRPr lang="en-US" dirty="0"/>
            </a:p>
          </p:txBody>
        </p:sp>
      </p:grpSp>
      <p:pic>
        <p:nvPicPr>
          <p:cNvPr id="93" name="Image 2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752905" y="2787574"/>
            <a:ext cx="142646" cy="190195"/>
          </a:xfrm>
          <a:prstGeom prst="rect">
            <a:avLst/>
          </a:prstGeom>
        </p:spPr>
      </p:pic>
      <p:sp>
        <p:nvSpPr>
          <p:cNvPr id="98" name="四角形: 角を丸くする 97">
            <a:extLst>
              <a:ext uri="{FF2B5EF4-FFF2-40B4-BE49-F238E27FC236}">
                <a16:creationId xmlns:a16="http://schemas.microsoft.com/office/drawing/2014/main" id="{E0A402FE-8DF9-7DE4-DBA6-C2361A99F324}"/>
              </a:ext>
            </a:extLst>
          </p:cNvPr>
          <p:cNvSpPr/>
          <p:nvPr/>
        </p:nvSpPr>
        <p:spPr>
          <a:xfrm>
            <a:off x="44269" y="37490"/>
            <a:ext cx="12103265" cy="693481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01" name="グループ化 100">
            <a:extLst>
              <a:ext uri="{FF2B5EF4-FFF2-40B4-BE49-F238E27FC236}">
                <a16:creationId xmlns:a16="http://schemas.microsoft.com/office/drawing/2014/main" id="{DBA09E34-2BAF-0F72-E5CC-BCBDA70EFD46}"/>
              </a:ext>
            </a:extLst>
          </p:cNvPr>
          <p:cNvGrpSpPr/>
          <p:nvPr/>
        </p:nvGrpSpPr>
        <p:grpSpPr>
          <a:xfrm>
            <a:off x="188332" y="128973"/>
            <a:ext cx="1543203" cy="464514"/>
            <a:chOff x="188332" y="78173"/>
            <a:chExt cx="1543203" cy="464514"/>
          </a:xfrm>
        </p:grpSpPr>
        <p:sp>
          <p:nvSpPr>
            <p:cNvPr id="102" name="Shape 2">
              <a:extLst>
                <a:ext uri="{FF2B5EF4-FFF2-40B4-BE49-F238E27FC236}">
                  <a16:creationId xmlns:a16="http://schemas.microsoft.com/office/drawing/2014/main" id="{A5624CCF-DA5A-AF27-3B59-8D7A96E1F46A}"/>
                </a:ext>
              </a:extLst>
            </p:cNvPr>
            <p:cNvSpPr/>
            <p:nvPr/>
          </p:nvSpPr>
          <p:spPr>
            <a:xfrm>
              <a:off x="188332" y="78173"/>
              <a:ext cx="1543203" cy="464514"/>
            </a:xfrm>
            <a:prstGeom prst="roundRect">
              <a:avLst>
                <a:gd name="adj" fmla="val 266667"/>
              </a:avLst>
            </a:prstGeom>
            <a:solidFill>
              <a:srgbClr val="FFFFFF">
                <a:alpha val="2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3" name="Text 3">
              <a:extLst>
                <a:ext uri="{FF2B5EF4-FFF2-40B4-BE49-F238E27FC236}">
                  <a16:creationId xmlns:a16="http://schemas.microsoft.com/office/drawing/2014/main" id="{01D1F4D1-BFB6-B8CA-1F27-EA443F2D233E}"/>
                </a:ext>
              </a:extLst>
            </p:cNvPr>
            <p:cNvSpPr txBox="1"/>
            <p:nvPr/>
          </p:nvSpPr>
          <p:spPr>
            <a:xfrm>
              <a:off x="348708" y="184194"/>
              <a:ext cx="1317625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200" b="1" kern="0" spc="38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Vol.27</a:t>
              </a:r>
              <a:endParaRPr lang="en-US" sz="3200" dirty="0"/>
            </a:p>
          </p:txBody>
        </p:sp>
      </p:grpSp>
      <p:pic>
        <p:nvPicPr>
          <p:cNvPr id="104" name="図 103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CE204924-2A67-02ED-E9E5-D6212B58418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139" y="626006"/>
            <a:ext cx="603863" cy="6038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5" name="Text 51"/>
          <p:cNvSpPr txBox="1"/>
          <p:nvPr/>
        </p:nvSpPr>
        <p:spPr>
          <a:xfrm>
            <a:off x="462970" y="5310517"/>
            <a:ext cx="3975138" cy="219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45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1 今月末を計算 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9" name="Shape 52">
            <a:extLst>
              <a:ext uri="{FF2B5EF4-FFF2-40B4-BE49-F238E27FC236}">
                <a16:creationId xmlns:a16="http://schemas.microsoft.com/office/drawing/2014/main" id="{2B9208CA-D507-3E14-E78E-4B29906E771C}"/>
              </a:ext>
            </a:extLst>
          </p:cNvPr>
          <p:cNvSpPr/>
          <p:nvPr/>
        </p:nvSpPr>
        <p:spPr>
          <a:xfrm>
            <a:off x="6008976" y="5277250"/>
            <a:ext cx="4905545" cy="320926"/>
          </a:xfrm>
          <a:prstGeom prst="roundRect">
            <a:avLst>
              <a:gd name="adj" fmla="val 265869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3600"/>
          </a:p>
        </p:txBody>
      </p:sp>
      <p:sp>
        <p:nvSpPr>
          <p:cNvPr id="82" name="Text 58"/>
          <p:cNvSpPr txBox="1"/>
          <p:nvPr/>
        </p:nvSpPr>
        <p:spPr>
          <a:xfrm>
            <a:off x="6306972" y="5349085"/>
            <a:ext cx="4376152" cy="207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45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2 曜日判定ロジック (擬似コード) 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2" name="四角形: 上の 2 つの角を丸める 111">
            <a:extLst>
              <a:ext uri="{FF2B5EF4-FFF2-40B4-BE49-F238E27FC236}">
                <a16:creationId xmlns:a16="http://schemas.microsoft.com/office/drawing/2014/main" id="{B3915F1B-BB53-0663-298A-80227B178815}"/>
              </a:ext>
            </a:extLst>
          </p:cNvPr>
          <p:cNvSpPr/>
          <p:nvPr/>
        </p:nvSpPr>
        <p:spPr>
          <a:xfrm rot="16200000">
            <a:off x="-504662" y="1978461"/>
            <a:ext cx="1580213" cy="8692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3" name="四角形: 上の 2 つの角を丸める 112">
            <a:extLst>
              <a:ext uri="{FF2B5EF4-FFF2-40B4-BE49-F238E27FC236}">
                <a16:creationId xmlns:a16="http://schemas.microsoft.com/office/drawing/2014/main" id="{B8EC6412-4D61-42DF-F80D-CB73A653AADB}"/>
              </a:ext>
            </a:extLst>
          </p:cNvPr>
          <p:cNvSpPr/>
          <p:nvPr/>
        </p:nvSpPr>
        <p:spPr>
          <a:xfrm rot="16200000">
            <a:off x="-756282" y="3957049"/>
            <a:ext cx="2045488" cy="8692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4" name="四角形: 上の 2 つの角を丸める 113">
            <a:extLst>
              <a:ext uri="{FF2B5EF4-FFF2-40B4-BE49-F238E27FC236}">
                <a16:creationId xmlns:a16="http://schemas.microsoft.com/office/drawing/2014/main" id="{B8F35026-1E8C-BF53-33F2-E92EAD577DE7}"/>
              </a:ext>
            </a:extLst>
          </p:cNvPr>
          <p:cNvSpPr/>
          <p:nvPr/>
        </p:nvSpPr>
        <p:spPr>
          <a:xfrm rot="16200000">
            <a:off x="7739192" y="1927414"/>
            <a:ext cx="1433634" cy="8162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5" name="四角形: 上の 2 つの角を丸める 114">
            <a:extLst>
              <a:ext uri="{FF2B5EF4-FFF2-40B4-BE49-F238E27FC236}">
                <a16:creationId xmlns:a16="http://schemas.microsoft.com/office/drawing/2014/main" id="{53CBF73A-B664-8FFD-B45A-B5A8D77C390A}"/>
              </a:ext>
            </a:extLst>
          </p:cNvPr>
          <p:cNvSpPr/>
          <p:nvPr/>
        </p:nvSpPr>
        <p:spPr>
          <a:xfrm rot="16200000">
            <a:off x="7517268" y="3843714"/>
            <a:ext cx="1903947" cy="83307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7" name="Image 21" descr="preencoded.png">
            <a:extLst>
              <a:ext uri="{FF2B5EF4-FFF2-40B4-BE49-F238E27FC236}">
                <a16:creationId xmlns:a16="http://schemas.microsoft.com/office/drawing/2014/main" id="{94C5CF9A-492B-2DE4-AC52-BC2F08D9E26D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-1100" b="-1100"/>
          <a:stretch/>
        </p:blipFill>
        <p:spPr>
          <a:xfrm>
            <a:off x="8527126" y="3862727"/>
            <a:ext cx="249396" cy="291294"/>
          </a:xfrm>
          <a:prstGeom prst="rect">
            <a:avLst/>
          </a:prstGeom>
        </p:spPr>
      </p:pic>
      <p:pic>
        <p:nvPicPr>
          <p:cNvPr id="118" name="Image 21" descr="preencoded.png">
            <a:extLst>
              <a:ext uri="{FF2B5EF4-FFF2-40B4-BE49-F238E27FC236}">
                <a16:creationId xmlns:a16="http://schemas.microsoft.com/office/drawing/2014/main" id="{AF304DC0-04D1-1238-9599-CA6D962897A4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-1100" b="-1100"/>
          <a:stretch/>
        </p:blipFill>
        <p:spPr>
          <a:xfrm>
            <a:off x="8536904" y="4313681"/>
            <a:ext cx="249396" cy="291294"/>
          </a:xfrm>
          <a:prstGeom prst="rect">
            <a:avLst/>
          </a:prstGeom>
        </p:spPr>
      </p:pic>
      <p:grpSp>
        <p:nvGrpSpPr>
          <p:cNvPr id="144" name="グループ化 143">
            <a:extLst>
              <a:ext uri="{FF2B5EF4-FFF2-40B4-BE49-F238E27FC236}">
                <a16:creationId xmlns:a16="http://schemas.microsoft.com/office/drawing/2014/main" id="{07A0B2EC-32FC-8458-A8FF-F865AC3A54BC}"/>
              </a:ext>
            </a:extLst>
          </p:cNvPr>
          <p:cNvGrpSpPr/>
          <p:nvPr/>
        </p:nvGrpSpPr>
        <p:grpSpPr>
          <a:xfrm>
            <a:off x="3889846" y="1137715"/>
            <a:ext cx="4390319" cy="3951825"/>
            <a:chOff x="3743855" y="1163781"/>
            <a:chExt cx="4390319" cy="3951825"/>
          </a:xfrm>
        </p:grpSpPr>
        <p:sp>
          <p:nvSpPr>
            <p:cNvPr id="35" name="Text 27"/>
            <p:cNvSpPr txBox="1"/>
            <p:nvPr/>
          </p:nvSpPr>
          <p:spPr>
            <a:xfrm>
              <a:off x="3932174" y="2488221"/>
              <a:ext cx="1922983" cy="3429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114300" tIns="76200" rIns="114300" bIns="7620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土曜日なら</a:t>
              </a:r>
              <a:endPara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pic>
          <p:nvPicPr>
            <p:cNvPr id="37" name="Image 7" descr="preencoded.png"/>
            <p:cNvPicPr>
              <a:picLocks noChangeAspect="1"/>
            </p:cNvPicPr>
            <p:nvPr/>
          </p:nvPicPr>
          <p:blipFill>
            <a:blip r:embed="rId14"/>
            <a:srcRect t="-14" b="-14"/>
            <a:stretch/>
          </p:blipFill>
          <p:spPr>
            <a:xfrm>
              <a:off x="3784777" y="3099278"/>
              <a:ext cx="2009574" cy="886053"/>
            </a:xfrm>
            <a:prstGeom prst="rect">
              <a:avLst/>
            </a:prstGeom>
          </p:spPr>
        </p:pic>
        <p:sp>
          <p:nvSpPr>
            <p:cNvPr id="38" name="Text 28"/>
            <p:cNvSpPr txBox="1"/>
            <p:nvPr/>
          </p:nvSpPr>
          <p:spPr>
            <a:xfrm>
              <a:off x="4177006" y="3255042"/>
              <a:ext cx="1204265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6B7280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最終営業日</a:t>
              </a:r>
              <a:endParaRPr lang="en-US" dirty="0"/>
            </a:p>
          </p:txBody>
        </p:sp>
        <p:pic>
          <p:nvPicPr>
            <p:cNvPr id="39" name="Image 8" descr="preencoded.png"/>
            <p:cNvPicPr>
              <a:picLocks noChangeAspect="1"/>
            </p:cNvPicPr>
            <p:nvPr/>
          </p:nvPicPr>
          <p:blipFill>
            <a:blip r:embed="rId15"/>
            <a:srcRect l="-7143" r="-7143"/>
            <a:stretch/>
          </p:blipFill>
          <p:spPr>
            <a:xfrm>
              <a:off x="3889846" y="3516675"/>
              <a:ext cx="309622" cy="309622"/>
            </a:xfrm>
            <a:prstGeom prst="rect">
              <a:avLst/>
            </a:prstGeom>
          </p:spPr>
        </p:pic>
        <p:sp>
          <p:nvSpPr>
            <p:cNvPr id="40" name="Text 29"/>
            <p:cNvSpPr txBox="1"/>
            <p:nvPr/>
          </p:nvSpPr>
          <p:spPr>
            <a:xfrm>
              <a:off x="4169204" y="3448705"/>
              <a:ext cx="1455724" cy="4672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16A34A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前日 (-1)</a:t>
              </a:r>
              <a:endParaRPr lang="en-US" sz="2400" dirty="0"/>
            </a:p>
          </p:txBody>
        </p:sp>
        <p:sp>
          <p:nvSpPr>
            <p:cNvPr id="44" name="Text 33"/>
            <p:cNvSpPr txBox="1"/>
            <p:nvPr/>
          </p:nvSpPr>
          <p:spPr>
            <a:xfrm>
              <a:off x="6256122" y="2473020"/>
              <a:ext cx="1878052" cy="35295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114300" tIns="76200" rIns="114300" bIns="7620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日曜日なら</a:t>
              </a:r>
              <a:endPara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pic>
          <p:nvPicPr>
            <p:cNvPr id="46" name="Image 10" descr="preencoded.png"/>
            <p:cNvPicPr>
              <a:picLocks noChangeAspect="1"/>
            </p:cNvPicPr>
            <p:nvPr/>
          </p:nvPicPr>
          <p:blipFill>
            <a:blip r:embed="rId14"/>
            <a:srcRect t="-14" b="-14"/>
            <a:stretch/>
          </p:blipFill>
          <p:spPr>
            <a:xfrm>
              <a:off x="5990961" y="3093233"/>
              <a:ext cx="2037435" cy="867960"/>
            </a:xfrm>
            <a:prstGeom prst="rect">
              <a:avLst/>
            </a:prstGeom>
          </p:spPr>
        </p:pic>
        <p:sp>
          <p:nvSpPr>
            <p:cNvPr id="47" name="Text 34"/>
            <p:cNvSpPr txBox="1"/>
            <p:nvPr/>
          </p:nvSpPr>
          <p:spPr>
            <a:xfrm>
              <a:off x="6400584" y="3268391"/>
              <a:ext cx="1204265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6B7280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最終営業日</a:t>
              </a:r>
              <a:endParaRPr lang="en-US" dirty="0"/>
            </a:p>
          </p:txBody>
        </p:sp>
        <p:pic>
          <p:nvPicPr>
            <p:cNvPr id="48" name="Image 11" descr="preencoded.png"/>
            <p:cNvPicPr>
              <a:picLocks noChangeAspect="1"/>
            </p:cNvPicPr>
            <p:nvPr/>
          </p:nvPicPr>
          <p:blipFill>
            <a:blip r:embed="rId15"/>
            <a:srcRect l="-7143" r="-7143"/>
            <a:stretch/>
          </p:blipFill>
          <p:spPr>
            <a:xfrm>
              <a:off x="6095901" y="3513696"/>
              <a:ext cx="302464" cy="302464"/>
            </a:xfrm>
            <a:prstGeom prst="rect">
              <a:avLst/>
            </a:prstGeom>
          </p:spPr>
        </p:pic>
        <p:sp>
          <p:nvSpPr>
            <p:cNvPr id="49" name="Text 35"/>
            <p:cNvSpPr txBox="1"/>
            <p:nvPr/>
          </p:nvSpPr>
          <p:spPr>
            <a:xfrm>
              <a:off x="6306972" y="3495991"/>
              <a:ext cx="1730960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16A34A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前々日 (-2)</a:t>
              </a:r>
              <a:endParaRPr lang="en-US" sz="2400" dirty="0"/>
            </a:p>
          </p:txBody>
        </p:sp>
        <p:pic>
          <p:nvPicPr>
            <p:cNvPr id="50" name="Image 12" descr="preencoded.png"/>
            <p:cNvPicPr>
              <a:picLocks noChangeAspect="1"/>
            </p:cNvPicPr>
            <p:nvPr/>
          </p:nvPicPr>
          <p:blipFill>
            <a:blip r:embed="rId16"/>
            <a:srcRect l="-88" r="-88"/>
            <a:stretch/>
          </p:blipFill>
          <p:spPr>
            <a:xfrm>
              <a:off x="3743855" y="4438951"/>
              <a:ext cx="4275143" cy="676655"/>
            </a:xfrm>
            <a:prstGeom prst="rect">
              <a:avLst/>
            </a:prstGeom>
          </p:spPr>
        </p:pic>
        <p:sp>
          <p:nvSpPr>
            <p:cNvPr id="51" name="Text 36"/>
            <p:cNvSpPr/>
            <p:nvPr/>
          </p:nvSpPr>
          <p:spPr>
            <a:xfrm>
              <a:off x="4540910" y="4473034"/>
              <a:ext cx="3172054" cy="6281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 月末を「直接計算</a:t>
              </a:r>
              <a:r>
                <a:rPr lang="en-US" sz="2000" b="1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」せず</a:t>
              </a:r>
            </a:p>
            <a:p>
              <a:pPr marL="0" indent="0" algn="l">
                <a:buNone/>
              </a:pPr>
              <a:r>
                <a:rPr lang="en-US" sz="2000" b="1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「</a:t>
              </a:r>
              <a:r>
                <a:rPr lang="en-US" sz="20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補正」するだけでOK </a:t>
              </a:r>
              <a:endParaRPr lang="en-US" sz="2000" dirty="0"/>
            </a:p>
          </p:txBody>
        </p:sp>
        <p:pic>
          <p:nvPicPr>
            <p:cNvPr id="52" name="Image 13" descr="preencoded.png"/>
            <p:cNvPicPr>
              <a:picLocks noChangeAspect="1"/>
            </p:cNvPicPr>
            <p:nvPr/>
          </p:nvPicPr>
          <p:blipFill>
            <a:blip r:embed="rId17"/>
            <a:srcRect/>
            <a:stretch/>
          </p:blipFill>
          <p:spPr>
            <a:xfrm>
              <a:off x="3945113" y="4647508"/>
              <a:ext cx="304495" cy="304495"/>
            </a:xfrm>
            <a:prstGeom prst="rect">
              <a:avLst/>
            </a:prstGeom>
          </p:spPr>
        </p:pic>
        <p:sp>
          <p:nvSpPr>
            <p:cNvPr id="95" name="Text 67"/>
            <p:cNvSpPr txBox="1"/>
            <p:nvPr/>
          </p:nvSpPr>
          <p:spPr>
            <a:xfrm>
              <a:off x="3969701" y="1732982"/>
              <a:ext cx="4049297" cy="4317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>
                  <a:solidFill>
                    <a:srgbClr val="6B728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startOfMonth</a:t>
              </a:r>
            </a:p>
            <a:p>
              <a:pPr marL="0" indent="0" algn="ctr">
                <a:buNone/>
              </a:pPr>
              <a:r>
                <a:rPr lang="en-US" sz="2400" b="1">
                  <a:solidFill>
                    <a:srgbClr val="6B728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</a:t>
              </a:r>
              <a:r>
                <a:rPr lang="en-US" sz="2400" b="1" dirty="0">
                  <a:solidFill>
                    <a:srgbClr val="6B728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addMonths(今日,1)) -1</a:t>
              </a:r>
              <a:endParaRPr lang="en-US" sz="2400" b="1" dirty="0"/>
            </a:p>
          </p:txBody>
        </p:sp>
        <p:pic>
          <p:nvPicPr>
            <p:cNvPr id="96" name="Image 26" descr="preencoded.png"/>
            <p:cNvPicPr>
              <a:picLocks noChangeAspect="1"/>
            </p:cNvPicPr>
            <p:nvPr/>
          </p:nvPicPr>
          <p:blipFill>
            <a:blip r:embed="rId18"/>
            <a:srcRect t="-43" b="-43"/>
            <a:stretch/>
          </p:blipFill>
          <p:spPr>
            <a:xfrm>
              <a:off x="4668928" y="1225257"/>
              <a:ext cx="299923" cy="343064"/>
            </a:xfrm>
            <a:prstGeom prst="rect">
              <a:avLst/>
            </a:prstGeom>
          </p:spPr>
        </p:pic>
        <p:sp>
          <p:nvSpPr>
            <p:cNvPr id="97" name="Text 68"/>
            <p:cNvSpPr txBox="1"/>
            <p:nvPr/>
          </p:nvSpPr>
          <p:spPr>
            <a:xfrm>
              <a:off x="4990877" y="1320760"/>
              <a:ext cx="2236623" cy="1618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1F2937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今月末（仮）</a:t>
              </a:r>
              <a:endParaRPr lang="en-US" sz="2400" dirty="0"/>
            </a:p>
          </p:txBody>
        </p:sp>
        <p:sp>
          <p:nvSpPr>
            <p:cNvPr id="116" name="四角形: 角を丸くする 115">
              <a:extLst>
                <a:ext uri="{FF2B5EF4-FFF2-40B4-BE49-F238E27FC236}">
                  <a16:creationId xmlns:a16="http://schemas.microsoft.com/office/drawing/2014/main" id="{F368972B-018E-E648-32A5-05FE5E902E85}"/>
                </a:ext>
              </a:extLst>
            </p:cNvPr>
            <p:cNvSpPr/>
            <p:nvPr/>
          </p:nvSpPr>
          <p:spPr>
            <a:xfrm>
              <a:off x="3822445" y="1163781"/>
              <a:ext cx="4196553" cy="1242910"/>
            </a:xfrm>
            <a:prstGeom prst="roundRect">
              <a:avLst>
                <a:gd name="adj" fmla="val 6483"/>
              </a:avLst>
            </a:prstGeom>
            <a:noFill/>
            <a:ln w="317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Text 32"/>
            <p:cNvSpPr txBox="1"/>
            <p:nvPr/>
          </p:nvSpPr>
          <p:spPr>
            <a:xfrm>
              <a:off x="4674509" y="3908220"/>
              <a:ext cx="2689181" cy="661621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76200" tIns="38100" rIns="76200" bIns="38100" rtlCol="0" anchor="ctr"/>
            <a:lstStyle/>
            <a:p>
              <a:pPr marL="0" indent="0" algn="l">
                <a:buNone/>
              </a:pPr>
              <a:r>
                <a:rPr lang="en-US" sz="24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平日はそのまま</a:t>
              </a:r>
              <a:endPara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123" name="直線矢印コネクタ 122">
              <a:extLst>
                <a:ext uri="{FF2B5EF4-FFF2-40B4-BE49-F238E27FC236}">
                  <a16:creationId xmlns:a16="http://schemas.microsoft.com/office/drawing/2014/main" id="{DD771256-60E6-6758-5443-97EE4E104DEB}"/>
                </a:ext>
              </a:extLst>
            </p:cNvPr>
            <p:cNvCxnSpPr>
              <a:cxnSpLocks/>
            </p:cNvCxnSpPr>
            <p:nvPr/>
          </p:nvCxnSpPr>
          <p:spPr>
            <a:xfrm>
              <a:off x="7033748" y="2841434"/>
              <a:ext cx="0" cy="323376"/>
            </a:xfrm>
            <a:prstGeom prst="straightConnector1">
              <a:avLst/>
            </a:prstGeom>
            <a:ln w="50800">
              <a:solidFill>
                <a:schemeClr val="bg1"/>
              </a:solidFill>
              <a:tailEnd type="triangle"/>
            </a:ln>
            <a:effectLst>
              <a:glow rad="50800">
                <a:schemeClr val="tx1">
                  <a:lumMod val="75000"/>
                  <a:lumOff val="25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線矢印コネクタ 125">
              <a:extLst>
                <a:ext uri="{FF2B5EF4-FFF2-40B4-BE49-F238E27FC236}">
                  <a16:creationId xmlns:a16="http://schemas.microsoft.com/office/drawing/2014/main" id="{35FB794D-342D-7FFA-36D6-87DD56CED7A1}"/>
                </a:ext>
              </a:extLst>
            </p:cNvPr>
            <p:cNvCxnSpPr>
              <a:cxnSpLocks/>
            </p:cNvCxnSpPr>
            <p:nvPr/>
          </p:nvCxnSpPr>
          <p:spPr>
            <a:xfrm>
              <a:off x="4674509" y="2841434"/>
              <a:ext cx="0" cy="323376"/>
            </a:xfrm>
            <a:prstGeom prst="straightConnector1">
              <a:avLst/>
            </a:prstGeom>
            <a:ln w="50800">
              <a:solidFill>
                <a:schemeClr val="bg1"/>
              </a:solidFill>
              <a:tailEnd type="triangle"/>
            </a:ln>
            <a:effectLst>
              <a:glow rad="50800">
                <a:schemeClr val="tx1">
                  <a:lumMod val="75000"/>
                  <a:lumOff val="25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線矢印コネクタ 126">
              <a:extLst>
                <a:ext uri="{FF2B5EF4-FFF2-40B4-BE49-F238E27FC236}">
                  <a16:creationId xmlns:a16="http://schemas.microsoft.com/office/drawing/2014/main" id="{012FF844-64AF-9586-447E-B47C145C3421}"/>
                </a:ext>
              </a:extLst>
            </p:cNvPr>
            <p:cNvCxnSpPr>
              <a:cxnSpLocks/>
            </p:cNvCxnSpPr>
            <p:nvPr/>
          </p:nvCxnSpPr>
          <p:spPr>
            <a:xfrm>
              <a:off x="5895778" y="2436040"/>
              <a:ext cx="0" cy="1610916"/>
            </a:xfrm>
            <a:prstGeom prst="straightConnector1">
              <a:avLst/>
            </a:prstGeom>
            <a:ln w="50800">
              <a:solidFill>
                <a:schemeClr val="bg1"/>
              </a:solidFill>
              <a:tailEnd type="triangle"/>
            </a:ln>
            <a:effectLst>
              <a:glow rad="50800">
                <a:schemeClr val="tx1">
                  <a:lumMod val="75000"/>
                  <a:lumOff val="25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5" name="図 134" descr="A simple wooden sign with a small plant hanging from the top, featuring a character or symbol in a stylized font.&#10;&#10;AI 生成コンテンツは誤りを含む可能性があります。">
            <a:extLst>
              <a:ext uri="{FF2B5EF4-FFF2-40B4-BE49-F238E27FC236}">
                <a16:creationId xmlns:a16="http://schemas.microsoft.com/office/drawing/2014/main" id="{2A75B70A-D431-5D9E-4B4E-451B5000F31F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t="19901"/>
          <a:stretch>
            <a:fillRect/>
          </a:stretch>
        </p:blipFill>
        <p:spPr>
          <a:xfrm rot="808672">
            <a:off x="10729348" y="108313"/>
            <a:ext cx="1483667" cy="78434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7" name="図 136" descr="The image depicts a cartoon character with a red shirt, wearing a mask with tears and a downward-facing mouth.&#10;&#10;AI 生成コンテンツは誤りを含む可能性があります。">
            <a:extLst>
              <a:ext uri="{FF2B5EF4-FFF2-40B4-BE49-F238E27FC236}">
                <a16:creationId xmlns:a16="http://schemas.microsoft.com/office/drawing/2014/main" id="{4AFB6EE3-CB77-A9A2-D868-D34FDE251CF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067763" y="1617137"/>
            <a:ext cx="671694" cy="907694"/>
          </a:xfrm>
          <a:prstGeom prst="rect">
            <a:avLst/>
          </a:prstGeom>
        </p:spPr>
      </p:pic>
      <p:pic>
        <p:nvPicPr>
          <p:cNvPr id="141" name="図 140" descr="The image depicts a young woman dressed in a formal outfit, holding an open book and pointing upwards, as if teaching or presenting.&#10;&#10;AI 生成コンテンツは誤りを含む可能性があります。">
            <a:extLst>
              <a:ext uri="{FF2B5EF4-FFF2-40B4-BE49-F238E27FC236}">
                <a16:creationId xmlns:a16="http://schemas.microsoft.com/office/drawing/2014/main" id="{92EA7532-22B2-FE94-D4E2-5FFDA3A505D5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7845" t="3472" r="18166" b="40966"/>
          <a:stretch>
            <a:fillRect/>
          </a:stretch>
        </p:blipFill>
        <p:spPr>
          <a:xfrm>
            <a:off x="2582299" y="3986529"/>
            <a:ext cx="1101849" cy="1079227"/>
          </a:xfrm>
          <a:prstGeom prst="rect">
            <a:avLst/>
          </a:prstGeom>
        </p:spPr>
      </p:pic>
      <p:pic>
        <p:nvPicPr>
          <p:cNvPr id="143" name="図 142">
            <a:extLst>
              <a:ext uri="{FF2B5EF4-FFF2-40B4-BE49-F238E27FC236}">
                <a16:creationId xmlns:a16="http://schemas.microsoft.com/office/drawing/2014/main" id="{19AA2562-C24C-1C8C-9C51-10A8F848DC2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576278" y="5708577"/>
            <a:ext cx="1330277" cy="1180621"/>
          </a:xfrm>
          <a:prstGeom prst="rect">
            <a:avLst/>
          </a:prstGeom>
          <a:effectLst>
            <a:glow rad="88900">
              <a:schemeClr val="bg1">
                <a:alpha val="90000"/>
              </a:schemeClr>
            </a:glow>
          </a:effectLst>
        </p:spPr>
      </p:pic>
      <p:cxnSp>
        <p:nvCxnSpPr>
          <p:cNvPr id="146" name="直線コネクタ 145">
            <a:extLst>
              <a:ext uri="{FF2B5EF4-FFF2-40B4-BE49-F238E27FC236}">
                <a16:creationId xmlns:a16="http://schemas.microsoft.com/office/drawing/2014/main" id="{528475EE-F56B-11FB-42B9-7583A31E2080}"/>
              </a:ext>
            </a:extLst>
          </p:cNvPr>
          <p:cNvCxnSpPr>
            <a:cxnSpLocks/>
          </p:cNvCxnSpPr>
          <p:nvPr/>
        </p:nvCxnSpPr>
        <p:spPr>
          <a:xfrm>
            <a:off x="3802957" y="1231817"/>
            <a:ext cx="0" cy="3791440"/>
          </a:xfrm>
          <a:prstGeom prst="line">
            <a:avLst/>
          </a:prstGeom>
          <a:ln w="3175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線コネクタ 147">
            <a:extLst>
              <a:ext uri="{FF2B5EF4-FFF2-40B4-BE49-F238E27FC236}">
                <a16:creationId xmlns:a16="http://schemas.microsoft.com/office/drawing/2014/main" id="{4A9CDA89-5BCD-F44B-7C96-29FFCC3D7712}"/>
              </a:ext>
            </a:extLst>
          </p:cNvPr>
          <p:cNvCxnSpPr>
            <a:cxnSpLocks/>
          </p:cNvCxnSpPr>
          <p:nvPr/>
        </p:nvCxnSpPr>
        <p:spPr>
          <a:xfrm>
            <a:off x="8280165" y="1161184"/>
            <a:ext cx="0" cy="3928356"/>
          </a:xfrm>
          <a:prstGeom prst="line">
            <a:avLst/>
          </a:prstGeom>
          <a:ln w="3175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