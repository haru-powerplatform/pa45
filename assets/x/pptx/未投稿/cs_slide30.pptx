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8" b="-8"/>
          <a:stretch/>
        </p:blipFill>
        <p:spPr>
          <a:xfrm>
            <a:off x="254204" y="964997"/>
            <a:ext cx="11684203" cy="109240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83997" y="1168603"/>
            <a:ext cx="780897" cy="685800"/>
          </a:xfrm>
          <a:prstGeom prst="roundRect">
            <a:avLst>
              <a:gd name="adj" fmla="val 88889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5" name="Text 2"/>
          <p:cNvSpPr txBox="1"/>
          <p:nvPr/>
        </p:nvSpPr>
        <p:spPr>
          <a:xfrm>
            <a:off x="1568501" y="1195426"/>
            <a:ext cx="9106205" cy="3371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67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データ構造を Power Automate が理解できる形に “翻訳” する</a:t>
            </a:r>
            <a:endParaRPr lang="en-US" sz="2067"/>
          </a:p>
        </p:txBody>
      </p:sp>
      <p:sp>
        <p:nvSpPr>
          <p:cNvPr id="6" name="Text 3"/>
          <p:cNvSpPr txBox="1"/>
          <p:nvPr/>
        </p:nvSpPr>
        <p:spPr>
          <a:xfrm>
            <a:off x="1568501" y="1579474"/>
            <a:ext cx="9106205" cy="248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外部から受け取った</a:t>
            </a:r>
            <a:r>
              <a:rPr lang="en-US" sz="1267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「文字の羅列（JSON）」</a:t>
            </a:r>
            <a:r>
              <a:rPr lang="en-US" sz="12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に</a:t>
            </a:r>
            <a:r>
              <a:rPr lang="en-US" sz="1267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「型（スキーマ）」</a:t>
            </a:r>
            <a:r>
              <a:rPr lang="en-US" sz="12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を与えて、動的コンテンツで使えるようにします。 </a:t>
            </a:r>
            <a:endParaRPr lang="en-US" sz="1267"/>
          </a:p>
        </p:txBody>
      </p:sp>
      <p:sp>
        <p:nvSpPr>
          <p:cNvPr id="7" name="Shape 4"/>
          <p:cNvSpPr/>
          <p:nvPr/>
        </p:nvSpPr>
        <p:spPr>
          <a:xfrm>
            <a:off x="254204" y="5283404"/>
            <a:ext cx="3759403" cy="1321003"/>
          </a:xfrm>
          <a:prstGeom prst="roundRect">
            <a:avLst>
              <a:gd name="adj" fmla="val 7099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/>
          </a:p>
        </p:txBody>
      </p:sp>
      <p:sp>
        <p:nvSpPr>
          <p:cNvPr id="8" name="Shape 5"/>
          <p:cNvSpPr/>
          <p:nvPr/>
        </p:nvSpPr>
        <p:spPr>
          <a:xfrm>
            <a:off x="254203" y="5283404"/>
            <a:ext cx="63399" cy="1321003"/>
          </a:xfrm>
          <a:prstGeom prst="roundRect">
            <a:avLst>
              <a:gd name="adj" fmla="val 147928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9" name="Text 6"/>
          <p:cNvSpPr txBox="1"/>
          <p:nvPr/>
        </p:nvSpPr>
        <p:spPr>
          <a:xfrm>
            <a:off x="914400" y="5494325"/>
            <a:ext cx="3008985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使いどころ </a:t>
            </a:r>
            <a:endParaRPr lang="en-US" sz="1267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0001" y="5494325"/>
            <a:ext cx="368199" cy="36819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001" y="5938723"/>
            <a:ext cx="34436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HTTPリクエストの結果や、Power Appsからのデータを受け取るときに必須！</a:t>
            </a:r>
            <a:endParaRPr lang="en-US" sz="1067"/>
          </a:p>
        </p:txBody>
      </p:sp>
      <p:sp>
        <p:nvSpPr>
          <p:cNvPr id="12" name="Shape 8"/>
          <p:cNvSpPr/>
          <p:nvPr/>
        </p:nvSpPr>
        <p:spPr>
          <a:xfrm>
            <a:off x="4216604" y="5283404"/>
            <a:ext cx="3759403" cy="1321003"/>
          </a:xfrm>
          <a:prstGeom prst="roundRect">
            <a:avLst>
              <a:gd name="adj" fmla="val 7099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/>
          </a:p>
        </p:txBody>
      </p:sp>
      <p:sp>
        <p:nvSpPr>
          <p:cNvPr id="13" name="Shape 9"/>
          <p:cNvSpPr/>
          <p:nvPr/>
        </p:nvSpPr>
        <p:spPr>
          <a:xfrm>
            <a:off x="4216603" y="5283404"/>
            <a:ext cx="63399" cy="1321003"/>
          </a:xfrm>
          <a:prstGeom prst="roundRect">
            <a:avLst>
              <a:gd name="adj" fmla="val 147928"/>
            </a:avLst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14" name="Text 10"/>
          <p:cNvSpPr txBox="1"/>
          <p:nvPr/>
        </p:nvSpPr>
        <p:spPr>
          <a:xfrm>
            <a:off x="4876800" y="5488229"/>
            <a:ext cx="3008985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DC26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よくある失敗 </a:t>
            </a:r>
            <a:endParaRPr lang="en-US" sz="1267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432401" y="5488229"/>
            <a:ext cx="368199" cy="36819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432401" y="5932628"/>
            <a:ext cx="3443631" cy="470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値が空(null)だとエラーになる。</a:t>
            </a:r>
            <a:endParaRPr lang="en-US" sz="1067"/>
          </a:p>
          <a:p>
            <a:r>
              <a:rPr lang="en-US" sz="10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スキーマで </a:t>
            </a:r>
            <a:r>
              <a:rPr lang="en-US" sz="1067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"null"</a:t>
            </a:r>
            <a:r>
              <a:rPr lang="en-US" sz="10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を許可しよう。 </a:t>
            </a:r>
            <a:endParaRPr lang="en-US" sz="1067"/>
          </a:p>
        </p:txBody>
      </p:sp>
      <p:sp>
        <p:nvSpPr>
          <p:cNvPr id="17" name="Shape 12"/>
          <p:cNvSpPr/>
          <p:nvPr/>
        </p:nvSpPr>
        <p:spPr>
          <a:xfrm>
            <a:off x="8179004" y="5283404"/>
            <a:ext cx="3759403" cy="1321003"/>
          </a:xfrm>
          <a:prstGeom prst="roundRect">
            <a:avLst>
              <a:gd name="adj" fmla="val 7099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/>
          </a:p>
        </p:txBody>
      </p:sp>
      <p:sp>
        <p:nvSpPr>
          <p:cNvPr id="18" name="Shape 13"/>
          <p:cNvSpPr/>
          <p:nvPr/>
        </p:nvSpPr>
        <p:spPr>
          <a:xfrm>
            <a:off x="8179003" y="5283404"/>
            <a:ext cx="63399" cy="1321003"/>
          </a:xfrm>
          <a:prstGeom prst="roundRect">
            <a:avLst>
              <a:gd name="adj" fmla="val 147928"/>
            </a:avLst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19" name="Text 14"/>
          <p:cNvSpPr txBox="1"/>
          <p:nvPr/>
        </p:nvSpPr>
        <p:spPr>
          <a:xfrm>
            <a:off x="8858097" y="5488229"/>
            <a:ext cx="29900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>
                <a:solidFill>
                  <a:srgbClr val="16A3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配列の場合 </a:t>
            </a:r>
            <a:endParaRPr lang="en-US" sz="1267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t="-3504" b="-3504"/>
          <a:stretch/>
        </p:blipFill>
        <p:spPr>
          <a:xfrm>
            <a:off x="8394801" y="5488229"/>
            <a:ext cx="387096" cy="36819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94801" y="5932628"/>
            <a:ext cx="3443631" cy="470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データが </a:t>
            </a:r>
            <a:r>
              <a:rPr lang="en-US" sz="1067" b="1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r>
              <a:rPr lang="en-US" sz="10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の配列なら、自動で </a:t>
            </a:r>
            <a:r>
              <a:rPr lang="en-US" sz="1067" b="1">
                <a:solidFill>
                  <a:srgbClr val="158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Apply to each</a:t>
            </a:r>
            <a:r>
              <a:rPr lang="en-US" sz="1067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が適用されます。 </a:t>
            </a:r>
            <a:endParaRPr lang="en-US" sz="1067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t="-16" b="-16"/>
          <a:stretch/>
        </p:blipFill>
        <p:spPr>
          <a:xfrm>
            <a:off x="736397" y="1321003"/>
            <a:ext cx="476097" cy="3810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254203" y="2260397"/>
            <a:ext cx="3492399" cy="281940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/>
          </a:p>
        </p:txBody>
      </p:sp>
      <p:sp>
        <p:nvSpPr>
          <p:cNvPr id="24" name="Shape 17"/>
          <p:cNvSpPr/>
          <p:nvPr/>
        </p:nvSpPr>
        <p:spPr>
          <a:xfrm>
            <a:off x="254203" y="2260397"/>
            <a:ext cx="3492399" cy="76200"/>
          </a:xfrm>
          <a:prstGeom prst="roundRect">
            <a:avLst>
              <a:gd name="adj" fmla="val 86486"/>
            </a:avLst>
          </a:prstGeom>
          <a:solidFill>
            <a:srgbClr val="6B7280"/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l="-220" r="-220"/>
          <a:stretch/>
        </p:blipFill>
        <p:spPr>
          <a:xfrm>
            <a:off x="1369162" y="2133601"/>
            <a:ext cx="1263701" cy="33040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44168" y="2133601"/>
            <a:ext cx="1314297" cy="330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kern="0" spc="75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</a:t>
            </a:r>
            <a:endParaRPr lang="en-US" sz="1467"/>
          </a:p>
        </p:txBody>
      </p:sp>
      <p:sp>
        <p:nvSpPr>
          <p:cNvPr id="27" name="Text 19"/>
          <p:cNvSpPr txBox="1"/>
          <p:nvPr/>
        </p:nvSpPr>
        <p:spPr>
          <a:xfrm>
            <a:off x="393802" y="2692603"/>
            <a:ext cx="32132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ただの文字列</a:t>
            </a:r>
            <a:endParaRPr lang="en-US" sz="160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 l="-5" r="-5"/>
          <a:stretch/>
        </p:blipFill>
        <p:spPr>
          <a:xfrm>
            <a:off x="457200" y="3149803"/>
            <a:ext cx="3082137" cy="6858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615696" y="3308298"/>
            <a:ext cx="2821229" cy="176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067"/>
          </a:p>
          <a:p>
            <a:r>
              <a:rPr lang="en-US" sz="1067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"body"</a:t>
            </a:r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067"/>
          </a:p>
          <a:p>
            <a:r>
              <a:rPr lang="en-US" sz="1067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"id"</a:t>
            </a:r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67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</a:t>
            </a:r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67"/>
          </a:p>
          <a:p>
            <a:r>
              <a:rPr lang="en-US" sz="1067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067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"Done"</a:t>
            </a:r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67"/>
          </a:p>
          <a:p>
            <a:r>
              <a:rPr lang="en-US" sz="1067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"list"</a:t>
            </a:r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[...]</a:t>
            </a:r>
            <a:endParaRPr lang="en-US" sz="1067"/>
          </a:p>
          <a:p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067"/>
          </a:p>
          <a:p>
            <a:r>
              <a:rPr lang="en-US" sz="1067">
                <a:solidFill>
                  <a:srgbClr val="D1D5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</a:t>
            </a:r>
            <a:endParaRPr lang="en-US" sz="1067"/>
          </a:p>
        </p:txBody>
      </p:sp>
      <p:sp>
        <p:nvSpPr>
          <p:cNvPr id="30" name="Text 21"/>
          <p:cNvSpPr txBox="1"/>
          <p:nvPr/>
        </p:nvSpPr>
        <p:spPr>
          <a:xfrm>
            <a:off x="615697" y="3567380"/>
            <a:ext cx="559003" cy="15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"body"</a:t>
            </a:r>
            <a:endParaRPr lang="en-US" sz="1067"/>
          </a:p>
        </p:txBody>
      </p:sp>
      <p:sp>
        <p:nvSpPr>
          <p:cNvPr id="31" name="Text 22"/>
          <p:cNvSpPr txBox="1"/>
          <p:nvPr/>
        </p:nvSpPr>
        <p:spPr>
          <a:xfrm>
            <a:off x="615696" y="3794151"/>
            <a:ext cx="387705" cy="15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"id"</a:t>
            </a:r>
            <a:endParaRPr lang="en-US" sz="1067"/>
          </a:p>
        </p:txBody>
      </p:sp>
      <p:sp>
        <p:nvSpPr>
          <p:cNvPr id="32" name="Text 23"/>
          <p:cNvSpPr txBox="1"/>
          <p:nvPr/>
        </p:nvSpPr>
        <p:spPr>
          <a:xfrm>
            <a:off x="1119225" y="3794151"/>
            <a:ext cx="304800" cy="15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</a:t>
            </a:r>
            <a:endParaRPr lang="en-US" sz="1067"/>
          </a:p>
        </p:txBody>
      </p:sp>
      <p:sp>
        <p:nvSpPr>
          <p:cNvPr id="33" name="Text 24"/>
          <p:cNvSpPr txBox="1"/>
          <p:nvPr/>
        </p:nvSpPr>
        <p:spPr>
          <a:xfrm>
            <a:off x="615697" y="4020922"/>
            <a:ext cx="559003" cy="15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endParaRPr lang="en-US" sz="1067"/>
          </a:p>
        </p:txBody>
      </p:sp>
      <p:sp>
        <p:nvSpPr>
          <p:cNvPr id="34" name="Text 25"/>
          <p:cNvSpPr txBox="1"/>
          <p:nvPr/>
        </p:nvSpPr>
        <p:spPr>
          <a:xfrm>
            <a:off x="1286866" y="4020922"/>
            <a:ext cx="559003" cy="15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"Done"</a:t>
            </a:r>
            <a:endParaRPr lang="en-US" sz="1067"/>
          </a:p>
        </p:txBody>
      </p:sp>
      <p:sp>
        <p:nvSpPr>
          <p:cNvPr id="35" name="Text 26"/>
          <p:cNvSpPr txBox="1"/>
          <p:nvPr/>
        </p:nvSpPr>
        <p:spPr>
          <a:xfrm>
            <a:off x="615697" y="4248303"/>
            <a:ext cx="559003" cy="15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"list"</a:t>
            </a:r>
            <a:endParaRPr lang="en-US" sz="1067"/>
          </a:p>
        </p:txBody>
      </p:sp>
      <p:sp>
        <p:nvSpPr>
          <p:cNvPr id="37" name="Shape 27"/>
          <p:cNvSpPr/>
          <p:nvPr/>
        </p:nvSpPr>
        <p:spPr>
          <a:xfrm>
            <a:off x="457200" y="3988004"/>
            <a:ext cx="3086405" cy="888797"/>
          </a:xfrm>
          <a:prstGeom prst="roundRect">
            <a:avLst>
              <a:gd name="adj" fmla="val 15677"/>
            </a:avLst>
          </a:prstGeom>
          <a:solidFill>
            <a:srgbClr val="FEF2F2"/>
          </a:solidFill>
          <a:ln w="254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0"/>
          <a:srcRect t="-5600" b="-5600"/>
          <a:stretch/>
        </p:blipFill>
        <p:spPr>
          <a:xfrm>
            <a:off x="596799" y="4127602"/>
            <a:ext cx="228600" cy="254203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927201" y="4127602"/>
            <a:ext cx="1172871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項目を選べない</a:t>
            </a:r>
            <a:endParaRPr lang="en-US" sz="120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0"/>
          <a:srcRect t="-5600" b="-5600"/>
          <a:stretch/>
        </p:blipFill>
        <p:spPr>
          <a:xfrm>
            <a:off x="596799" y="4482999"/>
            <a:ext cx="228600" cy="254203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927201" y="4482999"/>
            <a:ext cx="134416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全部ひとかたまり</a:t>
            </a:r>
            <a:endParaRPr lang="en-US" sz="120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1">
            <a:alphaModFix amt="60000"/>
          </a:blip>
          <a:srcRect l="-27" r="-27"/>
          <a:stretch/>
        </p:blipFill>
        <p:spPr>
          <a:xfrm>
            <a:off x="3903879" y="3441801"/>
            <a:ext cx="285903" cy="457200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4351935" y="2260397"/>
            <a:ext cx="3492399" cy="281940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/>
          </a:p>
        </p:txBody>
      </p:sp>
      <p:sp>
        <p:nvSpPr>
          <p:cNvPr id="44" name="Shape 31"/>
          <p:cNvSpPr/>
          <p:nvPr/>
        </p:nvSpPr>
        <p:spPr>
          <a:xfrm>
            <a:off x="4351935" y="2260397"/>
            <a:ext cx="3492399" cy="76200"/>
          </a:xfrm>
          <a:prstGeom prst="roundRect">
            <a:avLst>
              <a:gd name="adj" fmla="val 86486"/>
            </a:avLst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2"/>
          <a:srcRect l="-19" r="-19"/>
          <a:stretch/>
        </p:blipFill>
        <p:spPr>
          <a:xfrm>
            <a:off x="5280965" y="2133601"/>
            <a:ext cx="1631899" cy="330403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5248047" y="2133601"/>
            <a:ext cx="1697736" cy="330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kern="0" spc="75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JSON の解析</a:t>
            </a:r>
            <a:endParaRPr lang="en-US" sz="1467"/>
          </a:p>
        </p:txBody>
      </p:sp>
      <p:sp>
        <p:nvSpPr>
          <p:cNvPr id="47" name="Text 33"/>
          <p:cNvSpPr txBox="1"/>
          <p:nvPr/>
        </p:nvSpPr>
        <p:spPr>
          <a:xfrm>
            <a:off x="4491533" y="2692603"/>
            <a:ext cx="32132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0078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スキーマ（設計図）</a:t>
            </a:r>
            <a:endParaRPr lang="en-US" sz="1600"/>
          </a:p>
        </p:txBody>
      </p:sp>
      <p:sp>
        <p:nvSpPr>
          <p:cNvPr id="48" name="Shape 34"/>
          <p:cNvSpPr/>
          <p:nvPr/>
        </p:nvSpPr>
        <p:spPr>
          <a:xfrm>
            <a:off x="4554932" y="3149803"/>
            <a:ext cx="3086405" cy="1365504"/>
          </a:xfrm>
          <a:prstGeom prst="roundRect">
            <a:avLst>
              <a:gd name="adj" fmla="val 4983"/>
            </a:avLst>
          </a:prstGeom>
          <a:solidFill>
            <a:srgbClr val="EFF6FF"/>
          </a:solidFill>
          <a:ln w="254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13">
            <a:alphaModFix amt="20000"/>
          </a:blip>
          <a:srcRect l="-27" r="-27"/>
          <a:stretch/>
        </p:blipFill>
        <p:spPr>
          <a:xfrm>
            <a:off x="7237171" y="3213201"/>
            <a:ext cx="285903" cy="381000"/>
          </a:xfrm>
          <a:prstGeom prst="rect">
            <a:avLst/>
          </a:prstGeom>
        </p:spPr>
      </p:pic>
      <p:sp>
        <p:nvSpPr>
          <p:cNvPr id="50" name="Text 35"/>
          <p:cNvSpPr txBox="1"/>
          <p:nvPr/>
        </p:nvSpPr>
        <p:spPr>
          <a:xfrm>
            <a:off x="4720133" y="3315005"/>
            <a:ext cx="2807208" cy="103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</a:t>
            </a:r>
            <a:r>
              <a:rPr lang="en-US" sz="1000" b="1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1000"/>
          </a:p>
          <a:p>
            <a:r>
              <a:rPr lang="en-US" sz="100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"properties"</a:t>
            </a: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000"/>
          </a:p>
          <a:p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"id": { "type": "</a:t>
            </a:r>
            <a:r>
              <a:rPr lang="en-US" sz="1000" b="1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},</a:t>
            </a:r>
            <a:endParaRPr lang="en-US" sz="1000"/>
          </a:p>
          <a:p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"name": { "type": "</a:t>
            </a:r>
            <a:r>
              <a:rPr lang="en-US" sz="1000" b="1">
                <a:solidFill>
                  <a:srgbClr val="9A34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</a:t>
            </a:r>
            <a:endParaRPr lang="en-US" sz="1000"/>
          </a:p>
          <a:p>
            <a:r>
              <a:rPr lang="en-US" sz="100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</a:t>
            </a:r>
            <a:endParaRPr lang="en-US" sz="1000"/>
          </a:p>
        </p:txBody>
      </p:sp>
      <p:sp>
        <p:nvSpPr>
          <p:cNvPr id="51" name="Text 36"/>
          <p:cNvSpPr txBox="1"/>
          <p:nvPr/>
        </p:nvSpPr>
        <p:spPr>
          <a:xfrm>
            <a:off x="4720133" y="3339999"/>
            <a:ext cx="5145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endParaRPr lang="en-US" sz="1000"/>
          </a:p>
        </p:txBody>
      </p:sp>
      <p:sp>
        <p:nvSpPr>
          <p:cNvPr id="52" name="Shape 37"/>
          <p:cNvSpPr/>
          <p:nvPr/>
        </p:nvSpPr>
        <p:spPr>
          <a:xfrm>
            <a:off x="5405933" y="3339999"/>
            <a:ext cx="565099" cy="146304"/>
          </a:xfrm>
          <a:prstGeom prst="roundRect">
            <a:avLst>
              <a:gd name="adj" fmla="val 144928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53" name="Text 38"/>
          <p:cNvSpPr txBox="1"/>
          <p:nvPr/>
        </p:nvSpPr>
        <p:spPr>
          <a:xfrm>
            <a:off x="5405933" y="3339999"/>
            <a:ext cx="616305" cy="14630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0" rIns="50800" bIns="0" rtlCol="0" anchor="ctr"/>
          <a:lstStyle/>
          <a:p>
            <a:r>
              <a:rPr lang="en-US" sz="1000" b="1">
                <a:solidFill>
                  <a:srgbClr val="1665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endParaRPr lang="en-US" sz="1000"/>
          </a:p>
        </p:txBody>
      </p:sp>
      <p:sp>
        <p:nvSpPr>
          <p:cNvPr id="54" name="Text 39"/>
          <p:cNvSpPr txBox="1"/>
          <p:nvPr/>
        </p:nvSpPr>
        <p:spPr>
          <a:xfrm>
            <a:off x="4720133" y="3546653"/>
            <a:ext cx="97170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>
                <a:solidFill>
                  <a:srgbClr val="9333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"properties"</a:t>
            </a:r>
            <a:endParaRPr lang="en-US" sz="1000"/>
          </a:p>
        </p:txBody>
      </p:sp>
      <p:sp>
        <p:nvSpPr>
          <p:cNvPr id="55" name="Shape 40"/>
          <p:cNvSpPr/>
          <p:nvPr/>
        </p:nvSpPr>
        <p:spPr>
          <a:xfrm>
            <a:off x="6015533" y="3752697"/>
            <a:ext cx="641299" cy="146304"/>
          </a:xfrm>
          <a:prstGeom prst="roundRect">
            <a:avLst>
              <a:gd name="adj" fmla="val 14492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56" name="Text 41"/>
          <p:cNvSpPr txBox="1"/>
          <p:nvPr/>
        </p:nvSpPr>
        <p:spPr>
          <a:xfrm>
            <a:off x="6015533" y="3752697"/>
            <a:ext cx="692505" cy="14630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0" rIns="50800" bIns="0" rtlCol="0" anchor="ctr"/>
          <a:lstStyle/>
          <a:p>
            <a:r>
              <a:rPr lang="en-US" sz="1000" b="1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000"/>
          </a:p>
        </p:txBody>
      </p:sp>
      <p:sp>
        <p:nvSpPr>
          <p:cNvPr id="57" name="Shape 42"/>
          <p:cNvSpPr/>
          <p:nvPr/>
        </p:nvSpPr>
        <p:spPr>
          <a:xfrm>
            <a:off x="6167933" y="3959352"/>
            <a:ext cx="565099" cy="146304"/>
          </a:xfrm>
          <a:prstGeom prst="roundRect">
            <a:avLst>
              <a:gd name="adj" fmla="val 144928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58" name="Text 43"/>
          <p:cNvSpPr txBox="1"/>
          <p:nvPr/>
        </p:nvSpPr>
        <p:spPr>
          <a:xfrm>
            <a:off x="6167933" y="3959352"/>
            <a:ext cx="616305" cy="14630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0" rIns="50800" bIns="0" rtlCol="0" anchor="ctr"/>
          <a:lstStyle/>
          <a:p>
            <a:r>
              <a:rPr lang="en-US" sz="1000" b="1">
                <a:solidFill>
                  <a:srgbClr val="9A34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000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4"/>
          <a:srcRect t="-9" b="-9"/>
          <a:stretch/>
        </p:blipFill>
        <p:spPr>
          <a:xfrm>
            <a:off x="4554932" y="4664050"/>
            <a:ext cx="3082137" cy="1257605"/>
          </a:xfrm>
          <a:prstGeom prst="rect">
            <a:avLst/>
          </a:prstGeom>
        </p:spPr>
      </p:pic>
      <p:sp>
        <p:nvSpPr>
          <p:cNvPr id="60" name="Text 44"/>
          <p:cNvSpPr txBox="1"/>
          <p:nvPr/>
        </p:nvSpPr>
        <p:spPr>
          <a:xfrm>
            <a:off x="4625035" y="4797552"/>
            <a:ext cx="2946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>
                <a:solidFill>
                  <a:srgbClr val="0078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ここがポイント！</a:t>
            </a:r>
            <a:endParaRPr lang="en-US" sz="1200"/>
          </a:p>
        </p:txBody>
      </p:sp>
      <p:pic>
        <p:nvPicPr>
          <p:cNvPr id="61" name="Image 14" descr="preencoded.png"/>
          <p:cNvPicPr>
            <a:picLocks noChangeAspect="1"/>
          </p:cNvPicPr>
          <p:nvPr/>
        </p:nvPicPr>
        <p:blipFill>
          <a:blip r:embed="rId15"/>
          <a:srcRect l="-61" r="-61"/>
          <a:stretch/>
        </p:blipFill>
        <p:spPr>
          <a:xfrm>
            <a:off x="5207813" y="5076749"/>
            <a:ext cx="1778203" cy="425501"/>
          </a:xfrm>
          <a:prstGeom prst="rect">
            <a:avLst/>
          </a:prstGeom>
        </p:spPr>
      </p:pic>
      <p:sp>
        <p:nvSpPr>
          <p:cNvPr id="62" name="Text 45"/>
          <p:cNvSpPr txBox="1"/>
          <p:nvPr/>
        </p:nvSpPr>
        <p:spPr>
          <a:xfrm>
            <a:off x="5177333" y="5076749"/>
            <a:ext cx="1840383" cy="425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67" b="1">
                <a:solidFill>
                  <a:srgbClr val="0078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サンプルから生成</a:t>
            </a:r>
            <a:endParaRPr lang="en-US" sz="1267"/>
          </a:p>
        </p:txBody>
      </p:sp>
      <p:sp>
        <p:nvSpPr>
          <p:cNvPr id="63" name="Text 46"/>
          <p:cNvSpPr txBox="1"/>
          <p:nvPr/>
        </p:nvSpPr>
        <p:spPr>
          <a:xfrm>
            <a:off x="4625035" y="5578449"/>
            <a:ext cx="2946807" cy="209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実際のデータ例を貼るだけ！</a:t>
            </a:r>
            <a:endParaRPr lang="en-US" sz="1067"/>
          </a:p>
        </p:txBody>
      </p:sp>
      <p:pic>
        <p:nvPicPr>
          <p:cNvPr id="64" name="Image 15" descr="preencoded.png"/>
          <p:cNvPicPr>
            <a:picLocks noChangeAspect="1"/>
          </p:cNvPicPr>
          <p:nvPr/>
        </p:nvPicPr>
        <p:blipFill>
          <a:blip r:embed="rId11">
            <a:alphaModFix amt="60000"/>
          </a:blip>
          <a:srcRect l="-27" r="-27"/>
          <a:stretch/>
        </p:blipFill>
        <p:spPr>
          <a:xfrm>
            <a:off x="8002219" y="3441801"/>
            <a:ext cx="285903" cy="457200"/>
          </a:xfrm>
          <a:prstGeom prst="rect">
            <a:avLst/>
          </a:prstGeom>
        </p:spPr>
      </p:pic>
      <p:sp>
        <p:nvSpPr>
          <p:cNvPr id="65" name="Shape 47"/>
          <p:cNvSpPr/>
          <p:nvPr/>
        </p:nvSpPr>
        <p:spPr>
          <a:xfrm>
            <a:off x="8449665" y="2260397"/>
            <a:ext cx="3492399" cy="281940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/>
          <a:effectLst>
            <a:outerShdw blurRad="1143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 sz="1200"/>
          </a:p>
        </p:txBody>
      </p:sp>
      <p:sp>
        <p:nvSpPr>
          <p:cNvPr id="66" name="Shape 48"/>
          <p:cNvSpPr/>
          <p:nvPr/>
        </p:nvSpPr>
        <p:spPr>
          <a:xfrm>
            <a:off x="8449665" y="2260397"/>
            <a:ext cx="3492399" cy="76200"/>
          </a:xfrm>
          <a:prstGeom prst="roundRect">
            <a:avLst>
              <a:gd name="adj" fmla="val 86486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67" name="Image 16" descr="preencoded.png"/>
          <p:cNvPicPr>
            <a:picLocks noChangeAspect="1"/>
          </p:cNvPicPr>
          <p:nvPr/>
        </p:nvPicPr>
        <p:blipFill>
          <a:blip r:embed="rId16"/>
          <a:srcRect l="-124" r="-124"/>
          <a:stretch/>
        </p:blipFill>
        <p:spPr>
          <a:xfrm>
            <a:off x="9649359" y="2133601"/>
            <a:ext cx="1092403" cy="330403"/>
          </a:xfrm>
          <a:prstGeom prst="rect">
            <a:avLst/>
          </a:prstGeom>
        </p:spPr>
      </p:pic>
      <p:sp>
        <p:nvSpPr>
          <p:cNvPr id="68" name="Text 49"/>
          <p:cNvSpPr/>
          <p:nvPr/>
        </p:nvSpPr>
        <p:spPr>
          <a:xfrm>
            <a:off x="9627413" y="2133601"/>
            <a:ext cx="1136295" cy="3304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kern="0" spc="75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</a:t>
            </a:r>
            <a:endParaRPr lang="en-US" sz="1467"/>
          </a:p>
        </p:txBody>
      </p:sp>
      <p:sp>
        <p:nvSpPr>
          <p:cNvPr id="69" name="Text 50"/>
          <p:cNvSpPr txBox="1"/>
          <p:nvPr/>
        </p:nvSpPr>
        <p:spPr>
          <a:xfrm>
            <a:off x="8589264" y="2692603"/>
            <a:ext cx="32132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>
                <a:solidFill>
                  <a:srgbClr val="1580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使いやすいデータに！</a:t>
            </a:r>
            <a:endParaRPr lang="en-US" sz="1600"/>
          </a:p>
        </p:txBody>
      </p:sp>
      <p:pic>
        <p:nvPicPr>
          <p:cNvPr id="70" name="Image 17" descr="preencoded.png"/>
          <p:cNvPicPr>
            <a:picLocks noChangeAspect="1"/>
          </p:cNvPicPr>
          <p:nvPr/>
        </p:nvPicPr>
        <p:blipFill>
          <a:blip r:embed="rId17"/>
          <a:srcRect t="-3" b="-3"/>
          <a:stretch/>
        </p:blipFill>
        <p:spPr>
          <a:xfrm>
            <a:off x="8652663" y="3149804"/>
            <a:ext cx="3082137" cy="1943405"/>
          </a:xfrm>
          <a:prstGeom prst="rect">
            <a:avLst/>
          </a:prstGeom>
        </p:spPr>
      </p:pic>
      <p:sp>
        <p:nvSpPr>
          <p:cNvPr id="71" name="Shape 51"/>
          <p:cNvSpPr/>
          <p:nvPr/>
        </p:nvSpPr>
        <p:spPr>
          <a:xfrm>
            <a:off x="8811769" y="3594201"/>
            <a:ext cx="2768803" cy="6096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72" name="Image 18" descr="preencoded.png"/>
          <p:cNvPicPr>
            <a:picLocks noChangeAspect="1"/>
          </p:cNvPicPr>
          <p:nvPr/>
        </p:nvPicPr>
        <p:blipFill>
          <a:blip r:embed="rId18"/>
          <a:srcRect t="-16524" b="-16524"/>
          <a:stretch/>
        </p:blipFill>
        <p:spPr>
          <a:xfrm>
            <a:off x="8811768" y="3311348"/>
            <a:ext cx="133503" cy="202997"/>
          </a:xfrm>
          <a:prstGeom prst="rect">
            <a:avLst/>
          </a:prstGeom>
        </p:spPr>
      </p:pic>
      <p:sp>
        <p:nvSpPr>
          <p:cNvPr id="73" name="Text 52"/>
          <p:cNvSpPr txBox="1"/>
          <p:nvPr/>
        </p:nvSpPr>
        <p:spPr>
          <a:xfrm>
            <a:off x="9021471" y="3308299"/>
            <a:ext cx="103692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動的コンテンツ</a:t>
            </a:r>
            <a:endParaRPr lang="en-US" sz="1067"/>
          </a:p>
        </p:txBody>
      </p:sp>
      <p:pic>
        <p:nvPicPr>
          <p:cNvPr id="74" name="Image 19" descr="preencoded.png"/>
          <p:cNvPicPr>
            <a:picLocks noChangeAspect="1"/>
          </p:cNvPicPr>
          <p:nvPr/>
        </p:nvPicPr>
        <p:blipFill>
          <a:blip r:embed="rId19"/>
          <a:srcRect l="-8" r="-8"/>
          <a:stretch/>
        </p:blipFill>
        <p:spPr>
          <a:xfrm>
            <a:off x="8811768" y="3702101"/>
            <a:ext cx="2764536" cy="565099"/>
          </a:xfrm>
          <a:prstGeom prst="rect">
            <a:avLst/>
          </a:prstGeom>
        </p:spPr>
      </p:pic>
      <p:sp>
        <p:nvSpPr>
          <p:cNvPr id="75" name="Shape 53"/>
          <p:cNvSpPr/>
          <p:nvPr/>
        </p:nvSpPr>
        <p:spPr>
          <a:xfrm>
            <a:off x="8919668" y="3819754"/>
            <a:ext cx="254203" cy="330403"/>
          </a:xfrm>
          <a:prstGeom prst="roundRect">
            <a:avLst>
              <a:gd name="adj" fmla="val 71942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76" name="Image 20" descr="preencoded.png"/>
          <p:cNvPicPr>
            <a:picLocks noChangeAspect="1"/>
          </p:cNvPicPr>
          <p:nvPr/>
        </p:nvPicPr>
        <p:blipFill>
          <a:blip r:embed="rId20"/>
          <a:srcRect t="-16600" b="-16600"/>
          <a:stretch/>
        </p:blipFill>
        <p:spPr>
          <a:xfrm>
            <a:off x="8970264" y="3870351"/>
            <a:ext cx="152400" cy="202997"/>
          </a:xfrm>
          <a:prstGeom prst="rect">
            <a:avLst/>
          </a:prstGeom>
        </p:spPr>
      </p:pic>
      <p:sp>
        <p:nvSpPr>
          <p:cNvPr id="77" name="Text 54"/>
          <p:cNvSpPr txBox="1"/>
          <p:nvPr/>
        </p:nvSpPr>
        <p:spPr>
          <a:xfrm>
            <a:off x="9275064" y="3810000"/>
            <a:ext cx="2609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id</a:t>
            </a:r>
            <a:endParaRPr lang="en-US" sz="1200"/>
          </a:p>
        </p:txBody>
      </p:sp>
      <p:sp>
        <p:nvSpPr>
          <p:cNvPr id="78" name="Text 55"/>
          <p:cNvSpPr txBox="1"/>
          <p:nvPr/>
        </p:nvSpPr>
        <p:spPr>
          <a:xfrm>
            <a:off x="9275064" y="3988004"/>
            <a:ext cx="26090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123</a:t>
            </a:r>
            <a:endParaRPr lang="en-US" sz="867"/>
          </a:p>
        </p:txBody>
      </p:sp>
      <p:pic>
        <p:nvPicPr>
          <p:cNvPr id="79" name="Image 21" descr="preencoded.png"/>
          <p:cNvPicPr>
            <a:picLocks noChangeAspect="1"/>
          </p:cNvPicPr>
          <p:nvPr/>
        </p:nvPicPr>
        <p:blipFill>
          <a:blip r:embed="rId19"/>
          <a:srcRect l="-8" r="-8"/>
          <a:stretch/>
        </p:blipFill>
        <p:spPr>
          <a:xfrm>
            <a:off x="8811768" y="4369004"/>
            <a:ext cx="2764536" cy="565099"/>
          </a:xfrm>
          <a:prstGeom prst="rect">
            <a:avLst/>
          </a:prstGeom>
        </p:spPr>
      </p:pic>
      <p:sp>
        <p:nvSpPr>
          <p:cNvPr id="80" name="Shape 56"/>
          <p:cNvSpPr/>
          <p:nvPr/>
        </p:nvSpPr>
        <p:spPr>
          <a:xfrm>
            <a:off x="8919667" y="4486047"/>
            <a:ext cx="234696" cy="330403"/>
          </a:xfrm>
          <a:prstGeom prst="roundRect">
            <a:avLst>
              <a:gd name="adj" fmla="val 84240"/>
            </a:avLst>
          </a:prstGeom>
          <a:solidFill>
            <a:srgbClr val="DCFC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81" name="Image 22" descr="preencoded.png"/>
          <p:cNvPicPr>
            <a:picLocks noChangeAspect="1"/>
          </p:cNvPicPr>
          <p:nvPr/>
        </p:nvPicPr>
        <p:blipFill>
          <a:blip r:embed="rId21"/>
          <a:srcRect t="-16524" b="-16524"/>
          <a:stretch/>
        </p:blipFill>
        <p:spPr>
          <a:xfrm>
            <a:off x="8970264" y="4537253"/>
            <a:ext cx="133503" cy="202997"/>
          </a:xfrm>
          <a:prstGeom prst="rect">
            <a:avLst/>
          </a:prstGeom>
        </p:spPr>
      </p:pic>
      <p:sp>
        <p:nvSpPr>
          <p:cNvPr id="82" name="Text 57"/>
          <p:cNvSpPr txBox="1"/>
          <p:nvPr/>
        </p:nvSpPr>
        <p:spPr>
          <a:xfrm>
            <a:off x="9256167" y="4476903"/>
            <a:ext cx="4639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name</a:t>
            </a:r>
            <a:endParaRPr lang="en-US" sz="1200"/>
          </a:p>
        </p:txBody>
      </p:sp>
      <p:sp>
        <p:nvSpPr>
          <p:cNvPr id="83" name="Text 58"/>
          <p:cNvSpPr txBox="1"/>
          <p:nvPr/>
        </p:nvSpPr>
        <p:spPr>
          <a:xfrm>
            <a:off x="9256167" y="4654297"/>
            <a:ext cx="4639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67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"Done"</a:t>
            </a:r>
            <a:endParaRPr lang="en-US" sz="867"/>
          </a:p>
        </p:txBody>
      </p:sp>
      <p:sp>
        <p:nvSpPr>
          <p:cNvPr id="84" name="Shape 59"/>
          <p:cNvSpPr/>
          <p:nvPr/>
        </p:nvSpPr>
        <p:spPr>
          <a:xfrm>
            <a:off x="8652663" y="5244999"/>
            <a:ext cx="3086405" cy="888797"/>
          </a:xfrm>
          <a:prstGeom prst="roundRect">
            <a:avLst>
              <a:gd name="adj" fmla="val 15677"/>
            </a:avLst>
          </a:prstGeom>
          <a:solidFill>
            <a:srgbClr val="F0FDF4"/>
          </a:solidFill>
          <a:ln w="254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pic>
        <p:nvPicPr>
          <p:cNvPr id="85" name="Image 23" descr="preencoded.png"/>
          <p:cNvPicPr>
            <a:picLocks noChangeAspect="1"/>
          </p:cNvPicPr>
          <p:nvPr/>
        </p:nvPicPr>
        <p:blipFill>
          <a:blip r:embed="rId22"/>
          <a:srcRect t="-5600" b="-5600"/>
          <a:stretch/>
        </p:blipFill>
        <p:spPr>
          <a:xfrm>
            <a:off x="8792871" y="5384597"/>
            <a:ext cx="228600" cy="254203"/>
          </a:xfrm>
          <a:prstGeom prst="rect">
            <a:avLst/>
          </a:prstGeom>
        </p:spPr>
      </p:pic>
      <p:sp>
        <p:nvSpPr>
          <p:cNvPr id="86" name="Text 60"/>
          <p:cNvSpPr txBox="1"/>
          <p:nvPr/>
        </p:nvSpPr>
        <p:spPr>
          <a:xfrm>
            <a:off x="9122664" y="5384597"/>
            <a:ext cx="116616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37415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項目を選べる！</a:t>
            </a:r>
            <a:endParaRPr lang="en-US" sz="1200"/>
          </a:p>
        </p:txBody>
      </p:sp>
      <p:pic>
        <p:nvPicPr>
          <p:cNvPr id="87" name="Image 24" descr="preencoded.png"/>
          <p:cNvPicPr>
            <a:picLocks noChangeAspect="1"/>
          </p:cNvPicPr>
          <p:nvPr/>
        </p:nvPicPr>
        <p:blipFill>
          <a:blip r:embed="rId22"/>
          <a:srcRect t="-5600" b="-5600"/>
          <a:stretch/>
        </p:blipFill>
        <p:spPr>
          <a:xfrm>
            <a:off x="8792871" y="5740604"/>
            <a:ext cx="228600" cy="254203"/>
          </a:xfrm>
          <a:prstGeom prst="rect">
            <a:avLst/>
          </a:prstGeom>
        </p:spPr>
      </p:pic>
      <p:sp>
        <p:nvSpPr>
          <p:cNvPr id="88" name="Text 61"/>
          <p:cNvSpPr txBox="1"/>
          <p:nvPr/>
        </p:nvSpPr>
        <p:spPr>
          <a:xfrm>
            <a:off x="9122664" y="5740604"/>
            <a:ext cx="1172871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>
                <a:solidFill>
                  <a:srgbClr val="4B556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後の処理がラク</a:t>
            </a:r>
            <a:endParaRPr lang="en-US" sz="1200"/>
          </a:p>
        </p:txBody>
      </p:sp>
      <p:pic>
        <p:nvPicPr>
          <p:cNvPr id="89" name="Image 25" descr="preencoded.png"/>
          <p:cNvPicPr>
            <a:picLocks noChangeAspect="1"/>
          </p:cNvPicPr>
          <p:nvPr/>
        </p:nvPicPr>
        <p:blipFill>
          <a:blip r:embed="rId23"/>
          <a:srcRect t="-14" b="-14"/>
          <a:stretch/>
        </p:blipFill>
        <p:spPr>
          <a:xfrm>
            <a:off x="0" y="1"/>
            <a:ext cx="12192000" cy="711403"/>
          </a:xfrm>
          <a:prstGeom prst="rect">
            <a:avLst/>
          </a:prstGeom>
        </p:spPr>
      </p:pic>
      <p:sp>
        <p:nvSpPr>
          <p:cNvPr id="90" name="Shape 62"/>
          <p:cNvSpPr/>
          <p:nvPr/>
        </p:nvSpPr>
        <p:spPr>
          <a:xfrm>
            <a:off x="304800" y="98145"/>
            <a:ext cx="470001" cy="514503"/>
          </a:xfrm>
          <a:prstGeom prst="roundRect">
            <a:avLst>
              <a:gd name="adj" fmla="val 42065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91" name="Text 63"/>
          <p:cNvSpPr txBox="1"/>
          <p:nvPr/>
        </p:nvSpPr>
        <p:spPr>
          <a:xfrm>
            <a:off x="927201" y="165201"/>
            <a:ext cx="553760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kern="0" spc="75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JSON の解析 </a:t>
            </a:r>
            <a:r>
              <a:rPr lang="en-US" b="1" kern="0" spc="75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(Parse JSON)</a:t>
            </a:r>
            <a:endParaRPr lang="en-US" sz="3000"/>
          </a:p>
        </p:txBody>
      </p:sp>
      <p:pic>
        <p:nvPicPr>
          <p:cNvPr id="92" name="Image 26" descr="preencoded.png"/>
          <p:cNvPicPr>
            <a:picLocks noChangeAspect="1"/>
          </p:cNvPicPr>
          <p:nvPr/>
        </p:nvPicPr>
        <p:blipFill>
          <a:blip r:embed="rId24"/>
          <a:srcRect l="-57" r="-57"/>
          <a:stretch/>
        </p:blipFill>
        <p:spPr>
          <a:xfrm>
            <a:off x="406604" y="199949"/>
            <a:ext cx="267005" cy="304800"/>
          </a:xfrm>
          <a:prstGeom prst="rect">
            <a:avLst/>
          </a:prstGeom>
        </p:spPr>
      </p:pic>
      <p:sp>
        <p:nvSpPr>
          <p:cNvPr id="93" name="Text 64"/>
          <p:cNvSpPr txBox="1"/>
          <p:nvPr/>
        </p:nvSpPr>
        <p:spPr>
          <a:xfrm>
            <a:off x="10739324" y="139599"/>
            <a:ext cx="1509369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>
                <a:solidFill>
                  <a:srgbClr val="FFFFFF">
                    <a:alpha val="90000"/>
                  </a:srgb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PA45 Vol.5</a:t>
            </a:r>
            <a:endParaRPr lang="en-US"/>
          </a:p>
        </p:txBody>
      </p:sp>
      <p:sp>
        <p:nvSpPr>
          <p:cNvPr id="94" name="Text 65"/>
          <p:cNvSpPr txBox="1"/>
          <p:nvPr/>
        </p:nvSpPr>
        <p:spPr>
          <a:xfrm>
            <a:off x="10558272" y="393802"/>
            <a:ext cx="1542288" cy="178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kern="0" spc="50">
                <a:solidFill>
                  <a:srgbClr val="FFFFFF">
                    <a:alpha val="80000"/>
                  </a:srgb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Power Automate 解説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