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eiryo UI"/>
                <a:ea typeface="Meiryo UI"/>
              </a:rPr>
              <a:t>Copilotがあったから踏み出せた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eiryo UI"/>
                <a:ea typeface="Meiryo UI"/>
              </a:rPr>
              <a:t>― 非ITの私が、社内講座と社外コミュニティを立ち上げるまで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  <a:ea typeface="Meiryo UI"/>
              </a:rPr>
              <a:t>なんでもCopilot 大阪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eiryo UI"/>
                <a:ea typeface="Meiryo UI"/>
              </a:rPr>
              <a:t>はる（Haru） / マツダ株式会社 パワートレイン技術部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Meiryo UI"/>
                <a:ea typeface="Meiryo UI"/>
              </a:rPr>
              <a:t>Power Automate ハンズオン勉強会 PA45 主催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自己紹介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マツダ株式会社 パワートレイン技術部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Meiryo UI"/>
                <a:ea typeface="Meiryo UI"/>
              </a:rPr>
              <a:t>入社18年目 / 42歳 / エンジン・ミッション設計の部署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私、ITの専門家じゃないんです。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Meiryo UI"/>
                <a:ea typeface="Meiryo UI"/>
              </a:rPr>
              <a:t>コードも、ほぼ書けません。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Before ― 壁にぶつかっていた頃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 UI"/>
                <a:ea typeface="Meiryo UI"/>
              </a:rPr>
              <a:t>現場の手作業を Power Automate で自動化したい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・ エラーが出る → 意味がわからない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・ ググる → 記事の前提から違う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・ 英語の StackOverflow → 閉じる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・ 社内で聞ける人 → いない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A33"/>
                </a:solidFill>
                <a:latin typeface="Meiryo UI"/>
                <a:ea typeface="Meiryo UI"/>
              </a:rPr>
              <a:t>自走するための「足場」がそもそもなかった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3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Copilot との出会い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ある日、エラーをそのままコピペして貼った。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327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/>
          <a:lstStyle/>
          <a:p>
            <a:pPr algn="ctr"/>
            <a:r>
              <a:rPr sz="4000" b="1">
                <a:solidFill>
                  <a:srgbClr val="142A5C"/>
                </a:solidFill>
                <a:latin typeface="Meiryo UI"/>
                <a:ea typeface="Meiryo UI"/>
              </a:rPr>
              <a:t>「これ何ですか」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返ってきた答えは、普通の日本語で、私のレベルに合わせてくれていた。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6A33"/>
                </a:solidFill>
                <a:latin typeface="Meiryo UI"/>
                <a:ea typeface="Meiryo UI"/>
              </a:rPr>
              <a:t>「自分で勉強できる側」に回れるツールだ ― と思った瞬間。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4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A33"/>
                </a:solidFill>
                <a:latin typeface="Meiryo UI"/>
                <a:ea typeface="Meiryo UI"/>
              </a:rPr>
              <a:t>変化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質問するハードルが消えた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「こんなこと聞いていいのかな」が消えた。</a:t>
            </a:r>
          </a:p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恥ずかしくない先生がいると、人は本気で質問しに行く。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A33"/>
                </a:solidFill>
                <a:latin typeface="Meiryo UI"/>
                <a:ea typeface="Meiryo UI"/>
              </a:rPr>
              <a:t>→ 質問数 10倍以上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A33"/>
                </a:solidFill>
                <a:latin typeface="Meiryo UI"/>
                <a:ea typeface="Meiryo UI"/>
              </a:rPr>
              <a:t>変化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試行錯誤が「5分」になった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30分ググって解決しない、が、</a:t>
            </a:r>
          </a:p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5分で次に進める、になった。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A33"/>
                </a:solidFill>
                <a:latin typeface="Meiryo UI"/>
                <a:ea typeface="Meiryo UI"/>
              </a:rPr>
              <a:t>→ 1日に試せる量が桁違い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A33"/>
                </a:solidFill>
                <a:latin typeface="Meiryo UI"/>
                <a:ea typeface="Meiryo UI"/>
              </a:rPr>
              <a:t>変化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翻訳役がいる安心感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「JSONを整形して」は分からない。</a:t>
            </a:r>
          </a:p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「項目を箇条書きで取り出して」なら分かる。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A33"/>
                </a:solidFill>
                <a:latin typeface="Meiryo UI"/>
                <a:ea typeface="Meiryo UI"/>
              </a:rPr>
              <a:t>→ 専門記事が読めるようになる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A5C"/>
                </a:solidFill>
                <a:latin typeface="Meiryo UI"/>
                <a:ea typeface="Meiryo UI"/>
              </a:rPr>
              <a:t>踏み出せた一歩 ① 社内 Power Automate 講座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/>
          <a:lstStyle/>
          <a:p>
            <a:pPr algn="ctr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約200人</a:t>
            </a:r>
          </a:p>
          <a:p>
            <a:pPr algn="ctr"/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毎回の受講者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/>
          <a:lstStyle/>
          <a:p>
            <a:pPr algn="ctr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10万回+</a:t>
            </a:r>
          </a:p>
          <a:p>
            <a:pPr algn="ctr"/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配布フロー累計実行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64592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/>
          <a:lstStyle/>
          <a:p>
            <a:pPr algn="ctr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1,000万円+</a:t>
            </a:r>
          </a:p>
          <a:p>
            <a:pPr algn="ctr"/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コスト換算 削減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Meiryo UI"/>
                <a:ea typeface="Meiryo UI"/>
              </a:rPr>
              <a:t>スタート地点の私は、Power Automate の P も知らなかった。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講師は「教える内容」より「教え方」で詰まる。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24時間付き合ってくれる相棒がいた ― それが踏み出せた最大の理由。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A5C"/>
                </a:solidFill>
                <a:latin typeface="Meiryo UI"/>
                <a:ea typeface="Meiryo UI"/>
              </a:rPr>
              <a:t>踏み出せた一歩 ② コミュニティ運営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2A5C"/>
                </a:solidFill>
                <a:latin typeface="Meiryo UI"/>
                <a:ea typeface="Meiryo UI"/>
              </a:rPr>
              <a:t>■ PA45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73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 UI"/>
                <a:ea typeface="Meiryo UI"/>
              </a:rPr>
              <a:t>毎週の Power Automate ハンズオン勉強会 / Vol.10 まで開催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2A5C"/>
                </a:solidFill>
                <a:latin typeface="Meiryo UI"/>
                <a:ea typeface="Meiryo UI"/>
              </a:rPr>
              <a:t>■ 社内ミートアップ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017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 UI"/>
                <a:ea typeface="Meiryo UI"/>
              </a:rPr>
              <a:t>全社横断 / 次回 100人満員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2A5C"/>
                </a:solidFill>
                <a:latin typeface="Meiryo UI"/>
                <a:ea typeface="Meiryo UI"/>
              </a:rPr>
              <a:t>■ 広島 Plug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61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 UI"/>
                <a:ea typeface="Meiryo UI"/>
              </a:rPr>
              <a:t>地元のローカルコミュニティ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運営は「コンテンツ」より「事務作業の重さ」で折れる。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そこを Copilot が引き受けた → 人とつながる側に時間を使えた。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9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もし Copilot がいなかったら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Meiryo UI"/>
                <a:ea typeface="Meiryo UI"/>
              </a:rPr>
              <a:t>・講座は始まっていなかった</a:t>
            </a:r>
          </a:p>
          <a:p>
            <a:pPr algn="l"/>
            <a:r>
              <a:rPr sz="2800" b="0">
                <a:solidFill>
                  <a:srgbClr val="222222"/>
                </a:solidFill>
                <a:latin typeface="Meiryo UI"/>
                <a:ea typeface="Meiryo UI"/>
              </a:rPr>
              <a:t>・PA45 は生まれていなかった</a:t>
            </a:r>
          </a:p>
          <a:p>
            <a:pPr algn="l"/>
            <a:r>
              <a:rPr sz="2800" b="0">
                <a:solidFill>
                  <a:srgbClr val="222222"/>
                </a:solidFill>
                <a:latin typeface="Meiryo UI"/>
                <a:ea typeface="Meiryo UI"/>
              </a:rPr>
              <a:t>・ミートアップも立ち上がっていなかった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6A33"/>
                </a:solidFill>
                <a:latin typeface="Meiryo UI"/>
                <a:ea typeface="Meiryo UI"/>
              </a:rPr>
              <a:t>踏み出せない理由は「能力」ではなく、</a:t>
            </a:r>
          </a:p>
          <a:p>
            <a:pPr algn="l"/>
            <a:r>
              <a:rPr sz="2400" b="1">
                <a:solidFill>
                  <a:srgbClr val="E86A33"/>
                </a:solidFill>
                <a:latin typeface="Meiryo UI"/>
                <a:ea typeface="Meiryo UI"/>
              </a:rPr>
              <a:t>毎回ゼロから調べ直す「体力」がなかったこと。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  <a:ea typeface="Meiryo UI"/>
              </a:rPr>
              <a:t>Copilot は、得意な人を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  <a:ea typeface="Meiryo UI"/>
              </a:rPr>
              <a:t>もっと得意にするだけのものじゃない。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非ITの私たちが</a:t>
            </a:r>
          </a:p>
          <a:p>
            <a:pPr algn="l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「踏み出す側」に回るためのものでもある。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142A5C"/>
                </a:solidFill>
                <a:latin typeface="Meiryo UI"/>
                <a:ea typeface="Meiryo UI"/>
              </a:rPr>
              <a:t>ありがとうございました。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はる（Haru） / マツダ パワートレイン技術部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  <a:latin typeface="Meiryo UI"/>
                <a:ea typeface="Meiryo UI"/>
              </a:rPr>
              <a:t>PA45 主催 / Blog: automate136.com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