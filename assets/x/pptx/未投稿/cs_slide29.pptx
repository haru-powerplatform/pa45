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81305" y="952805"/>
            <a:ext cx="11430000" cy="1920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381305" y="228600"/>
            <a:ext cx="11544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SharePoint の JSON 文字列を Parse JSON で“ほぐす”</a:t>
            </a:r>
            <a:endParaRPr lang="en-US" sz="2200"/>
          </a:p>
        </p:txBody>
      </p:sp>
      <p:sp>
        <p:nvSpPr>
          <p:cNvPr id="6" name="Text 4"/>
          <p:cNvSpPr txBox="1"/>
          <p:nvPr/>
        </p:nvSpPr>
        <p:spPr>
          <a:xfrm>
            <a:off x="381305" y="609905"/>
            <a:ext cx="11621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の解析アクションは“説明書（スキーマ）”を渡して、動的コンテンツに変える</a:t>
            </a:r>
            <a:endParaRPr lang="en-US" sz="15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6" b="-6"/>
          <a:stretch/>
        </p:blipFill>
        <p:spPr>
          <a:xfrm>
            <a:off x="381305" y="1123798"/>
            <a:ext cx="3716122" cy="43434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0913" r="-10913"/>
          <a:stretch/>
        </p:blipFill>
        <p:spPr>
          <a:xfrm>
            <a:off x="562356" y="1019556"/>
            <a:ext cx="1695298" cy="2670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 rot="21480000">
            <a:off x="562356" y="1019556"/>
            <a:ext cx="18315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フロー全体像 &amp; 役割</a:t>
            </a:r>
            <a:endParaRPr lang="en-US" sz="1200"/>
          </a:p>
        </p:txBody>
      </p:sp>
      <p:sp>
        <p:nvSpPr>
          <p:cNvPr id="10" name="Shape 6"/>
          <p:cNvSpPr/>
          <p:nvPr/>
        </p:nvSpPr>
        <p:spPr>
          <a:xfrm>
            <a:off x="599846" y="1457554"/>
            <a:ext cx="3286354" cy="1971446"/>
          </a:xfrm>
          <a:prstGeom prst="roundRect">
            <a:avLst>
              <a:gd name="adj" fmla="val 5378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2139696" y="1638605"/>
            <a:ext cx="200254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7454" y="1971446"/>
            <a:ext cx="31720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SharePoint</a:t>
            </a:r>
            <a:endParaRPr lang="en-US" sz="1000"/>
          </a:p>
          <a:p>
            <a:pPr marL="0" indent="0" algn="ctr">
              <a:buNone/>
            </a:pPr>
            <a:r>
              <a:rPr lang="en-US" sz="9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(Get item)</a:t>
            </a:r>
            <a:endParaRPr lang="en-US" sz="1000"/>
          </a:p>
        </p:txBody>
      </p:sp>
      <p:sp>
        <p:nvSpPr>
          <p:cNvPr id="13" name="Shape 8"/>
          <p:cNvSpPr/>
          <p:nvPr/>
        </p:nvSpPr>
        <p:spPr>
          <a:xfrm>
            <a:off x="694944" y="2381098"/>
            <a:ext cx="3095244" cy="91440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9"/>
          <p:cNvSpPr txBox="1"/>
          <p:nvPr/>
        </p:nvSpPr>
        <p:spPr>
          <a:xfrm>
            <a:off x="780898" y="2467051"/>
            <a:ext cx="303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Before: ただの文字列</a:t>
            </a:r>
            <a:endParaRPr lang="en-US" sz="1200"/>
          </a:p>
        </p:txBody>
      </p:sp>
      <p:sp>
        <p:nvSpPr>
          <p:cNvPr id="15" name="Text 10"/>
          <p:cNvSpPr txBox="1"/>
          <p:nvPr/>
        </p:nvSpPr>
        <p:spPr>
          <a:xfrm>
            <a:off x="828446" y="2790749"/>
            <a:ext cx="26773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{"name":"田中", "amount":15000...}</a:t>
            </a:r>
            <a:endParaRPr lang="en-US" sz="12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68042" y="3491179"/>
            <a:ext cx="142646" cy="190195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68042" y="4919472"/>
            <a:ext cx="142646" cy="19019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99846" y="5181905"/>
            <a:ext cx="3286354" cy="1485900"/>
          </a:xfrm>
          <a:prstGeom prst="roundRect">
            <a:avLst>
              <a:gd name="adj" fmla="val 9467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125066" y="5362956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38251" y="5695798"/>
            <a:ext cx="32104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Teams / メール投稿</a:t>
            </a:r>
            <a:endParaRPr lang="en-US" sz="1000"/>
          </a:p>
        </p:txBody>
      </p:sp>
      <p:sp>
        <p:nvSpPr>
          <p:cNvPr id="21" name="Shape 13"/>
          <p:cNvSpPr/>
          <p:nvPr/>
        </p:nvSpPr>
        <p:spPr>
          <a:xfrm>
            <a:off x="694944" y="5939028"/>
            <a:ext cx="3095244" cy="5998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4"/>
          <p:cNvSpPr txBox="1"/>
          <p:nvPr/>
        </p:nvSpPr>
        <p:spPr>
          <a:xfrm>
            <a:off x="733349" y="5976518"/>
            <a:ext cx="3134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After: 個別に選べる！</a:t>
            </a:r>
            <a:endParaRPr lang="en-US" sz="1200"/>
          </a:p>
        </p:txBody>
      </p:sp>
      <p:sp>
        <p:nvSpPr>
          <p:cNvPr id="23" name="Shape 15"/>
          <p:cNvSpPr/>
          <p:nvPr/>
        </p:nvSpPr>
        <p:spPr>
          <a:xfrm>
            <a:off x="1665122" y="6262726"/>
            <a:ext cx="485546" cy="219456"/>
          </a:xfrm>
          <a:prstGeom prst="roundRect">
            <a:avLst>
              <a:gd name="adj" fmla="val 416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6"/>
          <p:cNvSpPr txBox="1"/>
          <p:nvPr/>
        </p:nvSpPr>
        <p:spPr>
          <a:xfrm>
            <a:off x="1665122" y="6262726"/>
            <a:ext cx="543154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name</a:t>
            </a:r>
            <a:endParaRPr lang="en-US" sz="800"/>
          </a:p>
        </p:txBody>
      </p:sp>
      <p:sp>
        <p:nvSpPr>
          <p:cNvPr id="25" name="Shape 17"/>
          <p:cNvSpPr/>
          <p:nvPr/>
        </p:nvSpPr>
        <p:spPr>
          <a:xfrm>
            <a:off x="2224735" y="6262726"/>
            <a:ext cx="590702" cy="219456"/>
          </a:xfrm>
          <a:prstGeom prst="roundRect">
            <a:avLst>
              <a:gd name="adj" fmla="val 416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8"/>
          <p:cNvSpPr txBox="1"/>
          <p:nvPr/>
        </p:nvSpPr>
        <p:spPr>
          <a:xfrm>
            <a:off x="2224735" y="6262726"/>
            <a:ext cx="64831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amount</a:t>
            </a:r>
            <a:endParaRPr lang="en-US" sz="80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rcRect l="-5" r="-5"/>
          <a:stretch/>
        </p:blipFill>
        <p:spPr>
          <a:xfrm>
            <a:off x="4401922" y="1123798"/>
            <a:ext cx="7408469" cy="224759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573829" y="1295705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r>
              <a:rPr lang="en-US" sz="13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設定画面 </a:t>
            </a:r>
            <a:endParaRPr lang="en-US" sz="1300"/>
          </a:p>
        </p:txBody>
      </p:sp>
      <p:sp>
        <p:nvSpPr>
          <p:cNvPr id="29" name="Shape 20"/>
          <p:cNvSpPr/>
          <p:nvPr/>
        </p:nvSpPr>
        <p:spPr>
          <a:xfrm>
            <a:off x="4573829" y="1676095"/>
            <a:ext cx="2800807" cy="705002"/>
          </a:xfrm>
          <a:prstGeom prst="roundRect">
            <a:avLst>
              <a:gd name="adj" fmla="val 2804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1"/>
          <p:cNvSpPr txBox="1"/>
          <p:nvPr/>
        </p:nvSpPr>
        <p:spPr>
          <a:xfrm>
            <a:off x="4831690" y="1762049"/>
            <a:ext cx="25621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Content</a:t>
            </a:r>
            <a:endParaRPr lang="en-US" sz="100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59782" y="1788566"/>
            <a:ext cx="133502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659782" y="1990649"/>
            <a:ext cx="27057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SharePoint の JsonData 列（JSON文字列）を入れる</a:t>
            </a:r>
            <a:endParaRPr lang="en-US" sz="900"/>
          </a:p>
        </p:txBody>
      </p:sp>
      <p:sp>
        <p:nvSpPr>
          <p:cNvPr id="33" name="Shape 23"/>
          <p:cNvSpPr/>
          <p:nvPr/>
        </p:nvSpPr>
        <p:spPr>
          <a:xfrm>
            <a:off x="4573829" y="2495398"/>
            <a:ext cx="2800807" cy="705002"/>
          </a:xfrm>
          <a:prstGeom prst="roundRect">
            <a:avLst>
              <a:gd name="adj" fmla="val 2804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24"/>
          <p:cNvSpPr txBox="1"/>
          <p:nvPr/>
        </p:nvSpPr>
        <p:spPr>
          <a:xfrm>
            <a:off x="4812487" y="2581351"/>
            <a:ext cx="2581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Schema</a:t>
            </a:r>
            <a:endParaRPr lang="en-US" sz="100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4659782" y="2607869"/>
            <a:ext cx="114300" cy="133502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4659782" y="2809951"/>
            <a:ext cx="27057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“サンプルから生成”で作る。</a:t>
            </a:r>
            <a:endParaRPr lang="en-US" sz="900"/>
          </a:p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（自分で書かなくてOK）</a:t>
            </a:r>
            <a:endParaRPr lang="en-US" sz="900"/>
          </a:p>
        </p:txBody>
      </p:sp>
      <p:sp>
        <p:nvSpPr>
          <p:cNvPr id="37" name="Shape 26"/>
          <p:cNvSpPr/>
          <p:nvPr/>
        </p:nvSpPr>
        <p:spPr>
          <a:xfrm>
            <a:off x="7518197" y="1295705"/>
            <a:ext cx="4123944" cy="1904695"/>
          </a:xfrm>
          <a:prstGeom prst="roundRect">
            <a:avLst>
              <a:gd name="adj" fmla="val 3841"/>
            </a:avLst>
          </a:prstGeom>
          <a:solidFill>
            <a:srgbClr val="F1F5F9"/>
          </a:solidFill>
          <a:ln w="381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27"/>
          <p:cNvSpPr/>
          <p:nvPr/>
        </p:nvSpPr>
        <p:spPr>
          <a:xfrm>
            <a:off x="7546543" y="1324051"/>
            <a:ext cx="4067251" cy="1848002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407347" y="1752905"/>
            <a:ext cx="342900" cy="34290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8507578" y="2171700"/>
            <a:ext cx="21433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 Parse JSON アクションの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スクリーンショットを入れる</a:t>
            </a:r>
            <a:endParaRPr lang="en-US" sz="1000"/>
          </a:p>
        </p:txBody>
      </p:sp>
      <p:sp>
        <p:nvSpPr>
          <p:cNvPr id="41" name="Text 29"/>
          <p:cNvSpPr txBox="1"/>
          <p:nvPr/>
        </p:nvSpPr>
        <p:spPr>
          <a:xfrm>
            <a:off x="8545068" y="2590495"/>
            <a:ext cx="207568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(Content と Schema が見える状態)</a:t>
            </a:r>
            <a:endParaRPr lang="en-US" sz="90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2"/>
          <a:srcRect t="-1" b="-1"/>
          <a:stretch/>
        </p:blipFill>
        <p:spPr>
          <a:xfrm>
            <a:off x="4401922" y="3524098"/>
            <a:ext cx="7408469" cy="1943100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4573829" y="3724351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r>
              <a:rPr lang="en-US" sz="1300" b="1">
                <a:solidFill>
                  <a:srgbClr val="0478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“ほぐれた”結果 </a:t>
            </a:r>
            <a:endParaRPr lang="en-US" sz="1300"/>
          </a:p>
        </p:txBody>
      </p:sp>
      <p:sp>
        <p:nvSpPr>
          <p:cNvPr id="44" name="Text 31"/>
          <p:cNvSpPr txBox="1"/>
          <p:nvPr/>
        </p:nvSpPr>
        <p:spPr>
          <a:xfrm>
            <a:off x="4573829" y="4105656"/>
            <a:ext cx="28767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Parse JSON のおかげで、</a:t>
            </a:r>
            <a:endParaRPr lang="en-US" sz="1000"/>
          </a:p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内の各項目が“選べる”</a:t>
            </a:r>
            <a:r>
              <a:rPr lang="en-US" sz="100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ようになる </a:t>
            </a:r>
            <a:endParaRPr lang="en-US" sz="1000"/>
          </a:p>
        </p:txBody>
      </p:sp>
      <p:sp>
        <p:nvSpPr>
          <p:cNvPr id="45" name="Shape 32"/>
          <p:cNvSpPr/>
          <p:nvPr/>
        </p:nvSpPr>
        <p:spPr>
          <a:xfrm>
            <a:off x="4573829" y="4653382"/>
            <a:ext cx="2800807" cy="619049"/>
          </a:xfrm>
          <a:prstGeom prst="roundRect">
            <a:avLst>
              <a:gd name="adj" fmla="val 18180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3"/>
          <p:cNvSpPr txBox="1"/>
          <p:nvPr/>
        </p:nvSpPr>
        <p:spPr>
          <a:xfrm>
            <a:off x="4659782" y="4738421"/>
            <a:ext cx="2820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065F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動的コンテンツとして登場：</a:t>
            </a:r>
            <a:endParaRPr lang="en-US" sz="900"/>
          </a:p>
        </p:txBody>
      </p:sp>
      <p:sp>
        <p:nvSpPr>
          <p:cNvPr id="47" name="Shape 34"/>
          <p:cNvSpPr/>
          <p:nvPr/>
        </p:nvSpPr>
        <p:spPr>
          <a:xfrm>
            <a:off x="4678985" y="4947818"/>
            <a:ext cx="619049" cy="219456"/>
          </a:xfrm>
          <a:prstGeom prst="roundRect">
            <a:avLst>
              <a:gd name="adj" fmla="val 416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35"/>
          <p:cNvSpPr txBox="1"/>
          <p:nvPr/>
        </p:nvSpPr>
        <p:spPr>
          <a:xfrm>
            <a:off x="4916729" y="4947818"/>
            <a:ext cx="43891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name</a:t>
            </a:r>
            <a:endParaRPr lang="en-US" sz="80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3"/>
          <a:srcRect l="-1677" r="-1677"/>
          <a:stretch/>
        </p:blipFill>
        <p:spPr>
          <a:xfrm>
            <a:off x="4783226" y="4999025"/>
            <a:ext cx="95098" cy="105156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5371186" y="4947818"/>
            <a:ext cx="724205" cy="219456"/>
          </a:xfrm>
          <a:prstGeom prst="roundRect">
            <a:avLst>
              <a:gd name="adj" fmla="val 416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37"/>
          <p:cNvSpPr txBox="1"/>
          <p:nvPr/>
        </p:nvSpPr>
        <p:spPr>
          <a:xfrm>
            <a:off x="5608930" y="4947818"/>
            <a:ext cx="544068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E40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amount</a:t>
            </a:r>
            <a:endParaRPr lang="en-US" sz="80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3"/>
          <a:srcRect l="-1677" r="-1677"/>
          <a:stretch/>
        </p:blipFill>
        <p:spPr>
          <a:xfrm>
            <a:off x="5476342" y="4999025"/>
            <a:ext cx="95098" cy="105156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7518197" y="3696005"/>
            <a:ext cx="4123944" cy="1600200"/>
          </a:xfrm>
          <a:prstGeom prst="roundRect">
            <a:avLst>
              <a:gd name="adj" fmla="val 5442"/>
            </a:avLst>
          </a:prstGeom>
          <a:solidFill>
            <a:srgbClr val="F1F5F9"/>
          </a:solidFill>
          <a:ln w="381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4"/>
          <a:srcRect l="-27" r="-27"/>
          <a:stretch/>
        </p:blipFill>
        <p:spPr>
          <a:xfrm>
            <a:off x="9364370" y="4000500"/>
            <a:ext cx="428854" cy="342900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8600846" y="4419295"/>
            <a:ext cx="19613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 Teams か メール投稿の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スクリーンショットを入れる</a:t>
            </a:r>
            <a:endParaRPr lang="en-US" sz="1000"/>
          </a:p>
        </p:txBody>
      </p:sp>
      <p:sp>
        <p:nvSpPr>
          <p:cNvPr id="56" name="Text 40"/>
          <p:cNvSpPr txBox="1"/>
          <p:nvPr/>
        </p:nvSpPr>
        <p:spPr>
          <a:xfrm>
            <a:off x="8471916" y="4839005"/>
            <a:ext cx="22219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(動的コンテンツを差し込んでいる画面)</a:t>
            </a:r>
            <a:endParaRPr lang="en-US" sz="900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5"/>
          <a:srcRect t="-7" b="-7"/>
          <a:stretch/>
        </p:blipFill>
        <p:spPr>
          <a:xfrm>
            <a:off x="381305" y="5581498"/>
            <a:ext cx="11430000" cy="1047902"/>
          </a:xfrm>
          <a:prstGeom prst="rect">
            <a:avLst/>
          </a:prstGeom>
        </p:spPr>
      </p:pic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33095" y="5876849"/>
            <a:ext cx="457200" cy="457200"/>
          </a:xfrm>
          <a:prstGeom prst="rect">
            <a:avLst/>
          </a:prstGeom>
        </p:spPr>
      </p:pic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90372" y="6010351"/>
            <a:ext cx="142646" cy="190195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1143000" y="5734202"/>
            <a:ext cx="1070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BBF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初心者のためのポイント 3選</a:t>
            </a:r>
            <a:endParaRPr lang="en-US" sz="1200"/>
          </a:p>
        </p:txBody>
      </p:sp>
      <p:sp>
        <p:nvSpPr>
          <p:cNvPr id="61" name="Shape 42"/>
          <p:cNvSpPr/>
          <p:nvPr/>
        </p:nvSpPr>
        <p:spPr>
          <a:xfrm>
            <a:off x="1143000" y="6001207"/>
            <a:ext cx="3409798" cy="476402"/>
          </a:xfrm>
          <a:prstGeom prst="roundRect">
            <a:avLst>
              <a:gd name="adj" fmla="val 30710"/>
            </a:avLst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43"/>
          <p:cNvSpPr txBox="1"/>
          <p:nvPr/>
        </p:nvSpPr>
        <p:spPr>
          <a:xfrm>
            <a:off x="1371600" y="6001207"/>
            <a:ext cx="3258007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SharePoint に JSON を“文字列として保存”しても、後から1項目ずつ取り出せる</a:t>
            </a:r>
            <a:endParaRPr lang="en-US" sz="900"/>
          </a:p>
        </p:txBody>
      </p:sp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18"/>
          <a:srcRect l="-2571" r="-2571"/>
          <a:stretch/>
        </p:blipFill>
        <p:spPr>
          <a:xfrm>
            <a:off x="1228954" y="6100877"/>
            <a:ext cx="105156" cy="114300"/>
          </a:xfrm>
          <a:prstGeom prst="rect">
            <a:avLst/>
          </a:prstGeom>
        </p:spPr>
      </p:pic>
      <p:sp>
        <p:nvSpPr>
          <p:cNvPr id="64" name="Shape 44"/>
          <p:cNvSpPr/>
          <p:nvPr/>
        </p:nvSpPr>
        <p:spPr>
          <a:xfrm>
            <a:off x="4699102" y="6001207"/>
            <a:ext cx="3409798" cy="476402"/>
          </a:xfrm>
          <a:prstGeom prst="roundRect">
            <a:avLst>
              <a:gd name="adj" fmla="val 30710"/>
            </a:avLst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45"/>
          <p:cNvSpPr txBox="1"/>
          <p:nvPr/>
        </p:nvSpPr>
        <p:spPr>
          <a:xfrm>
            <a:off x="4927702" y="6001207"/>
            <a:ext cx="3258007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Schema は </a:t>
            </a:r>
            <a:r>
              <a:rPr lang="en-US" sz="900" b="1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“サンプルから生成”</a:t>
            </a:r>
            <a:r>
              <a:rPr lang="en-US" sz="90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でOK。自分でゼロから書かなくていい</a:t>
            </a:r>
            <a:endParaRPr lang="en-US" sz="900"/>
          </a:p>
        </p:txBody>
      </p:sp>
      <p:pic>
        <p:nvPicPr>
          <p:cNvPr id="66" name="Image 18" descr="preencoded.png"/>
          <p:cNvPicPr>
            <a:picLocks noChangeAspect="1"/>
          </p:cNvPicPr>
          <p:nvPr/>
        </p:nvPicPr>
        <p:blipFill>
          <a:blip r:embed="rId18"/>
          <a:srcRect l="-2571" r="-2571"/>
          <a:stretch/>
        </p:blipFill>
        <p:spPr>
          <a:xfrm>
            <a:off x="4785055" y="6100877"/>
            <a:ext cx="105156" cy="114300"/>
          </a:xfrm>
          <a:prstGeom prst="rect">
            <a:avLst/>
          </a:prstGeom>
        </p:spPr>
      </p:pic>
      <p:sp>
        <p:nvSpPr>
          <p:cNvPr id="67" name="Shape 46"/>
          <p:cNvSpPr/>
          <p:nvPr/>
        </p:nvSpPr>
        <p:spPr>
          <a:xfrm>
            <a:off x="8255203" y="6001207"/>
            <a:ext cx="3409798" cy="476402"/>
          </a:xfrm>
          <a:prstGeom prst="roundRect">
            <a:avLst>
              <a:gd name="adj" fmla="val 30710"/>
            </a:avLst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Text 47"/>
          <p:cNvSpPr txBox="1"/>
          <p:nvPr/>
        </p:nvSpPr>
        <p:spPr>
          <a:xfrm>
            <a:off x="8483803" y="6001207"/>
            <a:ext cx="3258007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5E7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を型付きの動的コンテンツに変えることで、後続処理が楽になる</a:t>
            </a:r>
            <a:endParaRPr lang="en-US" sz="900"/>
          </a:p>
        </p:txBody>
      </p:sp>
      <p:pic>
        <p:nvPicPr>
          <p:cNvPr id="69" name="Image 19" descr="preencoded.png"/>
          <p:cNvPicPr>
            <a:picLocks noChangeAspect="1"/>
          </p:cNvPicPr>
          <p:nvPr/>
        </p:nvPicPr>
        <p:blipFill>
          <a:blip r:embed="rId18"/>
          <a:srcRect l="-2571" r="-2571"/>
          <a:stretch/>
        </p:blipFill>
        <p:spPr>
          <a:xfrm>
            <a:off x="8341157" y="6100877"/>
            <a:ext cx="105156" cy="114300"/>
          </a:xfrm>
          <a:prstGeom prst="rect">
            <a:avLst/>
          </a:prstGeom>
        </p:spPr>
      </p:pic>
      <p:sp>
        <p:nvSpPr>
          <p:cNvPr id="70" name="Text 48"/>
          <p:cNvSpPr txBox="1"/>
          <p:nvPr/>
        </p:nvSpPr>
        <p:spPr>
          <a:xfrm>
            <a:off x="7208215" y="6362395"/>
            <a:ext cx="48015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 Automate 45（PA45）｜Parse JSON × SharePoint 編</a:t>
            </a:r>
            <a:endParaRPr lang="en-US" sz="1200"/>
          </a:p>
        </p:txBody>
      </p:sp>
      <p:sp>
        <p:nvSpPr>
          <p:cNvPr id="71" name="Text 49"/>
          <p:cNvSpPr txBox="1"/>
          <p:nvPr/>
        </p:nvSpPr>
        <p:spPr>
          <a:xfrm>
            <a:off x="7608722" y="6590995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9CA3AF">
                    <a:alpha val="75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#PowerAutomate #ローコード #PA45</a:t>
            </a:r>
            <a:endParaRPr lang="en-US" sz="1200"/>
          </a:p>
        </p:txBody>
      </p:sp>
      <p:sp>
        <p:nvSpPr>
          <p:cNvPr id="72" name="Shape 50"/>
          <p:cNvSpPr/>
          <p:nvPr/>
        </p:nvSpPr>
        <p:spPr>
          <a:xfrm>
            <a:off x="599846" y="3752698"/>
            <a:ext cx="3286354" cy="1104595"/>
          </a:xfrm>
          <a:prstGeom prst="roundRect">
            <a:avLst>
              <a:gd name="adj" fmla="val 17127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51"/>
          <p:cNvSpPr txBox="1"/>
          <p:nvPr/>
        </p:nvSpPr>
        <p:spPr>
          <a:xfrm>
            <a:off x="579730" y="4265676"/>
            <a:ext cx="332475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の解析</a:t>
            </a:r>
            <a:endParaRPr lang="en-US" sz="1200"/>
          </a:p>
          <a:p>
            <a:pPr marL="0" indent="0" algn="ctr">
              <a:buNone/>
            </a:pPr>
            <a:r>
              <a:rPr lang="en-US" sz="900" b="1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(Parse JSON)</a:t>
            </a:r>
            <a:endParaRPr lang="en-US" sz="1200"/>
          </a:p>
        </p:txBody>
      </p:sp>
      <p:pic>
        <p:nvPicPr>
          <p:cNvPr id="74" name="Image 20" descr="preencoded.png"/>
          <p:cNvPicPr>
            <a:picLocks noChangeAspect="1"/>
          </p:cNvPicPr>
          <p:nvPr/>
        </p:nvPicPr>
        <p:blipFill>
          <a:blip r:embed="rId19"/>
          <a:srcRect t="-661" b="-661"/>
          <a:stretch/>
        </p:blipFill>
        <p:spPr>
          <a:xfrm>
            <a:off x="2144268" y="3905402"/>
            <a:ext cx="190195" cy="256946"/>
          </a:xfrm>
          <a:prstGeom prst="rect">
            <a:avLst/>
          </a:prstGeom>
        </p:spPr>
      </p:pic>
      <p:pic>
        <p:nvPicPr>
          <p:cNvPr id="75" name="Image 21" descr="preencoded.png"/>
          <p:cNvPicPr>
            <a:picLocks noChangeAspect="1"/>
          </p:cNvPicPr>
          <p:nvPr/>
        </p:nvPicPr>
        <p:blipFill>
          <a:blip r:embed="rId20"/>
          <a:srcRect l="-32322" r="-32322"/>
          <a:stretch/>
        </p:blipFill>
        <p:spPr>
          <a:xfrm>
            <a:off x="3528670" y="3745382"/>
            <a:ext cx="895198" cy="247802"/>
          </a:xfrm>
          <a:prstGeom prst="rect">
            <a:avLst/>
          </a:prstGeom>
        </p:spPr>
      </p:pic>
      <p:sp>
        <p:nvSpPr>
          <p:cNvPr id="76" name="Text 52"/>
          <p:cNvSpPr txBox="1"/>
          <p:nvPr/>
        </p:nvSpPr>
        <p:spPr>
          <a:xfrm rot="720000">
            <a:off x="3500323" y="3745382"/>
            <a:ext cx="952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>
                <a:solidFill>
                  <a:srgbClr val="7835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これを使う！</a:t>
            </a:r>
            <a:endParaRPr lang="en-US" sz="900"/>
          </a:p>
        </p:txBody>
      </p:sp>
      <p:pic>
        <p:nvPicPr>
          <p:cNvPr id="77" name="Image 22" descr="preencoded.png"/>
          <p:cNvPicPr>
            <a:picLocks noChangeAspect="1"/>
          </p:cNvPicPr>
          <p:nvPr/>
        </p:nvPicPr>
        <p:blipFill>
          <a:blip r:embed="rId21">
            <a:alphaModFix amt="80000"/>
          </a:blip>
          <a:srcRect/>
          <a:stretch/>
        </p:blipFill>
        <p:spPr>
          <a:xfrm>
            <a:off x="3993185" y="3057754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