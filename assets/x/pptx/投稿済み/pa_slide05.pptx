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3" name="四角形: 角を丸くする 82">
            <a:extLst>
              <a:ext uri="{FF2B5EF4-FFF2-40B4-BE49-F238E27FC236}">
                <a16:creationId xmlns:a16="http://schemas.microsoft.com/office/drawing/2014/main" id="{F1D7B103-B9E3-383F-4733-22C0D165E73F}"/>
              </a:ext>
            </a:extLst>
          </p:cNvPr>
          <p:cNvSpPr/>
          <p:nvPr/>
        </p:nvSpPr>
        <p:spPr>
          <a:xfrm>
            <a:off x="120645" y="1962651"/>
            <a:ext cx="3964621" cy="318579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363D8100-4D4C-33ED-4E5F-202F355F29E7}"/>
              </a:ext>
            </a:extLst>
          </p:cNvPr>
          <p:cNvSpPr/>
          <p:nvPr/>
        </p:nvSpPr>
        <p:spPr>
          <a:xfrm>
            <a:off x="6858" y="-69952"/>
            <a:ext cx="12191695" cy="76169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54659BC-3106-B7A3-7776-6581327CB2EA}"/>
              </a:ext>
            </a:extLst>
          </p:cNvPr>
          <p:cNvSpPr/>
          <p:nvPr/>
        </p:nvSpPr>
        <p:spPr>
          <a:xfrm>
            <a:off x="188332" y="78173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5942652-F290-B7CA-21E8-7A921BF03941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</a:t>
            </a: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.16</a:t>
            </a:r>
            <a:endParaRPr lang="en-US" sz="3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99F5B7C-84A5-4AA3-276A-0FB05D90F0D0}"/>
              </a:ext>
            </a:extLst>
          </p:cNvPr>
          <p:cNvSpPr txBox="1"/>
          <p:nvPr/>
        </p:nvSpPr>
        <p:spPr>
          <a:xfrm>
            <a:off x="1826709" y="148227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  :  </a:t>
            </a:r>
            <a:r>
              <a:rPr lang="en-US" altLang="ja-JP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ja-JP" altLang="en-US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の解析 処理が苦手な人向け</a:t>
            </a:r>
            <a:endParaRPr lang="en-US" sz="27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3B5B3E20-456C-B0D0-CF91-00CD3B9B47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8062" y="863743"/>
            <a:ext cx="11430000" cy="914400"/>
          </a:xfrm>
          <a:prstGeom prst="rect">
            <a:avLst/>
          </a:prstGeom>
        </p:spPr>
      </p:pic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15A189AC-B42D-C99D-CA63-1AF2F8A247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1" b="-31"/>
          <a:stretch/>
        </p:blipFill>
        <p:spPr>
          <a:xfrm>
            <a:off x="541578" y="1048995"/>
            <a:ext cx="342900" cy="495605"/>
          </a:xfrm>
          <a:prstGeom prst="rect">
            <a:avLst/>
          </a:prstGeom>
        </p:spPr>
      </p:pic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13A993CE-8C9E-9067-2B55-5287DEB6EC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6423" b="-16423"/>
          <a:stretch/>
        </p:blipFill>
        <p:spPr>
          <a:xfrm>
            <a:off x="626617" y="1134034"/>
            <a:ext cx="171907" cy="304495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75FF28F1-BBB5-E316-7123-679FABC1EA75}"/>
              </a:ext>
            </a:extLst>
          </p:cNvPr>
          <p:cNvSpPr txBox="1"/>
          <p:nvPr/>
        </p:nvSpPr>
        <p:spPr>
          <a:xfrm>
            <a:off x="1328373" y="1080154"/>
            <a:ext cx="10573858" cy="40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必要なところだけつまむ</a:t>
            </a:r>
            <a:r>
              <a:rPr lang="en-US" altLang="ja-JP" sz="28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Compose</a:t>
            </a:r>
            <a:r>
              <a:rPr lang="ja-JP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r>
              <a:rPr lang="ja-JP" alt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“ライト</a:t>
            </a:r>
            <a:r>
              <a:rPr lang="en-US" altLang="ja-JP" sz="4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ja-JP" alt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処理”</a:t>
            </a:r>
            <a:endParaRPr lang="en-US" sz="2800" dirty="0">
              <a:solidFill>
                <a:srgbClr val="0000CC"/>
              </a:solidFill>
            </a:endParaRPr>
          </a:p>
        </p:txBody>
      </p:sp>
      <p:sp>
        <p:nvSpPr>
          <p:cNvPr id="44" name="Text 23">
            <a:extLst>
              <a:ext uri="{FF2B5EF4-FFF2-40B4-BE49-F238E27FC236}">
                <a16:creationId xmlns:a16="http://schemas.microsoft.com/office/drawing/2014/main" id="{A5984F9E-A4C3-F7FB-0475-D3C0F167E5C4}"/>
              </a:ext>
            </a:extLst>
          </p:cNvPr>
          <p:cNvSpPr txBox="1"/>
          <p:nvPr/>
        </p:nvSpPr>
        <p:spPr>
          <a:xfrm>
            <a:off x="712570" y="5459676"/>
            <a:ext cx="5906008" cy="1038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・式はアクションに埋め込まない。</a:t>
            </a:r>
            <a:endParaRPr lang="en-US" altLang="ja-JP" sz="2400" b="1">
              <a:solidFill>
                <a:schemeClr val="tx1">
                  <a:lumMod val="75000"/>
                  <a:lumOff val="25000"/>
                </a:schemeClr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・いったん </a:t>
            </a:r>
            <a:r>
              <a:rPr lang="en-US" altLang="ja-JP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</a:t>
            </a:r>
            <a:r>
              <a:rPr lang="en-US" altLang="ja-JP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】 </a:t>
            </a: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に“避難”させる。</a:t>
            </a:r>
            <a:endParaRPr lang="en-US" altLang="ja-JP" sz="2400" b="1">
              <a:solidFill>
                <a:schemeClr val="tx1">
                  <a:lumMod val="75000"/>
                  <a:lumOff val="25000"/>
                </a:schemeClr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・フローの読みやすさが格段に上がる。</a:t>
            </a:r>
            <a:endParaRPr lang="en-US" altLang="ja-JP" sz="2400" b="1">
              <a:solidFill>
                <a:schemeClr val="tx1">
                  <a:lumMod val="75000"/>
                  <a:lumOff val="25000"/>
                </a:schemeClr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D377923E-6C7E-FDB9-C11D-70325016A1FF}"/>
              </a:ext>
            </a:extLst>
          </p:cNvPr>
          <p:cNvSpPr txBox="1"/>
          <p:nvPr/>
        </p:nvSpPr>
        <p:spPr>
          <a:xfrm>
            <a:off x="11367821" y="6514472"/>
            <a:ext cx="676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3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#PA45</a:t>
            </a:r>
            <a:endParaRPr lang="en-US" sz="1300" dirty="0"/>
          </a:p>
        </p:txBody>
      </p:sp>
      <p:pic>
        <p:nvPicPr>
          <p:cNvPr id="62" name="Image 26" descr="preencoded.png">
            <a:extLst>
              <a:ext uri="{FF2B5EF4-FFF2-40B4-BE49-F238E27FC236}">
                <a16:creationId xmlns:a16="http://schemas.microsoft.com/office/drawing/2014/main" id="{1F3E71C2-2AE3-69BA-587D-83801162F6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41172" y="2599937"/>
            <a:ext cx="1943671" cy="1334010"/>
          </a:xfrm>
          <a:prstGeom prst="rect">
            <a:avLst/>
          </a:prstGeom>
        </p:spPr>
      </p:pic>
      <p:sp>
        <p:nvSpPr>
          <p:cNvPr id="80" name="Text 37">
            <a:extLst>
              <a:ext uri="{FF2B5EF4-FFF2-40B4-BE49-F238E27FC236}">
                <a16:creationId xmlns:a16="http://schemas.microsoft.com/office/drawing/2014/main" id="{44AA5677-B04F-78F2-78E2-BEC45295A078}"/>
              </a:ext>
            </a:extLst>
          </p:cNvPr>
          <p:cNvSpPr txBox="1"/>
          <p:nvPr/>
        </p:nvSpPr>
        <p:spPr>
          <a:xfrm>
            <a:off x="446858" y="5223425"/>
            <a:ext cx="217091" cy="356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!</a:t>
            </a:r>
            <a:endParaRPr lang="en-US" sz="2400" dirty="0"/>
          </a:p>
        </p:txBody>
      </p:sp>
      <p:sp>
        <p:nvSpPr>
          <p:cNvPr id="86" name="Text 6">
            <a:extLst>
              <a:ext uri="{FF2B5EF4-FFF2-40B4-BE49-F238E27FC236}">
                <a16:creationId xmlns:a16="http://schemas.microsoft.com/office/drawing/2014/main" id="{F528FB24-6EB5-7477-45E4-F5C97E40A13E}"/>
              </a:ext>
            </a:extLst>
          </p:cNvPr>
          <p:cNvSpPr txBox="1"/>
          <p:nvPr/>
        </p:nvSpPr>
        <p:spPr>
          <a:xfrm>
            <a:off x="4499623" y="2395102"/>
            <a:ext cx="2509184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chemeClr val="bg1"/>
                </a:solidFill>
                <a:effectLst>
                  <a:glow rad="63500">
                    <a:srgbClr val="0000CC"/>
                  </a:glow>
                </a:effectLst>
                <a:latin typeface="Noto Sans JP" pitchFamily="34" charset="0"/>
                <a:ea typeface="Noto Sans JP" pitchFamily="34" charset="-122"/>
              </a:rPr>
              <a:t>式の</a:t>
            </a:r>
            <a:r>
              <a:rPr lang="ja-JP" altLang="en-US" sz="2400" b="1">
                <a:solidFill>
                  <a:schemeClr val="bg1"/>
                </a:solidFill>
                <a:effectLst>
                  <a:glow rad="177800">
                    <a:srgbClr val="0000CC"/>
                  </a:glow>
                </a:effectLst>
                <a:latin typeface="Noto Sans JP" pitchFamily="34" charset="0"/>
                <a:ea typeface="Noto Sans JP" pitchFamily="34" charset="-122"/>
              </a:rPr>
              <a:t>避難所！！</a:t>
            </a:r>
            <a:endParaRPr lang="en-US" sz="2400" dirty="0">
              <a:solidFill>
                <a:schemeClr val="bg1"/>
              </a:solidFill>
              <a:effectLst>
                <a:glow rad="177800">
                  <a:srgbClr val="0000CC"/>
                </a:glow>
              </a:effectLst>
            </a:endParaRPr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8BC6C2F3-DAED-9E49-8873-F4CD19C6474B}"/>
              </a:ext>
            </a:extLst>
          </p:cNvPr>
          <p:cNvSpPr txBox="1"/>
          <p:nvPr/>
        </p:nvSpPr>
        <p:spPr>
          <a:xfrm>
            <a:off x="666598" y="2708659"/>
            <a:ext cx="2509184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400" dirty="0">
              <a:solidFill>
                <a:schemeClr val="bg1"/>
              </a:solidFill>
              <a:effectLst>
                <a:glow rad="63500">
                  <a:srgbClr val="0000CC"/>
                </a:glow>
              </a:effectLst>
            </a:endParaRPr>
          </a:p>
        </p:txBody>
      </p:sp>
      <p:sp>
        <p:nvSpPr>
          <p:cNvPr id="95" name="Text 6">
            <a:extLst>
              <a:ext uri="{FF2B5EF4-FFF2-40B4-BE49-F238E27FC236}">
                <a16:creationId xmlns:a16="http://schemas.microsoft.com/office/drawing/2014/main" id="{1110B736-34FA-9D13-1E71-7570C8B44FDD}"/>
              </a:ext>
            </a:extLst>
          </p:cNvPr>
          <p:cNvSpPr txBox="1"/>
          <p:nvPr/>
        </p:nvSpPr>
        <p:spPr>
          <a:xfrm>
            <a:off x="211661" y="2304945"/>
            <a:ext cx="3856945" cy="1411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sz="2000" b="1">
                <a:solidFill>
                  <a:srgbClr val="C00000"/>
                </a:solidFill>
              </a:rPr>
              <a:t>・</a:t>
            </a:r>
            <a:r>
              <a:rPr lang="en-US" altLang="ja-JP" sz="2000" b="1">
                <a:solidFill>
                  <a:srgbClr val="C00000"/>
                </a:solidFill>
              </a:rPr>
              <a:t>Parse JON</a:t>
            </a:r>
            <a:r>
              <a:rPr lang="ja-JP" altLang="en-US" sz="2000" b="1">
                <a:solidFill>
                  <a:srgbClr val="C00000"/>
                </a:solidFill>
              </a:rPr>
              <a:t>を全部作るのが大変</a:t>
            </a:r>
            <a:endParaRPr lang="en-US" altLang="ja-JP" sz="2000" b="1">
              <a:solidFill>
                <a:srgbClr val="C00000"/>
              </a:solidFill>
            </a:endParaRPr>
          </a:p>
          <a:p>
            <a:r>
              <a:rPr lang="ja-JP" altLang="en-US" sz="20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</a:rPr>
              <a:t>・欲しいのは</a:t>
            </a:r>
            <a:r>
              <a:rPr lang="en-US" altLang="ja-JP" sz="20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</a:rPr>
              <a:t>1</a:t>
            </a:r>
            <a:r>
              <a:rPr lang="ja-JP" altLang="en-US" sz="20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</a:rPr>
              <a:t>個だけ！</a:t>
            </a:r>
            <a:endParaRPr lang="en-US" altLang="ja-JP" sz="2000" b="1">
              <a:solidFill>
                <a:srgbClr val="C00000"/>
              </a:solidFill>
              <a:latin typeface="Noto Sans JP" pitchFamily="34" charset="0"/>
              <a:ea typeface="Noto Sans JP" pitchFamily="34" charset="-122"/>
            </a:endParaRPr>
          </a:p>
          <a:p>
            <a:r>
              <a:rPr lang="ja-JP" altLang="en-US" sz="20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</a:rPr>
              <a:t>・ちょっと取り出したいだけ！</a:t>
            </a:r>
            <a:endParaRPr lang="en-US" altLang="ja-JP" sz="2000" b="1">
              <a:solidFill>
                <a:srgbClr val="C00000"/>
              </a:solidFill>
              <a:latin typeface="Noto Sans JP" pitchFamily="34" charset="0"/>
              <a:ea typeface="Noto Sans JP" pitchFamily="34" charset="-122"/>
            </a:endParaRPr>
          </a:p>
        </p:txBody>
      </p: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A640DD90-C2F9-59F6-9DBD-D9C540E356DB}"/>
              </a:ext>
            </a:extLst>
          </p:cNvPr>
          <p:cNvSpPr/>
          <p:nvPr/>
        </p:nvSpPr>
        <p:spPr>
          <a:xfrm>
            <a:off x="20683" y="-44552"/>
            <a:ext cx="12133218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Image 12" descr="preencoded.png">
            <a:extLst>
              <a:ext uri="{FF2B5EF4-FFF2-40B4-BE49-F238E27FC236}">
                <a16:creationId xmlns:a16="http://schemas.microsoft.com/office/drawing/2014/main" id="{D1B238A4-1D52-E438-2C3A-D9AC35D82D7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0" b="-10"/>
          <a:stretch/>
        </p:blipFill>
        <p:spPr>
          <a:xfrm>
            <a:off x="6888233" y="2312518"/>
            <a:ext cx="5156244" cy="2835926"/>
          </a:xfrm>
          <a:prstGeom prst="rect">
            <a:avLst/>
          </a:prstGeom>
        </p:spPr>
      </p:pic>
      <p:pic>
        <p:nvPicPr>
          <p:cNvPr id="34" name="Image 13" descr="preencoded.png">
            <a:extLst>
              <a:ext uri="{FF2B5EF4-FFF2-40B4-BE49-F238E27FC236}">
                <a16:creationId xmlns:a16="http://schemas.microsoft.com/office/drawing/2014/main" id="{D49308D7-1B23-EFB9-A046-7B8F0650C6D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42884" y="2524378"/>
            <a:ext cx="350912" cy="350912"/>
          </a:xfrm>
          <a:prstGeom prst="rect">
            <a:avLst/>
          </a:prstGeom>
        </p:spPr>
      </p:pic>
      <p:sp>
        <p:nvSpPr>
          <p:cNvPr id="33" name="Text 18">
            <a:extLst>
              <a:ext uri="{FF2B5EF4-FFF2-40B4-BE49-F238E27FC236}">
                <a16:creationId xmlns:a16="http://schemas.microsoft.com/office/drawing/2014/main" id="{D13C0488-2273-2027-687D-02D69152F321}"/>
              </a:ext>
            </a:extLst>
          </p:cNvPr>
          <p:cNvSpPr txBox="1"/>
          <p:nvPr/>
        </p:nvSpPr>
        <p:spPr>
          <a:xfrm>
            <a:off x="7441350" y="2490570"/>
            <a:ext cx="4321181" cy="46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フローの見通しがよくなる</a:t>
            </a:r>
            <a:endParaRPr lang="en-US" altLang="ja-JP" sz="2000" b="1">
              <a:solidFill>
                <a:srgbClr val="15803D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F4C3EC65-9E56-3646-6CC5-BBAC969E942F}"/>
              </a:ext>
            </a:extLst>
          </p:cNvPr>
          <p:cNvGrpSpPr/>
          <p:nvPr/>
        </p:nvGrpSpPr>
        <p:grpSpPr>
          <a:xfrm>
            <a:off x="7314868" y="1824092"/>
            <a:ext cx="4058360" cy="538045"/>
            <a:chOff x="9244584" y="2179015"/>
            <a:chExt cx="1163352" cy="286207"/>
          </a:xfrm>
        </p:grpSpPr>
        <p:sp>
          <p:nvSpPr>
            <p:cNvPr id="30" name="Shape 15">
              <a:extLst>
                <a:ext uri="{FF2B5EF4-FFF2-40B4-BE49-F238E27FC236}">
                  <a16:creationId xmlns:a16="http://schemas.microsoft.com/office/drawing/2014/main" id="{233B0B25-D93F-E665-274E-8035EB9FFD6D}"/>
                </a:ext>
              </a:extLst>
            </p:cNvPr>
            <p:cNvSpPr/>
            <p:nvPr/>
          </p:nvSpPr>
          <p:spPr>
            <a:xfrm>
              <a:off x="9244584" y="2179015"/>
              <a:ext cx="1123798" cy="286207"/>
            </a:xfrm>
            <a:prstGeom prst="roundRect">
              <a:avLst>
                <a:gd name="adj" fmla="val 319489"/>
              </a:avLst>
            </a:prstGeom>
            <a:solidFill>
              <a:srgbClr val="DCFCE7"/>
            </a:solidFill>
            <a:ln w="34925">
              <a:solidFill>
                <a:srgbClr val="166534"/>
              </a:solidFill>
              <a:prstDash val="solid"/>
            </a:ln>
          </p:spPr>
          <p:txBody>
            <a:bodyPr/>
            <a:lstStyle/>
            <a:p>
              <a:endParaRPr lang="ja-JP" altLang="en-US" sz="5400"/>
            </a:p>
          </p:txBody>
        </p:sp>
        <p:sp>
          <p:nvSpPr>
            <p:cNvPr id="31" name="Text 16">
              <a:extLst>
                <a:ext uri="{FF2B5EF4-FFF2-40B4-BE49-F238E27FC236}">
                  <a16:creationId xmlns:a16="http://schemas.microsoft.com/office/drawing/2014/main" id="{10F65C8A-7363-3E8F-3152-E31653950C6E}"/>
                </a:ext>
              </a:extLst>
            </p:cNvPr>
            <p:cNvSpPr txBox="1"/>
            <p:nvPr/>
          </p:nvSpPr>
          <p:spPr>
            <a:xfrm>
              <a:off x="9317643" y="2218902"/>
              <a:ext cx="109029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ja-JP" altLang="en-US" sz="2400" b="1">
                  <a:solidFill>
                    <a:srgbClr val="16653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避難させるとどう変わる？</a:t>
              </a:r>
              <a:endParaRPr lang="en-US" sz="2400" dirty="0"/>
            </a:p>
          </p:txBody>
        </p:sp>
      </p:grp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EEF38A12-BC9B-23A2-27DA-4035687C92AE}"/>
              </a:ext>
            </a:extLst>
          </p:cNvPr>
          <p:cNvSpPr/>
          <p:nvPr/>
        </p:nvSpPr>
        <p:spPr>
          <a:xfrm>
            <a:off x="249515" y="831975"/>
            <a:ext cx="193903" cy="992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FACA4A77-84DF-4CFC-4D1F-944512F5C1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645" y="657572"/>
            <a:ext cx="1241251" cy="1241251"/>
          </a:xfrm>
          <a:prstGeom prst="rect">
            <a:avLst/>
          </a:prstGeom>
        </p:spPr>
      </p:pic>
      <p:pic>
        <p:nvPicPr>
          <p:cNvPr id="19" name="Image 13" descr="preencoded.png">
            <a:extLst>
              <a:ext uri="{FF2B5EF4-FFF2-40B4-BE49-F238E27FC236}">
                <a16:creationId xmlns:a16="http://schemas.microsoft.com/office/drawing/2014/main" id="{0181F116-1131-32CF-FCC0-416392C67C9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42884" y="3365491"/>
            <a:ext cx="350912" cy="350912"/>
          </a:xfrm>
          <a:prstGeom prst="rect">
            <a:avLst/>
          </a:prstGeom>
        </p:spPr>
      </p:pic>
      <p:sp>
        <p:nvSpPr>
          <p:cNvPr id="20" name="Text 18">
            <a:extLst>
              <a:ext uri="{FF2B5EF4-FFF2-40B4-BE49-F238E27FC236}">
                <a16:creationId xmlns:a16="http://schemas.microsoft.com/office/drawing/2014/main" id="{E6DE4AF9-C768-93ED-CF90-FD62CE410647}"/>
              </a:ext>
            </a:extLst>
          </p:cNvPr>
          <p:cNvSpPr txBox="1"/>
          <p:nvPr/>
        </p:nvSpPr>
        <p:spPr>
          <a:xfrm>
            <a:off x="7441350" y="3320602"/>
            <a:ext cx="4321181" cy="46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デバッグしやすい</a:t>
            </a:r>
            <a:endParaRPr lang="en-US" altLang="ja-JP" sz="2000" b="1">
              <a:solidFill>
                <a:srgbClr val="15803D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21" name="Image 13" descr="preencoded.png">
            <a:extLst>
              <a:ext uri="{FF2B5EF4-FFF2-40B4-BE49-F238E27FC236}">
                <a16:creationId xmlns:a16="http://schemas.microsoft.com/office/drawing/2014/main" id="{8481340C-83E8-AE4A-1A38-2860AA2C24C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42884" y="4251380"/>
            <a:ext cx="350912" cy="350912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7B0DDF51-EF87-89C5-6D63-1BCA52E4BEAD}"/>
              </a:ext>
            </a:extLst>
          </p:cNvPr>
          <p:cNvSpPr txBox="1"/>
          <p:nvPr/>
        </p:nvSpPr>
        <p:spPr>
          <a:xfrm>
            <a:off x="7441350" y="4206491"/>
            <a:ext cx="4321181" cy="46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仕様変更にも強い</a:t>
            </a:r>
            <a:endParaRPr lang="en-US" altLang="ja-JP" sz="2000" b="1">
              <a:solidFill>
                <a:srgbClr val="15803D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70" name="図 69" descr="A blue-clad young boy is depicted with a downcast expression and tears, possibly reflecting sadness or distress.&#10;&#10;AI 生成コンテンツは誤りを含む可能性があります。">
            <a:extLst>
              <a:ext uri="{FF2B5EF4-FFF2-40B4-BE49-F238E27FC236}">
                <a16:creationId xmlns:a16="http://schemas.microsoft.com/office/drawing/2014/main" id="{EAFDAEB1-EEAF-0A45-0E08-0ABEE6DC65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6847" y="4036890"/>
            <a:ext cx="1043433" cy="1162598"/>
          </a:xfrm>
          <a:prstGeom prst="rect">
            <a:avLst/>
          </a:prstGeom>
        </p:spPr>
      </p:pic>
      <p:pic>
        <p:nvPicPr>
          <p:cNvPr id="73" name="図 72" descr="The image shows a button with a dropdown arrow, with a small, unspecified text in Chinese.&#10;&#10;AI 生成コンテンツは誤りを含む可能性があります。">
            <a:extLst>
              <a:ext uri="{FF2B5EF4-FFF2-40B4-BE49-F238E27FC236}">
                <a16:creationId xmlns:a16="http://schemas.microsoft.com/office/drawing/2014/main" id="{DE0FB163-E356-E510-F5C6-8FB65E23B1E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3975" t="18769" r="43251" b="7075"/>
          <a:stretch>
            <a:fillRect/>
          </a:stretch>
        </p:blipFill>
        <p:spPr>
          <a:xfrm>
            <a:off x="4449350" y="2907159"/>
            <a:ext cx="2070380" cy="7677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7" name="図 86" descr="X&#10;&#10;AI 生成コンテンツは誤りを含む可能性があります。">
            <a:extLst>
              <a:ext uri="{FF2B5EF4-FFF2-40B4-BE49-F238E27FC236}">
                <a16:creationId xmlns:a16="http://schemas.microsoft.com/office/drawing/2014/main" id="{266FC162-BEAA-1462-9AD7-EFE85BF8D9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6833" y="3743341"/>
            <a:ext cx="1975453" cy="9877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0" name="図 89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EC891827-9988-699B-CC5E-15E826DFF65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742" y="3959758"/>
            <a:ext cx="1047572" cy="1239730"/>
          </a:xfrm>
          <a:prstGeom prst="rect">
            <a:avLst/>
          </a:prstGeom>
        </p:spPr>
      </p:pic>
      <p:sp>
        <p:nvSpPr>
          <p:cNvPr id="91" name="Text 5">
            <a:extLst>
              <a:ext uri="{FF2B5EF4-FFF2-40B4-BE49-F238E27FC236}">
                <a16:creationId xmlns:a16="http://schemas.microsoft.com/office/drawing/2014/main" id="{5FF48741-3CA5-EE4D-0693-0A45DE3EE528}"/>
              </a:ext>
            </a:extLst>
          </p:cNvPr>
          <p:cNvSpPr txBox="1"/>
          <p:nvPr/>
        </p:nvSpPr>
        <p:spPr>
          <a:xfrm>
            <a:off x="7093919" y="2832105"/>
            <a:ext cx="5290670" cy="40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「この式はここで計算してる」と場所が明確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96" name="Text 5">
            <a:extLst>
              <a:ext uri="{FF2B5EF4-FFF2-40B4-BE49-F238E27FC236}">
                <a16:creationId xmlns:a16="http://schemas.microsoft.com/office/drawing/2014/main" id="{00095B27-14D0-B341-954D-2732D898D2B4}"/>
              </a:ext>
            </a:extLst>
          </p:cNvPr>
          <p:cNvSpPr txBox="1"/>
          <p:nvPr/>
        </p:nvSpPr>
        <p:spPr>
          <a:xfrm>
            <a:off x="7137731" y="3709016"/>
            <a:ext cx="4550331" cy="40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実行履歴で </a:t>
            </a:r>
            <a:r>
              <a:rPr lang="en-US" altLang="ja-JP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Compose </a:t>
            </a: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だけ見れば </a:t>
            </a:r>
            <a:r>
              <a:rPr lang="en-US" altLang="ja-JP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100" name="Text 5">
            <a:extLst>
              <a:ext uri="{FF2B5EF4-FFF2-40B4-BE49-F238E27FC236}">
                <a16:creationId xmlns:a16="http://schemas.microsoft.com/office/drawing/2014/main" id="{7E6ED068-EEC2-F04A-0562-CAB15A4526CC}"/>
              </a:ext>
            </a:extLst>
          </p:cNvPr>
          <p:cNvSpPr txBox="1"/>
          <p:nvPr/>
        </p:nvSpPr>
        <p:spPr>
          <a:xfrm>
            <a:off x="7137731" y="4585845"/>
            <a:ext cx="4786369" cy="40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式を直す場所が </a:t>
            </a:r>
            <a:r>
              <a:rPr lang="en-US" altLang="ja-JP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Compose</a:t>
            </a: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ひとつに集約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103" name="Text 6">
            <a:extLst>
              <a:ext uri="{FF2B5EF4-FFF2-40B4-BE49-F238E27FC236}">
                <a16:creationId xmlns:a16="http://schemas.microsoft.com/office/drawing/2014/main" id="{15C3A7FB-F225-3A12-28F4-3CAE1BC39F23}"/>
              </a:ext>
            </a:extLst>
          </p:cNvPr>
          <p:cNvSpPr txBox="1"/>
          <p:nvPr/>
        </p:nvSpPr>
        <p:spPr>
          <a:xfrm>
            <a:off x="4285699" y="4772597"/>
            <a:ext cx="2787919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chemeClr val="bg1"/>
                </a:solidFill>
                <a:effectLst>
                  <a:glow rad="177800">
                    <a:srgbClr val="0000CC"/>
                  </a:glow>
                </a:effectLst>
              </a:rPr>
              <a:t>この中にまとめて避難！</a:t>
            </a:r>
            <a:endParaRPr lang="en-US" b="1" dirty="0">
              <a:solidFill>
                <a:schemeClr val="bg1"/>
              </a:solidFill>
              <a:effectLst>
                <a:glow rad="177800">
                  <a:srgbClr val="0000CC"/>
                </a:glow>
              </a:effectLst>
            </a:endParaRPr>
          </a:p>
        </p:txBody>
      </p:sp>
      <p:sp>
        <p:nvSpPr>
          <p:cNvPr id="106" name="四角形: 角を丸くする 105">
            <a:extLst>
              <a:ext uri="{FF2B5EF4-FFF2-40B4-BE49-F238E27FC236}">
                <a16:creationId xmlns:a16="http://schemas.microsoft.com/office/drawing/2014/main" id="{D22F4DCA-CA6B-6D06-E99B-B1F13022590A}"/>
              </a:ext>
            </a:extLst>
          </p:cNvPr>
          <p:cNvSpPr/>
          <p:nvPr/>
        </p:nvSpPr>
        <p:spPr>
          <a:xfrm>
            <a:off x="429346" y="5368746"/>
            <a:ext cx="11499019" cy="1239730"/>
          </a:xfrm>
          <a:prstGeom prst="roundRect">
            <a:avLst/>
          </a:prstGeom>
          <a:noFill/>
          <a:ln w="539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8" name="図 107" descr="0￧ﾧﾒ&#10;&#10;AI 生成コンテンツは誤りを含む可能性があります。">
            <a:extLst>
              <a:ext uri="{FF2B5EF4-FFF2-40B4-BE49-F238E27FC236}">
                <a16:creationId xmlns:a16="http://schemas.microsoft.com/office/drawing/2014/main" id="{74FFC287-8F62-052B-1795-4AF02A776D8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73618" y="5363259"/>
            <a:ext cx="1952776" cy="6570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0" name="図 109" descr="2026￥ﾹﾴ3￦ﾜﾈ5￦ﾗﾥ&#10;&#10;AI 生成コンテンツは誤りを含む可能性があります。">
            <a:extLst>
              <a:ext uri="{FF2B5EF4-FFF2-40B4-BE49-F238E27FC236}">
                <a16:creationId xmlns:a16="http://schemas.microsoft.com/office/drawing/2014/main" id="{25D945EB-143F-5420-F733-DA3654B5BBA4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6503" t="4894"/>
          <a:stretch>
            <a:fillRect/>
          </a:stretch>
        </p:blipFill>
        <p:spPr>
          <a:xfrm>
            <a:off x="9807119" y="5219133"/>
            <a:ext cx="2169867" cy="14780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1" name="Image 10" descr="preencoded.png">
            <a:extLst>
              <a:ext uri="{FF2B5EF4-FFF2-40B4-BE49-F238E27FC236}">
                <a16:creationId xmlns:a16="http://schemas.microsoft.com/office/drawing/2014/main" id="{24D1944C-A7B1-A8C5-D883-B30F26C78C6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-80" r="-80"/>
          <a:stretch/>
        </p:blipFill>
        <p:spPr>
          <a:xfrm>
            <a:off x="36476" y="5431676"/>
            <a:ext cx="520848" cy="1040033"/>
          </a:xfrm>
          <a:prstGeom prst="rect">
            <a:avLst/>
          </a:prstGeom>
        </p:spPr>
      </p:pic>
      <p:sp>
        <p:nvSpPr>
          <p:cNvPr id="112" name="Text 23">
            <a:extLst>
              <a:ext uri="{FF2B5EF4-FFF2-40B4-BE49-F238E27FC236}">
                <a16:creationId xmlns:a16="http://schemas.microsoft.com/office/drawing/2014/main" id="{6F4AC2F3-F6DD-66F3-8D59-11BE08646BBD}"/>
              </a:ext>
            </a:extLst>
          </p:cNvPr>
          <p:cNvSpPr txBox="1"/>
          <p:nvPr/>
        </p:nvSpPr>
        <p:spPr>
          <a:xfrm>
            <a:off x="6618578" y="6089770"/>
            <a:ext cx="3217149" cy="72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b="1">
                <a:solidFill>
                  <a:schemeClr val="bg1"/>
                </a:solidFill>
                <a:effectLst>
                  <a:glow rad="152400">
                    <a:schemeClr val="tx1">
                      <a:lumMod val="95000"/>
                      <a:lumOff val="5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b="1">
                <a:solidFill>
                  <a:schemeClr val="bg1"/>
                </a:solidFill>
                <a:effectLst>
                  <a:glow rad="152400">
                    <a:schemeClr val="tx1">
                      <a:lumMod val="95000"/>
                      <a:lumOff val="5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</a:t>
            </a:r>
            <a:r>
              <a:rPr lang="en-US" altLang="ja-JP" b="1">
                <a:solidFill>
                  <a:schemeClr val="bg1"/>
                </a:solidFill>
                <a:effectLst>
                  <a:glow rad="152400">
                    <a:schemeClr val="tx1">
                      <a:lumMod val="95000"/>
                      <a:lumOff val="5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】</a:t>
            </a:r>
            <a:r>
              <a:rPr lang="ja-JP" altLang="en-US" b="1">
                <a:solidFill>
                  <a:schemeClr val="bg1"/>
                </a:solidFill>
                <a:effectLst>
                  <a:glow rad="152400">
                    <a:schemeClr val="tx1">
                      <a:lumMod val="95000"/>
                      <a:lumOff val="5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の出力だけ見れば</a:t>
            </a:r>
          </a:p>
          <a:p>
            <a:pPr marL="0" indent="0" algn="l">
              <a:buNone/>
            </a:pPr>
            <a:r>
              <a:rPr lang="ja-JP" altLang="en-US" b="1">
                <a:solidFill>
                  <a:schemeClr val="bg1"/>
                </a:solidFill>
                <a:effectLst>
                  <a:glow rad="152400">
                    <a:schemeClr val="tx1">
                      <a:lumMod val="95000"/>
                      <a:lumOff val="5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式の結果がすぐ分かる。</a:t>
            </a:r>
          </a:p>
        </p:txBody>
      </p:sp>
      <p:cxnSp>
        <p:nvCxnSpPr>
          <p:cNvPr id="113" name="Connector 41">
            <a:extLst>
              <a:ext uri="{FF2B5EF4-FFF2-40B4-BE49-F238E27FC236}">
                <a16:creationId xmlns:a16="http://schemas.microsoft.com/office/drawing/2014/main" id="{782695A5-ED34-A2B9-AE00-D61103CD9A97}"/>
              </a:ext>
            </a:extLst>
          </p:cNvPr>
          <p:cNvCxnSpPr>
            <a:cxnSpLocks/>
          </p:cNvCxnSpPr>
          <p:nvPr/>
        </p:nvCxnSpPr>
        <p:spPr>
          <a:xfrm flipV="1">
            <a:off x="9541994" y="6273132"/>
            <a:ext cx="654957" cy="43405"/>
          </a:xfrm>
          <a:prstGeom prst="line">
            <a:avLst/>
          </a:prstGeom>
          <a:ln w="50800">
            <a:solidFill>
              <a:srgbClr val="2563EB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8" name="グループ化 117">
            <a:extLst>
              <a:ext uri="{FF2B5EF4-FFF2-40B4-BE49-F238E27FC236}">
                <a16:creationId xmlns:a16="http://schemas.microsoft.com/office/drawing/2014/main" id="{9696159B-EB74-3272-D86F-1701523B1066}"/>
              </a:ext>
            </a:extLst>
          </p:cNvPr>
          <p:cNvGrpSpPr/>
          <p:nvPr/>
        </p:nvGrpSpPr>
        <p:grpSpPr>
          <a:xfrm>
            <a:off x="4054905" y="1841786"/>
            <a:ext cx="3246138" cy="520008"/>
            <a:chOff x="3873773" y="1867841"/>
            <a:chExt cx="3246138" cy="520008"/>
          </a:xfrm>
        </p:grpSpPr>
        <p:sp>
          <p:nvSpPr>
            <p:cNvPr id="16" name="Shape 7">
              <a:extLst>
                <a:ext uri="{FF2B5EF4-FFF2-40B4-BE49-F238E27FC236}">
                  <a16:creationId xmlns:a16="http://schemas.microsoft.com/office/drawing/2014/main" id="{6C0FEB1A-051C-FC7E-D1D4-56A1A0DDA51E}"/>
                </a:ext>
              </a:extLst>
            </p:cNvPr>
            <p:cNvSpPr/>
            <p:nvPr/>
          </p:nvSpPr>
          <p:spPr>
            <a:xfrm>
              <a:off x="3873773" y="1873957"/>
              <a:ext cx="3103094" cy="513892"/>
            </a:xfrm>
            <a:prstGeom prst="roundRect">
              <a:avLst>
                <a:gd name="adj" fmla="val 31948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rgbClr val="0000CC"/>
              </a:solidFill>
              <a:prstDash val="solid"/>
            </a:ln>
          </p:spPr>
          <p:txBody>
            <a:bodyPr/>
            <a:lstStyle/>
            <a:p>
              <a:endParaRPr lang="ja-JP" altLang="en-US" sz="4800"/>
            </a:p>
          </p:txBody>
        </p:sp>
        <p:sp>
          <p:nvSpPr>
            <p:cNvPr id="66" name="Text 36">
              <a:extLst>
                <a:ext uri="{FF2B5EF4-FFF2-40B4-BE49-F238E27FC236}">
                  <a16:creationId xmlns:a16="http://schemas.microsoft.com/office/drawing/2014/main" id="{3FFE6105-DCEE-0251-4B4A-147896A7349F}"/>
                </a:ext>
              </a:extLst>
            </p:cNvPr>
            <p:cNvSpPr txBox="1"/>
            <p:nvPr/>
          </p:nvSpPr>
          <p:spPr>
            <a:xfrm>
              <a:off x="4065751" y="1867841"/>
              <a:ext cx="3054160" cy="5074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ja-JP" altLang="en-US" sz="32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作成</a:t>
              </a:r>
              <a:r>
                <a:rPr lang="ja-JP" altLang="en-US" sz="2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（</a:t>
              </a:r>
              <a:r>
                <a:rPr lang="en-US" altLang="ja-JP" sz="2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Compose</a:t>
              </a:r>
              <a:r>
                <a:rPr lang="ja-JP" altLang="en-US" sz="2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）</a:t>
              </a:r>
              <a:endParaRPr lang="en-US" sz="3600" dirty="0"/>
            </a:p>
          </p:txBody>
        </p:sp>
      </p:grpSp>
      <p:sp>
        <p:nvSpPr>
          <p:cNvPr id="117" name="Shape 7">
            <a:extLst>
              <a:ext uri="{FF2B5EF4-FFF2-40B4-BE49-F238E27FC236}">
                <a16:creationId xmlns:a16="http://schemas.microsoft.com/office/drawing/2014/main" id="{D0EDBD5B-9635-5EF8-02A2-E45B7F827A3C}"/>
              </a:ext>
            </a:extLst>
          </p:cNvPr>
          <p:cNvSpPr/>
          <p:nvPr/>
        </p:nvSpPr>
        <p:spPr>
          <a:xfrm>
            <a:off x="204644" y="1846532"/>
            <a:ext cx="3619573" cy="513892"/>
          </a:xfrm>
          <a:prstGeom prst="roundRect">
            <a:avLst>
              <a:gd name="adj" fmla="val 319489"/>
            </a:avLst>
          </a:prstGeom>
          <a:solidFill>
            <a:srgbClr val="FEF2F2"/>
          </a:solidFill>
          <a:ln w="3492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256EB5B7-1AB1-E0E8-7B13-748E53036655}"/>
              </a:ext>
            </a:extLst>
          </p:cNvPr>
          <p:cNvSpPr txBox="1"/>
          <p:nvPr/>
        </p:nvSpPr>
        <p:spPr>
          <a:xfrm>
            <a:off x="314194" y="1921852"/>
            <a:ext cx="3631161" cy="34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なぜライト</a:t>
            </a:r>
            <a:r>
              <a:rPr lang="en-US" altLang="ja-JP" sz="20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ja-JP" altLang="en-US" sz="20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処理が必要？</a:t>
            </a:r>
            <a:endParaRPr lang="en-US" altLang="ja-JP" sz="2000" b="1">
              <a:solidFill>
                <a:srgbClr val="DC2626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98" name="Image 10" descr="preencoded.png">
            <a:extLst>
              <a:ext uri="{FF2B5EF4-FFF2-40B4-BE49-F238E27FC236}">
                <a16:creationId xmlns:a16="http://schemas.microsoft.com/office/drawing/2014/main" id="{A46D1D0E-51BA-9837-9675-8187F10087E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-80" r="-80"/>
          <a:stretch/>
        </p:blipFill>
        <p:spPr>
          <a:xfrm>
            <a:off x="6927749" y="1589106"/>
            <a:ext cx="520848" cy="10400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