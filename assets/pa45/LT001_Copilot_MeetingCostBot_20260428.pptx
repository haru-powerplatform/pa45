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2" r:id="rId2"/>
    <p:sldId id="271" r:id="rId3"/>
    <p:sldId id="285" r:id="rId4"/>
    <p:sldId id="273" r:id="rId5"/>
    <p:sldId id="274" r:id="rId6"/>
    <p:sldId id="282" r:id="rId7"/>
    <p:sldId id="276" r:id="rId8"/>
    <p:sldId id="277" r:id="rId9"/>
    <p:sldId id="279" r:id="rId10"/>
    <p:sldId id="280" r:id="rId11"/>
    <p:sldId id="284" r:id="rId12"/>
    <p:sldId id="281" r:id="rId13"/>
    <p:sldId id="283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97" d="100"/>
          <a:sy n="97" d="100"/>
        </p:scale>
        <p:origin x="75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28T05:35:34.948" v="647" actId="20577"/>
      <pc:docMkLst>
        <pc:docMk/>
      </pc:docMkLst>
      <pc:sldChg chg="modSp mod">
        <pc:chgData name="Ueda Isamu" userId="35289799e0376f2e" providerId="LiveId" clId="{DD31E282-B62B-4911-91B6-43B1B98908F9}" dt="2026-04-28T05:35:34.948" v="647" actId="20577"/>
        <pc:sldMkLst>
          <pc:docMk/>
          <pc:sldMk cId="0" sldId="280"/>
        </pc:sldMkLst>
        <pc:spChg chg="mod">
          <ac:chgData name="Ueda Isamu" userId="35289799e0376f2e" providerId="LiveId" clId="{DD31E282-B62B-4911-91B6-43B1B98908F9}" dt="2026-04-28T05:35:34.948" v="647" actId="20577"/>
          <ac:spMkLst>
            <pc:docMk/>
            <pc:sldMk cId="0" sldId="280"/>
            <ac:spMk id="3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microsoft.com/office/2007/relationships/hdphoto" Target="../media/hdphoto1.wdp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320040" cy="6858000"/>
          </a:xfrm>
          <a:prstGeom prst="roundRect">
            <a:avLst>
              <a:gd name="adj" fmla="val 10000"/>
            </a:avLst>
          </a:prstGeom>
          <a:solidFill>
            <a:srgbClr val="464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643360" y="0"/>
            <a:ext cx="548640" cy="1828800"/>
          </a:xfrm>
          <a:prstGeom prst="roundRect">
            <a:avLst>
              <a:gd name="adj" fmla="val 10000"/>
            </a:avLst>
          </a:prstGeom>
          <a:solidFill>
            <a:srgbClr val="746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640080"/>
            <a:ext cx="3657600" cy="411480"/>
          </a:xfrm>
          <a:prstGeom prst="roundRect">
            <a:avLst>
              <a:gd name="adj" fmla="val 10000"/>
            </a:avLst>
          </a:prstGeom>
          <a:solidFill>
            <a:srgbClr val="E8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373E99"/>
                </a:solidFill>
                <a:latin typeface="Yu Gothic"/>
              </a:rPr>
              <a:t>⚡ LIGHTNING TALK  ×  COPILOT COMMUNITY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82200"/>
            <a:ext cx="10515600" cy="15696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1">
                <a:solidFill>
                  <a:srgbClr val="323130"/>
                </a:solidFill>
                <a:latin typeface="Yu Gothic"/>
              </a:rPr>
              <a:t>Copilotに「会議減らしたい」と</a:t>
            </a:r>
          </a:p>
          <a:p>
            <a:pPr algn="l"/>
            <a:r>
              <a:rPr sz="3200" b="1">
                <a:solidFill>
                  <a:srgbClr val="323130"/>
                </a:solidFill>
                <a:latin typeface="Yu Gothic"/>
              </a:rPr>
              <a:t>泣きついたら、Power Automateで</a:t>
            </a:r>
          </a:p>
          <a:p>
            <a:pPr algn="l"/>
            <a:r>
              <a:rPr sz="3200" b="1">
                <a:solidFill>
                  <a:srgbClr val="323130"/>
                </a:solidFill>
                <a:latin typeface="Yu Gothic"/>
              </a:rPr>
              <a:t>会議コストBotを生み出す羽目になった話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029200"/>
            <a:ext cx="54864" cy="502920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502920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605E5C"/>
                </a:solidFill>
                <a:latin typeface="Yu Gothic"/>
              </a:rPr>
              <a:t>Copilot × Power Automate で7アクションのBotを作った話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852160"/>
            <a:ext cx="54864" cy="502920"/>
          </a:xfrm>
          <a:prstGeom prst="roundRect">
            <a:avLst>
              <a:gd name="adj" fmla="val 10000"/>
            </a:avLst>
          </a:prstGeom>
          <a:solidFill>
            <a:srgbClr val="746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995898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73E99"/>
                </a:solidFill>
                <a:latin typeface="Yu Gothic"/>
              </a:rPr>
              <a:t>Haru /  Power Automate 45 主催</a:t>
            </a:r>
          </a:p>
        </p:txBody>
      </p:sp>
      <p:sp>
        <p:nvSpPr>
          <p:cNvPr id="12" name="Oval 11"/>
          <p:cNvSpPr/>
          <p:nvPr/>
        </p:nvSpPr>
        <p:spPr>
          <a:xfrm>
            <a:off x="11094720" y="5989320"/>
            <a:ext cx="146304" cy="146304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277600" y="5989320"/>
            <a:ext cx="146304" cy="146304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460481" y="5989320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643361" y="5989320"/>
            <a:ext cx="146304" cy="146304"/>
          </a:xfrm>
          <a:prstGeom prst="ellipse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5598" y="537402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743384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37626" y="4765541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</a:t>
            </a:r>
            <a:r>
              <a:rPr lang="en-US" sz="1600" b="1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Automate 初心者支援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主な活動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PAチップスを発信中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5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57200" y="411480"/>
            <a:ext cx="822960" cy="502920"/>
          </a:xfrm>
          <a:prstGeom prst="roundRect">
            <a:avLst>
              <a:gd name="adj" fmla="val 10000"/>
            </a:avLst>
          </a:prstGeom>
          <a:solidFill>
            <a:srgbClr val="464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93663"/>
            <a:ext cx="100584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こんな職場ありませんか</a:t>
            </a:r>
            <a:r>
              <a:rPr sz="2200" b="1">
                <a:solidFill>
                  <a:srgbClr val="323130"/>
                </a:solidFill>
                <a:latin typeface="Yu Gothic"/>
              </a:rPr>
              <a:t>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828800" cy="36576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0" y="2772191"/>
            <a:ext cx="12801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う…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920740"/>
            <a:ext cx="54864" cy="457200"/>
          </a:xfrm>
          <a:prstGeom prst="roundRect">
            <a:avLst>
              <a:gd name="adj" fmla="val 10000"/>
            </a:avLst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5937359"/>
            <a:ext cx="10972800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周囲を見回したらオンライン会議に参加しているひとばかり。</a:t>
            </a:r>
            <a:endParaRPr lang="en-US" altLang="ja-JP" sz="2200" b="1">
              <a:solidFill>
                <a:srgbClr val="323130"/>
              </a:solidFill>
              <a:latin typeface="Yu Gothic"/>
            </a:endParaRPr>
          </a:p>
          <a:p>
            <a:pPr algn="l"/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しかも画面には多数の参加者のアイコンが、、、。</a:t>
            </a:r>
            <a:endParaRPr sz="2200" b="1">
              <a:solidFill>
                <a:srgbClr val="323130"/>
              </a:solidFill>
              <a:latin typeface="Yu Gothi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776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05E5C"/>
                </a:solidFill>
                <a:latin typeface="Yu Gothic"/>
              </a:rPr>
              <a:t>3 / 11</a:t>
            </a:r>
          </a:p>
        </p:txBody>
      </p:sp>
      <p:pic>
        <p:nvPicPr>
          <p:cNvPr id="15" name="図 14" descr="The image depicts a bustling office environment with numerous desks, computers, and people working in a large, open-plan office space.&#10;&#10;AI 生成コンテンツは誤りを含む可能性があります。">
            <a:extLst>
              <a:ext uri="{FF2B5EF4-FFF2-40B4-BE49-F238E27FC236}">
                <a16:creationId xmlns:a16="http://schemas.microsoft.com/office/drawing/2014/main" id="{467A367D-720F-408C-DB37-2CBE6D5D9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086" y="1024128"/>
            <a:ext cx="7342414" cy="489494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69948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822960" cy="502920"/>
          </a:xfrm>
          <a:prstGeom prst="roundRect">
            <a:avLst>
              <a:gd name="adj" fmla="val 10000"/>
            </a:avLst>
          </a:prstGeom>
          <a:solidFill>
            <a:srgbClr val="464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93663"/>
            <a:ext cx="100584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200" b="1">
                <a:solidFill>
                  <a:srgbClr val="323130"/>
                </a:solidFill>
                <a:latin typeface="Yu Gothic"/>
              </a:rPr>
              <a:t>outlook</a:t>
            </a:r>
            <a:r>
              <a:rPr sz="2200" b="1">
                <a:solidFill>
                  <a:srgbClr val="323130"/>
                </a:solidFill>
                <a:latin typeface="Yu Gothic"/>
              </a:rPr>
              <a:t>、カレンダー</a:t>
            </a:r>
            <a:r>
              <a:rPr lang="en-US" sz="2200" b="1">
                <a:solidFill>
                  <a:srgbClr val="323130"/>
                </a:solidFill>
                <a:latin typeface="Yu Gothic"/>
              </a:rPr>
              <a:t> </a:t>
            </a:r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こんな人いませんか</a:t>
            </a:r>
            <a:r>
              <a:rPr sz="2200" b="1">
                <a:solidFill>
                  <a:srgbClr val="323130"/>
                </a:solidFill>
                <a:latin typeface="Yu Gothic"/>
              </a:rPr>
              <a:t>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828800" cy="36576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usy_calendar.png"/>
          <p:cNvPicPr>
            <a:picLocks noChangeAspect="1"/>
          </p:cNvPicPr>
          <p:nvPr/>
        </p:nvPicPr>
        <p:blipFill>
          <a:blip r:embed="rId2"/>
          <a:srcRect b="10021"/>
          <a:stretch>
            <a:fillRect/>
          </a:stretch>
        </p:blipFill>
        <p:spPr>
          <a:xfrm>
            <a:off x="426720" y="1051560"/>
            <a:ext cx="10058400" cy="48463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Rounded Rectangle 9"/>
          <p:cNvSpPr/>
          <p:nvPr/>
        </p:nvSpPr>
        <p:spPr>
          <a:xfrm>
            <a:off x="457200" y="5920740"/>
            <a:ext cx="54864" cy="457200"/>
          </a:xfrm>
          <a:prstGeom prst="roundRect">
            <a:avLst>
              <a:gd name="adj" fmla="val 10000"/>
            </a:avLst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5980063"/>
            <a:ext cx="109728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323130"/>
                </a:solidFill>
                <a:latin typeface="Yu Gothic"/>
              </a:rPr>
              <a:t>会議42本。隙間ほぼなし。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561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05E5C"/>
                </a:solidFill>
                <a:latin typeface="Yu Gothic"/>
              </a:rPr>
              <a:t>Power Automate 45 (PA45)  ×  Copilot Community 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6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05E5C"/>
                </a:solidFill>
                <a:latin typeface="Yu Gothic"/>
              </a:rPr>
              <a:t>3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57200" y="411480"/>
            <a:ext cx="822960" cy="502920"/>
          </a:xfrm>
          <a:prstGeom prst="roundRect">
            <a:avLst>
              <a:gd name="adj" fmla="val 10000"/>
            </a:avLst>
          </a:prstGeom>
          <a:solidFill>
            <a:srgbClr val="464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93663"/>
            <a:ext cx="100584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こんな</a:t>
            </a:r>
            <a:r>
              <a:rPr sz="2200" b="1">
                <a:solidFill>
                  <a:srgbClr val="323130"/>
                </a:solidFill>
                <a:latin typeface="Yu Gothic"/>
              </a:rPr>
              <a:t>会議招集</a:t>
            </a:r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送られてきませんか</a:t>
            </a:r>
            <a:r>
              <a:rPr lang="en-US" altLang="ja-JP" sz="2200" b="1">
                <a:solidFill>
                  <a:srgbClr val="323130"/>
                </a:solidFill>
                <a:latin typeface="Yu Gothic"/>
              </a:rPr>
              <a:t>…</a:t>
            </a:r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？</a:t>
            </a:r>
            <a:endParaRPr sz="2200" b="1">
              <a:solidFill>
                <a:srgbClr val="323130"/>
              </a:solidFill>
              <a:latin typeface="Yu Gothi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828800" cy="36576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rowded_invite.png"/>
          <p:cNvPicPr>
            <a:picLocks noChangeAspect="1"/>
          </p:cNvPicPr>
          <p:nvPr/>
        </p:nvPicPr>
        <p:blipFill>
          <a:blip r:embed="rId2"/>
          <a:srcRect b="22442"/>
          <a:stretch>
            <a:fillRect/>
          </a:stretch>
        </p:blipFill>
        <p:spPr>
          <a:xfrm>
            <a:off x="457200" y="1142999"/>
            <a:ext cx="7343874" cy="44691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9418320" y="1371600"/>
            <a:ext cx="24688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D83B01"/>
                </a:solidFill>
                <a:latin typeface="Yu Gothic"/>
              </a:rPr>
              <a:t>気になるポイント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92024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18320" y="1920240"/>
            <a:ext cx="54864" cy="777240"/>
          </a:xfrm>
          <a:prstGeom prst="roundRect">
            <a:avLst>
              <a:gd name="adj" fmla="val 10000"/>
            </a:avLst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55480" y="19659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05E5C"/>
                </a:solidFill>
                <a:latin typeface="Yu Gothic"/>
              </a:rPr>
              <a:t>必須参加者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221284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D83B01"/>
                </a:solidFill>
                <a:latin typeface="Yu Gothic"/>
              </a:rPr>
              <a:t>70人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283464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18320" y="2834640"/>
            <a:ext cx="54864" cy="777240"/>
          </a:xfrm>
          <a:prstGeom prst="roundRect">
            <a:avLst>
              <a:gd name="adj" fmla="val 10000"/>
            </a:avLst>
          </a:prstGeom>
          <a:solidFill>
            <a:srgbClr val="605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55480" y="2880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05E5C"/>
                </a:solidFill>
                <a:latin typeface="Yu Gothic"/>
              </a:rPr>
              <a:t>任意参加者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312724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605E5C"/>
                </a:solidFill>
                <a:latin typeface="Yu Gothic"/>
              </a:rPr>
              <a:t>0人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3749039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18320" y="3749039"/>
            <a:ext cx="54864" cy="777240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55480" y="3794759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05E5C"/>
                </a:solidFill>
                <a:latin typeface="Yu Gothic"/>
              </a:rPr>
              <a:t>時間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4041647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078D4"/>
                </a:solidFill>
                <a:latin typeface="Yu Gothic"/>
              </a:rPr>
              <a:t>120分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466344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418320" y="4663440"/>
            <a:ext cx="54864" cy="777240"/>
          </a:xfrm>
          <a:prstGeom prst="roundRect">
            <a:avLst>
              <a:gd name="adj" fmla="val 10000"/>
            </a:avLst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55480" y="47091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05E5C"/>
                </a:solidFill>
                <a:latin typeface="Yu Gothic"/>
              </a:rPr>
              <a:t>推定コスト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199" y="5669280"/>
            <a:ext cx="81253" cy="677108"/>
          </a:xfrm>
          <a:prstGeom prst="roundRect">
            <a:avLst>
              <a:gd name="adj" fmla="val 10000"/>
            </a:avLst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717816"/>
            <a:ext cx="10972800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323130"/>
                </a:solidFill>
                <a:latin typeface="Yu Gothic"/>
              </a:rPr>
              <a:t>必須70人。任意ゼロ。…これ、本当に全員いる？</a:t>
            </a:r>
            <a:endParaRPr lang="en-US" sz="2200" b="1">
              <a:solidFill>
                <a:srgbClr val="323130"/>
              </a:solidFill>
              <a:latin typeface="Yu Gothic"/>
            </a:endParaRPr>
          </a:p>
          <a:p>
            <a:pPr algn="l"/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この会議に</a:t>
            </a:r>
            <a:r>
              <a:rPr lang="en-US" altLang="ja-JP" sz="2200" b="1">
                <a:solidFill>
                  <a:srgbClr val="323130"/>
                </a:solidFill>
                <a:latin typeface="Yu Gothic"/>
              </a:rPr>
              <a:t>120</a:t>
            </a:r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分本当に必要？？</a:t>
            </a:r>
            <a:endParaRPr sz="2200" b="1">
              <a:solidFill>
                <a:srgbClr val="323130"/>
              </a:solidFill>
              <a:latin typeface="Yu Gothi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05E5C"/>
                </a:solidFill>
                <a:latin typeface="Yu Gothic"/>
              </a:rPr>
              <a:t>Power Automate 45 (PA45)  ×  Copilot Community 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6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05E5C"/>
                </a:solidFill>
                <a:latin typeface="Yu Gothic"/>
              </a:rPr>
              <a:t>4 / 11</a:t>
            </a:r>
          </a:p>
        </p:txBody>
      </p:sp>
      <p:sp>
        <p:nvSpPr>
          <p:cNvPr id="99" name="TextBox Cost"/>
          <p:cNvSpPr txBox="1"/>
          <p:nvPr/>
        </p:nvSpPr>
        <p:spPr>
          <a:xfrm>
            <a:off x="9555480" y="495604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078D4"/>
                </a:solidFill>
                <a:latin typeface="Yu Gothic"/>
              </a:rPr>
              <a:t>697,200円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57200" y="411480"/>
            <a:ext cx="822960" cy="502920"/>
          </a:xfrm>
          <a:prstGeom prst="roundRect">
            <a:avLst>
              <a:gd name="adj" fmla="val 10000"/>
            </a:avLst>
          </a:prstGeom>
          <a:solidFill>
            <a:srgbClr val="464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93663"/>
            <a:ext cx="100584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ふと考えた。もしこの会議が毎週続いたら…？年間で消えるコスト</a:t>
            </a:r>
            <a:r>
              <a:rPr lang="en-US" altLang="ja-JP" sz="2200" b="1">
                <a:solidFill>
                  <a:srgbClr val="323130"/>
                </a:solidFill>
                <a:latin typeface="Yu Gothic"/>
              </a:rPr>
              <a:t>(´;ω;</a:t>
            </a:r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｀</a:t>
            </a:r>
            <a:r>
              <a:rPr lang="en-US" altLang="ja-JP" sz="2200" b="1">
                <a:solidFill>
                  <a:srgbClr val="323130"/>
                </a:solidFill>
                <a:latin typeface="Yu Gothic"/>
              </a:rPr>
              <a:t>)</a:t>
            </a:r>
            <a:endParaRPr sz="2200" b="1">
              <a:solidFill>
                <a:srgbClr val="323130"/>
              </a:solidFill>
              <a:latin typeface="Yu Gothi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828800" cy="36576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6636" y="1911370"/>
            <a:ext cx="590702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D83B01"/>
                </a:solidFill>
                <a:latin typeface="Yu Gothic"/>
              </a:rPr>
              <a:t>年間コスト試算（70人×120分×週1回）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180" y="2851915"/>
            <a:ext cx="228600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0078D4"/>
                </a:solidFill>
                <a:latin typeface="Yu Gothic"/>
              </a:rPr>
              <a:t>3,346万円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149656"/>
            <a:ext cx="10972800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323130"/>
                </a:solidFill>
                <a:latin typeface="Yu Gothic"/>
              </a:rPr>
              <a:t>計算根拠: 1人1分単価 = 83円（時給4,980円 ÷ 60分）。</a:t>
            </a:r>
            <a:endParaRPr lang="en-US" sz="2200" b="1">
              <a:solidFill>
                <a:srgbClr val="323130"/>
              </a:solidFill>
              <a:latin typeface="Yu Gothic"/>
            </a:endParaRPr>
          </a:p>
          <a:p>
            <a:pPr algn="l"/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1回 = 70人 × 120分 × 83円 = 697,200円 ／ 月 = ×4回 ／ 年 = ×48回</a:t>
            </a:r>
            <a:endParaRPr sz="2200" b="1">
              <a:solidFill>
                <a:srgbClr val="323130"/>
              </a:solidFill>
              <a:latin typeface="Yu Gothi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05E5C"/>
                </a:solidFill>
                <a:latin typeface="Yu Gothic"/>
              </a:rPr>
              <a:t>Power Automate 45 (PA45)  ×  Copilot Community 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6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05E5C"/>
                </a:solidFill>
                <a:latin typeface="Yu Gothic"/>
              </a:rPr>
              <a:t>5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822960" cy="502920"/>
          </a:xfrm>
          <a:prstGeom prst="roundRect">
            <a:avLst>
              <a:gd name="adj" fmla="val 10000"/>
            </a:avLst>
          </a:prstGeom>
          <a:solidFill>
            <a:srgbClr val="464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93663"/>
            <a:ext cx="100584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altLang="ja-JP" sz="2200" b="1">
                <a:solidFill>
                  <a:srgbClr val="323130"/>
                </a:solidFill>
                <a:latin typeface="Yu Gothic"/>
              </a:rPr>
              <a:t>Copilot</a:t>
            </a:r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に相談。</a:t>
            </a:r>
            <a:r>
              <a:rPr lang="en-US" altLang="ja-JP" sz="2200" b="1">
                <a:solidFill>
                  <a:srgbClr val="323130"/>
                </a:solidFill>
                <a:latin typeface="Yu Gothic"/>
              </a:rPr>
              <a:t>PowerAutomate</a:t>
            </a:r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を使った解決策を探す</a:t>
            </a:r>
            <a:endParaRPr sz="2200" b="1">
              <a:solidFill>
                <a:srgbClr val="323130"/>
              </a:solidFill>
              <a:latin typeface="Yu Gothi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828800" cy="36576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280159"/>
            <a:ext cx="5577840" cy="524854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577840" cy="457200"/>
          </a:xfrm>
          <a:prstGeom prst="roundRect">
            <a:avLst>
              <a:gd name="adj" fmla="val 10000"/>
            </a:avLst>
          </a:prstGeom>
          <a:solidFill>
            <a:srgbClr val="464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💬  Copilotとの会話 (やり直し)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5029200" cy="48320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323130"/>
                </a:solidFill>
                <a:latin typeface="Yu Gothic"/>
              </a:rPr>
              <a:t>自分:</a:t>
            </a:r>
          </a:p>
          <a:p>
            <a:pPr algn="l"/>
            <a:r>
              <a:rPr b="0">
                <a:solidFill>
                  <a:srgbClr val="323130"/>
                </a:solidFill>
                <a:latin typeface="Yu Gothic"/>
              </a:rPr>
              <a:t>「会議のコストを</a:t>
            </a:r>
            <a:r>
              <a:rPr lang="en-US" altLang="ja-JP" b="0">
                <a:solidFill>
                  <a:srgbClr val="FF0000"/>
                </a:solidFill>
                <a:latin typeface="Yu Gothic"/>
              </a:rPr>
              <a:t>PowerAutomate</a:t>
            </a:r>
            <a:r>
              <a:rPr lang="ja-JP" altLang="en-US" b="0">
                <a:solidFill>
                  <a:srgbClr val="323130"/>
                </a:solidFill>
                <a:latin typeface="Yu Gothic"/>
              </a:rPr>
              <a:t>で</a:t>
            </a:r>
            <a:r>
              <a:rPr b="0">
                <a:solidFill>
                  <a:srgbClr val="323130"/>
                </a:solidFill>
                <a:latin typeface="Yu Gothic"/>
              </a:rPr>
              <a:t>可視化したい」</a:t>
            </a:r>
          </a:p>
          <a:p>
            <a:pPr algn="l"/>
            <a:endParaRPr b="0">
              <a:solidFill>
                <a:srgbClr val="323130"/>
              </a:solidFill>
              <a:latin typeface="Yu Gothic"/>
            </a:endParaRPr>
          </a:p>
          <a:p>
            <a:pPr algn="l"/>
            <a:r>
              <a:rPr sz="1400" b="1">
                <a:solidFill>
                  <a:srgbClr val="323130"/>
                </a:solidFill>
                <a:latin typeface="Yu Gothic"/>
              </a:rPr>
              <a:t>Copilot:</a:t>
            </a:r>
          </a:p>
          <a:p>
            <a:pPr algn="l"/>
            <a:r>
              <a:rPr sz="1600" b="0">
                <a:solidFill>
                  <a:srgbClr val="323130"/>
                </a:solidFill>
                <a:latin typeface="Yu Gothic"/>
              </a:rPr>
              <a:t>「Power Automateで作れますよ」</a:t>
            </a:r>
          </a:p>
          <a:p>
            <a:pPr algn="l"/>
            <a:r>
              <a:rPr sz="1600" b="0">
                <a:solidFill>
                  <a:srgbClr val="323130"/>
                </a:solidFill>
                <a:latin typeface="Yu Gothic"/>
              </a:rPr>
              <a:t>「Outlookトリガー＋7アクションでOK」</a:t>
            </a:r>
          </a:p>
          <a:p>
            <a:pPr algn="l"/>
            <a:endParaRPr sz="1600" b="0">
              <a:solidFill>
                <a:srgbClr val="323130"/>
              </a:solidFill>
              <a:latin typeface="Yu Gothic"/>
            </a:endParaRPr>
          </a:p>
          <a:p>
            <a:pPr algn="l"/>
            <a:r>
              <a:rPr sz="1400" b="1">
                <a:solidFill>
                  <a:srgbClr val="323130"/>
                </a:solidFill>
                <a:latin typeface="Yu Gothic"/>
              </a:rPr>
              <a:t>自分:</a:t>
            </a:r>
          </a:p>
          <a:p>
            <a:pPr algn="l"/>
            <a:r>
              <a:rPr b="0">
                <a:solidFill>
                  <a:srgbClr val="323130"/>
                </a:solidFill>
                <a:latin typeface="Yu Gothic"/>
              </a:rPr>
              <a:t>「式どう書くの？」</a:t>
            </a:r>
          </a:p>
          <a:p>
            <a:pPr algn="l"/>
            <a:endParaRPr b="0">
              <a:solidFill>
                <a:srgbClr val="323130"/>
              </a:solidFill>
              <a:latin typeface="Yu Gothic"/>
            </a:endParaRPr>
          </a:p>
          <a:p>
            <a:pPr algn="l"/>
            <a:r>
              <a:rPr sz="1400" b="1">
                <a:solidFill>
                  <a:srgbClr val="323130"/>
                </a:solidFill>
                <a:latin typeface="Yu Gothic"/>
              </a:rPr>
              <a:t>Copilot:</a:t>
            </a:r>
          </a:p>
          <a:p>
            <a:pPr algn="l"/>
            <a:r>
              <a:rPr sz="1400" b="0">
                <a:solidFill>
                  <a:srgbClr val="323130"/>
                </a:solidFill>
                <a:latin typeface="Yu Gothic"/>
              </a:rPr>
              <a:t>div(sub(ticks(end),ticks(start)),</a:t>
            </a:r>
          </a:p>
          <a:p>
            <a:pPr algn="l"/>
            <a:r>
              <a:rPr sz="1400" b="0">
                <a:solidFill>
                  <a:srgbClr val="323130"/>
                </a:solidFill>
                <a:latin typeface="Yu Gothic"/>
              </a:rPr>
              <a:t>  600000000)</a:t>
            </a:r>
            <a:r>
              <a:rPr lang="en-US" sz="1400" b="0">
                <a:solidFill>
                  <a:srgbClr val="323130"/>
                </a:solidFill>
                <a:latin typeface="Yu Gothic"/>
              </a:rPr>
              <a:t>……</a:t>
            </a:r>
          </a:p>
          <a:p>
            <a:pPr algn="l"/>
            <a:endParaRPr lang="en-US" sz="1400">
              <a:solidFill>
                <a:srgbClr val="323130"/>
              </a:solidFill>
              <a:latin typeface="Yu Gothic"/>
            </a:endParaRPr>
          </a:p>
          <a:p>
            <a:pPr algn="l"/>
            <a:r>
              <a:rPr lang="ja-JP" altLang="en-US" sz="2000" b="1">
                <a:solidFill>
                  <a:srgbClr val="323130"/>
                </a:solidFill>
                <a:latin typeface="Yu Gothic"/>
              </a:rPr>
              <a:t>まずは手を動かして</a:t>
            </a:r>
            <a:r>
              <a:rPr lang="en-US" altLang="ja-JP" sz="2000" b="1">
                <a:solidFill>
                  <a:srgbClr val="323130"/>
                </a:solidFill>
                <a:latin typeface="Yu Gothic"/>
              </a:rPr>
              <a:t>1</a:t>
            </a:r>
            <a:r>
              <a:rPr lang="ja-JP" altLang="en-US" sz="2000" b="1">
                <a:solidFill>
                  <a:srgbClr val="323130"/>
                </a:solidFill>
                <a:latin typeface="Yu Gothic"/>
              </a:rPr>
              <a:t>ステップづつ実装。</a:t>
            </a:r>
            <a:endParaRPr lang="en-US" altLang="ja-JP" sz="2000" b="1">
              <a:solidFill>
                <a:srgbClr val="323130"/>
              </a:solidFill>
              <a:latin typeface="Yu Gothic"/>
            </a:endParaRPr>
          </a:p>
          <a:p>
            <a:pPr algn="l"/>
            <a:r>
              <a:rPr lang="ja-JP" altLang="en-US" sz="2000" b="1">
                <a:solidFill>
                  <a:srgbClr val="323130"/>
                </a:solidFill>
                <a:latin typeface="Yu Gothic"/>
              </a:rPr>
              <a:t>細かい関数の意味や使い方は</a:t>
            </a:r>
            <a:endParaRPr lang="en-US" altLang="ja-JP" sz="2000" b="1">
              <a:solidFill>
                <a:srgbClr val="323130"/>
              </a:solidFill>
              <a:latin typeface="Yu Gothic"/>
            </a:endParaRPr>
          </a:p>
          <a:p>
            <a:pPr algn="l"/>
            <a:r>
              <a:rPr lang="ja-JP" altLang="en-US" sz="2000" b="1">
                <a:solidFill>
                  <a:srgbClr val="323130"/>
                </a:solidFill>
                <a:latin typeface="Yu Gothic"/>
              </a:rPr>
              <a:t>フローを作りながら理解していく。</a:t>
            </a:r>
            <a:endParaRPr sz="2000" b="1">
              <a:solidFill>
                <a:srgbClr val="323130"/>
              </a:solidFill>
              <a:latin typeface="Yu Gothic"/>
            </a:endParaRPr>
          </a:p>
          <a:p>
            <a:pPr algn="l"/>
            <a:endParaRPr sz="1400" b="0">
              <a:solidFill>
                <a:srgbClr val="323130"/>
              </a:solidFill>
              <a:latin typeface="Yu Gothi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557784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577840" cy="457200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2801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✅  Copilotが提案したフロー(7アクション)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965960"/>
            <a:ext cx="384048" cy="384048"/>
          </a:xfrm>
          <a:prstGeom prst="roundRect">
            <a:avLst>
              <a:gd name="adj" fmla="val 10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965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04E8C"/>
                </a:solidFill>
                <a:latin typeface="Yu Gothic"/>
              </a:rPr>
              <a:t>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070386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323130"/>
                </a:solidFill>
                <a:latin typeface="Yu Gothic"/>
              </a:rPr>
              <a:t>トリガー：新しいイベント (Outlook)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2532888"/>
            <a:ext cx="384048" cy="384048"/>
          </a:xfrm>
          <a:prstGeom prst="roundRect">
            <a:avLst>
              <a:gd name="adj" fmla="val 10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25328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04E8C"/>
                </a:solidFill>
                <a:latin typeface="Yu Gothic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637314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323130"/>
                </a:solidFill>
                <a:latin typeface="Yu Gothic"/>
              </a:rPr>
              <a:t>参加者数_必須 (split + length)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099815"/>
            <a:ext cx="384048" cy="384048"/>
          </a:xfrm>
          <a:prstGeom prst="roundRect">
            <a:avLst>
              <a:gd name="adj" fmla="val 10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3099815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04E8C"/>
                </a:solidFill>
                <a:latin typeface="Yu Gothic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149378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323130"/>
                </a:solidFill>
                <a:latin typeface="Yu Gothic"/>
              </a:rPr>
              <a:t>参加者数_任意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3666744"/>
            <a:ext cx="384048" cy="384048"/>
          </a:xfrm>
          <a:prstGeom prst="roundRect">
            <a:avLst>
              <a:gd name="adj" fmla="val 10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36667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04E8C"/>
                </a:solidFill>
                <a:latin typeface="Yu Gothic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716307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323130"/>
                </a:solidFill>
                <a:latin typeface="Yu Gothic"/>
              </a:rPr>
              <a:t>合計参加者数 (主催者+1)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4233672"/>
            <a:ext cx="384048" cy="384048"/>
          </a:xfrm>
          <a:prstGeom prst="roundRect">
            <a:avLst>
              <a:gd name="adj" fmla="val 10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42336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04E8C"/>
                </a:solidFill>
                <a:latin typeface="Yu Gothic"/>
              </a:rPr>
              <a:t>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283235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323130"/>
                </a:solidFill>
                <a:latin typeface="Yu Gothic"/>
              </a:rPr>
              <a:t>会議時間_分 (ticks計算)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4800600"/>
            <a:ext cx="384048" cy="384048"/>
          </a:xfrm>
          <a:prstGeom prst="roundRect">
            <a:avLst>
              <a:gd name="adj" fmla="val 10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48006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04E8C"/>
                </a:solidFill>
                <a:latin typeface="Yu Gothic"/>
              </a:rPr>
              <a:t>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850163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323130"/>
                </a:solidFill>
                <a:latin typeface="Yu Gothic"/>
              </a:rPr>
              <a:t>コスト = 人数×分×(時給÷60)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5367527"/>
            <a:ext cx="384048" cy="384048"/>
          </a:xfrm>
          <a:prstGeom prst="roundRect">
            <a:avLst>
              <a:gd name="adj" fmla="val 10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536752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04E8C"/>
                </a:solidFill>
                <a:latin typeface="Yu Gothic"/>
              </a:rPr>
              <a:t>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5417090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323130"/>
                </a:solidFill>
                <a:latin typeface="Yu Gothic"/>
              </a:rPr>
              <a:t>Teams投稿</a:t>
            </a:r>
            <a:r>
              <a:rPr lang="ja-JP" altLang="en-US" sz="1600" b="0">
                <a:solidFill>
                  <a:srgbClr val="323130"/>
                </a:solidFill>
                <a:latin typeface="Yu Gothic"/>
              </a:rPr>
              <a:t>ありがとうございました。 </a:t>
            </a:r>
            <a:r>
              <a:rPr sz="1600" b="0">
                <a:solidFill>
                  <a:srgbClr val="323130"/>
                </a:solidFill>
                <a:latin typeface="Yu Gothic"/>
              </a:rPr>
              <a:t>(Flowbot)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05E5C"/>
                </a:solidFill>
                <a:latin typeface="Yu Gothic"/>
              </a:rPr>
              <a:t>Power Automate 45 (PA45)  ×  Copilot Community 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76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05E5C"/>
                </a:solidFill>
                <a:latin typeface="Yu Gothic"/>
              </a:rPr>
              <a:t>6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57200" y="411480"/>
            <a:ext cx="822960" cy="502920"/>
          </a:xfrm>
          <a:prstGeom prst="roundRect">
            <a:avLst>
              <a:gd name="adj" fmla="val 10000"/>
            </a:avLst>
          </a:prstGeom>
          <a:solidFill>
            <a:srgbClr val="464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114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323130"/>
                </a:solidFill>
                <a:latin typeface="Yu Gothic"/>
              </a:rPr>
              <a:t>実装してみた：Power Automateの全体像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828800" cy="36576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" y="1316736"/>
            <a:ext cx="11430000" cy="420624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 w="19050">
            <a:solidFill>
              <a:srgbClr val="C8C6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576072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5760720"/>
            <a:ext cx="54864" cy="640080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779008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73E99"/>
                </a:solidFill>
                <a:latin typeface="Yu Gothic"/>
              </a:rPr>
              <a:t>Outlook トリガー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53328"/>
            <a:ext cx="33832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5E5C"/>
                </a:solidFill>
                <a:latin typeface="Yu Gothic"/>
              </a:rPr>
              <a:t>新しい会議が作られた瞬間に発火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576072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97680" y="5760720"/>
            <a:ext cx="54864" cy="640080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5779008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73E99"/>
                </a:solidFill>
                <a:latin typeface="Yu Gothic"/>
              </a:rPr>
              <a:t>ticks() 計算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053328"/>
            <a:ext cx="33832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5E5C"/>
                </a:solidFill>
                <a:latin typeface="Yu Gothic"/>
              </a:rPr>
              <a:t>100ナノ秒単位の時間差を分に変換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576072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38160" y="5760720"/>
            <a:ext cx="54864" cy="640080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5779008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73E99"/>
                </a:solidFill>
                <a:latin typeface="Yu Gothic"/>
              </a:rPr>
              <a:t>Teams投稿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6053328"/>
            <a:ext cx="33832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5E5C"/>
                </a:solidFill>
                <a:latin typeface="Yu Gothic"/>
              </a:rPr>
              <a:t>Flowbotから自分のチャットに通知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05E5C"/>
                </a:solidFill>
                <a:latin typeface="Yu Gothic"/>
              </a:rPr>
              <a:t>Power Automate 45 (PA45)  ×  Copilot Community 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6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05E5C"/>
                </a:solidFill>
                <a:latin typeface="Yu Gothic"/>
              </a:rPr>
              <a:t>7 / 11</a:t>
            </a:r>
          </a:p>
        </p:txBody>
      </p:sp>
      <p:pic>
        <p:nvPicPr>
          <p:cNvPr id="25" name="図 24" descr="The image displays a user interface with a flowchart that illustrates an event creation process, including steps for required and optional participant counts, and a calculation for total participants.&#10;&#10;AI 生成コンテンツは誤りを含む可能性があります。">
            <a:extLst>
              <a:ext uri="{FF2B5EF4-FFF2-40B4-BE49-F238E27FC236}">
                <a16:creationId xmlns:a16="http://schemas.microsoft.com/office/drawing/2014/main" id="{ECD95901-3818-AB98-430B-A0191FCCF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680173"/>
            <a:ext cx="2162191" cy="3467125"/>
          </a:xfrm>
          <a:prstGeom prst="rect">
            <a:avLst/>
          </a:prstGeom>
        </p:spPr>
      </p:pic>
      <p:pic>
        <p:nvPicPr>
          <p:cNvPr id="27" name="図 26" descr="The image illustrates a workflow diagram in Japanese, showing a series of steps for initializing a variable, calculating costs, and notifying conference attendees via chat or email.&#10;&#10;AI 生成コンテンツは誤りを含む可能性があります。">
            <a:extLst>
              <a:ext uri="{FF2B5EF4-FFF2-40B4-BE49-F238E27FC236}">
                <a16:creationId xmlns:a16="http://schemas.microsoft.com/office/drawing/2014/main" id="{58B7430B-E5E7-D7F4-22F3-4D118C5C5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0838" y="1538273"/>
            <a:ext cx="2047890" cy="3781453"/>
          </a:xfrm>
          <a:prstGeom prst="rect">
            <a:avLst/>
          </a:prstGeom>
        </p:spPr>
      </p:pic>
      <p:pic>
        <p:nvPicPr>
          <p:cNvPr id="29" name="図 28" descr="The provided text appears to be a snippet of code, specifically a conditional statement in a programming language, likely JavaScript. It checks if an array called `triggerOutputs` has an element at the key `'body/requiredAttendees'` and is empty. If it is, it returns `0`. If it's not empty, it splits the array at the semicolon delimiter, then returns the length of the resulting array minus one.&#10;&#10;AI 生成コンテンツは誤りを含む可能性があります。">
            <a:extLst>
              <a:ext uri="{FF2B5EF4-FFF2-40B4-BE49-F238E27FC236}">
                <a16:creationId xmlns:a16="http://schemas.microsoft.com/office/drawing/2014/main" id="{038036A4-7789-1BD5-DF2D-59D757D0F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9119" y="2684333"/>
            <a:ext cx="4514883" cy="657230"/>
          </a:xfrm>
          <a:prstGeom prst="rect">
            <a:avLst/>
          </a:prstGeom>
        </p:spPr>
      </p:pic>
      <p:pic>
        <p:nvPicPr>
          <p:cNvPr id="31" name="図 30" descr="body/optionalAttendees&#10;&#10;AI 生成コンテンツは誤りを含む可能性があります。">
            <a:extLst>
              <a:ext uri="{FF2B5EF4-FFF2-40B4-BE49-F238E27FC236}">
                <a16:creationId xmlns:a16="http://schemas.microsoft.com/office/drawing/2014/main" id="{8F64F2FC-8D13-BD47-FC04-9555398842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7219" y="3627853"/>
            <a:ext cx="4476783" cy="685805"/>
          </a:xfrm>
          <a:prstGeom prst="rect">
            <a:avLst/>
          </a:prstGeom>
        </p:spPr>
      </p:pic>
      <p:pic>
        <p:nvPicPr>
          <p:cNvPr id="33" name="図 32" descr="The image shows a snippet of code with a function call in a programming language, specifically adding two outputs with given strings and an integer.&#10;&#10;AI 生成コンテンツは誤りを含む可能性があります。">
            <a:extLst>
              <a:ext uri="{FF2B5EF4-FFF2-40B4-BE49-F238E27FC236}">
                <a16:creationId xmlns:a16="http://schemas.microsoft.com/office/drawing/2014/main" id="{5B4ED5E9-2204-DFCF-0FF4-DAA225B1A4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6019" y="4587978"/>
            <a:ext cx="4514883" cy="533404"/>
          </a:xfrm>
          <a:prstGeom prst="rect">
            <a:avLst/>
          </a:prstGeom>
        </p:spPr>
      </p:pic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510125F8-CAF0-2926-FB57-D34D1A5F62B4}"/>
              </a:ext>
            </a:extLst>
          </p:cNvPr>
          <p:cNvSpPr/>
          <p:nvPr/>
        </p:nvSpPr>
        <p:spPr>
          <a:xfrm>
            <a:off x="1583473" y="1126273"/>
            <a:ext cx="7114478" cy="4304371"/>
          </a:xfrm>
          <a:custGeom>
            <a:avLst/>
            <a:gdLst>
              <a:gd name="csX0" fmla="*/ 0 w 7114478"/>
              <a:gd name="csY0" fmla="*/ 4081347 h 4304371"/>
              <a:gd name="csX1" fmla="*/ 0 w 7114478"/>
              <a:gd name="csY1" fmla="*/ 4304371 h 4304371"/>
              <a:gd name="csX2" fmla="*/ 5854390 w 7114478"/>
              <a:gd name="csY2" fmla="*/ 4304371 h 4304371"/>
              <a:gd name="csX3" fmla="*/ 5854390 w 7114478"/>
              <a:gd name="csY3" fmla="*/ 0 h 4304371"/>
              <a:gd name="csX4" fmla="*/ 7114478 w 7114478"/>
              <a:gd name="csY4" fmla="*/ 0 h 4304371"/>
              <a:gd name="csX5" fmla="*/ 7114478 w 7114478"/>
              <a:gd name="csY5" fmla="*/ 356839 h 43043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114478" h="4304371">
                <a:moveTo>
                  <a:pt x="0" y="4081347"/>
                </a:moveTo>
                <a:lnTo>
                  <a:pt x="0" y="4304371"/>
                </a:lnTo>
                <a:lnTo>
                  <a:pt x="5854390" y="4304371"/>
                </a:lnTo>
                <a:lnTo>
                  <a:pt x="5854390" y="0"/>
                </a:lnTo>
                <a:lnTo>
                  <a:pt x="7114478" y="0"/>
                </a:lnTo>
                <a:lnTo>
                  <a:pt x="7114478" y="356839"/>
                </a:lnTo>
              </a:path>
            </a:pathLst>
          </a:custGeom>
          <a:noFill/>
          <a:ln w="31750">
            <a:solidFill>
              <a:schemeClr val="tx1">
                <a:lumMod val="65000"/>
                <a:lumOff val="35000"/>
              </a:schemeClr>
            </a:solidFill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57200" y="411480"/>
            <a:ext cx="822960" cy="502920"/>
          </a:xfrm>
          <a:prstGeom prst="roundRect">
            <a:avLst>
              <a:gd name="adj" fmla="val 10000"/>
            </a:avLst>
          </a:prstGeom>
          <a:solidFill>
            <a:srgbClr val="464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4386"/>
            <a:ext cx="10058400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323130"/>
                </a:solidFill>
                <a:latin typeface="Yu Gothic"/>
              </a:rPr>
              <a:t>結果：</a:t>
            </a:r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会議が減ったかは今のところ不明。</a:t>
            </a:r>
            <a:endParaRPr lang="en-US" altLang="ja-JP" sz="2200" b="1">
              <a:solidFill>
                <a:srgbClr val="323130"/>
              </a:solidFill>
              <a:latin typeface="Yu Gothic"/>
            </a:endParaRPr>
          </a:p>
          <a:p>
            <a:pPr algn="l"/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でも会議＝コスト意識は芽生え始めた気がする</a:t>
            </a:r>
            <a:endParaRPr sz="2200" b="1">
              <a:solidFill>
                <a:srgbClr val="323130"/>
              </a:solidFill>
              <a:latin typeface="Yu Gothi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828800" cy="36576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199" y="1280160"/>
            <a:ext cx="8605157" cy="478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577840" cy="457200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54871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🚨  Teams</a:t>
            </a:r>
            <a:r>
              <a:rPr sz="2000" b="1">
                <a:solidFill>
                  <a:srgbClr val="FFFFFF"/>
                </a:solidFill>
                <a:latin typeface="Yu Gothic"/>
              </a:rPr>
              <a:t>通知</a:t>
            </a:r>
            <a:r>
              <a:rPr sz="1400" b="1">
                <a:solidFill>
                  <a:srgbClr val="FFFFFF"/>
                </a:solidFill>
                <a:latin typeface="Yu Gothic"/>
              </a:rPr>
              <a:t> (Flowbot)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37160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会議は減らなかった。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05E5C"/>
                </a:solidFill>
                <a:latin typeface="Yu Gothic"/>
              </a:rPr>
              <a:t>Power Automate 45 (PA45)  ×  Copilot Community 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6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05E5C"/>
                </a:solidFill>
                <a:latin typeface="Yu Gothic"/>
              </a:rPr>
              <a:t>8 / 11</a:t>
            </a:r>
          </a:p>
        </p:txBody>
      </p:sp>
      <p:pic>
        <p:nvPicPr>
          <p:cNvPr id="35" name="図 34" descr="PA45,&#10;&#10;AI 生成コンテンツは誤りを含む可能性があります。">
            <a:extLst>
              <a:ext uri="{FF2B5EF4-FFF2-40B4-BE49-F238E27FC236}">
                <a16:creationId xmlns:a16="http://schemas.microsoft.com/office/drawing/2014/main" id="{B134EC95-E660-EC78-DEE9-EC24ACCDF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149" y="2093231"/>
            <a:ext cx="4437472" cy="36133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822960" cy="502920"/>
          </a:xfrm>
          <a:prstGeom prst="roundRect">
            <a:avLst>
              <a:gd name="adj" fmla="val 10000"/>
            </a:avLst>
          </a:prstGeom>
          <a:solidFill>
            <a:srgbClr val="464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16719"/>
            <a:ext cx="1005840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323130"/>
                </a:solidFill>
                <a:latin typeface="Yu Gothic"/>
              </a:rPr>
              <a:t>自分が考える × Copilotが手伝う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828800" cy="36576"/>
          </a:xfrm>
          <a:prstGeom prst="roundRect">
            <a:avLst>
              <a:gd name="adj" fmla="val 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430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605E5C"/>
                </a:solidFill>
                <a:latin typeface="Yu Gothic"/>
              </a:rPr>
              <a:t>全部を自分で作る必要はない。でも、全部をCopilotに任せることもできない。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557784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92024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464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🧠  自分にしかできないこと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97480"/>
            <a:ext cx="54864" cy="777240"/>
          </a:xfrm>
          <a:prstGeom prst="roundRect">
            <a:avLst>
              <a:gd name="adj" fmla="val 0"/>
            </a:avLst>
          </a:prstGeom>
          <a:solidFill>
            <a:srgbClr val="464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4937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323130"/>
                </a:solidFill>
                <a:latin typeface="Yu Gothic"/>
              </a:rPr>
              <a:t>現場の困りごとに気づくこと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4937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05E5C"/>
                </a:solidFill>
                <a:latin typeface="Yu Gothic"/>
              </a:rPr>
              <a:t>「会議多すぎ問題」を肌で感じるのは現場の自分だけ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54864" cy="777240"/>
          </a:xfrm>
          <a:prstGeom prst="roundRect">
            <a:avLst>
              <a:gd name="adj" fmla="val 0"/>
            </a:avLst>
          </a:prstGeom>
          <a:solidFill>
            <a:srgbClr val="464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657600"/>
            <a:ext cx="4937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323130"/>
                </a:solidFill>
                <a:latin typeface="Yu Gothic"/>
              </a:rPr>
              <a:t>"こういうの欲しい" のアイデア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23360"/>
            <a:ext cx="49377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05E5C"/>
                </a:solidFill>
                <a:latin typeface="Yu Gothic"/>
              </a:rPr>
              <a:t>数字で見せたい・</a:t>
            </a:r>
            <a:r>
              <a:rPr lang="ja-JP" altLang="en-US" sz="1600">
                <a:solidFill>
                  <a:srgbClr val="605E5C"/>
                </a:solidFill>
                <a:latin typeface="Yu Gothic"/>
              </a:rPr>
              <a:t>会議＝コストという意識を持ってほしい</a:t>
            </a:r>
            <a:r>
              <a:rPr sz="1600" b="0">
                <a:solidFill>
                  <a:srgbClr val="605E5C"/>
                </a:solidFill>
                <a:latin typeface="Yu Gothic"/>
              </a:rPr>
              <a:t> という発想は人間側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617720"/>
            <a:ext cx="54864" cy="777240"/>
          </a:xfrm>
          <a:prstGeom prst="roundRect">
            <a:avLst>
              <a:gd name="adj" fmla="val 0"/>
            </a:avLst>
          </a:prstGeom>
          <a:solidFill>
            <a:srgbClr val="464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617720"/>
            <a:ext cx="4937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323130"/>
                </a:solidFill>
                <a:latin typeface="Yu Gothic"/>
              </a:rPr>
              <a:t>各職場にミートした業務改善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83480"/>
            <a:ext cx="49377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05E5C"/>
                </a:solidFill>
                <a:latin typeface="Yu Gothic"/>
              </a:rPr>
              <a:t>時給5,000円・ハッシュタグ・通知文も現場の文脈次第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920240"/>
            <a:ext cx="557784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09360" y="192024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746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192024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🤖  Copilotに手伝ってもらえること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2697480"/>
            <a:ext cx="54864" cy="777240"/>
          </a:xfrm>
          <a:prstGeom prst="roundRect">
            <a:avLst>
              <a:gd name="adj" fmla="val 0"/>
            </a:avLst>
          </a:prstGeom>
          <a:solidFill>
            <a:srgbClr val="746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20840" y="26974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23130"/>
                </a:solidFill>
                <a:latin typeface="Yu Gothic"/>
              </a:rPr>
              <a:t>関数・式の書き方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063240"/>
            <a:ext cx="49377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5E5C"/>
                </a:solidFill>
                <a:latin typeface="Yu Gothic"/>
              </a:rPr>
              <a:t>ticks() ・ split() ・ length() の組み合わせは即答してくれる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657600"/>
            <a:ext cx="54864" cy="777240"/>
          </a:xfrm>
          <a:prstGeom prst="roundRect">
            <a:avLst>
              <a:gd name="adj" fmla="val 0"/>
            </a:avLst>
          </a:prstGeom>
          <a:solidFill>
            <a:srgbClr val="746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20840" y="36576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23130"/>
                </a:solidFill>
                <a:latin typeface="Yu Gothic"/>
              </a:rPr>
              <a:t>フローの構造提案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023360"/>
            <a:ext cx="49377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5E5C"/>
                </a:solidFill>
                <a:latin typeface="Yu Gothic"/>
              </a:rPr>
              <a:t>「○○したい」と話しかけるだけで7アクション分の設計を出してくれる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4617720"/>
            <a:ext cx="54864" cy="777240"/>
          </a:xfrm>
          <a:prstGeom prst="roundRect">
            <a:avLst>
              <a:gd name="adj" fmla="val 0"/>
            </a:avLst>
          </a:prstGeom>
          <a:solidFill>
            <a:srgbClr val="746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20840" y="46177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23130"/>
                </a:solidFill>
                <a:latin typeface="Yu Gothic"/>
              </a:rPr>
              <a:t>シンタックスやエラーの解消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983480"/>
            <a:ext cx="49377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5E5C"/>
                </a:solidFill>
                <a:latin typeface="Yu Gothic"/>
              </a:rPr>
              <a:t>「読めない式」も丁寧に説明してくれるので学習にもなる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760720"/>
            <a:ext cx="11430000" cy="640080"/>
          </a:xfrm>
          <a:prstGeom prst="roundRect">
            <a:avLst>
              <a:gd name="adj" fmla="val 10000"/>
            </a:avLst>
          </a:prstGeom>
          <a:solidFill>
            <a:srgbClr val="373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586531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B900"/>
                </a:solidFill>
                <a:latin typeface="Yu Gothic"/>
              </a:rPr>
              <a:t>💡  アイデアは現場から、実装はCopilotと。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05E5C"/>
                </a:solidFill>
                <a:latin typeface="Yu Gothic"/>
              </a:rPr>
              <a:t>Power Automate 45 (PA45)  ×  Copilot Community 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776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05E5C"/>
                </a:solidFill>
                <a:latin typeface="Yu Gothic"/>
              </a:rPr>
              <a:t>9 /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05E5C"/>
                </a:solidFill>
                <a:latin typeface="Yu Gothic"/>
              </a:rPr>
              <a:t>Power Automate 45 (PA45)  ×  Copilot Community 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776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05E5C"/>
                </a:solidFill>
                <a:latin typeface="Yu Gothic"/>
              </a:rPr>
              <a:t>9 / 9</a:t>
            </a: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BC6112BA-46BF-16BF-B502-AEF52BBDBCF4}"/>
              </a:ext>
            </a:extLst>
          </p:cNvPr>
          <p:cNvSpPr txBox="1"/>
          <p:nvPr/>
        </p:nvSpPr>
        <p:spPr>
          <a:xfrm>
            <a:off x="2764972" y="736397"/>
            <a:ext cx="6830786" cy="16927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ありがとうございました！</a:t>
            </a:r>
            <a:endParaRPr lang="en-US" altLang="ja-JP" sz="2200" b="1">
              <a:solidFill>
                <a:srgbClr val="323130"/>
              </a:solidFill>
              <a:latin typeface="Yu Gothic"/>
            </a:endParaRPr>
          </a:p>
          <a:p>
            <a:pPr algn="l"/>
            <a:endParaRPr lang="en-US" sz="2200" b="1">
              <a:solidFill>
                <a:srgbClr val="323130"/>
              </a:solidFill>
              <a:latin typeface="Yu Gothic"/>
            </a:endParaRPr>
          </a:p>
          <a:p>
            <a:pPr algn="l"/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＃なんでも</a:t>
            </a:r>
            <a:r>
              <a:rPr lang="en-US" altLang="ja-JP" sz="2200" b="1">
                <a:solidFill>
                  <a:srgbClr val="323130"/>
                </a:solidFill>
                <a:latin typeface="Yu Gothic"/>
              </a:rPr>
              <a:t>Copilot</a:t>
            </a:r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大阪　に現地参加します。</a:t>
            </a:r>
            <a:endParaRPr lang="en-US" altLang="ja-JP" sz="2200" b="1">
              <a:solidFill>
                <a:srgbClr val="323130"/>
              </a:solidFill>
              <a:latin typeface="Yu Gothic"/>
            </a:endParaRPr>
          </a:p>
          <a:p>
            <a:pPr algn="l"/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運営の皆さん・本日参加されている皆さんに</a:t>
            </a:r>
            <a:endParaRPr lang="en-US" altLang="ja-JP" sz="2200" b="1">
              <a:solidFill>
                <a:srgbClr val="323130"/>
              </a:solidFill>
              <a:latin typeface="Yu Gothic"/>
            </a:endParaRPr>
          </a:p>
          <a:p>
            <a:pPr algn="l"/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直接お会いできるのを楽しみにしてます！</a:t>
            </a:r>
            <a:endParaRPr sz="2200" b="1">
              <a:solidFill>
                <a:srgbClr val="323130"/>
              </a:solidFill>
              <a:latin typeface="Yu Gothic"/>
            </a:endParaRPr>
          </a:p>
        </p:txBody>
      </p:sp>
      <p:pic>
        <p:nvPicPr>
          <p:cNvPr id="38" name="図 37" descr="￥ﾈﾝ￣ﾁﾮ￥ﾇﾺ￥ﾼﾵ￤ﾼﾚ!&#10;&#10;AI 生成コンテンツは誤りを含む可能性があります。">
            <a:extLst>
              <a:ext uri="{FF2B5EF4-FFF2-40B4-BE49-F238E27FC236}">
                <a16:creationId xmlns:a16="http://schemas.microsoft.com/office/drawing/2014/main" id="{B653E963-B47F-2836-8222-621013318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663" y="2821429"/>
            <a:ext cx="6172245" cy="3381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9" name="TextBox 4">
            <a:extLst>
              <a:ext uri="{FF2B5EF4-FFF2-40B4-BE49-F238E27FC236}">
                <a16:creationId xmlns:a16="http://schemas.microsoft.com/office/drawing/2014/main" id="{BD6D75ED-1775-931B-DBC7-81DC9143A15D}"/>
              </a:ext>
            </a:extLst>
          </p:cNvPr>
          <p:cNvSpPr txBox="1"/>
          <p:nvPr/>
        </p:nvSpPr>
        <p:spPr>
          <a:xfrm>
            <a:off x="6411687" y="6414403"/>
            <a:ext cx="5328556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最後ちょっとだけ宣伝させてください</a:t>
            </a:r>
            <a:endParaRPr lang="en-US" altLang="ja-JP" sz="2200" b="1">
              <a:solidFill>
                <a:srgbClr val="323130"/>
              </a:solidFill>
              <a:latin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17760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57200" y="411480"/>
            <a:ext cx="822960" cy="502920"/>
          </a:xfrm>
          <a:prstGeom prst="roundRect">
            <a:avLst>
              <a:gd name="adj" fmla="val 10000"/>
            </a:avLst>
          </a:prstGeom>
          <a:solidFill>
            <a:srgbClr val="464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93663"/>
            <a:ext cx="100584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毎週木曜日：</a:t>
            </a:r>
            <a:r>
              <a:rPr lang="en-US" altLang="ja-JP" sz="2200" b="1">
                <a:solidFill>
                  <a:srgbClr val="323130"/>
                </a:solidFill>
                <a:latin typeface="Yu Gothic"/>
              </a:rPr>
              <a:t>PowerAutomate</a:t>
            </a:r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ハンズオン講座やってます</a:t>
            </a:r>
            <a:endParaRPr sz="2200" b="1">
              <a:solidFill>
                <a:srgbClr val="323130"/>
              </a:solidFill>
              <a:latin typeface="Yu Gothi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828800" cy="36576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37160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会議は減らなかった。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04771" y="1846529"/>
            <a:ext cx="4083304" cy="3068371"/>
          </a:xfrm>
          <a:prstGeom prst="roundRect">
            <a:avLst>
              <a:gd name="adj" fmla="val 10000"/>
            </a:avLst>
          </a:prstGeom>
          <a:solidFill>
            <a:srgbClr val="464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83856" y="1889629"/>
            <a:ext cx="137160" cy="2982169"/>
          </a:xfrm>
          <a:prstGeom prst="roundRect">
            <a:avLst>
              <a:gd name="adj" fmla="val 10000"/>
            </a:avLst>
          </a:prstGeom>
          <a:solidFill>
            <a:srgbClr val="746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41931" y="2200355"/>
            <a:ext cx="404231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B900"/>
                </a:solidFill>
                <a:latin typeface="Yu Gothic"/>
              </a:rPr>
              <a:t>  Power Automate 45 (PA45)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9734" y="3135154"/>
            <a:ext cx="352671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Yu Gothic"/>
              </a:rPr>
              <a:t>毎週木曜 20:15〜  </a:t>
            </a:r>
            <a:endParaRPr lang="en-US" sz="2400" b="0">
              <a:solidFill>
                <a:srgbClr val="FFFFFF"/>
              </a:solidFill>
              <a:latin typeface="Yu Gothic"/>
            </a:endParaRPr>
          </a:p>
          <a:p>
            <a:pPr algn="l"/>
            <a:r>
              <a:rPr sz="2400" b="0">
                <a:solidFill>
                  <a:srgbClr val="FFFFFF"/>
                </a:solidFill>
                <a:latin typeface="Yu Gothic"/>
              </a:rPr>
              <a:t>45分の "ハンズオン"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9893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8E9F7"/>
                </a:solidFill>
                <a:latin typeface="Yu Gothic"/>
              </a:rPr>
              <a:t>powerautomate-create.connpass.com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05E5C"/>
                </a:solidFill>
                <a:latin typeface="Yu Gothic"/>
              </a:rPr>
              <a:t>Power Automate 45 (PA45)  ×  Copilot Community 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6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05E5C"/>
                </a:solidFill>
                <a:latin typeface="Yu Gothic"/>
              </a:rPr>
              <a:t>10 / 11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4AF0FD2A-28C4-2964-D85B-89B7CA410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4" y="1316623"/>
            <a:ext cx="7224091" cy="45355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3230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DFEA0-FDA8-8112-7636-0ADCB34C3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80914F5-EDF3-EF34-2C34-942B5FE89F15}"/>
              </a:ext>
            </a:extLst>
          </p:cNvPr>
          <p:cNvSpPr/>
          <p:nvPr/>
        </p:nvSpPr>
        <p:spPr>
          <a:xfrm>
            <a:off x="457200" y="411480"/>
            <a:ext cx="822960" cy="502920"/>
          </a:xfrm>
          <a:prstGeom prst="roundRect">
            <a:avLst>
              <a:gd name="adj" fmla="val 10000"/>
            </a:avLst>
          </a:prstGeom>
          <a:solidFill>
            <a:srgbClr val="464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41A508-B869-F8BC-EE88-15C48E6CD1CB}"/>
              </a:ext>
            </a:extLst>
          </p:cNvPr>
          <p:cNvSpPr txBox="1"/>
          <p:nvPr/>
        </p:nvSpPr>
        <p:spPr>
          <a:xfrm>
            <a:off x="457200" y="4114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07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E7F620-1E53-A9FA-1055-628D600963B7}"/>
              </a:ext>
            </a:extLst>
          </p:cNvPr>
          <p:cNvSpPr txBox="1"/>
          <p:nvPr/>
        </p:nvSpPr>
        <p:spPr>
          <a:xfrm>
            <a:off x="1463040" y="324386"/>
            <a:ext cx="10058400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広島発の</a:t>
            </a:r>
            <a:r>
              <a:rPr lang="en-US" altLang="ja-JP" sz="2200" b="1">
                <a:solidFill>
                  <a:srgbClr val="323130"/>
                </a:solidFill>
                <a:latin typeface="Yu Gothic"/>
              </a:rPr>
              <a:t>PowerPlatform</a:t>
            </a:r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コミュニティ　</a:t>
            </a:r>
            <a:r>
              <a:rPr lang="en-US" altLang="ja-JP" sz="2200" b="1">
                <a:solidFill>
                  <a:srgbClr val="323130"/>
                </a:solidFill>
                <a:latin typeface="Yu Gothic"/>
              </a:rPr>
              <a:t>5</a:t>
            </a:r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月</a:t>
            </a:r>
            <a:r>
              <a:rPr lang="en-US" altLang="ja-JP" sz="2200" b="1">
                <a:solidFill>
                  <a:srgbClr val="323130"/>
                </a:solidFill>
                <a:latin typeface="Yu Gothic"/>
              </a:rPr>
              <a:t>31</a:t>
            </a:r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日　イベントあります♪</a:t>
            </a:r>
            <a:endParaRPr lang="en-US" altLang="ja-JP" sz="2200" b="1">
              <a:solidFill>
                <a:srgbClr val="323130"/>
              </a:solidFill>
              <a:latin typeface="Yu Gothic"/>
            </a:endParaRPr>
          </a:p>
          <a:p>
            <a:pPr algn="l"/>
            <a:r>
              <a:rPr lang="ja-JP" altLang="en-US" sz="2200" b="1">
                <a:solidFill>
                  <a:srgbClr val="323130"/>
                </a:solidFill>
                <a:latin typeface="Yu Gothic"/>
              </a:rPr>
              <a:t>オンライン＆オフライン開催です</a:t>
            </a:r>
            <a:endParaRPr lang="en-US" altLang="ja-JP" sz="2200" b="1">
              <a:solidFill>
                <a:srgbClr val="323130"/>
              </a:solidFill>
              <a:latin typeface="Yu Gothic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7C86D66-EBF4-7CE8-3F14-1E79E398154E}"/>
              </a:ext>
            </a:extLst>
          </p:cNvPr>
          <p:cNvSpPr/>
          <p:nvPr/>
        </p:nvSpPr>
        <p:spPr>
          <a:xfrm>
            <a:off x="457200" y="1005840"/>
            <a:ext cx="1828800" cy="36576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D5A534-0DDB-C06C-B901-C20EAD2B158E}"/>
              </a:ext>
            </a:extLst>
          </p:cNvPr>
          <p:cNvSpPr txBox="1"/>
          <p:nvPr/>
        </p:nvSpPr>
        <p:spPr>
          <a:xfrm>
            <a:off x="6537960" y="137160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会議は減らなかった。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02BA3D5-40E9-013D-159D-C0C03767C950}"/>
              </a:ext>
            </a:extLst>
          </p:cNvPr>
          <p:cNvSpPr/>
          <p:nvPr/>
        </p:nvSpPr>
        <p:spPr>
          <a:xfrm>
            <a:off x="7483856" y="1889629"/>
            <a:ext cx="137160" cy="2982169"/>
          </a:xfrm>
          <a:prstGeom prst="roundRect">
            <a:avLst>
              <a:gd name="adj" fmla="val 10000"/>
            </a:avLst>
          </a:prstGeom>
          <a:solidFill>
            <a:srgbClr val="746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90E8DF-A56F-36C9-9859-062F3C168F5D}"/>
              </a:ext>
            </a:extLst>
          </p:cNvPr>
          <p:cNvSpPr txBox="1"/>
          <p:nvPr/>
        </p:nvSpPr>
        <p:spPr>
          <a:xfrm>
            <a:off x="7899734" y="3135154"/>
            <a:ext cx="352671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Yu Gothic"/>
              </a:rPr>
              <a:t>毎週木曜 20:15〜  </a:t>
            </a:r>
            <a:endParaRPr lang="en-US" sz="2400" b="0">
              <a:solidFill>
                <a:srgbClr val="FFFFFF"/>
              </a:solidFill>
              <a:latin typeface="Yu Gothic"/>
            </a:endParaRPr>
          </a:p>
          <a:p>
            <a:pPr algn="l"/>
            <a:r>
              <a:rPr sz="2400" b="0">
                <a:solidFill>
                  <a:srgbClr val="FFFFFF"/>
                </a:solidFill>
                <a:latin typeface="Yu Gothic"/>
              </a:rPr>
              <a:t>45分の "ハンズオン"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14E867-3541-FE91-E702-069B6D52AC59}"/>
              </a:ext>
            </a:extLst>
          </p:cNvPr>
          <p:cNvSpPr txBox="1"/>
          <p:nvPr/>
        </p:nvSpPr>
        <p:spPr>
          <a:xfrm>
            <a:off x="868680" y="59893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8E9F7"/>
                </a:solidFill>
                <a:latin typeface="Yu Gothic"/>
              </a:rPr>
              <a:t>powerautomate-create.connpass.com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8CD1D1-DFED-B749-A113-1F44A652D769}"/>
              </a:ext>
            </a:extLst>
          </p:cNvPr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05E5C"/>
                </a:solidFill>
                <a:latin typeface="Yu Gothic"/>
              </a:rPr>
              <a:t>Power Automate 45 (PA45)  ×  Copilot Community LT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0FFC34-9CCB-8B5D-3A01-8E6CE911EFB5}"/>
              </a:ext>
            </a:extLst>
          </p:cNvPr>
          <p:cNvSpPr txBox="1"/>
          <p:nvPr/>
        </p:nvSpPr>
        <p:spPr>
          <a:xfrm>
            <a:off x="112776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05E5C"/>
                </a:solidFill>
                <a:latin typeface="Yu Gothic"/>
              </a:rPr>
              <a:t>10 / 11</a:t>
            </a:r>
          </a:p>
        </p:txBody>
      </p:sp>
      <p:pic>
        <p:nvPicPr>
          <p:cNvPr id="7" name="図 6" descr="Power Platform Local User Group&#10;&#10;AI 生成コンテンツは誤りを含む可能性があります。">
            <a:extLst>
              <a:ext uri="{FF2B5EF4-FFF2-40B4-BE49-F238E27FC236}">
                <a16:creationId xmlns:a16="http://schemas.microsoft.com/office/drawing/2014/main" id="{C79FB72A-09D9-00CA-07F4-5611BCEFA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65" y="1179576"/>
            <a:ext cx="10229925" cy="53054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4057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3236</TotalTime>
  <Words>830</Words>
  <Application>Microsoft Office PowerPoint</Application>
  <PresentationFormat>ワイド画面</PresentationFormat>
  <Paragraphs>168</Paragraphs>
  <Slides>13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BIZ UDGothic</vt:lpstr>
      <vt:lpstr>Yu Gothic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25</cp:revision>
  <dcterms:created xsi:type="dcterms:W3CDTF">2026-03-02T01:22:39Z</dcterms:created>
  <dcterms:modified xsi:type="dcterms:W3CDTF">2026-05-14T02:04:13Z</dcterms:modified>
</cp:coreProperties>
</file>