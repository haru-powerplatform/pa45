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_slide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" Type="http://schemas.openxmlformats.org/officeDocument/2006/relationships/customXml" Target="../customXml/item2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28" Type="http://schemas.openxmlformats.org/officeDocument/2006/relationships/viewProps" Target="viewProps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_slide1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17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81.png"/><Relationship Id="rId21" Type="http://schemas.openxmlformats.org/officeDocument/2006/relationships/image" Target="../media/image23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24" Type="http://schemas.openxmlformats.org/officeDocument/2006/relationships/image" Target="../media/image142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23" Type="http://schemas.openxmlformats.org/officeDocument/2006/relationships/image" Target="../media/image179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Relationship Id="rId22" Type="http://schemas.openxmlformats.org/officeDocument/2006/relationships/image" Target="../media/image1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5">
            <a:extLst>
              <a:ext uri="{FF2B5EF4-FFF2-40B4-BE49-F238E27FC236}">
                <a16:creationId xmlns:a16="http://schemas.microsoft.com/office/drawing/2014/main" id="{46CB19F3-9736-0960-A70B-0241EF7A3263}"/>
              </a:ext>
            </a:extLst>
          </p:cNvPr>
          <p:cNvSpPr/>
          <p:nvPr/>
        </p:nvSpPr>
        <p:spPr>
          <a:xfrm>
            <a:off x="253194" y="1312253"/>
            <a:ext cx="2407133" cy="2323525"/>
          </a:xfrm>
          <a:prstGeom prst="roundRect">
            <a:avLst>
              <a:gd name="adj" fmla="val 2809"/>
            </a:avLst>
          </a:prstGeom>
          <a:noFill/>
          <a:ln w="476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93" name="Shape 1">
            <a:extLst>
              <a:ext uri="{FF2B5EF4-FFF2-40B4-BE49-F238E27FC236}">
                <a16:creationId xmlns:a16="http://schemas.microsoft.com/office/drawing/2014/main" id="{33909C0C-1682-E3D9-4407-80EC8893CDCC}"/>
              </a:ext>
            </a:extLst>
          </p:cNvPr>
          <p:cNvSpPr/>
          <p:nvPr/>
        </p:nvSpPr>
        <p:spPr>
          <a:xfrm>
            <a:off x="-23859" y="-279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1"/>
          <p:cNvSpPr txBox="1"/>
          <p:nvPr/>
        </p:nvSpPr>
        <p:spPr>
          <a:xfrm>
            <a:off x="2063800" y="177278"/>
            <a:ext cx="6792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毎月の </a:t>
            </a:r>
            <a:r>
              <a:rPr lang="en-US" sz="2800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“◯営業日目” を自動で出す方法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59933" y="668427"/>
            <a:ext cx="82213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月初から平日だけカウントするシンプル発想</a:t>
            </a:r>
            <a:endParaRPr 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497222" y="1151055"/>
            <a:ext cx="1994374" cy="26700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欲しいシーン</a:t>
            </a:r>
            <a:r>
              <a:rPr lang="en-US" sz="28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2800" u="sng" dirty="0"/>
          </a:p>
        </p:txBody>
      </p:sp>
      <p:sp>
        <p:nvSpPr>
          <p:cNvPr id="12" name="Text 6"/>
          <p:cNvSpPr txBox="1"/>
          <p:nvPr/>
        </p:nvSpPr>
        <p:spPr>
          <a:xfrm>
            <a:off x="686943" y="1965128"/>
            <a:ext cx="2143354" cy="49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 </a:t>
            </a:r>
            <a:r>
              <a:rPr lang="en-US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5営業日目</a:t>
            </a: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レポート締め</a:t>
            </a:r>
            <a:endParaRPr lang="en-US" dirty="0"/>
          </a:p>
        </p:txBody>
      </p:sp>
      <p:sp>
        <p:nvSpPr>
          <p:cNvPr id="16" name="Text 8"/>
          <p:cNvSpPr txBox="1"/>
          <p:nvPr/>
        </p:nvSpPr>
        <p:spPr>
          <a:xfrm>
            <a:off x="747384" y="2861239"/>
            <a:ext cx="2143354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 </a:t>
            </a:r>
            <a:r>
              <a:rPr lang="en-US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2営業日目</a:t>
            </a: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請求処理</a:t>
            </a:r>
            <a:endParaRPr lang="en-US" dirty="0"/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7AFABCC8-92B4-3281-3978-9F8B495DB010}"/>
              </a:ext>
            </a:extLst>
          </p:cNvPr>
          <p:cNvGrpSpPr/>
          <p:nvPr/>
        </p:nvGrpSpPr>
        <p:grpSpPr>
          <a:xfrm>
            <a:off x="3081576" y="1470664"/>
            <a:ext cx="2594918" cy="2157830"/>
            <a:chOff x="2969205" y="1692657"/>
            <a:chExt cx="1833372" cy="1427956"/>
          </a:xfrm>
        </p:grpSpPr>
        <p:pic>
          <p:nvPicPr>
            <p:cNvPr id="22" name="Image 9" descr="preencoded.png"/>
            <p:cNvPicPr>
              <a:picLocks noChangeAspect="1"/>
            </p:cNvPicPr>
            <p:nvPr/>
          </p:nvPicPr>
          <p:blipFill>
            <a:blip r:embed="rId3"/>
            <a:srcRect l="-2" r="-2"/>
            <a:stretch/>
          </p:blipFill>
          <p:spPr>
            <a:xfrm>
              <a:off x="2969205" y="1794316"/>
              <a:ext cx="1833372" cy="1326297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sp>
          <p:nvSpPr>
            <p:cNvPr id="23" name="Shape 11"/>
            <p:cNvSpPr/>
            <p:nvPr/>
          </p:nvSpPr>
          <p:spPr>
            <a:xfrm>
              <a:off x="3000338" y="1704172"/>
              <a:ext cx="885553" cy="291883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24" name="Text 12"/>
            <p:cNvSpPr/>
            <p:nvPr/>
          </p:nvSpPr>
          <p:spPr>
            <a:xfrm>
              <a:off x="3053562" y="1692657"/>
              <a:ext cx="767970" cy="29188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Start</a:t>
              </a:r>
              <a:endParaRPr lang="en-US" sz="2400" dirty="0"/>
            </a:p>
          </p:txBody>
        </p:sp>
        <p:pic>
          <p:nvPicPr>
            <p:cNvPr id="25" name="Image 10" descr="preencoded.png"/>
            <p:cNvPicPr>
              <a:picLocks noChangeAspect="1"/>
            </p:cNvPicPr>
            <p:nvPr/>
          </p:nvPicPr>
          <p:blipFill>
            <a:blip r:embed="rId4"/>
            <a:srcRect l="-57" r="-57"/>
            <a:stretch/>
          </p:blipFill>
          <p:spPr>
            <a:xfrm>
              <a:off x="3922377" y="1937865"/>
              <a:ext cx="276909" cy="316105"/>
            </a:xfrm>
            <a:prstGeom prst="rect">
              <a:avLst/>
            </a:prstGeom>
          </p:spPr>
        </p:pic>
        <p:sp>
          <p:nvSpPr>
            <p:cNvPr id="26" name="Text 13"/>
            <p:cNvSpPr txBox="1"/>
            <p:nvPr/>
          </p:nvSpPr>
          <p:spPr>
            <a:xfrm>
              <a:off x="3269562" y="2320676"/>
              <a:ext cx="126400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① 月初をセット</a:t>
              </a:r>
              <a:endParaRPr lang="en-US" sz="1600" dirty="0"/>
            </a:p>
          </p:txBody>
        </p:sp>
        <p:sp>
          <p:nvSpPr>
            <p:cNvPr id="27" name="Shape 14"/>
            <p:cNvSpPr/>
            <p:nvPr/>
          </p:nvSpPr>
          <p:spPr>
            <a:xfrm>
              <a:off x="3125367" y="2559082"/>
              <a:ext cx="1591056" cy="496215"/>
            </a:xfrm>
            <a:prstGeom prst="roundRect">
              <a:avLst>
                <a:gd name="adj" fmla="val 13333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28" name="Text 15"/>
            <p:cNvSpPr txBox="1"/>
            <p:nvPr/>
          </p:nvSpPr>
          <p:spPr>
            <a:xfrm>
              <a:off x="3152192" y="2567506"/>
              <a:ext cx="1580455" cy="44986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startOfMonth</a:t>
              </a:r>
            </a:p>
            <a:p>
              <a:pPr marL="0" indent="0" algn="ctr">
                <a:buNone/>
              </a:pPr>
              <a:r>
                <a:rPr lang="en-US" sz="2000" b="1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r>
                <a:rPr lang="en-US" sz="2000" b="1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utcNow())</a:t>
              </a:r>
              <a:endParaRPr lang="en-US" sz="2000" b="1" dirty="0"/>
            </a:p>
          </p:txBody>
        </p:sp>
      </p:grp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5448575" y="2293772"/>
            <a:ext cx="529772" cy="586131"/>
          </a:xfrm>
          <a:prstGeom prst="rect">
            <a:avLst/>
          </a:prstGeom>
        </p:spPr>
      </p:pic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616DD28A-EB3F-5D8A-2064-0984167F728F}"/>
              </a:ext>
            </a:extLst>
          </p:cNvPr>
          <p:cNvGrpSpPr/>
          <p:nvPr/>
        </p:nvGrpSpPr>
        <p:grpSpPr>
          <a:xfrm>
            <a:off x="5787861" y="1464149"/>
            <a:ext cx="2826313" cy="2159877"/>
            <a:chOff x="6624545" y="1753960"/>
            <a:chExt cx="2225395" cy="1591895"/>
          </a:xfrm>
        </p:grpSpPr>
        <p:pic>
          <p:nvPicPr>
            <p:cNvPr id="30" name="Image 12" descr="preencoded.png"/>
            <p:cNvPicPr>
              <a:picLocks noChangeAspect="1"/>
            </p:cNvPicPr>
            <p:nvPr/>
          </p:nvPicPr>
          <p:blipFill>
            <a:blip r:embed="rId6"/>
            <a:srcRect t="-23" b="-23"/>
            <a:stretch/>
          </p:blipFill>
          <p:spPr>
            <a:xfrm>
              <a:off x="6797462" y="1861582"/>
              <a:ext cx="1913788" cy="1484273"/>
            </a:xfrm>
            <a:prstGeom prst="rect">
              <a:avLst/>
            </a:prstGeom>
          </p:spPr>
        </p:pic>
        <p:sp>
          <p:nvSpPr>
            <p:cNvPr id="31" name="Shape 16"/>
            <p:cNvSpPr/>
            <p:nvPr/>
          </p:nvSpPr>
          <p:spPr>
            <a:xfrm>
              <a:off x="6789645" y="1781251"/>
              <a:ext cx="2006773" cy="344520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000"/>
            </a:p>
          </p:txBody>
        </p:sp>
        <p:sp>
          <p:nvSpPr>
            <p:cNvPr id="32" name="Text 17"/>
            <p:cNvSpPr/>
            <p:nvPr/>
          </p:nvSpPr>
          <p:spPr>
            <a:xfrm>
              <a:off x="6905452" y="1753960"/>
              <a:ext cx="1813615" cy="36421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Loop Process</a:t>
              </a:r>
              <a:endParaRPr lang="en-US" sz="2400" dirty="0"/>
            </a:p>
          </p:txBody>
        </p:sp>
        <p:pic>
          <p:nvPicPr>
            <p:cNvPr id="33" name="Image 13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627800" y="2160555"/>
              <a:ext cx="261008" cy="261008"/>
            </a:xfrm>
            <a:prstGeom prst="rect">
              <a:avLst/>
            </a:prstGeom>
          </p:spPr>
        </p:pic>
        <p:sp>
          <p:nvSpPr>
            <p:cNvPr id="34" name="Text 18"/>
            <p:cNvSpPr txBox="1"/>
            <p:nvPr/>
          </p:nvSpPr>
          <p:spPr>
            <a:xfrm>
              <a:off x="6796706" y="2493540"/>
              <a:ext cx="190079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② 1日ずつ進めて判定</a:t>
              </a:r>
              <a:endParaRPr lang="en-US" dirty="0"/>
            </a:p>
          </p:txBody>
        </p:sp>
        <p:sp>
          <p:nvSpPr>
            <p:cNvPr id="35" name="Text 19"/>
            <p:cNvSpPr txBox="1"/>
            <p:nvPr/>
          </p:nvSpPr>
          <p:spPr>
            <a:xfrm>
              <a:off x="6624545" y="2805312"/>
              <a:ext cx="222539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日付を+1日する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平日ならカウントUP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(土日はカウントしない) </a:t>
              </a:r>
              <a:endParaRPr lang="en-US" sz="1600" dirty="0"/>
            </a:p>
          </p:txBody>
        </p:sp>
      </p:grp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8415033" y="2355876"/>
            <a:ext cx="505978" cy="559805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7C443620-0A70-45B8-0F43-7895B7C14B6B}"/>
              </a:ext>
            </a:extLst>
          </p:cNvPr>
          <p:cNvGrpSpPr/>
          <p:nvPr/>
        </p:nvGrpSpPr>
        <p:grpSpPr>
          <a:xfrm>
            <a:off x="8855963" y="1509313"/>
            <a:ext cx="2412953" cy="2126465"/>
            <a:chOff x="10180930" y="1583839"/>
            <a:chExt cx="1458468" cy="1531522"/>
          </a:xfrm>
        </p:grpSpPr>
        <p:pic>
          <p:nvPicPr>
            <p:cNvPr id="37" name="Image 15" descr="preencoded.png"/>
            <p:cNvPicPr>
              <a:picLocks noChangeAspect="1"/>
            </p:cNvPicPr>
            <p:nvPr/>
          </p:nvPicPr>
          <p:blipFill>
            <a:blip r:embed="rId8"/>
            <a:srcRect t="-6" b="-6"/>
            <a:stretch/>
          </p:blipFill>
          <p:spPr>
            <a:xfrm>
              <a:off x="10180930" y="1664942"/>
              <a:ext cx="1458468" cy="1450419"/>
            </a:xfrm>
            <a:prstGeom prst="rect">
              <a:avLst/>
            </a:prstGeom>
          </p:spPr>
        </p:pic>
        <p:sp>
          <p:nvSpPr>
            <p:cNvPr id="38" name="Shape 20"/>
            <p:cNvSpPr/>
            <p:nvPr/>
          </p:nvSpPr>
          <p:spPr>
            <a:xfrm>
              <a:off x="10255910" y="1583839"/>
              <a:ext cx="797854" cy="315817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39" name="Text 21"/>
            <p:cNvSpPr/>
            <p:nvPr/>
          </p:nvSpPr>
          <p:spPr>
            <a:xfrm>
              <a:off x="10268555" y="1644621"/>
              <a:ext cx="697093" cy="1911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Goal</a:t>
              </a:r>
              <a:endParaRPr lang="en-US" sz="2400" dirty="0"/>
            </a:p>
          </p:txBody>
        </p:sp>
        <p:pic>
          <p:nvPicPr>
            <p:cNvPr id="40" name="Image 16" descr="preencoded.png"/>
            <p:cNvPicPr>
              <a:picLocks noChangeAspect="1"/>
            </p:cNvPicPr>
            <p:nvPr/>
          </p:nvPicPr>
          <p:blipFill>
            <a:blip r:embed="rId9"/>
            <a:srcRect l="-57" r="-57"/>
            <a:stretch/>
          </p:blipFill>
          <p:spPr>
            <a:xfrm>
              <a:off x="10821735" y="1916835"/>
              <a:ext cx="270987" cy="309344"/>
            </a:xfrm>
            <a:prstGeom prst="rect">
              <a:avLst/>
            </a:prstGeom>
          </p:spPr>
        </p:pic>
        <p:sp>
          <p:nvSpPr>
            <p:cNvPr id="41" name="Text 22"/>
            <p:cNvSpPr txBox="1"/>
            <p:nvPr/>
          </p:nvSpPr>
          <p:spPr>
            <a:xfrm>
              <a:off x="10255910" y="2344610"/>
              <a:ext cx="131765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③ カウント到達</a:t>
              </a:r>
              <a:endParaRPr lang="en-US" dirty="0"/>
            </a:p>
          </p:txBody>
        </p:sp>
        <p:sp>
          <p:nvSpPr>
            <p:cNvPr id="42" name="Text 23"/>
            <p:cNvSpPr txBox="1"/>
            <p:nvPr/>
          </p:nvSpPr>
          <p:spPr>
            <a:xfrm>
              <a:off x="10266883" y="2662583"/>
              <a:ext cx="133123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count = 5 になったら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その日が</a:t>
              </a:r>
              <a:r>
                <a:rPr lang="en-US" sz="16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「5営業日目」</a:t>
              </a:r>
              <a:endParaRPr lang="en-US" sz="1600" dirty="0"/>
            </a:p>
          </p:txBody>
        </p:sp>
      </p:grp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0"/>
          <a:srcRect l="-7" r="-7"/>
          <a:stretch/>
        </p:blipFill>
        <p:spPr>
          <a:xfrm>
            <a:off x="188332" y="4081017"/>
            <a:ext cx="4665702" cy="2634108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647909" y="4134875"/>
            <a:ext cx="4215202" cy="8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実装の要点 </a:t>
            </a:r>
            <a:endParaRPr lang="en-US" sz="2400" u="sng" dirty="0"/>
          </a:p>
        </p:txBody>
      </p:sp>
      <p:pic>
        <p:nvPicPr>
          <p:cNvPr id="58" name="Image 21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263295" y="4062633"/>
            <a:ext cx="357713" cy="216978"/>
          </a:xfrm>
          <a:prstGeom prst="rect">
            <a:avLst/>
          </a:prstGeom>
        </p:spPr>
      </p:pic>
      <p:sp>
        <p:nvSpPr>
          <p:cNvPr id="59" name="Shape 35"/>
          <p:cNvSpPr/>
          <p:nvPr/>
        </p:nvSpPr>
        <p:spPr>
          <a:xfrm>
            <a:off x="477087" y="4462322"/>
            <a:ext cx="4152899" cy="578018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0" name="Text 36"/>
          <p:cNvSpPr txBox="1"/>
          <p:nvPr/>
        </p:nvSpPr>
        <p:spPr>
          <a:xfrm>
            <a:off x="560826" y="4457326"/>
            <a:ext cx="3656504" cy="57801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 </a:t>
            </a:r>
            <a:r>
              <a:rPr lang="en-US" sz="16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until ループ条件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('count')</a:t>
            </a: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 target と等しい </a:t>
            </a:r>
            <a:endParaRPr lang="en-US" sz="1400" b="1" dirty="0"/>
          </a:p>
        </p:txBody>
      </p:sp>
      <p:sp>
        <p:nvSpPr>
          <p:cNvPr id="62" name="Shape 38"/>
          <p:cNvSpPr/>
          <p:nvPr/>
        </p:nvSpPr>
        <p:spPr>
          <a:xfrm>
            <a:off x="450376" y="5184657"/>
            <a:ext cx="4152899" cy="578018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3" name="Text 39"/>
          <p:cNvSpPr txBox="1"/>
          <p:nvPr/>
        </p:nvSpPr>
        <p:spPr>
          <a:xfrm>
            <a:off x="497222" y="5218641"/>
            <a:ext cx="3838656" cy="57801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平日判定 (</a:t>
            </a:r>
            <a:r>
              <a:rPr lang="en-US" sz="16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条件分岐)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</a:t>
            </a: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 </a:t>
            </a:r>
            <a:r>
              <a:rPr lang="en-US" sz="16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0(日)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6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6(土)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以外 </a:t>
            </a:r>
            <a:endParaRPr lang="en-US" sz="1600" dirty="0"/>
          </a:p>
        </p:txBody>
      </p:sp>
      <p:sp>
        <p:nvSpPr>
          <p:cNvPr id="67" name="Shape 43"/>
          <p:cNvSpPr/>
          <p:nvPr/>
        </p:nvSpPr>
        <p:spPr>
          <a:xfrm>
            <a:off x="477087" y="5925332"/>
            <a:ext cx="4208990" cy="686097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8" name="Text 44"/>
          <p:cNvSpPr txBox="1"/>
          <p:nvPr/>
        </p:nvSpPr>
        <p:spPr>
          <a:xfrm>
            <a:off x="604734" y="6060802"/>
            <a:ext cx="1061599" cy="17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日付加算</a:t>
            </a:r>
            <a:endParaRPr lang="en-US" sz="1600" dirty="0"/>
          </a:p>
        </p:txBody>
      </p:sp>
      <p:sp>
        <p:nvSpPr>
          <p:cNvPr id="69" name="Text 45"/>
          <p:cNvSpPr txBox="1"/>
          <p:nvPr/>
        </p:nvSpPr>
        <p:spPr>
          <a:xfrm>
            <a:off x="617383" y="6330204"/>
            <a:ext cx="4076177" cy="17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addDays(variables('date'), 1)</a:t>
            </a:r>
            <a:endParaRPr lang="en-US" b="1" dirty="0"/>
          </a:p>
        </p:txBody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4912490" y="4135539"/>
            <a:ext cx="3233102" cy="2501544"/>
          </a:xfrm>
          <a:prstGeom prst="rect">
            <a:avLst/>
          </a:prstGeom>
        </p:spPr>
      </p:pic>
      <p:sp>
        <p:nvSpPr>
          <p:cNvPr id="71" name="Text 46"/>
          <p:cNvSpPr txBox="1"/>
          <p:nvPr/>
        </p:nvSpPr>
        <p:spPr>
          <a:xfrm>
            <a:off x="5332686" y="4056905"/>
            <a:ext cx="2844763" cy="2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ここでつまずきがち </a:t>
            </a:r>
            <a:endParaRPr lang="en-US" sz="2400" u="sng" dirty="0"/>
          </a:p>
        </p:txBody>
      </p:sp>
      <p:pic>
        <p:nvPicPr>
          <p:cNvPr id="72" name="Image 2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991416" y="4031425"/>
            <a:ext cx="256310" cy="277896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5361547" y="4677938"/>
            <a:ext cx="3011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月初は「1営業日目」。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count=0 から始めるとズレる。</a:t>
            </a:r>
            <a:endParaRPr lang="en-US" sz="1600" dirty="0"/>
          </a:p>
        </p:txBody>
      </p:sp>
      <p:pic>
        <p:nvPicPr>
          <p:cNvPr id="75" name="Image 25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5032002" y="4648091"/>
            <a:ext cx="277223" cy="349938"/>
          </a:xfrm>
          <a:prstGeom prst="rect">
            <a:avLst/>
          </a:prstGeom>
        </p:spPr>
      </p:pic>
      <p:sp>
        <p:nvSpPr>
          <p:cNvPr id="76" name="Text 48"/>
          <p:cNvSpPr txBox="1"/>
          <p:nvPr/>
        </p:nvSpPr>
        <p:spPr>
          <a:xfrm>
            <a:off x="5443338" y="5333261"/>
            <a:ext cx="2702254" cy="42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dayOfWeek() の戻り値。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0=日曜</a:t>
            </a: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6=土曜</a:t>
            </a: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を暗記！</a:t>
            </a:r>
            <a:endParaRPr lang="en-US" sz="1600" dirty="0"/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057673" y="6108858"/>
            <a:ext cx="298149" cy="292421"/>
          </a:xfrm>
          <a:prstGeom prst="rect">
            <a:avLst/>
          </a:prstGeom>
        </p:spPr>
      </p:pic>
      <p:sp>
        <p:nvSpPr>
          <p:cNvPr id="78" name="Text 49"/>
          <p:cNvSpPr txBox="1"/>
          <p:nvPr/>
        </p:nvSpPr>
        <p:spPr>
          <a:xfrm>
            <a:off x="5416544" y="6108590"/>
            <a:ext cx="28757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祝日は考慮外。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まずは土日除外だけで動かす。</a:t>
            </a:r>
            <a:endParaRPr lang="en-US" sz="1600" dirty="0"/>
          </a:p>
        </p:txBody>
      </p:sp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16"/>
          <a:srcRect l="-13" r="-13"/>
          <a:stretch/>
        </p:blipFill>
        <p:spPr>
          <a:xfrm>
            <a:off x="8420577" y="4135538"/>
            <a:ext cx="3569022" cy="2545183"/>
          </a:xfrm>
          <a:prstGeom prst="rect">
            <a:avLst/>
          </a:prstGeom>
        </p:spPr>
      </p:pic>
      <p:sp>
        <p:nvSpPr>
          <p:cNvPr id="80" name="Text 50"/>
          <p:cNvSpPr txBox="1"/>
          <p:nvPr/>
        </p:nvSpPr>
        <p:spPr>
          <a:xfrm>
            <a:off x="8852318" y="4058237"/>
            <a:ext cx="3335671" cy="19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これが自動になると… </a:t>
            </a:r>
            <a:endParaRPr lang="en-US" sz="2400" u="sng" dirty="0"/>
          </a:p>
        </p:txBody>
      </p:sp>
      <p:pic>
        <p:nvPicPr>
          <p:cNvPr id="81" name="Image 2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531554" y="4017230"/>
            <a:ext cx="256611" cy="256611"/>
          </a:xfrm>
          <a:prstGeom prst="rect">
            <a:avLst/>
          </a:prstGeom>
        </p:spPr>
      </p:pic>
      <p:sp>
        <p:nvSpPr>
          <p:cNvPr id="82" name="Text 51"/>
          <p:cNvSpPr txBox="1"/>
          <p:nvPr/>
        </p:nvSpPr>
        <p:spPr>
          <a:xfrm>
            <a:off x="8855963" y="4615063"/>
            <a:ext cx="3214546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5営業日目に自動レポート送信</a:t>
            </a:r>
            <a:endParaRPr lang="en-US" dirty="0"/>
          </a:p>
        </p:txBody>
      </p:sp>
      <p:pic>
        <p:nvPicPr>
          <p:cNvPr id="83" name="Image 2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489206" y="4643672"/>
            <a:ext cx="249937" cy="249937"/>
          </a:xfrm>
          <a:prstGeom prst="rect">
            <a:avLst/>
          </a:prstGeom>
        </p:spPr>
      </p:pic>
      <p:sp>
        <p:nvSpPr>
          <p:cNvPr id="84" name="Text 52"/>
          <p:cNvSpPr txBox="1"/>
          <p:nvPr/>
        </p:nvSpPr>
        <p:spPr>
          <a:xfrm>
            <a:off x="8862385" y="5126900"/>
            <a:ext cx="3107219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2営業日目に未提出リマインド</a:t>
            </a:r>
            <a:endParaRPr lang="en-US" dirty="0"/>
          </a:p>
        </p:txBody>
      </p:sp>
      <p:pic>
        <p:nvPicPr>
          <p:cNvPr id="85" name="Image 30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8502323" y="5146363"/>
            <a:ext cx="202127" cy="219704"/>
          </a:xfrm>
          <a:prstGeom prst="rect">
            <a:avLst/>
          </a:prstGeom>
        </p:spPr>
      </p:pic>
      <p:sp>
        <p:nvSpPr>
          <p:cNvPr id="86" name="Text 53"/>
          <p:cNvSpPr txBox="1"/>
          <p:nvPr/>
        </p:nvSpPr>
        <p:spPr>
          <a:xfrm>
            <a:off x="8885979" y="5677820"/>
            <a:ext cx="3093884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3営業日目にCSV自動生成</a:t>
            </a:r>
            <a:endParaRPr lang="en-US" dirty="0"/>
          </a:p>
        </p:txBody>
      </p:sp>
      <p:pic>
        <p:nvPicPr>
          <p:cNvPr id="87" name="Image 31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559169" y="5686808"/>
            <a:ext cx="219702" cy="219702"/>
          </a:xfrm>
          <a:prstGeom prst="rect">
            <a:avLst/>
          </a:prstGeom>
        </p:spPr>
      </p:pic>
      <p:sp>
        <p:nvSpPr>
          <p:cNvPr id="88" name="Text 54"/>
          <p:cNvSpPr txBox="1"/>
          <p:nvPr/>
        </p:nvSpPr>
        <p:spPr>
          <a:xfrm>
            <a:off x="8907122" y="6151962"/>
            <a:ext cx="2676002" cy="3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“月初ロジック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”で業務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9" name="Shape 55"/>
          <p:cNvSpPr/>
          <p:nvPr/>
        </p:nvSpPr>
        <p:spPr>
          <a:xfrm>
            <a:off x="381305" y="7629754"/>
            <a:ext cx="11430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56"/>
          <p:cNvSpPr txBox="1"/>
          <p:nvPr/>
        </p:nvSpPr>
        <p:spPr>
          <a:xfrm>
            <a:off x="381305" y="7753198"/>
            <a:ext cx="495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PA45では、こうした “月初ロジックのアルゴリズム” も一緒に45分で作って動かしています。</a:t>
            </a:r>
            <a:endParaRPr lang="en-US" sz="900" dirty="0"/>
          </a:p>
        </p:txBody>
      </p:sp>
      <p:sp>
        <p:nvSpPr>
          <p:cNvPr id="91" name="Text 57"/>
          <p:cNvSpPr txBox="1"/>
          <p:nvPr/>
        </p:nvSpPr>
        <p:spPr>
          <a:xfrm>
            <a:off x="11342218" y="7715707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CEF61DDC-0438-8CB3-0995-0DD42F2A00E2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2000F949-BECD-8062-C199-E0595B1FCE64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5" name="Shape 2">
              <a:extLst>
                <a:ext uri="{FF2B5EF4-FFF2-40B4-BE49-F238E27FC236}">
                  <a16:creationId xmlns:a16="http://schemas.microsoft.com/office/drawing/2014/main" id="{5D63F5D1-20F1-D271-C01C-94F597B0995B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6" name="Text 3">
              <a:extLst>
                <a:ext uri="{FF2B5EF4-FFF2-40B4-BE49-F238E27FC236}">
                  <a16:creationId xmlns:a16="http://schemas.microsoft.com/office/drawing/2014/main" id="{6B898D7F-D158-E3A9-0984-CE49369878D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Vol.28</a:t>
              </a:r>
              <a:endParaRPr lang="en-US" sz="3200" dirty="0"/>
            </a:p>
          </p:txBody>
        </p:sp>
      </p:grpSp>
      <p:pic>
        <p:nvPicPr>
          <p:cNvPr id="97" name="図 96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994F9F13-608F-4441-D7F0-239F0077D80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044" y="53893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4" descr="preencoded.png">
            <a:extLst>
              <a:ext uri="{FF2B5EF4-FFF2-40B4-BE49-F238E27FC236}">
                <a16:creationId xmlns:a16="http://schemas.microsoft.com/office/drawing/2014/main" id="{F7DD7E83-7E52-66A9-44C1-BAA25E54F626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2571" r="-2571"/>
          <a:stretch/>
        </p:blipFill>
        <p:spPr>
          <a:xfrm>
            <a:off x="272699" y="1985766"/>
            <a:ext cx="370363" cy="402568"/>
          </a:xfrm>
          <a:prstGeom prst="rect">
            <a:avLst/>
          </a:prstGeom>
        </p:spPr>
      </p:pic>
      <p:pic>
        <p:nvPicPr>
          <p:cNvPr id="102" name="Image 25" descr="preencoded.png">
            <a:extLst>
              <a:ext uri="{FF2B5EF4-FFF2-40B4-BE49-F238E27FC236}">
                <a16:creationId xmlns:a16="http://schemas.microsoft.com/office/drawing/2014/main" id="{D1783DD4-2973-DE91-D15F-2A81EE05843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5043686" y="5342354"/>
            <a:ext cx="277223" cy="349938"/>
          </a:xfrm>
          <a:prstGeom prst="rect">
            <a:avLst/>
          </a:prstGeom>
        </p:spPr>
      </p:pic>
      <p:pic>
        <p:nvPicPr>
          <p:cNvPr id="105" name="Image 4" descr="preencoded.png">
            <a:extLst>
              <a:ext uri="{FF2B5EF4-FFF2-40B4-BE49-F238E27FC236}">
                <a16:creationId xmlns:a16="http://schemas.microsoft.com/office/drawing/2014/main" id="{171D8909-8A7F-AFAE-40AA-B7D79040FF1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2571" r="-2571"/>
          <a:stretch/>
        </p:blipFill>
        <p:spPr>
          <a:xfrm>
            <a:off x="264900" y="2916176"/>
            <a:ext cx="370363" cy="402568"/>
          </a:xfrm>
          <a:prstGeom prst="rect">
            <a:avLst/>
          </a:prstGeom>
        </p:spPr>
      </p:pic>
      <p:sp>
        <p:nvSpPr>
          <p:cNvPr id="106" name="Shape 15">
            <a:extLst>
              <a:ext uri="{FF2B5EF4-FFF2-40B4-BE49-F238E27FC236}">
                <a16:creationId xmlns:a16="http://schemas.microsoft.com/office/drawing/2014/main" id="{6AAA5069-9AA7-6013-D1BB-4F834F6918AD}"/>
              </a:ext>
            </a:extLst>
          </p:cNvPr>
          <p:cNvSpPr/>
          <p:nvPr/>
        </p:nvSpPr>
        <p:spPr>
          <a:xfrm>
            <a:off x="2830297" y="1316132"/>
            <a:ext cx="9126427" cy="2392876"/>
          </a:xfrm>
          <a:prstGeom prst="roundRect">
            <a:avLst>
              <a:gd name="adj" fmla="val 2809"/>
            </a:avLst>
          </a:prstGeom>
          <a:noFill/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20" name="Text 10"/>
          <p:cNvSpPr txBox="1"/>
          <p:nvPr/>
        </p:nvSpPr>
        <p:spPr>
          <a:xfrm>
            <a:off x="2867922" y="1111301"/>
            <a:ext cx="8680288" cy="33570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“月初スタート＋平日だけカウント” のシンプルアルゴリズム</a:t>
            </a:r>
            <a:endParaRPr lang="en-US" sz="2400" u="sng" dirty="0"/>
          </a:p>
        </p:txBody>
      </p:sp>
      <p:pic>
        <p:nvPicPr>
          <p:cNvPr id="108" name="図 107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03A854FF-9FFE-9A87-73DE-025142C04A4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9691" y="3227974"/>
            <a:ext cx="987028" cy="651439"/>
          </a:xfrm>
          <a:prstGeom prst="rect">
            <a:avLst/>
          </a:prstGeom>
        </p:spPr>
      </p:pic>
      <p:pic>
        <p:nvPicPr>
          <p:cNvPr id="109" name="図 108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41371E92-6E68-D949-0B55-54F6A7B4692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5963" y="-129467"/>
            <a:ext cx="1755376" cy="1158549"/>
          </a:xfrm>
          <a:prstGeom prst="rect">
            <a:avLst/>
          </a:prstGeom>
        </p:spPr>
      </p:pic>
      <p:pic>
        <p:nvPicPr>
          <p:cNvPr id="111" name="図 110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ECE658E8-787D-BE8B-CCB7-9595CD81D76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8685" y="-89957"/>
            <a:ext cx="1341634" cy="1257782"/>
          </a:xfrm>
          <a:prstGeom prst="rect">
            <a:avLst/>
          </a:prstGeom>
        </p:spPr>
      </p:pic>
      <p:pic>
        <p:nvPicPr>
          <p:cNvPr id="113" name="図 112" descr="A cartoon child with a blue shirt is pointing towards an illustration of an open eye with a light bulb.&#10;&#10;AI 生成コンテンツは誤りを含む可能性があります。">
            <a:extLst>
              <a:ext uri="{FF2B5EF4-FFF2-40B4-BE49-F238E27FC236}">
                <a16:creationId xmlns:a16="http://schemas.microsoft.com/office/drawing/2014/main" id="{0F4795DE-C2CF-8C38-A661-22849A039D3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83520" y="1498044"/>
            <a:ext cx="1414993" cy="16745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8794</TotalTime>
  <Words>3088</Words>
  <Application>Microsoft Office PowerPoint</Application>
  <PresentationFormat>ワイド画面</PresentationFormat>
  <Paragraphs>845</Paragraphs>
  <Slides>21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8" baseType="lpstr">
      <vt:lpstr>Noto Sans JP</vt:lpstr>
      <vt:lpstr>ui-monospace</vt:lpstr>
      <vt:lpstr>Arial</vt:lpstr>
      <vt:lpstr>Consolas</vt:lpstr>
      <vt:lpstr>Courier New</vt:lpstr>
      <vt:lpstr>Roboto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35</cp:revision>
  <dcterms:created xsi:type="dcterms:W3CDTF">2026-03-02T05:14:23Z</dcterms:created>
  <dcterms:modified xsi:type="dcterms:W3CDTF">2026-03-25T06:59:04Z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0x01010057A7D803F65517489933A6A846FB2A57</vt:lpwstr>
  </property>
</Properties>
</file>