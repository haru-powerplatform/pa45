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8E3365D-426D-A0A5-E4C9-0C82A755E959}"/>
              </a:ext>
            </a:extLst>
          </p:cNvPr>
          <p:cNvSpPr txBox="1"/>
          <p:nvPr/>
        </p:nvSpPr>
        <p:spPr>
          <a:xfrm>
            <a:off x="265304" y="1881683"/>
            <a:ext cx="434190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ここ、毎回迷う</a:t>
            </a: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…</a:t>
            </a:r>
          </a:p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・左？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・右？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・何を書けばいい？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3" name="図 32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F5B75345-3E46-A6C1-605E-77A65FD80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053" y="1803574"/>
            <a:ext cx="4831909" cy="23613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D212469-C6F4-9D3B-6E22-DD159DBF2F91}"/>
              </a:ext>
            </a:extLst>
          </p:cNvPr>
          <p:cNvSpPr txBox="1"/>
          <p:nvPr/>
        </p:nvSpPr>
        <p:spPr>
          <a:xfrm>
            <a:off x="155877" y="171911"/>
            <a:ext cx="11077892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✅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Copilot Studio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　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×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　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Powe Automate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側　連携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Tips</a:t>
            </a:r>
          </a:p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　このトリガー入力欄、</a:t>
            </a:r>
            <a:r>
              <a:rPr lang="ja-JP" altLang="en-US" sz="4400" b="1" u="sng">
                <a:solidFill>
                  <a:srgbClr val="C00000"/>
                </a:solidFill>
              </a:rPr>
              <a:t>どっち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に</a:t>
            </a:r>
            <a:r>
              <a:rPr lang="ja-JP" altLang="en-US" sz="4400" b="1" u="sng">
                <a:solidFill>
                  <a:srgbClr val="C00000"/>
                </a:solidFill>
              </a:rPr>
              <a:t>何を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書く？</a:t>
            </a:r>
            <a:endParaRPr lang="en-US" altLang="ja-JP" sz="32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1978C15E-3DCE-2B3F-2FB6-0905E9218CF5}"/>
              </a:ext>
            </a:extLst>
          </p:cNvPr>
          <p:cNvSpPr/>
          <p:nvPr/>
        </p:nvSpPr>
        <p:spPr>
          <a:xfrm>
            <a:off x="72315" y="65312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2" name="図 51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C9321B11-A971-3898-C14A-AFFB7B3D23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8" b="95370" l="7588" r="95331">
                        <a14:foregroundMark x1="29377" y1="38148" x2="29377" y2="38148"/>
                        <a14:foregroundMark x1="17315" y1="33519" x2="21012" y2="68704"/>
                        <a14:foregroundMark x1="13619" y1="37593" x2="14397" y2="59444"/>
                        <a14:foregroundMark x1="14397" y1="59444" x2="14786" y2="59444"/>
                        <a14:foregroundMark x1="11673" y1="44074" x2="11284" y2="62407"/>
                        <a14:foregroundMark x1="9144" y1="43333" x2="9144" y2="43333"/>
                        <a14:foregroundMark x1="9339" y1="49259" x2="7782" y2="41667"/>
                        <a14:foregroundMark x1="90467" y1="31481" x2="81907" y2="67037"/>
                        <a14:foregroundMark x1="81907" y1="67037" x2="53307" y2="91667"/>
                        <a14:foregroundMark x1="52529" y1="7407" x2="52529" y2="7407"/>
                        <a14:foregroundMark x1="95525" y1="23148" x2="95525" y2="23148"/>
                        <a14:foregroundMark x1="51556" y1="3333" x2="51556" y2="3333"/>
                        <a14:foregroundMark x1="50778" y1="95370" x2="50778" y2="953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7458" y="4344449"/>
            <a:ext cx="1011194" cy="1062345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97A61C72-DF7E-C017-9759-4B7969FB8D69}"/>
              </a:ext>
            </a:extLst>
          </p:cNvPr>
          <p:cNvSpPr/>
          <p:nvPr/>
        </p:nvSpPr>
        <p:spPr>
          <a:xfrm>
            <a:off x="5879347" y="3606558"/>
            <a:ext cx="1420595" cy="404191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14B78A32-32BC-4512-8E34-831551E1DEE5}"/>
              </a:ext>
            </a:extLst>
          </p:cNvPr>
          <p:cNvSpPr/>
          <p:nvPr/>
        </p:nvSpPr>
        <p:spPr>
          <a:xfrm>
            <a:off x="4632126" y="4627650"/>
            <a:ext cx="2583682" cy="849795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51E3100-EA98-C4B6-4020-1DF34BAFD420}"/>
              </a:ext>
            </a:extLst>
          </p:cNvPr>
          <p:cNvSpPr txBox="1"/>
          <p:nvPr/>
        </p:nvSpPr>
        <p:spPr>
          <a:xfrm>
            <a:off x="4720035" y="4794280"/>
            <a:ext cx="27519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変数の</a:t>
            </a: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『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型</a:t>
            </a: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』</a:t>
            </a:r>
          </a:p>
        </p:txBody>
      </p:sp>
      <p:pic>
        <p:nvPicPr>
          <p:cNvPr id="20" name="図 19" descr="おもちゃ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791169B-B2EC-394A-B1A4-DA6F3195F4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249" y="2084415"/>
            <a:ext cx="1497196" cy="1668185"/>
          </a:xfrm>
          <a:prstGeom prst="rect">
            <a:avLst/>
          </a:prstGeom>
        </p:spPr>
      </p:pic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660906CB-8714-0AB8-E6BB-328834C8AEB7}"/>
              </a:ext>
            </a:extLst>
          </p:cNvPr>
          <p:cNvSpPr/>
          <p:nvPr/>
        </p:nvSpPr>
        <p:spPr>
          <a:xfrm>
            <a:off x="7854233" y="4618982"/>
            <a:ext cx="3009272" cy="849795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3" name="図 22" descr="部屋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7272DE6E-0A62-3D29-B918-23564F5481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06" y="3984958"/>
            <a:ext cx="1289983" cy="1526608"/>
          </a:xfrm>
          <a:prstGeom prst="rect">
            <a:avLst/>
          </a:prstGeom>
        </p:spPr>
      </p:pic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92A9724C-E182-21BD-DE97-12E8F3CA9A06}"/>
              </a:ext>
            </a:extLst>
          </p:cNvPr>
          <p:cNvSpPr/>
          <p:nvPr/>
        </p:nvSpPr>
        <p:spPr>
          <a:xfrm>
            <a:off x="7414876" y="3640602"/>
            <a:ext cx="2624746" cy="404191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4A111401-366B-A6B1-2075-A55C3222E006}"/>
              </a:ext>
            </a:extLst>
          </p:cNvPr>
          <p:cNvSpPr txBox="1"/>
          <p:nvPr/>
        </p:nvSpPr>
        <p:spPr>
          <a:xfrm>
            <a:off x="7944368" y="4794281"/>
            <a:ext cx="32894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変数の</a:t>
            </a: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『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名前</a:t>
            </a: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』</a:t>
            </a:r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2224A7C8-C874-3BB8-51F1-43563128C0FC}"/>
              </a:ext>
            </a:extLst>
          </p:cNvPr>
          <p:cNvSpPr/>
          <p:nvPr/>
        </p:nvSpPr>
        <p:spPr>
          <a:xfrm>
            <a:off x="5132147" y="1727067"/>
            <a:ext cx="5103567" cy="849795"/>
          </a:xfrm>
          <a:prstGeom prst="roundRect">
            <a:avLst>
              <a:gd name="adj" fmla="val 6918"/>
            </a:avLst>
          </a:prstGeom>
          <a:noFill/>
          <a:ln w="47625">
            <a:solidFill>
              <a:schemeClr val="bg1"/>
            </a:solidFill>
          </a:ln>
          <a:effectLst>
            <a:glow rad="88900">
              <a:schemeClr val="tx2">
                <a:lumMod val="75000"/>
                <a:lumOff val="25000"/>
                <a:alpha val="64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3EBB5E98-87CA-6525-0262-F4E68FFA80A4}"/>
              </a:ext>
            </a:extLst>
          </p:cNvPr>
          <p:cNvSpPr txBox="1"/>
          <p:nvPr/>
        </p:nvSpPr>
        <p:spPr>
          <a:xfrm>
            <a:off x="3399099" y="5869514"/>
            <a:ext cx="43419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そのまま</a:t>
            </a:r>
            <a:r>
              <a:rPr lang="ja-JP" altLang="en-US" sz="2800" b="1">
                <a:solidFill>
                  <a:srgbClr val="C00000"/>
                </a:solidFill>
              </a:rPr>
              <a:t>テキスト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で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OK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06046475-BB8D-80AE-2BFB-10246DBACB46}"/>
              </a:ext>
            </a:extLst>
          </p:cNvPr>
          <p:cNvSpPr txBox="1"/>
          <p:nvPr/>
        </p:nvSpPr>
        <p:spPr>
          <a:xfrm>
            <a:off x="7944368" y="5830473"/>
            <a:ext cx="42476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</a:t>
            </a:r>
            <a:r>
              <a:rPr lang="ja-JP" altLang="en-US" sz="2800" b="1">
                <a:solidFill>
                  <a:srgbClr val="C00000"/>
                </a:solidFill>
              </a:rPr>
              <a:t>パラメータ名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を書く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例）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Inquiry</a:t>
            </a:r>
          </a:p>
        </p:txBody>
      </p:sp>
      <p:sp>
        <p:nvSpPr>
          <p:cNvPr id="47" name="右中かっこ 46">
            <a:extLst>
              <a:ext uri="{FF2B5EF4-FFF2-40B4-BE49-F238E27FC236}">
                <a16:creationId xmlns:a16="http://schemas.microsoft.com/office/drawing/2014/main" id="{1EB02E42-67DF-31F2-D973-538946143611}"/>
              </a:ext>
            </a:extLst>
          </p:cNvPr>
          <p:cNvSpPr/>
          <p:nvPr/>
        </p:nvSpPr>
        <p:spPr>
          <a:xfrm>
            <a:off x="4036423" y="1620706"/>
            <a:ext cx="683612" cy="2043425"/>
          </a:xfrm>
          <a:prstGeom prst="rightBrace">
            <a:avLst>
              <a:gd name="adj1" fmla="val 17737"/>
              <a:gd name="adj2" fmla="val 12594"/>
            </a:avLst>
          </a:prstGeom>
          <a:ln w="412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矢印: 右 47">
            <a:extLst>
              <a:ext uri="{FF2B5EF4-FFF2-40B4-BE49-F238E27FC236}">
                <a16:creationId xmlns:a16="http://schemas.microsoft.com/office/drawing/2014/main" id="{3A391F03-1383-CEEB-D976-EA58A5EDB349}"/>
              </a:ext>
            </a:extLst>
          </p:cNvPr>
          <p:cNvSpPr/>
          <p:nvPr/>
        </p:nvSpPr>
        <p:spPr>
          <a:xfrm rot="5400000">
            <a:off x="6269920" y="4095542"/>
            <a:ext cx="551888" cy="537226"/>
          </a:xfrm>
          <a:prstGeom prst="rightArrow">
            <a:avLst/>
          </a:prstGeom>
          <a:solidFill>
            <a:schemeClr val="bg1"/>
          </a:solidFill>
          <a:ln w="28575"/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9" name="図 48">
            <a:extLst>
              <a:ext uri="{FF2B5EF4-FFF2-40B4-BE49-F238E27FC236}">
                <a16:creationId xmlns:a16="http://schemas.microsoft.com/office/drawing/2014/main" id="{6CE50A6A-0953-886C-604B-09EFB8FB69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6500" y="4344449"/>
            <a:ext cx="1285997" cy="1062345"/>
          </a:xfrm>
          <a:prstGeom prst="rect">
            <a:avLst/>
          </a:prstGeom>
        </p:spPr>
      </p:pic>
      <p:pic>
        <p:nvPicPr>
          <p:cNvPr id="51" name="図 50">
            <a:extLst>
              <a:ext uri="{FF2B5EF4-FFF2-40B4-BE49-F238E27FC236}">
                <a16:creationId xmlns:a16="http://schemas.microsoft.com/office/drawing/2014/main" id="{1D122541-4238-76B0-0C20-748C499599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51922" y="4598229"/>
            <a:ext cx="1090731" cy="554784"/>
          </a:xfrm>
          <a:prstGeom prst="rect">
            <a:avLst/>
          </a:prstGeom>
        </p:spPr>
      </p:pic>
      <p:sp>
        <p:nvSpPr>
          <p:cNvPr id="55" name="矢印: 右 54">
            <a:extLst>
              <a:ext uri="{FF2B5EF4-FFF2-40B4-BE49-F238E27FC236}">
                <a16:creationId xmlns:a16="http://schemas.microsoft.com/office/drawing/2014/main" id="{47F2D562-6A9B-4CC5-472E-629BDB96A4AB}"/>
              </a:ext>
            </a:extLst>
          </p:cNvPr>
          <p:cNvSpPr/>
          <p:nvPr/>
        </p:nvSpPr>
        <p:spPr>
          <a:xfrm rot="5400000">
            <a:off x="6331218" y="5329795"/>
            <a:ext cx="420261" cy="537226"/>
          </a:xfrm>
          <a:prstGeom prst="rightArrow">
            <a:avLst/>
          </a:prstGeom>
          <a:solidFill>
            <a:schemeClr val="bg1"/>
          </a:solidFill>
          <a:ln w="28575"/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矢印: 右 56">
            <a:extLst>
              <a:ext uri="{FF2B5EF4-FFF2-40B4-BE49-F238E27FC236}">
                <a16:creationId xmlns:a16="http://schemas.microsoft.com/office/drawing/2014/main" id="{D1E5F2B5-32DD-E4E5-8534-ED53BB96E764}"/>
              </a:ext>
            </a:extLst>
          </p:cNvPr>
          <p:cNvSpPr/>
          <p:nvPr/>
        </p:nvSpPr>
        <p:spPr>
          <a:xfrm rot="5400000">
            <a:off x="8452271" y="4095542"/>
            <a:ext cx="551888" cy="537226"/>
          </a:xfrm>
          <a:prstGeom prst="rightArrow">
            <a:avLst/>
          </a:prstGeom>
          <a:solidFill>
            <a:schemeClr val="bg1"/>
          </a:solidFill>
          <a:ln w="28575"/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矢印: 右 57">
            <a:extLst>
              <a:ext uri="{FF2B5EF4-FFF2-40B4-BE49-F238E27FC236}">
                <a16:creationId xmlns:a16="http://schemas.microsoft.com/office/drawing/2014/main" id="{3DADC1B4-65E2-27EB-32C9-3070EB69D0E9}"/>
              </a:ext>
            </a:extLst>
          </p:cNvPr>
          <p:cNvSpPr/>
          <p:nvPr/>
        </p:nvSpPr>
        <p:spPr>
          <a:xfrm rot="5400000">
            <a:off x="8570054" y="5375463"/>
            <a:ext cx="420260" cy="537226"/>
          </a:xfrm>
          <a:prstGeom prst="rightArrow">
            <a:avLst/>
          </a:prstGeom>
          <a:solidFill>
            <a:schemeClr val="bg1"/>
          </a:solidFill>
          <a:ln w="28575"/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