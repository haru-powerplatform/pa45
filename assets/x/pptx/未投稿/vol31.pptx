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5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" y="164592"/>
            <a:ext cx="132588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182880"/>
            <a:ext cx="1325880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F5BB5"/>
                </a:solidFill>
                <a:latin typeface="Meiryo UI"/>
              </a:rPr>
              <a:t>Vol.31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91440"/>
            <a:ext cx="969264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eiryo UI"/>
              </a:rPr>
              <a:t>Power Automate：議事メモを自動で配る方法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91440"/>
            <a:ext cx="73152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0">
                <a:solidFill>
                  <a:srgbClr val="FFFFFF"/>
                </a:solidFill>
                <a:latin typeface="Meiryo UI"/>
              </a:rPr>
              <a:t>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68680"/>
            <a:ext cx="12191695" cy="658368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" y="987552"/>
            <a:ext cx="420624" cy="420624"/>
          </a:xfrm>
          <a:prstGeom prst="roundRect">
            <a:avLst>
              <a:gd name="adj" fmla="val 18000"/>
            </a:avLst>
          </a:prstGeom>
          <a:solidFill>
            <a:srgbClr val="1F5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987552"/>
            <a:ext cx="420624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Meiryo UI"/>
              </a:rP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896112"/>
            <a:ext cx="1133856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F5BB5"/>
                </a:solidFill>
                <a:latin typeface="Meiryo UI"/>
              </a:rPr>
              <a:t>結論　</a:t>
            </a:r>
            <a:r>
              <a:rPr sz="1600" b="1">
                <a:solidFill>
                  <a:srgbClr val="3A3A3A"/>
                </a:solidFill>
                <a:latin typeface="Meiryo UI"/>
              </a:rPr>
              <a:t>会議が終わったら「文字起こし → 要点整理 → 配信」まで自動。自分の手はもう動かさない。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" y="1664208"/>
            <a:ext cx="3383280" cy="3675887"/>
          </a:xfrm>
          <a:prstGeom prst="roundRect">
            <a:avLst>
              <a:gd name="adj" fmla="val 5000"/>
            </a:avLst>
          </a:prstGeom>
          <a:solidFill>
            <a:srgbClr val="EAF1FB"/>
          </a:solidFill>
          <a:ln w="25400">
            <a:solidFill>
              <a:srgbClr val="1F5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1755648"/>
            <a:ext cx="338328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F5BB5"/>
                </a:solidFill>
                <a:latin typeface="Meiryo UI"/>
              </a:rPr>
              <a:t>こんな時に効く？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" y="2304288"/>
            <a:ext cx="310896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B8F5A"/>
                </a:solidFill>
                <a:latin typeface="Meiryo UI"/>
              </a:rPr>
              <a:t>✓ </a:t>
            </a:r>
            <a:r>
              <a:rPr sz="1450" b="0">
                <a:solidFill>
                  <a:srgbClr val="3A3A3A"/>
                </a:solidFill>
                <a:latin typeface="Meiryo UI"/>
              </a:rPr>
              <a:t>会議のたびに議事メモを清書している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" y="3054096"/>
            <a:ext cx="310896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B8F5A"/>
                </a:solidFill>
                <a:latin typeface="Meiryo UI"/>
              </a:rPr>
              <a:t>✓ </a:t>
            </a:r>
            <a:r>
              <a:rPr sz="1450" b="0">
                <a:solidFill>
                  <a:srgbClr val="3A3A3A"/>
                </a:solidFill>
                <a:latin typeface="Meiryo UI"/>
              </a:rPr>
              <a:t>関係者へ毎回コピペで共有している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" y="3803904"/>
            <a:ext cx="310896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B8F5A"/>
                </a:solidFill>
                <a:latin typeface="Meiryo UI"/>
              </a:rPr>
              <a:t>✓ </a:t>
            </a:r>
            <a:r>
              <a:rPr sz="1450" b="0">
                <a:solidFill>
                  <a:srgbClr val="3A3A3A"/>
                </a:solidFill>
                <a:latin typeface="Meiryo UI"/>
              </a:rPr>
              <a:t>共有もれ・送り忘れをなくしたい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553712"/>
            <a:ext cx="30175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5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4590288"/>
            <a:ext cx="2926080" cy="58521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1F5BB5"/>
                </a:solidFill>
                <a:latin typeface="Meiryo UI"/>
              </a:rPr>
              <a:t>Point　</a:t>
            </a:r>
            <a:r>
              <a:rPr sz="1350" b="1">
                <a:solidFill>
                  <a:srgbClr val="3A3A3A"/>
                </a:solidFill>
                <a:latin typeface="Meiryo UI"/>
              </a:rPr>
              <a:t>狙いは“手作業ゼロ”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3A3A3A"/>
                </a:solidFill>
                <a:latin typeface="Meiryo UI"/>
              </a:rPr>
              <a:t>―共有を仕組みに任せる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1664208"/>
            <a:ext cx="4645152" cy="457200"/>
          </a:xfrm>
          <a:prstGeom prst="roundRect">
            <a:avLst>
              <a:gd name="adj" fmla="val 12000"/>
            </a:avLst>
          </a:prstGeom>
          <a:solidFill>
            <a:srgbClr val="1F5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1682496"/>
            <a:ext cx="4645152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Meiryo UI"/>
              </a:rPr>
              <a:t>図解：3ステップで自動化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2231136"/>
            <a:ext cx="4370832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F5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39" y="2286000"/>
            <a:ext cx="3639312" cy="5852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F5BB5"/>
                </a:solidFill>
                <a:latin typeface="Meiryo UI"/>
              </a:rPr>
              <a:t>①  </a:t>
            </a:r>
            <a:r>
              <a:rPr sz="1450" b="1">
                <a:solidFill>
                  <a:srgbClr val="1F5BB5"/>
                </a:solidFill>
                <a:latin typeface="Meiryo UI"/>
              </a:rPr>
              <a:t>トリガー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3A3A3A"/>
                </a:solidFill>
                <a:latin typeface="Meiryo UI"/>
              </a:rPr>
              <a:t>Teams会議が終了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792" y="2231136"/>
            <a:ext cx="73152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3A3A3A"/>
                </a:solidFill>
                <a:latin typeface="Meiryo UI"/>
              </a:rPr>
              <a:t>🎙️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2907791"/>
            <a:ext cx="4645152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5BB5"/>
                </a:solidFill>
                <a:latin typeface="Meiryo UI"/>
              </a:rPr>
              <a:t>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3145536"/>
            <a:ext cx="4370832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F5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77639" y="3200400"/>
            <a:ext cx="3639312" cy="5852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F5BB5"/>
                </a:solidFill>
                <a:latin typeface="Meiryo UI"/>
              </a:rPr>
              <a:t>②  </a:t>
            </a:r>
            <a:r>
              <a:rPr sz="1450" b="1">
                <a:solidFill>
                  <a:srgbClr val="1F5BB5"/>
                </a:solidFill>
                <a:latin typeface="Meiryo UI"/>
              </a:rPr>
              <a:t>整理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3A3A3A"/>
                </a:solidFill>
                <a:latin typeface="Meiryo UI"/>
              </a:rPr>
              <a:t>文字起こし → AIで要点抽出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3145536"/>
            <a:ext cx="73152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3A3A3A"/>
                </a:solidFill>
                <a:latin typeface="Meiryo UI"/>
              </a:rPr>
              <a:t>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3822191"/>
            <a:ext cx="4645152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5BB5"/>
                </a:solidFill>
                <a:latin typeface="Meiryo UI"/>
              </a:rPr>
              <a:t>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0" y="4059935"/>
            <a:ext cx="4370832" cy="731520"/>
          </a:xfrm>
          <a:prstGeom prst="roundRect">
            <a:avLst>
              <a:gd name="adj" fmla="val 10000"/>
            </a:avLst>
          </a:prstGeom>
          <a:solidFill>
            <a:srgbClr val="E6F6EC"/>
          </a:solidFill>
          <a:ln w="25400">
            <a:solidFill>
              <a:srgbClr val="1B8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77639" y="4114799"/>
            <a:ext cx="3639312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B8F5A"/>
                </a:solidFill>
                <a:latin typeface="Meiryo UI"/>
              </a:rPr>
              <a:t>GOAL  </a:t>
            </a:r>
            <a:r>
              <a:rPr sz="1450" b="1">
                <a:solidFill>
                  <a:srgbClr val="1B8F5A"/>
                </a:solidFill>
                <a:latin typeface="Meiryo UI"/>
              </a:rPr>
              <a:t>配信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3A3A3A"/>
                </a:solidFill>
                <a:latin typeface="Meiryo UI"/>
              </a:rPr>
              <a:t>関係者へ Teams / メール送信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9792" y="4059935"/>
            <a:ext cx="73152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3A3A3A"/>
                </a:solidFill>
                <a:latin typeface="Meiryo UI"/>
              </a:rPr>
              <a:t>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4828031"/>
            <a:ext cx="4645152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8F5A"/>
                </a:solidFill>
                <a:latin typeface="Meiryo UI"/>
              </a:rPr>
              <a:t>会議終了から数分で、全員に議事メモが届く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58200" y="1664208"/>
            <a:ext cx="3566160" cy="3675887"/>
          </a:xfrm>
          <a:prstGeom prst="roundRect">
            <a:avLst>
              <a:gd name="adj" fmla="val 5000"/>
            </a:avLst>
          </a:prstGeom>
          <a:solidFill>
            <a:srgbClr val="FDF3E8"/>
          </a:solidFill>
          <a:ln w="25400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1755648"/>
            <a:ext cx="356616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D9822B"/>
                </a:solidFill>
                <a:latin typeface="Meiryo UI"/>
              </a:rPr>
              <a:t>実務でこう使う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22792" y="2267712"/>
            <a:ext cx="3255264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D9822B"/>
                </a:solidFill>
                <a:latin typeface="Meiryo UI"/>
              </a:rPr>
              <a:t>📌 </a:t>
            </a:r>
            <a:r>
              <a:rPr sz="1400" b="0">
                <a:solidFill>
                  <a:srgbClr val="3A3A3A"/>
                </a:solidFill>
                <a:latin typeface="Meiryo UI"/>
              </a:rPr>
              <a:t>定例会議の議事メモを自動共有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22792" y="2944368"/>
            <a:ext cx="3255264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D9822B"/>
                </a:solidFill>
                <a:latin typeface="Meiryo UI"/>
              </a:rPr>
              <a:t>📌 </a:t>
            </a:r>
            <a:r>
              <a:rPr sz="1400" b="0">
                <a:solidFill>
                  <a:srgbClr val="3A3A3A"/>
                </a:solidFill>
                <a:latin typeface="Meiryo UI"/>
              </a:rPr>
              <a:t>議事メモを SharePoint に自動保存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22792" y="3621024"/>
            <a:ext cx="3255264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D9822B"/>
                </a:solidFill>
                <a:latin typeface="Meiryo UI"/>
              </a:rPr>
              <a:t>📌 </a:t>
            </a:r>
            <a:r>
              <a:rPr sz="1400" b="0">
                <a:solidFill>
                  <a:srgbClr val="3A3A3A"/>
                </a:solidFill>
                <a:latin typeface="Meiryo UI"/>
              </a:rPr>
              <a:t>ToDo だけ抜き出して Teams 通知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22792" y="4443983"/>
            <a:ext cx="3236976" cy="768096"/>
          </a:xfrm>
          <a:prstGeom prst="roundRect">
            <a:avLst>
              <a:gd name="adj" fmla="val 10000"/>
            </a:avLst>
          </a:prstGeom>
          <a:solidFill>
            <a:srgbClr val="E6F6EC"/>
          </a:solidFill>
          <a:ln w="19050">
            <a:solidFill>
              <a:srgbClr val="1B8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22792" y="4480560"/>
            <a:ext cx="3236976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B8F5A"/>
                </a:solidFill>
                <a:latin typeface="Meiryo UI"/>
              </a:rPr>
              <a:t>👍 メリット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B8F5A"/>
                </a:solidFill>
                <a:latin typeface="Meiryo UI"/>
              </a:rPr>
              <a:t>共有の手間ゼロ＋抜け漏れ防止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213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486400"/>
            <a:ext cx="146304" cy="1371600"/>
          </a:xfrm>
          <a:prstGeom prst="rect">
            <a:avLst/>
          </a:prstGeom>
          <a:solidFill>
            <a:srgbClr val="1F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577840"/>
            <a:ext cx="493776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eiryo UI"/>
              </a:rPr>
              <a:t>フロー構成（組む順番）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016752"/>
            <a:ext cx="786384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CFD8E3"/>
                </a:solidFill>
                <a:latin typeface="Meiryo UI"/>
              </a:rPr>
              <a:t>① Teams：会議終了（トランスクリプト取得）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CFD8E3"/>
                </a:solidFill>
                <a:latin typeface="Meiryo UI"/>
              </a:rPr>
              <a:t>② AI：決定事項・ToDo・要点を抽出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CFD8E3"/>
                </a:solidFill>
                <a:latin typeface="Meiryo UI"/>
              </a:rPr>
              <a:t>③ 配信：Teams 投稿 / Outlook メール送信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75320" y="5760720"/>
            <a:ext cx="3703320" cy="822960"/>
          </a:xfrm>
          <a:prstGeom prst="roundRect">
            <a:avLst>
              <a:gd name="adj" fmla="val 12000"/>
            </a:avLst>
          </a:prstGeom>
          <a:solidFill>
            <a:srgbClr val="2C4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66760" y="5797296"/>
            <a:ext cx="352044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1FB6A6"/>
                </a:solidFill>
                <a:latin typeface="Meiryo UI"/>
              </a:rPr>
              <a:t>覚え方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FFFFFF"/>
                </a:solidFill>
                <a:latin typeface="Meiryo UI"/>
              </a:rPr>
              <a:t>終わったら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FFFFFF"/>
                </a:solidFill>
                <a:latin typeface="Meiryo UI"/>
              </a:rPr>
              <a:t>「拾って・まとめて・配る」だけ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