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72" r:id="rId2"/>
    <p:sldId id="271" r:id="rId3"/>
    <p:sldId id="273" r:id="rId4"/>
    <p:sldId id="274" r:id="rId5"/>
    <p:sldId id="275" r:id="rId6"/>
    <p:sldId id="276" r:id="rId7"/>
    <p:sldId id="277" r:id="rId8"/>
    <p:sldId id="279" r:id="rId9"/>
    <p:sldId id="280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72" autoAdjust="0"/>
    <p:restoredTop sz="93909" autoAdjust="0"/>
  </p:normalViewPr>
  <p:slideViewPr>
    <p:cSldViewPr snapToGrid="0" snapToObjects="1">
      <p:cViewPr varScale="1">
        <p:scale>
          <a:sx n="110" d="100"/>
          <a:sy n="110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eda Isamu" userId="35289799e0376f2e" providerId="LiveId" clId="{DD31E282-B62B-4911-91B6-43B1B98908F9}"/>
    <pc:docChg chg="undo custSel addSld delSld modSld sldOrd">
      <pc:chgData name="Ueda Isamu" userId="35289799e0376f2e" providerId="LiveId" clId="{DD31E282-B62B-4911-91B6-43B1B98908F9}" dt="2026-04-28T05:35:34.948" v="647" actId="20577"/>
      <pc:docMkLst>
        <pc:docMk/>
      </pc:docMkLst>
      <pc:sldChg chg="modSp mod">
        <pc:chgData name="Ueda Isamu" userId="35289799e0376f2e" providerId="LiveId" clId="{DD31E282-B62B-4911-91B6-43B1B98908F9}" dt="2026-04-28T05:35:34.948" v="647" actId="20577"/>
        <pc:sldMkLst>
          <pc:docMk/>
          <pc:sldMk cId="0" sldId="280"/>
        </pc:sldMkLst>
        <pc:spChg chg="mod">
          <ac:chgData name="Ueda Isamu" userId="35289799e0376f2e" providerId="LiveId" clId="{DD31E282-B62B-4911-91B6-43B1B98908F9}" dt="2026-04-28T05:35:34.948" v="647" actId="20577"/>
          <ac:spMkLst>
            <pc:docMk/>
            <pc:sldMk cId="0" sldId="280"/>
            <ac:spMk id="3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24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【自己紹介】</a:t>
            </a:r>
          </a:p>
          <a:p>
            <a:r>
              <a:rPr sz="1300"/>
              <a:t>改めまして、Haruといいます。</a:t>
            </a:r>
          </a:p>
          <a:p>
            <a:endParaRPr sz="1300"/>
          </a:p>
          <a:p>
            <a:r>
              <a:rPr sz="1300"/>
              <a:t>普段は社内でPower Automateを使ったDX推進・研修を担当しています。</a:t>
            </a:r>
          </a:p>
          <a:p>
            <a:r>
              <a:rPr sz="1300"/>
              <a:t>地域のPower Platformコミュニティ（PLUG）にも参加しており、</a:t>
            </a:r>
          </a:p>
          <a:p>
            <a:r>
              <a:rPr sz="1300"/>
              <a:t>Power AutomateとCopilotを中心に情報発信をしています。</a:t>
            </a:r>
          </a:p>
          <a:p>
            <a:endParaRPr sz="1300"/>
          </a:p>
          <a:p>
            <a:r>
              <a:rPr sz="1300"/>
              <a:t>XではPower Automate初心者向けのTipsを毎日発信中です。</a:t>
            </a:r>
          </a:p>
          <a:p>
            <a:r>
              <a:rPr sz="1300"/>
              <a:t>フォローしてもらえると嬉しいです（@isamu_Automate）。</a:t>
            </a:r>
          </a:p>
          <a:p>
            <a:endParaRPr sz="1300"/>
          </a:p>
          <a:p>
            <a:r>
              <a:rPr sz="1300"/>
              <a:t>今日も一粒だけ深掘りして、一緒に作っていきましょう！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microsoft.com/office/2007/relationships/hdphoto" Target="../media/hdphoto1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320040" cy="685800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1643360" y="0"/>
            <a:ext cx="548640" cy="1828800"/>
          </a:xfrm>
          <a:prstGeom prst="roundRect">
            <a:avLst>
              <a:gd name="adj" fmla="val 1000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3657600" cy="411480"/>
          </a:xfrm>
          <a:prstGeom prst="roundRect">
            <a:avLst>
              <a:gd name="adj" fmla="val 10000"/>
            </a:avLst>
          </a:prstGeom>
          <a:solidFill>
            <a:srgbClr val="E8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373E99"/>
                </a:solidFill>
                <a:latin typeface="Yu Gothic"/>
              </a:rPr>
              <a:t>⚡ LIGHTNING TALK  ×  COPILOT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3200" b="1">
                <a:solidFill>
                  <a:srgbClr val="323130"/>
                </a:solidFill>
                <a:latin typeface="Yu Gothic"/>
              </a:rPr>
              <a:t>Copilotに「会議減らしたい」と</a:t>
            </a:r>
          </a:p>
          <a:p>
            <a:pPr algn="l"/>
            <a:r>
              <a:rPr sz="3200" b="1">
                <a:solidFill>
                  <a:srgbClr val="323130"/>
                </a:solidFill>
                <a:latin typeface="Yu Gothic"/>
              </a:rPr>
              <a:t>泣きついたら、Power Automateで</a:t>
            </a:r>
          </a:p>
          <a:p>
            <a:pPr algn="l"/>
            <a:r>
              <a:rPr sz="3200" b="1">
                <a:solidFill>
                  <a:srgbClr val="323130"/>
                </a:solidFill>
                <a:latin typeface="Yu Gothic"/>
              </a:rPr>
              <a:t>会議コストBotを生み出す羽目</a:t>
            </a:r>
          </a:p>
          <a:p>
            <a:pPr algn="l"/>
            <a:r>
              <a:rPr sz="3200" b="1">
                <a:solidFill>
                  <a:srgbClr val="323130"/>
                </a:solidFill>
                <a:latin typeface="Yu Gothic"/>
              </a:rPr>
              <a:t>になった話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029200"/>
            <a:ext cx="54864" cy="50292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02920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605E5C"/>
                </a:solidFill>
                <a:latin typeface="Yu Gothic"/>
              </a:rPr>
              <a:t>Copilot × Power Automate で7アクションのBotを作った話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852160"/>
            <a:ext cx="54864" cy="502920"/>
          </a:xfrm>
          <a:prstGeom prst="roundRect">
            <a:avLst>
              <a:gd name="adj" fmla="val 1000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585216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373E99"/>
                </a:solidFill>
                <a:latin typeface="Yu Gothic"/>
              </a:rPr>
              <a:t>Haru (ism136)  /  Power Automate 45 主催</a:t>
            </a:r>
          </a:p>
        </p:txBody>
      </p:sp>
      <p:sp>
        <p:nvSpPr>
          <p:cNvPr id="12" name="Oval 11"/>
          <p:cNvSpPr/>
          <p:nvPr/>
        </p:nvSpPr>
        <p:spPr>
          <a:xfrm>
            <a:off x="11094720" y="5989320"/>
            <a:ext cx="146304" cy="14630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1277600" y="5989320"/>
            <a:ext cx="146304" cy="146304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1460481" y="5989320"/>
            <a:ext cx="146304" cy="146304"/>
          </a:xfrm>
          <a:prstGeom prst="ellipse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1643361" y="5989320"/>
            <a:ext cx="146304" cy="146304"/>
          </a:xfrm>
          <a:prstGeom prst="ellipse">
            <a:avLst/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10798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191195" y="-1143000"/>
            <a:ext cx="4762195" cy="4762195"/>
          </a:xfrm>
          <a:prstGeom prst="ellipse">
            <a:avLst/>
          </a:prstGeom>
          <a:solidFill>
            <a:srgbClr val="0078D4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-761695" y="2762402"/>
            <a:ext cx="3333902" cy="3333902"/>
          </a:xfrm>
          <a:prstGeom prst="ellipse">
            <a:avLst/>
          </a:prstGeom>
          <a:solidFill>
            <a:srgbClr val="0078D4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 rot="900000">
            <a:off x="10477195" y="1904695"/>
            <a:ext cx="1143000" cy="1143000"/>
          </a:xfrm>
          <a:prstGeom prst="roundRect">
            <a:avLst>
              <a:gd name="adj" fmla="val 32000"/>
            </a:avLst>
          </a:prstGeom>
          <a:solidFill>
            <a:srgbClr val="0078D4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18795"/>
            <a:ext cx="609905" cy="609905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4205" y="571500"/>
            <a:ext cx="304495" cy="304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2398" y="381305"/>
            <a:ext cx="50959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</a:t>
            </a:r>
            <a:r>
              <a:rPr lang="en-US" sz="2700" b="1" kern="0" spc="-67" dirty="0">
                <a:solidFill>
                  <a:srgbClr val="2563EB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(PA45)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353241" y="837923"/>
            <a:ext cx="477225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45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今日も一緒に “1粒だけ” 深掘りします！</a:t>
            </a:r>
            <a:endParaRPr lang="en-US" sz="1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01" b="-401"/>
          <a:stretch/>
        </p:blipFill>
        <p:spPr>
          <a:xfrm>
            <a:off x="571500" y="1295705"/>
            <a:ext cx="11048695" cy="57607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71500" y="1295705"/>
            <a:ext cx="1828800" cy="57607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612" y="1638605"/>
            <a:ext cx="1904695" cy="190469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/>
          <a:srcRect t="-187" b="-187"/>
          <a:stretch/>
        </p:blipFill>
        <p:spPr>
          <a:xfrm>
            <a:off x="571500" y="3737631"/>
            <a:ext cx="3705149" cy="74340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31266" y="3733495"/>
            <a:ext cx="378561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ja-JP" sz="3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Haru</a:t>
            </a:r>
            <a:r>
              <a:rPr lang="en-US" sz="1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914400" y="4663440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Platform / DX 推進</a:t>
            </a:r>
            <a:endParaRPr lang="en-US" sz="16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 l="-15989" r="-15989"/>
          <a:stretch/>
        </p:blipFill>
        <p:spPr>
          <a:xfrm>
            <a:off x="647395" y="4663440"/>
            <a:ext cx="267005" cy="161849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914400" y="4999025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914400" y="5333695"/>
            <a:ext cx="35533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社内外のコミュニティ運営</a:t>
            </a:r>
            <a:endParaRPr lang="en-US" sz="16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rcRect l="-15989" r="-15989"/>
          <a:stretch/>
        </p:blipFill>
        <p:spPr>
          <a:xfrm>
            <a:off x="647395" y="5333695"/>
            <a:ext cx="267005" cy="161849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1028700" y="5669280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・社内</a:t>
            </a:r>
            <a:r>
              <a:rPr lang="en-US" altLang="ja-JP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PowerPlatform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4" name="Text 12"/>
          <p:cNvSpPr txBox="1"/>
          <p:nvPr/>
        </p:nvSpPr>
        <p:spPr>
          <a:xfrm>
            <a:off x="1028700" y="6004865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・広島コミュニティ 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 </a:t>
            </a:r>
            <a:r>
              <a:rPr lang="ja-JP" alt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647395" y="6358738"/>
            <a:ext cx="3629254" cy="418795"/>
          </a:xfrm>
          <a:prstGeom prst="roundRect">
            <a:avLst>
              <a:gd name="adj" fmla="val 79397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4"/>
          <p:cNvSpPr txBox="1"/>
          <p:nvPr/>
        </p:nvSpPr>
        <p:spPr>
          <a:xfrm>
            <a:off x="999439" y="6358738"/>
            <a:ext cx="3354019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初心者支援が専門</a:t>
            </a:r>
            <a:endParaRPr lang="en-US" sz="160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11"/>
          <a:srcRect l="-32486" r="-32486"/>
          <a:stretch/>
        </p:blipFill>
        <p:spPr>
          <a:xfrm>
            <a:off x="733349" y="6444691"/>
            <a:ext cx="267005" cy="161849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5336438" y="1870862"/>
            <a:ext cx="6477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主な活動・実績 </a:t>
            </a:r>
            <a:endParaRPr lang="en-US" sz="1800" dirty="0"/>
          </a:p>
        </p:txBody>
      </p:sp>
      <p:sp>
        <p:nvSpPr>
          <p:cNvPr id="29" name="Shape 16"/>
          <p:cNvSpPr/>
          <p:nvPr/>
        </p:nvSpPr>
        <p:spPr>
          <a:xfrm>
            <a:off x="4898441" y="23664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17"/>
          <p:cNvSpPr/>
          <p:nvPr/>
        </p:nvSpPr>
        <p:spPr>
          <a:xfrm>
            <a:off x="4898441" y="23664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8"/>
          <p:cNvSpPr txBox="1"/>
          <p:nvPr/>
        </p:nvSpPr>
        <p:spPr>
          <a:xfrm>
            <a:off x="5450738" y="2509114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社内講座の実施</a:t>
            </a:r>
            <a:endParaRPr lang="en-US" sz="16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rcRect l="-38653" r="-38653"/>
          <a:stretch/>
        </p:blipFill>
        <p:spPr>
          <a:xfrm>
            <a:off x="4816719" y="2388501"/>
            <a:ext cx="558124" cy="419709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5146243" y="2813609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PA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／Copilot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　ハンズオン講座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などを開催し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、社内の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DXを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推進</a:t>
            </a:r>
            <a:endParaRPr lang="en-US" sz="1600" dirty="0"/>
          </a:p>
        </p:txBody>
      </p:sp>
      <p:sp>
        <p:nvSpPr>
          <p:cNvPr id="34" name="Shape 20"/>
          <p:cNvSpPr/>
          <p:nvPr/>
        </p:nvSpPr>
        <p:spPr>
          <a:xfrm>
            <a:off x="4898441" y="3375965"/>
            <a:ext cx="6724498" cy="819302"/>
          </a:xfrm>
          <a:prstGeom prst="roundRect">
            <a:avLst>
              <a:gd name="adj" fmla="val 31146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21"/>
          <p:cNvSpPr/>
          <p:nvPr/>
        </p:nvSpPr>
        <p:spPr>
          <a:xfrm>
            <a:off x="4898441" y="3375965"/>
            <a:ext cx="57607" cy="819302"/>
          </a:xfrm>
          <a:prstGeom prst="roundRect">
            <a:avLst>
              <a:gd name="adj" fmla="val 442969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22"/>
          <p:cNvSpPr txBox="1"/>
          <p:nvPr/>
        </p:nvSpPr>
        <p:spPr>
          <a:xfrm>
            <a:off x="5450738" y="3518611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外部コミュニティ登壇</a:t>
            </a:r>
            <a:endParaRPr lang="en-US" sz="160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3"/>
          <a:srcRect l="-38653" r="-38653"/>
          <a:stretch/>
        </p:blipFill>
        <p:spPr>
          <a:xfrm>
            <a:off x="4827643" y="3423078"/>
            <a:ext cx="558124" cy="419709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5152644" y="3880735"/>
            <a:ext cx="6467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広島コミュニティ「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PLUG」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運営。外部コミュニティ登壇</a:t>
            </a:r>
            <a:endParaRPr lang="en-US" sz="1600" dirty="0"/>
          </a:p>
        </p:txBody>
      </p:sp>
      <p:sp>
        <p:nvSpPr>
          <p:cNvPr id="39" name="Shape 24"/>
          <p:cNvSpPr/>
          <p:nvPr/>
        </p:nvSpPr>
        <p:spPr>
          <a:xfrm>
            <a:off x="4898441" y="4327855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5"/>
          <p:cNvSpPr/>
          <p:nvPr/>
        </p:nvSpPr>
        <p:spPr>
          <a:xfrm>
            <a:off x="4898441" y="4327855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6"/>
          <p:cNvSpPr txBox="1"/>
          <p:nvPr/>
        </p:nvSpPr>
        <p:spPr>
          <a:xfrm>
            <a:off x="5450738" y="4471416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X (Twitter) での情報発信</a:t>
            </a:r>
            <a:endParaRPr lang="en-US" sz="16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14"/>
          <a:srcRect l="-16489" r="-16489"/>
          <a:stretch/>
        </p:blipFill>
        <p:spPr>
          <a:xfrm>
            <a:off x="4848148" y="4405580"/>
            <a:ext cx="558124" cy="419709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5146243" y="4775911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初心者向けPAチップスを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2日に1回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継続発信中！</a:t>
            </a:r>
            <a:endParaRPr lang="en-US" sz="1600" dirty="0"/>
          </a:p>
        </p:txBody>
      </p:sp>
      <p:sp>
        <p:nvSpPr>
          <p:cNvPr id="44" name="Shape 28"/>
          <p:cNvSpPr/>
          <p:nvPr/>
        </p:nvSpPr>
        <p:spPr>
          <a:xfrm>
            <a:off x="4898441" y="53382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4898441" y="53382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F9900"/>
          </a:solidFill>
          <a:ln w="12700">
            <a:solidFill>
              <a:srgbClr val="FF9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0"/>
          <p:cNvSpPr txBox="1"/>
          <p:nvPr/>
        </p:nvSpPr>
        <p:spPr>
          <a:xfrm>
            <a:off x="5450738" y="5480914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(PA45)</a:t>
            </a:r>
            <a:endParaRPr lang="en-US" sz="1600" dirty="0"/>
          </a:p>
        </p:txBody>
      </p:sp>
      <p:pic>
        <p:nvPicPr>
          <p:cNvPr id="47" name="Image 14" descr="preencoded.png"/>
          <p:cNvPicPr>
            <a:picLocks noChangeAspect="1"/>
          </p:cNvPicPr>
          <p:nvPr/>
        </p:nvPicPr>
        <p:blipFill>
          <a:blip r:embed="rId15"/>
          <a:srcRect l="-16489" r="-16489"/>
          <a:stretch/>
        </p:blipFill>
        <p:spPr>
          <a:xfrm>
            <a:off x="5146243" y="5528462"/>
            <a:ext cx="228600" cy="171907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5146243" y="5785409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45分の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“1粒ハンズオン”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を毎週開催・運営</a:t>
            </a:r>
            <a:endParaRPr lang="en-US" sz="16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16"/>
          <a:srcRect l="-266" r="-266"/>
          <a:stretch/>
        </p:blipFill>
        <p:spPr>
          <a:xfrm>
            <a:off x="4898441" y="1880006"/>
            <a:ext cx="323698" cy="286207"/>
          </a:xfrm>
          <a:prstGeom prst="rect">
            <a:avLst/>
          </a:prstGeom>
        </p:spPr>
      </p:pic>
      <p:pic>
        <p:nvPicPr>
          <p:cNvPr id="51" name="Image 16" descr="preencoded.png"/>
          <p:cNvPicPr>
            <a:picLocks noChangeAspect="1"/>
          </p:cNvPicPr>
          <p:nvPr/>
        </p:nvPicPr>
        <p:blipFill>
          <a:blip r:embed="rId17"/>
          <a:srcRect l="-3" r="-3"/>
          <a:stretch/>
        </p:blipFill>
        <p:spPr>
          <a:xfrm>
            <a:off x="5222139" y="6318921"/>
            <a:ext cx="5617657" cy="386820"/>
          </a:xfrm>
          <a:prstGeom prst="rect">
            <a:avLst/>
          </a:prstGeom>
        </p:spPr>
      </p:pic>
      <p:sp>
        <p:nvSpPr>
          <p:cNvPr id="52" name="Text 33"/>
          <p:cNvSpPr txBox="1"/>
          <p:nvPr/>
        </p:nvSpPr>
        <p:spPr>
          <a:xfrm>
            <a:off x="5696197" y="6341920"/>
            <a:ext cx="8332013" cy="35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96" dirty="0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今日は「できた！」を一緒に作っていきましょう😊</a:t>
            </a:r>
            <a:endParaRPr lang="en-US" sz="1600" dirty="0"/>
          </a:p>
        </p:txBody>
      </p:sp>
      <p:pic>
        <p:nvPicPr>
          <p:cNvPr id="53" name="Image 17" descr="preencoded.png"/>
          <p:cNvPicPr>
            <a:picLocks noChangeAspect="1"/>
          </p:cNvPicPr>
          <p:nvPr/>
        </p:nvPicPr>
        <p:blipFill>
          <a:blip r:embed="rId18"/>
          <a:srcRect l="-1845" r="-1845"/>
          <a:stretch/>
        </p:blipFill>
        <p:spPr>
          <a:xfrm>
            <a:off x="5260028" y="6393142"/>
            <a:ext cx="256946" cy="233291"/>
          </a:xfrm>
          <a:prstGeom prst="rect">
            <a:avLst/>
          </a:prstGeom>
        </p:spPr>
      </p:pic>
      <p:pic>
        <p:nvPicPr>
          <p:cNvPr id="55" name="図 54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47F0CBEE-0475-F1DC-9373-7429D3A7B53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86" b="98438" l="4590" r="98438">
                        <a14:foregroundMark x1="63379" y1="18848" x2="53516" y2="16699"/>
                        <a14:foregroundMark x1="53516" y1="16699" x2="37793" y2="18262"/>
                        <a14:foregroundMark x1="37793" y1="18262" x2="29590" y2="31348"/>
                        <a14:foregroundMark x1="29590" y1="31348" x2="26563" y2="66797"/>
                        <a14:foregroundMark x1="26563" y1="66797" x2="29004" y2="75684"/>
                        <a14:foregroundMark x1="21387" y1="77246" x2="16895" y2="64160"/>
                        <a14:foregroundMark x1="16895" y1="64160" x2="19434" y2="36621"/>
                        <a14:foregroundMark x1="19434" y1="36621" x2="30957" y2="15234"/>
                        <a14:foregroundMark x1="30957" y1="15234" x2="44434" y2="6055"/>
                        <a14:foregroundMark x1="44434" y1="6055" x2="60449" y2="5566"/>
                        <a14:foregroundMark x1="60449" y1="5566" x2="67090" y2="7715"/>
                        <a14:foregroundMark x1="60547" y1="29004" x2="60547" y2="29004"/>
                        <a14:foregroundMark x1="59082" y1="29004" x2="59082" y2="29004"/>
                        <a14:foregroundMark x1="62891" y1="28320" x2="62891" y2="28320"/>
                        <a14:foregroundMark x1="62891" y1="28320" x2="58691" y2="27832"/>
                        <a14:foregroundMark x1="22754" y1="34570" x2="21094" y2="48730"/>
                        <a14:foregroundMark x1="21094" y1="48730" x2="12109" y2="65820"/>
                        <a14:foregroundMark x1="12109" y1="65820" x2="9570" y2="40527"/>
                        <a14:foregroundMark x1="9570" y1="40527" x2="26563" y2="20605"/>
                        <a14:foregroundMark x1="26563" y1="20605" x2="37793" y2="81934"/>
                        <a14:foregroundMark x1="37793" y1="81934" x2="49023" y2="91113"/>
                        <a14:foregroundMark x1="49023" y1="91113" x2="70605" y2="93750"/>
                        <a14:foregroundMark x1="70605" y1="93750" x2="84277" y2="80078"/>
                        <a14:foregroundMark x1="84277" y1="80078" x2="91211" y2="39063"/>
                        <a14:foregroundMark x1="95215" y1="39453" x2="97266" y2="48926"/>
                        <a14:foregroundMark x1="97266" y1="48926" x2="94824" y2="61914"/>
                        <a14:foregroundMark x1="94824" y1="61914" x2="89648" y2="70313"/>
                        <a14:foregroundMark x1="98535" y1="54883" x2="98535" y2="54883"/>
                        <a14:foregroundMark x1="40820" y1="5273" x2="40820" y2="5273"/>
                        <a14:foregroundMark x1="47949" y1="1660" x2="47949" y2="1660"/>
                        <a14:foregroundMark x1="19238" y1="17188" x2="13867" y2="27148"/>
                        <a14:foregroundMark x1="13867" y1="27148" x2="8984" y2="50098"/>
                        <a14:foregroundMark x1="8984" y1="50098" x2="11230" y2="66602"/>
                        <a14:foregroundMark x1="8594" y1="68164" x2="8594" y2="68164"/>
                        <a14:foregroundMark x1="8594" y1="68164" x2="8594" y2="68164"/>
                        <a14:foregroundMark x1="32520" y1="34375" x2="36914" y2="48145"/>
                        <a14:foregroundMark x1="36914" y1="48145" x2="41113" y2="54590"/>
                        <a14:foregroundMark x1="41113" y1="54590" x2="40234" y2="46973"/>
                        <a14:foregroundMark x1="40234" y1="46973" x2="44531" y2="62695"/>
                        <a14:foregroundMark x1="44531" y1="62695" x2="44531" y2="63379"/>
                        <a14:foregroundMark x1="62207" y1="26465" x2="62207" y2="26465"/>
                        <a14:foregroundMark x1="64160" y1="26270" x2="64160" y2="26270"/>
                        <a14:foregroundMark x1="62109" y1="25195" x2="62109" y2="25195"/>
                        <a14:foregroundMark x1="47656" y1="586" x2="47656" y2="586"/>
                        <a14:foregroundMark x1="14746" y1="20117" x2="3027" y2="66309"/>
                        <a14:foregroundMark x1="3027" y1="66309" x2="13770" y2="79199"/>
                        <a14:foregroundMark x1="13770" y1="79199" x2="36719" y2="98535"/>
                        <a14:foregroundMark x1="40430" y1="90820" x2="40430" y2="90820"/>
                        <a14:foregroundMark x1="4590" y1="44922" x2="4590" y2="44922"/>
                        <a14:foregroundMark x1="92480" y1="58301" x2="92480" y2="58301"/>
                        <a14:foregroundMark x1="92480" y1="58301" x2="90918" y2="63770"/>
                        <a14:foregroundMark x1="91309" y1="57129" x2="91309" y2="57129"/>
                        <a14:foregroundMark x1="94727" y1="54785" x2="93945" y2="53320"/>
                        <a14:foregroundMark x1="83203" y1="84277" x2="87012" y2="80371"/>
                        <a14:foregroundMark x1="87012" y1="82031" x2="87012" y2="82031"/>
                        <a14:foregroundMark x1="84180" y1="85156" x2="84180" y2="85156"/>
                        <a14:foregroundMark x1="85840" y1="83301" x2="85840" y2="83301"/>
                        <a14:foregroundMark x1="85254" y1="86133" x2="85254" y2="86133"/>
                        <a14:foregroundMark x1="86426" y1="84570" x2="86426" y2="84570"/>
                        <a14:foregroundMark x1="86133" y1="83789" x2="86133" y2="837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2523" y="1470548"/>
            <a:ext cx="2208540" cy="22085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93663"/>
            <a:ext cx="1005840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ある日、カレンダーを見たら…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busy_calendar.png"/>
          <p:cNvPicPr>
            <a:picLocks noChangeAspect="1"/>
          </p:cNvPicPr>
          <p:nvPr/>
        </p:nvPicPr>
        <p:blipFill>
          <a:blip r:embed="rId2"/>
          <a:srcRect b="10021"/>
          <a:stretch>
            <a:fillRect/>
          </a:stretch>
        </p:blipFill>
        <p:spPr>
          <a:xfrm>
            <a:off x="426720" y="1051560"/>
            <a:ext cx="10058400" cy="4846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698480" y="1828800"/>
            <a:ext cx="1280160" cy="2194560"/>
          </a:xfrm>
          <a:prstGeom prst="roundRect">
            <a:avLst>
              <a:gd name="adj" fmla="val 8000"/>
            </a:avLst>
          </a:prstGeom>
          <a:solidFill>
            <a:srgbClr val="D83B01"/>
          </a:solidFill>
          <a:ln w="6350">
            <a:solidFill>
              <a:srgbClr val="D83B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698480" y="1828800"/>
            <a:ext cx="1280160" cy="2194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うわ…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920740"/>
            <a:ext cx="54864" cy="457200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59207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今週、会議42本。隙間ほぼなし。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5619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そこに、追い討ちの会議招集。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rowded_invite.png"/>
          <p:cNvPicPr>
            <a:picLocks noChangeAspect="1"/>
          </p:cNvPicPr>
          <p:nvPr/>
        </p:nvPicPr>
        <p:blipFill>
          <a:blip r:embed="rId2"/>
          <a:srcRect b="22442"/>
          <a:stretch>
            <a:fillRect/>
          </a:stretch>
        </p:blipFill>
        <p:spPr>
          <a:xfrm>
            <a:off x="457200" y="1142999"/>
            <a:ext cx="7343874" cy="44691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18320" y="1371600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D83B01"/>
                </a:solidFill>
                <a:latin typeface="Yu Gothic"/>
              </a:rPr>
              <a:t>🔴 気になるポイント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20" y="1920240"/>
            <a:ext cx="2468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418320" y="1920240"/>
            <a:ext cx="54864" cy="777240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55480" y="196596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必須参加者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221284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>
                <a:solidFill>
                  <a:srgbClr val="D83B01"/>
                </a:solidFill>
                <a:latin typeface="Yu Gothic"/>
              </a:rPr>
              <a:t>70人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0" y="2834640"/>
            <a:ext cx="2468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418320" y="2834640"/>
            <a:ext cx="54864" cy="777240"/>
          </a:xfrm>
          <a:prstGeom prst="roundRect">
            <a:avLst>
              <a:gd name="adj" fmla="val 10000"/>
            </a:avLst>
          </a:prstGeom>
          <a:solidFill>
            <a:srgbClr val="605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55480" y="288036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任意参加者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55480" y="312724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>
                <a:solidFill>
                  <a:srgbClr val="605E5C"/>
                </a:solidFill>
                <a:latin typeface="Yu Gothic"/>
              </a:rPr>
              <a:t>0人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18320" y="3749039"/>
            <a:ext cx="2468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418320" y="3749039"/>
            <a:ext cx="54864" cy="77724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55480" y="3794759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時間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4041647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>
                <a:solidFill>
                  <a:srgbClr val="0078D4"/>
                </a:solidFill>
                <a:latin typeface="Yu Gothic"/>
              </a:rPr>
              <a:t>120分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18320" y="4663440"/>
            <a:ext cx="2468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418320" y="4663440"/>
            <a:ext cx="54864" cy="777240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55480" y="470916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推定コスト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669280"/>
            <a:ext cx="54864" cy="457200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必須70人。任意ゼロ。…これ、本当に全員いる？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Copilotに泣きついた。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10515600" cy="868680"/>
          </a:xfrm>
          <a:prstGeom prst="roundRect">
            <a:avLst>
              <a:gd name="adj" fmla="val 8000"/>
            </a:avLst>
          </a:prstGeom>
          <a:solidFill>
            <a:srgbClr val="EEE9FB"/>
          </a:solidFill>
          <a:ln w="12700">
            <a:solidFill>
              <a:srgbClr val="7460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>
                <a:solidFill>
                  <a:srgbClr val="373E99"/>
                </a:solidFill>
                <a:latin typeface="Yu Gothic"/>
              </a:rPr>
              <a:t>🙋   会議減らしたいんですけど…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60320"/>
            <a:ext cx="10515600" cy="868680"/>
          </a:xfrm>
          <a:prstGeom prst="roundRect">
            <a:avLst>
              <a:gd name="adj" fmla="val 8000"/>
            </a:avLst>
          </a:prstGeom>
          <a:solidFill>
            <a:srgbClr val="DEECF9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560320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323130"/>
                </a:solidFill>
                <a:latin typeface="Yu Gothic"/>
              </a:rPr>
              <a:t>🤖   優先度を見直して、必要な会議だけに絞りましょう。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11430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D83B01"/>
                </a:solidFill>
                <a:latin typeface="Yu Gothic"/>
              </a:rPr>
              <a:t>いや、そういうんじゃなくて。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754880"/>
            <a:ext cx="5486400" cy="45720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430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05E5C"/>
                </a:solidFill>
                <a:latin typeface="Yu Gothic"/>
              </a:rPr>
              <a:t>本音：会議そのものはなくならない。だから「減らせ」って言われても困る。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577840"/>
            <a:ext cx="11430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05E5C"/>
                </a:solidFill>
                <a:latin typeface="Yu Gothic"/>
              </a:rPr>
              <a:t>もっと「呼ぶ前にひと呼吸」を入れたい。それも、誰かを責めずに、自然に。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聞き方を変えてみた。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5577840" cy="45720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💬  Copilotとの会話 (やり直し)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5029200" cy="390876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自分:</a:t>
            </a:r>
          </a:p>
          <a:p>
            <a:pPr algn="l"/>
            <a:r>
              <a:rPr b="0">
                <a:solidFill>
                  <a:srgbClr val="323130"/>
                </a:solidFill>
                <a:latin typeface="Yu Gothic"/>
              </a:rPr>
              <a:t>「会議のコストを可視化したい」</a:t>
            </a:r>
          </a:p>
          <a:p>
            <a:pPr algn="l"/>
            <a:endParaRPr b="0">
              <a:solidFill>
                <a:srgbClr val="323130"/>
              </a:solidFill>
              <a:latin typeface="Yu Gothic"/>
            </a:endParaRPr>
          </a:p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Copilot:</a:t>
            </a:r>
          </a:p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「Power Automateで作れますよ」</a:t>
            </a:r>
          </a:p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「Outlookトリガー＋7アクションでOK」</a:t>
            </a:r>
          </a:p>
          <a:p>
            <a:pPr algn="l"/>
            <a:endParaRPr sz="1600" b="0">
              <a:solidFill>
                <a:srgbClr val="323130"/>
              </a:solidFill>
              <a:latin typeface="Yu Gothic"/>
            </a:endParaRPr>
          </a:p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自分:</a:t>
            </a:r>
          </a:p>
          <a:p>
            <a:pPr algn="l"/>
            <a:r>
              <a:rPr b="0">
                <a:solidFill>
                  <a:srgbClr val="323130"/>
                </a:solidFill>
                <a:latin typeface="Yu Gothic"/>
              </a:rPr>
              <a:t>「式どう書くの？」</a:t>
            </a:r>
          </a:p>
          <a:p>
            <a:pPr algn="l"/>
            <a:endParaRPr b="0">
              <a:solidFill>
                <a:srgbClr val="323130"/>
              </a:solidFill>
              <a:latin typeface="Yu Gothic"/>
            </a:endParaRPr>
          </a:p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Copilot:</a:t>
            </a:r>
          </a:p>
          <a:p>
            <a:pPr algn="l"/>
            <a:r>
              <a:rPr sz="1400" b="0">
                <a:solidFill>
                  <a:srgbClr val="323130"/>
                </a:solidFill>
                <a:latin typeface="Yu Gothic"/>
              </a:rPr>
              <a:t>div(sub(ticks(end),ticks(start)),</a:t>
            </a:r>
          </a:p>
          <a:p>
            <a:pPr algn="l"/>
            <a:r>
              <a:rPr sz="1400" b="0">
                <a:solidFill>
                  <a:srgbClr val="323130"/>
                </a:solidFill>
                <a:latin typeface="Yu Gothic"/>
              </a:rPr>
              <a:t>  600000000)</a:t>
            </a:r>
          </a:p>
          <a:p>
            <a:pPr algn="l"/>
            <a:endParaRPr sz="1400" b="0">
              <a:solidFill>
                <a:srgbClr val="323130"/>
              </a:solidFill>
              <a:latin typeface="Yu Gothic"/>
            </a:endParaRPr>
          </a:p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自分:</a:t>
            </a:r>
          </a:p>
          <a:p>
            <a:pPr algn="l"/>
            <a:r>
              <a:rPr b="0">
                <a:solidFill>
                  <a:srgbClr val="323130"/>
                </a:solidFill>
                <a:latin typeface="Yu Gothic"/>
              </a:rPr>
              <a:t>「（読めないけど動いた）」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28016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309360" y="1280160"/>
            <a:ext cx="557784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28016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✅  Copilotが提案したフロー(7アクション)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1965960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19659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070386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トリガー：新しいイベント (Outlook)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2532888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37960" y="253288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637314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参加者数_必須 (split + length)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3099815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7960" y="3099815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149378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参加者数_任意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7960" y="3666744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60" y="366674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716307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合計参加者数 (主催者+1)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4233672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37960" y="423367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283235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会議時間_分 (ticks計算)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37960" y="4800600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37960" y="480060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850163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コスト = 人数×分×(時給÷60)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5367527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37960" y="536752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5417090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Teams投稿</a:t>
            </a:r>
            <a:r>
              <a:rPr lang="ja-JP" altLang="en-US" sz="1600" b="0">
                <a:solidFill>
                  <a:srgbClr val="323130"/>
                </a:solidFill>
                <a:latin typeface="Yu Gothic"/>
              </a:rPr>
              <a:t>ありがとうございました。 </a:t>
            </a:r>
            <a:r>
              <a:rPr sz="1600" b="0">
                <a:solidFill>
                  <a:srgbClr val="323130"/>
                </a:solidFill>
                <a:latin typeface="Yu Gothic"/>
              </a:rPr>
              <a:t>(Flowbot)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実装してみた：Power Automateの全体像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65760" y="1316736"/>
            <a:ext cx="11430000" cy="4206240"/>
          </a:xfrm>
          <a:prstGeom prst="roundRect">
            <a:avLst>
              <a:gd name="adj" fmla="val 8000"/>
            </a:avLst>
          </a:prstGeom>
          <a:solidFill>
            <a:srgbClr val="F3F2F1"/>
          </a:solidFill>
          <a:ln w="19050">
            <a:solidFill>
              <a:srgbClr val="C8C6C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7200" y="5760720"/>
            <a:ext cx="3657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57200" y="5760720"/>
            <a:ext cx="54864" cy="64008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779008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373E99"/>
                </a:solidFill>
                <a:latin typeface="Yu Gothic"/>
              </a:rPr>
              <a:t>Outlook トリガー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053328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新しい会議が作られた瞬間に発火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5760720"/>
            <a:ext cx="3657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297680" y="5760720"/>
            <a:ext cx="54864" cy="64008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80560" y="5779008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373E99"/>
                </a:solidFill>
                <a:latin typeface="Yu Gothic"/>
              </a:rPr>
              <a:t>ticks() 計算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053328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100ナノ秒単位の時間差を分に変換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5760720"/>
            <a:ext cx="3657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138160" y="5760720"/>
            <a:ext cx="54864" cy="64008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5779008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373E99"/>
                </a:solidFill>
                <a:latin typeface="Yu Gothic"/>
              </a:rPr>
              <a:t>Teams投稿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6053328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Flowbotから自分のチャットに通知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7 / 10</a:t>
            </a:r>
          </a:p>
        </p:txBody>
      </p:sp>
      <p:pic>
        <p:nvPicPr>
          <p:cNvPr id="25" name="図 24" descr="The image displays a user interface with a flowchart that illustrates an event creation process, including steps for required and optional participant counts, and a calculation for total participants.&#10;&#10;AI 生成コンテンツは誤りを含む可能性があります。">
            <a:extLst>
              <a:ext uri="{FF2B5EF4-FFF2-40B4-BE49-F238E27FC236}">
                <a16:creationId xmlns:a16="http://schemas.microsoft.com/office/drawing/2014/main" id="{ECD95901-3818-AB98-430B-A0191FCCF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680173"/>
            <a:ext cx="2162191" cy="3467125"/>
          </a:xfrm>
          <a:prstGeom prst="rect">
            <a:avLst/>
          </a:prstGeom>
        </p:spPr>
      </p:pic>
      <p:pic>
        <p:nvPicPr>
          <p:cNvPr id="27" name="図 26" descr="The image illustrates a workflow diagram in Japanese, showing a series of steps for initializing a variable, calculating costs, and notifying conference attendees via chat or email.&#10;&#10;AI 生成コンテンツは誤りを含む可能性があります。">
            <a:extLst>
              <a:ext uri="{FF2B5EF4-FFF2-40B4-BE49-F238E27FC236}">
                <a16:creationId xmlns:a16="http://schemas.microsoft.com/office/drawing/2014/main" id="{58B7430B-E5E7-D7F4-22F3-4D118C5C5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0838" y="1538273"/>
            <a:ext cx="2047890" cy="3781453"/>
          </a:xfrm>
          <a:prstGeom prst="rect">
            <a:avLst/>
          </a:prstGeom>
        </p:spPr>
      </p:pic>
      <p:pic>
        <p:nvPicPr>
          <p:cNvPr id="29" name="図 28" descr="The provided text appears to be a snippet of code, specifically a conditional statement in a programming language, likely JavaScript. It checks if an array called `triggerOutputs` has an element at the key `'body/requiredAttendees'` and is empty. If it is, it returns `0`. If it's not empty, it splits the array at the semicolon delimiter, then returns the length of the resulting array minus one.&#10;&#10;AI 生成コンテンツは誤りを含む可能性があります。">
            <a:extLst>
              <a:ext uri="{FF2B5EF4-FFF2-40B4-BE49-F238E27FC236}">
                <a16:creationId xmlns:a16="http://schemas.microsoft.com/office/drawing/2014/main" id="{038036A4-7789-1BD5-DF2D-59D757D0F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9119" y="2684333"/>
            <a:ext cx="4514883" cy="657230"/>
          </a:xfrm>
          <a:prstGeom prst="rect">
            <a:avLst/>
          </a:prstGeom>
        </p:spPr>
      </p:pic>
      <p:pic>
        <p:nvPicPr>
          <p:cNvPr id="31" name="図 30" descr="body/optionalAttendees&#10;&#10;AI 生成コンテンツは誤りを含む可能性があります。">
            <a:extLst>
              <a:ext uri="{FF2B5EF4-FFF2-40B4-BE49-F238E27FC236}">
                <a16:creationId xmlns:a16="http://schemas.microsoft.com/office/drawing/2014/main" id="{8F64F2FC-8D13-BD47-FC04-9555398842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67219" y="3627853"/>
            <a:ext cx="4476783" cy="685805"/>
          </a:xfrm>
          <a:prstGeom prst="rect">
            <a:avLst/>
          </a:prstGeom>
        </p:spPr>
      </p:pic>
      <p:pic>
        <p:nvPicPr>
          <p:cNvPr id="33" name="図 32" descr="The image shows a snippet of code with a function call in a programming language, specifically adding two outputs with given strings and an integer.&#10;&#10;AI 生成コンテンツは誤りを含む可能性があります。">
            <a:extLst>
              <a:ext uri="{FF2B5EF4-FFF2-40B4-BE49-F238E27FC236}">
                <a16:creationId xmlns:a16="http://schemas.microsoft.com/office/drawing/2014/main" id="{5B4ED5E9-2204-DFCF-0FF4-DAA225B1A4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6019" y="4587978"/>
            <a:ext cx="4514883" cy="5334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結果：空気が変わった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57784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557784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🚨  Teams通知 (Flowbot)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280160"/>
            <a:ext cx="5577840" cy="1554480"/>
          </a:xfrm>
          <a:prstGeom prst="roundRect">
            <a:avLst>
              <a:gd name="adj" fmla="val 10000"/>
            </a:avLst>
          </a:prstGeom>
          <a:solidFill>
            <a:srgbClr val="373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1371600"/>
            <a:ext cx="50292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会議は減らなかった。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11680"/>
            <a:ext cx="50292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FFB900"/>
                </a:solidFill>
                <a:latin typeface="Yu Gothic"/>
              </a:rPr>
              <a:t>でも、空気が変わった。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017520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373E99"/>
                </a:solidFill>
                <a:latin typeface="Yu Gothic"/>
              </a:rPr>
              <a:t>💡 今日の学び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566160"/>
            <a:ext cx="292608" cy="292608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52044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323130"/>
                </a:solidFill>
                <a:latin typeface="Yu Gothic"/>
              </a:rPr>
              <a:t>Copilotは"何を作るか"も提案してくれる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069080"/>
            <a:ext cx="292608" cy="292608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09360" y="406908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02336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323130"/>
                </a:solidFill>
                <a:latin typeface="Yu Gothic"/>
              </a:rPr>
              <a:t>式が読めなくても動く（理解は後で追いつく）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572000"/>
            <a:ext cx="292608" cy="292608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09360" y="457200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52628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323130"/>
                </a:solidFill>
                <a:latin typeface="Yu Gothic"/>
              </a:rPr>
              <a:t>数字を見せると、人は動く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029200"/>
            <a:ext cx="11430000" cy="128016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57200" y="5029200"/>
            <a:ext cx="137160" cy="1280160"/>
          </a:xfrm>
          <a:prstGeom prst="roundRect">
            <a:avLst>
              <a:gd name="adj" fmla="val 1000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51663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FB900"/>
                </a:solidFill>
                <a:latin typeface="Yu Gothic"/>
              </a:rPr>
              <a:t>🎁  Power Automate 45 (PA45)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6235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Yu Gothic"/>
              </a:rPr>
              <a:t>毎週木曜 20:15〜  /  45分の "1粒ハンズオン"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9893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E8E9F7"/>
                </a:solidFill>
                <a:latin typeface="Yu Gothic"/>
              </a:rPr>
              <a:t>powerautomate-create.connpass.com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9 / 10</a:t>
            </a:r>
          </a:p>
        </p:txBody>
      </p:sp>
      <p:pic>
        <p:nvPicPr>
          <p:cNvPr id="35" name="図 34" descr="PA45,&#10;&#10;AI 生成コンテンツは誤りを含む可能性があります。">
            <a:extLst>
              <a:ext uri="{FF2B5EF4-FFF2-40B4-BE49-F238E27FC236}">
                <a16:creationId xmlns:a16="http://schemas.microsoft.com/office/drawing/2014/main" id="{B134EC95-E660-EC78-DEE9-EC24ACCDF7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889760"/>
            <a:ext cx="2957109" cy="240793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自分が考える × Copilotが手伝う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11430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05E5C"/>
                </a:solidFill>
                <a:latin typeface="Yu Gothic"/>
              </a:rPr>
              <a:t>全部を自分で作る必要はない。でも、全部をCopilotに任せることもできない。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20240"/>
            <a:ext cx="55778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7200" y="1920240"/>
            <a:ext cx="5577840" cy="54864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92024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</a:rPr>
              <a:t>🧠  自分にしかできないこと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97480"/>
            <a:ext cx="54864" cy="777240"/>
          </a:xfrm>
          <a:prstGeom prst="roundRect">
            <a:avLst>
              <a:gd name="adj" fmla="val 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現場の困りごとに気づくこと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6324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05E5C"/>
                </a:solidFill>
                <a:latin typeface="Yu Gothic"/>
              </a:rPr>
              <a:t>「会議多すぎ問題」を肌で感じるのは現場の自分だけ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57600"/>
            <a:ext cx="54864" cy="777240"/>
          </a:xfrm>
          <a:prstGeom prst="roundRect">
            <a:avLst>
              <a:gd name="adj" fmla="val 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65760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"こういうの欲しい" のアイデア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02336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05E5C"/>
                </a:solidFill>
                <a:latin typeface="Yu Gothic"/>
              </a:rPr>
              <a:t>数字で見せたい・呼ぶ前にひと呼吸 という発想は人間側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617720"/>
            <a:ext cx="54864" cy="777240"/>
          </a:xfrm>
          <a:prstGeom prst="roundRect">
            <a:avLst>
              <a:gd name="adj" fmla="val 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46177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各職場にミートした業務改善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834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05E5C"/>
                </a:solidFill>
                <a:latin typeface="Yu Gothic"/>
              </a:rPr>
              <a:t>時給5,000円・ハッシュタグ・通知文も現場の文脈次第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920240"/>
            <a:ext cx="55778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309360" y="1920240"/>
            <a:ext cx="5577840" cy="548640"/>
          </a:xfrm>
          <a:prstGeom prst="roundRect">
            <a:avLst>
              <a:gd name="adj" fmla="val 1000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37960" y="192024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</a:rPr>
              <a:t>🤖  Copilotに手伝ってもらえること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7960" y="2697480"/>
            <a:ext cx="54864" cy="777240"/>
          </a:xfrm>
          <a:prstGeom prst="roundRect">
            <a:avLst>
              <a:gd name="adj" fmla="val 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20840" y="269748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関数・式の書き方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06324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05E5C"/>
                </a:solidFill>
                <a:latin typeface="Yu Gothic"/>
              </a:rPr>
              <a:t>ticks() ・ split() ・ length() の組み合わせは即答してくれる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3657600"/>
            <a:ext cx="54864" cy="777240"/>
          </a:xfrm>
          <a:prstGeom prst="roundRect">
            <a:avLst>
              <a:gd name="adj" fmla="val 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20840" y="365760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フローの構造提案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02336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05E5C"/>
                </a:solidFill>
                <a:latin typeface="Yu Gothic"/>
              </a:rPr>
              <a:t>「○○したい」と話しかけるだけで7アクション分の設計を出してくれる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37960" y="4617720"/>
            <a:ext cx="54864" cy="777240"/>
          </a:xfrm>
          <a:prstGeom prst="roundRect">
            <a:avLst>
              <a:gd name="adj" fmla="val 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20840" y="46177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シンタックスやエラーの解消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9834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05E5C"/>
                </a:solidFill>
                <a:latin typeface="Yu Gothic"/>
              </a:rPr>
              <a:t>「読めない式」も丁寧に説明してくれるので学習にもなる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760720"/>
            <a:ext cx="11430000" cy="640080"/>
          </a:xfrm>
          <a:prstGeom prst="roundRect">
            <a:avLst>
              <a:gd name="adj" fmla="val 10000"/>
            </a:avLst>
          </a:prstGeom>
          <a:solidFill>
            <a:srgbClr val="373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8680" y="5957649"/>
            <a:ext cx="109728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FFB900"/>
                </a:solidFill>
                <a:latin typeface="Yu Gothic"/>
              </a:rPr>
              <a:t>💡  アイデアは現場から、実装はCopilotと。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2165</TotalTime>
  <Words>614</Words>
  <Application>Microsoft Office PowerPoint</Application>
  <PresentationFormat>ワイド画面</PresentationFormat>
  <Paragraphs>148</Paragraphs>
  <Slides>9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BIZ UDGothic</vt:lpstr>
      <vt:lpstr>Yu Gothic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Ueda Isamu</cp:lastModifiedBy>
  <cp:revision>19</cp:revision>
  <dcterms:created xsi:type="dcterms:W3CDTF">2026-03-02T01:22:39Z</dcterms:created>
  <dcterms:modified xsi:type="dcterms:W3CDTF">2026-04-28T05:35:43Z</dcterms:modified>
</cp:coreProperties>
</file>