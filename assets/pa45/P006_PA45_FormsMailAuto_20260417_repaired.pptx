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9" r:id="rId2"/>
    <p:sldId id="259" r:id="rId3"/>
    <p:sldId id="257" r:id="rId4"/>
    <p:sldId id="256" r:id="rId5"/>
    <p:sldId id="271" r:id="rId6"/>
    <p:sldId id="261" r:id="rId7"/>
    <p:sldId id="272" r:id="rId8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E3632E-FE63-4BBD-9645-A4ADC8EE0CD7}" v="80" dt="2026-04-09T11:04:41.5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904" autoAdjust="0"/>
    <p:restoredTop sz="93909" autoAdjust="0"/>
  </p:normalViewPr>
  <p:slideViewPr>
    <p:cSldViewPr snapToGrid="0" snapToObjects="1">
      <p:cViewPr varScale="1">
        <p:scale>
          <a:sx n="69" d="100"/>
          <a:sy n="69" d="100"/>
        </p:scale>
        <p:origin x="915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3240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【オープニング】</a:t>
            </a:r>
          </a:p>
          <a:p>
            <a:r>
              <a:rPr sz="1300"/>
              <a:t>第5回へようこそ！今日はついに「総復習回」です。</a:t>
            </a:r>
          </a:p>
          <a:p>
            <a:endParaRPr sz="1300"/>
          </a:p>
          <a:p>
            <a:r>
              <a:rPr sz="1300"/>
              <a:t>第1〜4回で学んだ4つのアクション、</a:t>
            </a:r>
          </a:p>
          <a:p>
            <a:r>
              <a:rPr sz="1300"/>
              <a:t>Initialize variable・Set variable・Condition・Apply to each、</a:t>
            </a:r>
          </a:p>
          <a:p>
            <a:r>
              <a:rPr sz="1300"/>
              <a:t>今日はこれを全部つなげて1本のフローを作ります。</a:t>
            </a:r>
          </a:p>
          <a:p>
            <a:endParaRPr sz="1300"/>
          </a:p>
          <a:p>
            <a:r>
              <a:rPr sz="1300"/>
              <a:t>料理に例えると——</a:t>
            </a:r>
          </a:p>
          <a:p>
            <a:r>
              <a:rPr sz="1300"/>
              <a:t>バラバラに覚えた食材を、今日初めて一つの料理として仕上げる日です。</a:t>
            </a:r>
          </a:p>
          <a:p>
            <a:r>
              <a:rPr sz="1300"/>
              <a:t>今日が終わると「あ、自動化ってこういうことか！」という感覚がつかめると思います。</a:t>
            </a:r>
          </a:p>
          <a:p>
            <a:endParaRPr sz="1300"/>
          </a:p>
          <a:p>
            <a:r>
              <a:rPr sz="1300"/>
              <a:t>それでは早速いきましょう！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【PA45の紹介】</a:t>
            </a:r>
          </a:p>
          <a:p>
            <a:r>
              <a:rPr sz="1300"/>
              <a:t>PA45は毎週木曜夜に開いている、45分完結のPower Automateハンズオン勉強会です。</a:t>
            </a:r>
          </a:p>
          <a:p>
            <a:endParaRPr sz="1300"/>
          </a:p>
          <a:p>
            <a:r>
              <a:rPr sz="1300"/>
              <a:t>3つの特徴をおさらいします。</a:t>
            </a:r>
          </a:p>
          <a:p>
            <a:r>
              <a:rPr sz="1300"/>
              <a:t>・45分完結：長い研修は不要。要点だけ凝縮しています。</a:t>
            </a:r>
          </a:p>
          <a:p>
            <a:r>
              <a:rPr sz="1300"/>
              <a:t>・実践型：座学ではなく、今日この場で実際に手を動かします。</a:t>
            </a:r>
          </a:p>
          <a:p>
            <a:r>
              <a:rPr sz="1300"/>
              <a:t>・一緒に作る：ゼロから一緒に作ることで、仕組みを体感で理解できます。</a:t>
            </a:r>
          </a:p>
          <a:p>
            <a:endParaRPr sz="1300"/>
          </a:p>
          <a:p>
            <a:r>
              <a:rPr sz="1300"/>
              <a:t>プログラミング経験はまったく必要ありません。</a:t>
            </a:r>
          </a:p>
          <a:p>
            <a:r>
              <a:rPr sz="1300"/>
              <a:t>むしろ「全然知らない」という方が一番伸びます。安心して進めてください。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【ルールの説明】</a:t>
            </a:r>
          </a:p>
          <a:p>
            <a:r>
              <a:rPr sz="1300"/>
              <a:t>ルールはシンプルです。</a:t>
            </a:r>
          </a:p>
          <a:p>
            <a:endParaRPr sz="1300"/>
          </a:p>
          <a:p>
            <a:r>
              <a:rPr sz="1300"/>
              <a:t>📌 学び合うために</a:t>
            </a:r>
          </a:p>
          <a:p>
            <a:r>
              <a:rPr sz="1300"/>
              <a:t>・誹謗中傷・不適切な発言はNG。みんなで気持ちよく学びましょう。</a:t>
            </a:r>
          </a:p>
          <a:p>
            <a:r>
              <a:rPr sz="1300"/>
              <a:t>・質問はチャットへ。「できた！」の声も大歓迎です。</a:t>
            </a:r>
          </a:p>
          <a:p>
            <a:endParaRPr sz="1300"/>
          </a:p>
          <a:p>
            <a:r>
              <a:rPr sz="1300"/>
              <a:t>📌 録画について</a:t>
            </a:r>
          </a:p>
          <a:p>
            <a:r>
              <a:rPr sz="1300"/>
              <a:t>後日YouTubeで公開予定です。表が映る場合があります。</a:t>
            </a:r>
          </a:p>
          <a:p>
            <a:r>
              <a:rPr sz="1300"/>
              <a:t>匿名参加の方はご安心ください（名前非表示にできます）。</a:t>
            </a:r>
          </a:p>
          <a:p>
            <a:endParaRPr sz="1300"/>
          </a:p>
          <a:p>
            <a:r>
              <a:rPr sz="1300"/>
              <a:t>📌 アウトプットで学びが定着！</a:t>
            </a:r>
          </a:p>
          <a:p>
            <a:r>
              <a:rPr sz="1300"/>
              <a:t>・#PA45 でXに投稿してみましょう。</a:t>
            </a:r>
          </a:p>
          <a:p>
            <a:r>
              <a:rPr sz="1300"/>
              <a:t>・「作ったフロー」「気づき」など何でもOKです。</a:t>
            </a:r>
          </a:p>
          <a:p>
            <a:endParaRPr sz="1300"/>
          </a:p>
          <a:p>
            <a:r>
              <a:rPr sz="1300"/>
              <a:t>初心者大歓迎の講座なので、分からなくて当然。</a:t>
            </a:r>
          </a:p>
          <a:p>
            <a:r>
              <a:rPr sz="1300"/>
              <a:t>遠慮なく「？」を投げてください！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【自己紹介】</a:t>
            </a:r>
          </a:p>
          <a:p>
            <a:r>
              <a:rPr sz="1300"/>
              <a:t>改めまして、Haruといいます。</a:t>
            </a:r>
          </a:p>
          <a:p>
            <a:endParaRPr sz="1300"/>
          </a:p>
          <a:p>
            <a:r>
              <a:rPr sz="1300"/>
              <a:t>普段は社内でPower Automateを使ったDX推進・研修を担当しています。</a:t>
            </a:r>
          </a:p>
          <a:p>
            <a:r>
              <a:rPr sz="1300"/>
              <a:t>地域のPower Platformコミュニティ（PLUG）にも参加しており、</a:t>
            </a:r>
          </a:p>
          <a:p>
            <a:r>
              <a:rPr sz="1300"/>
              <a:t>Power AutomateとCopilotを中心に情報発信をしています。</a:t>
            </a:r>
          </a:p>
          <a:p>
            <a:endParaRPr sz="1300"/>
          </a:p>
          <a:p>
            <a:r>
              <a:rPr sz="1300"/>
              <a:t>XではPower Automate初心者向けのTipsを毎日発信中です。</a:t>
            </a:r>
          </a:p>
          <a:p>
            <a:r>
              <a:rPr sz="1300"/>
              <a:t>フォローしてもらえると嬉しいです（@isamu_Automate）。</a:t>
            </a:r>
          </a:p>
          <a:p>
            <a:endParaRPr sz="1300"/>
          </a:p>
          <a:p>
            <a:r>
              <a:rPr sz="1300"/>
              <a:t>今日も一粒だけ深掘りして、一緒に作っていきましょう！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【今日のゴール説明】</a:t>
            </a:r>
          </a:p>
          <a:p>
            <a:r>
              <a:rPr sz="1300"/>
              <a:t>今日やることは3つだけです。</a:t>
            </a:r>
          </a:p>
          <a:p>
            <a:endParaRPr sz="1300"/>
          </a:p>
          <a:p>
            <a:r>
              <a:rPr sz="1300"/>
              <a:t>① 4つのアクションの役割を整理する</a:t>
            </a:r>
          </a:p>
          <a:p>
            <a:r>
              <a:rPr sz="1300"/>
              <a:t xml:space="preserve">  Initialize variable・Set variable・Condition・Apply to each、</a:t>
            </a:r>
          </a:p>
          <a:p>
            <a:r>
              <a:rPr sz="1300"/>
              <a:t xml:space="preserve">  それぞれが何をするものか、ざっと復習します。</a:t>
            </a:r>
          </a:p>
          <a:p>
            <a:endParaRPr sz="1300"/>
          </a:p>
          <a:p>
            <a:r>
              <a:rPr sz="1300"/>
              <a:t>② フローの全体像を組み立てる</a:t>
            </a:r>
          </a:p>
          <a:p>
            <a:r>
              <a:rPr sz="1300"/>
              <a:t xml:space="preserve">  4つのアクションをどうつなぐか、流れをステップで理解します。</a:t>
            </a:r>
          </a:p>
          <a:p>
            <a:endParaRPr sz="1300"/>
          </a:p>
          <a:p>
            <a:r>
              <a:rPr sz="1300"/>
              <a:t>③ 組み合わせフローを実際に動かす</a:t>
            </a:r>
          </a:p>
          <a:p>
            <a:r>
              <a:rPr sz="1300"/>
              <a:t xml:space="preserve">  未対応件数をカウントするフローを完成させます。</a:t>
            </a:r>
          </a:p>
          <a:p>
            <a:endParaRPr sz="1300"/>
          </a:p>
          <a:p>
            <a:r>
              <a:rPr sz="1300"/>
              <a:t>「全部分からなくて当然」という前提で進めます。</a:t>
            </a:r>
          </a:p>
          <a:p>
            <a:r>
              <a:rPr sz="1300"/>
              <a:t>「あ、こういうことか」が1つでも増えれば今日は大成功です！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【今日の核心・先出し】</a:t>
            </a:r>
          </a:p>
          <a:p>
            <a:r>
              <a:rPr sz="1300"/>
              <a:t>結論から先にお伝えします。今日の最重要ポイントは3つです。</a:t>
            </a:r>
          </a:p>
          <a:p>
            <a:endParaRPr sz="1300"/>
          </a:p>
          <a:p>
            <a:r>
              <a:rPr sz="1300"/>
              <a:t>① アクションは組み合わせて初めて「本当の自動化」になる</a:t>
            </a:r>
          </a:p>
          <a:p>
            <a:r>
              <a:rPr sz="1300"/>
              <a:t xml:space="preserve">  変数・繰り返し・条件分岐、それぞれ単体でも使えますが、</a:t>
            </a:r>
          </a:p>
          <a:p>
            <a:r>
              <a:rPr sz="1300"/>
              <a:t xml:space="preserve">  組み合わさったとき、複雑な業務を1本のフローで自動化できます。</a:t>
            </a:r>
          </a:p>
          <a:p>
            <a:r>
              <a:rPr sz="1300"/>
              <a:t xml:space="preserve">  「これ自動化できる！」の判断基準が今日つかめます。</a:t>
            </a:r>
          </a:p>
          <a:p>
            <a:endParaRPr sz="1300"/>
          </a:p>
          <a:p>
            <a:r>
              <a:rPr sz="1300"/>
              <a:t>② 変数はフロー全体で使えるメモ帳</a:t>
            </a:r>
          </a:p>
          <a:p>
            <a:r>
              <a:rPr sz="1300"/>
              <a:t xml:space="preserve">  Apply to eachのループの中でも外でも使えます。</a:t>
            </a:r>
          </a:p>
          <a:p>
            <a:r>
              <a:rPr sz="1300"/>
              <a:t xml:space="preserve">  「今いくつカウントしたか」を覚えておく役割です。</a:t>
            </a:r>
          </a:p>
          <a:p>
            <a:endParaRPr sz="1300"/>
          </a:p>
          <a:p>
            <a:r>
              <a:rPr sz="1300"/>
              <a:t>③ Apply to eachの中にConditionを入れると「絞り込み繰り返し」ができる</a:t>
            </a:r>
          </a:p>
          <a:p>
            <a:r>
              <a:rPr sz="1300"/>
              <a:t xml:space="preserve">  リストを1件ずつ見ながら、条件に合うものだけ処理する、</a:t>
            </a:r>
          </a:p>
          <a:p>
            <a:r>
              <a:rPr sz="1300"/>
              <a:t xml:space="preserve">  この組み合わせが実務で超よく使うパターンです。</a:t>
            </a:r>
          </a:p>
          <a:p>
            <a:endParaRPr sz="1300"/>
          </a:p>
          <a:p>
            <a:r>
              <a:rPr sz="1300"/>
              <a:t>この3つを体感するのが今日のミッションです！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【実務への応用】</a:t>
            </a:r>
          </a:p>
          <a:p>
            <a:r>
              <a:rPr sz="1300"/>
              <a:t>今日覚えたパターン——</a:t>
            </a:r>
          </a:p>
          <a:p>
            <a:r>
              <a:rPr sz="1300"/>
              <a:t>Apply to each ＋ Condition ＋ 変数の組み合わせは、</a:t>
            </a:r>
          </a:p>
          <a:p>
            <a:r>
              <a:rPr sz="1300"/>
              <a:t>実はたくさんの実務に使えます。</a:t>
            </a:r>
          </a:p>
          <a:p>
            <a:endParaRPr sz="1300"/>
          </a:p>
          <a:p>
            <a:r>
              <a:rPr sz="1300"/>
              <a:t>3つの例を見てください。</a:t>
            </a:r>
          </a:p>
          <a:p>
            <a:endParaRPr sz="1300"/>
          </a:p>
          <a:p>
            <a:r>
              <a:rPr sz="1300"/>
              <a:t>📊 勤怠集計</a:t>
            </a:r>
          </a:p>
          <a:p>
            <a:r>
              <a:rPr sz="1300"/>
              <a:t xml:space="preserve">  出勤リストをループして、Conditionで出勤判定、Set variableでカウント。</a:t>
            </a:r>
          </a:p>
          <a:p>
            <a:r>
              <a:rPr sz="1300"/>
              <a:t xml:space="preserve">  今日作ったフローとほぼ同じ構造です。</a:t>
            </a:r>
          </a:p>
          <a:p>
            <a:endParaRPr sz="1300"/>
          </a:p>
          <a:p>
            <a:r>
              <a:rPr sz="1300"/>
              <a:t>📋 申請振り分け</a:t>
            </a:r>
          </a:p>
          <a:p>
            <a:r>
              <a:rPr sz="1300"/>
              <a:t xml:space="preserve">  申請リストをループして、Conditionでカテゴリ判定、変数で合計を加算。</a:t>
            </a:r>
          </a:p>
          <a:p>
            <a:endParaRPr sz="1300"/>
          </a:p>
          <a:p>
            <a:r>
              <a:rPr sz="1300"/>
              <a:t>📝 テスト結果集計</a:t>
            </a:r>
          </a:p>
          <a:p>
            <a:r>
              <a:rPr sz="1300"/>
              <a:t xml:space="preserve">  点数リストをループして、Conditionで合否判定、合格者数をカウント。</a:t>
            </a:r>
          </a:p>
          <a:p>
            <a:endParaRPr sz="1300"/>
          </a:p>
          <a:p>
            <a:r>
              <a:rPr sz="1300"/>
              <a:t>全部「同じ型」です。</a:t>
            </a:r>
          </a:p>
          <a:p>
            <a:r>
              <a:rPr sz="1300"/>
              <a:t>今日作ったフローが「テンプレート」になります。</a:t>
            </a:r>
          </a:p>
          <a:p>
            <a:r>
              <a:rPr sz="1300"/>
              <a:t>中身の条件と変数を変えるだけで、様々な業務に応用できます。</a:t>
            </a:r>
          </a:p>
          <a:p>
            <a:endParaRPr sz="1300"/>
          </a:p>
          <a:p>
            <a:r>
              <a:rPr sz="1300"/>
              <a:t>「これ、職場で使えそう」と思ったものはありましたか？</a:t>
            </a:r>
          </a:p>
          <a:p>
            <a:r>
              <a:rPr sz="1300"/>
              <a:t>ぜひ#PA45でシェアしてください！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【クロージング】</a:t>
            </a:r>
          </a:p>
          <a:p>
            <a:r>
              <a:rPr sz="1300"/>
              <a:t>お疲れさまでした！今日も一緒に作り切りましたね。</a:t>
            </a:r>
          </a:p>
          <a:p>
            <a:endParaRPr sz="1300"/>
          </a:p>
          <a:p>
            <a:r>
              <a:rPr sz="1300"/>
              <a:t>今日のおさらいを30秒で——</a:t>
            </a:r>
          </a:p>
          <a:p>
            <a:r>
              <a:rPr sz="1300"/>
              <a:t>・Initialize variable：最初に変数を0でリセット（空の箱を用意）</a:t>
            </a:r>
          </a:p>
          <a:p>
            <a:r>
              <a:rPr sz="1300"/>
              <a:t>・Apply to each：Excelを1行ずつ処理（コンベアベルト）</a:t>
            </a:r>
          </a:p>
          <a:p>
            <a:r>
              <a:rPr sz="1300"/>
              <a:t>・Condition：未対応かどうかを判定（条件おじさん）</a:t>
            </a:r>
          </a:p>
          <a:p>
            <a:r>
              <a:rPr sz="1300"/>
              <a:t>・Set variable：件数を+1してカウントアップ</a:t>
            </a:r>
          </a:p>
          <a:p>
            <a:endParaRPr sz="1300"/>
          </a:p>
          <a:p>
            <a:r>
              <a:rPr sz="1300"/>
              <a:t>この4つが合わさって「自動集計フロー」になりました。</a:t>
            </a:r>
          </a:p>
          <a:p>
            <a:endParaRPr sz="1300"/>
          </a:p>
          <a:p>
            <a:r>
              <a:rPr sz="1300"/>
              <a:t>最後にアンケートへのご協力をお願いします！</a:t>
            </a:r>
          </a:p>
          <a:p>
            <a:r>
              <a:rPr sz="1300"/>
              <a:t>チャット欄にURLを貼ります。1分で終わります。</a:t>
            </a:r>
          </a:p>
          <a:p>
            <a:r>
              <a:rPr sz="1300"/>
              <a:t>メールアドレスを入力してくださった方にはPA45バッジをXのDMでお届けします。</a:t>
            </a:r>
          </a:p>
          <a:p>
            <a:endParaRPr sz="1300"/>
          </a:p>
          <a:p>
            <a:r>
              <a:rPr sz="1300"/>
              <a:t>今日の気づきや感想を #PA45 でポストしてもらえると嬉しいです。</a:t>
            </a:r>
          </a:p>
          <a:p>
            <a:r>
              <a:rPr sz="1300"/>
              <a:t>来週もお待ちしています！ありがとうございました！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microsoft.com/office/2007/relationships/hdphoto" Target="../media/hdphoto1.wdp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?>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?>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26" Type="http://schemas.openxmlformats.org/officeDocument/2006/relationships/image" Target="../media/image41.png"/><Relationship Id="rId3" Type="http://schemas.openxmlformats.org/officeDocument/2006/relationships/image" Target="../media/image18.png"/><Relationship Id="rId21" Type="http://schemas.openxmlformats.org/officeDocument/2006/relationships/image" Target="../media/image36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5" Type="http://schemas.openxmlformats.org/officeDocument/2006/relationships/image" Target="../media/image40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1.png"/><Relationship Id="rId20" Type="http://schemas.openxmlformats.org/officeDocument/2006/relationships/image" Target="../media/image35.png"/><Relationship Id="rId29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24" Type="http://schemas.openxmlformats.org/officeDocument/2006/relationships/image" Target="../media/image39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23" Type="http://schemas.openxmlformats.org/officeDocument/2006/relationships/image" Target="../media/image38.png"/><Relationship Id="rId28" Type="http://schemas.openxmlformats.org/officeDocument/2006/relationships/image" Target="../media/image43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31" Type="http://schemas.openxmlformats.org/officeDocument/2006/relationships/image" Target="../media/image7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Relationship Id="rId22" Type="http://schemas.openxmlformats.org/officeDocument/2006/relationships/image" Target="../media/image37.png"/><Relationship Id="rId27" Type="http://schemas.openxmlformats.org/officeDocument/2006/relationships/image" Target="../media/image42.png"/><Relationship Id="rId30" Type="http://schemas.openxmlformats.org/officeDocument/2006/relationships/image" Target="../media/image45.png"/></Relationships>
</file>

<file path=ppt/slides/_rels/slide5.xml.rels><?xml version="1.0" encoding="UTF-8"?>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18" Type="http://schemas.openxmlformats.org/officeDocument/2006/relationships/image" Target="../media/image6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17" Type="http://schemas.openxmlformats.org/officeDocument/2006/relationships/image" Target="../media/image6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9.png"/><Relationship Id="rId20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5" Type="http://schemas.openxmlformats.org/officeDocument/2006/relationships/image" Target="../media/image58.png"/><Relationship Id="rId10" Type="http://schemas.openxmlformats.org/officeDocument/2006/relationships/image" Target="../media/image53.png"/><Relationship Id="rId19" Type="http://schemas.openxmlformats.org/officeDocument/2006/relationships/image" Target="../media/image62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Relationship Id="rId14" Type="http://schemas.openxmlformats.org/officeDocument/2006/relationships/image" Target="../media/image57.png"/></Relationships>
</file>

<file path=ppt/slides/_rels/slide6.xml.rels><?xml version="1.0" encoding="UTF-8"?>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87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14.xml.rels><?xml version="1.0" encoding="UTF-8"?>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1.png"/><Relationship Id="rId7" Type="http://schemas.openxmlformats.org/officeDocument/2006/relationships/image" Target="../media/image9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5" Type="http://schemas.openxmlformats.org/officeDocument/2006/relationships/image" Target="../media/image7.png"/><Relationship Id="rId4" Type="http://schemas.openxmlformats.org/officeDocument/2006/relationships/image" Target="../media/image90.png"/><Relationship Id="rId9" Type="http://schemas.openxmlformats.org/officeDocument/2006/relationships/image" Target="../media/image9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7009479-6313-ABD6-833D-A3E138A01A61}"/>
              </a:ext>
            </a:extLst>
          </p:cNvPr>
          <p:cNvSpPr txBox="1"/>
          <p:nvPr/>
        </p:nvSpPr>
        <p:spPr>
          <a:xfrm>
            <a:off x="337457" y="1032757"/>
            <a:ext cx="1176528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000"/>
              <a:t>Microsoft Forms</a:t>
            </a:r>
            <a:r>
              <a:rPr kumimoji="1" lang="ja-JP" altLang="en-US" sz="4000"/>
              <a:t>・</a:t>
            </a:r>
            <a:r>
              <a:rPr kumimoji="1" lang="en-US" altLang="ja-JP" sz="4000"/>
              <a:t>Outlook</a:t>
            </a:r>
            <a:r>
              <a:rPr kumimoji="1" lang="ja-JP" altLang="en-US" sz="4000"/>
              <a:t xml:space="preserve"> </a:t>
            </a:r>
            <a:r>
              <a:rPr kumimoji="1" lang="en-US" altLang="ja-JP" sz="4000"/>
              <a:t/>
            </a:r>
            <a:r>
              <a:rPr kumimoji="1" lang="ja-JP" altLang="en-US" sz="4000"/>
              <a:t>を使いますので</a:t>
            </a:r>
            <a:endParaRPr kumimoji="1" lang="en-US" altLang="ja-JP" sz="4000"/>
          </a:p>
          <a:p>
            <a:r>
              <a:rPr kumimoji="1" lang="ja-JP" altLang="en-US" sz="4000"/>
              <a:t>ハンズオンされる方は、事前に立ち上げておくと</a:t>
            </a:r>
            <a:endParaRPr kumimoji="1" lang="en-US" altLang="ja-JP" sz="4000"/>
          </a:p>
          <a:p>
            <a:r>
              <a:rPr kumimoji="1" lang="ja-JP" altLang="en-US" sz="4000"/>
              <a:t>スムーズです！</a:t>
            </a:r>
            <a:r>
              <a:rPr kumimoji="1" lang="en-US" altLang="ja-JP" sz="4000"/>
              <a:t>(●´ω</a:t>
            </a:r>
            <a:r>
              <a:rPr kumimoji="1" lang="ja-JP" altLang="en-US" sz="4000"/>
              <a:t>｀●</a:t>
            </a:r>
            <a:r>
              <a:rPr kumimoji="1" lang="en-US" altLang="ja-JP" sz="4000"/>
              <a:t>)</a:t>
            </a:r>
          </a:p>
          <a:p>
            <a:endParaRPr kumimoji="1" lang="en-US" altLang="ja-JP" sz="4000"/>
          </a:p>
          <a:p>
            <a:r>
              <a:rPr kumimoji="1" lang="ja-JP" altLang="en-US" sz="4000"/>
              <a:t>後日アーカイブ動画を公開予定です。</a:t>
            </a:r>
            <a:endParaRPr kumimoji="1" lang="en-US" altLang="ja-JP" sz="4000"/>
          </a:p>
          <a:p>
            <a:r>
              <a:rPr kumimoji="1" lang="en-US" altLang="ja-JP" sz="4000"/>
              <a:t>teams</a:t>
            </a:r>
            <a:r>
              <a:rPr kumimoji="1" lang="ja-JP" altLang="en-US" sz="4000"/>
              <a:t>表示名が映る場合がありますので、</a:t>
            </a:r>
            <a:endParaRPr kumimoji="1" lang="en-US" altLang="ja-JP" sz="4000"/>
          </a:p>
          <a:p>
            <a:r>
              <a:rPr kumimoji="1" lang="ja-JP" altLang="en-US" sz="4000"/>
              <a:t>お名前が表示</a:t>
            </a:r>
            <a:r>
              <a:rPr kumimoji="1" lang="en-US" altLang="ja-JP" sz="4000"/>
              <a:t>NG</a:t>
            </a:r>
            <a:r>
              <a:rPr kumimoji="1" lang="ja-JP" altLang="en-US" sz="4000"/>
              <a:t>の場合は、匿名での</a:t>
            </a:r>
            <a:endParaRPr kumimoji="1" lang="en-US" altLang="ja-JP" sz="4000"/>
          </a:p>
          <a:p>
            <a:r>
              <a:rPr kumimoji="1" lang="ja-JP" altLang="en-US" sz="4000"/>
              <a:t>参加をお願い致します。</a:t>
            </a:r>
          </a:p>
        </p:txBody>
      </p:sp>
    </p:spTree>
    <p:extLst>
      <p:ext uri="{BB962C8B-B14F-4D97-AF65-F5344CB8AC3E}">
        <p14:creationId xmlns:p14="http://schemas.microsoft.com/office/powerpoint/2010/main" val="1581914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915" y="-5028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2"/>
          <p:cNvSpPr/>
          <p:nvPr/>
        </p:nvSpPr>
        <p:spPr>
          <a:xfrm>
            <a:off x="5986150" y="-33783"/>
            <a:ext cx="6096305" cy="6858000"/>
          </a:xfrm>
          <a:prstGeom prst="rect">
            <a:avLst/>
          </a:prstGeom>
          <a:solidFill>
            <a:srgbClr val="EFF6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6762805"/>
            <a:ext cx="12191695" cy="152705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4"/>
          <p:cNvSpPr/>
          <p:nvPr/>
        </p:nvSpPr>
        <p:spPr>
          <a:xfrm>
            <a:off x="436031" y="217298"/>
            <a:ext cx="7869289" cy="604873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5"/>
          <p:cNvSpPr/>
          <p:nvPr/>
        </p:nvSpPr>
        <p:spPr>
          <a:xfrm>
            <a:off x="308848" y="427340"/>
            <a:ext cx="7996472" cy="22333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400" b="1" kern="0" spc="30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入門講座</a:t>
            </a:r>
            <a:endParaRPr lang="en-US" sz="4400" dirty="0"/>
          </a:p>
        </p:txBody>
      </p:sp>
      <p:sp>
        <p:nvSpPr>
          <p:cNvPr id="10" name="Shape 6"/>
          <p:cNvSpPr/>
          <p:nvPr/>
        </p:nvSpPr>
        <p:spPr>
          <a:xfrm>
            <a:off x="8978012" y="217298"/>
            <a:ext cx="2285093" cy="774651"/>
          </a:xfrm>
          <a:prstGeom prst="roundRect">
            <a:avLst>
              <a:gd name="adj" fmla="val 239808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7"/>
          <p:cNvSpPr/>
          <p:nvPr/>
        </p:nvSpPr>
        <p:spPr>
          <a:xfrm>
            <a:off x="8996224" y="230202"/>
            <a:ext cx="2360005" cy="7772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800" b="1" kern="0" spc="3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Vol.6</a:t>
            </a:r>
            <a:endParaRPr lang="en-US" sz="4800" dirty="0"/>
          </a:p>
        </p:txBody>
      </p:sp>
      <p:sp>
        <p:nvSpPr>
          <p:cNvPr id="12" name="Text 8"/>
          <p:cNvSpPr txBox="1"/>
          <p:nvPr/>
        </p:nvSpPr>
        <p:spPr>
          <a:xfrm>
            <a:off x="684391" y="1363842"/>
            <a:ext cx="11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</a:t>
            </a:r>
            <a:r>
              <a:rPr lang="ja-JP" altLang="en-US" sz="32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　</a:t>
            </a:r>
            <a:r>
              <a:rPr lang="en-US" altLang="ja-JP" sz="36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</a:t>
            </a:r>
            <a:r>
              <a:rPr lang="ja-JP" altLang="en-US" sz="36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 × Compose × Outlook</a:t>
            </a:r>
            <a:r>
              <a:rPr lang="en-US" altLang="ja-JP" sz="36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】</a:t>
            </a:r>
            <a:endParaRPr lang="en-US" sz="3200" dirty="0"/>
          </a:p>
        </p:txBody>
      </p:sp>
      <p:sp>
        <p:nvSpPr>
          <p:cNvPr id="13" name="Text 9"/>
          <p:cNvSpPr txBox="1"/>
          <p:nvPr/>
        </p:nvSpPr>
        <p:spPr>
          <a:xfrm>
            <a:off x="761695" y="2200000"/>
            <a:ext cx="9000000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第6回： Formsの回答が来たら自動でお礼メールを送ろう</a:t>
            </a:r>
            <a:endParaRPr lang="en-US" sz="4500" dirty="0"/>
          </a:p>
        </p:txBody>
      </p:sp>
      <p:sp>
        <p:nvSpPr>
          <p:cNvPr id="14" name="Text 10"/>
          <p:cNvSpPr txBox="1"/>
          <p:nvPr/>
        </p:nvSpPr>
        <p:spPr>
          <a:xfrm>
            <a:off x="600479" y="3658916"/>
            <a:ext cx="11344328" cy="488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 × Compose × Outlook</a:t>
            </a:r>
          </a:p>
          <a:p>
            <a:pPr marL="0" indent="0" algn="l">
              <a:buNone/>
            </a:pPr>
            <a:r>
              <a:rPr lang="en-US" sz="32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en-US" sz="32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3つのアクションで「届く自動化」を一緒に作ろう）</a:t>
            </a:r>
            <a:endParaRPr lang="en-US" sz="3200" dirty="0"/>
          </a:p>
        </p:txBody>
      </p:sp>
      <p:sp>
        <p:nvSpPr>
          <p:cNvPr id="15" name="Shape 11"/>
          <p:cNvSpPr/>
          <p:nvPr/>
        </p:nvSpPr>
        <p:spPr>
          <a:xfrm>
            <a:off x="685800" y="4682893"/>
            <a:ext cx="75895" cy="146669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2"/>
          <p:cNvSpPr txBox="1"/>
          <p:nvPr/>
        </p:nvSpPr>
        <p:spPr>
          <a:xfrm>
            <a:off x="1143000" y="4834684"/>
            <a:ext cx="65727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Theme</a:t>
            </a:r>
            <a:r>
              <a:rPr lang="ja-JP" alt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 × Compose × Outlook｜3つのアクションで「届く自動化」</a:t>
            </a:r>
            <a:endParaRPr lang="en-US" dirty="0"/>
          </a:p>
        </p:txBody>
      </p:sp>
      <p:sp>
        <p:nvSpPr>
          <p:cNvPr id="17" name="Text 13"/>
          <p:cNvSpPr txBox="1"/>
          <p:nvPr/>
        </p:nvSpPr>
        <p:spPr>
          <a:xfrm>
            <a:off x="1143000" y="5273596"/>
            <a:ext cx="66486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Target</a:t>
            </a:r>
            <a:r>
              <a:rPr lang="ja-JP" alt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Automate初心者・フォーム活用したい方</a:t>
            </a: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（プログラミング知識ゼロでOK）</a:t>
            </a:r>
            <a:endParaRPr lang="en-US" dirty="0"/>
          </a:p>
        </p:txBody>
      </p:sp>
      <p:sp>
        <p:nvSpPr>
          <p:cNvPr id="18" name="Text 14"/>
          <p:cNvSpPr txBox="1"/>
          <p:nvPr/>
        </p:nvSpPr>
        <p:spPr>
          <a:xfrm>
            <a:off x="1143000" y="5711593"/>
            <a:ext cx="65727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Time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</a:t>
            </a:r>
            <a:r>
              <a:rPr lang="ja-JP" alt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約</a:t>
            </a: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10分ハンズオン </a:t>
            </a:r>
            <a:endParaRPr lang="en-US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5"/>
          <a:srcRect t="-56" b="-56"/>
          <a:stretch/>
        </p:blipFill>
        <p:spPr>
          <a:xfrm>
            <a:off x="11162995" y="1371600"/>
            <a:ext cx="647395" cy="652882"/>
          </a:xfrm>
          <a:prstGeom prst="rect">
            <a:avLst/>
          </a:prstGeom>
        </p:spPr>
      </p:pic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315700" y="1524305"/>
            <a:ext cx="342900" cy="342900"/>
          </a:xfrm>
          <a:prstGeom prst="rect">
            <a:avLst/>
          </a:prstGeom>
        </p:spPr>
      </p:pic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7"/>
          <a:srcRect t="-7" b="-7"/>
          <a:stretch/>
        </p:blipFill>
        <p:spPr>
          <a:xfrm>
            <a:off x="7314742" y="5273997"/>
            <a:ext cx="609905" cy="652882"/>
          </a:xfrm>
          <a:prstGeom prst="rect">
            <a:avLst/>
          </a:prstGeom>
        </p:spPr>
      </p:pic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8"/>
          <a:srcRect l="-743" r="-743"/>
          <a:stretch/>
        </p:blipFill>
        <p:spPr>
          <a:xfrm>
            <a:off x="7467446" y="5425787"/>
            <a:ext cx="304495" cy="342900"/>
          </a:xfrm>
          <a:prstGeom prst="rect">
            <a:avLst/>
          </a:prstGeom>
        </p:spPr>
      </p:pic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F62F2BB1-FC9A-9BF5-5863-AC5C7020B0F7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1" name="Shape 31">
              <a:extLst>
                <a:ext uri="{FF2B5EF4-FFF2-40B4-BE49-F238E27FC236}">
                  <a16:creationId xmlns:a16="http://schemas.microsoft.com/office/drawing/2014/main" id="{E330C5C1-44AB-B83C-FC54-E15E76393B08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2" name="Text 21">
              <a:extLst>
                <a:ext uri="{FF2B5EF4-FFF2-40B4-BE49-F238E27FC236}">
                  <a16:creationId xmlns:a16="http://schemas.microsoft.com/office/drawing/2014/main" id="{53E96C5C-B4CA-6382-053D-33B08C4E9626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3" name="Image 2" descr="preencoded.png">
              <a:extLst>
                <a:ext uri="{FF2B5EF4-FFF2-40B4-BE49-F238E27FC236}">
                  <a16:creationId xmlns:a16="http://schemas.microsoft.com/office/drawing/2014/main" id="{08EBD2AE-13BF-C3DE-E2D6-955D3ED4F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29" name="図 28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0A5D2121-E3AD-8CFB-9A1D-21A7BE0B192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2734" b="96973" l="4590" r="98047">
                        <a14:foregroundMark x1="51758" y1="13281" x2="24121" y2="14941"/>
                        <a14:foregroundMark x1="24121" y1="14941" x2="13965" y2="53516"/>
                        <a14:foregroundMark x1="13965" y1="53516" x2="41309" y2="76953"/>
                        <a14:foregroundMark x1="41309" y1="76953" x2="69727" y2="85059"/>
                        <a14:foregroundMark x1="69727" y1="85059" x2="92188" y2="74902"/>
                        <a14:foregroundMark x1="92188" y1="74902" x2="89648" y2="30664"/>
                        <a14:foregroundMark x1="56738" y1="12402" x2="17773" y2="38574"/>
                        <a14:foregroundMark x1="17773" y1="38574" x2="26758" y2="73926"/>
                        <a14:foregroundMark x1="26758" y1="73926" x2="31445" y2="33105"/>
                        <a14:foregroundMark x1="31445" y1="33105" x2="28027" y2="61230"/>
                        <a14:foregroundMark x1="28027" y1="61230" x2="15820" y2="30371"/>
                        <a14:foregroundMark x1="15820" y1="30371" x2="9277" y2="52734"/>
                        <a14:foregroundMark x1="9277" y1="52734" x2="18066" y2="77344"/>
                        <a14:foregroundMark x1="18066" y1="77344" x2="57129" y2="85059"/>
                        <a14:foregroundMark x1="57129" y1="85059" x2="78125" y2="82715"/>
                        <a14:foregroundMark x1="53809" y1="98926" x2="13379" y2="66309"/>
                        <a14:foregroundMark x1="13379" y1="66309" x2="10840" y2="25391"/>
                        <a14:foregroundMark x1="10840" y1="25391" x2="24414" y2="8789"/>
                        <a14:foregroundMark x1="24414" y1="8789" x2="30664" y2="8594"/>
                        <a14:foregroundMark x1="60742" y1="7715" x2="61914" y2="13867"/>
                        <a14:foregroundMark x1="61914" y1="15039" x2="65332" y2="16113"/>
                        <a14:foregroundMark x1="59277" y1="23633" x2="38867" y2="72266"/>
                        <a14:foregroundMark x1="38867" y1="72266" x2="63477" y2="90625"/>
                        <a14:foregroundMark x1="63477" y1="90625" x2="72363" y2="85645"/>
                        <a14:foregroundMark x1="31934" y1="92383" x2="31934" y2="92383"/>
                        <a14:foregroundMark x1="28516" y1="91309" x2="25488" y2="89063"/>
                        <a14:foregroundMark x1="22363" y1="86914" x2="22070" y2="86230"/>
                        <a14:foregroundMark x1="20898" y1="83789" x2="18652" y2="82227"/>
                        <a14:foregroundMark x1="16406" y1="79980" x2="15625" y2="78613"/>
                        <a14:foregroundMark x1="6152" y1="33984" x2="17676" y2="74023"/>
                        <a14:foregroundMark x1="17676" y1="74023" x2="20703" y2="77246"/>
                        <a14:foregroundMark x1="92676" y1="35547" x2="56934" y2="11133"/>
                        <a14:foregroundMark x1="56934" y1="11133" x2="76953" y2="16113"/>
                        <a14:foregroundMark x1="80273" y1="23340" x2="68848" y2="43555"/>
                        <a14:foregroundMark x1="68848" y1="43555" x2="69629" y2="43750"/>
                        <a14:foregroundMark x1="76270" y1="14844" x2="97168" y2="38965"/>
                        <a14:foregroundMark x1="97168" y1="38965" x2="93750" y2="67969"/>
                        <a14:foregroundMark x1="93750" y1="67969" x2="92383" y2="69629"/>
                        <a14:foregroundMark x1="87891" y1="61035" x2="84570" y2="81152"/>
                        <a14:foregroundMark x1="65527" y1="95605" x2="40820" y2="96973"/>
                        <a14:foregroundMark x1="40820" y1="96973" x2="40039" y2="96289"/>
                        <a14:foregroundMark x1="98047" y1="42871" x2="96094" y2="60352"/>
                        <a14:foregroundMark x1="44141" y1="2832" x2="54980" y2="22949"/>
                        <a14:foregroundMark x1="4590" y1="44043" x2="11621" y2="70410"/>
                        <a14:foregroundMark x1="11621" y1="70410" x2="16699" y2="715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10094" y="3534536"/>
            <a:ext cx="2600296" cy="26002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31">
            <a:extLst>
              <a:ext uri="{FF2B5EF4-FFF2-40B4-BE49-F238E27FC236}">
                <a16:creationId xmlns:a16="http://schemas.microsoft.com/office/drawing/2014/main" id="{E5E8C8BD-7816-5C3C-C635-2DE5D831334E}"/>
              </a:ext>
            </a:extLst>
          </p:cNvPr>
          <p:cNvSpPr/>
          <p:nvPr/>
        </p:nvSpPr>
        <p:spPr>
          <a:xfrm>
            <a:off x="8162239" y="923544"/>
            <a:ext cx="3648456" cy="267005"/>
          </a:xfrm>
          <a:prstGeom prst="roundRect">
            <a:avLst>
              <a:gd name="adj" fmla="val 342465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333195"/>
            <a:ext cx="12191695" cy="49149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10362895" y="-495605"/>
            <a:ext cx="3657600" cy="36576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-1828800" y="4419295"/>
            <a:ext cx="3657600" cy="3657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95351" y="1433779"/>
            <a:ext cx="1160190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忙しい人のための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45分ハンズオン</a:t>
            </a:r>
            <a:endParaRPr lang="en-US" sz="3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381305" y="2881274"/>
            <a:ext cx="3657600" cy="24094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9046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l="-107" r="-107"/>
          <a:stretch/>
        </p:blipFill>
        <p:spPr>
          <a:xfrm>
            <a:off x="2076602" y="3271723"/>
            <a:ext cx="267005" cy="304495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593495" y="3897738"/>
            <a:ext cx="12100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45分完結</a:t>
            </a:r>
            <a:endParaRPr lang="en-US" sz="2000" dirty="0"/>
          </a:p>
        </p:txBody>
      </p:sp>
      <p:sp>
        <p:nvSpPr>
          <p:cNvPr id="12" name="Text 6"/>
          <p:cNvSpPr txBox="1"/>
          <p:nvPr/>
        </p:nvSpPr>
        <p:spPr>
          <a:xfrm>
            <a:off x="1178634" y="4348702"/>
            <a:ext cx="2062942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長時間の研修は不要。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要点だけを凝縮して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最短でスキル習得。 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4267505" y="2881274"/>
            <a:ext cx="3657600" cy="2409444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57908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rcRect l="-90" r="-90"/>
          <a:stretch/>
        </p:blipFill>
        <p:spPr>
          <a:xfrm>
            <a:off x="5905195" y="3271723"/>
            <a:ext cx="381305" cy="304495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4860431" y="3897738"/>
            <a:ext cx="229475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実践型ハンズオン</a:t>
            </a:r>
            <a:endParaRPr lang="en-US" sz="2000" dirty="0"/>
          </a:p>
        </p:txBody>
      </p:sp>
      <p:sp>
        <p:nvSpPr>
          <p:cNvPr id="17" name="Text 9"/>
          <p:cNvSpPr txBox="1"/>
          <p:nvPr/>
        </p:nvSpPr>
        <p:spPr>
          <a:xfrm>
            <a:off x="4838063" y="4348702"/>
            <a:ext cx="263631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座学だけではありません。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その場で実際に手を動かし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「使える」技術を学びます。 </a:t>
            </a:r>
            <a:endParaRPr lang="en-US" sz="14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8153705" y="2881274"/>
            <a:ext cx="3657600" cy="2409444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96770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8"/>
          <a:srcRect l="-90" r="-90"/>
          <a:stretch/>
        </p:blipFill>
        <p:spPr>
          <a:xfrm>
            <a:off x="9791395" y="3271723"/>
            <a:ext cx="381305" cy="304495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9235001" y="3897738"/>
            <a:ext cx="1434219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一緒に作る</a:t>
            </a:r>
            <a:endParaRPr lang="en-US" sz="2000" dirty="0"/>
          </a:p>
        </p:txBody>
      </p:sp>
      <p:sp>
        <p:nvSpPr>
          <p:cNvPr id="22" name="Text 12"/>
          <p:cNvSpPr txBox="1"/>
          <p:nvPr/>
        </p:nvSpPr>
        <p:spPr>
          <a:xfrm>
            <a:off x="8794672" y="4348702"/>
            <a:ext cx="245898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ゼロから一緒に作ることで</a:t>
            </a:r>
            <a:endParaRPr lang="en-US" sz="1400" dirty="0"/>
          </a:p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仕組みを理解します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。 </a:t>
            </a:r>
            <a:endParaRPr lang="en-US" sz="14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9"/>
          <a:srcRect t="-40" b="-40"/>
          <a:stretch/>
        </p:blipFill>
        <p:spPr>
          <a:xfrm>
            <a:off x="3625596" y="5471770"/>
            <a:ext cx="4939589" cy="629107"/>
          </a:xfrm>
          <a:prstGeom prst="rect">
            <a:avLst/>
          </a:prstGeom>
        </p:spPr>
      </p:pic>
      <p:sp>
        <p:nvSpPr>
          <p:cNvPr id="24" name="Shape 13"/>
          <p:cNvSpPr/>
          <p:nvPr/>
        </p:nvSpPr>
        <p:spPr>
          <a:xfrm>
            <a:off x="3940150" y="5596128"/>
            <a:ext cx="323698" cy="381305"/>
          </a:xfrm>
          <a:prstGeom prst="roundRect">
            <a:avLst>
              <a:gd name="adj" fmla="val 282486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14"/>
          <p:cNvSpPr txBox="1"/>
          <p:nvPr/>
        </p:nvSpPr>
        <p:spPr>
          <a:xfrm>
            <a:off x="4416552" y="5652821"/>
            <a:ext cx="402610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未経験・知識ゼロでも大丈夫！</a:t>
            </a:r>
            <a:endParaRPr lang="en-US" sz="13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4016959" y="5686654"/>
            <a:ext cx="171907" cy="190195"/>
          </a:xfrm>
          <a:prstGeom prst="rect">
            <a:avLst/>
          </a:prstGeom>
        </p:spPr>
      </p:pic>
      <p:sp>
        <p:nvSpPr>
          <p:cNvPr id="27" name="Shape 15"/>
          <p:cNvSpPr/>
          <p:nvPr/>
        </p:nvSpPr>
        <p:spPr>
          <a:xfrm>
            <a:off x="0" y="0"/>
            <a:ext cx="12191695" cy="13331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16"/>
          <p:cNvSpPr/>
          <p:nvPr/>
        </p:nvSpPr>
        <p:spPr>
          <a:xfrm>
            <a:off x="0" y="13240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17"/>
          <p:cNvSpPr txBox="1"/>
          <p:nvPr/>
        </p:nvSpPr>
        <p:spPr>
          <a:xfrm>
            <a:off x="457200" y="152705"/>
            <a:ext cx="231800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30" name="Text 18"/>
          <p:cNvSpPr txBox="1"/>
          <p:nvPr/>
        </p:nvSpPr>
        <p:spPr>
          <a:xfrm>
            <a:off x="457200" y="457200"/>
            <a:ext cx="3439058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</a:t>
            </a:r>
            <a:r>
              <a:rPr lang="en-US" sz="18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とは？</a:t>
            </a:r>
            <a:endParaRPr lang="en-US" sz="4500" dirty="0"/>
          </a:p>
        </p:txBody>
      </p:sp>
      <p:sp>
        <p:nvSpPr>
          <p:cNvPr id="31" name="Shape 19"/>
          <p:cNvSpPr/>
          <p:nvPr/>
        </p:nvSpPr>
        <p:spPr>
          <a:xfrm>
            <a:off x="10669220" y="266700"/>
            <a:ext cx="152705" cy="152705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20"/>
          <p:cNvSpPr txBox="1"/>
          <p:nvPr/>
        </p:nvSpPr>
        <p:spPr>
          <a:xfrm>
            <a:off x="10935310" y="210007"/>
            <a:ext cx="8860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35" name="Shape 22"/>
          <p:cNvSpPr/>
          <p:nvPr/>
        </p:nvSpPr>
        <p:spPr>
          <a:xfrm>
            <a:off x="0" y="6248095"/>
            <a:ext cx="12191695" cy="609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23"/>
          <p:cNvSpPr/>
          <p:nvPr/>
        </p:nvSpPr>
        <p:spPr>
          <a:xfrm>
            <a:off x="0" y="624809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24"/>
          <p:cNvSpPr txBox="1"/>
          <p:nvPr/>
        </p:nvSpPr>
        <p:spPr>
          <a:xfrm>
            <a:off x="457200" y="6443777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38" name="Text 25"/>
          <p:cNvSpPr txBox="1"/>
          <p:nvPr/>
        </p:nvSpPr>
        <p:spPr>
          <a:xfrm>
            <a:off x="10490911" y="6443777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11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573DEEFF-2E18-F859-557D-46C5895E5E23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9" name="Shape 31">
              <a:extLst>
                <a:ext uri="{FF2B5EF4-FFF2-40B4-BE49-F238E27FC236}">
                  <a16:creationId xmlns:a16="http://schemas.microsoft.com/office/drawing/2014/main" id="{EB34D72B-3BD9-5C6D-172D-3C12236AFA7F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Text 21">
              <a:extLst>
                <a:ext uri="{FF2B5EF4-FFF2-40B4-BE49-F238E27FC236}">
                  <a16:creationId xmlns:a16="http://schemas.microsoft.com/office/drawing/2014/main" id="{60D4689B-59D1-541B-9719-C75A816A4F1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1" name="Image 2" descr="preencoded.png">
              <a:extLst>
                <a:ext uri="{FF2B5EF4-FFF2-40B4-BE49-F238E27FC236}">
                  <a16:creationId xmlns:a16="http://schemas.microsoft.com/office/drawing/2014/main" id="{91D0F47D-91FD-FF45-2771-9D7B634F6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067105"/>
            <a:ext cx="12191695" cy="52578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381305" y="1295705"/>
            <a:ext cx="3683203" cy="2305202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1524305"/>
            <a:ext cx="533095" cy="533095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rcRect l="-607" r="-607"/>
          <a:stretch/>
        </p:blipFill>
        <p:spPr>
          <a:xfrm>
            <a:off x="771754" y="1647749"/>
            <a:ext cx="362102" cy="286207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1371599" y="1524305"/>
            <a:ext cx="244671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みんなで気持ちよく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学ぶために</a:t>
            </a:r>
            <a:endParaRPr lang="en-US" sz="1600" dirty="0"/>
          </a:p>
        </p:txBody>
      </p:sp>
      <p:sp>
        <p:nvSpPr>
          <p:cNvPr id="11" name="Text 4"/>
          <p:cNvSpPr txBox="1"/>
          <p:nvPr/>
        </p:nvSpPr>
        <p:spPr>
          <a:xfrm>
            <a:off x="895197" y="254603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誹謗中傷・不適切な発言は</a:t>
            </a:r>
            <a:r>
              <a:rPr lang="en-US" sz="1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禁止</a:t>
            </a:r>
            <a:endParaRPr lang="en-US" sz="14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9904" y="2553004"/>
            <a:ext cx="209398" cy="209398"/>
          </a:xfrm>
          <a:prstGeom prst="rect">
            <a:avLst/>
          </a:prstGeom>
        </p:spPr>
      </p:pic>
      <p:sp>
        <p:nvSpPr>
          <p:cNvPr id="15" name="Text 6"/>
          <p:cNvSpPr txBox="1"/>
          <p:nvPr/>
        </p:nvSpPr>
        <p:spPr>
          <a:xfrm>
            <a:off x="902429" y="2999232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お互いを尊重し合いましょう</a:t>
            </a:r>
            <a:endParaRPr lang="en-US" sz="1400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17136" y="2956725"/>
            <a:ext cx="209398" cy="209398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7"/>
          <a:srcRect t="-1" b="-1"/>
          <a:stretch/>
        </p:blipFill>
        <p:spPr>
          <a:xfrm>
            <a:off x="4254703" y="1295705"/>
            <a:ext cx="3683203" cy="2305202"/>
          </a:xfrm>
          <a:prstGeom prst="rect">
            <a:avLst/>
          </a:prstGeom>
        </p:spPr>
      </p:pic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59198" y="1524305"/>
            <a:ext cx="533095" cy="533095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8"/>
          <a:srcRect l="-266" r="-266"/>
          <a:stretch/>
        </p:blipFill>
        <p:spPr>
          <a:xfrm>
            <a:off x="4664354" y="1647749"/>
            <a:ext cx="323698" cy="286207"/>
          </a:xfrm>
          <a:prstGeom prst="rect">
            <a:avLst/>
          </a:prstGeom>
        </p:spPr>
      </p:pic>
      <p:sp>
        <p:nvSpPr>
          <p:cNvPr id="20" name="Text 7"/>
          <p:cNvSpPr txBox="1"/>
          <p:nvPr/>
        </p:nvSpPr>
        <p:spPr>
          <a:xfrm>
            <a:off x="5274259" y="1673670"/>
            <a:ext cx="254081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講座の録画について</a:t>
            </a:r>
            <a:endParaRPr lang="en-US" sz="1600" dirty="0"/>
          </a:p>
        </p:txBody>
      </p:sp>
      <p:sp>
        <p:nvSpPr>
          <p:cNvPr id="21" name="Text 8"/>
          <p:cNvSpPr txBox="1"/>
          <p:nvPr/>
        </p:nvSpPr>
        <p:spPr>
          <a:xfrm>
            <a:off x="480060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</a:t>
            </a:r>
            <a:r>
              <a:rPr 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YouTube公開</a:t>
            </a:r>
            <a:r>
              <a:rPr lang="ja-JP" alt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予定</a:t>
            </a:r>
            <a:endParaRPr lang="en-US" sz="1400" dirty="0"/>
          </a:p>
        </p:txBody>
      </p:sp>
      <p:pic>
        <p:nvPicPr>
          <p:cNvPr id="22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459755" y="2316941"/>
            <a:ext cx="222199" cy="222199"/>
          </a:xfrm>
          <a:prstGeom prst="rect">
            <a:avLst/>
          </a:prstGeom>
        </p:spPr>
      </p:pic>
      <p:sp>
        <p:nvSpPr>
          <p:cNvPr id="23" name="Text 9"/>
          <p:cNvSpPr txBox="1"/>
          <p:nvPr/>
        </p:nvSpPr>
        <p:spPr>
          <a:xfrm>
            <a:off x="4799966" y="2759178"/>
            <a:ext cx="30961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表示名が映る場合があります</a:t>
            </a:r>
            <a:endParaRPr lang="en-US" sz="1400" dirty="0"/>
          </a:p>
        </p:txBody>
      </p:sp>
      <p:pic>
        <p:nvPicPr>
          <p:cNvPr id="24" name="Image 12" descr="preencoded.png"/>
          <p:cNvPicPr>
            <a:picLocks noChangeAspect="1"/>
          </p:cNvPicPr>
          <p:nvPr/>
        </p:nvPicPr>
        <p:blipFill>
          <a:blip r:embed="rId10"/>
          <a:srcRect l="-1507" r="-1507"/>
          <a:stretch/>
        </p:blipFill>
        <p:spPr>
          <a:xfrm>
            <a:off x="4444986" y="2768803"/>
            <a:ext cx="286120" cy="222199"/>
          </a:xfrm>
          <a:prstGeom prst="rect">
            <a:avLst/>
          </a:prstGeom>
        </p:spPr>
      </p:pic>
      <p:sp>
        <p:nvSpPr>
          <p:cNvPr id="25" name="Text 10"/>
          <p:cNvSpPr txBox="1"/>
          <p:nvPr/>
        </p:nvSpPr>
        <p:spPr>
          <a:xfrm>
            <a:off x="4794577" y="3183750"/>
            <a:ext cx="31153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匿名参加で非表示にできます</a:t>
            </a:r>
            <a:endParaRPr lang="en-US" sz="1400" dirty="0"/>
          </a:p>
        </p:txBody>
      </p:sp>
      <p:pic>
        <p:nvPicPr>
          <p:cNvPr id="26" name="Image 13" descr="preencoded.png"/>
          <p:cNvPicPr>
            <a:picLocks noChangeAspect="1"/>
          </p:cNvPicPr>
          <p:nvPr/>
        </p:nvPicPr>
        <p:blipFill>
          <a:blip r:embed="rId11"/>
          <a:srcRect l="-837" r="-837"/>
          <a:stretch/>
        </p:blipFill>
        <p:spPr>
          <a:xfrm>
            <a:off x="4467442" y="3183750"/>
            <a:ext cx="236379" cy="206654"/>
          </a:xfrm>
          <a:prstGeom prst="rect">
            <a:avLst/>
          </a:prstGeom>
        </p:spPr>
      </p:pic>
      <p:pic>
        <p:nvPicPr>
          <p:cNvPr id="27" name="Image 14" descr="preencoded.png"/>
          <p:cNvPicPr>
            <a:picLocks noChangeAspect="1"/>
          </p:cNvPicPr>
          <p:nvPr/>
        </p:nvPicPr>
        <p:blipFill>
          <a:blip r:embed="rId12"/>
          <a:srcRect l="-1" r="-1"/>
          <a:stretch/>
        </p:blipFill>
        <p:spPr>
          <a:xfrm>
            <a:off x="8128102" y="1295705"/>
            <a:ext cx="3683203" cy="2305202"/>
          </a:xfrm>
          <a:prstGeom prst="rect">
            <a:avLst/>
          </a:prstGeom>
        </p:spPr>
      </p:pic>
      <p:pic>
        <p:nvPicPr>
          <p:cNvPr id="28" name="Image 1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32597" y="1524305"/>
            <a:ext cx="533095" cy="533095"/>
          </a:xfrm>
          <a:prstGeom prst="rect">
            <a:avLst/>
          </a:prstGeom>
        </p:spPr>
      </p:pic>
      <p:pic>
        <p:nvPicPr>
          <p:cNvPr id="29" name="Image 16" descr="preencoded.png"/>
          <p:cNvPicPr>
            <a:picLocks noChangeAspect="1"/>
          </p:cNvPicPr>
          <p:nvPr/>
        </p:nvPicPr>
        <p:blipFill>
          <a:blip r:embed="rId13"/>
          <a:srcRect l="-607" r="-607"/>
          <a:stretch/>
        </p:blipFill>
        <p:spPr>
          <a:xfrm>
            <a:off x="8518550" y="1647749"/>
            <a:ext cx="362102" cy="286207"/>
          </a:xfrm>
          <a:prstGeom prst="rect">
            <a:avLst/>
          </a:prstGeom>
        </p:spPr>
      </p:pic>
      <p:sp>
        <p:nvSpPr>
          <p:cNvPr id="30" name="Text 11"/>
          <p:cNvSpPr txBox="1"/>
          <p:nvPr/>
        </p:nvSpPr>
        <p:spPr>
          <a:xfrm>
            <a:off x="9118396" y="1524305"/>
            <a:ext cx="217569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チャットは気軽に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どうぞ</a:t>
            </a:r>
            <a:endParaRPr lang="en-US" sz="1600" dirty="0"/>
          </a:p>
        </p:txBody>
      </p:sp>
      <p:sp>
        <p:nvSpPr>
          <p:cNvPr id="31" name="Text 12"/>
          <p:cNvSpPr txBox="1"/>
          <p:nvPr/>
        </p:nvSpPr>
        <p:spPr>
          <a:xfrm>
            <a:off x="863896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「できました！」の声など大歓迎</a:t>
            </a:r>
            <a:endParaRPr lang="en-US" sz="1400" dirty="0"/>
          </a:p>
        </p:txBody>
      </p:sp>
      <p:pic>
        <p:nvPicPr>
          <p:cNvPr id="32" name="Image 17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323811" y="2357209"/>
            <a:ext cx="242288" cy="242288"/>
          </a:xfrm>
          <a:prstGeom prst="rect">
            <a:avLst/>
          </a:prstGeom>
        </p:spPr>
      </p:pic>
      <p:sp>
        <p:nvSpPr>
          <p:cNvPr id="33" name="Text 13"/>
          <p:cNvSpPr txBox="1"/>
          <p:nvPr/>
        </p:nvSpPr>
        <p:spPr>
          <a:xfrm>
            <a:off x="8722752" y="2735885"/>
            <a:ext cx="31345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小さな質問でも</a:t>
            </a:r>
            <a:r>
              <a:rPr lang="en-US" sz="16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OK</a:t>
            </a: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です</a:t>
            </a:r>
            <a:endParaRPr lang="en-US" sz="1400" dirty="0"/>
          </a:p>
        </p:txBody>
      </p:sp>
      <p:pic>
        <p:nvPicPr>
          <p:cNvPr id="34" name="Image 18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323811" y="2748714"/>
            <a:ext cx="242288" cy="242288"/>
          </a:xfrm>
          <a:prstGeom prst="rect">
            <a:avLst/>
          </a:prstGeom>
        </p:spPr>
      </p:pic>
      <p:sp>
        <p:nvSpPr>
          <p:cNvPr id="35" name="Text 14"/>
          <p:cNvSpPr txBox="1"/>
          <p:nvPr/>
        </p:nvSpPr>
        <p:spPr>
          <a:xfrm>
            <a:off x="8641994" y="316199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反応があると講師も嬉しいです</a:t>
            </a:r>
            <a:endParaRPr lang="en-US" sz="1400" dirty="0"/>
          </a:p>
        </p:txBody>
      </p:sp>
      <p:pic>
        <p:nvPicPr>
          <p:cNvPr id="36" name="Image 19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343442" y="3148206"/>
            <a:ext cx="216712" cy="216712"/>
          </a:xfrm>
          <a:prstGeom prst="rect">
            <a:avLst/>
          </a:prstGeom>
        </p:spPr>
      </p:pic>
      <p:pic>
        <p:nvPicPr>
          <p:cNvPr id="37" name="Image 20" descr="preencoded.png"/>
          <p:cNvPicPr>
            <a:picLocks noChangeAspect="1"/>
          </p:cNvPicPr>
          <p:nvPr/>
        </p:nvPicPr>
        <p:blipFill>
          <a:blip r:embed="rId17"/>
          <a:srcRect t="-1" b="-1"/>
          <a:stretch/>
        </p:blipFill>
        <p:spPr>
          <a:xfrm>
            <a:off x="381305" y="3791102"/>
            <a:ext cx="5619902" cy="2305202"/>
          </a:xfrm>
          <a:prstGeom prst="rect">
            <a:avLst/>
          </a:prstGeom>
        </p:spPr>
      </p:pic>
      <p:pic>
        <p:nvPicPr>
          <p:cNvPr id="38" name="Image 21" descr="preencoded.png"/>
          <p:cNvPicPr>
            <a:picLocks noChangeAspect="1"/>
          </p:cNvPicPr>
          <p:nvPr/>
        </p:nvPicPr>
        <p:blipFill>
          <a:blip r:embed="rId18">
            <a:alphaModFix amt="10000"/>
          </a:blip>
          <a:srcRect/>
          <a:stretch/>
        </p:blipFill>
        <p:spPr>
          <a:xfrm>
            <a:off x="4914900" y="5009998"/>
            <a:ext cx="1218895" cy="1218895"/>
          </a:xfrm>
          <a:prstGeom prst="rect">
            <a:avLst/>
          </a:prstGeom>
        </p:spPr>
      </p:pic>
      <p:pic>
        <p:nvPicPr>
          <p:cNvPr id="39" name="Image 22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29107" y="4038905"/>
            <a:ext cx="609905" cy="609905"/>
          </a:xfrm>
          <a:prstGeom prst="rect">
            <a:avLst/>
          </a:prstGeom>
        </p:spPr>
      </p:pic>
      <p:pic>
        <p:nvPicPr>
          <p:cNvPr id="40" name="Image 23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790956" y="4200754"/>
            <a:ext cx="286207" cy="286207"/>
          </a:xfrm>
          <a:prstGeom prst="rect">
            <a:avLst/>
          </a:prstGeom>
        </p:spPr>
      </p:pic>
      <p:pic>
        <p:nvPicPr>
          <p:cNvPr id="41" name="Image 24" descr="preencoded.png"/>
          <p:cNvPicPr>
            <a:picLocks noChangeAspect="1"/>
          </p:cNvPicPr>
          <p:nvPr/>
        </p:nvPicPr>
        <p:blipFill>
          <a:blip r:embed="rId21"/>
          <a:srcRect t="-2" b="-2"/>
          <a:stretch/>
        </p:blipFill>
        <p:spPr>
          <a:xfrm>
            <a:off x="6191402" y="3791102"/>
            <a:ext cx="5619902" cy="2305202"/>
          </a:xfrm>
          <a:prstGeom prst="rect">
            <a:avLst/>
          </a:prstGeom>
        </p:spPr>
      </p:pic>
      <p:pic>
        <p:nvPicPr>
          <p:cNvPr id="42" name="Image 25" descr="preencoded.png"/>
          <p:cNvPicPr>
            <a:picLocks noChangeAspect="1"/>
          </p:cNvPicPr>
          <p:nvPr/>
        </p:nvPicPr>
        <p:blipFill>
          <a:blip r:embed="rId22">
            <a:alphaModFix amt="10000"/>
          </a:blip>
          <a:srcRect l="-23" r="-23"/>
          <a:stretch/>
        </p:blipFill>
        <p:spPr>
          <a:xfrm>
            <a:off x="10420502" y="5009998"/>
            <a:ext cx="1524305" cy="1218895"/>
          </a:xfrm>
          <a:prstGeom prst="rect">
            <a:avLst/>
          </a:prstGeom>
        </p:spPr>
      </p:pic>
      <p:pic>
        <p:nvPicPr>
          <p:cNvPr id="43" name="Image 26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439205" y="4038905"/>
            <a:ext cx="609905" cy="609905"/>
          </a:xfrm>
          <a:prstGeom prst="rect">
            <a:avLst/>
          </a:prstGeom>
        </p:spPr>
      </p:pic>
      <p:pic>
        <p:nvPicPr>
          <p:cNvPr id="44" name="Image 27" descr="preencoded.png"/>
          <p:cNvPicPr>
            <a:picLocks noChangeAspect="1"/>
          </p:cNvPicPr>
          <p:nvPr/>
        </p:nvPicPr>
        <p:blipFill>
          <a:blip r:embed="rId23"/>
          <a:srcRect t="-530" b="-530"/>
          <a:stretch/>
        </p:blipFill>
        <p:spPr>
          <a:xfrm>
            <a:off x="6619342" y="4200754"/>
            <a:ext cx="247802" cy="286207"/>
          </a:xfrm>
          <a:prstGeom prst="rect">
            <a:avLst/>
          </a:prstGeom>
        </p:spPr>
      </p:pic>
      <p:sp>
        <p:nvSpPr>
          <p:cNvPr id="45" name="Shape 15"/>
          <p:cNvSpPr/>
          <p:nvPr/>
        </p:nvSpPr>
        <p:spPr>
          <a:xfrm>
            <a:off x="1429207" y="4644238"/>
            <a:ext cx="4324198" cy="19202"/>
          </a:xfrm>
          <a:prstGeom prst="rect">
            <a:avLst/>
          </a:prstGeom>
          <a:solidFill>
            <a:srgbClr val="DDD6FE"/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16"/>
          <p:cNvSpPr txBox="1"/>
          <p:nvPr/>
        </p:nvSpPr>
        <p:spPr>
          <a:xfrm>
            <a:off x="1429207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C1D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アウトプットで学びが定着</a:t>
            </a:r>
            <a:endParaRPr lang="en-US" sz="2400" dirty="0"/>
          </a:p>
        </p:txBody>
      </p:sp>
      <p:sp>
        <p:nvSpPr>
          <p:cNvPr id="47" name="Text 17"/>
          <p:cNvSpPr txBox="1"/>
          <p:nvPr/>
        </p:nvSpPr>
        <p:spPr>
          <a:xfrm>
            <a:off x="1580997" y="4777740"/>
            <a:ext cx="421081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C1D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をつけて投稿しよう！</a:t>
            </a:r>
            <a:endParaRPr lang="en-US" sz="1600" dirty="0"/>
          </a:p>
        </p:txBody>
      </p:sp>
      <p:sp>
        <p:nvSpPr>
          <p:cNvPr id="48" name="Text 18"/>
          <p:cNvSpPr txBox="1"/>
          <p:nvPr/>
        </p:nvSpPr>
        <p:spPr>
          <a:xfrm>
            <a:off x="1580997" y="5183398"/>
            <a:ext cx="43251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「作ったフロー」「気づき」など何でもOK</a:t>
            </a:r>
            <a:endParaRPr lang="en-US" sz="1600" dirty="0"/>
          </a:p>
        </p:txBody>
      </p:sp>
      <p:sp>
        <p:nvSpPr>
          <p:cNvPr id="49" name="Text 19"/>
          <p:cNvSpPr txBox="1"/>
          <p:nvPr/>
        </p:nvSpPr>
        <p:spPr>
          <a:xfrm>
            <a:off x="1580997" y="5591735"/>
            <a:ext cx="42867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投稿は</a:t>
            </a:r>
            <a:r>
              <a:rPr lang="ja-JP" alt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運営</a:t>
            </a:r>
            <a:r>
              <a:rPr 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の励みになります</a:t>
            </a: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！</a:t>
            </a:r>
            <a:endParaRPr lang="en-US" sz="1600" dirty="0"/>
          </a:p>
        </p:txBody>
      </p:sp>
      <p:pic>
        <p:nvPicPr>
          <p:cNvPr id="50" name="Image 28" descr="preencoded.png"/>
          <p:cNvPicPr>
            <a:picLocks noChangeAspect="1"/>
          </p:cNvPicPr>
          <p:nvPr/>
        </p:nvPicPr>
        <p:blipFill>
          <a:blip r:embed="rId24"/>
          <a:srcRect l="-760" r="-760"/>
          <a:stretch/>
        </p:blipFill>
        <p:spPr>
          <a:xfrm>
            <a:off x="1179048" y="4768333"/>
            <a:ext cx="228601" cy="257347"/>
          </a:xfrm>
          <a:prstGeom prst="rect">
            <a:avLst/>
          </a:prstGeom>
        </p:spPr>
      </p:pic>
      <p:pic>
        <p:nvPicPr>
          <p:cNvPr id="51" name="Image 29" descr="preencoded.png"/>
          <p:cNvPicPr>
            <a:picLocks noChangeAspect="1"/>
          </p:cNvPicPr>
          <p:nvPr/>
        </p:nvPicPr>
        <p:blipFill>
          <a:blip r:embed="rId25"/>
          <a:srcRect t="-100" b="-100"/>
          <a:stretch/>
        </p:blipFill>
        <p:spPr>
          <a:xfrm>
            <a:off x="1179048" y="5181514"/>
            <a:ext cx="171108" cy="228601"/>
          </a:xfrm>
          <a:prstGeom prst="rect">
            <a:avLst/>
          </a:prstGeom>
        </p:spPr>
      </p:pic>
      <p:pic>
        <p:nvPicPr>
          <p:cNvPr id="52" name="Image 30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1179048" y="5589309"/>
            <a:ext cx="228601" cy="228601"/>
          </a:xfrm>
          <a:prstGeom prst="rect">
            <a:avLst/>
          </a:prstGeom>
        </p:spPr>
      </p:pic>
      <p:sp>
        <p:nvSpPr>
          <p:cNvPr id="53" name="Shape 20"/>
          <p:cNvSpPr/>
          <p:nvPr/>
        </p:nvSpPr>
        <p:spPr>
          <a:xfrm>
            <a:off x="7239305" y="4644238"/>
            <a:ext cx="4324198" cy="19202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21"/>
          <p:cNvSpPr txBox="1"/>
          <p:nvPr/>
        </p:nvSpPr>
        <p:spPr>
          <a:xfrm>
            <a:off x="7239305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初心者大歓迎の講座です</a:t>
            </a:r>
            <a:endParaRPr lang="en-US" sz="2400" dirty="0"/>
          </a:p>
        </p:txBody>
      </p:sp>
      <p:sp>
        <p:nvSpPr>
          <p:cNvPr id="55" name="Text 22"/>
          <p:cNvSpPr txBox="1"/>
          <p:nvPr/>
        </p:nvSpPr>
        <p:spPr>
          <a:xfrm>
            <a:off x="7487107" y="4777740"/>
            <a:ext cx="42675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難しい専門用語は使いません</a:t>
            </a:r>
            <a:endParaRPr lang="en-US" sz="1600" dirty="0"/>
          </a:p>
        </p:txBody>
      </p:sp>
      <p:sp>
        <p:nvSpPr>
          <p:cNvPr id="56" name="Text 23"/>
          <p:cNvSpPr txBox="1"/>
          <p:nvPr/>
        </p:nvSpPr>
        <p:spPr>
          <a:xfrm>
            <a:off x="7487107" y="5187602"/>
            <a:ext cx="4343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置いてけぼりにならないようゆっくり進行</a:t>
            </a:r>
            <a:endParaRPr lang="en-US" sz="1600" dirty="0"/>
          </a:p>
        </p:txBody>
      </p:sp>
      <p:sp>
        <p:nvSpPr>
          <p:cNvPr id="57" name="Text 24"/>
          <p:cNvSpPr txBox="1"/>
          <p:nvPr/>
        </p:nvSpPr>
        <p:spPr>
          <a:xfrm>
            <a:off x="7487107" y="5569117"/>
            <a:ext cx="42108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</a:t>
            </a:r>
            <a:r>
              <a:rPr lang="en-US" sz="160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してご参加ください</a:t>
            </a:r>
            <a:endParaRPr lang="en-US" sz="1600" dirty="0"/>
          </a:p>
        </p:txBody>
      </p:sp>
      <p:pic>
        <p:nvPicPr>
          <p:cNvPr id="58" name="Image 31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 rot="21065181">
            <a:off x="7152519" y="4767307"/>
            <a:ext cx="258514" cy="258514"/>
          </a:xfrm>
          <a:prstGeom prst="rect">
            <a:avLst/>
          </a:prstGeom>
        </p:spPr>
      </p:pic>
      <p:pic>
        <p:nvPicPr>
          <p:cNvPr id="59" name="Image 32" descr="preencoded.png"/>
          <p:cNvPicPr>
            <a:picLocks noChangeAspect="1"/>
          </p:cNvPicPr>
          <p:nvPr/>
        </p:nvPicPr>
        <p:blipFill>
          <a:blip r:embed="rId28"/>
          <a:srcRect t="-180" b="-180"/>
          <a:stretch/>
        </p:blipFill>
        <p:spPr>
          <a:xfrm rot="21065181">
            <a:off x="7150980" y="5180425"/>
            <a:ext cx="143009" cy="229638"/>
          </a:xfrm>
          <a:prstGeom prst="rect">
            <a:avLst/>
          </a:prstGeom>
        </p:spPr>
      </p:pic>
      <p:pic>
        <p:nvPicPr>
          <p:cNvPr id="60" name="Image 33" descr="preencoded.png"/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 rot="21065181">
            <a:off x="7150457" y="5564667"/>
            <a:ext cx="229638" cy="229638"/>
          </a:xfrm>
          <a:prstGeom prst="rect">
            <a:avLst/>
          </a:prstGeom>
        </p:spPr>
      </p:pic>
      <p:sp>
        <p:nvSpPr>
          <p:cNvPr id="61" name="Shape 25"/>
          <p:cNvSpPr/>
          <p:nvPr/>
        </p:nvSpPr>
        <p:spPr>
          <a:xfrm>
            <a:off x="0" y="0"/>
            <a:ext cx="12191695" cy="10671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2" name="Shape 26"/>
          <p:cNvSpPr/>
          <p:nvPr/>
        </p:nvSpPr>
        <p:spPr>
          <a:xfrm>
            <a:off x="0" y="105796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Text 27"/>
          <p:cNvSpPr txBox="1"/>
          <p:nvPr/>
        </p:nvSpPr>
        <p:spPr>
          <a:xfrm>
            <a:off x="381305" y="-9144"/>
            <a:ext cx="53913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35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 Online Course</a:t>
            </a:r>
            <a:endParaRPr lang="en-US" sz="1300" dirty="0"/>
          </a:p>
        </p:txBody>
      </p:sp>
      <p:sp>
        <p:nvSpPr>
          <p:cNvPr id="64" name="Text 28"/>
          <p:cNvSpPr txBox="1"/>
          <p:nvPr/>
        </p:nvSpPr>
        <p:spPr>
          <a:xfrm>
            <a:off x="344647" y="385241"/>
            <a:ext cx="756529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ご参加にあたっての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お願い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（ルール）</a:t>
            </a:r>
            <a:endParaRPr lang="en-US" sz="3600" dirty="0"/>
          </a:p>
        </p:txBody>
      </p:sp>
      <p:sp>
        <p:nvSpPr>
          <p:cNvPr id="65" name="Shape 29"/>
          <p:cNvSpPr/>
          <p:nvPr/>
        </p:nvSpPr>
        <p:spPr>
          <a:xfrm>
            <a:off x="10477195" y="295351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Text 30"/>
          <p:cNvSpPr txBox="1"/>
          <p:nvPr/>
        </p:nvSpPr>
        <p:spPr>
          <a:xfrm>
            <a:off x="10667390" y="219456"/>
            <a:ext cx="12289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Guidelines</a:t>
            </a:r>
            <a:endParaRPr lang="en-US" sz="1500" dirty="0"/>
          </a:p>
        </p:txBody>
      </p:sp>
      <p:sp>
        <p:nvSpPr>
          <p:cNvPr id="70" name="Shape 33"/>
          <p:cNvSpPr/>
          <p:nvPr/>
        </p:nvSpPr>
        <p:spPr>
          <a:xfrm>
            <a:off x="0" y="6324905"/>
            <a:ext cx="12191695" cy="5330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1" name="Shape 34"/>
          <p:cNvSpPr/>
          <p:nvPr/>
        </p:nvSpPr>
        <p:spPr>
          <a:xfrm>
            <a:off x="0" y="632490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2" name="Text 35"/>
          <p:cNvSpPr txBox="1"/>
          <p:nvPr/>
        </p:nvSpPr>
        <p:spPr>
          <a:xfrm>
            <a:off x="381305" y="6500470"/>
            <a:ext cx="23015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73" name="Text 36"/>
          <p:cNvSpPr txBox="1"/>
          <p:nvPr/>
        </p:nvSpPr>
        <p:spPr>
          <a:xfrm>
            <a:off x="10696651" y="6500470"/>
            <a:ext cx="13249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74" name="Image 35" descr="preencoded.png"/>
          <p:cNvPicPr>
            <a:picLocks noChangeAspect="1"/>
          </p:cNvPicPr>
          <p:nvPr/>
        </p:nvPicPr>
        <p:blipFill>
          <a:blip r:embed="rId30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81" name="グループ化 80">
            <a:extLst>
              <a:ext uri="{FF2B5EF4-FFF2-40B4-BE49-F238E27FC236}">
                <a16:creationId xmlns:a16="http://schemas.microsoft.com/office/drawing/2014/main" id="{8E4ED06A-AC89-9A5E-A038-C0DE0C4BEAAA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82" name="Shape 31">
              <a:extLst>
                <a:ext uri="{FF2B5EF4-FFF2-40B4-BE49-F238E27FC236}">
                  <a16:creationId xmlns:a16="http://schemas.microsoft.com/office/drawing/2014/main" id="{816E518C-775F-CF5E-F78F-7DC8A323C86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3" name="Text 21">
              <a:extLst>
                <a:ext uri="{FF2B5EF4-FFF2-40B4-BE49-F238E27FC236}">
                  <a16:creationId xmlns:a16="http://schemas.microsoft.com/office/drawing/2014/main" id="{C48EAE25-B3A2-44BF-FDA3-59AEEDA2C26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84" name="Image 2" descr="preencoded.png">
              <a:extLst>
                <a:ext uri="{FF2B5EF4-FFF2-40B4-BE49-F238E27FC236}">
                  <a16:creationId xmlns:a16="http://schemas.microsoft.com/office/drawing/2014/main" id="{23CC5DF4-18BE-DCF5-C8FA-FBF931AFD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10798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8191195" y="-1143000"/>
            <a:ext cx="4762195" cy="4762195"/>
          </a:xfrm>
          <a:prstGeom prst="ellipse">
            <a:avLst/>
          </a:prstGeom>
          <a:solidFill>
            <a:srgbClr val="0078D4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-761695" y="2762402"/>
            <a:ext cx="3333902" cy="3333902"/>
          </a:xfrm>
          <a:prstGeom prst="ellipse">
            <a:avLst/>
          </a:prstGeom>
          <a:solidFill>
            <a:srgbClr val="0078D4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 rot="900000">
            <a:off x="10477195" y="1904695"/>
            <a:ext cx="1143000" cy="1143000"/>
          </a:xfrm>
          <a:prstGeom prst="roundRect">
            <a:avLst>
              <a:gd name="adj" fmla="val 32000"/>
            </a:avLst>
          </a:prstGeom>
          <a:solidFill>
            <a:srgbClr val="0078D4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418795"/>
            <a:ext cx="609905" cy="609905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4205" y="571500"/>
            <a:ext cx="304495" cy="3044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52398" y="381305"/>
            <a:ext cx="50959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Power Automate 45 </a:t>
            </a:r>
            <a:r>
              <a:rPr lang="en-US" sz="2700" b="1" kern="0" spc="-67" dirty="0">
                <a:solidFill>
                  <a:srgbClr val="2563E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(PA45)</a:t>
            </a:r>
            <a:endParaRPr lang="en-US" sz="2700" dirty="0"/>
          </a:p>
        </p:txBody>
      </p:sp>
      <p:sp>
        <p:nvSpPr>
          <p:cNvPr id="10" name="Text 6"/>
          <p:cNvSpPr txBox="1"/>
          <p:nvPr/>
        </p:nvSpPr>
        <p:spPr>
          <a:xfrm>
            <a:off x="1353241" y="837923"/>
            <a:ext cx="47722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45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今日も一緒に “1粒だけ” 深掘りします！</a:t>
            </a:r>
            <a:endParaRPr lang="en-US" sz="18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401" b="-401"/>
          <a:stretch/>
        </p:blipFill>
        <p:spPr>
          <a:xfrm>
            <a:off x="571500" y="1295705"/>
            <a:ext cx="11048695" cy="57607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571500" y="1295705"/>
            <a:ext cx="1828800" cy="57607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467612" y="1638605"/>
            <a:ext cx="1904695" cy="1904695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8"/>
          <a:srcRect t="-187" b="-187"/>
          <a:stretch/>
        </p:blipFill>
        <p:spPr>
          <a:xfrm>
            <a:off x="571500" y="3737631"/>
            <a:ext cx="3705149" cy="743407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531266" y="3733495"/>
            <a:ext cx="3785616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ja-JP" sz="3600" b="1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Haru</a:t>
            </a:r>
            <a:r>
              <a:rPr lang="en-US" sz="1600" b="1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17" name="Text 8"/>
          <p:cNvSpPr txBox="1"/>
          <p:nvPr/>
        </p:nvSpPr>
        <p:spPr>
          <a:xfrm>
            <a:off x="914400" y="4663440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Platform / DX 推進</a:t>
            </a:r>
            <a:endParaRPr lang="en-US" sz="160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9"/>
          <a:srcRect l="-15989" r="-15989"/>
          <a:stretch/>
        </p:blipFill>
        <p:spPr>
          <a:xfrm>
            <a:off x="647395" y="4663440"/>
            <a:ext cx="267005" cy="161849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914400" y="4999025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1" name="Text 10"/>
          <p:cNvSpPr txBox="1"/>
          <p:nvPr/>
        </p:nvSpPr>
        <p:spPr>
          <a:xfrm>
            <a:off x="914400" y="5333695"/>
            <a:ext cx="35533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社内外のコミュニティ運営</a:t>
            </a:r>
            <a:endParaRPr lang="en-US" sz="1600" dirty="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0"/>
          <a:srcRect l="-15989" r="-15989"/>
          <a:stretch/>
        </p:blipFill>
        <p:spPr>
          <a:xfrm>
            <a:off x="647395" y="5333695"/>
            <a:ext cx="267005" cy="161849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1028700" y="5669280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・社内</a:t>
            </a:r>
            <a:r>
              <a:rPr lang="en-US" altLang="ja-JP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PowerPlatform</a:t>
            </a: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コミュニティ</a:t>
            </a:r>
            <a:endParaRPr lang="en-US" sz="1600" dirty="0"/>
          </a:p>
        </p:txBody>
      </p:sp>
      <p:sp>
        <p:nvSpPr>
          <p:cNvPr id="24" name="Text 12"/>
          <p:cNvSpPr txBox="1"/>
          <p:nvPr/>
        </p:nvSpPr>
        <p:spPr>
          <a:xfrm>
            <a:off x="1028700" y="6004865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・広島コミュニティ </a:t>
            </a: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PLUG </a:t>
            </a:r>
            <a:r>
              <a:rPr lang="ja-JP" alt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運営</a:t>
            </a:r>
            <a:endParaRPr lang="en-US" sz="1600" dirty="0"/>
          </a:p>
        </p:txBody>
      </p:sp>
      <p:sp>
        <p:nvSpPr>
          <p:cNvPr id="25" name="Shape 13"/>
          <p:cNvSpPr/>
          <p:nvPr/>
        </p:nvSpPr>
        <p:spPr>
          <a:xfrm>
            <a:off x="647395" y="6358738"/>
            <a:ext cx="3629254" cy="418795"/>
          </a:xfrm>
          <a:prstGeom prst="roundRect">
            <a:avLst>
              <a:gd name="adj" fmla="val 7939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14"/>
          <p:cNvSpPr txBox="1"/>
          <p:nvPr/>
        </p:nvSpPr>
        <p:spPr>
          <a:xfrm>
            <a:off x="999439" y="6358738"/>
            <a:ext cx="3354019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初心者支援が専門</a:t>
            </a:r>
            <a:endParaRPr lang="en-US" sz="160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11"/>
          <a:srcRect l="-32486" r="-32486"/>
          <a:stretch/>
        </p:blipFill>
        <p:spPr>
          <a:xfrm>
            <a:off x="733349" y="6444691"/>
            <a:ext cx="267005" cy="161849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5336438" y="1870862"/>
            <a:ext cx="6477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40A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 主な活動・実績 </a:t>
            </a:r>
            <a:endParaRPr lang="en-US" sz="1800" dirty="0"/>
          </a:p>
        </p:txBody>
      </p:sp>
      <p:sp>
        <p:nvSpPr>
          <p:cNvPr id="29" name="Shape 16"/>
          <p:cNvSpPr/>
          <p:nvPr/>
        </p:nvSpPr>
        <p:spPr>
          <a:xfrm>
            <a:off x="4898441" y="23664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17"/>
          <p:cNvSpPr/>
          <p:nvPr/>
        </p:nvSpPr>
        <p:spPr>
          <a:xfrm>
            <a:off x="4898441" y="23664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8"/>
          <p:cNvSpPr txBox="1"/>
          <p:nvPr/>
        </p:nvSpPr>
        <p:spPr>
          <a:xfrm>
            <a:off x="5450738" y="2509114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社内講座の実施</a:t>
            </a:r>
            <a:endParaRPr lang="en-US" sz="160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2"/>
          <a:srcRect l="-38653" r="-38653"/>
          <a:stretch/>
        </p:blipFill>
        <p:spPr>
          <a:xfrm>
            <a:off x="4816719" y="2388501"/>
            <a:ext cx="558124" cy="419709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5146243" y="2813609"/>
            <a:ext cx="63916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PA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／Copilot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　ハンズオン講座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などを開催し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、社内の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DXを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推進</a:t>
            </a:r>
            <a:endParaRPr lang="en-US" sz="1600" dirty="0"/>
          </a:p>
        </p:txBody>
      </p:sp>
      <p:sp>
        <p:nvSpPr>
          <p:cNvPr id="34" name="Shape 20"/>
          <p:cNvSpPr/>
          <p:nvPr/>
        </p:nvSpPr>
        <p:spPr>
          <a:xfrm>
            <a:off x="4898441" y="3375965"/>
            <a:ext cx="6724498" cy="819302"/>
          </a:xfrm>
          <a:prstGeom prst="roundRect">
            <a:avLst>
              <a:gd name="adj" fmla="val 31146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21"/>
          <p:cNvSpPr/>
          <p:nvPr/>
        </p:nvSpPr>
        <p:spPr>
          <a:xfrm>
            <a:off x="4898441" y="3375965"/>
            <a:ext cx="57607" cy="819302"/>
          </a:xfrm>
          <a:prstGeom prst="roundRect">
            <a:avLst>
              <a:gd name="adj" fmla="val 442969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22"/>
          <p:cNvSpPr txBox="1"/>
          <p:nvPr/>
        </p:nvSpPr>
        <p:spPr>
          <a:xfrm>
            <a:off x="5450738" y="3518611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外部コミュニティ登壇</a:t>
            </a:r>
            <a:endParaRPr lang="en-US" sz="1600" dirty="0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13"/>
          <a:srcRect l="-38653" r="-38653"/>
          <a:stretch/>
        </p:blipFill>
        <p:spPr>
          <a:xfrm>
            <a:off x="4827643" y="3423078"/>
            <a:ext cx="558124" cy="419709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5152644" y="3880735"/>
            <a:ext cx="6467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広島コミュニティ「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PLUG」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運営。外部コミュニティ登壇</a:t>
            </a:r>
            <a:endParaRPr lang="en-US" sz="1600" dirty="0"/>
          </a:p>
        </p:txBody>
      </p:sp>
      <p:sp>
        <p:nvSpPr>
          <p:cNvPr id="39" name="Shape 24"/>
          <p:cNvSpPr/>
          <p:nvPr/>
        </p:nvSpPr>
        <p:spPr>
          <a:xfrm>
            <a:off x="4898441" y="4327855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5"/>
          <p:cNvSpPr/>
          <p:nvPr/>
        </p:nvSpPr>
        <p:spPr>
          <a:xfrm>
            <a:off x="4898441" y="4327855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6"/>
          <p:cNvSpPr txBox="1"/>
          <p:nvPr/>
        </p:nvSpPr>
        <p:spPr>
          <a:xfrm>
            <a:off x="5450738" y="4471416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X (Twitter) での情報発信</a:t>
            </a:r>
            <a:endParaRPr lang="en-US" sz="1600" dirty="0"/>
          </a:p>
        </p:txBody>
      </p:sp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14"/>
          <a:srcRect l="-16489" r="-16489"/>
          <a:stretch/>
        </p:blipFill>
        <p:spPr>
          <a:xfrm>
            <a:off x="4848148" y="4405580"/>
            <a:ext cx="558124" cy="419709"/>
          </a:xfrm>
          <a:prstGeom prst="rect">
            <a:avLst/>
          </a:prstGeom>
        </p:spPr>
      </p:pic>
      <p:sp>
        <p:nvSpPr>
          <p:cNvPr id="43" name="Text 27"/>
          <p:cNvSpPr txBox="1"/>
          <p:nvPr/>
        </p:nvSpPr>
        <p:spPr>
          <a:xfrm>
            <a:off x="5146243" y="4775911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初心者向けPAチップスを</a:t>
            </a:r>
            <a:r>
              <a:rPr lang="en-US" b="1" dirty="0">
                <a:solidFill>
                  <a:srgbClr val="0078D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2日に1回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継続発信中！</a:t>
            </a:r>
            <a:endParaRPr lang="en-US" sz="1600" dirty="0"/>
          </a:p>
        </p:txBody>
      </p:sp>
      <p:sp>
        <p:nvSpPr>
          <p:cNvPr id="44" name="Shape 28"/>
          <p:cNvSpPr/>
          <p:nvPr/>
        </p:nvSpPr>
        <p:spPr>
          <a:xfrm>
            <a:off x="4898441" y="53382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29"/>
          <p:cNvSpPr/>
          <p:nvPr/>
        </p:nvSpPr>
        <p:spPr>
          <a:xfrm>
            <a:off x="4898441" y="53382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30"/>
          <p:cNvSpPr txBox="1"/>
          <p:nvPr/>
        </p:nvSpPr>
        <p:spPr>
          <a:xfrm>
            <a:off x="5450738" y="5480914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45 (PA45)</a:t>
            </a:r>
            <a:endParaRPr lang="en-US" sz="1600" dirty="0"/>
          </a:p>
        </p:txBody>
      </p:sp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15"/>
          <a:srcRect l="-16489" r="-16489"/>
          <a:stretch/>
        </p:blipFill>
        <p:spPr>
          <a:xfrm>
            <a:off x="5146243" y="5528462"/>
            <a:ext cx="228600" cy="171907"/>
          </a:xfrm>
          <a:prstGeom prst="rect">
            <a:avLst/>
          </a:prstGeom>
        </p:spPr>
      </p:pic>
      <p:sp>
        <p:nvSpPr>
          <p:cNvPr id="48" name="Text 31"/>
          <p:cNvSpPr txBox="1"/>
          <p:nvPr/>
        </p:nvSpPr>
        <p:spPr>
          <a:xfrm>
            <a:off x="5146243" y="5785409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45分の</a:t>
            </a:r>
            <a:r>
              <a:rPr lang="en-US" b="1" dirty="0">
                <a:solidFill>
                  <a:srgbClr val="0078D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“1粒ハンズオン”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を毎週開催・運営</a:t>
            </a:r>
            <a:endParaRPr lang="en-US" sz="1600" dirty="0"/>
          </a:p>
        </p:txBody>
      </p:sp>
      <p:pic>
        <p:nvPicPr>
          <p:cNvPr id="50" name="Image 15" descr="preencoded.png"/>
          <p:cNvPicPr>
            <a:picLocks noChangeAspect="1"/>
          </p:cNvPicPr>
          <p:nvPr/>
        </p:nvPicPr>
        <p:blipFill>
          <a:blip r:embed="rId16"/>
          <a:srcRect l="-266" r="-266"/>
          <a:stretch/>
        </p:blipFill>
        <p:spPr>
          <a:xfrm>
            <a:off x="4898441" y="1880006"/>
            <a:ext cx="323698" cy="286207"/>
          </a:xfrm>
          <a:prstGeom prst="rect">
            <a:avLst/>
          </a:prstGeom>
        </p:spPr>
      </p:pic>
      <p:pic>
        <p:nvPicPr>
          <p:cNvPr id="51" name="Image 16" descr="preencoded.png"/>
          <p:cNvPicPr>
            <a:picLocks noChangeAspect="1"/>
          </p:cNvPicPr>
          <p:nvPr/>
        </p:nvPicPr>
        <p:blipFill>
          <a:blip r:embed="rId17"/>
          <a:srcRect l="-3" r="-3"/>
          <a:stretch/>
        </p:blipFill>
        <p:spPr>
          <a:xfrm>
            <a:off x="5222139" y="6318921"/>
            <a:ext cx="5617657" cy="386820"/>
          </a:xfrm>
          <a:prstGeom prst="rect">
            <a:avLst/>
          </a:prstGeom>
        </p:spPr>
      </p:pic>
      <p:sp>
        <p:nvSpPr>
          <p:cNvPr id="52" name="Text 33"/>
          <p:cNvSpPr txBox="1"/>
          <p:nvPr/>
        </p:nvSpPr>
        <p:spPr>
          <a:xfrm>
            <a:off x="5696197" y="6341920"/>
            <a:ext cx="8332013" cy="350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96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今日は「できた！」を一緒に作っていきましょう😊</a:t>
            </a:r>
            <a:endParaRPr lang="en-US" sz="1600" dirty="0"/>
          </a:p>
        </p:txBody>
      </p:sp>
      <p:pic>
        <p:nvPicPr>
          <p:cNvPr id="53" name="Image 17" descr="preencoded.png"/>
          <p:cNvPicPr>
            <a:picLocks noChangeAspect="1"/>
          </p:cNvPicPr>
          <p:nvPr/>
        </p:nvPicPr>
        <p:blipFill>
          <a:blip r:embed="rId18"/>
          <a:srcRect l="-1845" r="-1845"/>
          <a:stretch/>
        </p:blipFill>
        <p:spPr>
          <a:xfrm>
            <a:off x="5260028" y="6393142"/>
            <a:ext cx="256946" cy="233291"/>
          </a:xfrm>
          <a:prstGeom prst="rect">
            <a:avLst/>
          </a:prstGeom>
        </p:spPr>
      </p:pic>
      <p:pic>
        <p:nvPicPr>
          <p:cNvPr id="55" name="図 54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47F0CBEE-0475-F1DC-9373-7429D3A7B53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586" b="98438" l="4590" r="98438">
                        <a14:foregroundMark x1="63379" y1="18848" x2="53516" y2="16699"/>
                        <a14:foregroundMark x1="53516" y1="16699" x2="37793" y2="18262"/>
                        <a14:foregroundMark x1="37793" y1="18262" x2="29590" y2="31348"/>
                        <a14:foregroundMark x1="29590" y1="31348" x2="26563" y2="66797"/>
                        <a14:foregroundMark x1="26563" y1="66797" x2="29004" y2="75684"/>
                        <a14:foregroundMark x1="21387" y1="77246" x2="16895" y2="64160"/>
                        <a14:foregroundMark x1="16895" y1="64160" x2="19434" y2="36621"/>
                        <a14:foregroundMark x1="19434" y1="36621" x2="30957" y2="15234"/>
                        <a14:foregroundMark x1="30957" y1="15234" x2="44434" y2="6055"/>
                        <a14:foregroundMark x1="44434" y1="6055" x2="60449" y2="5566"/>
                        <a14:foregroundMark x1="60449" y1="5566" x2="67090" y2="7715"/>
                        <a14:foregroundMark x1="60547" y1="29004" x2="60547" y2="29004"/>
                        <a14:foregroundMark x1="59082" y1="29004" x2="59082" y2="29004"/>
                        <a14:foregroundMark x1="62891" y1="28320" x2="62891" y2="28320"/>
                        <a14:foregroundMark x1="62891" y1="28320" x2="58691" y2="27832"/>
                        <a14:foregroundMark x1="22754" y1="34570" x2="21094" y2="48730"/>
                        <a14:foregroundMark x1="21094" y1="48730" x2="12109" y2="65820"/>
                        <a14:foregroundMark x1="12109" y1="65820" x2="9570" y2="40527"/>
                        <a14:foregroundMark x1="9570" y1="40527" x2="26563" y2="20605"/>
                        <a14:foregroundMark x1="26563" y1="20605" x2="37793" y2="81934"/>
                        <a14:foregroundMark x1="37793" y1="81934" x2="49023" y2="91113"/>
                        <a14:foregroundMark x1="49023" y1="91113" x2="70605" y2="93750"/>
                        <a14:foregroundMark x1="70605" y1="93750" x2="84277" y2="80078"/>
                        <a14:foregroundMark x1="84277" y1="80078" x2="91211" y2="39063"/>
                        <a14:foregroundMark x1="95215" y1="39453" x2="97266" y2="48926"/>
                        <a14:foregroundMark x1="97266" y1="48926" x2="94824" y2="61914"/>
                        <a14:foregroundMark x1="94824" y1="61914" x2="89648" y2="70313"/>
                        <a14:foregroundMark x1="98535" y1="54883" x2="98535" y2="54883"/>
                        <a14:foregroundMark x1="40820" y1="5273" x2="40820" y2="5273"/>
                        <a14:foregroundMark x1="47949" y1="1660" x2="47949" y2="1660"/>
                        <a14:foregroundMark x1="19238" y1="17188" x2="13867" y2="27148"/>
                        <a14:foregroundMark x1="13867" y1="27148" x2="8984" y2="50098"/>
                        <a14:foregroundMark x1="8984" y1="50098" x2="11230" y2="66602"/>
                        <a14:foregroundMark x1="8594" y1="68164" x2="8594" y2="68164"/>
                        <a14:foregroundMark x1="8594" y1="68164" x2="8594" y2="68164"/>
                        <a14:foregroundMark x1="32520" y1="34375" x2="36914" y2="48145"/>
                        <a14:foregroundMark x1="36914" y1="48145" x2="41113" y2="54590"/>
                        <a14:foregroundMark x1="41113" y1="54590" x2="40234" y2="46973"/>
                        <a14:foregroundMark x1="40234" y1="46973" x2="44531" y2="62695"/>
                        <a14:foregroundMark x1="44531" y1="62695" x2="44531" y2="63379"/>
                        <a14:foregroundMark x1="62207" y1="26465" x2="62207" y2="26465"/>
                        <a14:foregroundMark x1="64160" y1="26270" x2="64160" y2="26270"/>
                        <a14:foregroundMark x1="62109" y1="25195" x2="62109" y2="25195"/>
                        <a14:foregroundMark x1="47656" y1="586" x2="47656" y2="586"/>
                        <a14:foregroundMark x1="14746" y1="20117" x2="3027" y2="66309"/>
                        <a14:foregroundMark x1="3027" y1="66309" x2="13770" y2="79199"/>
                        <a14:foregroundMark x1="13770" y1="79199" x2="36719" y2="98535"/>
                        <a14:foregroundMark x1="40430" y1="90820" x2="40430" y2="90820"/>
                        <a14:foregroundMark x1="4590" y1="44922" x2="4590" y2="44922"/>
                        <a14:foregroundMark x1="92480" y1="58301" x2="92480" y2="58301"/>
                        <a14:foregroundMark x1="92480" y1="58301" x2="90918" y2="63770"/>
                        <a14:foregroundMark x1="91309" y1="57129" x2="91309" y2="57129"/>
                        <a14:foregroundMark x1="94727" y1="54785" x2="93945" y2="53320"/>
                        <a14:foregroundMark x1="83203" y1="84277" x2="87012" y2="80371"/>
                        <a14:foregroundMark x1="87012" y1="82031" x2="87012" y2="82031"/>
                        <a14:foregroundMark x1="84180" y1="85156" x2="84180" y2="85156"/>
                        <a14:foregroundMark x1="85840" y1="83301" x2="85840" y2="83301"/>
                        <a14:foregroundMark x1="85254" y1="86133" x2="85254" y2="86133"/>
                        <a14:foregroundMark x1="86426" y1="84570" x2="86426" y2="84570"/>
                        <a14:foregroundMark x1="86133" y1="83789" x2="86133" y2="8378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62523" y="1470548"/>
            <a:ext cx="2208540" cy="22085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PA45｜第6回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今日やること</a:t>
            </a:r>
            <a:r>
              <a:rPr lang="en-US" sz="27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（3つだけ）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Agenda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457200" y="2093976"/>
            <a:ext cx="3606394" cy="369783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835554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rcRect l="-9464" r="-9464"/>
          <a:stretch/>
        </p:blipFill>
        <p:spPr>
          <a:xfrm>
            <a:off x="2618842" y="2199132"/>
            <a:ext cx="1419149" cy="1591056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rcRect t="-3" b="-3"/>
          <a:stretch/>
        </p:blipFill>
        <p:spPr>
          <a:xfrm>
            <a:off x="4292194" y="2093976"/>
            <a:ext cx="3606394" cy="3697834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670548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>
            <a:alphaModFix amt="20000"/>
          </a:blip>
          <a:srcRect t="-3661" b="-3661"/>
          <a:stretch/>
        </p:blipFill>
        <p:spPr>
          <a:xfrm>
            <a:off x="6010351" y="2154326"/>
            <a:ext cx="1867205" cy="1781251"/>
          </a:xfrm>
          <a:prstGeom prst="rect">
            <a:avLst/>
          </a:prstGeom>
        </p:spPr>
      </p:pic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8128102" y="2093976"/>
            <a:ext cx="3606394" cy="3697834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10505542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7">
            <a:alphaModFix amt="20000"/>
          </a:blip>
          <a:srcRect/>
          <a:stretch/>
        </p:blipFill>
        <p:spPr>
          <a:xfrm>
            <a:off x="10163556" y="2237537"/>
            <a:ext cx="1476756" cy="1476756"/>
          </a:xfrm>
          <a:prstGeom prst="rect">
            <a:avLst/>
          </a:prstGeom>
        </p:spPr>
      </p:pic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8"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955902" y="2380183"/>
            <a:ext cx="609905" cy="609905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1927555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14"/>
          <p:cNvSpPr txBox="1"/>
          <p:nvPr/>
        </p:nvSpPr>
        <p:spPr>
          <a:xfrm>
            <a:off x="901005" y="3931919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Microsoft Formsのトリガーを理解する</a:t>
            </a:r>
            <a:endParaRPr lang="en-US" sz="1400" dirty="0"/>
          </a:p>
        </p:txBody>
      </p:sp>
      <p:sp>
        <p:nvSpPr>
          <p:cNvPr id="27" name="Text 15"/>
          <p:cNvSpPr txBox="1"/>
          <p:nvPr/>
        </p:nvSpPr>
        <p:spPr>
          <a:xfrm>
            <a:off x="1372056" y="4374207"/>
            <a:ext cx="2349095" cy="1320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トリガーの仕組みを</a:t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「回答が届いたとき」から</a:t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スタートします。</a:t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975104" y="3213202"/>
            <a:ext cx="571500" cy="571500"/>
          </a:xfrm>
          <a:prstGeom prst="rect">
            <a:avLst/>
          </a:prstGeom>
        </p:spPr>
      </p:pic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790895" y="2380183"/>
            <a:ext cx="609905" cy="609905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5762549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2200" dirty="0"/>
          </a:p>
        </p:txBody>
      </p:sp>
      <p:sp>
        <p:nvSpPr>
          <p:cNvPr id="31" name="Text 17"/>
          <p:cNvSpPr txBox="1"/>
          <p:nvPr/>
        </p:nvSpPr>
        <p:spPr>
          <a:xfrm>
            <a:off x="4663706" y="393740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Composeで動的なメール本文を組み立てる</a:t>
            </a:r>
            <a:endParaRPr lang="en-US" sz="1400" dirty="0"/>
          </a:p>
        </p:txBody>
      </p:sp>
      <p:sp>
        <p:nvSpPr>
          <p:cNvPr id="32" name="Text 18"/>
          <p:cNvSpPr txBox="1"/>
          <p:nvPr/>
        </p:nvSpPr>
        <p:spPr>
          <a:xfrm>
            <a:off x="4673600" y="4718304"/>
            <a:ext cx="2665375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Composeは「メモ帳」のようなもの。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動的な値を組み合わせます。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810098" y="3213202"/>
            <a:ext cx="571500" cy="571500"/>
          </a:xfrm>
          <a:prstGeom prst="rect">
            <a:avLst/>
          </a:prstGeom>
        </p:spPr>
      </p:pic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626803" y="2380183"/>
            <a:ext cx="609905" cy="609905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9597542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2200" dirty="0"/>
          </a:p>
        </p:txBody>
      </p:sp>
      <p:sp>
        <p:nvSpPr>
          <p:cNvPr id="36" name="Text 20"/>
          <p:cNvSpPr txBox="1"/>
          <p:nvPr/>
        </p:nvSpPr>
        <p:spPr>
          <a:xfrm>
            <a:off x="8490995" y="407773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Outlookで自動送信フローを完成させる</a:t>
            </a:r>
            <a:endParaRPr lang="en-US" sz="1400" dirty="0"/>
          </a:p>
        </p:txBody>
      </p:sp>
      <p:sp>
        <p:nvSpPr>
          <p:cNvPr id="37" name="Text 21"/>
          <p:cNvSpPr txBox="1"/>
          <p:nvPr/>
        </p:nvSpPr>
        <p:spPr>
          <a:xfrm>
            <a:off x="8212590" y="4718304"/>
            <a:ext cx="3218324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→ Compose → Outlook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の3ステップで完成。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8" name="Image 1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645091" y="3213202"/>
            <a:ext cx="571500" cy="571500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571500" y="571500"/>
            <a:ext cx="1333195" cy="476402"/>
          </a:xfrm>
          <a:prstGeom prst="roundRect">
            <a:avLst>
              <a:gd name="adj" fmla="val 191939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895197" y="1558137"/>
            <a:ext cx="10401300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952805" y="152430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952805" y="3143707"/>
            <a:ext cx="10401300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952805" y="3143707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952805" y="4762195"/>
            <a:ext cx="10401300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952805" y="476219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891540" y="642823"/>
            <a:ext cx="70317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Vol.6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190902" y="523951"/>
            <a:ext cx="93543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31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</a:rPr>
              <a:t>今日のポイント　３つ</a:t>
            </a:r>
            <a:endParaRPr lang="en-US" sz="31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l="-469" r="-469"/>
          <a:stretch/>
        </p:blipFill>
        <p:spPr>
          <a:xfrm>
            <a:off x="1462126" y="2024482"/>
            <a:ext cx="504749" cy="5715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2381098" y="1666951"/>
            <a:ext cx="8763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トリガーは「何かが起きたとき」に動く仕組み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2381098" y="2124151"/>
            <a:ext cx="9063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Forms回答・メール受信など「イベント」を起点にフローが自動で動き始めます。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「あ、これ自動化できる」と気づける第一歩です。</a:t>
            </a:r>
            <a:endParaRPr lang="en-US" sz="1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29207" y="3642970"/>
            <a:ext cx="571500" cy="5715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381098" y="3286354"/>
            <a:ext cx="86868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Composeを使うと動的な値を整理してから使える</a:t>
            </a:r>
            <a:endParaRPr lang="en-US" sz="2100" dirty="0"/>
          </a:p>
        </p:txBody>
      </p:sp>
      <p:sp>
        <p:nvSpPr>
          <p:cNvPr id="18" name="Text 14"/>
          <p:cNvSpPr txBox="1"/>
          <p:nvPr/>
        </p:nvSpPr>
        <p:spPr>
          <a:xfrm>
            <a:off x="2381097" y="3743554"/>
            <a:ext cx="89730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Composeは「メモ帳」のようなもの。動的コンテンツを組み合わせてメール本文を作れます。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一度整理した値は後続アクションで何度でも使い回せます。</a:t>
            </a:r>
            <a:endParaRPr lang="en-US" sz="18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l="-469" r="-469"/>
          <a:stretch/>
        </p:blipFill>
        <p:spPr>
          <a:xfrm>
            <a:off x="1462126" y="5262372"/>
            <a:ext cx="504749" cy="5715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2381098" y="4905756"/>
            <a:ext cx="95442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Forms → Compose → Outlookの3ステップは実務でそのまま使える</a:t>
            </a:r>
            <a:endParaRPr lang="en-US" sz="2100" dirty="0"/>
          </a:p>
        </p:txBody>
      </p:sp>
      <p:sp>
        <p:nvSpPr>
          <p:cNvPr id="21" name="Text 16"/>
          <p:cNvSpPr txBox="1"/>
          <p:nvPr/>
        </p:nvSpPr>
        <p:spPr>
          <a:xfrm>
            <a:off x="2381098" y="5362956"/>
            <a:ext cx="91641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フォーム→自動メールの仕組みは、問い合わせ・申込・アンケートなど幅広く応用できます。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今日作ったフローが、あなたの最初の「届く自動化」です。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0306202" y="6191402"/>
            <a:ext cx="15051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447495"/>
            <a:ext cx="12191695" cy="5266944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04495" y="1752905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619049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9244" y="2257654"/>
            <a:ext cx="304495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07734" y="2066544"/>
            <a:ext cx="1592843" cy="495605"/>
          </a:xfrm>
          <a:prstGeom prst="roundRect">
            <a:avLst>
              <a:gd name="adj" fmla="val 112613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9" name="Text 6"/>
          <p:cNvSpPr txBox="1"/>
          <p:nvPr/>
        </p:nvSpPr>
        <p:spPr>
          <a:xfrm>
            <a:off x="2180488" y="2138931"/>
            <a:ext cx="1767893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D28D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問い合わせ自動転送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426923" y="2980944"/>
            <a:ext cx="3542488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問い合わせフォーム受信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→担当者に自動転送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374650" y="3891350"/>
            <a:ext cx="3594761" cy="100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→Composeで転送文を作成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→Outlookで担当者にメール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12" name="Shape 9"/>
          <p:cNvSpPr/>
          <p:nvPr/>
        </p:nvSpPr>
        <p:spPr>
          <a:xfrm>
            <a:off x="304494" y="5309921"/>
            <a:ext cx="3622853" cy="1052474"/>
          </a:xfrm>
          <a:prstGeom prst="roundRect">
            <a:avLst>
              <a:gd name="adj" fmla="val 22848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13" name="Text 10"/>
          <p:cNvSpPr txBox="1"/>
          <p:nvPr/>
        </p:nvSpPr>
        <p:spPr>
          <a:xfrm>
            <a:off x="934516" y="5379112"/>
            <a:ext cx="2873045" cy="883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2000" b="1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→Compose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→Outlook</a:t>
            </a:r>
            <a:endParaRPr lang="en-US" sz="2800" dirty="0"/>
          </a:p>
        </p:txBody>
      </p:sp>
      <p:sp>
        <p:nvSpPr>
          <p:cNvPr id="16" name="Shape 12"/>
          <p:cNvSpPr/>
          <p:nvPr/>
        </p:nvSpPr>
        <p:spPr>
          <a:xfrm>
            <a:off x="4267505" y="1754533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17" name="Shape 13"/>
          <p:cNvSpPr/>
          <p:nvPr/>
        </p:nvSpPr>
        <p:spPr>
          <a:xfrm>
            <a:off x="4556455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46650" y="2257654"/>
            <a:ext cx="304495" cy="30449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850076" y="2066544"/>
            <a:ext cx="1792480" cy="495605"/>
          </a:xfrm>
          <a:prstGeom prst="roundRect">
            <a:avLst>
              <a:gd name="adj" fmla="val 112613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20" name="Text 15"/>
          <p:cNvSpPr txBox="1"/>
          <p:nvPr/>
        </p:nvSpPr>
        <p:spPr>
          <a:xfrm>
            <a:off x="5918614" y="2138931"/>
            <a:ext cx="194065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セミナー申込リマインダー</a:t>
            </a:r>
            <a:endParaRPr lang="en-US" sz="3600" dirty="0"/>
          </a:p>
        </p:txBody>
      </p:sp>
      <p:sp>
        <p:nvSpPr>
          <p:cNvPr id="21" name="Text 16"/>
          <p:cNvSpPr txBox="1"/>
          <p:nvPr/>
        </p:nvSpPr>
        <p:spPr>
          <a:xfrm>
            <a:off x="4457242" y="3031102"/>
            <a:ext cx="3277210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申込者へ自動リマインダー</a:t>
            </a:r>
            <a:endParaRPr lang="en-US" sz="4000" dirty="0"/>
          </a:p>
        </p:txBody>
      </p:sp>
      <p:sp>
        <p:nvSpPr>
          <p:cNvPr id="22" name="Text 17"/>
          <p:cNvSpPr txBox="1"/>
          <p:nvPr/>
        </p:nvSpPr>
        <p:spPr>
          <a:xfrm>
            <a:off x="4312056" y="3873215"/>
            <a:ext cx="3594761" cy="1105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Formsで申込受付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→Composeで参加案内文を作成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→Outlookで自動送信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23" name="Shape 18"/>
          <p:cNvSpPr/>
          <p:nvPr/>
        </p:nvSpPr>
        <p:spPr>
          <a:xfrm>
            <a:off x="4402836" y="5309921"/>
            <a:ext cx="3477463" cy="1052474"/>
          </a:xfrm>
          <a:prstGeom prst="roundRect">
            <a:avLst>
              <a:gd name="adj" fmla="val 22848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24" name="Text 19"/>
          <p:cNvSpPr txBox="1"/>
          <p:nvPr/>
        </p:nvSpPr>
        <p:spPr>
          <a:xfrm>
            <a:off x="5142585" y="5398054"/>
            <a:ext cx="2873045" cy="792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2000" b="1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→Compose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→Outlook</a:t>
            </a:r>
            <a:endParaRPr lang="en-US" sz="2800" dirty="0"/>
          </a:p>
        </p:txBody>
      </p:sp>
      <p:sp>
        <p:nvSpPr>
          <p:cNvPr id="27" name="Shape 21"/>
          <p:cNvSpPr/>
          <p:nvPr/>
        </p:nvSpPr>
        <p:spPr>
          <a:xfrm>
            <a:off x="8178394" y="1752905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28" name="Shape 22"/>
          <p:cNvSpPr/>
          <p:nvPr/>
        </p:nvSpPr>
        <p:spPr>
          <a:xfrm>
            <a:off x="8492947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rcRect l="-90" r="-90"/>
          <a:stretch/>
        </p:blipFill>
        <p:spPr>
          <a:xfrm>
            <a:off x="8645652" y="2257654"/>
            <a:ext cx="381305" cy="304495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9640007" y="2042347"/>
            <a:ext cx="1968754" cy="495605"/>
          </a:xfrm>
          <a:prstGeom prst="roundRect">
            <a:avLst>
              <a:gd name="adj" fmla="val 112613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1" name="Text 24"/>
          <p:cNvSpPr txBox="1"/>
          <p:nvPr/>
        </p:nvSpPr>
        <p:spPr>
          <a:xfrm>
            <a:off x="9618668" y="2158439"/>
            <a:ext cx="2215199" cy="23911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社内申請→承認者通知</a:t>
            </a:r>
            <a:endParaRPr lang="en-US" sz="3600" dirty="0"/>
          </a:p>
        </p:txBody>
      </p:sp>
      <p:sp>
        <p:nvSpPr>
          <p:cNvPr id="32" name="Text 25"/>
          <p:cNvSpPr txBox="1"/>
          <p:nvPr/>
        </p:nvSpPr>
        <p:spPr>
          <a:xfrm>
            <a:off x="8356532" y="3059349"/>
            <a:ext cx="3294686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申請フォームに回答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→承認者にメール自動通知</a:t>
            </a:r>
            <a:endParaRPr lang="en-US" sz="4000" dirty="0"/>
          </a:p>
        </p:txBody>
      </p:sp>
      <p:sp>
        <p:nvSpPr>
          <p:cNvPr id="33" name="Text 26"/>
          <p:cNvSpPr txBox="1"/>
          <p:nvPr/>
        </p:nvSpPr>
        <p:spPr>
          <a:xfrm>
            <a:off x="8287207" y="3938419"/>
            <a:ext cx="3467202" cy="1415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→Composeで通知文作成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→Outlookで承認者に送信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35" name="Text 28"/>
          <p:cNvSpPr txBox="1"/>
          <p:nvPr/>
        </p:nvSpPr>
        <p:spPr>
          <a:xfrm>
            <a:off x="8425281" y="5426075"/>
            <a:ext cx="28730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38" name="Shape 30"/>
          <p:cNvSpPr/>
          <p:nvPr/>
        </p:nvSpPr>
        <p:spPr>
          <a:xfrm>
            <a:off x="0" y="28803"/>
            <a:ext cx="12191695" cy="144749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39" name="Shape 31"/>
          <p:cNvSpPr/>
          <p:nvPr/>
        </p:nvSpPr>
        <p:spPr>
          <a:xfrm>
            <a:off x="0" y="14383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41" name="Text 33"/>
          <p:cNvSpPr txBox="1"/>
          <p:nvPr/>
        </p:nvSpPr>
        <p:spPr>
          <a:xfrm>
            <a:off x="421292" y="526048"/>
            <a:ext cx="11030407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 × Compose × Outlook　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実務で使える自動化</a:t>
            </a:r>
            <a:endParaRPr lang="en-US" sz="4500" dirty="0"/>
          </a:p>
        </p:txBody>
      </p:sp>
      <p:sp>
        <p:nvSpPr>
          <p:cNvPr id="43" name="Text 35"/>
          <p:cNvSpPr txBox="1"/>
          <p:nvPr/>
        </p:nvSpPr>
        <p:spPr>
          <a:xfrm>
            <a:off x="10911535" y="212905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46" name="Shape 37"/>
          <p:cNvSpPr/>
          <p:nvPr/>
        </p:nvSpPr>
        <p:spPr>
          <a:xfrm>
            <a:off x="0" y="6710782"/>
            <a:ext cx="12191695" cy="20025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47" name="Shape 38"/>
          <p:cNvSpPr/>
          <p:nvPr/>
        </p:nvSpPr>
        <p:spPr>
          <a:xfrm>
            <a:off x="0" y="6710782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48" name="Text 39"/>
          <p:cNvSpPr txBox="1"/>
          <p:nvPr/>
        </p:nvSpPr>
        <p:spPr>
          <a:xfrm>
            <a:off x="457200" y="6719926"/>
            <a:ext cx="224485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49" name="Text 40"/>
          <p:cNvSpPr txBox="1"/>
          <p:nvPr/>
        </p:nvSpPr>
        <p:spPr>
          <a:xfrm>
            <a:off x="10646359" y="6719926"/>
            <a:ext cx="13039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6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F7690295-1154-A342-6B81-03B3E5B49ED6}"/>
              </a:ext>
            </a:extLst>
          </p:cNvPr>
          <p:cNvGrpSpPr/>
          <p:nvPr/>
        </p:nvGrpSpPr>
        <p:grpSpPr>
          <a:xfrm>
            <a:off x="4773516" y="6453440"/>
            <a:ext cx="7350682" cy="405017"/>
            <a:chOff x="5861349" y="604238"/>
            <a:chExt cx="6035909" cy="405017"/>
          </a:xfrm>
        </p:grpSpPr>
        <p:sp>
          <p:nvSpPr>
            <p:cNvPr id="56" name="Shape 31">
              <a:extLst>
                <a:ext uri="{FF2B5EF4-FFF2-40B4-BE49-F238E27FC236}">
                  <a16:creationId xmlns:a16="http://schemas.microsoft.com/office/drawing/2014/main" id="{A6315A21-492C-5343-0D62-6269B78C81F1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7" name="Text 21">
              <a:extLst>
                <a:ext uri="{FF2B5EF4-FFF2-40B4-BE49-F238E27FC236}">
                  <a16:creationId xmlns:a16="http://schemas.microsoft.com/office/drawing/2014/main" id="{CC8E7B5D-12F5-D155-68AA-50C8A94C417F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8" name="Image 2" descr="preencoded.png">
              <a:extLst>
                <a:ext uri="{FF2B5EF4-FFF2-40B4-BE49-F238E27FC236}">
                  <a16:creationId xmlns:a16="http://schemas.microsoft.com/office/drawing/2014/main" id="{7DCBFAF5-3DBE-80E1-29A0-F367DA25D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76352" y="-21387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61976" y="301467"/>
            <a:ext cx="5410505" cy="675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kern="0" spc="6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 Action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1581825"/>
            <a:ext cx="5600700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アンケートのお願い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2124151"/>
            <a:ext cx="54864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所要時間：約1分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15" b="-15"/>
          <a:stretch/>
        </p:blipFill>
        <p:spPr>
          <a:xfrm>
            <a:off x="571500" y="2695651"/>
            <a:ext cx="5296205" cy="8385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8326" y="2763275"/>
            <a:ext cx="389576" cy="38957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200607" y="2828588"/>
            <a:ext cx="36576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チャットをご確認ください</a:t>
            </a:r>
            <a:endParaRPr lang="en-US" sz="2400" dirty="0"/>
          </a:p>
        </p:txBody>
      </p:sp>
      <p:sp>
        <p:nvSpPr>
          <p:cNvPr id="10" name="Text 5"/>
          <p:cNvSpPr txBox="1"/>
          <p:nvPr/>
        </p:nvSpPr>
        <p:spPr>
          <a:xfrm>
            <a:off x="1014527" y="3261122"/>
            <a:ext cx="4819803" cy="20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このあとチャット欄にアンケートURLを貼ります。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t="-15" b="-15"/>
          <a:stretch/>
        </p:blipFill>
        <p:spPr>
          <a:xfrm>
            <a:off x="571500" y="3762756"/>
            <a:ext cx="5296205" cy="838505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35722" y="3790544"/>
            <a:ext cx="365759" cy="365759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104595" y="3914546"/>
            <a:ext cx="4134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安心の匿名フォーム</a:t>
            </a:r>
            <a:endParaRPr lang="en-US" sz="2400" dirty="0"/>
          </a:p>
        </p:txBody>
      </p:sp>
      <p:sp>
        <p:nvSpPr>
          <p:cNvPr id="14" name="Text 7"/>
          <p:cNvSpPr txBox="1"/>
          <p:nvPr/>
        </p:nvSpPr>
        <p:spPr>
          <a:xfrm>
            <a:off x="888705" y="4226973"/>
            <a:ext cx="4991405" cy="590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/>
              <a:t>バッジ送付ご希望の方のみ送信用の</a:t>
            </a:r>
            <a:endParaRPr lang="en-US" altLang="ja-JP"/>
          </a:p>
          <a:p>
            <a:pPr marL="0" indent="0" algn="l">
              <a:buNone/>
            </a:pPr>
            <a:r>
              <a:rPr lang="ja-JP" altLang="en-US"/>
              <a:t>メールアドレスを記入（任意）</a:t>
            </a:r>
            <a:endParaRPr lang="en-US" dirty="0"/>
          </a:p>
        </p:txBody>
      </p:sp>
      <p:sp>
        <p:nvSpPr>
          <p:cNvPr id="17" name="Text 9"/>
          <p:cNvSpPr txBox="1"/>
          <p:nvPr/>
        </p:nvSpPr>
        <p:spPr>
          <a:xfrm>
            <a:off x="6172200" y="351214"/>
            <a:ext cx="541050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400" kern="0" spc="6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🎁 </a:t>
            </a:r>
            <a:r>
              <a:rPr lang="en-US" sz="2400" kern="0" spc="6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Special </a:t>
            </a:r>
            <a:r>
              <a:rPr lang="en-US" sz="2400" kern="0" spc="6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Gift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6324905" y="943661"/>
            <a:ext cx="5296205" cy="4819802"/>
          </a:xfrm>
          <a:prstGeom prst="roundRect">
            <a:avLst>
              <a:gd name="adj" fmla="val 9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3"/>
          <p:cNvSpPr txBox="1"/>
          <p:nvPr/>
        </p:nvSpPr>
        <p:spPr>
          <a:xfrm>
            <a:off x="7308298" y="1501051"/>
            <a:ext cx="332850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 バッジ</a:t>
            </a:r>
            <a:endParaRPr lang="en-US" sz="3200" dirty="0"/>
          </a:p>
        </p:txBody>
      </p:sp>
      <p:sp>
        <p:nvSpPr>
          <p:cNvPr id="22" name="Text 14"/>
          <p:cNvSpPr txBox="1"/>
          <p:nvPr/>
        </p:nvSpPr>
        <p:spPr>
          <a:xfrm>
            <a:off x="7149084" y="2023610"/>
            <a:ext cx="3646932" cy="457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今日のアクション名 ＋ 開催日入り</a:t>
            </a:r>
            <a:endParaRPr lang="en-US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058607" y="2553005"/>
            <a:ext cx="1828800" cy="1828800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9581998" y="2400300"/>
            <a:ext cx="457200" cy="457200"/>
          </a:xfrm>
          <a:prstGeom prst="ellipse">
            <a:avLst/>
          </a:prstGeom>
          <a:solidFill>
            <a:srgbClr val="FBBF2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16"/>
          <p:cNvSpPr/>
          <p:nvPr/>
        </p:nvSpPr>
        <p:spPr>
          <a:xfrm>
            <a:off x="7981798" y="4153205"/>
            <a:ext cx="304495" cy="304495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9"/>
          <a:srcRect t="-27" b="-27"/>
          <a:stretch/>
        </p:blipFill>
        <p:spPr>
          <a:xfrm>
            <a:off x="6964029" y="4572915"/>
            <a:ext cx="3887691" cy="608989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7610856" y="4703859"/>
            <a:ext cx="31851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後日、XのDMでお届けします</a:t>
            </a:r>
            <a:endParaRPr lang="en-US" dirty="0"/>
          </a:p>
        </p:txBody>
      </p:sp>
      <p:sp>
        <p:nvSpPr>
          <p:cNvPr id="30" name="Shape 18"/>
          <p:cNvSpPr/>
          <p:nvPr/>
        </p:nvSpPr>
        <p:spPr>
          <a:xfrm>
            <a:off x="571500" y="6059946"/>
            <a:ext cx="11048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9"/>
          <p:cNvSpPr txBox="1"/>
          <p:nvPr/>
        </p:nvSpPr>
        <p:spPr>
          <a:xfrm>
            <a:off x="416605" y="6310922"/>
            <a:ext cx="1745831" cy="305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PA45｜第6回</a:t>
            </a:r>
            <a:endParaRPr lang="en-US" sz="1000" dirty="0"/>
          </a:p>
        </p:txBody>
      </p:sp>
      <p:sp>
        <p:nvSpPr>
          <p:cNvPr id="32" name="Text 20"/>
          <p:cNvSpPr txBox="1"/>
          <p:nvPr/>
        </p:nvSpPr>
        <p:spPr>
          <a:xfrm>
            <a:off x="1789857" y="6332753"/>
            <a:ext cx="1143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|</a:t>
            </a:r>
            <a:endParaRPr lang="en-US" sz="1000" dirty="0"/>
          </a:p>
        </p:txBody>
      </p:sp>
      <p:sp>
        <p:nvSpPr>
          <p:cNvPr id="33" name="Text 21"/>
          <p:cNvSpPr txBox="1"/>
          <p:nvPr/>
        </p:nvSpPr>
        <p:spPr>
          <a:xfrm>
            <a:off x="1952726" y="6322778"/>
            <a:ext cx="1137514" cy="24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000" dirty="0"/>
          </a:p>
        </p:txBody>
      </p:sp>
      <p:sp>
        <p:nvSpPr>
          <p:cNvPr id="34" name="Text 22"/>
          <p:cNvSpPr txBox="1"/>
          <p:nvPr/>
        </p:nvSpPr>
        <p:spPr>
          <a:xfrm>
            <a:off x="5314493" y="6086939"/>
            <a:ext cx="3905707" cy="215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26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35" name="Text 23"/>
          <p:cNvSpPr txBox="1"/>
          <p:nvPr/>
        </p:nvSpPr>
        <p:spPr>
          <a:xfrm>
            <a:off x="9970657" y="6081059"/>
            <a:ext cx="1948586" cy="30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B861E8B3-E3DD-C84F-65D8-8D354C918F83}"/>
              </a:ext>
            </a:extLst>
          </p:cNvPr>
          <p:cNvSpPr/>
          <p:nvPr/>
        </p:nvSpPr>
        <p:spPr>
          <a:xfrm>
            <a:off x="147676" y="1572681"/>
            <a:ext cx="114300" cy="4569257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9AE478BF-D1A4-1FF1-7F4F-D75181898C42}"/>
              </a:ext>
            </a:extLst>
          </p:cNvPr>
          <p:cNvSpPr txBox="1"/>
          <p:nvPr/>
        </p:nvSpPr>
        <p:spPr>
          <a:xfrm>
            <a:off x="8511823" y="3258573"/>
            <a:ext cx="96765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4400" kern="0" spc="60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？</a:t>
            </a:r>
            <a:endParaRPr lang="en-US" sz="4400" dirty="0">
              <a:solidFill>
                <a:schemeClr val="bg1"/>
              </a:solidFill>
            </a:endParaRPr>
          </a:p>
        </p:txBody>
      </p: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18F671B6-865B-825E-58B6-45733630EC64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39" name="Shape 31">
              <a:extLst>
                <a:ext uri="{FF2B5EF4-FFF2-40B4-BE49-F238E27FC236}">
                  <a16:creationId xmlns:a16="http://schemas.microsoft.com/office/drawing/2014/main" id="{09F6BD02-AAED-4AE4-1723-76C382164EFB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Text 21">
              <a:extLst>
                <a:ext uri="{FF2B5EF4-FFF2-40B4-BE49-F238E27FC236}">
                  <a16:creationId xmlns:a16="http://schemas.microsoft.com/office/drawing/2014/main" id="{3D079374-4B86-0A08-8A21-A5F6A82AFA61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1" name="Image 2" descr="preencoded.png">
              <a:extLst>
                <a:ext uri="{FF2B5EF4-FFF2-40B4-BE49-F238E27FC236}">
                  <a16:creationId xmlns:a16="http://schemas.microsoft.com/office/drawing/2014/main" id="{C6953FA1-8653-2010-F17C-64622806C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15" name="Text 2">
            <a:extLst>
              <a:ext uri="{FF2B5EF4-FFF2-40B4-BE49-F238E27FC236}">
                <a16:creationId xmlns:a16="http://schemas.microsoft.com/office/drawing/2014/main" id="{59D5E270-E6AD-E457-0DD1-D6D69BCDC2F3}"/>
              </a:ext>
            </a:extLst>
          </p:cNvPr>
          <p:cNvSpPr txBox="1"/>
          <p:nvPr/>
        </p:nvSpPr>
        <p:spPr>
          <a:xfrm>
            <a:off x="489102" y="4817454"/>
            <a:ext cx="4028469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/>
              <a:t>チャット欄に</a:t>
            </a:r>
            <a:r>
              <a:rPr lang="en-US" altLang="ja-JP"/>
              <a:t>URL</a:t>
            </a:r>
            <a:r>
              <a:rPr lang="ja-JP" altLang="en-US"/>
              <a:t>を貼り付けます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2023</TotalTime>
  <Words>1696</Words>
  <Application>Microsoft Office PowerPoint</Application>
  <PresentationFormat>ワイド画面</PresentationFormat>
  <Paragraphs>430</Paragraphs>
  <Slides>14</Slides>
  <Notes>13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BIZ UDGothic</vt:lpstr>
      <vt:lpstr>Noto Sans JP</vt:lpstr>
      <vt:lpstr>ui-monospace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Ueda Isamu</cp:lastModifiedBy>
  <cp:revision>14</cp:revision>
  <dcterms:created xsi:type="dcterms:W3CDTF">2026-03-02T01:22:39Z</dcterms:created>
  <dcterms:modified xsi:type="dcterms:W3CDTF">2026-04-09T11:31:52Z</dcterms:modified>
</cp:coreProperties>
</file>