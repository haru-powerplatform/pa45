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" name="Shape 25">
            <a:extLst>
              <a:ext uri="{FF2B5EF4-FFF2-40B4-BE49-F238E27FC236}">
                <a16:creationId xmlns:a16="http://schemas.microsoft.com/office/drawing/2014/main" id="{22AADCF0-5B22-D2A1-2857-CDBA4A9A455D}"/>
              </a:ext>
            </a:extLst>
          </p:cNvPr>
          <p:cNvSpPr/>
          <p:nvPr/>
        </p:nvSpPr>
        <p:spPr>
          <a:xfrm>
            <a:off x="362331" y="2432073"/>
            <a:ext cx="11598351" cy="1460277"/>
          </a:xfrm>
          <a:prstGeom prst="roundRect">
            <a:avLst>
              <a:gd name="adj" fmla="val 1175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1"/>
          <p:cNvSpPr/>
          <p:nvPr/>
        </p:nvSpPr>
        <p:spPr>
          <a:xfrm>
            <a:off x="6858" y="-69952"/>
            <a:ext cx="12191695" cy="76169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2"/>
          <p:cNvSpPr/>
          <p:nvPr/>
        </p:nvSpPr>
        <p:spPr>
          <a:xfrm>
            <a:off x="188332" y="78173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/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Vol.12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1826709" y="148227"/>
            <a:ext cx="107888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PowerAutomate:結合(JOIN)で配列を</a:t>
            </a:r>
            <a:r>
              <a:rPr lang="en-US" sz="2700" b="1" kern="0" spc="68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1本の文字列にまとめる</a:t>
            </a:r>
            <a:endParaRPr lang="en-US" sz="2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2978" y="838683"/>
            <a:ext cx="11430000" cy="91440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t="-31" b="-31"/>
          <a:stretch/>
        </p:blipFill>
        <p:spPr>
          <a:xfrm>
            <a:off x="541578" y="1048995"/>
            <a:ext cx="342900" cy="49560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rcRect t="-16423" b="-16423"/>
          <a:stretch/>
        </p:blipFill>
        <p:spPr>
          <a:xfrm>
            <a:off x="626617" y="1134034"/>
            <a:ext cx="171907" cy="304495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14317" y="909427"/>
            <a:ext cx="69723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結合（</a:t>
            </a:r>
            <a:r>
              <a:rPr lang="en-US" altLang="ja-JP" sz="28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JOIN</a:t>
            </a:r>
            <a:r>
              <a:rPr lang="ja-JP" altLang="en-US" sz="28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）アクションの役割</a:t>
            </a:r>
            <a:endParaRPr lang="en-US" sz="2800" dirty="0"/>
          </a:p>
        </p:txBody>
      </p:sp>
      <p:sp>
        <p:nvSpPr>
          <p:cNvPr id="13" name="Text 6"/>
          <p:cNvSpPr txBox="1"/>
          <p:nvPr/>
        </p:nvSpPr>
        <p:spPr>
          <a:xfrm>
            <a:off x="1310261" y="1309141"/>
            <a:ext cx="102632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複数の箱（</a:t>
            </a:r>
            <a:r>
              <a:rPr 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配列）        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</a:t>
            </a:r>
            <a:r>
              <a:rPr lang="en-US" sz="2000" b="1" u="sng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ひと続きの文字列</a:t>
            </a:r>
            <a:r>
              <a:rPr 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に構造を変化させる </a:t>
            </a:r>
            <a:endParaRPr lang="en-US" sz="20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3748347" y="1196413"/>
            <a:ext cx="465039" cy="530865"/>
          </a:xfrm>
          <a:prstGeom prst="rect">
            <a:avLst/>
          </a:prstGeom>
          <a:ln>
            <a:noFill/>
          </a:ln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7"/>
          <a:srcRect l="-5" r="-5"/>
          <a:stretch/>
        </p:blipFill>
        <p:spPr>
          <a:xfrm>
            <a:off x="394004" y="1989207"/>
            <a:ext cx="2970811" cy="1966612"/>
          </a:xfrm>
          <a:prstGeom prst="rect">
            <a:avLst/>
          </a:prstGeom>
        </p:spPr>
      </p:pic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3714677" y="2511163"/>
            <a:ext cx="520848" cy="1040033"/>
          </a:xfrm>
          <a:prstGeom prst="rect">
            <a:avLst/>
          </a:prstGeom>
        </p:spPr>
      </p:pic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9"/>
          <a:srcRect l="-17" r="-17"/>
          <a:stretch/>
        </p:blipFill>
        <p:spPr>
          <a:xfrm>
            <a:off x="419371" y="4118686"/>
            <a:ext cx="3657600" cy="1329736"/>
          </a:xfrm>
          <a:prstGeom prst="rect">
            <a:avLst/>
          </a:prstGeom>
        </p:spPr>
      </p:pic>
      <p:sp>
        <p:nvSpPr>
          <p:cNvPr id="36" name="Text 19"/>
          <p:cNvSpPr txBox="1"/>
          <p:nvPr/>
        </p:nvSpPr>
        <p:spPr>
          <a:xfrm>
            <a:off x="1075792" y="4262933"/>
            <a:ext cx="3258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改行コードの罠 </a:t>
            </a:r>
            <a:endParaRPr lang="en-US" sz="2000" dirty="0"/>
          </a:p>
        </p:txBody>
      </p:sp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10"/>
          <a:srcRect l="-33" r="-33"/>
          <a:stretch/>
        </p:blipFill>
        <p:spPr>
          <a:xfrm>
            <a:off x="552298" y="4156644"/>
            <a:ext cx="407636" cy="362103"/>
          </a:xfrm>
          <a:prstGeom prst="rect">
            <a:avLst/>
          </a:prstGeom>
        </p:spPr>
      </p:pic>
      <p:sp>
        <p:nvSpPr>
          <p:cNvPr id="38" name="Text 20"/>
          <p:cNvSpPr txBox="1"/>
          <p:nvPr/>
        </p:nvSpPr>
        <p:spPr>
          <a:xfrm>
            <a:off x="543155" y="4633362"/>
            <a:ext cx="3431946" cy="70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区切り文字に「\n</a:t>
            </a:r>
            <a:r>
              <a:rPr lang="en-US" sz="16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」と書いても</a:t>
            </a:r>
          </a:p>
          <a:p>
            <a:pPr marL="0" indent="0" algn="l">
              <a:buNone/>
            </a:pPr>
            <a:r>
              <a:rPr lang="en-US" sz="16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文字として扱われる</a:t>
            </a: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実際の </a:t>
            </a:r>
            <a:r>
              <a:rPr lang="en-US" sz="1600" b="1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Enter キー</a:t>
            </a:r>
            <a:r>
              <a:rPr lang="en-US" sz="16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で改行を入力する </a:t>
            </a:r>
            <a:endParaRPr lang="en-US" sz="1600" dirty="0"/>
          </a:p>
        </p:txBody>
      </p:sp>
      <p:pic>
        <p:nvPicPr>
          <p:cNvPr id="39" name="Image 16" descr="preencoded.png"/>
          <p:cNvPicPr>
            <a:picLocks noChangeAspect="1"/>
          </p:cNvPicPr>
          <p:nvPr/>
        </p:nvPicPr>
        <p:blipFill>
          <a:blip r:embed="rId9"/>
          <a:srcRect l="-17" r="-17"/>
          <a:stretch/>
        </p:blipFill>
        <p:spPr>
          <a:xfrm>
            <a:off x="4264356" y="4164937"/>
            <a:ext cx="3885692" cy="1305594"/>
          </a:xfrm>
          <a:prstGeom prst="rect">
            <a:avLst/>
          </a:prstGeom>
        </p:spPr>
      </p:pic>
      <p:sp>
        <p:nvSpPr>
          <p:cNvPr id="40" name="Text 21"/>
          <p:cNvSpPr txBox="1"/>
          <p:nvPr/>
        </p:nvSpPr>
        <p:spPr>
          <a:xfrm>
            <a:off x="5085310" y="4268591"/>
            <a:ext cx="3258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オブジェクトはNG </a:t>
            </a:r>
            <a:endParaRPr lang="en-US" sz="2000" dirty="0"/>
          </a:p>
        </p:txBody>
      </p:sp>
      <p:pic>
        <p:nvPicPr>
          <p:cNvPr id="41" name="Image 17" descr="preencoded.png"/>
          <p:cNvPicPr>
            <a:picLocks noChangeAspect="1"/>
          </p:cNvPicPr>
          <p:nvPr/>
        </p:nvPicPr>
        <p:blipFill>
          <a:blip r:embed="rId11"/>
          <a:srcRect l="-33" r="-33"/>
          <a:stretch/>
        </p:blipFill>
        <p:spPr>
          <a:xfrm>
            <a:off x="4496105" y="4176744"/>
            <a:ext cx="407636" cy="362103"/>
          </a:xfrm>
          <a:prstGeom prst="rect">
            <a:avLst/>
          </a:prstGeom>
        </p:spPr>
      </p:pic>
      <p:sp>
        <p:nvSpPr>
          <p:cNvPr id="42" name="Text 22"/>
          <p:cNvSpPr txBox="1"/>
          <p:nvPr/>
        </p:nvSpPr>
        <p:spPr>
          <a:xfrm>
            <a:off x="4343061" y="4654319"/>
            <a:ext cx="3734409" cy="730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オブジェクト配列は直接結合できない。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先に</a:t>
            </a:r>
            <a:r>
              <a:rPr lang="en-US" sz="1600" b="1" dirty="0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「選択（Select</a:t>
            </a:r>
            <a:r>
              <a:rPr lang="en-US" sz="1600" b="1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）」</a:t>
            </a:r>
            <a:r>
              <a:rPr lang="en-US" sz="16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</a:p>
          <a:p>
            <a:pPr marL="0" indent="0" algn="l">
              <a:buNone/>
            </a:pPr>
            <a:r>
              <a:rPr lang="en-US" sz="16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単純な配列に変換が必要</a:t>
            </a: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 </a:t>
            </a:r>
            <a:endParaRPr lang="en-US" sz="1600" dirty="0"/>
          </a:p>
        </p:txBody>
      </p:sp>
      <p:pic>
        <p:nvPicPr>
          <p:cNvPr id="43" name="Image 18" descr="preencoded.png"/>
          <p:cNvPicPr>
            <a:picLocks noChangeAspect="1"/>
          </p:cNvPicPr>
          <p:nvPr/>
        </p:nvPicPr>
        <p:blipFill>
          <a:blip r:embed="rId9"/>
          <a:srcRect l="-17" r="-17"/>
          <a:stretch/>
        </p:blipFill>
        <p:spPr>
          <a:xfrm>
            <a:off x="8459113" y="4129087"/>
            <a:ext cx="3576625" cy="1334528"/>
          </a:xfrm>
          <a:prstGeom prst="rect">
            <a:avLst/>
          </a:prstGeom>
        </p:spPr>
      </p:pic>
      <p:sp>
        <p:nvSpPr>
          <p:cNvPr id="44" name="Text 23"/>
          <p:cNvSpPr txBox="1"/>
          <p:nvPr/>
        </p:nvSpPr>
        <p:spPr>
          <a:xfrm>
            <a:off x="9366985" y="4199728"/>
            <a:ext cx="1538173" cy="309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型が変わる </a:t>
            </a:r>
            <a:endParaRPr lang="en-US" sz="2000" dirty="0"/>
          </a:p>
        </p:txBody>
      </p:sp>
      <p:pic>
        <p:nvPicPr>
          <p:cNvPr id="45" name="Image 1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798976" y="4178829"/>
            <a:ext cx="339918" cy="339918"/>
          </a:xfrm>
          <a:prstGeom prst="rect">
            <a:avLst/>
          </a:prstGeom>
        </p:spPr>
      </p:pic>
      <p:sp>
        <p:nvSpPr>
          <p:cNvPr id="46" name="Text 24"/>
          <p:cNvSpPr txBox="1"/>
          <p:nvPr/>
        </p:nvSpPr>
        <p:spPr>
          <a:xfrm>
            <a:off x="8644229" y="4519768"/>
            <a:ext cx="3391510" cy="950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出力は「配列</a:t>
            </a:r>
            <a:r>
              <a:rPr lang="en-US" sz="16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」ではなく</a:t>
            </a:r>
          </a:p>
          <a:p>
            <a:pPr marL="0" indent="0" algn="l">
              <a:buNone/>
            </a:pPr>
            <a:r>
              <a:rPr lang="en-US" sz="1600" b="1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r>
              <a:rPr lang="en-US" sz="1600" b="1" dirty="0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文字列」</a:t>
            </a: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になる。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後続処理での扱いに注意！ </a:t>
            </a:r>
            <a:endParaRPr lang="en-US" sz="1600" dirty="0"/>
          </a:p>
        </p:txBody>
      </p:sp>
      <p:sp>
        <p:nvSpPr>
          <p:cNvPr id="47" name="Shape 25"/>
          <p:cNvSpPr/>
          <p:nvPr/>
        </p:nvSpPr>
        <p:spPr>
          <a:xfrm>
            <a:off x="390448" y="5568525"/>
            <a:ext cx="11598351" cy="1161069"/>
          </a:xfrm>
          <a:prstGeom prst="roundRect">
            <a:avLst>
              <a:gd name="adj" fmla="val 11758"/>
            </a:avLst>
          </a:prstGeom>
          <a:solidFill>
            <a:srgbClr val="F9FAFB"/>
          </a:solidFill>
          <a:ln w="12700">
            <a:solidFill>
              <a:srgbClr val="E5E7EB">
                <a:alpha val="99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26"/>
          <p:cNvSpPr txBox="1"/>
          <p:nvPr/>
        </p:nvSpPr>
        <p:spPr>
          <a:xfrm>
            <a:off x="520851" y="5688183"/>
            <a:ext cx="9091455" cy="327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これで解決！（</a:t>
            </a:r>
            <a:r>
              <a:rPr 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Benefits）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～こんな時に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Join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（結合アクション）が使えます！</a:t>
            </a:r>
            <a:endParaRPr lang="en-US" sz="2000" dirty="0"/>
          </a:p>
        </p:txBody>
      </p:sp>
      <p:pic>
        <p:nvPicPr>
          <p:cNvPr id="49" name="Image 20" descr="preencoded.png"/>
          <p:cNvPicPr>
            <a:picLocks noChangeAspect="1"/>
          </p:cNvPicPr>
          <p:nvPr/>
        </p:nvPicPr>
        <p:blipFill>
          <a:blip r:embed="rId13"/>
          <a:srcRect t="-30" b="-30"/>
          <a:stretch/>
        </p:blipFill>
        <p:spPr>
          <a:xfrm>
            <a:off x="543155" y="6080371"/>
            <a:ext cx="3145012" cy="495740"/>
          </a:xfrm>
          <a:prstGeom prst="rect">
            <a:avLst/>
          </a:prstGeom>
        </p:spPr>
      </p:pic>
      <p:sp>
        <p:nvSpPr>
          <p:cNvPr id="50" name="Shape 27"/>
          <p:cNvSpPr/>
          <p:nvPr/>
        </p:nvSpPr>
        <p:spPr>
          <a:xfrm>
            <a:off x="666598" y="6177646"/>
            <a:ext cx="304495" cy="300471"/>
          </a:xfrm>
          <a:prstGeom prst="roundRect">
            <a:avLst>
              <a:gd name="adj" fmla="val 300300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pic>
        <p:nvPicPr>
          <p:cNvPr id="51" name="Image 2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47091" y="6226365"/>
            <a:ext cx="332385" cy="261920"/>
          </a:xfrm>
          <a:prstGeom prst="rect">
            <a:avLst/>
          </a:prstGeom>
        </p:spPr>
      </p:pic>
      <p:sp>
        <p:nvSpPr>
          <p:cNvPr id="52" name="Text 28"/>
          <p:cNvSpPr txBox="1"/>
          <p:nvPr/>
        </p:nvSpPr>
        <p:spPr>
          <a:xfrm>
            <a:off x="1086307" y="6252583"/>
            <a:ext cx="2403958" cy="225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メール本文の整形</a:t>
            </a:r>
            <a:endParaRPr lang="en-US" sz="2000" dirty="0"/>
          </a:p>
        </p:txBody>
      </p:sp>
      <p:pic>
        <p:nvPicPr>
          <p:cNvPr id="53" name="Image 22" descr="preencoded.png"/>
          <p:cNvPicPr>
            <a:picLocks noChangeAspect="1"/>
          </p:cNvPicPr>
          <p:nvPr/>
        </p:nvPicPr>
        <p:blipFill>
          <a:blip r:embed="rId13"/>
          <a:srcRect t="-30" b="-30"/>
          <a:stretch/>
        </p:blipFill>
        <p:spPr>
          <a:xfrm>
            <a:off x="3879801" y="6080371"/>
            <a:ext cx="4016958" cy="495740"/>
          </a:xfrm>
          <a:prstGeom prst="rect">
            <a:avLst/>
          </a:prstGeom>
        </p:spPr>
      </p:pic>
      <p:sp>
        <p:nvSpPr>
          <p:cNvPr id="54" name="Shape 29"/>
          <p:cNvSpPr/>
          <p:nvPr/>
        </p:nvSpPr>
        <p:spPr>
          <a:xfrm>
            <a:off x="3954321" y="6190487"/>
            <a:ext cx="304495" cy="300471"/>
          </a:xfrm>
          <a:prstGeom prst="roundRect">
            <a:avLst>
              <a:gd name="adj" fmla="val 300300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pic>
        <p:nvPicPr>
          <p:cNvPr id="55" name="Image 2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3948855" y="6193137"/>
            <a:ext cx="362102" cy="285337"/>
          </a:xfrm>
          <a:prstGeom prst="rect">
            <a:avLst/>
          </a:prstGeom>
        </p:spPr>
      </p:pic>
      <p:sp>
        <p:nvSpPr>
          <p:cNvPr id="56" name="Text 30"/>
          <p:cNvSpPr txBox="1"/>
          <p:nvPr/>
        </p:nvSpPr>
        <p:spPr>
          <a:xfrm>
            <a:off x="4544359" y="6260507"/>
            <a:ext cx="3171139" cy="150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SP複数選択列を自然に表示</a:t>
            </a:r>
            <a:endParaRPr lang="en-US" sz="2000" dirty="0"/>
          </a:p>
        </p:txBody>
      </p:sp>
      <p:pic>
        <p:nvPicPr>
          <p:cNvPr id="57" name="Image 24" descr="preencoded.png"/>
          <p:cNvPicPr>
            <a:picLocks noChangeAspect="1"/>
          </p:cNvPicPr>
          <p:nvPr/>
        </p:nvPicPr>
        <p:blipFill>
          <a:blip r:embed="rId13"/>
          <a:srcRect t="-30" b="-30"/>
          <a:stretch/>
        </p:blipFill>
        <p:spPr>
          <a:xfrm>
            <a:off x="8048549" y="6080371"/>
            <a:ext cx="3753002" cy="495740"/>
          </a:xfrm>
          <a:prstGeom prst="rect">
            <a:avLst/>
          </a:prstGeom>
        </p:spPr>
      </p:pic>
      <p:sp>
        <p:nvSpPr>
          <p:cNvPr id="58" name="Shape 31"/>
          <p:cNvSpPr/>
          <p:nvPr/>
        </p:nvSpPr>
        <p:spPr>
          <a:xfrm>
            <a:off x="8172907" y="6177646"/>
            <a:ext cx="286207" cy="300471"/>
          </a:xfrm>
          <a:prstGeom prst="roundRect">
            <a:avLst>
              <a:gd name="adj" fmla="val 319489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pic>
        <p:nvPicPr>
          <p:cNvPr id="59" name="Image 25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8172907" y="6171999"/>
            <a:ext cx="334670" cy="301655"/>
          </a:xfrm>
          <a:prstGeom prst="rect">
            <a:avLst/>
          </a:prstGeom>
        </p:spPr>
      </p:pic>
      <p:sp>
        <p:nvSpPr>
          <p:cNvPr id="60" name="Text 32"/>
          <p:cNvSpPr txBox="1"/>
          <p:nvPr/>
        </p:nvSpPr>
        <p:spPr>
          <a:xfrm>
            <a:off x="8572500" y="6252582"/>
            <a:ext cx="3143708" cy="16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エラー通知の箇条書き生成</a:t>
            </a:r>
            <a:endParaRPr lang="en-US" sz="2000" dirty="0"/>
          </a:p>
        </p:txBody>
      </p:sp>
      <p:sp>
        <p:nvSpPr>
          <p:cNvPr id="61" name="Text 33"/>
          <p:cNvSpPr txBox="1"/>
          <p:nvPr/>
        </p:nvSpPr>
        <p:spPr>
          <a:xfrm>
            <a:off x="11367821" y="6514472"/>
            <a:ext cx="676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3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#PA45</a:t>
            </a:r>
            <a:endParaRPr lang="en-US" sz="1300" dirty="0"/>
          </a:p>
        </p:txBody>
      </p:sp>
      <p:pic>
        <p:nvPicPr>
          <p:cNvPr id="62" name="Image 2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4737038" y="2596916"/>
            <a:ext cx="1943671" cy="1334010"/>
          </a:xfrm>
          <a:prstGeom prst="rect">
            <a:avLst/>
          </a:prstGeom>
        </p:spPr>
      </p:pic>
      <p:sp>
        <p:nvSpPr>
          <p:cNvPr id="64" name="Text 34"/>
          <p:cNvSpPr txBox="1"/>
          <p:nvPr/>
        </p:nvSpPr>
        <p:spPr>
          <a:xfrm>
            <a:off x="5637379" y="2749166"/>
            <a:ext cx="5018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</a:t>
            </a:r>
            <a:endParaRPr lang="en-US" sz="5400" dirty="0"/>
          </a:p>
        </p:txBody>
      </p:sp>
      <p:sp>
        <p:nvSpPr>
          <p:cNvPr id="65" name="Text 35"/>
          <p:cNvSpPr txBox="1"/>
          <p:nvPr/>
        </p:nvSpPr>
        <p:spPr>
          <a:xfrm>
            <a:off x="5108018" y="3392058"/>
            <a:ext cx="1333856" cy="303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区切り文字</a:t>
            </a:r>
            <a:endParaRPr lang="en-US" dirty="0"/>
          </a:p>
        </p:txBody>
      </p:sp>
      <p:sp>
        <p:nvSpPr>
          <p:cNvPr id="66" name="Text 36"/>
          <p:cNvSpPr txBox="1"/>
          <p:nvPr/>
        </p:nvSpPr>
        <p:spPr>
          <a:xfrm>
            <a:off x="4392372" y="1929706"/>
            <a:ext cx="3401567" cy="507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Join（結合）</a:t>
            </a:r>
            <a:endParaRPr lang="en-US" sz="3600" dirty="0"/>
          </a:p>
        </p:txBody>
      </p:sp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9BB7DB0D-71EB-1A31-9983-8EA20CF00882}"/>
              </a:ext>
            </a:extLst>
          </p:cNvPr>
          <p:cNvGrpSpPr/>
          <p:nvPr/>
        </p:nvGrpSpPr>
        <p:grpSpPr>
          <a:xfrm>
            <a:off x="114758" y="3808535"/>
            <a:ext cx="495147" cy="474885"/>
            <a:chOff x="267005" y="4036906"/>
            <a:chExt cx="304495" cy="304495"/>
          </a:xfrm>
        </p:grpSpPr>
        <p:pic>
          <p:nvPicPr>
            <p:cNvPr id="67" name="Image 28" descr="preencoded.png"/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267005" y="4036906"/>
              <a:ext cx="304495" cy="304495"/>
            </a:xfrm>
            <a:prstGeom prst="rect">
              <a:avLst/>
            </a:prstGeom>
          </p:spPr>
        </p:pic>
        <p:sp>
          <p:nvSpPr>
            <p:cNvPr id="68" name="Text 37"/>
            <p:cNvSpPr txBox="1"/>
            <p:nvPr/>
          </p:nvSpPr>
          <p:spPr>
            <a:xfrm>
              <a:off x="390449" y="4079835"/>
              <a:ext cx="1335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!</a:t>
              </a:r>
              <a:endParaRPr lang="en-US" sz="2400" dirty="0"/>
            </a:p>
          </p:txBody>
        </p:sp>
      </p:grpSp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B41D2685-19E7-9595-3A18-58227EF428A5}"/>
              </a:ext>
            </a:extLst>
          </p:cNvPr>
          <p:cNvGrpSpPr/>
          <p:nvPr/>
        </p:nvGrpSpPr>
        <p:grpSpPr>
          <a:xfrm>
            <a:off x="4001677" y="3808534"/>
            <a:ext cx="495147" cy="474885"/>
            <a:chOff x="267005" y="4036906"/>
            <a:chExt cx="304495" cy="304495"/>
          </a:xfrm>
        </p:grpSpPr>
        <p:pic>
          <p:nvPicPr>
            <p:cNvPr id="76" name="Image 28" descr="preencoded.png">
              <a:extLst>
                <a:ext uri="{FF2B5EF4-FFF2-40B4-BE49-F238E27FC236}">
                  <a16:creationId xmlns:a16="http://schemas.microsoft.com/office/drawing/2014/main" id="{A89153E0-C7D6-2B66-B2B7-08543E1F91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267005" y="4036906"/>
              <a:ext cx="304495" cy="304495"/>
            </a:xfrm>
            <a:prstGeom prst="rect">
              <a:avLst/>
            </a:prstGeom>
          </p:spPr>
        </p:pic>
        <p:sp>
          <p:nvSpPr>
            <p:cNvPr id="77" name="Text 37">
              <a:extLst>
                <a:ext uri="{FF2B5EF4-FFF2-40B4-BE49-F238E27FC236}">
                  <a16:creationId xmlns:a16="http://schemas.microsoft.com/office/drawing/2014/main" id="{39152955-E98D-D4F9-3598-8887AA2028E5}"/>
                </a:ext>
              </a:extLst>
            </p:cNvPr>
            <p:cNvSpPr txBox="1"/>
            <p:nvPr/>
          </p:nvSpPr>
          <p:spPr>
            <a:xfrm>
              <a:off x="390449" y="4079835"/>
              <a:ext cx="1335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!</a:t>
              </a:r>
              <a:endParaRPr lang="en-US" sz="2400" dirty="0"/>
            </a:p>
          </p:txBody>
        </p:sp>
      </p:grpSp>
      <p:grpSp>
        <p:nvGrpSpPr>
          <p:cNvPr id="78" name="グループ化 77">
            <a:extLst>
              <a:ext uri="{FF2B5EF4-FFF2-40B4-BE49-F238E27FC236}">
                <a16:creationId xmlns:a16="http://schemas.microsoft.com/office/drawing/2014/main" id="{1E604ECE-A204-A005-4AFA-668B1D44E812}"/>
              </a:ext>
            </a:extLst>
          </p:cNvPr>
          <p:cNvGrpSpPr/>
          <p:nvPr/>
        </p:nvGrpSpPr>
        <p:grpSpPr>
          <a:xfrm>
            <a:off x="8160817" y="3864324"/>
            <a:ext cx="495147" cy="474885"/>
            <a:chOff x="267005" y="4036906"/>
            <a:chExt cx="304495" cy="304495"/>
          </a:xfrm>
        </p:grpSpPr>
        <p:pic>
          <p:nvPicPr>
            <p:cNvPr id="79" name="Image 28" descr="preencoded.png">
              <a:extLst>
                <a:ext uri="{FF2B5EF4-FFF2-40B4-BE49-F238E27FC236}">
                  <a16:creationId xmlns:a16="http://schemas.microsoft.com/office/drawing/2014/main" id="{DA06435B-5FB2-7801-0548-E921487A0C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267005" y="4036906"/>
              <a:ext cx="304495" cy="304495"/>
            </a:xfrm>
            <a:prstGeom prst="rect">
              <a:avLst/>
            </a:prstGeom>
          </p:spPr>
        </p:pic>
        <p:sp>
          <p:nvSpPr>
            <p:cNvPr id="80" name="Text 37">
              <a:extLst>
                <a:ext uri="{FF2B5EF4-FFF2-40B4-BE49-F238E27FC236}">
                  <a16:creationId xmlns:a16="http://schemas.microsoft.com/office/drawing/2014/main" id="{7B1C3875-3EFD-19A3-13E4-DB86520FB22A}"/>
                </a:ext>
              </a:extLst>
            </p:cNvPr>
            <p:cNvSpPr txBox="1"/>
            <p:nvPr/>
          </p:nvSpPr>
          <p:spPr>
            <a:xfrm>
              <a:off x="390449" y="4079835"/>
              <a:ext cx="1335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!</a:t>
              </a:r>
              <a:endParaRPr lang="en-US" sz="2400" dirty="0"/>
            </a:p>
          </p:txBody>
        </p:sp>
      </p:grpSp>
      <p:sp>
        <p:nvSpPr>
          <p:cNvPr id="86" name="Text 6">
            <a:extLst>
              <a:ext uri="{FF2B5EF4-FFF2-40B4-BE49-F238E27FC236}">
                <a16:creationId xmlns:a16="http://schemas.microsoft.com/office/drawing/2014/main" id="{832B6377-865A-352B-4C15-25F5794FC720}"/>
              </a:ext>
            </a:extLst>
          </p:cNvPr>
          <p:cNvSpPr txBox="1"/>
          <p:nvPr/>
        </p:nvSpPr>
        <p:spPr>
          <a:xfrm>
            <a:off x="4627957" y="2498922"/>
            <a:ext cx="2509184" cy="47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solidFill>
                  <a:schemeClr val="bg1"/>
                </a:solidFill>
                <a:effectLst>
                  <a:glow rad="63500">
                    <a:srgbClr val="0000CC"/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中身をつなぐ！</a:t>
            </a:r>
            <a:endParaRPr lang="en-US" sz="2400" dirty="0">
              <a:solidFill>
                <a:schemeClr val="bg1"/>
              </a:solidFill>
              <a:effectLst>
                <a:glow rad="63500">
                  <a:srgbClr val="0000CC"/>
                </a:glow>
              </a:effectLst>
            </a:endParaRPr>
          </a:p>
        </p:txBody>
      </p:sp>
      <p:pic>
        <p:nvPicPr>
          <p:cNvPr id="88" name="図 87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1B38B240-838B-E172-7197-292314B1A3FD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r="47409" b="10789"/>
          <a:stretch>
            <a:fillRect/>
          </a:stretch>
        </p:blipFill>
        <p:spPr>
          <a:xfrm>
            <a:off x="4533523" y="2998698"/>
            <a:ext cx="2081779" cy="7789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2" name="図 91" descr="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1DE65CB-880F-A721-8B07-3ED97053E1F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29772" y="2181796"/>
            <a:ext cx="728331" cy="16855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4" name="Text 6">
            <a:extLst>
              <a:ext uri="{FF2B5EF4-FFF2-40B4-BE49-F238E27FC236}">
                <a16:creationId xmlns:a16="http://schemas.microsoft.com/office/drawing/2014/main" id="{E9F5375A-8099-C9BB-08FB-BF2FE43D0307}"/>
              </a:ext>
            </a:extLst>
          </p:cNvPr>
          <p:cNvSpPr txBox="1"/>
          <p:nvPr/>
        </p:nvSpPr>
        <p:spPr>
          <a:xfrm>
            <a:off x="666598" y="2708659"/>
            <a:ext cx="2509184" cy="47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400" dirty="0">
              <a:solidFill>
                <a:schemeClr val="bg1"/>
              </a:solidFill>
              <a:effectLst>
                <a:glow rad="63500">
                  <a:srgbClr val="0000CC"/>
                </a:glow>
              </a:effectLst>
            </a:endParaRPr>
          </a:p>
        </p:txBody>
      </p:sp>
      <p:sp>
        <p:nvSpPr>
          <p:cNvPr id="95" name="Text 6">
            <a:extLst>
              <a:ext uri="{FF2B5EF4-FFF2-40B4-BE49-F238E27FC236}">
                <a16:creationId xmlns:a16="http://schemas.microsoft.com/office/drawing/2014/main" id="{519AD5CF-7CA9-4A53-BE0C-A64267B0F590}"/>
              </a:ext>
            </a:extLst>
          </p:cNvPr>
          <p:cNvSpPr txBox="1"/>
          <p:nvPr/>
        </p:nvSpPr>
        <p:spPr>
          <a:xfrm>
            <a:off x="520852" y="2765416"/>
            <a:ext cx="2987396" cy="747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2000" b="1">
                <a:solidFill>
                  <a:srgbClr val="0000CC"/>
                </a:solidFill>
                <a:effectLst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</a:t>
            </a:r>
            <a:r>
              <a:rPr lang="ja-JP" altLang="en-US" sz="2000" b="1">
                <a:solidFill>
                  <a:srgbClr val="0000CC"/>
                </a:solidFill>
                <a:effectLst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配列は</a:t>
            </a:r>
            <a:endParaRPr lang="en-US" altLang="ja-JP" sz="2000" b="1">
              <a:solidFill>
                <a:srgbClr val="0000CC"/>
              </a:solidFill>
              <a:effectLst/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buNone/>
            </a:pPr>
            <a:r>
              <a:rPr lang="ja-JP" altLang="en-US" sz="2000" b="1">
                <a:solidFill>
                  <a:srgbClr val="0000CC"/>
                </a:solidFill>
                <a:effectLst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「複数の値が</a:t>
            </a:r>
            <a:endParaRPr lang="en-US" altLang="ja-JP" sz="2000" b="1">
              <a:solidFill>
                <a:srgbClr val="0000CC"/>
              </a:solidFill>
              <a:effectLst/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buNone/>
            </a:pPr>
            <a:r>
              <a:rPr lang="ja-JP" altLang="en-US" sz="2000" b="1">
                <a:solidFill>
                  <a:srgbClr val="0000CC"/>
                </a:solidFill>
                <a:effectLst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入った箱」の</a:t>
            </a:r>
            <a:endParaRPr lang="en-US" altLang="ja-JP" sz="2000" b="1">
              <a:solidFill>
                <a:srgbClr val="0000CC"/>
              </a:solidFill>
              <a:effectLst/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buNone/>
            </a:pPr>
            <a:r>
              <a:rPr lang="ja-JP" altLang="en-US" sz="2000" b="1">
                <a:solidFill>
                  <a:srgbClr val="0000CC"/>
                </a:solidFill>
                <a:effectLst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イメージ</a:t>
            </a:r>
            <a:endParaRPr lang="en-US" sz="2000" dirty="0">
              <a:solidFill>
                <a:srgbClr val="0000CC"/>
              </a:solidFill>
              <a:effectLst/>
            </a:endParaRPr>
          </a:p>
        </p:txBody>
      </p:sp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BADCD41C-D835-EA7C-8248-C9B95A7A71CB}"/>
              </a:ext>
            </a:extLst>
          </p:cNvPr>
          <p:cNvGrpSpPr/>
          <p:nvPr/>
        </p:nvGrpSpPr>
        <p:grpSpPr>
          <a:xfrm>
            <a:off x="261721" y="1874437"/>
            <a:ext cx="2840433" cy="513892"/>
            <a:chOff x="1376172" y="1969618"/>
            <a:chExt cx="1095451" cy="286207"/>
          </a:xfrm>
        </p:grpSpPr>
        <p:sp>
          <p:nvSpPr>
            <p:cNvPr id="16" name="Shape 7"/>
            <p:cNvSpPr/>
            <p:nvPr/>
          </p:nvSpPr>
          <p:spPr>
            <a:xfrm>
              <a:off x="1376172" y="1969618"/>
              <a:ext cx="1095451" cy="286207"/>
            </a:xfrm>
            <a:prstGeom prst="roundRect">
              <a:avLst>
                <a:gd name="adj" fmla="val 319489"/>
              </a:avLst>
            </a:prstGeom>
            <a:solidFill>
              <a:srgbClr val="DBEAFE"/>
            </a:solidFill>
            <a:ln w="12700">
              <a:solidFill>
                <a:srgbClr val="BFDBFE"/>
              </a:solidFill>
              <a:prstDash val="solid"/>
            </a:ln>
          </p:spPr>
          <p:txBody>
            <a:bodyPr/>
            <a:lstStyle/>
            <a:p>
              <a:endParaRPr lang="ja-JP" altLang="en-US" sz="4800"/>
            </a:p>
          </p:txBody>
        </p:sp>
        <p:sp>
          <p:nvSpPr>
            <p:cNvPr id="17" name="Text 8"/>
            <p:cNvSpPr txBox="1"/>
            <p:nvPr/>
          </p:nvSpPr>
          <p:spPr>
            <a:xfrm>
              <a:off x="1467067" y="2013304"/>
              <a:ext cx="91897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E40A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Before: 配列</a:t>
              </a:r>
              <a:endParaRPr lang="en-US" sz="2400" dirty="0"/>
            </a:p>
          </p:txBody>
        </p:sp>
      </p:grpSp>
      <p:pic>
        <p:nvPicPr>
          <p:cNvPr id="98" name="Image 10" descr="preencoded.png">
            <a:extLst>
              <a:ext uri="{FF2B5EF4-FFF2-40B4-BE49-F238E27FC236}">
                <a16:creationId xmlns:a16="http://schemas.microsoft.com/office/drawing/2014/main" id="{4A4978B0-F0C3-221D-57A1-DBF6D4E2EC9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6714313" y="2544603"/>
            <a:ext cx="520848" cy="1040033"/>
          </a:xfrm>
          <a:prstGeom prst="rect">
            <a:avLst/>
          </a:prstGeom>
        </p:spPr>
      </p:pic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FBB7EF03-7AAC-3F7A-A287-308DF5E9B87C}"/>
              </a:ext>
            </a:extLst>
          </p:cNvPr>
          <p:cNvSpPr/>
          <p:nvPr/>
        </p:nvSpPr>
        <p:spPr>
          <a:xfrm>
            <a:off x="58783" y="-50800"/>
            <a:ext cx="12133218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1" name="図 100" descr="The image depicts two playful koala bears holding hands, floating on a calm, blue surface.&#10;&#10;AI 生成コンテンツは誤りを含む可能性があります。">
            <a:extLst>
              <a:ext uri="{FF2B5EF4-FFF2-40B4-BE49-F238E27FC236}">
                <a16:creationId xmlns:a16="http://schemas.microsoft.com/office/drawing/2014/main" id="{1AD71831-70CA-13AC-0767-F95FACDF7E8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15449" y="728047"/>
            <a:ext cx="2094840" cy="2428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22"/>
          <a:srcRect t="-10" b="-10"/>
          <a:stretch/>
        </p:blipFill>
        <p:spPr>
          <a:xfrm>
            <a:off x="7310099" y="2312518"/>
            <a:ext cx="4734378" cy="1579832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7723442" y="2516678"/>
            <a:ext cx="350912" cy="350912"/>
          </a:xfrm>
          <a:prstGeom prst="rect">
            <a:avLst/>
          </a:prstGeom>
        </p:spPr>
      </p:pic>
      <p:pic>
        <p:nvPicPr>
          <p:cNvPr id="97" name="図 96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509CC9EB-805C-FF71-E0F9-BF7193E9A2C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12307" y="2477884"/>
            <a:ext cx="2296095" cy="11625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3" name="Text 18"/>
          <p:cNvSpPr txBox="1"/>
          <p:nvPr/>
        </p:nvSpPr>
        <p:spPr>
          <a:xfrm>
            <a:off x="7508121" y="2931608"/>
            <a:ext cx="3416299" cy="660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ひと続きの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データになった</a:t>
            </a:r>
            <a:r>
              <a:rPr lang="en-US" sz="2000" b="1" dirty="0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 </a:t>
            </a:r>
            <a:endParaRPr lang="en-US" sz="2000" dirty="0"/>
          </a:p>
        </p:txBody>
      </p: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F20E67AE-D5CD-E1CD-716C-3F3C10C94933}"/>
              </a:ext>
            </a:extLst>
          </p:cNvPr>
          <p:cNvGrpSpPr/>
          <p:nvPr/>
        </p:nvGrpSpPr>
        <p:grpSpPr>
          <a:xfrm>
            <a:off x="7366000" y="1927177"/>
            <a:ext cx="2616200" cy="538045"/>
            <a:chOff x="9244584" y="2179015"/>
            <a:chExt cx="1123798" cy="286207"/>
          </a:xfrm>
        </p:grpSpPr>
        <p:sp>
          <p:nvSpPr>
            <p:cNvPr id="30" name="Shape 15"/>
            <p:cNvSpPr/>
            <p:nvPr/>
          </p:nvSpPr>
          <p:spPr>
            <a:xfrm>
              <a:off x="9244584" y="2179015"/>
              <a:ext cx="1123798" cy="286207"/>
            </a:xfrm>
            <a:prstGeom prst="roundRect">
              <a:avLst>
                <a:gd name="adj" fmla="val 319489"/>
              </a:avLst>
            </a:prstGeom>
            <a:solidFill>
              <a:srgbClr val="DCFCE7"/>
            </a:solidFill>
            <a:ln w="12700">
              <a:solidFill>
                <a:srgbClr val="BBF7D0"/>
              </a:solidFill>
              <a:prstDash val="solid"/>
            </a:ln>
          </p:spPr>
          <p:txBody>
            <a:bodyPr/>
            <a:lstStyle/>
            <a:p>
              <a:endParaRPr lang="ja-JP" altLang="en-US" sz="5400"/>
            </a:p>
          </p:txBody>
        </p:sp>
        <p:sp>
          <p:nvSpPr>
            <p:cNvPr id="31" name="Text 16"/>
            <p:cNvSpPr txBox="1"/>
            <p:nvPr/>
          </p:nvSpPr>
          <p:spPr>
            <a:xfrm>
              <a:off x="9357411" y="2218902"/>
              <a:ext cx="95280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6653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After: 文字列</a:t>
              </a:r>
              <a:endParaRPr lang="en-US" sz="2400" dirty="0"/>
            </a:p>
          </p:txBody>
        </p:sp>
      </p:grp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C01C2DA4-B77A-F08E-0D22-AE2ADF76CD86}"/>
              </a:ext>
            </a:extLst>
          </p:cNvPr>
          <p:cNvSpPr/>
          <p:nvPr/>
        </p:nvSpPr>
        <p:spPr>
          <a:xfrm>
            <a:off x="249515" y="831975"/>
            <a:ext cx="193903" cy="992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" name="図 103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A7E80027-AAA0-06A6-E562-599A01C2BBE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5131" y="657572"/>
            <a:ext cx="1241251" cy="12412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