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91" r:id="rId10"/>
    <p:sldId id="289" r:id="rId11"/>
    <p:sldId id="290" r:id="rId12"/>
    <p:sldId id="286" r:id="rId13"/>
    <p:sldId id="287" r:id="rId14"/>
    <p:sldId id="288" r:id="rId15"/>
    <p:sldId id="284" r:id="rId16"/>
    <p:sldId id="272" r:id="rId17"/>
    <p:sldId id="268" r:id="rId18"/>
    <p:sldId id="26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Relationship Id="rId23" Type="http://schemas.openxmlformats.org/officeDocument/2006/relationships/image" Target="../media/image36.png"/><Relationship Id="rId24" Type="http://schemas.openxmlformats.org/officeDocument/2006/relationships/image" Target="../media/image37.png"/><Relationship Id="rId25" Type="http://schemas.openxmlformats.org/officeDocument/2006/relationships/image" Target="../media/image38.png"/><Relationship Id="rId26" Type="http://schemas.openxmlformats.org/officeDocument/2006/relationships/image" Target="../media/image39.png"/><Relationship Id="rId27" Type="http://schemas.openxmlformats.org/officeDocument/2006/relationships/image" Target="../media/image40.png"/><Relationship Id="rId28" Type="http://schemas.openxmlformats.org/officeDocument/2006/relationships/image" Target="../media/image41.png"/><Relationship Id="rId29" Type="http://schemas.openxmlformats.org/officeDocument/2006/relationships/image" Target="../media/image42.png"/><Relationship Id="rId30" Type="http://schemas.openxmlformats.org/officeDocument/2006/relationships/image" Target="../media/image43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image" Target="../media/image59.png"/><Relationship Id="rId19" Type="http://schemas.openxmlformats.org/officeDocument/2006/relationships/image" Target="../media/image60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3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eiryo UI"/>
                <a:ea typeface="Meiryo UI"/>
              </a:rPr>
              <a:t>PA45 — Power Automate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348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r"/>
            <a:r>
              <a:rPr sz="1400" b="0">
                <a:solidFill>
                  <a:srgbClr val="C7D8FF"/>
                </a:solidFill>
                <a:latin typeface="Meiryo UI"/>
                <a:ea typeface="Meiryo UI"/>
              </a:rPr>
              <a:t>第11回 / Vol.11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100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475569"/>
                </a:solidFill>
                <a:latin typeface="Meiryo UI"/>
                <a:ea typeface="Meiryo UI"/>
              </a:rPr>
              <a:t>まもなく開始します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00000"/>
            <a:ext cx="12192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9600" b="1">
                <a:solidFill>
                  <a:srgbClr val="1E3A8A"/>
                </a:solidFill>
                <a:latin typeface="Meiryo UI"/>
                <a:ea typeface="Meiryo UI"/>
              </a:rPr>
              <a:t>20:15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700000"/>
            <a:ext cx="1219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Meiryo UI"/>
                <a:ea typeface="Meiryo UI"/>
              </a:rPr>
              <a:t>第11回｜実行履歴を読めると自動化が楽しくなる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0000"/>
            <a:ext cx="1219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Meiryo UI"/>
                <a:ea typeface="Meiryo UI"/>
              </a:rPr>
              <a:t>失敗しないフロー設計｜メールの重要度で振り分け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Meiryo UI"/>
                <a:ea typeface="Meiryo UI"/>
              </a:rPr>
              <a:t>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eiryo UI"/>
                <a:ea typeface="Meiryo UI"/>
              </a:rPr>
              <a:t>Power Automate と Outlook を</a:t>
            </a:r>
          </a:p>
          <a:p>
            <a:r>
              <a:rPr sz="1100" b="1">
                <a:solidFill>
                  <a:srgbClr val="0F172A"/>
                </a:solidFill>
                <a:latin typeface="Meiryo UI"/>
                <a:ea typeface="Meiryo UI"/>
              </a:rPr>
              <a:t>事前に起動しておくとスムーズ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Meiryo UI"/>
                <a:ea typeface="Meiryo UI"/>
              </a:rPr>
              <a:t>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eiryo UI"/>
                <a:ea typeface="Meiryo UI"/>
              </a:rPr>
              <a:t>後日YouTubeで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Meiryo UI"/>
                <a:ea typeface="Meiryo UI"/>
              </a:rPr>
              <a:t>アーカイブ動画を公開予定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Meiryo UI"/>
                <a:ea typeface="Meiryo UI"/>
              </a:rPr>
              <a:t>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eiryo UI"/>
                <a:ea typeface="Meiryo UI"/>
              </a:rPr>
              <a:t>Teams表示名がNGの方は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Meiryo UI"/>
                <a:ea typeface="Meiryo UI"/>
              </a:rPr>
              <a:t>匿名参加でOKです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78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Meiryo UI"/>
                <a:ea typeface="Meiryo UI"/>
              </a:rPr>
              <a:t>Power Automate 45  |  Copyright © PA45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Meiryo UI"/>
                <a:ea typeface="Meiryo UI"/>
              </a:rPr>
              <a:t>事前準備（今回はほぼ不要です）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Meiryo UI"/>
                <a:ea typeface="Meiryo UI"/>
              </a:rPr>
              <a:t>今回のハンズオンは特別な準備が要りません。下の2つだけ確認しておきましょう。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Meiryo UI"/>
                <a:ea typeface="Meiryo UI"/>
              </a:rPr>
              <a:t>STEP 1   Power Automate にサインインできる</a:t>
            </a:r>
          </a:p>
          <a:p>
            <a:r>
              <a:rPr sz="2000" b="1">
                <a:solidFill>
                  <a:srgbClr val="2A7DD4"/>
                </a:solidFill>
                <a:latin typeface="Meiryo UI"/>
                <a:ea typeface="Meiryo UI"/>
              </a:rPr>
              <a:t>👉 make.powerautomate.com を開いて、サインインできる状態にしておきます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Meiryo UI"/>
                <a:ea typeface="Meiryo UI"/>
              </a:rPr>
              <a:t>STEP 2   自分のメール（Outlook）が使える</a:t>
            </a:r>
          </a:p>
          <a:p>
            <a:r>
              <a:rPr sz="2000" b="1">
                <a:solidFill>
                  <a:srgbClr val="2A7DD4"/>
                </a:solidFill>
                <a:latin typeface="Meiryo UI"/>
                <a:ea typeface="Meiryo UI"/>
              </a:rPr>
              <a:t>👉 ハンズオン中、自分から自分へ1通メールを送ってフローを動かします。それだけです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Vol.11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26984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PA45【メール受信 × 条件分岐 × 実行履歴】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151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第11回： </a:t>
            </a:r>
          </a:p>
          <a:p>
            <a:r>
              <a:rPr sz="3200" b="1">
                <a:solidFill>
                  <a:srgbClr val="1F2937"/>
                </a:solidFill>
                <a:latin typeface="Meiryo UI"/>
                <a:ea typeface="Meiryo UI"/>
              </a:rPr>
              <a:t>失敗しないフロー設計</a:t>
            </a:r>
          </a:p>
          <a:p>
            <a:r>
              <a:rPr sz="3200" b="1">
                <a:solidFill>
                  <a:srgbClr val="1F2937"/>
                </a:solidFill>
                <a:latin typeface="Meiryo UI"/>
                <a:ea typeface="Meiryo UI"/>
              </a:rPr>
              <a:t>実行履歴を読めるようになろう</a:t>
            </a:r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Theme　メールの重要度で条件分岐｜実行履歴の出力を読む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Target　条件分岐（Vol.3）を触った方／はじめての方も、見るだけでOK</a:t>
            </a:r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7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9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Power </a:t>
            </a:r>
            <a:r>
              <a:rPr lang="en-US" sz="16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Automate 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メール受信でフローを作る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「新しいメールが届いたとき」をトリガーに、</a:t>
            </a:r>
          </a:p>
          <a:p>
            <a:r>
              <a:rPr sz="1600">
                <a:solidFill>
                  <a:srgbClr val="6B7280"/>
                </a:solidFill>
                <a:latin typeface="Meiryo UI"/>
                <a:ea typeface="Meiryo UI"/>
              </a:rPr>
              <a:t>届いたメールで動くフローを作ります。</a:t>
            </a: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重要度で条件分岐させる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「条件」アクションで、メールの重要度が</a:t>
            </a:r>
          </a:p>
          <a:p>
            <a:r>
              <a:rPr sz="1600">
                <a:solidFill>
                  <a:srgbClr val="6B7280"/>
                </a:solidFill>
                <a:latin typeface="Meiryo UI"/>
                <a:ea typeface="Meiryo UI"/>
              </a:rPr>
              <a:t>「高」かどうかで処理を分けます。</a:t>
            </a:r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実行履歴の出力を読む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わざと失敗させて、実行履歴の出力から</a:t>
            </a:r>
            <a:endParaRPr lang="en-US" sz="1400" dirty="0"/>
          </a:p>
          <a:p>
            <a:r>
              <a:rPr sz="1600">
                <a:solidFill>
                  <a:srgbClr val="6B7280"/>
                </a:solidFill>
                <a:latin typeface="Meiryo UI"/>
                <a:ea typeface="Meiryo UI"/>
              </a:rPr>
              <a:t>原因を見つけ、直します。</a:t>
            </a:r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52951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テーマ解説 (1/2)：実行履歴って何？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195490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①「実行履歴」は、フローを動かした記録。いつ・どのアクションが・成功（緑）か失敗（赤）かが残ります。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②各アクションを開くと「入力」と「出力」が見られます。入力＝そのアクションが受け取った値、出力＝次に渡す値です。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③うまく動かないときは、実行履歴の入力・出力を見れば「どこで何が起きたか」が分かります。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実行履歴の一覧画面
（緑＝成功・赤＝失敗が見える画面）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1527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テーマ解説 (2/2)：画面の「表示」と「値」は違う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229307"/>
            <a:ext cx="6583680" cy="391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④画面に見える「表示」と、フローに実際に渡る「値」は違うことがあります。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⑤例：メールの重要度。画面の表示は「高」でも、出力に渡る値は英語の "High" です。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⑥条件に「高」と書くと一致せず、フローは赤くならないまま間違った方へ進みます。出力を見ないと気づけません。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メールの重要度を「高」にしている画面
または 条件アクションの設定画面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入力と出力って何？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781251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🎯 アクションには「入力」と「出力」があります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・入力：そのアクションが受け取った値（例：条件の入力 ＝「重要度」と「高」）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・出力：そのアクションが次に渡す値（例：トリガーの出力 ＝ 件名・差出人・重要度 など）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・前のアクションの「出力」が、次のアクションの「入力」になる。この受け渡しでフローは動きます。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アクションを開いて
「入力」「出力」が見えている画面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1551" y="636536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実行履歴で入力・出力を見る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664075"/>
            <a:ext cx="6583680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🎯 実行履歴を開くと、入力・出力が全部見えます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・フローを実行 → 左メニューの「実行履歴」を開く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・見たい実行をクリック → 各アクションをクリック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・そのアクションの「入力」と「出力」が表示されます（例：トリガーの出力に "High" が入っている）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・思ったとおりに動かないときは、まずここを見る。食い違っている値が必ず写っています。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実行履歴で トリガーの出力
が見えている画面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フロー解説 ①  トリガーと条件を置く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705357"/>
            <a:ext cx="6583680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🎯 目的：メールが届いたら重要度で仕分けるフローの形を作る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・トリガー「新しいメールが届いたとき」を置く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・「条件」アクションを追加する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・条件：メールの重要度 が次の値に等しい「高」（まずは、わざと日本語の「高」と書きます）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・はい／いいえ それぞれに「作成」でメッセージを置く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完成したフロー全体
（トリガー＋条件＋作成）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フロー解説 ②  わざと失敗させてみる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948175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🎯 目的：思いどおりに動かない場面を体験する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・フローを保存して、自分宛に「重要度＝高」のメールを1通送る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・フローは成功（緑）します。でも結果は「通常メール」！</a:t>
            </a:r>
          </a:p>
          <a:p>
            <a:r>
              <a:rPr sz="2000" b="0">
                <a:solidFill>
                  <a:srgbClr val="1F2937"/>
                </a:solidFill>
                <a:latin typeface="Meiryo UI"/>
                <a:ea typeface="Meiryo UI"/>
              </a:rPr>
              <a:t>・「重要にして送ったのに、なぜ？」 → ここで実行履歴の出番です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実行結果：成功（緑）なのに
「通常メール」になっている画面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フロー解説 ③  出力で原因を見つけて直す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164046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🎯 目的：実行履歴の出力から原因を突き止める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・実行履歴を開き、トリガーの「出力」を見る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・重要度（Importance）の値が "High"（英語）だと分かる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・条件の「高」を "High" に直す</a:t>
            </a:r>
          </a:p>
          <a:p>
            <a:r>
              <a:rPr b="0">
                <a:solidFill>
                  <a:srgbClr val="1F2937"/>
                </a:solidFill>
                <a:latin typeface="Meiryo UI"/>
                <a:ea typeface="Meiryo UI"/>
              </a:rPr>
              <a:t>・もう一度、重要度＝高のメールを送る → 今度こそ「⚠️ 重要メールです」に進みます。直った！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Meiryo UI"/>
                <a:ea typeface="Meiryo UI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Meiryo UI"/>
                <a:ea typeface="Meiryo UI"/>
              </a:rPr>
              <a:t>トリガーの出力で 重要度が
"High" になっている箇所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Meiryo UI" pitchFamily="34" charset="0"/>
                <a:ea typeface="Meiryo UI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Vol.11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0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① フローが成功（緑）でも、結果が正しいとは限らない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544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赤いエラーが出なくても、間違った方へ静かに進むことがあります。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Meiryo UI"/>
                <a:ea typeface="Meiryo UI"/>
              </a:rPr>
              <a:t>結果を信じる前に、実行履歴の出力で「本当に合っているか」を確かめましょう。</a:t>
            </a: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71953" y="3163346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② 後続に値を渡すアクションは、まず出力で「本当の値」を確認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444844" y="3742639"/>
            <a:ext cx="101720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条件に書く前に、実行履歴でそのアクションの出力を見る。</a:t>
            </a:r>
          </a:p>
          <a:p>
            <a:r>
              <a:rPr sz="1800">
                <a:solidFill>
                  <a:srgbClr val="4B5563"/>
                </a:solidFill>
                <a:latin typeface="Meiryo UI"/>
                <a:ea typeface="Meiryo UI"/>
              </a:rPr>
              <a:t>「画面の表示」と「渡る値」は違うことがある、と知っておく。</a:t>
            </a: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③ 表示と値は違う ── 同じ罠があちこちに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重要度＝High/Normal/Low、承認結果＝Approve/Reject、はい・いいえ列＝true/false。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Meiryo UI"/>
                <a:ea typeface="Meiryo UI"/>
              </a:rPr>
              <a:t>どれも英語や真偽値。出力を見れば「本当の値」が分かります。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17320" y="2066544"/>
            <a:ext cx="2468880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17320" y="2181647"/>
            <a:ext cx="2468880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重要メール通知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重要度が高いメールを</a:t>
            </a:r>
          </a:p>
          <a:p>
            <a:r>
              <a:rPr sz="2000" b="1">
                <a:solidFill>
                  <a:srgbClr val="1F2937"/>
                </a:solidFill>
                <a:latin typeface="Meiryo UI"/>
                <a:ea typeface="Meiryo UI"/>
              </a:rPr>
              <a:t>Teams等へすぐ通知</a:t>
            </a:r>
          </a:p>
        </p:txBody>
      </p:sp>
      <p:sp>
        <p:nvSpPr>
          <p:cNvPr id="11" name="Text 8"/>
          <p:cNvSpPr txBox="1"/>
          <p:nvPr/>
        </p:nvSpPr>
        <p:spPr>
          <a:xfrm>
            <a:off x="619049" y="3858372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Meiryo UI"/>
                <a:ea typeface="Meiryo UI"/>
              </a:rPr>
              <a:t>→ 条件（重要度）</a:t>
            </a:r>
          </a:p>
          <a:p>
            <a:r>
              <a:rPr sz="1600" b="1">
                <a:latin typeface="Meiryo UI"/>
                <a:ea typeface="Meiryo UI"/>
              </a:rPr>
              <a:t>→ Teamsで通知</a:t>
            </a:r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メール → 条件 → 通知</a:t>
            </a:r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440680" y="1998232"/>
            <a:ext cx="246888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440680" y="2125428"/>
            <a:ext cx="2468880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差出人で振分け</a:t>
            </a:r>
          </a:p>
        </p:txBody>
      </p:sp>
      <p:sp>
        <p:nvSpPr>
          <p:cNvPr id="21" name="Text 16"/>
          <p:cNvSpPr txBox="1"/>
          <p:nvPr/>
        </p:nvSpPr>
        <p:spPr>
          <a:xfrm>
            <a:off x="4416094" y="3038477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上司・取引先のメールを</a:t>
            </a:r>
            <a:endParaRPr lang="en-US" sz="3600" dirty="0"/>
          </a:p>
          <a:p>
            <a:r>
              <a:rPr sz="2000" b="1">
                <a:solidFill>
                  <a:srgbClr val="1F2937"/>
                </a:solidFill>
                <a:latin typeface="Meiryo UI"/>
                <a:ea typeface="Meiryo UI"/>
              </a:rPr>
              <a:t>別フォルダへ自動仕分け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4509813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Meiryo UI"/>
                <a:ea typeface="Meiryo UI"/>
              </a:rPr>
              <a:t>→ 条件（差出人）</a:t>
            </a:r>
          </a:p>
          <a:p>
            <a:r>
              <a:rPr sz="1600" b="1">
                <a:latin typeface="Meiryo UI"/>
                <a:ea typeface="Meiryo UI"/>
              </a:rPr>
              <a:t>→ フォルダへ移動</a:t>
            </a:r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メール → 条件 → 仕分け</a:t>
            </a:r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372600" y="1952181"/>
            <a:ext cx="2468880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372600" y="2215734"/>
            <a:ext cx="2468880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件名で仕分け</a:t>
            </a:r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件名に特定の語を含む</a:t>
            </a:r>
          </a:p>
          <a:p>
            <a:r>
              <a:rPr sz="2000" b="1">
                <a:solidFill>
                  <a:srgbClr val="1F2937"/>
                </a:solidFill>
                <a:latin typeface="Meiryo UI"/>
                <a:ea typeface="Meiryo UI"/>
              </a:rPr>
              <a:t>メールを自動で記録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8516611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Meiryo UI"/>
                <a:ea typeface="Meiryo UI"/>
              </a:rPr>
              <a:t>→ 条件（件名）</a:t>
            </a:r>
          </a:p>
          <a:p>
            <a:r>
              <a:rPr sz="1600" b="1">
                <a:latin typeface="Meiryo UI"/>
                <a:ea typeface="Meiryo UI"/>
              </a:rPr>
              <a:t>→ リストに記録</a:t>
            </a:r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メールの仕分けは応用がきく</a:t>
            </a:r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latin typeface="Meiryo UI"/>
                <a:ea typeface="Meiryo UI"/>
              </a:rPr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>
                <a:latin typeface="Meiryo UI"/>
                <a:ea typeface="Meiryo UI"/>
              </a:rPr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latin typeface="Meiryo UI"/>
                <a:ea typeface="Meiryo UI"/>
              </a:rPr>
              <a:t>チャット欄に</a:t>
            </a:r>
            <a:r>
              <a:rPr lang="en-US" altLang="ja-JP">
                <a:latin typeface="Meiryo UI"/>
                <a:ea typeface="Meiryo UI"/>
              </a:rPr>
              <a:t>URL</a:t>
            </a:r>
            <a:r>
              <a:rPr lang="ja-JP" altLang="en-US">
                <a:latin typeface="Meiryo UI"/>
                <a:ea typeface="Meiryo UI"/>
              </a:rPr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2070</Words>
  <Application>Microsoft Office PowerPoint</Application>
  <PresentationFormat>ワイド画面</PresentationFormat>
  <Paragraphs>434</Paragraphs>
  <Slides>18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27</cp:revision>
  <dcterms:created xsi:type="dcterms:W3CDTF">2026-03-02T01:22:39Z</dcterms:created>
  <dcterms:modified xsi:type="dcterms:W3CDTF">2026-05-14T05:09:02Z</dcterms:modified>
</cp:coreProperties>
</file>